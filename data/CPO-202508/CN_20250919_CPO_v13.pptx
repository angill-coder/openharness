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7.xml" ContentType="application/vnd.openxmlformats-officedocument.presentationml.notesSlide+xml"/>
  <Override PartName="/ppt/charts/chart4.xml" ContentType="application/vnd.openxmlformats-officedocument.drawingml.chart+xml"/>
  <Override PartName="/ppt/tags/tag46.xml" ContentType="application/vnd.openxmlformats-officedocument.presentationml.tags+xml"/>
  <Override PartName="/ppt/notesSlides/notesSlide8.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9.xml" ContentType="application/vnd.openxmlformats-officedocument.presentationml.notesSlide+xml"/>
  <Override PartName="/ppt/tags/tag52.xml" ContentType="application/vnd.openxmlformats-officedocument.presentationml.tags+xml"/>
  <Override PartName="/ppt/notesSlides/notesSlide10.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11.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tags/tag92.xml" ContentType="application/vnd.openxmlformats-officedocument.presentationml.tags+xml"/>
  <Override PartName="/ppt/notesSlides/notesSlide12.xml" ContentType="application/vnd.openxmlformats-officedocument.presentationml.notesSlide+xml"/>
  <Override PartName="/ppt/tags/tag93.xml" ContentType="application/vnd.openxmlformats-officedocument.presentationml.tags+xml"/>
  <Override PartName="/ppt/notesSlides/notesSlide13.xml" ContentType="application/vnd.openxmlformats-officedocument.presentationml.notesSlide+xml"/>
  <Override PartName="/ppt/tags/tag94.xml" ContentType="application/vnd.openxmlformats-officedocument.presentationml.tags+xml"/>
  <Override PartName="/ppt/notesSlides/notesSlide14.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15.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notesSlides/notesSlide16.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17.xml" ContentType="application/vnd.openxmlformats-officedocument.presentationml.notesSlide+xml"/>
  <Override PartName="/ppt/charts/chart11.xml" ContentType="application/vnd.openxmlformats-officedocument.drawingml.chart+xml"/>
  <Override PartName="/ppt/tags/tag159.xml" ContentType="application/vnd.openxmlformats-officedocument.presentationml.tags+xml"/>
  <Override PartName="/ppt/notesSlides/notesSlide18.xml" ContentType="application/vnd.openxmlformats-officedocument.presentationml.notesSlide+xml"/>
  <Override PartName="/ppt/charts/chart12.xml" ContentType="application/vnd.openxmlformats-officedocument.drawingml.chart+xml"/>
  <Override PartName="/ppt/charts/style4.xml" ContentType="application/vnd.ms-office.chartstyle+xml"/>
  <Override PartName="/ppt/charts/colors4.xml" ContentType="application/vnd.ms-office.chartcolorstyle+xml"/>
  <Override PartName="/ppt/charts/chart13.xml" ContentType="application/vnd.openxmlformats-officedocument.drawingml.chart+xml"/>
  <Override PartName="/ppt/charts/style5.xml" ContentType="application/vnd.ms-office.chartstyle+xml"/>
  <Override PartName="/ppt/charts/colors5.xml" ContentType="application/vnd.ms-office.chartcolorstyle+xml"/>
  <Override PartName="/ppt/charts/chart14.xml" ContentType="application/vnd.openxmlformats-officedocument.drawingml.chart+xml"/>
  <Override PartName="/ppt/charts/style6.xml" ContentType="application/vnd.ms-office.chartstyle+xml"/>
  <Override PartName="/ppt/charts/colors6.xml" ContentType="application/vnd.ms-office.chartcolorstyle+xml"/>
  <Override PartName="/ppt/charts/chart15.xml" ContentType="application/vnd.openxmlformats-officedocument.drawingml.chart+xml"/>
  <Override PartName="/ppt/charts/style7.xml" ContentType="application/vnd.ms-office.chartstyle+xml"/>
  <Override PartName="/ppt/charts/colors7.xml" ContentType="application/vnd.ms-office.chartcolorstyl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19.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notesSlides/notesSlide20.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notesSlides/notesSlide21.xml" ContentType="application/vnd.openxmlformats-officedocument.presentationml.notesSlide+xml"/>
  <Override PartName="/ppt/charts/chart16.xml" ContentType="application/vnd.openxmlformats-officedocument.drawingml.chart+xml"/>
  <Override PartName="/ppt/charts/chart17.xml" ContentType="application/vnd.openxmlformats-officedocument.drawingml.chart+xml"/>
  <Override PartName="/ppt/tags/tag190.xml" ContentType="application/vnd.openxmlformats-officedocument.presentationml.tags+xml"/>
  <Override PartName="/ppt/notesSlides/notesSlide22.xml" ContentType="application/vnd.openxmlformats-officedocument.presentationml.notesSlide+xml"/>
  <Override PartName="/ppt/tags/tag191.xml" ContentType="application/vnd.openxmlformats-officedocument.presentationml.tags+xml"/>
  <Override PartName="/ppt/notesSlides/notesSlide23.xml" ContentType="application/vnd.openxmlformats-officedocument.presentationml.notesSlide+xml"/>
  <Override PartName="/ppt/tags/tag19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336" r:id="rId3"/>
    <p:sldId id="386" r:id="rId4"/>
    <p:sldId id="362" r:id="rId5"/>
    <p:sldId id="338" r:id="rId6"/>
    <p:sldId id="332" r:id="rId7"/>
    <p:sldId id="319" r:id="rId8"/>
    <p:sldId id="317" r:id="rId9"/>
    <p:sldId id="321" r:id="rId10"/>
    <p:sldId id="334" r:id="rId11"/>
    <p:sldId id="2147473074" r:id="rId12"/>
    <p:sldId id="320" r:id="rId13"/>
    <p:sldId id="364" r:id="rId14"/>
    <p:sldId id="2147473075" r:id="rId15"/>
    <p:sldId id="326" r:id="rId16"/>
    <p:sldId id="315" r:id="rId17"/>
    <p:sldId id="344" r:id="rId18"/>
    <p:sldId id="342" r:id="rId19"/>
    <p:sldId id="367" r:id="rId20"/>
    <p:sldId id="370" r:id="rId21"/>
    <p:sldId id="372" r:id="rId22"/>
    <p:sldId id="327" r:id="rId23"/>
    <p:sldId id="328" r:id="rId24"/>
    <p:sldId id="331" r:id="rId25"/>
    <p:sldId id="339" r:id="rId26"/>
    <p:sldId id="363" r:id="rId27"/>
    <p:sldId id="365" r:id="rId28"/>
    <p:sldId id="341" r:id="rId29"/>
    <p:sldId id="322" r:id="rId30"/>
    <p:sldId id="283" r:id="rId31"/>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39A09C8-330C-4419-85BC-2F9D711F0A78}">
          <p14:sldIdLst>
            <p14:sldId id="256"/>
            <p14:sldId id="336"/>
          </p14:sldIdLst>
        </p14:section>
        <p14:section name="01. Why CPO?" id="{200816D2-54B9-45F9-8CDC-D4443BE7A066}">
          <p14:sldIdLst>
            <p14:sldId id="386"/>
            <p14:sldId id="362"/>
          </p14:sldIdLst>
        </p14:section>
        <p14:section name="02. Why optical? Why co-packaged?" id="{9A5BC1CD-E46C-43F3-91AB-DCB40303C4FD}">
          <p14:sldIdLst>
            <p14:sldId id="338"/>
            <p14:sldId id="332"/>
            <p14:sldId id="319"/>
          </p14:sldIdLst>
        </p14:section>
        <p14:section name="光互连技术路径与CPO技术深入" id="{AC662842-13A9-4DD4-839E-4873B26B8162}">
          <p14:sldIdLst>
            <p14:sldId id="317"/>
            <p14:sldId id="321"/>
          </p14:sldIdLst>
        </p14:section>
        <p14:section name="03. Where CPO fits first: scale up or scale out?" id="{1A99B8B5-BE1D-46F2-B67F-83B8C3D9DB4A}">
          <p14:sldIdLst>
            <p14:sldId id="334"/>
            <p14:sldId id="2147473074"/>
            <p14:sldId id="320"/>
            <p14:sldId id="364"/>
          </p14:sldIdLst>
        </p14:section>
        <p14:section name="04. How big?" id="{5A34DE6B-36BE-4840-9C61-5B0269E52512}">
          <p14:sldIdLst>
            <p14:sldId id="2147473075"/>
          </p14:sldIdLst>
        </p14:section>
        <p14:section name="05. Which segment matters most?" id="{8B027970-4C5E-4A21-ABEE-C3F2C08A42F2}">
          <p14:sldIdLst>
            <p14:sldId id="326"/>
            <p14:sldId id="315"/>
            <p14:sldId id="344"/>
          </p14:sldIdLst>
        </p14:section>
        <p14:section name="06. Key players to watch: Broadcom and ficonTEC" id="{2FC5CD99-587C-4ED3-8213-2F2A4313F971}">
          <p14:sldIdLst>
            <p14:sldId id="342"/>
            <p14:sldId id="367"/>
            <p14:sldId id="370"/>
            <p14:sldId id="372"/>
            <p14:sldId id="327"/>
            <p14:sldId id="328"/>
            <p14:sldId id="331"/>
          </p14:sldIdLst>
        </p14:section>
        <p14:section name="其他" id="{8B5E7F54-8D61-4CE1-89AB-837BCD335EC0}">
          <p14:sldIdLst>
            <p14:sldId id="339"/>
            <p14:sldId id="363"/>
            <p14:sldId id="365"/>
            <p14:sldId id="341"/>
            <p14:sldId id="32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0052D9"/>
    <a:srgbClr val="DDE3F1"/>
    <a:srgbClr val="ECF6FF"/>
    <a:srgbClr val="C1E1FE"/>
    <a:srgbClr val="9ABBFF"/>
    <a:srgbClr val="A6A6A6"/>
    <a:srgbClr val="9A9D9F"/>
    <a:srgbClr val="EBF1FF"/>
    <a:srgbClr val="03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89" autoAdjust="0"/>
    <p:restoredTop sz="78441" autoAdjust="0"/>
  </p:normalViewPr>
  <p:slideViewPr>
    <p:cSldViewPr snapToGrid="0">
      <p:cViewPr varScale="1">
        <p:scale>
          <a:sx n="126" d="100"/>
          <a:sy n="126" d="100"/>
        </p:scale>
        <p:origin x="1668" y="60"/>
      </p:cViewPr>
      <p:guideLst/>
    </p:cSldViewPr>
  </p:slideViewPr>
  <p:notesTextViewPr>
    <p:cViewPr>
      <p:scale>
        <a:sx n="1" d="1"/>
        <a:sy n="1" d="1"/>
      </p:scale>
      <p:origin x="0" y="0"/>
    </p:cViewPr>
  </p:notesTextViewPr>
  <p:sorterViewPr>
    <p:cViewPr>
      <p:scale>
        <a:sx n="83" d="100"/>
        <a:sy n="8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D:\Work\CPO-202508\20250814_CPO&#24213;&#3129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Work\CPO-202508\20250814_CPO&#24213;&#31295;.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Work\CPO-202508\20250814_CPO&#24213;&#31295;.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12.xml.rels><?xml version="1.0" encoding="UTF-8" standalone="yes"?>
<Relationships xmlns="http://schemas.openxmlformats.org/package/2006/relationships"><Relationship Id="rId3" Type="http://schemas.openxmlformats.org/officeDocument/2006/relationships/oleObject" Target="file:///D:\Work\CPO-202508\20250814_CPO&#24213;&#31295;.xlsx" TargetMode="External"/><Relationship Id="rId2" Type="http://schemas.microsoft.com/office/2011/relationships/chartColorStyle" Target="colors4.xml"/><Relationship Id="rId1" Type="http://schemas.microsoft.com/office/2011/relationships/chartStyle" Target="style4.xml"/></Relationships>
</file>

<file path=ppt/charts/_rels/chart13.xml.rels><?xml version="1.0" encoding="UTF-8" standalone="yes"?>
<Relationships xmlns="http://schemas.openxmlformats.org/package/2006/relationships"><Relationship Id="rId3" Type="http://schemas.openxmlformats.org/officeDocument/2006/relationships/oleObject" Target="file:///D:\Work\CPO-202508\20250814_CPO&#24213;&#31295;.xlsx" TargetMode="External"/><Relationship Id="rId2" Type="http://schemas.microsoft.com/office/2011/relationships/chartColorStyle" Target="colors5.xml"/><Relationship Id="rId1" Type="http://schemas.microsoft.com/office/2011/relationships/chartStyle" Target="style5.xml"/></Relationships>
</file>

<file path=ppt/charts/_rels/chart14.xml.rels><?xml version="1.0" encoding="UTF-8" standalone="yes"?>
<Relationships xmlns="http://schemas.openxmlformats.org/package/2006/relationships"><Relationship Id="rId3" Type="http://schemas.openxmlformats.org/officeDocument/2006/relationships/oleObject" Target="file:///D:\Work\CPO-202508\20250814_CPO&#24213;&#31295;.xlsx" TargetMode="External"/><Relationship Id="rId2" Type="http://schemas.microsoft.com/office/2011/relationships/chartColorStyle" Target="colors6.xml"/><Relationship Id="rId1" Type="http://schemas.microsoft.com/office/2011/relationships/chartStyle" Target="style6.xml"/></Relationships>
</file>

<file path=ppt/charts/_rels/chart15.xml.rels><?xml version="1.0" encoding="UTF-8" standalone="yes"?>
<Relationships xmlns="http://schemas.openxmlformats.org/package/2006/relationships"><Relationship Id="rId3" Type="http://schemas.openxmlformats.org/officeDocument/2006/relationships/oleObject" Target="file:///D:\Work\CPO-202508\20250814_CPO&#24213;&#31295;.xlsx" TargetMode="External"/><Relationship Id="rId2" Type="http://schemas.microsoft.com/office/2011/relationships/chartColorStyle" Target="colors7.xml"/><Relationship Id="rId1" Type="http://schemas.microsoft.com/office/2011/relationships/chartStyle" Target="style7.xml"/></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Binary_Worksheet9.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算力与传输速率!$M$2</c:f>
              <c:strCache>
                <c:ptCount val="1"/>
                <c:pt idx="0">
                  <c:v>每line速率（Gbps）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算力与传输速率!$L$3:$L$6</c:f>
              <c:numCache>
                <c:formatCode>General</c:formatCode>
                <c:ptCount val="4"/>
                <c:pt idx="0">
                  <c:v>2020</c:v>
                </c:pt>
                <c:pt idx="1">
                  <c:v>2022</c:v>
                </c:pt>
                <c:pt idx="2">
                  <c:v>2024</c:v>
                </c:pt>
                <c:pt idx="3">
                  <c:v>2026</c:v>
                </c:pt>
              </c:numCache>
            </c:numRef>
          </c:cat>
          <c:val>
            <c:numRef>
              <c:f>算力与传输速率!$M$3:$M$6</c:f>
              <c:numCache>
                <c:formatCode>General</c:formatCode>
                <c:ptCount val="4"/>
                <c:pt idx="0">
                  <c:v>50</c:v>
                </c:pt>
                <c:pt idx="1">
                  <c:v>100</c:v>
                </c:pt>
                <c:pt idx="2">
                  <c:v>200</c:v>
                </c:pt>
                <c:pt idx="3">
                  <c:v>200</c:v>
                </c:pt>
              </c:numCache>
            </c:numRef>
          </c:val>
          <c:smooth val="0"/>
          <c:extLst>
            <c:ext xmlns:c16="http://schemas.microsoft.com/office/drawing/2014/chart" uri="{C3380CC4-5D6E-409C-BE32-E72D297353CC}">
              <c16:uniqueId val="{00000002-B86B-426D-8E47-AA62801BCEEF}"/>
            </c:ext>
          </c:extLst>
        </c:ser>
        <c:dLbls>
          <c:showLegendKey val="0"/>
          <c:showVal val="0"/>
          <c:showCatName val="0"/>
          <c:showSerName val="0"/>
          <c:showPercent val="0"/>
          <c:showBubbleSize val="0"/>
        </c:dLbls>
        <c:marker val="1"/>
        <c:smooth val="0"/>
        <c:axId val="964581919"/>
        <c:axId val="964586239"/>
      </c:lineChart>
      <c:catAx>
        <c:axId val="964581919"/>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zh-CN"/>
          </a:p>
        </c:txPr>
        <c:crossAx val="964586239"/>
        <c:crosses val="autoZero"/>
        <c:auto val="1"/>
        <c:lblAlgn val="ctr"/>
        <c:lblOffset val="100"/>
        <c:noMultiLvlLbl val="0"/>
      </c:catAx>
      <c:valAx>
        <c:axId val="964586239"/>
        <c:scaling>
          <c:logBase val="2"/>
          <c:orientation val="minMax"/>
          <c:max val="1600"/>
          <c:min val="25"/>
        </c:scaling>
        <c:delete val="0"/>
        <c:axPos val="l"/>
        <c:numFmt formatCode="General" sourceLinked="1"/>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zh-CN"/>
          </a:p>
        </c:txPr>
        <c:crossAx val="964581919"/>
        <c:crosses val="autoZero"/>
        <c:crossBetween val="between"/>
      </c:valAx>
      <c:spPr>
        <a:noFill/>
        <a:ln>
          <a:noFill/>
        </a:ln>
        <a:effectLst/>
      </c:spPr>
    </c:plotArea>
    <c:legend>
      <c:legendPos val="b"/>
      <c:layout>
        <c:manualLayout>
          <c:xMode val="edge"/>
          <c:yMode val="edge"/>
          <c:x val="0.27181186613901992"/>
          <c:y val="0.88719030460072612"/>
          <c:w val="0.51716575965549116"/>
          <c:h val="7.3644547012699568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为什么要看互连!$J$2</c:f>
              <c:strCache>
                <c:ptCount val="1"/>
                <c:pt idx="0">
                  <c:v>推理算力</c:v>
                </c:pt>
              </c:strCache>
            </c:strRef>
          </c:tx>
          <c:spPr>
            <a:ln w="28575" cap="rnd">
              <a:solidFill>
                <a:srgbClr val="A6A6A6"/>
              </a:solidFill>
              <a:round/>
            </a:ln>
            <a:effectLst/>
          </c:spPr>
          <c:marker>
            <c:symbol val="circle"/>
            <c:size val="5"/>
            <c:spPr>
              <a:solidFill>
                <a:srgbClr val="A6A6A6"/>
              </a:solidFill>
              <a:ln w="9525">
                <a:solidFill>
                  <a:srgbClr val="A6A6A6"/>
                </a:solidFill>
              </a:ln>
              <a:effectLst/>
            </c:spPr>
          </c:marker>
          <c:cat>
            <c:numRef>
              <c:f>为什么要看互连!$K$1:$O$1</c:f>
              <c:numCache>
                <c:formatCode>General</c:formatCode>
                <c:ptCount val="5"/>
                <c:pt idx="0">
                  <c:v>2016</c:v>
                </c:pt>
                <c:pt idx="1">
                  <c:v>2017</c:v>
                </c:pt>
                <c:pt idx="2">
                  <c:v>2020</c:v>
                </c:pt>
                <c:pt idx="3">
                  <c:v>2022</c:v>
                </c:pt>
                <c:pt idx="4">
                  <c:v>2024</c:v>
                </c:pt>
              </c:numCache>
            </c:numRef>
          </c:cat>
          <c:val>
            <c:numRef>
              <c:f>为什么要看互连!$K$2:$O$2</c:f>
              <c:numCache>
                <c:formatCode>General</c:formatCode>
                <c:ptCount val="5"/>
                <c:pt idx="0">
                  <c:v>19</c:v>
                </c:pt>
                <c:pt idx="1">
                  <c:v>130</c:v>
                </c:pt>
                <c:pt idx="2">
                  <c:v>620</c:v>
                </c:pt>
                <c:pt idx="3">
                  <c:v>4000</c:v>
                </c:pt>
                <c:pt idx="4">
                  <c:v>7000</c:v>
                </c:pt>
              </c:numCache>
            </c:numRef>
          </c:val>
          <c:smooth val="0"/>
          <c:extLst>
            <c:ext xmlns:c16="http://schemas.microsoft.com/office/drawing/2014/chart" uri="{C3380CC4-5D6E-409C-BE32-E72D297353CC}">
              <c16:uniqueId val="{00000000-CBCF-42DE-BB37-8C72B62C3948}"/>
            </c:ext>
          </c:extLst>
        </c:ser>
        <c:ser>
          <c:idx val="1"/>
          <c:order val="1"/>
          <c:tx>
            <c:strRef>
              <c:f>为什么要看互连!$J$3</c:f>
              <c:strCache>
                <c:ptCount val="1"/>
                <c:pt idx="0">
                  <c:v>训练算力</c:v>
                </c:pt>
              </c:strCache>
            </c:strRef>
          </c:tx>
          <c:spPr>
            <a:ln w="28575" cap="rnd">
              <a:solidFill>
                <a:schemeClr val="accent5"/>
              </a:solidFill>
              <a:round/>
            </a:ln>
            <a:effectLst/>
          </c:spPr>
          <c:marker>
            <c:symbol val="circle"/>
            <c:size val="5"/>
            <c:spPr>
              <a:solidFill>
                <a:schemeClr val="accent5"/>
              </a:solidFill>
              <a:ln w="9525">
                <a:solidFill>
                  <a:srgbClr val="C1E1FE"/>
                </a:solidFill>
              </a:ln>
              <a:effectLst/>
            </c:spPr>
          </c:marker>
          <c:cat>
            <c:numRef>
              <c:f>为什么要看互连!$K$1:$O$1</c:f>
              <c:numCache>
                <c:formatCode>General</c:formatCode>
                <c:ptCount val="5"/>
                <c:pt idx="0">
                  <c:v>2016</c:v>
                </c:pt>
                <c:pt idx="1">
                  <c:v>2017</c:v>
                </c:pt>
                <c:pt idx="2">
                  <c:v>2020</c:v>
                </c:pt>
                <c:pt idx="3">
                  <c:v>2022</c:v>
                </c:pt>
                <c:pt idx="4">
                  <c:v>2024</c:v>
                </c:pt>
              </c:numCache>
            </c:numRef>
          </c:cat>
          <c:val>
            <c:numRef>
              <c:f>为什么要看互连!$K$3:$O$3</c:f>
              <c:numCache>
                <c:formatCode>General</c:formatCode>
                <c:ptCount val="5"/>
                <c:pt idx="2">
                  <c:v>620</c:v>
                </c:pt>
                <c:pt idx="3">
                  <c:v>1987.1794871794871</c:v>
                </c:pt>
                <c:pt idx="4">
                  <c:v>3477.5641025641025</c:v>
                </c:pt>
              </c:numCache>
            </c:numRef>
          </c:val>
          <c:smooth val="0"/>
          <c:extLst>
            <c:ext xmlns:c16="http://schemas.microsoft.com/office/drawing/2014/chart" uri="{C3380CC4-5D6E-409C-BE32-E72D297353CC}">
              <c16:uniqueId val="{00000001-CBCF-42DE-BB37-8C72B62C3948}"/>
            </c:ext>
          </c:extLst>
        </c:ser>
        <c:ser>
          <c:idx val="2"/>
          <c:order val="2"/>
          <c:tx>
            <c:strRef>
              <c:f>为什么要看互连!$J$4</c:f>
              <c:strCache>
                <c:ptCount val="1"/>
                <c:pt idx="0">
                  <c:v>网络带宽</c:v>
                </c:pt>
              </c:strCache>
            </c:strRef>
          </c:tx>
          <c:spPr>
            <a:ln w="28575" cap="rnd">
              <a:solidFill>
                <a:srgbClr val="0052D9"/>
              </a:solidFill>
              <a:round/>
            </a:ln>
            <a:effectLst/>
          </c:spPr>
          <c:marker>
            <c:symbol val="circle"/>
            <c:size val="5"/>
            <c:spPr>
              <a:solidFill>
                <a:srgbClr val="0052D9"/>
              </a:solidFill>
              <a:ln w="9525">
                <a:solidFill>
                  <a:srgbClr val="0052D9"/>
                </a:solidFill>
              </a:ln>
              <a:effectLst/>
            </c:spPr>
          </c:marker>
          <c:cat>
            <c:numRef>
              <c:f>为什么要看互连!$K$1:$O$1</c:f>
              <c:numCache>
                <c:formatCode>General</c:formatCode>
                <c:ptCount val="5"/>
                <c:pt idx="0">
                  <c:v>2016</c:v>
                </c:pt>
                <c:pt idx="1">
                  <c:v>2017</c:v>
                </c:pt>
                <c:pt idx="2">
                  <c:v>2020</c:v>
                </c:pt>
                <c:pt idx="3">
                  <c:v>2022</c:v>
                </c:pt>
                <c:pt idx="4">
                  <c:v>2024</c:v>
                </c:pt>
              </c:numCache>
            </c:numRef>
          </c:cat>
          <c:val>
            <c:numRef>
              <c:f>为什么要看互连!$K$4:$O$4</c:f>
              <c:numCache>
                <c:formatCode>General</c:formatCode>
                <c:ptCount val="5"/>
                <c:pt idx="2">
                  <c:v>620</c:v>
                </c:pt>
                <c:pt idx="3">
                  <c:v>1240</c:v>
                </c:pt>
                <c:pt idx="4">
                  <c:v>2480</c:v>
                </c:pt>
              </c:numCache>
            </c:numRef>
          </c:val>
          <c:smooth val="0"/>
          <c:extLst>
            <c:ext xmlns:c16="http://schemas.microsoft.com/office/drawing/2014/chart" uri="{C3380CC4-5D6E-409C-BE32-E72D297353CC}">
              <c16:uniqueId val="{00000002-CBCF-42DE-BB37-8C72B62C3948}"/>
            </c:ext>
          </c:extLst>
        </c:ser>
        <c:dLbls>
          <c:showLegendKey val="0"/>
          <c:showVal val="0"/>
          <c:showCatName val="0"/>
          <c:showSerName val="0"/>
          <c:showPercent val="0"/>
          <c:showBubbleSize val="0"/>
        </c:dLbls>
        <c:marker val="1"/>
        <c:smooth val="0"/>
        <c:axId val="278269808"/>
        <c:axId val="278280848"/>
      </c:lineChart>
      <c:catAx>
        <c:axId val="278269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ea"/>
                <a:sym typeface="+mn-lt"/>
              </a:defRPr>
            </a:pPr>
            <a:endParaRPr lang="zh-CN"/>
          </a:p>
        </c:txPr>
        <c:crossAx val="278280848"/>
        <c:crosses val="autoZero"/>
        <c:auto val="1"/>
        <c:lblAlgn val="ctr"/>
        <c:lblOffset val="100"/>
        <c:noMultiLvlLbl val="0"/>
      </c:catAx>
      <c:valAx>
        <c:axId val="278280848"/>
        <c:scaling>
          <c:orientation val="minMax"/>
        </c:scaling>
        <c:delete val="1"/>
        <c:axPos val="l"/>
        <c:numFmt formatCode="General" sourceLinked="1"/>
        <c:majorTickMark val="none"/>
        <c:minorTickMark val="none"/>
        <c:tickLblPos val="nextTo"/>
        <c:crossAx val="2782698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速率与距离!$B$1</c:f>
              <c:strCache>
                <c:ptCount val="1"/>
                <c:pt idx="0">
                  <c:v>Maximum Reach(m)</c:v>
                </c:pt>
              </c:strCache>
            </c:strRef>
          </c:tx>
          <c:spPr>
            <a:ln w="19050" cap="rnd">
              <a:solidFill>
                <a:srgbClr val="0052D9"/>
              </a:solidFill>
              <a:round/>
            </a:ln>
            <a:effectLst/>
          </c:spPr>
          <c:marker>
            <c:symbol val="circle"/>
            <c:size val="5"/>
            <c:spPr>
              <a:solidFill>
                <a:schemeClr val="accent1"/>
              </a:solidFill>
              <a:ln w="9525">
                <a:solidFill>
                  <a:srgbClr val="0052D9"/>
                </a:solidFill>
              </a:ln>
              <a:effectLst/>
            </c:spPr>
          </c:marker>
          <c:xVal>
            <c:numRef>
              <c:f>速率与距离!$A$2:$A$8</c:f>
              <c:numCache>
                <c:formatCode>General</c:formatCode>
                <c:ptCount val="7"/>
                <c:pt idx="0">
                  <c:v>1</c:v>
                </c:pt>
                <c:pt idx="1">
                  <c:v>10</c:v>
                </c:pt>
                <c:pt idx="2">
                  <c:v>25</c:v>
                </c:pt>
                <c:pt idx="3">
                  <c:v>50</c:v>
                </c:pt>
                <c:pt idx="4">
                  <c:v>100</c:v>
                </c:pt>
                <c:pt idx="5">
                  <c:v>200</c:v>
                </c:pt>
                <c:pt idx="6">
                  <c:v>400</c:v>
                </c:pt>
              </c:numCache>
            </c:numRef>
          </c:xVal>
          <c:yVal>
            <c:numRef>
              <c:f>速率与距离!$B$2:$B$8</c:f>
              <c:numCache>
                <c:formatCode>0</c:formatCode>
                <c:ptCount val="7"/>
                <c:pt idx="0">
                  <c:v>25.22727272727273</c:v>
                </c:pt>
                <c:pt idx="1">
                  <c:v>15.113636363636365</c:v>
                </c:pt>
                <c:pt idx="2">
                  <c:v>7.1590909090909092</c:v>
                </c:pt>
                <c:pt idx="3">
                  <c:v>5.1136363636363633</c:v>
                </c:pt>
                <c:pt idx="4">
                  <c:v>3.0681818181818183</c:v>
                </c:pt>
                <c:pt idx="5">
                  <c:v>2</c:v>
                </c:pt>
                <c:pt idx="6">
                  <c:v>1</c:v>
                </c:pt>
              </c:numCache>
            </c:numRef>
          </c:yVal>
          <c:smooth val="0"/>
          <c:extLst>
            <c:ext xmlns:c16="http://schemas.microsoft.com/office/drawing/2014/chart" uri="{C3380CC4-5D6E-409C-BE32-E72D297353CC}">
              <c16:uniqueId val="{00000000-3F50-48D5-8E5C-85E65537BBFB}"/>
            </c:ext>
          </c:extLst>
        </c:ser>
        <c:dLbls>
          <c:showLegendKey val="0"/>
          <c:showVal val="0"/>
          <c:showCatName val="0"/>
          <c:showSerName val="0"/>
          <c:showPercent val="0"/>
          <c:showBubbleSize val="0"/>
        </c:dLbls>
        <c:axId val="278292368"/>
        <c:axId val="278293328"/>
      </c:scatterChart>
      <c:valAx>
        <c:axId val="278292368"/>
        <c:scaling>
          <c:orientation val="minMax"/>
          <c:max val="400"/>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ea"/>
                <a:sym typeface="+mn-lt"/>
              </a:defRPr>
            </a:pPr>
            <a:endParaRPr lang="zh-CN"/>
          </a:p>
        </c:txPr>
        <c:crossAx val="278293328"/>
        <c:crosses val="autoZero"/>
        <c:crossBetween val="midCat"/>
      </c:valAx>
      <c:valAx>
        <c:axId val="278293328"/>
        <c:scaling>
          <c:orientation val="minMax"/>
        </c:scaling>
        <c:delete val="0"/>
        <c:axPos val="l"/>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ea"/>
                <a:sym typeface="+mn-lt"/>
              </a:defRPr>
            </a:pPr>
            <a:endParaRPr lang="zh-CN"/>
          </a:p>
        </c:txPr>
        <c:crossAx val="278292368"/>
        <c:crosses val="autoZero"/>
        <c:crossBetween val="midCat"/>
      </c:valAx>
      <c:spPr>
        <a:noFill/>
        <a:ln>
          <a:noFill/>
        </a:ln>
        <a:effectLst/>
      </c:spPr>
    </c:plotArea>
    <c:plotVisOnly val="1"/>
    <c:dispBlanksAs val="gap"/>
    <c:showDLblsOverMax val="0"/>
  </c:chart>
  <c:spPr>
    <a:noFill/>
    <a:ln>
      <a:noFill/>
    </a:ln>
    <a:effectLst/>
  </c:spPr>
  <c:txPr>
    <a:bodyPr/>
    <a:lstStyle/>
    <a:p>
      <a:pPr>
        <a:defRPr sz="1400">
          <a:latin typeface="+mn-lt"/>
          <a:ea typeface="+mn-ea"/>
          <a:cs typeface="+mn-ea"/>
          <a:sym typeface="+mn-lt"/>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150496317643291"/>
          <c:y val="7.6243607624360762E-2"/>
          <c:w val="0.88184438040345825"/>
          <c:h val="0.84704788470478842"/>
        </c:manualLayout>
      </c:layout>
      <c:barChart>
        <c:barDir val="col"/>
        <c:grouping val="stacked"/>
        <c:varyColors val="0"/>
        <c:ser>
          <c:idx val="0"/>
          <c:order val="0"/>
          <c:spPr>
            <a:solidFill>
              <a:srgbClr val="0052D9"/>
            </a:solidFill>
            <a:ln>
              <a:noFill/>
            </a:ln>
          </c:spPr>
          <c:invertIfNegative val="0"/>
          <c:dPt>
            <c:idx val="0"/>
            <c:invertIfNegative val="0"/>
            <c:bubble3D val="0"/>
            <c:spPr>
              <a:solidFill>
                <a:schemeClr val="accent6"/>
              </a:solidFill>
              <a:ln>
                <a:noFill/>
              </a:ln>
            </c:spPr>
            <c:extLst>
              <c:ext xmlns:c16="http://schemas.microsoft.com/office/drawing/2014/chart" uri="{C3380CC4-5D6E-409C-BE32-E72D297353CC}">
                <c16:uniqueId val="{00000000-23A6-4381-9424-41D9865F82FE}"/>
              </c:ext>
            </c:extLst>
          </c:dPt>
          <c:val>
            <c:numRef>
              <c:f>Sheet1!$A$1:$C$1</c:f>
              <c:numCache>
                <c:formatCode>General</c:formatCode>
                <c:ptCount val="3"/>
                <c:pt idx="0">
                  <c:v>4</c:v>
                </c:pt>
                <c:pt idx="1">
                  <c:v>6.5</c:v>
                </c:pt>
                <c:pt idx="2">
                  <c:v>2.4</c:v>
                </c:pt>
              </c:numCache>
            </c:numRef>
          </c:val>
          <c:extLst>
            <c:ext xmlns:c16="http://schemas.microsoft.com/office/drawing/2014/chart" uri="{C3380CC4-5D6E-409C-BE32-E72D297353CC}">
              <c16:uniqueId val="{00000001-23A6-4381-9424-41D9865F82FE}"/>
            </c:ext>
          </c:extLst>
        </c:ser>
        <c:dLbls>
          <c:showLegendKey val="0"/>
          <c:showVal val="0"/>
          <c:showCatName val="0"/>
          <c:showSerName val="0"/>
          <c:showPercent val="0"/>
          <c:showBubbleSize val="0"/>
        </c:dLbls>
        <c:gapWidth val="80"/>
        <c:overlap val="100"/>
        <c:axId val="1653864896"/>
        <c:axId val="1"/>
      </c:barChart>
      <c:catAx>
        <c:axId val="165386489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800" kern="1200">
                <a:solidFill>
                  <a:schemeClr val="tx1"/>
                </a:solidFill>
                <a:latin typeface="+mn-lt"/>
                <a:ea typeface="+mn-ea"/>
                <a:cs typeface="+mn-cs"/>
              </a:defRPr>
            </a:pPr>
            <a:endParaRPr lang="zh-CN"/>
          </a:p>
        </c:txPr>
        <c:crossAx val="1653864896"/>
        <c:crosses val="min"/>
        <c:crossBetween val="between"/>
        <c:majorUnit val="1"/>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3870967741935483"/>
          <c:y val="0.14775160599571735"/>
          <c:w val="0.72258064516129028"/>
          <c:h val="0.74892933618843682"/>
        </c:manualLayout>
      </c:layout>
      <c:barChart>
        <c:barDir val="col"/>
        <c:grouping val="clustered"/>
        <c:varyColors val="0"/>
        <c:ser>
          <c:idx val="0"/>
          <c:order val="0"/>
          <c:spPr>
            <a:solidFill>
              <a:srgbClr val="C0C0C0"/>
            </a:solidFill>
            <a:ln>
              <a:noFill/>
            </a:ln>
          </c:spPr>
          <c:invertIfNegative val="0"/>
          <c:dLbls>
            <c:dLbl>
              <c:idx val="0"/>
              <c:layout>
                <c:manualLayout>
                  <c:x val="0"/>
                  <c:y val="-0.41916488222698073"/>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D6F-459A-9A94-CFEB8858F19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General</c:formatCode>
                <c:ptCount val="1"/>
                <c:pt idx="0">
                  <c:v>2500</c:v>
                </c:pt>
              </c:numCache>
            </c:numRef>
          </c:val>
          <c:extLst>
            <c:ext xmlns:c16="http://schemas.microsoft.com/office/drawing/2014/chart" uri="{C3380CC4-5D6E-409C-BE32-E72D297353CC}">
              <c16:uniqueId val="{00000001-6D6F-459A-9A94-CFEB8858F191}"/>
            </c:ext>
          </c:extLst>
        </c:ser>
        <c:ser>
          <c:idx val="1"/>
          <c:order val="1"/>
          <c:spPr>
            <a:solidFill>
              <a:srgbClr val="0052D9"/>
            </a:solidFill>
            <a:ln>
              <a:noFill/>
            </a:ln>
          </c:spPr>
          <c:invertIfNegative val="0"/>
          <c:dLbls>
            <c:dLbl>
              <c:idx val="0"/>
              <c:layout>
                <c:manualLayout>
                  <c:x val="0"/>
                  <c:y val="-0.16113490364025695"/>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6D6F-459A-9A94-CFEB8858F19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General</c:formatCode>
                <c:ptCount val="1"/>
                <c:pt idx="0">
                  <c:v>780</c:v>
                </c:pt>
              </c:numCache>
            </c:numRef>
          </c:val>
          <c:extLst>
            <c:ext xmlns:c16="http://schemas.microsoft.com/office/drawing/2014/chart" uri="{C3380CC4-5D6E-409C-BE32-E72D297353CC}">
              <c16:uniqueId val="{00000003-6D6F-459A-9A94-CFEB8858F191}"/>
            </c:ext>
          </c:extLst>
        </c:ser>
        <c:dLbls>
          <c:showLegendKey val="0"/>
          <c:showVal val="0"/>
          <c:showCatName val="0"/>
          <c:showSerName val="0"/>
          <c:showPercent val="0"/>
          <c:showBubbleSize val="0"/>
        </c:dLbls>
        <c:gapWidth val="80"/>
        <c:axId val="1042399840"/>
        <c:axId val="1"/>
      </c:barChart>
      <c:catAx>
        <c:axId val="10423998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500"/>
          <c:min val="0"/>
        </c:scaling>
        <c:delete val="1"/>
        <c:axPos val="l"/>
        <c:numFmt formatCode="General" sourceLinked="1"/>
        <c:majorTickMark val="out"/>
        <c:minorTickMark val="none"/>
        <c:tickLblPos val="nextTo"/>
        <c:crossAx val="1042399840"/>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591160220994475E-2"/>
          <c:y val="0.14775160599571735"/>
          <c:w val="0.92817679558011046"/>
          <c:h val="0.74892933618843682"/>
        </c:manualLayout>
      </c:layout>
      <c:barChart>
        <c:barDir val="col"/>
        <c:grouping val="clustered"/>
        <c:varyColors val="0"/>
        <c:ser>
          <c:idx val="0"/>
          <c:order val="0"/>
          <c:spPr>
            <a:solidFill>
              <a:srgbClr val="C0C0C0"/>
            </a:solidFill>
            <a:ln>
              <a:noFill/>
            </a:ln>
          </c:spPr>
          <c:invertIfNegative val="0"/>
          <c:dLbls>
            <c:dLbl>
              <c:idx val="0"/>
              <c:layout>
                <c:manualLayout>
                  <c:x val="0"/>
                  <c:y val="-0.26873661670235544"/>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5A8-4ACA-A778-52FFFB6DC6A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General</c:formatCode>
                <c:ptCount val="1"/>
                <c:pt idx="0">
                  <c:v>180</c:v>
                </c:pt>
              </c:numCache>
            </c:numRef>
          </c:val>
          <c:extLst>
            <c:ext xmlns:c16="http://schemas.microsoft.com/office/drawing/2014/chart" uri="{C3380CC4-5D6E-409C-BE32-E72D297353CC}">
              <c16:uniqueId val="{00000001-65A8-4ACA-A778-52FFFB6DC6A3}"/>
            </c:ext>
          </c:extLst>
        </c:ser>
        <c:ser>
          <c:idx val="1"/>
          <c:order val="1"/>
          <c:spPr>
            <a:solidFill>
              <a:srgbClr val="0052D9"/>
            </a:solidFill>
            <a:ln>
              <a:noFill/>
            </a:ln>
          </c:spPr>
          <c:invertIfNegative val="0"/>
          <c:dLbls>
            <c:dLbl>
              <c:idx val="0"/>
              <c:layout>
                <c:manualLayout>
                  <c:x val="0"/>
                  <c:y val="-0.41916488222698073"/>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65A8-4ACA-A778-52FFFB6DC6A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General</c:formatCode>
                <c:ptCount val="1"/>
                <c:pt idx="0">
                  <c:v>300</c:v>
                </c:pt>
              </c:numCache>
            </c:numRef>
          </c:val>
          <c:extLst>
            <c:ext xmlns:c16="http://schemas.microsoft.com/office/drawing/2014/chart" uri="{C3380CC4-5D6E-409C-BE32-E72D297353CC}">
              <c16:uniqueId val="{00000003-65A8-4ACA-A778-52FFFB6DC6A3}"/>
            </c:ext>
          </c:extLst>
        </c:ser>
        <c:dLbls>
          <c:showLegendKey val="0"/>
          <c:showVal val="0"/>
          <c:showCatName val="0"/>
          <c:showSerName val="0"/>
          <c:showPercent val="0"/>
          <c:showBubbleSize val="0"/>
        </c:dLbls>
        <c:gapWidth val="80"/>
        <c:axId val="922995520"/>
        <c:axId val="1"/>
      </c:barChart>
      <c:catAx>
        <c:axId val="92299552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
          <c:min val="0"/>
        </c:scaling>
        <c:delete val="1"/>
        <c:axPos val="l"/>
        <c:numFmt formatCode="General" sourceLinked="1"/>
        <c:majorTickMark val="out"/>
        <c:minorTickMark val="none"/>
        <c:tickLblPos val="nextTo"/>
        <c:crossAx val="922995520"/>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3010752688172043"/>
          <c:y val="0.30530973451327431"/>
          <c:w val="0.53978494623655915"/>
          <c:h val="0.48119469026548672"/>
        </c:manualLayout>
      </c:layout>
      <c:barChart>
        <c:barDir val="col"/>
        <c:grouping val="stacked"/>
        <c:varyColors val="0"/>
        <c:ser>
          <c:idx val="0"/>
          <c:order val="0"/>
          <c:spPr>
            <a:solidFill>
              <a:srgbClr val="C0C0C0"/>
            </a:solidFill>
            <a:ln>
              <a:noFill/>
            </a:ln>
          </c:spPr>
          <c:invertIfNegative val="0"/>
          <c:dPt>
            <c:idx val="1"/>
            <c:invertIfNegative val="0"/>
            <c:bubble3D val="0"/>
            <c:spPr>
              <a:solidFill>
                <a:srgbClr val="0052D9"/>
              </a:solidFill>
              <a:ln>
                <a:noFill/>
              </a:ln>
            </c:spPr>
            <c:extLst>
              <c:ext xmlns:c16="http://schemas.microsoft.com/office/drawing/2014/chart" uri="{C3380CC4-5D6E-409C-BE32-E72D297353CC}">
                <c16:uniqueId val="{00000000-684C-4058-A7F8-3DBEBF2A9A67}"/>
              </c:ext>
            </c:extLst>
          </c:dPt>
          <c:dLbls>
            <c:dLbl>
              <c:idx val="0"/>
              <c:layout>
                <c:manualLayout>
                  <c:x val="0"/>
                  <c:y val="-0.16039823008849557"/>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684C-4058-A7F8-3DBEBF2A9A67}"/>
                </c:ext>
              </c:extLst>
            </c:dLbl>
            <c:dLbl>
              <c:idx val="1"/>
              <c:layout>
                <c:manualLayout>
                  <c:x val="0"/>
                  <c:y val="-0.33296460176991149"/>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84C-4058-A7F8-3DBEBF2A9A6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1536</c:v>
                </c:pt>
                <c:pt idx="1">
                  <c:v>5376</c:v>
                </c:pt>
              </c:numCache>
            </c:numRef>
          </c:val>
          <c:extLst>
            <c:ext xmlns:c16="http://schemas.microsoft.com/office/drawing/2014/chart" uri="{C3380CC4-5D6E-409C-BE32-E72D297353CC}">
              <c16:uniqueId val="{00000002-684C-4058-A7F8-3DBEBF2A9A67}"/>
            </c:ext>
          </c:extLst>
        </c:ser>
        <c:dLbls>
          <c:showLegendKey val="0"/>
          <c:showVal val="0"/>
          <c:showCatName val="0"/>
          <c:showSerName val="0"/>
          <c:showPercent val="0"/>
          <c:showBubbleSize val="0"/>
        </c:dLbls>
        <c:gapWidth val="80"/>
        <c:overlap val="100"/>
        <c:axId val="422574592"/>
        <c:axId val="1"/>
      </c:barChart>
      <c:catAx>
        <c:axId val="4225745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376"/>
          <c:min val="0"/>
        </c:scaling>
        <c:delete val="1"/>
        <c:axPos val="l"/>
        <c:numFmt formatCode="General" sourceLinked="1"/>
        <c:majorTickMark val="out"/>
        <c:minorTickMark val="none"/>
        <c:tickLblPos val="nextTo"/>
        <c:crossAx val="422574592"/>
        <c:crosses val="min"/>
        <c:crossBetween val="between"/>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6049382716049384E-2"/>
          <c:y val="0.28163265306122448"/>
          <c:w val="0.96790123456790123"/>
          <c:h val="0.52142857142857146"/>
        </c:manualLayout>
      </c:layout>
      <c:barChart>
        <c:barDir val="col"/>
        <c:grouping val="stacked"/>
        <c:varyColors val="0"/>
        <c:ser>
          <c:idx val="0"/>
          <c:order val="0"/>
          <c:spPr>
            <a:noFill/>
            <a:ln>
              <a:noFill/>
            </a:ln>
          </c:spPr>
          <c:invertIfNegative val="0"/>
          <c:dPt>
            <c:idx val="0"/>
            <c:invertIfNegative val="0"/>
            <c:bubble3D val="0"/>
            <c:spPr>
              <a:solidFill>
                <a:srgbClr val="0052D9"/>
              </a:solidFill>
              <a:ln>
                <a:noFill/>
              </a:ln>
            </c:spPr>
            <c:extLst>
              <c:ext xmlns:c16="http://schemas.microsoft.com/office/drawing/2014/chart" uri="{C3380CC4-5D6E-409C-BE32-E72D297353CC}">
                <c16:uniqueId val="{00000000-B9D7-4209-BB22-F758A2E9C2CF}"/>
              </c:ext>
            </c:extLst>
          </c:dPt>
          <c:dPt>
            <c:idx val="4"/>
            <c:invertIfNegative val="0"/>
            <c:bubble3D val="0"/>
            <c:spPr>
              <a:solidFill>
                <a:srgbClr val="C0C0C0"/>
              </a:solidFill>
              <a:ln>
                <a:noFill/>
              </a:ln>
            </c:spPr>
            <c:extLst>
              <c:ext xmlns:c16="http://schemas.microsoft.com/office/drawing/2014/chart" uri="{C3380CC4-5D6E-409C-BE32-E72D297353CC}">
                <c16:uniqueId val="{00000001-B9D7-4209-BB22-F758A2E9C2CF}"/>
              </c:ext>
            </c:extLst>
          </c:dPt>
          <c:dLbls>
            <c:dLbl>
              <c:idx val="0"/>
              <c:layout>
                <c:manualLayout>
                  <c:x val="0"/>
                  <c:y val="-0.34591836734693876"/>
                </c:manualLayout>
              </c:layout>
              <c:numFmt formatCode="#,##0.00;&quot;-&quot;#,##0.0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B9D7-4209-BB22-F758A2E9C2CF}"/>
                </c:ext>
              </c:extLst>
            </c:dLbl>
            <c:dLbl>
              <c:idx val="4"/>
              <c:layout>
                <c:manualLayout>
                  <c:x val="0"/>
                  <c:y val="-0.19897959183673469"/>
                </c:manualLayout>
              </c:layout>
              <c:numFmt formatCode="#,##0.00;&quot;-&quot;#,##0.0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B9D7-4209-BB22-F758A2E9C2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1.8599999999999999</c:v>
                </c:pt>
                <c:pt idx="1">
                  <c:v>1.63</c:v>
                </c:pt>
                <c:pt idx="2">
                  <c:v>1</c:v>
                </c:pt>
                <c:pt idx="3">
                  <c:v>0.81</c:v>
                </c:pt>
                <c:pt idx="4">
                  <c:v>0.81</c:v>
                </c:pt>
              </c:numCache>
            </c:numRef>
          </c:val>
          <c:extLst>
            <c:ext xmlns:c16="http://schemas.microsoft.com/office/drawing/2014/chart" uri="{C3380CC4-5D6E-409C-BE32-E72D297353CC}">
              <c16:uniqueId val="{00000002-B9D7-4209-BB22-F758A2E9C2CF}"/>
            </c:ext>
          </c:extLst>
        </c:ser>
        <c:ser>
          <c:idx val="1"/>
          <c:order val="1"/>
          <c:spPr>
            <a:solidFill>
              <a:schemeClr val="accent5"/>
            </a:solidFill>
            <a:ln>
              <a:noFill/>
            </a:ln>
          </c:spPr>
          <c:invertIfNegative val="0"/>
          <c:dLbls>
            <c:dLbl>
              <c:idx val="1"/>
              <c:layout>
                <c:manualLayout>
                  <c:x val="0"/>
                  <c:y val="0.11632653061224489"/>
                </c:manualLayout>
              </c:layout>
              <c:numFmt formatCode="#,##0.00;#,##0.0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B9D7-4209-BB22-F758A2E9C2CF}"/>
                </c:ext>
              </c:extLst>
            </c:dLbl>
            <c:dLbl>
              <c:idx val="2"/>
              <c:layout>
                <c:manualLayout>
                  <c:x val="0"/>
                  <c:y val="0.17244897959183675"/>
                </c:manualLayout>
              </c:layout>
              <c:numFmt formatCode="#,##0.00;#,##0.0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B9D7-4209-BB22-F758A2E9C2CF}"/>
                </c:ext>
              </c:extLst>
            </c:dLbl>
            <c:dLbl>
              <c:idx val="3"/>
              <c:layout>
                <c:manualLayout>
                  <c:x val="0"/>
                  <c:y val="0.11122448979591837"/>
                </c:manualLayout>
              </c:layout>
              <c:numFmt formatCode="#,##0.00;#,##0.0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B9D7-4209-BB22-F758A2E9C2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1">
                  <c:v>0.22999999999999998</c:v>
                </c:pt>
                <c:pt idx="2">
                  <c:v>0.62999999999999989</c:v>
                </c:pt>
                <c:pt idx="3">
                  <c:v>0.18999999999999995</c:v>
                </c:pt>
              </c:numCache>
            </c:numRef>
          </c:val>
          <c:extLst>
            <c:ext xmlns:c16="http://schemas.microsoft.com/office/drawing/2014/chart" uri="{C3380CC4-5D6E-409C-BE32-E72D297353CC}">
              <c16:uniqueId val="{00000006-B9D7-4209-BB22-F758A2E9C2CF}"/>
            </c:ext>
          </c:extLst>
        </c:ser>
        <c:dLbls>
          <c:showLegendKey val="0"/>
          <c:showVal val="0"/>
          <c:showCatName val="0"/>
          <c:showSerName val="0"/>
          <c:showPercent val="0"/>
          <c:showBubbleSize val="0"/>
        </c:dLbls>
        <c:gapWidth val="80"/>
        <c:overlap val="100"/>
        <c:axId val="923046400"/>
        <c:axId val="1"/>
      </c:barChart>
      <c:catAx>
        <c:axId val="92304640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8599999999999999"/>
          <c:min val="0"/>
        </c:scaling>
        <c:delete val="1"/>
        <c:axPos val="l"/>
        <c:numFmt formatCode="General" sourceLinked="1"/>
        <c:majorTickMark val="out"/>
        <c:minorTickMark val="none"/>
        <c:tickLblPos val="nextTo"/>
        <c:crossAx val="923046400"/>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4470616226504874E-2"/>
          <c:y val="7.9325935059597202E-2"/>
          <c:w val="0.86581013561741615"/>
          <c:h val="0.78914919852034526"/>
        </c:manualLayout>
      </c:layout>
      <c:scatterChart>
        <c:scatterStyle val="lineMarker"/>
        <c:varyColors val="0"/>
        <c:ser>
          <c:idx val="0"/>
          <c:order val="0"/>
          <c:spPr>
            <a:ln w="19050" cmpd="sng" algn="ctr">
              <a:solidFill>
                <a:schemeClr val="accent5"/>
              </a:solidFill>
              <a:prstDash val="solid"/>
            </a:ln>
          </c:spPr>
          <c:marker>
            <c:symbol val="none"/>
          </c:marker>
          <c:dLbls>
            <c:dLbl>
              <c:idx val="2"/>
              <c:layout>
                <c:manualLayout>
                  <c:x val="0"/>
                  <c:y val="-4.2745581586518699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348-4575-B5CF-1CB658B9D01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Sheet1!$A$1:$C$1</c:f>
              <c:numCache>
                <c:formatCode>General</c:formatCode>
                <c:ptCount val="3"/>
                <c:pt idx="0">
                  <c:v>2024</c:v>
                </c:pt>
                <c:pt idx="1">
                  <c:v>2025</c:v>
                </c:pt>
                <c:pt idx="2">
                  <c:v>2026</c:v>
                </c:pt>
              </c:numCache>
            </c:numRef>
          </c:xVal>
          <c:yVal>
            <c:numRef>
              <c:f>Sheet1!$A$2:$C$2</c:f>
              <c:numCache>
                <c:formatCode>General</c:formatCode>
                <c:ptCount val="3"/>
                <c:pt idx="0">
                  <c:v>20</c:v>
                </c:pt>
                <c:pt idx="1">
                  <c:v>33</c:v>
                </c:pt>
                <c:pt idx="2">
                  <c:v>50</c:v>
                </c:pt>
              </c:numCache>
            </c:numRef>
          </c:yVal>
          <c:smooth val="0"/>
          <c:extLst>
            <c:ext xmlns:c16="http://schemas.microsoft.com/office/drawing/2014/chart" uri="{C3380CC4-5D6E-409C-BE32-E72D297353CC}">
              <c16:uniqueId val="{00000001-7348-4575-B5CF-1CB658B9D019}"/>
            </c:ext>
          </c:extLst>
        </c:ser>
        <c:ser>
          <c:idx val="1"/>
          <c:order val="1"/>
          <c:spPr>
            <a:ln w="19050" cmpd="sng" algn="ctr">
              <a:solidFill>
                <a:srgbClr val="C0C0C0"/>
              </a:solidFill>
              <a:prstDash val="solid"/>
            </a:ln>
          </c:spPr>
          <c:marker>
            <c:symbol val="none"/>
          </c:marker>
          <c:dLbls>
            <c:dLbl>
              <c:idx val="1"/>
              <c:layout>
                <c:manualLayout>
                  <c:x val="0"/>
                  <c:y val="-4.2745581586518699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348-4575-B5CF-1CB658B9D019}"/>
                </c:ext>
              </c:extLst>
            </c:dLbl>
            <c:dLbl>
              <c:idx val="2"/>
              <c:layout>
                <c:manualLayout>
                  <c:x val="0"/>
                  <c:y val="-4.2745581586518699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348-4575-B5CF-1CB658B9D01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Sheet1!$A$1:$C$1</c:f>
              <c:numCache>
                <c:formatCode>General</c:formatCode>
                <c:ptCount val="3"/>
                <c:pt idx="0">
                  <c:v>2024</c:v>
                </c:pt>
                <c:pt idx="1">
                  <c:v>2025</c:v>
                </c:pt>
                <c:pt idx="2">
                  <c:v>2026</c:v>
                </c:pt>
              </c:numCache>
            </c:numRef>
          </c:xVal>
          <c:yVal>
            <c:numRef>
              <c:f>Sheet1!$A$3:$C$3</c:f>
              <c:numCache>
                <c:formatCode>General</c:formatCode>
                <c:ptCount val="3"/>
                <c:pt idx="0">
                  <c:v>80</c:v>
                </c:pt>
                <c:pt idx="1">
                  <c:v>67</c:v>
                </c:pt>
                <c:pt idx="2">
                  <c:v>50</c:v>
                </c:pt>
              </c:numCache>
            </c:numRef>
          </c:yVal>
          <c:smooth val="0"/>
          <c:extLst>
            <c:ext xmlns:c16="http://schemas.microsoft.com/office/drawing/2014/chart" uri="{C3380CC4-5D6E-409C-BE32-E72D297353CC}">
              <c16:uniqueId val="{00000004-7348-4575-B5CF-1CB658B9D019}"/>
            </c:ext>
          </c:extLst>
        </c:ser>
        <c:ser>
          <c:idx val="2"/>
          <c:order val="2"/>
          <c:spPr>
            <a:ln w="19050" cmpd="sng" algn="ctr">
              <a:solidFill>
                <a:schemeClr val="accent1"/>
              </a:solidFill>
              <a:prstDash val="dash"/>
            </a:ln>
          </c:spPr>
          <c:marker>
            <c:symbol val="none"/>
          </c:marker>
          <c:dLbls>
            <c:dLbl>
              <c:idx val="0"/>
              <c:layout>
                <c:manualLayout>
                  <c:x val="2.4268379728765169E-2"/>
                  <c:y val="4.3156596794081382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348-4575-B5CF-1CB658B9D019}"/>
                </c:ext>
              </c:extLst>
            </c:dLbl>
            <c:dLbl>
              <c:idx val="1"/>
              <c:layout>
                <c:manualLayout>
                  <c:x val="0"/>
                  <c:y val="4.3156596794081382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7348-4575-B5CF-1CB658B9D019}"/>
                </c:ext>
              </c:extLst>
            </c:dLbl>
            <c:dLbl>
              <c:idx val="2"/>
              <c:layout>
                <c:manualLayout>
                  <c:x val="0"/>
                  <c:y val="4.3156596794081382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7348-4575-B5CF-1CB658B9D01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Sheet1!$A$1:$C$1</c:f>
              <c:numCache>
                <c:formatCode>General</c:formatCode>
                <c:ptCount val="3"/>
                <c:pt idx="0">
                  <c:v>2024</c:v>
                </c:pt>
                <c:pt idx="1">
                  <c:v>2025</c:v>
                </c:pt>
                <c:pt idx="2">
                  <c:v>2026</c:v>
                </c:pt>
              </c:numCache>
            </c:numRef>
          </c:xVal>
          <c:yVal>
            <c:numRef>
              <c:f>Sheet1!$A$4:$C$4</c:f>
              <c:numCache>
                <c:formatCode>General</c:formatCode>
                <c:ptCount val="3"/>
                <c:pt idx="0">
                  <c:v>11.000000000000002</c:v>
                </c:pt>
                <c:pt idx="1">
                  <c:v>18.150000000000002</c:v>
                </c:pt>
                <c:pt idx="2">
                  <c:v>27.500000000000004</c:v>
                </c:pt>
              </c:numCache>
            </c:numRef>
          </c:yVal>
          <c:smooth val="0"/>
          <c:extLst>
            <c:ext xmlns:c16="http://schemas.microsoft.com/office/drawing/2014/chart" uri="{C3380CC4-5D6E-409C-BE32-E72D297353CC}">
              <c16:uniqueId val="{00000008-7348-4575-B5CF-1CB658B9D019}"/>
            </c:ext>
          </c:extLst>
        </c:ser>
        <c:dLbls>
          <c:showLegendKey val="0"/>
          <c:showVal val="0"/>
          <c:showCatName val="0"/>
          <c:showSerName val="0"/>
          <c:showPercent val="0"/>
          <c:showBubbleSize val="0"/>
        </c:dLbls>
        <c:axId val="4"/>
        <c:axId val="5"/>
      </c:scatterChart>
      <c:valAx>
        <c:axId val="4"/>
        <c:scaling>
          <c:orientation val="minMax"/>
          <c:max val="2026"/>
          <c:min val="2024"/>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zh-CN"/>
          </a:p>
        </c:txPr>
        <c:crossAx val="5"/>
        <c:crosses val="min"/>
        <c:crossBetween val="midCat"/>
        <c:majorUnit val="1"/>
      </c:valAx>
      <c:valAx>
        <c:axId val="5"/>
        <c:scaling>
          <c:orientation val="minMax"/>
          <c:max val="8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zh-CN"/>
          </a:p>
        </c:txPr>
        <c:crossAx val="4"/>
        <c:crosses val="min"/>
        <c:crossBetween val="midCat"/>
        <c:majorUnit val="10"/>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4730609828300769E-2"/>
          <c:y val="0.1318622174381055"/>
          <c:w val="0.8099467140319716"/>
          <c:h val="0.736275565123789"/>
        </c:manualLayout>
      </c:layout>
      <c:doughnutChart>
        <c:varyColors val="0"/>
        <c:ser>
          <c:idx val="0"/>
          <c:order val="0"/>
          <c:dPt>
            <c:idx val="0"/>
            <c:bubble3D val="0"/>
            <c:spPr>
              <a:solidFill>
                <a:srgbClr val="C0C0C0"/>
              </a:solidFill>
              <a:ln>
                <a:noFill/>
              </a:ln>
            </c:spPr>
            <c:extLst>
              <c:ext xmlns:c16="http://schemas.microsoft.com/office/drawing/2014/chart" uri="{C3380CC4-5D6E-409C-BE32-E72D297353CC}">
                <c16:uniqueId val="{00000000-136B-4E1A-88B8-6329369F1BAD}"/>
              </c:ext>
            </c:extLst>
          </c:dPt>
          <c:dPt>
            <c:idx val="1"/>
            <c:bubble3D val="0"/>
            <c:spPr>
              <a:solidFill>
                <a:srgbClr val="0052D9"/>
              </a:solidFill>
              <a:ln>
                <a:noFill/>
              </a:ln>
            </c:spPr>
            <c:extLst>
              <c:ext xmlns:c16="http://schemas.microsoft.com/office/drawing/2014/chart" uri="{C3380CC4-5D6E-409C-BE32-E72D297353CC}">
                <c16:uniqueId val="{00000001-136B-4E1A-88B8-6329369F1BAD}"/>
              </c:ext>
            </c:extLst>
          </c:dPt>
          <c:dPt>
            <c:idx val="2"/>
            <c:bubble3D val="0"/>
            <c:spPr>
              <a:solidFill>
                <a:schemeClr val="accent5"/>
              </a:solidFill>
              <a:ln>
                <a:noFill/>
              </a:ln>
            </c:spPr>
            <c:extLst>
              <c:ext xmlns:c16="http://schemas.microsoft.com/office/drawing/2014/chart" uri="{C3380CC4-5D6E-409C-BE32-E72D297353CC}">
                <c16:uniqueId val="{00000002-136B-4E1A-88B8-6329369F1BAD}"/>
              </c:ext>
            </c:extLst>
          </c:dPt>
          <c:dLbls>
            <c:dLbl>
              <c:idx val="0"/>
              <c:layout>
                <c:manualLayout>
                  <c:x val="1.9538188277087035E-2"/>
                  <c:y val="-5.9203444564047362E-3"/>
                </c:manualLayout>
              </c:layout>
              <c:numFmt formatCode="#,##0&quot;%&quot;;&quot;-&quot;#,##0&quot;%&quot;" sourceLinked="0"/>
              <c:spPr>
                <a:noFill/>
                <a:ln>
                  <a:noFill/>
                </a:ln>
              </c:spPr>
              <c:txPr>
                <a:bodyPr wrap="none"/>
                <a:lstStyle/>
                <a:p>
                  <a:pPr>
                    <a:defRPr sz="1400" kern="1200">
                      <a:solidFill>
                        <a:schemeClr val="tx1"/>
                      </a:solidFill>
                      <a:latin typeface="+mn-lt"/>
                      <a:ea typeface="+mn-ea"/>
                      <a:cs typeface="+mn-cs"/>
                    </a:defRPr>
                  </a:pPr>
                  <a:endParaRPr lang="zh-CN"/>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36B-4E1A-88B8-6329369F1BAD}"/>
                </c:ext>
              </c:extLst>
            </c:dLbl>
            <c:dLbl>
              <c:idx val="1"/>
              <c:layout>
                <c:manualLayout>
                  <c:x val="-1.6577856719952634E-2"/>
                  <c:y val="9.1496232508073202E-3"/>
                </c:manualLayout>
              </c:layout>
              <c:numFmt formatCode="#,##0&quot;%&quot;;&quot;-&quot;#,##0&quot;%&quot;" sourceLinked="0"/>
              <c:spPr>
                <a:noFill/>
                <a:ln>
                  <a:noFill/>
                </a:ln>
              </c:spPr>
              <c:txPr>
                <a:bodyPr wrap="none"/>
                <a:lstStyle/>
                <a:p>
                  <a:pPr>
                    <a:defRPr sz="1400" kern="1200">
                      <a:solidFill>
                        <a:schemeClr val="tx2"/>
                      </a:solidFill>
                      <a:latin typeface="+mn-lt"/>
                      <a:ea typeface="+mn-ea"/>
                      <a:cs typeface="+mn-cs"/>
                    </a:defRPr>
                  </a:pPr>
                  <a:endParaRPr lang="zh-CN"/>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36B-4E1A-88B8-6329369F1BAD}"/>
                </c:ext>
              </c:extLst>
            </c:dLbl>
            <c:dLbl>
              <c:idx val="2"/>
              <c:layout>
                <c:manualLayout>
                  <c:x val="-1.0657193605683837E-2"/>
                  <c:y val="-3.9289558665231435E-2"/>
                </c:manualLayout>
              </c:layout>
              <c:numFmt formatCode="#,##0&quot;%&quot;;&quot;-&quot;#,##0&quot;%&quot;" sourceLinked="0"/>
              <c:spPr>
                <a:noFill/>
                <a:ln>
                  <a:noFill/>
                </a:ln>
              </c:spPr>
              <c:txPr>
                <a:bodyPr wrap="none"/>
                <a:lstStyle/>
                <a:p>
                  <a:pPr>
                    <a:defRPr sz="1400" kern="1200">
                      <a:solidFill>
                        <a:schemeClr val="tx2"/>
                      </a:solidFill>
                      <a:latin typeface="+mn-lt"/>
                      <a:ea typeface="+mn-ea"/>
                      <a:cs typeface="+mn-cs"/>
                    </a:defRPr>
                  </a:pPr>
                  <a:endParaRPr lang="zh-CN"/>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36B-4E1A-88B8-6329369F1BA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Sheet1!$A$1:$A$3</c:f>
              <c:numCache>
                <c:formatCode>General</c:formatCode>
                <c:ptCount val="3"/>
                <c:pt idx="0">
                  <c:v>39.473684210526315</c:v>
                </c:pt>
                <c:pt idx="1">
                  <c:v>52.631578947368418</c:v>
                </c:pt>
                <c:pt idx="2">
                  <c:v>7.8947368421052628</c:v>
                </c:pt>
              </c:numCache>
            </c:numRef>
          </c:val>
          <c:extLst>
            <c:ext xmlns:c16="http://schemas.microsoft.com/office/drawing/2014/chart" uri="{C3380CC4-5D6E-409C-BE32-E72D297353CC}">
              <c16:uniqueId val="{00000003-136B-4E1A-88B8-6329369F1BAD}"/>
            </c:ext>
          </c:extLst>
        </c:ser>
        <c:dLbls>
          <c:showLegendKey val="0"/>
          <c:showVal val="0"/>
          <c:showCatName val="0"/>
          <c:showSerName val="0"/>
          <c:showPercent val="0"/>
          <c:showBubbleSize val="0"/>
          <c:showLeaderLines val="1"/>
        </c:dLbls>
        <c:firstSliceAng val="0"/>
        <c:holeSize val="50"/>
      </c:doughnutChart>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3423282083464075E-2"/>
          <c:y val="6.4548162859980135E-2"/>
          <c:w val="0.91841857546281769"/>
          <c:h val="0.87090367428003967"/>
        </c:manualLayout>
      </c:layout>
      <c:scatterChart>
        <c:scatterStyle val="lineMarker"/>
        <c:varyColors val="0"/>
        <c:ser>
          <c:idx val="0"/>
          <c:order val="0"/>
          <c:spPr>
            <a:ln>
              <a:noFill/>
            </a:ln>
          </c:spPr>
          <c:marker>
            <c:symbol val="circle"/>
            <c:size val="7"/>
            <c:spPr>
              <a:solidFill>
                <a:schemeClr val="accent5"/>
              </a:solidFill>
              <a:ln w="9525" cmpd="sng" algn="ctr">
                <a:solidFill>
                  <a:schemeClr val="accent5"/>
                </a:solidFill>
                <a:prstDash val="solid"/>
              </a:ln>
            </c:spPr>
          </c:marker>
          <c:xVal>
            <c:numRef>
              <c:f>Sheet1!$A$1:$A$19</c:f>
              <c:numCache>
                <c:formatCode>General</c:formatCode>
                <c:ptCount val="19"/>
                <c:pt idx="0">
                  <c:v>20089</c:v>
                </c:pt>
                <c:pt idx="1">
                  <c:v>19723</c:v>
                </c:pt>
                <c:pt idx="2">
                  <c:v>19358</c:v>
                </c:pt>
                <c:pt idx="3">
                  <c:v>18993</c:v>
                </c:pt>
                <c:pt idx="4">
                  <c:v>18993</c:v>
                </c:pt>
              </c:numCache>
            </c:numRef>
          </c:xVal>
          <c:yVal>
            <c:numRef>
              <c:f>Sheet1!$B$1:$B$19</c:f>
              <c:numCache>
                <c:formatCode>General</c:formatCode>
                <c:ptCount val="19"/>
                <c:pt idx="0">
                  <c:v>5000</c:v>
                </c:pt>
                <c:pt idx="1">
                  <c:v>2200</c:v>
                </c:pt>
                <c:pt idx="2">
                  <c:v>1979</c:v>
                </c:pt>
                <c:pt idx="3">
                  <c:v>1979</c:v>
                </c:pt>
                <c:pt idx="4">
                  <c:v>312</c:v>
                </c:pt>
              </c:numCache>
            </c:numRef>
          </c:yVal>
          <c:smooth val="0"/>
          <c:extLst>
            <c:ext xmlns:c16="http://schemas.microsoft.com/office/drawing/2014/chart" uri="{C3380CC4-5D6E-409C-BE32-E72D297353CC}">
              <c16:uniqueId val="{00000000-C33B-48EC-A058-CFBCC8342CDD}"/>
            </c:ext>
          </c:extLst>
        </c:ser>
        <c:ser>
          <c:idx val="1"/>
          <c:order val="1"/>
          <c:spPr>
            <a:ln>
              <a:noFill/>
            </a:ln>
          </c:spPr>
          <c:marker>
            <c:symbol val="circle"/>
            <c:size val="7"/>
            <c:spPr>
              <a:solidFill>
                <a:srgbClr val="0052D9"/>
              </a:solidFill>
              <a:ln w="9525" cmpd="sng" algn="ctr">
                <a:solidFill>
                  <a:srgbClr val="0052D9"/>
                </a:solidFill>
                <a:prstDash val="solid"/>
              </a:ln>
            </c:spPr>
          </c:marker>
          <c:xVal>
            <c:numRef>
              <c:f>Sheet1!$A$1:$A$19</c:f>
              <c:numCache>
                <c:formatCode>General</c:formatCode>
                <c:ptCount val="19"/>
                <c:pt idx="5">
                  <c:v>20089</c:v>
                </c:pt>
                <c:pt idx="6">
                  <c:v>19723</c:v>
                </c:pt>
                <c:pt idx="7">
                  <c:v>19358</c:v>
                </c:pt>
                <c:pt idx="8">
                  <c:v>20454</c:v>
                </c:pt>
                <c:pt idx="9">
                  <c:v>19358</c:v>
                </c:pt>
                <c:pt idx="10">
                  <c:v>19723</c:v>
                </c:pt>
                <c:pt idx="11">
                  <c:v>19358</c:v>
                </c:pt>
              </c:numCache>
            </c:numRef>
          </c:xVal>
          <c:yVal>
            <c:numRef>
              <c:f>Sheet1!$C$1:$C$19</c:f>
              <c:numCache>
                <c:formatCode>General</c:formatCode>
                <c:ptCount val="19"/>
                <c:pt idx="5">
                  <c:v>2307</c:v>
                </c:pt>
                <c:pt idx="6">
                  <c:v>918</c:v>
                </c:pt>
                <c:pt idx="7">
                  <c:v>196.5</c:v>
                </c:pt>
                <c:pt idx="8">
                  <c:v>1310</c:v>
                </c:pt>
                <c:pt idx="9">
                  <c:v>667</c:v>
                </c:pt>
                <c:pt idx="10">
                  <c:v>177</c:v>
                </c:pt>
                <c:pt idx="11">
                  <c:v>51.2</c:v>
                </c:pt>
              </c:numCache>
            </c:numRef>
          </c:yVal>
          <c:smooth val="0"/>
          <c:extLst>
            <c:ext xmlns:c16="http://schemas.microsoft.com/office/drawing/2014/chart" uri="{C3380CC4-5D6E-409C-BE32-E72D297353CC}">
              <c16:uniqueId val="{00000001-C33B-48EC-A058-CFBCC8342CDD}"/>
            </c:ext>
          </c:extLst>
        </c:ser>
        <c:ser>
          <c:idx val="2"/>
          <c:order val="2"/>
          <c:spPr>
            <a:ln>
              <a:noFill/>
            </a:ln>
          </c:spPr>
          <c:marker>
            <c:symbol val="circle"/>
            <c:size val="7"/>
            <c:spPr>
              <a:solidFill>
                <a:srgbClr val="C0C0C0"/>
              </a:solidFill>
              <a:ln w="9525" cmpd="sng" algn="ctr">
                <a:solidFill>
                  <a:srgbClr val="C0C0C0"/>
                </a:solidFill>
                <a:prstDash val="solid"/>
              </a:ln>
            </c:spPr>
          </c:marker>
          <c:dPt>
            <c:idx val="13"/>
            <c:marker>
              <c:spPr>
                <a:solidFill>
                  <a:schemeClr val="accent5"/>
                </a:solidFill>
                <a:ln w="9525" cmpd="sng" algn="ctr">
                  <a:solidFill>
                    <a:schemeClr val="accent5"/>
                  </a:solidFill>
                  <a:prstDash val="solid"/>
                </a:ln>
              </c:spPr>
            </c:marker>
            <c:bubble3D val="0"/>
            <c:extLst>
              <c:ext xmlns:c16="http://schemas.microsoft.com/office/drawing/2014/chart" uri="{C3380CC4-5D6E-409C-BE32-E72D297353CC}">
                <c16:uniqueId val="{00000002-C33B-48EC-A058-CFBCC8342CDD}"/>
              </c:ext>
            </c:extLst>
          </c:dPt>
          <c:xVal>
            <c:numRef>
              <c:f>Sheet1!$A$1:$A$19</c:f>
              <c:numCache>
                <c:formatCode>General</c:formatCode>
                <c:ptCount val="19"/>
                <c:pt idx="12">
                  <c:v>19723</c:v>
                </c:pt>
                <c:pt idx="13">
                  <c:v>20089</c:v>
                </c:pt>
                <c:pt idx="14">
                  <c:v>20089</c:v>
                </c:pt>
                <c:pt idx="15">
                  <c:v>19723</c:v>
                </c:pt>
                <c:pt idx="16">
                  <c:v>18993</c:v>
                </c:pt>
              </c:numCache>
            </c:numRef>
          </c:xVal>
          <c:yVal>
            <c:numRef>
              <c:f>Sheet1!$D$1:$D$19</c:f>
              <c:numCache>
                <c:formatCode>General</c:formatCode>
                <c:ptCount val="19"/>
                <c:pt idx="12">
                  <c:v>2615</c:v>
                </c:pt>
                <c:pt idx="13">
                  <c:v>5000</c:v>
                </c:pt>
                <c:pt idx="14">
                  <c:v>4600</c:v>
                </c:pt>
                <c:pt idx="15">
                  <c:v>1835</c:v>
                </c:pt>
                <c:pt idx="16">
                  <c:v>432</c:v>
                </c:pt>
              </c:numCache>
            </c:numRef>
          </c:yVal>
          <c:smooth val="0"/>
          <c:extLst>
            <c:ext xmlns:c16="http://schemas.microsoft.com/office/drawing/2014/chart" uri="{C3380CC4-5D6E-409C-BE32-E72D297353CC}">
              <c16:uniqueId val="{00000003-C33B-48EC-A058-CFBCC8342CDD}"/>
            </c:ext>
          </c:extLst>
        </c:ser>
        <c:ser>
          <c:idx val="3"/>
          <c:order val="3"/>
          <c:spPr>
            <a:ln>
              <a:noFill/>
            </a:ln>
          </c:spPr>
          <c:marker>
            <c:symbol val="circle"/>
            <c:size val="7"/>
            <c:spPr>
              <a:solidFill>
                <a:srgbClr val="C30C3E"/>
              </a:solidFill>
              <a:ln w="9525" cmpd="sng" algn="ctr">
                <a:solidFill>
                  <a:srgbClr val="C30C3E"/>
                </a:solidFill>
                <a:prstDash val="solid"/>
              </a:ln>
            </c:spPr>
          </c:marker>
          <c:xVal>
            <c:numRef>
              <c:f>Sheet1!$A$1:$A$19</c:f>
              <c:numCache>
                <c:formatCode>General</c:formatCode>
                <c:ptCount val="19"/>
                <c:pt idx="17">
                  <c:v>20089</c:v>
                </c:pt>
                <c:pt idx="18">
                  <c:v>19358</c:v>
                </c:pt>
              </c:numCache>
            </c:numRef>
          </c:xVal>
          <c:yVal>
            <c:numRef>
              <c:f>Sheet1!$E$1:$E$19</c:f>
              <c:numCache>
                <c:formatCode>General</c:formatCode>
                <c:ptCount val="19"/>
                <c:pt idx="17">
                  <c:v>800</c:v>
                </c:pt>
                <c:pt idx="18">
                  <c:v>320</c:v>
                </c:pt>
              </c:numCache>
            </c:numRef>
          </c:yVal>
          <c:smooth val="0"/>
          <c:extLst>
            <c:ext xmlns:c16="http://schemas.microsoft.com/office/drawing/2014/chart" uri="{C3380CC4-5D6E-409C-BE32-E72D297353CC}">
              <c16:uniqueId val="{00000004-C33B-48EC-A058-CFBCC8342CDD}"/>
            </c:ext>
          </c:extLst>
        </c:ser>
        <c:dLbls>
          <c:showLegendKey val="0"/>
          <c:showVal val="0"/>
          <c:showCatName val="0"/>
          <c:showSerName val="0"/>
          <c:showPercent val="0"/>
          <c:showBubbleSize val="0"/>
        </c:dLbls>
        <c:axId val="917997680"/>
        <c:axId val="1"/>
      </c:scatterChart>
      <c:valAx>
        <c:axId val="917997680"/>
        <c:scaling>
          <c:orientation val="minMax"/>
          <c:max val="20454"/>
          <c:min val="18993"/>
        </c:scaling>
        <c:delete val="0"/>
        <c:axPos val="b"/>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1"/>
        <c:crosses val="min"/>
        <c:crossBetween val="midCat"/>
      </c:valAx>
      <c:valAx>
        <c:axId val="1"/>
        <c:scaling>
          <c:orientation val="minMax"/>
          <c:max val="60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zh-CN"/>
          </a:p>
        </c:txPr>
        <c:crossAx val="917997680"/>
        <c:crosses val="min"/>
        <c:crossBetween val="midCat"/>
        <c:majorUnit val="1000"/>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explosion val="11"/>
            <c:spPr>
              <a:solidFill>
                <a:srgbClr val="0052D9"/>
              </a:solidFill>
              <a:ln w="19050">
                <a:solidFill>
                  <a:schemeClr val="lt1"/>
                </a:solidFill>
              </a:ln>
              <a:effectLst/>
            </c:spPr>
            <c:extLst>
              <c:ext xmlns:c16="http://schemas.microsoft.com/office/drawing/2014/chart" uri="{C3380CC4-5D6E-409C-BE32-E72D297353CC}">
                <c16:uniqueId val="{00000001-0E01-4CD0-973A-EB20BFE7C550}"/>
              </c:ext>
            </c:extLst>
          </c:dPt>
          <c:dPt>
            <c:idx val="1"/>
            <c:bubble3D val="0"/>
            <c:spPr>
              <a:solidFill>
                <a:schemeClr val="accent6"/>
              </a:solidFill>
              <a:ln w="19050">
                <a:solidFill>
                  <a:schemeClr val="lt1"/>
                </a:solidFill>
              </a:ln>
              <a:effectLst/>
            </c:spPr>
            <c:extLst>
              <c:ext xmlns:c16="http://schemas.microsoft.com/office/drawing/2014/chart" uri="{C3380CC4-5D6E-409C-BE32-E72D297353CC}">
                <c16:uniqueId val="{00000003-0E01-4CD0-973A-EB20BFE7C550}"/>
              </c:ext>
            </c:extLst>
          </c:dPt>
          <c:dLbls>
            <c:dLbl>
              <c:idx val="0"/>
              <c:layout>
                <c:manualLayout>
                  <c:x val="0.45181605359569404"/>
                  <c:y val="-9.2857436087971382E-2"/>
                </c:manualLayout>
              </c:layout>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ea"/>
                      <a:sym typeface="+mn-lt"/>
                    </a:defRPr>
                  </a:pPr>
                  <a:endParaRPr lang="zh-CN"/>
                </a:p>
              </c:txPr>
              <c:dLblPos val="bestFit"/>
              <c:showLegendKey val="0"/>
              <c:showVal val="1"/>
              <c:showCatName val="0"/>
              <c:showSerName val="0"/>
              <c:showPercent val="0"/>
              <c:showBubbleSize val="0"/>
              <c:extLst>
                <c:ext xmlns:c15="http://schemas.microsoft.com/office/drawing/2012/chart" uri="{CE6537A1-D6FC-4f65-9D91-7224C49458BB}">
                  <c15:layout>
                    <c:manualLayout>
                      <c:w val="0.28017024892085929"/>
                      <c:h val="0.18168759851000826"/>
                    </c:manualLayout>
                  </c15:layout>
                </c:ext>
                <c:ext xmlns:c16="http://schemas.microsoft.com/office/drawing/2014/chart" uri="{C3380CC4-5D6E-409C-BE32-E72D297353CC}">
                  <c16:uniqueId val="{00000001-0E01-4CD0-973A-EB20BFE7C550}"/>
                </c:ext>
              </c:extLst>
            </c:dLbl>
            <c:dLbl>
              <c:idx val="1"/>
              <c:layout>
                <c:manualLayout>
                  <c:x val="-0.19933061188045326"/>
                  <c:y val="0.21063196930447839"/>
                </c:manualLayout>
              </c:layout>
              <c:tx>
                <c:rich>
                  <a:bodyPr rot="0" spcFirstLastPara="1" vertOverflow="ellipsis" vert="horz" wrap="square" anchor="ctr" anchorCtr="1"/>
                  <a:lstStyle/>
                  <a:p>
                    <a:pPr>
                      <a:defRPr sz="1400" b="0" i="0" u="none" strike="noStrike" kern="1200" baseline="0">
                        <a:solidFill>
                          <a:schemeClr val="bg1">
                            <a:lumMod val="50000"/>
                          </a:schemeClr>
                        </a:solidFill>
                        <a:latin typeface="+mn-lt"/>
                        <a:ea typeface="+mn-ea"/>
                        <a:cs typeface="+mn-ea"/>
                        <a:sym typeface="+mn-lt"/>
                      </a:defRPr>
                    </a:pPr>
                    <a:fld id="{4F0BB2E3-0575-467F-A8A3-AA53A14E4342}" type="VALUE">
                      <a:rPr lang="en-US" altLang="zh-CN" sz="1400">
                        <a:solidFill>
                          <a:schemeClr val="bg1">
                            <a:lumMod val="50000"/>
                          </a:schemeClr>
                        </a:solidFill>
                      </a:rPr>
                      <a:pPr>
                        <a:defRPr sz="1400">
                          <a:solidFill>
                            <a:schemeClr val="bg1">
                              <a:lumMod val="50000"/>
                            </a:schemeClr>
                          </a:solidFill>
                        </a:defRPr>
                      </a:pPr>
                      <a:t>[值]</a:t>
                    </a:fld>
                    <a:endParaRPr lang="zh-CN" altLang="en-US"/>
                  </a:p>
                </c:rich>
              </c:tx>
              <c:spPr>
                <a:noFill/>
                <a:ln>
                  <a:noFill/>
                </a:ln>
                <a:effectLst/>
              </c:spPr>
              <c:txPr>
                <a:bodyPr rot="0" spcFirstLastPara="1" vertOverflow="ellipsis" vert="horz" wrap="square" anchor="ctr" anchorCtr="1"/>
                <a:lstStyle/>
                <a:p>
                  <a:pPr>
                    <a:defRPr sz="1400" b="0" i="0" u="none" strike="noStrike" kern="1200" baseline="0">
                      <a:solidFill>
                        <a:schemeClr val="bg1">
                          <a:lumMod val="50000"/>
                        </a:schemeClr>
                      </a:solidFill>
                      <a:latin typeface="+mn-lt"/>
                      <a:ea typeface="+mn-ea"/>
                      <a:cs typeface="+mn-ea"/>
                      <a:sym typeface="+mn-lt"/>
                    </a:defRPr>
                  </a:pPr>
                  <a:endParaRPr lang="zh-CN" altLang="en-US"/>
                </a:p>
              </c:txPr>
              <c:dLblPos val="bestFit"/>
              <c:showLegendKey val="0"/>
              <c:showVal val="1"/>
              <c:showCatName val="0"/>
              <c:showSerName val="0"/>
              <c:showPercent val="0"/>
              <c:showBubbleSize val="0"/>
              <c:extLst>
                <c:ext xmlns:c15="http://schemas.microsoft.com/office/drawing/2012/chart" uri="{CE6537A1-D6FC-4f65-9D91-7224C49458BB}">
                  <c15:layout>
                    <c:manualLayout>
                      <c:w val="0.33332507875564682"/>
                      <c:h val="0.18563732891239976"/>
                    </c:manualLayout>
                  </c15:layout>
                  <c15:dlblFieldTable/>
                  <c15:showDataLabelsRange val="0"/>
                </c:ext>
                <c:ext xmlns:c16="http://schemas.microsoft.com/office/drawing/2014/chart" uri="{C3380CC4-5D6E-409C-BE32-E72D297353CC}">
                  <c16:uniqueId val="{00000003-0E01-4CD0-973A-EB20BFE7C550}"/>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ea"/>
                    <a:sym typeface="+mn-lt"/>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Ficontec!$A$2:$A$3</c:f>
              <c:strCache>
                <c:ptCount val="2"/>
                <c:pt idx="0">
                  <c:v>微组装</c:v>
                </c:pt>
                <c:pt idx="1">
                  <c:v>自动化测试</c:v>
                </c:pt>
              </c:strCache>
            </c:strRef>
          </c:cat>
          <c:val>
            <c:numRef>
              <c:f>Ficontec!$B$2:$B$3</c:f>
              <c:numCache>
                <c:formatCode>0.00%</c:formatCode>
                <c:ptCount val="2"/>
                <c:pt idx="0">
                  <c:v>0.78290000000000004</c:v>
                </c:pt>
                <c:pt idx="1">
                  <c:v>0.21709999999999996</c:v>
                </c:pt>
              </c:numCache>
            </c:numRef>
          </c:val>
          <c:extLst>
            <c:ext xmlns:c16="http://schemas.microsoft.com/office/drawing/2014/chart" uri="{C3380CC4-5D6E-409C-BE32-E72D297353CC}">
              <c16:uniqueId val="{00000004-0E01-4CD0-973A-EB20BFE7C550}"/>
            </c:ext>
          </c:extLst>
        </c:ser>
        <c:dLbls>
          <c:dLblPos val="bestFit"/>
          <c:showLegendKey val="0"/>
          <c:showVal val="1"/>
          <c:showCatName val="0"/>
          <c:showSerName val="0"/>
          <c:showPercent val="0"/>
          <c:showBubbleSize val="0"/>
          <c:showLeaderLines val="1"/>
        </c:dLbls>
        <c:firstSliceAng val="9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Ficontec!$E$8</c:f>
              <c:strCache>
                <c:ptCount val="1"/>
                <c:pt idx="0">
                  <c:v>营收（左）</c:v>
                </c:pt>
              </c:strCache>
            </c:strRef>
          </c:tx>
          <c:spPr>
            <a:solidFill>
              <a:srgbClr val="0052D9"/>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ea"/>
                    <a:sym typeface="+mn-lt"/>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Ficontec!$F$7:$H$7</c:f>
              <c:numCache>
                <c:formatCode>General</c:formatCode>
                <c:ptCount val="3"/>
                <c:pt idx="0">
                  <c:v>2021</c:v>
                </c:pt>
                <c:pt idx="1">
                  <c:v>2022</c:v>
                </c:pt>
                <c:pt idx="2">
                  <c:v>2023</c:v>
                </c:pt>
              </c:numCache>
            </c:numRef>
          </c:cat>
          <c:val>
            <c:numRef>
              <c:f>Ficontec!$F$8:$H$8</c:f>
              <c:numCache>
                <c:formatCode>General</c:formatCode>
                <c:ptCount val="3"/>
                <c:pt idx="0">
                  <c:v>2.79</c:v>
                </c:pt>
                <c:pt idx="1">
                  <c:v>2.87</c:v>
                </c:pt>
                <c:pt idx="2">
                  <c:v>2.57</c:v>
                </c:pt>
              </c:numCache>
            </c:numRef>
          </c:val>
          <c:extLst>
            <c:ext xmlns:c16="http://schemas.microsoft.com/office/drawing/2014/chart" uri="{C3380CC4-5D6E-409C-BE32-E72D297353CC}">
              <c16:uniqueId val="{00000000-5317-4999-A788-42C823432753}"/>
            </c:ext>
          </c:extLst>
        </c:ser>
        <c:ser>
          <c:idx val="2"/>
          <c:order val="2"/>
          <c:tx>
            <c:strRef>
              <c:f>Ficontec!$E$10</c:f>
              <c:strCache>
                <c:ptCount val="1"/>
                <c:pt idx="0">
                  <c:v>净利润（左）</c:v>
                </c:pt>
              </c:strCache>
            </c:strRef>
          </c:tx>
          <c:spPr>
            <a:solidFill>
              <a:schemeClr val="accent6"/>
            </a:solidFill>
            <a:ln>
              <a:noFill/>
            </a:ln>
            <a:effectLst/>
          </c:spPr>
          <c:invertIfNegative val="0"/>
          <c:dLbls>
            <c:dLbl>
              <c:idx val="0"/>
              <c:layout>
                <c:manualLayout>
                  <c:x val="1.7044761443574113E-2"/>
                  <c:y val="0.2383975604898250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317-4999-A788-42C823432753}"/>
                </c:ext>
              </c:extLst>
            </c:dLbl>
            <c:dLbl>
              <c:idx val="1"/>
              <c:layout>
                <c:manualLayout>
                  <c:x val="2.4068193831947745E-2"/>
                  <c:y val="0.220954925379284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317-4999-A788-42C823432753}"/>
                </c:ext>
              </c:extLst>
            </c:dLbl>
            <c:dLbl>
              <c:idx val="2"/>
              <c:layout>
                <c:manualLayout>
                  <c:x val="3.0680387931092332E-2"/>
                  <c:y val="0.1671661812685744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317-4999-A788-42C823432753}"/>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ea"/>
                    <a:sym typeface="+mn-lt"/>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Ficontec!$F$7:$H$7</c:f>
              <c:numCache>
                <c:formatCode>General</c:formatCode>
                <c:ptCount val="3"/>
                <c:pt idx="0">
                  <c:v>2021</c:v>
                </c:pt>
                <c:pt idx="1">
                  <c:v>2022</c:v>
                </c:pt>
                <c:pt idx="2">
                  <c:v>2023</c:v>
                </c:pt>
              </c:numCache>
            </c:numRef>
          </c:cat>
          <c:val>
            <c:numRef>
              <c:f>Ficontec!$F$10:$H$10</c:f>
              <c:numCache>
                <c:formatCode>General</c:formatCode>
                <c:ptCount val="3"/>
                <c:pt idx="0">
                  <c:v>-0.57999999999999996</c:v>
                </c:pt>
                <c:pt idx="1">
                  <c:v>-0.22</c:v>
                </c:pt>
                <c:pt idx="2">
                  <c:v>-0.14000000000000001</c:v>
                </c:pt>
              </c:numCache>
            </c:numRef>
          </c:val>
          <c:extLst>
            <c:ext xmlns:c16="http://schemas.microsoft.com/office/drawing/2014/chart" uri="{C3380CC4-5D6E-409C-BE32-E72D297353CC}">
              <c16:uniqueId val="{00000001-5317-4999-A788-42C823432753}"/>
            </c:ext>
          </c:extLst>
        </c:ser>
        <c:dLbls>
          <c:showLegendKey val="0"/>
          <c:showVal val="1"/>
          <c:showCatName val="0"/>
          <c:showSerName val="0"/>
          <c:showPercent val="0"/>
          <c:showBubbleSize val="0"/>
        </c:dLbls>
        <c:gapWidth val="219"/>
        <c:axId val="279053040"/>
        <c:axId val="279052080"/>
      </c:barChart>
      <c:lineChart>
        <c:grouping val="standard"/>
        <c:varyColors val="0"/>
        <c:ser>
          <c:idx val="1"/>
          <c:order val="1"/>
          <c:tx>
            <c:strRef>
              <c:f>Ficontec!$E$9</c:f>
              <c:strCache>
                <c:ptCount val="1"/>
                <c:pt idx="0">
                  <c:v>毛利率（右）</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ea"/>
                    <a:sym typeface="+mn-lt"/>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Ficontec!$F$7:$H$7</c:f>
              <c:numCache>
                <c:formatCode>General</c:formatCode>
                <c:ptCount val="3"/>
                <c:pt idx="0">
                  <c:v>2021</c:v>
                </c:pt>
                <c:pt idx="1">
                  <c:v>2022</c:v>
                </c:pt>
                <c:pt idx="2">
                  <c:v>2023</c:v>
                </c:pt>
              </c:numCache>
            </c:numRef>
          </c:cat>
          <c:val>
            <c:numRef>
              <c:f>Ficontec!$F$9:$H$9</c:f>
              <c:numCache>
                <c:formatCode>0%</c:formatCode>
                <c:ptCount val="3"/>
                <c:pt idx="0">
                  <c:v>0.34399999999999997</c:v>
                </c:pt>
                <c:pt idx="1">
                  <c:v>0.41599999999999998</c:v>
                </c:pt>
                <c:pt idx="2">
                  <c:v>0.40200000000000002</c:v>
                </c:pt>
              </c:numCache>
            </c:numRef>
          </c:val>
          <c:smooth val="0"/>
          <c:extLst>
            <c:ext xmlns:c16="http://schemas.microsoft.com/office/drawing/2014/chart" uri="{C3380CC4-5D6E-409C-BE32-E72D297353CC}">
              <c16:uniqueId val="{00000002-5317-4999-A788-42C823432753}"/>
            </c:ext>
          </c:extLst>
        </c:ser>
        <c:dLbls>
          <c:showLegendKey val="0"/>
          <c:showVal val="1"/>
          <c:showCatName val="0"/>
          <c:showSerName val="0"/>
          <c:showPercent val="0"/>
          <c:showBubbleSize val="0"/>
        </c:dLbls>
        <c:marker val="1"/>
        <c:smooth val="0"/>
        <c:axId val="2098411808"/>
        <c:axId val="2098409408"/>
      </c:lineChart>
      <c:catAx>
        <c:axId val="27905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ea"/>
                <a:sym typeface="+mn-lt"/>
              </a:defRPr>
            </a:pPr>
            <a:endParaRPr lang="zh-CN"/>
          </a:p>
        </c:txPr>
        <c:crossAx val="279052080"/>
        <c:crosses val="autoZero"/>
        <c:auto val="1"/>
        <c:lblAlgn val="ctr"/>
        <c:lblOffset val="100"/>
        <c:noMultiLvlLbl val="0"/>
      </c:catAx>
      <c:valAx>
        <c:axId val="2790520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ea"/>
                <a:sym typeface="+mn-lt"/>
              </a:defRPr>
            </a:pPr>
            <a:endParaRPr lang="zh-CN"/>
          </a:p>
        </c:txPr>
        <c:crossAx val="279053040"/>
        <c:crosses val="autoZero"/>
        <c:crossBetween val="between"/>
      </c:valAx>
      <c:valAx>
        <c:axId val="2098409408"/>
        <c:scaling>
          <c:orientation val="minMax"/>
          <c:max val="0.5"/>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ea"/>
                <a:sym typeface="+mn-lt"/>
              </a:defRPr>
            </a:pPr>
            <a:endParaRPr lang="zh-CN"/>
          </a:p>
        </c:txPr>
        <c:crossAx val="2098411808"/>
        <c:crosses val="max"/>
        <c:crossBetween val="between"/>
      </c:valAx>
      <c:catAx>
        <c:axId val="2098411808"/>
        <c:scaling>
          <c:orientation val="minMax"/>
        </c:scaling>
        <c:delete val="1"/>
        <c:axPos val="b"/>
        <c:numFmt formatCode="General" sourceLinked="1"/>
        <c:majorTickMark val="out"/>
        <c:minorTickMark val="none"/>
        <c:tickLblPos val="nextTo"/>
        <c:crossAx val="2098409408"/>
        <c:crosses val="autoZero"/>
        <c:auto val="1"/>
        <c:lblAlgn val="ctr"/>
        <c:lblOffset val="100"/>
        <c:noMultiLvlLbl val="0"/>
      </c:catAx>
      <c:spPr>
        <a:noFill/>
        <a:ln>
          <a:noFill/>
        </a:ln>
        <a:effectLst/>
      </c:spPr>
    </c:plotArea>
    <c:legend>
      <c:legendPos val="r"/>
      <c:layout>
        <c:manualLayout>
          <c:xMode val="edge"/>
          <c:yMode val="edge"/>
          <c:x val="0.73397209602633906"/>
          <c:y val="0.20277245578292413"/>
          <c:w val="0.26602790397366088"/>
          <c:h val="0.594454279005276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ea"/>
              <a:sym typeface="+mn-lt"/>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latin typeface="+mn-lt"/>
          <a:ea typeface="+mn-ea"/>
          <a:cs typeface="+mn-ea"/>
          <a:sym typeface="+mn-lt"/>
        </a:defRPr>
      </a:pPr>
      <a:endParaRPr lang="zh-CN"/>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chemeClr val="accent6"/>
            </a:solidFill>
          </c:spPr>
          <c:dPt>
            <c:idx val="0"/>
            <c:bubble3D val="0"/>
            <c:explosion val="9"/>
            <c:spPr>
              <a:solidFill>
                <a:srgbClr val="0052D9"/>
              </a:solidFill>
              <a:ln w="19050">
                <a:solidFill>
                  <a:schemeClr val="lt1"/>
                </a:solidFill>
              </a:ln>
              <a:effectLst/>
            </c:spPr>
            <c:extLst>
              <c:ext xmlns:c16="http://schemas.microsoft.com/office/drawing/2014/chart" uri="{C3380CC4-5D6E-409C-BE32-E72D297353CC}">
                <c16:uniqueId val="{00000001-F199-495D-97DB-D08FE0B5DAB2}"/>
              </c:ext>
            </c:extLst>
          </c:dPt>
          <c:dPt>
            <c:idx val="1"/>
            <c:bubble3D val="0"/>
            <c:spPr>
              <a:solidFill>
                <a:schemeClr val="accent6"/>
              </a:solidFill>
              <a:ln w="19050">
                <a:solidFill>
                  <a:schemeClr val="lt1"/>
                </a:solidFill>
              </a:ln>
              <a:effectLst/>
            </c:spPr>
            <c:extLst>
              <c:ext xmlns:c16="http://schemas.microsoft.com/office/drawing/2014/chart" uri="{C3380CC4-5D6E-409C-BE32-E72D297353CC}">
                <c16:uniqueId val="{00000003-F199-495D-97DB-D08FE0B5DAB2}"/>
              </c:ext>
            </c:extLst>
          </c:dPt>
          <c:dLbls>
            <c:dLbl>
              <c:idx val="0"/>
              <c:layout>
                <c:manualLayout>
                  <c:x val="-0.18208374909235203"/>
                  <c:y val="6.4115210977213746E-2"/>
                </c:manualLayout>
              </c:layout>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ea"/>
                      <a:sym typeface="+mn-lt"/>
                    </a:defRPr>
                  </a:pPr>
                  <a:endParaRPr lang="zh-CN"/>
                </a:p>
              </c:txPr>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199-495D-97DB-D08FE0B5DAB2}"/>
                </c:ext>
              </c:extLst>
            </c:dLbl>
            <c:dLbl>
              <c:idx val="1"/>
              <c:layout>
                <c:manualLayout>
                  <c:x val="0.21953623863801"/>
                  <c:y val="-2.7580147981129104E-2"/>
                </c:manualLayout>
              </c:layout>
              <c:spPr>
                <a:noFill/>
                <a:ln>
                  <a:noFill/>
                </a:ln>
                <a:effectLst/>
              </c:spPr>
              <c:txPr>
                <a:bodyPr rot="0" spcFirstLastPara="1" vertOverflow="ellipsis" vert="horz" wrap="square" anchor="ctr" anchorCtr="1"/>
                <a:lstStyle/>
                <a:p>
                  <a:pPr>
                    <a:defRPr sz="1400" b="0" i="0" u="none" strike="noStrike" kern="1200" baseline="0">
                      <a:solidFill>
                        <a:schemeClr val="bg1">
                          <a:lumMod val="50000"/>
                        </a:schemeClr>
                      </a:solidFill>
                      <a:latin typeface="+mn-lt"/>
                      <a:ea typeface="+mn-ea"/>
                      <a:cs typeface="+mn-ea"/>
                      <a:sym typeface="+mn-lt"/>
                    </a:defRPr>
                  </a:pPr>
                  <a:endParaRPr lang="zh-CN"/>
                </a:p>
              </c:txPr>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199-495D-97DB-D08FE0B5DAB2}"/>
                </c:ext>
              </c:extLst>
            </c:dLbl>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ea"/>
                    <a:sym typeface="+mn-lt"/>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Ficontec!$K$2:$K$3</c:f>
              <c:strCache>
                <c:ptCount val="2"/>
                <c:pt idx="0">
                  <c:v>前五大客户</c:v>
                </c:pt>
                <c:pt idx="1">
                  <c:v>其他</c:v>
                </c:pt>
              </c:strCache>
            </c:strRef>
          </c:cat>
          <c:val>
            <c:numRef>
              <c:f>Ficontec!$L$2:$L$3</c:f>
              <c:numCache>
                <c:formatCode>0%</c:formatCode>
                <c:ptCount val="2"/>
                <c:pt idx="0">
                  <c:v>0.42</c:v>
                </c:pt>
                <c:pt idx="1">
                  <c:v>0.58000000000000007</c:v>
                </c:pt>
              </c:numCache>
            </c:numRef>
          </c:val>
          <c:extLst>
            <c:ext xmlns:c16="http://schemas.microsoft.com/office/drawing/2014/chart" uri="{C3380CC4-5D6E-409C-BE32-E72D297353CC}">
              <c16:uniqueId val="{00000004-F199-495D-97DB-D08FE0B5DAB2}"/>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rgbClr val="0052D9"/>
            </a:solidFill>
          </c:spPr>
          <c:dPt>
            <c:idx val="0"/>
            <c:bubble3D val="0"/>
            <c:explosion val="8"/>
            <c:spPr>
              <a:solidFill>
                <a:srgbClr val="0052D9"/>
              </a:solidFill>
              <a:ln w="19050">
                <a:solidFill>
                  <a:schemeClr val="lt1"/>
                </a:solidFill>
              </a:ln>
              <a:effectLst/>
            </c:spPr>
            <c:extLst>
              <c:ext xmlns:c16="http://schemas.microsoft.com/office/drawing/2014/chart" uri="{C3380CC4-5D6E-409C-BE32-E72D297353CC}">
                <c16:uniqueId val="{00000001-7504-412D-B844-C5F261DCD04A}"/>
              </c:ext>
            </c:extLst>
          </c:dPt>
          <c:dPt>
            <c:idx val="1"/>
            <c:bubble3D val="0"/>
            <c:spPr>
              <a:solidFill>
                <a:schemeClr val="accent6"/>
              </a:solidFill>
              <a:ln w="19050">
                <a:solidFill>
                  <a:schemeClr val="lt1"/>
                </a:solidFill>
              </a:ln>
              <a:effectLst/>
            </c:spPr>
            <c:extLst>
              <c:ext xmlns:c16="http://schemas.microsoft.com/office/drawing/2014/chart" uri="{C3380CC4-5D6E-409C-BE32-E72D297353CC}">
                <c16:uniqueId val="{00000003-7504-412D-B844-C5F261DCD04A}"/>
              </c:ext>
            </c:extLst>
          </c:dPt>
          <c:dLbls>
            <c:dLbl>
              <c:idx val="0"/>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ea"/>
                      <a:sym typeface="+mn-lt"/>
                    </a:defRPr>
                  </a:pPr>
                  <a:endParaRPr lang="zh-CN"/>
                </a:p>
              </c:txPr>
              <c:dLblPos val="bestFit"/>
              <c:showLegendKey val="0"/>
              <c:showVal val="1"/>
              <c:showCatName val="0"/>
              <c:showSerName val="0"/>
              <c:showPercent val="0"/>
              <c:showBubbleSize val="0"/>
              <c:extLst>
                <c:ext xmlns:c16="http://schemas.microsoft.com/office/drawing/2014/chart" uri="{C3380CC4-5D6E-409C-BE32-E72D297353CC}">
                  <c16:uniqueId val="{00000001-7504-412D-B844-C5F261DCD04A}"/>
                </c:ext>
              </c:extLst>
            </c:dLbl>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ea"/>
                    <a:sym typeface="+mn-lt"/>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Ficontec!$O$2:$O$3</c:f>
              <c:strCache>
                <c:ptCount val="2"/>
                <c:pt idx="0">
                  <c:v>Tech Group AS</c:v>
                </c:pt>
                <c:pt idx="1">
                  <c:v>其他</c:v>
                </c:pt>
              </c:strCache>
            </c:strRef>
          </c:cat>
          <c:val>
            <c:numRef>
              <c:f>Ficontec!$P$2:$P$3</c:f>
              <c:numCache>
                <c:formatCode>0%</c:formatCode>
                <c:ptCount val="2"/>
                <c:pt idx="0">
                  <c:v>0.38</c:v>
                </c:pt>
                <c:pt idx="1">
                  <c:v>0.62</c:v>
                </c:pt>
              </c:numCache>
            </c:numRef>
          </c:val>
          <c:extLst>
            <c:ext xmlns:c16="http://schemas.microsoft.com/office/drawing/2014/chart" uri="{C3380CC4-5D6E-409C-BE32-E72D297353CC}">
              <c16:uniqueId val="{00000004-7504-412D-B844-C5F261DCD04A}"/>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latin typeface="+mn-lt"/>
          <a:ea typeface="+mn-ea"/>
          <a:cs typeface="+mn-ea"/>
          <a:sym typeface="+mn-lt"/>
        </a:defRPr>
      </a:pPr>
      <a:endParaRPr lang="zh-CN"/>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4971209213051823"/>
          <c:y val="0.11302211302211303"/>
          <c:w val="0.8336532309660909"/>
          <c:h val="0.80794430794430794"/>
        </c:manualLayout>
      </c:layout>
      <c:barChart>
        <c:barDir val="col"/>
        <c:grouping val="stacked"/>
        <c:varyColors val="0"/>
        <c:ser>
          <c:idx val="0"/>
          <c:order val="0"/>
          <c:spPr>
            <a:solidFill>
              <a:srgbClr val="0052D9"/>
            </a:solidFill>
            <a:ln>
              <a:noFill/>
            </a:ln>
          </c:spPr>
          <c:invertIfNegative val="0"/>
          <c:dLbls>
            <c:dLbl>
              <c:idx val="0"/>
              <c:layout>
                <c:manualLayout>
                  <c:x val="0"/>
                  <c:y val="-0.43816543816543818"/>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894-4237-A1BA-D01E1F074A1F}"/>
                </c:ext>
              </c:extLst>
            </c:dLbl>
            <c:dLbl>
              <c:idx val="1"/>
              <c:layout>
                <c:manualLayout>
                  <c:x val="0"/>
                  <c:y val="-0.23587223587223588"/>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894-4237-A1BA-D01E1F074A1F}"/>
                </c:ext>
              </c:extLst>
            </c:dLbl>
            <c:dLbl>
              <c:idx val="2"/>
              <c:layout>
                <c:manualLayout>
                  <c:x val="0"/>
                  <c:y val="-0.12366912366912367"/>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894-4237-A1BA-D01E1F074A1F}"/>
                </c:ext>
              </c:extLst>
            </c:dLbl>
            <c:dLbl>
              <c:idx val="3"/>
              <c:layout>
                <c:manualLayout>
                  <c:x val="0"/>
                  <c:y val="-7.8624078624078622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894-4237-A1BA-D01E1F074A1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1800</c:v>
                </c:pt>
                <c:pt idx="1">
                  <c:v>900</c:v>
                </c:pt>
                <c:pt idx="2">
                  <c:v>400</c:v>
                </c:pt>
                <c:pt idx="3">
                  <c:v>200</c:v>
                </c:pt>
              </c:numCache>
            </c:numRef>
          </c:val>
          <c:extLst>
            <c:ext xmlns:c16="http://schemas.microsoft.com/office/drawing/2014/chart" uri="{C3380CC4-5D6E-409C-BE32-E72D297353CC}">
              <c16:uniqueId val="{00000004-7894-4237-A1BA-D01E1F074A1F}"/>
            </c:ext>
          </c:extLst>
        </c:ser>
        <c:dLbls>
          <c:showLegendKey val="0"/>
          <c:showVal val="0"/>
          <c:showCatName val="0"/>
          <c:showSerName val="0"/>
          <c:showPercent val="0"/>
          <c:showBubbleSize val="0"/>
        </c:dLbls>
        <c:gapWidth val="80"/>
        <c:overlap val="100"/>
        <c:axId val="299667344"/>
        <c:axId val="1"/>
      </c:barChart>
      <c:catAx>
        <c:axId val="299667344"/>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8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zh-CN"/>
          </a:p>
        </c:txPr>
        <c:crossAx val="299667344"/>
        <c:crosses val="min"/>
        <c:crossBetween val="between"/>
        <c:majorUnit val="200"/>
      </c:valAx>
    </c:plotArea>
    <c:plotVisOnly val="0"/>
    <c:dispBlanksAs val="gap"/>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532761788120025"/>
          <c:y val="0.11302211302211303"/>
          <c:w val="0.75137783221065524"/>
          <c:h val="0.80794430794430794"/>
        </c:manualLayout>
      </c:layout>
      <c:barChart>
        <c:barDir val="col"/>
        <c:grouping val="clustered"/>
        <c:varyColors val="0"/>
        <c:ser>
          <c:idx val="0"/>
          <c:order val="0"/>
          <c:spPr>
            <a:solidFill>
              <a:srgbClr val="C0C0C0"/>
            </a:solidFill>
            <a:ln>
              <a:noFill/>
            </a:ln>
          </c:spPr>
          <c:invertIfNegative val="0"/>
          <c:dLbls>
            <c:dLbl>
              <c:idx val="0"/>
              <c:layout>
                <c:manualLayout>
                  <c:x val="0"/>
                  <c:y val="-0.1687141687141687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E11-47A9-96E6-C62FB3411FA2}"/>
                </c:ext>
              </c:extLst>
            </c:dLbl>
            <c:dLbl>
              <c:idx val="1"/>
              <c:layout>
                <c:manualLayout>
                  <c:x val="0"/>
                  <c:y val="-0.337018837018837"/>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E11-47A9-96E6-C62FB3411FA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400</c:v>
                </c:pt>
                <c:pt idx="1">
                  <c:v>900</c:v>
                </c:pt>
              </c:numCache>
            </c:numRef>
          </c:val>
          <c:extLst>
            <c:ext xmlns:c16="http://schemas.microsoft.com/office/drawing/2014/chart" uri="{C3380CC4-5D6E-409C-BE32-E72D297353CC}">
              <c16:uniqueId val="{00000002-CE11-47A9-96E6-C62FB3411FA2}"/>
            </c:ext>
          </c:extLst>
        </c:ser>
        <c:ser>
          <c:idx val="1"/>
          <c:order val="1"/>
          <c:spPr>
            <a:solidFill>
              <a:srgbClr val="0052D9"/>
            </a:solidFill>
            <a:ln>
              <a:noFill/>
            </a:ln>
          </c:spPr>
          <c:invertIfNegative val="0"/>
          <c:dPt>
            <c:idx val="0"/>
            <c:invertIfNegative val="0"/>
            <c:bubble3D val="0"/>
            <c:spPr>
              <a:solidFill>
                <a:schemeClr val="accent2"/>
              </a:solidFill>
              <a:ln>
                <a:noFill/>
              </a:ln>
            </c:spPr>
            <c:extLst>
              <c:ext xmlns:c16="http://schemas.microsoft.com/office/drawing/2014/chart" uri="{C3380CC4-5D6E-409C-BE32-E72D297353CC}">
                <c16:uniqueId val="{00000003-CE11-47A9-96E6-C62FB3411FA2}"/>
              </c:ext>
            </c:extLst>
          </c:dPt>
          <c:dLbls>
            <c:dLbl>
              <c:idx val="0"/>
              <c:layout>
                <c:manualLayout>
                  <c:x val="0"/>
                  <c:y val="-3.6036036036036036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CE11-47A9-96E6-C62FB3411FA2}"/>
                </c:ext>
              </c:extLst>
            </c:dLbl>
            <c:dLbl>
              <c:idx val="1"/>
              <c:layout>
                <c:manualLayout>
                  <c:x val="0"/>
                  <c:y val="-0.43816543816543818"/>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E11-47A9-96E6-C62FB3411FA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67</c:v>
                </c:pt>
                <c:pt idx="1">
                  <c:v>1200</c:v>
                </c:pt>
              </c:numCache>
            </c:numRef>
          </c:val>
          <c:extLst>
            <c:ext xmlns:c16="http://schemas.microsoft.com/office/drawing/2014/chart" uri="{C3380CC4-5D6E-409C-BE32-E72D297353CC}">
              <c16:uniqueId val="{00000005-CE11-47A9-96E6-C62FB3411FA2}"/>
            </c:ext>
          </c:extLst>
        </c:ser>
        <c:dLbls>
          <c:showLegendKey val="0"/>
          <c:showVal val="0"/>
          <c:showCatName val="0"/>
          <c:showSerName val="0"/>
          <c:showPercent val="0"/>
          <c:showBubbleSize val="0"/>
        </c:dLbls>
        <c:gapWidth val="80"/>
        <c:axId val="1042364320"/>
        <c:axId val="1"/>
      </c:barChart>
      <c:barChart>
        <c:barDir val="col"/>
        <c:grouping val="clustered"/>
        <c:varyColors val="0"/>
        <c:ser>
          <c:idx val="2"/>
          <c:order val="2"/>
          <c:invertIfNegative val="0"/>
          <c:extLst>
            <c:ext xmlns:c16="http://schemas.microsoft.com/office/drawing/2014/chart" uri="{C3380CC4-5D6E-409C-BE32-E72D297353CC}">
              <c16:uniqueId val="{00000006-CE11-47A9-96E6-C62FB3411FA2}"/>
            </c:ext>
          </c:extLst>
        </c:ser>
        <c:dLbls>
          <c:showLegendKey val="0"/>
          <c:showVal val="0"/>
          <c:showCatName val="0"/>
          <c:showSerName val="0"/>
          <c:showPercent val="0"/>
          <c:showBubbleSize val="0"/>
        </c:dLbls>
        <c:gapWidth val="150"/>
        <c:axId val="2"/>
        <c:axId val="3"/>
      </c:barChart>
      <c:catAx>
        <c:axId val="104236432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200"/>
          <c:min val="0"/>
        </c:scaling>
        <c:delete val="0"/>
        <c:axPos val="r"/>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zh-CN"/>
          </a:p>
        </c:txPr>
        <c:crossAx val="1042364320"/>
        <c:crosses val="max"/>
        <c:crossBetween val="between"/>
        <c:majorUnit val="100"/>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
          <c:min val="0"/>
        </c:scaling>
        <c:delete val="0"/>
        <c:axPos val="l"/>
        <c:majorGridlines>
          <c:spPr>
            <a:ln>
              <a:noFill/>
            </a:ln>
          </c:spPr>
        </c:majorGridlines>
        <c:numFmt formatCode="#,##0.0;&quot;-&quot;#,##0.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zh-CN"/>
          </a:p>
        </c:txPr>
        <c:crossAx val="2"/>
        <c:crosses val="min"/>
        <c:crossBetween val="between"/>
        <c:majorUnit val="0.1"/>
      </c:valAx>
    </c:plotArea>
    <c:plotVisOnly val="0"/>
    <c:dispBlanksAs val="gap"/>
    <c:showDLblsOverMax val="1"/>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E122AA-3DD6-491B-8E01-9C859ED232BE}" type="datetimeFigureOut">
              <a:rPr lang="zh-CN" altLang="en-US" smtClean="0"/>
              <a:t>2025/9/25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132800-FE64-4159-8F62-EF1F0A4E3E2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marL="228600" indent="-228600">
              <a:buAutoNum type="arabicPeriod"/>
            </a:pPr>
            <a:r>
              <a:rPr lang="zh-CN" altLang="en-US" dirty="0"/>
              <a:t>光互连及</a:t>
            </a:r>
            <a:r>
              <a:rPr lang="en-US" altLang="zh-CN" dirty="0"/>
              <a:t>CPO</a:t>
            </a:r>
            <a:r>
              <a:rPr lang="zh-CN" altLang="en-US" dirty="0"/>
              <a:t>是什么、为什么重要？</a:t>
            </a:r>
            <a:endParaRPr lang="en-US" altLang="zh-CN" dirty="0"/>
          </a:p>
          <a:p>
            <a:pPr marL="228600" indent="-228600">
              <a:buAutoNum type="arabicPeriod"/>
            </a:pPr>
            <a:r>
              <a:rPr lang="en-US" altLang="zh-CN" dirty="0"/>
              <a:t>CPO</a:t>
            </a:r>
            <a:r>
              <a:rPr lang="zh-CN" altLang="en-US" dirty="0"/>
              <a:t>及</a:t>
            </a:r>
            <a:r>
              <a:rPr lang="en-US" altLang="zh-CN" dirty="0"/>
              <a:t>OIO</a:t>
            </a:r>
            <a:r>
              <a:rPr lang="zh-CN" altLang="en-US" dirty="0"/>
              <a:t>市场怎么样，会有什么公司机会？</a:t>
            </a:r>
          </a:p>
        </p:txBody>
      </p:sp>
      <p:sp>
        <p:nvSpPr>
          <p:cNvPr id="4" name="灯片编号占位符 3"/>
          <p:cNvSpPr>
            <a:spLocks noGrp="1"/>
          </p:cNvSpPr>
          <p:nvPr>
            <p:ph type="sldNum" sz="quarter" idx="5"/>
          </p:nvPr>
        </p:nvSpPr>
        <p:spPr/>
        <p:txBody>
          <a:bodyPr/>
          <a:lstStyle/>
          <a:p>
            <a:fld id="{60132800-FE64-4159-8F62-EF1F0A4E3E25}" type="slidenum">
              <a:rPr lang="zh-CN" altLang="en-US" smtClean="0"/>
              <a:t>1</a:t>
            </a:fld>
            <a:endParaRPr lang="zh-CN" altLang="en-US"/>
          </a:p>
        </p:txBody>
      </p:sp>
    </p:spTree>
    <p:extLst>
      <p:ext uri="{BB962C8B-B14F-4D97-AF65-F5344CB8AC3E}">
        <p14:creationId xmlns:p14="http://schemas.microsoft.com/office/powerpoint/2010/main" val="1223164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777214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342940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499B3-90E7-FF4C-574D-089003B565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CC539C-9EDA-E148-F986-7E1CE776B6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62231E-0679-BDC8-9907-BF11B38A261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27984E2-B6D6-D682-15A0-CEDD35E0D047}"/>
              </a:ext>
            </a:extLst>
          </p:cNvPr>
          <p:cNvSpPr>
            <a:spLocks noGrp="1"/>
          </p:cNvSpPr>
          <p:nvPr>
            <p:ph type="sldNum" sz="quarter" idx="5"/>
          </p:nvPr>
        </p:nvSpPr>
        <p:spPr/>
        <p:txBody>
          <a:bodyPr/>
          <a:lstStyle/>
          <a:p>
            <a:fld id="{A3ED8765-8EF3-408C-9341-152904E414ED}" type="slidenum">
              <a:rPr lang="zh-CN" altLang="en-US" smtClean="0"/>
              <a:t>4</a:t>
            </a:fld>
            <a:endParaRPr lang="zh-CN" altLang="en-US"/>
          </a:p>
        </p:txBody>
      </p:sp>
    </p:spTree>
    <p:extLst>
      <p:ext uri="{BB962C8B-B14F-4D97-AF65-F5344CB8AC3E}">
        <p14:creationId xmlns:p14="http://schemas.microsoft.com/office/powerpoint/2010/main" val="3277822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0B92A-CB33-6FE2-407B-3FFF235C8C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9F6CED-1DE0-E8D1-0A63-DDECE26501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EA3C55-893B-8D30-9C4C-225BF0FEA0C7}"/>
              </a:ext>
            </a:extLst>
          </p:cNvPr>
          <p:cNvSpPr>
            <a:spLocks noGrp="1"/>
          </p:cNvSpPr>
          <p:nvPr>
            <p:ph type="body" idx="1"/>
          </p:nvPr>
        </p:nvSpPr>
        <p:spPr/>
        <p:txBody>
          <a:bodyPr/>
          <a:lstStyle/>
          <a:p>
            <a:pPr marL="228600" indent="-228600">
              <a:buAutoNum type="arabicPeriod"/>
            </a:pPr>
            <a:r>
              <a:rPr lang="zh-CN" altLang="en-US" dirty="0"/>
              <a:t>上述技术路线如何解决三大难题？</a:t>
            </a:r>
            <a:endParaRPr lang="en-US" altLang="zh-CN" dirty="0"/>
          </a:p>
          <a:p>
            <a:pPr marL="228600" indent="-228600">
              <a:buAutoNum type="arabicPeriod"/>
            </a:pPr>
            <a:r>
              <a:rPr lang="zh-CN" altLang="en-US" dirty="0"/>
              <a:t>光解决速率</a:t>
            </a:r>
            <a:endParaRPr lang="en-US" altLang="zh-CN" dirty="0"/>
          </a:p>
          <a:p>
            <a:pPr marL="228600" indent="-228600">
              <a:buAutoNum type="arabicPeriod"/>
            </a:pPr>
            <a:r>
              <a:rPr lang="en-US" altLang="zh-CN" dirty="0"/>
              <a:t>CPO</a:t>
            </a:r>
            <a:r>
              <a:rPr lang="zh-CN" altLang="en-US" dirty="0"/>
              <a:t>解决功耗</a:t>
            </a:r>
          </a:p>
        </p:txBody>
      </p:sp>
      <p:sp>
        <p:nvSpPr>
          <p:cNvPr id="4" name="灯片编号占位符 3">
            <a:extLst>
              <a:ext uri="{FF2B5EF4-FFF2-40B4-BE49-F238E27FC236}">
                <a16:creationId xmlns:a16="http://schemas.microsoft.com/office/drawing/2014/main" id="{652AD1F1-F583-3E7F-815D-1E9965949089}"/>
              </a:ext>
            </a:extLst>
          </p:cNvPr>
          <p:cNvSpPr>
            <a:spLocks noGrp="1"/>
          </p:cNvSpPr>
          <p:nvPr>
            <p:ph type="sldNum" sz="quarter" idx="5"/>
          </p:nvPr>
        </p:nvSpPr>
        <p:spPr/>
        <p:txBody>
          <a:bodyPr/>
          <a:lstStyle/>
          <a:p>
            <a:fld id="{60132800-FE64-4159-8F62-EF1F0A4E3E25}" type="slidenum">
              <a:rPr lang="zh-CN" altLang="en-US" smtClean="0"/>
              <a:t>5</a:t>
            </a:fld>
            <a:endParaRPr lang="zh-CN" altLang="en-US"/>
          </a:p>
        </p:txBody>
      </p:sp>
    </p:spTree>
    <p:extLst>
      <p:ext uri="{BB962C8B-B14F-4D97-AF65-F5344CB8AC3E}">
        <p14:creationId xmlns:p14="http://schemas.microsoft.com/office/powerpoint/2010/main" val="2302682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en-US" altLang="zh-CN" dirty="0"/>
              <a:t>IDC</a:t>
            </a:r>
            <a:r>
              <a:rPr lang="zh-CN" altLang="en-US" dirty="0"/>
              <a:t>的迅猛扩张，算力、卡数增长带来三大互联难题</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60132800-FE64-4159-8F62-EF1F0A4E3E25}" type="slidenum">
              <a:rPr lang="zh-CN" altLang="en-US" smtClean="0"/>
              <a:t>6</a:t>
            </a:fld>
            <a:endParaRPr lang="zh-CN" altLang="en-US"/>
          </a:p>
        </p:txBody>
      </p:sp>
    </p:spTree>
    <p:extLst>
      <p:ext uri="{BB962C8B-B14F-4D97-AF65-F5344CB8AC3E}">
        <p14:creationId xmlns:p14="http://schemas.microsoft.com/office/powerpoint/2010/main" val="188383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AB9F2-4393-7A21-C03B-ECDA81CC92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AD0FC4-7D3E-F1A8-1B29-D1388CEEC8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92472D-0B08-14B0-CBDC-81D348F0292C}"/>
              </a:ext>
            </a:extLst>
          </p:cNvPr>
          <p:cNvSpPr>
            <a:spLocks noGrp="1"/>
          </p:cNvSpPr>
          <p:nvPr>
            <p:ph type="body" idx="1"/>
          </p:nvPr>
        </p:nvSpPr>
        <p:spPr/>
        <p:txBody>
          <a:bodyPr/>
          <a:lstStyle/>
          <a:p>
            <a:pPr marL="228600" indent="-228600">
              <a:buAutoNum type="arabicPeriod"/>
            </a:pPr>
            <a:r>
              <a:rPr lang="zh-CN" altLang="en-US" dirty="0"/>
              <a:t>上述技术路线如何解决三大难题？</a:t>
            </a:r>
            <a:endParaRPr lang="en-US" altLang="zh-CN" dirty="0"/>
          </a:p>
          <a:p>
            <a:pPr marL="228600" indent="-228600">
              <a:buAutoNum type="arabicPeriod"/>
            </a:pPr>
            <a:r>
              <a:rPr lang="zh-CN" altLang="en-US" dirty="0"/>
              <a:t>光解决速率</a:t>
            </a:r>
            <a:endParaRPr lang="en-US" altLang="zh-CN" dirty="0"/>
          </a:p>
          <a:p>
            <a:pPr marL="228600" indent="-228600">
              <a:buAutoNum type="arabicPeriod"/>
            </a:pPr>
            <a:r>
              <a:rPr lang="en-US" altLang="zh-CN" dirty="0"/>
              <a:t>CPO</a:t>
            </a:r>
            <a:r>
              <a:rPr lang="zh-CN" altLang="en-US" dirty="0"/>
              <a:t>解决功耗</a:t>
            </a:r>
          </a:p>
        </p:txBody>
      </p:sp>
      <p:sp>
        <p:nvSpPr>
          <p:cNvPr id="4" name="灯片编号占位符 3">
            <a:extLst>
              <a:ext uri="{FF2B5EF4-FFF2-40B4-BE49-F238E27FC236}">
                <a16:creationId xmlns:a16="http://schemas.microsoft.com/office/drawing/2014/main" id="{8A615051-E466-499A-DC21-BB2A80CF7278}"/>
              </a:ext>
            </a:extLst>
          </p:cNvPr>
          <p:cNvSpPr>
            <a:spLocks noGrp="1"/>
          </p:cNvSpPr>
          <p:nvPr>
            <p:ph type="sldNum" sz="quarter" idx="5"/>
          </p:nvPr>
        </p:nvSpPr>
        <p:spPr/>
        <p:txBody>
          <a:bodyPr/>
          <a:lstStyle/>
          <a:p>
            <a:fld id="{60132800-FE64-4159-8F62-EF1F0A4E3E25}" type="slidenum">
              <a:rPr lang="zh-CN" altLang="en-US" smtClean="0"/>
              <a:t>7</a:t>
            </a:fld>
            <a:endParaRPr lang="zh-CN" altLang="en-US"/>
          </a:p>
        </p:txBody>
      </p:sp>
    </p:spTree>
    <p:extLst>
      <p:ext uri="{BB962C8B-B14F-4D97-AF65-F5344CB8AC3E}">
        <p14:creationId xmlns:p14="http://schemas.microsoft.com/office/powerpoint/2010/main" val="2208643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讲完光的宏观，进入微观</a:t>
            </a:r>
            <a:endParaRPr lang="en-US" altLang="zh-CN" dirty="0"/>
          </a:p>
          <a:p>
            <a:pPr marL="228600" indent="-228600">
              <a:buAutoNum type="arabicPeriod"/>
            </a:pPr>
            <a:r>
              <a:rPr lang="en-US" altLang="zh-CN" dirty="0"/>
              <a:t>CPO</a:t>
            </a:r>
            <a:r>
              <a:rPr lang="zh-CN" altLang="en-US" dirty="0"/>
              <a:t>相比可插拔到底解决了什么</a:t>
            </a:r>
            <a:endParaRPr lang="en-US" altLang="zh-CN" dirty="0"/>
          </a:p>
          <a:p>
            <a:pPr marL="228600" indent="-228600">
              <a:buAutoNum type="arabicPeriod"/>
            </a:pPr>
            <a:r>
              <a:rPr lang="zh-CN" altLang="en-US" dirty="0"/>
              <a:t>从图上看，拆分整合（光引擎、光源）</a:t>
            </a:r>
            <a:endParaRPr lang="en-US" altLang="zh-CN" dirty="0"/>
          </a:p>
          <a:p>
            <a:pPr marL="228600" indent="-228600">
              <a:buAutoNum type="arabicPeriod"/>
            </a:pPr>
            <a:r>
              <a:rPr lang="zh-CN" altLang="en-US" dirty="0"/>
              <a:t>缩距降低功耗</a:t>
            </a:r>
            <a:endParaRPr lang="en-US" altLang="zh-CN" dirty="0"/>
          </a:p>
          <a:p>
            <a:pPr marL="228600" indent="-228600">
              <a:buAutoNum type="arabicPeriod"/>
            </a:pPr>
            <a:r>
              <a:rPr lang="zh-CN" altLang="en-US" dirty="0"/>
              <a:t>拆分光源解决散热</a:t>
            </a:r>
            <a:endParaRPr lang="en-US" altLang="zh-CN" dirty="0"/>
          </a:p>
        </p:txBody>
      </p:sp>
      <p:sp>
        <p:nvSpPr>
          <p:cNvPr id="4" name="灯片编号占位符 3"/>
          <p:cNvSpPr>
            <a:spLocks noGrp="1"/>
          </p:cNvSpPr>
          <p:nvPr>
            <p:ph type="sldNum" sz="quarter" idx="5"/>
          </p:nvPr>
        </p:nvSpPr>
        <p:spPr/>
        <p:txBody>
          <a:bodyPr/>
          <a:lstStyle/>
          <a:p>
            <a:fld id="{60132800-FE64-4159-8F62-EF1F0A4E3E25}" type="slidenum">
              <a:rPr lang="zh-CN" altLang="en-US" smtClean="0"/>
              <a:t>8</a:t>
            </a:fld>
            <a:endParaRPr lang="zh-CN" altLang="en-US"/>
          </a:p>
        </p:txBody>
      </p:sp>
    </p:spTree>
    <p:extLst>
      <p:ext uri="{BB962C8B-B14F-4D97-AF65-F5344CB8AC3E}">
        <p14:creationId xmlns:p14="http://schemas.microsoft.com/office/powerpoint/2010/main" val="28307140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光互连大势所趋，开始详细讲光</a:t>
            </a:r>
            <a:endParaRPr lang="en-US" altLang="zh-CN" dirty="0"/>
          </a:p>
          <a:p>
            <a:pPr marL="228600" indent="-228600">
              <a:buAutoNum type="arabicPeriod"/>
            </a:pPr>
            <a:r>
              <a:rPr lang="zh-CN" altLang="en-US" dirty="0"/>
              <a:t>宏观视角，光的三种技术路径的差异，以及当前所处阶段</a:t>
            </a:r>
            <a:endParaRPr lang="en-US" altLang="zh-CN" dirty="0"/>
          </a:p>
          <a:p>
            <a:pPr marL="228600" indent="-228600">
              <a:buAutoNum type="arabicPeriod"/>
            </a:pPr>
            <a:r>
              <a:rPr lang="zh-CN" altLang="en-US" dirty="0"/>
              <a:t>差异：连接距离，速率上限</a:t>
            </a:r>
            <a:endParaRPr lang="en-US" altLang="zh-CN" dirty="0"/>
          </a:p>
          <a:p>
            <a:pPr marL="228600" indent="-228600">
              <a:buAutoNum type="arabicPeriod"/>
            </a:pPr>
            <a:r>
              <a:rPr lang="zh-CN" altLang="en-US" dirty="0"/>
              <a:t>阶段：规模看市场成熟度，动向看商业化阶段</a:t>
            </a:r>
          </a:p>
        </p:txBody>
      </p:sp>
      <p:sp>
        <p:nvSpPr>
          <p:cNvPr id="4" name="灯片编号占位符 3"/>
          <p:cNvSpPr>
            <a:spLocks noGrp="1"/>
          </p:cNvSpPr>
          <p:nvPr>
            <p:ph type="sldNum" sz="quarter" idx="5"/>
          </p:nvPr>
        </p:nvSpPr>
        <p:spPr/>
        <p:txBody>
          <a:bodyPr/>
          <a:lstStyle/>
          <a:p>
            <a:fld id="{60132800-FE64-4159-8F62-EF1F0A4E3E25}" type="slidenum">
              <a:rPr lang="zh-CN" altLang="en-US" smtClean="0"/>
              <a:t>9</a:t>
            </a:fld>
            <a:endParaRPr lang="zh-CN" altLang="en-US"/>
          </a:p>
        </p:txBody>
      </p:sp>
    </p:spTree>
    <p:extLst>
      <p:ext uri="{BB962C8B-B14F-4D97-AF65-F5344CB8AC3E}">
        <p14:creationId xmlns:p14="http://schemas.microsoft.com/office/powerpoint/2010/main" val="1550686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solidFill>
                  <a:schemeClr val="tx1">
                    <a:lumMod val="50000"/>
                  </a:schemeClr>
                </a:solidFill>
              </a:rPr>
              <a:t>Serdes</a:t>
            </a:r>
            <a:r>
              <a:rPr kumimoji="1" lang="zh-CN" altLang="en-US" sz="1200" dirty="0">
                <a:solidFill>
                  <a:schemeClr val="tx1">
                    <a:lumMod val="50000"/>
                  </a:schemeClr>
                </a:solidFill>
              </a:rPr>
              <a:t>：芯片中负责低速并行信号</a:t>
            </a:r>
            <a:r>
              <a:rPr kumimoji="1" lang="en-US" altLang="zh-CN" sz="1200" dirty="0">
                <a:solidFill>
                  <a:schemeClr val="tx1">
                    <a:lumMod val="50000"/>
                  </a:schemeClr>
                </a:solidFill>
                <a:sym typeface="Wingdings" panose="05000000000000000000" pitchFamily="2" charset="2"/>
              </a:rPr>
              <a:t></a:t>
            </a:r>
            <a:r>
              <a:rPr kumimoji="1" lang="zh-CN" altLang="en-US" sz="1200" dirty="0">
                <a:solidFill>
                  <a:schemeClr val="tx1">
                    <a:lumMod val="50000"/>
                  </a:schemeClr>
                </a:solidFill>
                <a:sym typeface="Wingdings" panose="05000000000000000000" pitchFamily="2" charset="2"/>
              </a:rPr>
              <a:t>高速串行信号的模块，速率受限于芯片制程，影响互连带宽</a:t>
            </a:r>
            <a:endParaRPr kumimoji="1" lang="en-US" altLang="zh-CN" sz="1200" dirty="0">
              <a:solidFill>
                <a:schemeClr val="tx1">
                  <a:lumMod val="50000"/>
                </a:schemeClr>
              </a:solidFill>
              <a:sym typeface="Wingdings" panose="05000000000000000000" pitchFamily="2" charset="2"/>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1" lang="en-US" altLang="zh-CN" sz="1200" dirty="0">
                <a:solidFill>
                  <a:schemeClr val="tx1">
                    <a:lumMod val="50000"/>
                  </a:schemeClr>
                </a:solidFill>
                <a:sym typeface="Wingdings" panose="05000000000000000000" pitchFamily="2" charset="2"/>
              </a:rPr>
              <a:t>Serdes</a:t>
            </a:r>
            <a:r>
              <a:rPr kumimoji="1" lang="zh-CN" altLang="en-US" sz="1200" dirty="0">
                <a:solidFill>
                  <a:schemeClr val="tx1">
                    <a:lumMod val="50000"/>
                  </a:schemeClr>
                </a:solidFill>
                <a:sym typeface="Wingdings" panose="05000000000000000000" pitchFamily="2" charset="2"/>
              </a:rPr>
              <a:t>是高速率的源头，</a:t>
            </a:r>
            <a:r>
              <a:rPr kumimoji="1" lang="en-US" altLang="zh-CN" sz="1200" dirty="0" err="1">
                <a:solidFill>
                  <a:schemeClr val="tx1">
                    <a:lumMod val="50000"/>
                  </a:schemeClr>
                </a:solidFill>
                <a:sym typeface="Wingdings" panose="05000000000000000000" pitchFamily="2" charset="2"/>
              </a:rPr>
              <a:t>serdes</a:t>
            </a:r>
            <a:r>
              <a:rPr kumimoji="1" lang="zh-CN" altLang="en-US" sz="1200" dirty="0">
                <a:solidFill>
                  <a:schemeClr val="tx1">
                    <a:lumMod val="50000"/>
                  </a:schemeClr>
                </a:solidFill>
                <a:sym typeface="Wingdings" panose="05000000000000000000" pitchFamily="2" charset="2"/>
              </a:rPr>
              <a:t>速率低则整体速率低</a:t>
            </a:r>
            <a:endParaRPr kumimoji="1" lang="en-US" altLang="zh-CN" sz="1200" dirty="0">
              <a:solidFill>
                <a:schemeClr val="tx1">
                  <a:lumMod val="50000"/>
                </a:schemeClr>
              </a:solidFill>
              <a:sym typeface="Wingdings" panose="05000000000000000000" pitchFamily="2" charset="2"/>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1" lang="zh-CN" altLang="en-US" sz="1200" dirty="0">
                <a:solidFill>
                  <a:schemeClr val="tx1">
                    <a:lumMod val="50000"/>
                  </a:schemeClr>
                </a:solidFill>
                <a:sym typeface="Wingdings" panose="05000000000000000000" pitchFamily="2" charset="2"/>
              </a:rPr>
              <a:t>海外</a:t>
            </a:r>
            <a:r>
              <a:rPr kumimoji="1" lang="en-US" altLang="zh-CN" sz="1200" dirty="0" err="1">
                <a:solidFill>
                  <a:schemeClr val="tx1">
                    <a:lumMod val="50000"/>
                  </a:schemeClr>
                </a:solidFill>
                <a:sym typeface="Wingdings" panose="05000000000000000000" pitchFamily="2" charset="2"/>
              </a:rPr>
              <a:t>serdes</a:t>
            </a:r>
            <a:r>
              <a:rPr kumimoji="1" lang="zh-CN" altLang="en-US" sz="1200" dirty="0">
                <a:solidFill>
                  <a:schemeClr val="tx1">
                    <a:lumMod val="50000"/>
                  </a:schemeClr>
                </a:solidFill>
                <a:sym typeface="Wingdings" panose="05000000000000000000" pitchFamily="2" charset="2"/>
              </a:rPr>
              <a:t>从</a:t>
            </a:r>
            <a:r>
              <a:rPr kumimoji="1" lang="en-US" altLang="zh-CN" sz="1200" dirty="0">
                <a:solidFill>
                  <a:schemeClr val="tx1">
                    <a:lumMod val="50000"/>
                  </a:schemeClr>
                </a:solidFill>
                <a:sym typeface="Wingdings" panose="05000000000000000000" pitchFamily="2" charset="2"/>
              </a:rPr>
              <a:t>56=&gt;112=&gt;224</a:t>
            </a:r>
          </a:p>
          <a:p>
            <a:endParaRPr lang="zh-CN" altLang="en-US" dirty="0"/>
          </a:p>
        </p:txBody>
      </p:sp>
      <p:sp>
        <p:nvSpPr>
          <p:cNvPr id="4" name="灯片编号占位符 3"/>
          <p:cNvSpPr>
            <a:spLocks noGrp="1"/>
          </p:cNvSpPr>
          <p:nvPr>
            <p:ph type="sldNum" sz="quarter" idx="5"/>
          </p:nvPr>
        </p:nvSpPr>
        <p:spPr/>
        <p:txBody>
          <a:bodyPr/>
          <a:lstStyle/>
          <a:p>
            <a:fld id="{60132800-FE64-4159-8F62-EF1F0A4E3E25}" type="slidenum">
              <a:rPr lang="zh-CN" altLang="en-US" smtClean="0"/>
              <a:t>10</a:t>
            </a:fld>
            <a:endParaRPr lang="zh-CN" altLang="en-US"/>
          </a:p>
        </p:txBody>
      </p:sp>
    </p:spTree>
    <p:extLst>
      <p:ext uri="{BB962C8B-B14F-4D97-AF65-F5344CB8AC3E}">
        <p14:creationId xmlns:p14="http://schemas.microsoft.com/office/powerpoint/2010/main" val="1936850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23439-0CAB-DF59-0D53-4796D11918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0C9782-A38A-2D89-7824-06352F6219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8117D8-5928-297D-6005-3BABCA3B607D}"/>
              </a:ext>
            </a:extLst>
          </p:cNvPr>
          <p:cNvSpPr>
            <a:spLocks noGrp="1"/>
          </p:cNvSpPr>
          <p:nvPr>
            <p:ph type="body" idx="1"/>
          </p:nvPr>
        </p:nvSpPr>
        <p:spPr/>
        <p:txBody>
          <a:bodyPr/>
          <a:lstStyle/>
          <a:p>
            <a:r>
              <a:rPr lang="en-US" altLang="zh-CN" dirty="0"/>
              <a:t>1. DS</a:t>
            </a:r>
            <a:endParaRPr lang="zh-CN" altLang="en-US" dirty="0"/>
          </a:p>
        </p:txBody>
      </p:sp>
      <p:sp>
        <p:nvSpPr>
          <p:cNvPr id="4" name="灯片编号占位符 3">
            <a:extLst>
              <a:ext uri="{FF2B5EF4-FFF2-40B4-BE49-F238E27FC236}">
                <a16:creationId xmlns:a16="http://schemas.microsoft.com/office/drawing/2014/main" id="{DD2CC873-A930-310E-FDCF-BF95748EC858}"/>
              </a:ext>
            </a:extLst>
          </p:cNvPr>
          <p:cNvSpPr>
            <a:spLocks noGrp="1"/>
          </p:cNvSpPr>
          <p:nvPr>
            <p:ph type="sldNum" sz="quarter" idx="5"/>
          </p:nvPr>
        </p:nvSpPr>
        <p:spPr/>
        <p:txBody>
          <a:bodyPr/>
          <a:lstStyle/>
          <a:p>
            <a:fld id="{60132800-FE64-4159-8F62-EF1F0A4E3E25}" type="slidenum">
              <a:rPr lang="zh-CN" altLang="en-US" smtClean="0"/>
              <a:t>13</a:t>
            </a:fld>
            <a:endParaRPr lang="zh-CN" altLang="en-US"/>
          </a:p>
        </p:txBody>
      </p:sp>
    </p:spTree>
    <p:extLst>
      <p:ext uri="{BB962C8B-B14F-4D97-AF65-F5344CB8AC3E}">
        <p14:creationId xmlns:p14="http://schemas.microsoft.com/office/powerpoint/2010/main" val="3443713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A656E-EAEA-8D4A-1CED-12B295983B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475089-A630-7400-0A7F-2EDDD8BE6C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7CFBF1-A7DD-97D5-1C46-06E719797929}"/>
              </a:ext>
            </a:extLst>
          </p:cNvPr>
          <p:cNvSpPr>
            <a:spLocks noGrp="1"/>
          </p:cNvSpPr>
          <p:nvPr>
            <p:ph type="body" idx="1"/>
          </p:nvPr>
        </p:nvSpPr>
        <p:spPr/>
        <p:txBody>
          <a:bodyPr/>
          <a:lstStyle/>
          <a:p>
            <a:pPr marL="228600" indent="-228600">
              <a:buAutoNum type="arabicPeriod"/>
            </a:pPr>
            <a:r>
              <a:rPr lang="zh-CN" altLang="en-US" dirty="0"/>
              <a:t>大摩的报告里没有给端口数的数据，需要找其他厂商</a:t>
            </a:r>
            <a:endParaRPr lang="en-US" altLang="zh-CN" dirty="0"/>
          </a:p>
          <a:p>
            <a:pPr marL="228600" indent="-228600">
              <a:buAutoNum type="arabicPeriod"/>
            </a:pPr>
            <a:r>
              <a:rPr lang="zh-CN" altLang="en-US" dirty="0"/>
              <a:t>尽管预测逻辑不一样，但大家预测的</a:t>
            </a:r>
            <a:r>
              <a:rPr lang="en-US" altLang="zh-CN" dirty="0"/>
              <a:t>2030E CPO</a:t>
            </a:r>
            <a:r>
              <a:rPr lang="zh-CN" altLang="en-US" dirty="0"/>
              <a:t>规模都落在</a:t>
            </a:r>
            <a:r>
              <a:rPr lang="en-US" altLang="zh-CN" dirty="0"/>
              <a:t>5b-10b</a:t>
            </a:r>
            <a:r>
              <a:rPr lang="zh-CN" altLang="en-US" dirty="0"/>
              <a:t>这个区间。比如</a:t>
            </a:r>
            <a:r>
              <a:rPr lang="en-US" altLang="zh-CN" dirty="0" err="1"/>
              <a:t>lightcounting</a:t>
            </a:r>
            <a:r>
              <a:rPr lang="zh-CN" altLang="en-US" dirty="0"/>
              <a:t>和小摩预测</a:t>
            </a:r>
            <a:r>
              <a:rPr lang="en-US" altLang="zh-CN" dirty="0"/>
              <a:t>$5.4b</a:t>
            </a:r>
            <a:r>
              <a:rPr lang="zh-CN" altLang="en-US" dirty="0"/>
              <a:t>，</a:t>
            </a:r>
            <a:r>
              <a:rPr lang="en-US" altLang="zh-CN" dirty="0" err="1"/>
              <a:t>yole</a:t>
            </a:r>
            <a:r>
              <a:rPr lang="zh-CN" altLang="en-US" dirty="0"/>
              <a:t>预测</a:t>
            </a:r>
            <a:r>
              <a:rPr lang="en-US" altLang="zh-CN" dirty="0"/>
              <a:t>$8.1b</a:t>
            </a:r>
            <a:r>
              <a:rPr lang="zh-CN" altLang="en-US" dirty="0"/>
              <a:t>。</a:t>
            </a:r>
            <a:endParaRPr lang="en-US" altLang="zh-CN" dirty="0"/>
          </a:p>
          <a:p>
            <a:pPr marL="228600" indent="-228600">
              <a:buAutoNum type="arabicPeriod"/>
            </a:pPr>
            <a:r>
              <a:rPr lang="zh-CN" altLang="en-US" dirty="0"/>
              <a:t>对比几家的假设。核心点在大厂生态影响力、超高速光模块的发展时点</a:t>
            </a:r>
            <a:endParaRPr lang="en-US" altLang="zh-CN" dirty="0"/>
          </a:p>
          <a:p>
            <a:pPr marL="685800" lvl="1" indent="-228600">
              <a:buAutoNum type="arabicPeriod"/>
            </a:pPr>
            <a:r>
              <a:rPr lang="zh-CN" altLang="en-US" dirty="0"/>
              <a:t>大摩最乐观。</a:t>
            </a:r>
            <a:r>
              <a:rPr lang="en-US" altLang="zh-CN" dirty="0"/>
              <a:t>Top-down</a:t>
            </a:r>
            <a:r>
              <a:rPr lang="zh-CN" altLang="en-US" dirty="0"/>
              <a:t>角度，</a:t>
            </a:r>
            <a:r>
              <a:rPr lang="zh-CN" altLang="en-US" sz="1200" b="0" i="0" kern="1200" dirty="0">
                <a:solidFill>
                  <a:schemeClr val="tx1"/>
                </a:solidFill>
                <a:effectLst/>
                <a:latin typeface="+mn-lt"/>
                <a:ea typeface="+mn-ea"/>
                <a:cs typeface="+mn-cs"/>
              </a:rPr>
              <a:t>头部厂商规模化应用</a:t>
            </a:r>
            <a:r>
              <a:rPr lang="en-US" altLang="zh-CN" sz="1200" b="0" i="0" kern="1200" dirty="0">
                <a:solidFill>
                  <a:schemeClr val="tx1"/>
                </a:solidFill>
                <a:effectLst/>
                <a:latin typeface="+mn-lt"/>
                <a:ea typeface="+mn-ea"/>
                <a:cs typeface="+mn-cs"/>
              </a:rPr>
              <a:t>=&gt;S</a:t>
            </a:r>
            <a:r>
              <a:rPr lang="zh-CN" altLang="en-US" sz="1200" b="0" i="0" kern="1200" dirty="0">
                <a:solidFill>
                  <a:schemeClr val="tx1"/>
                </a:solidFill>
                <a:effectLst/>
                <a:latin typeface="+mn-lt"/>
                <a:ea typeface="+mn-ea"/>
                <a:cs typeface="+mn-cs"/>
              </a:rPr>
              <a:t>型曲线爆发，</a:t>
            </a:r>
            <a:r>
              <a:rPr lang="en-US" altLang="zh-CN" sz="1200" b="0" i="0" kern="1200" dirty="0">
                <a:solidFill>
                  <a:schemeClr val="tx1"/>
                </a:solidFill>
                <a:effectLst/>
                <a:latin typeface="+mn-lt"/>
                <a:ea typeface="+mn-ea"/>
                <a:cs typeface="+mn-cs"/>
              </a:rPr>
              <a:t>40%</a:t>
            </a:r>
            <a:r>
              <a:rPr lang="zh-CN" altLang="en-US" sz="1200" b="0" i="0" kern="1200" dirty="0">
                <a:solidFill>
                  <a:schemeClr val="tx1"/>
                </a:solidFill>
                <a:effectLst/>
                <a:latin typeface="+mn-lt"/>
                <a:ea typeface="+mn-ea"/>
                <a:cs typeface="+mn-cs"/>
              </a:rPr>
              <a:t>渗透。假设</a:t>
            </a:r>
            <a:r>
              <a:rPr lang="en-US" altLang="zh-CN" sz="1200" b="0" i="0" kern="1200" dirty="0">
                <a:solidFill>
                  <a:schemeClr val="tx1"/>
                </a:solidFill>
                <a:effectLst/>
                <a:latin typeface="+mn-lt"/>
                <a:ea typeface="+mn-ea"/>
                <a:cs typeface="+mn-cs"/>
              </a:rPr>
              <a:t>NVIDIA</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broadcom</a:t>
            </a:r>
            <a:r>
              <a:rPr lang="zh-CN" altLang="en-US" sz="1200" b="0" i="0" kern="1200" dirty="0">
                <a:solidFill>
                  <a:schemeClr val="tx1"/>
                </a:solidFill>
                <a:effectLst/>
                <a:latin typeface="+mn-lt"/>
                <a:ea typeface="+mn-ea"/>
                <a:cs typeface="+mn-cs"/>
              </a:rPr>
              <a:t>的生态号召力将能极大地加速</a:t>
            </a:r>
            <a:r>
              <a:rPr lang="en-US" altLang="zh-CN" sz="1200" b="0" i="0" kern="1200" dirty="0">
                <a:solidFill>
                  <a:schemeClr val="tx1"/>
                </a:solidFill>
                <a:effectLst/>
                <a:latin typeface="+mn-lt"/>
                <a:ea typeface="+mn-ea"/>
                <a:cs typeface="+mn-cs"/>
              </a:rPr>
              <a:t>CPO</a:t>
            </a:r>
            <a:r>
              <a:rPr lang="zh-CN" altLang="en-US" sz="1200" b="0" i="0" kern="1200" dirty="0">
                <a:solidFill>
                  <a:schemeClr val="tx1"/>
                </a:solidFill>
                <a:effectLst/>
                <a:latin typeface="+mn-lt"/>
                <a:ea typeface="+mn-ea"/>
                <a:cs typeface="+mn-cs"/>
              </a:rPr>
              <a:t>的普及，使其成为</a:t>
            </a:r>
            <a:r>
              <a:rPr lang="en-US" altLang="zh-CN" sz="1200" b="0" i="0" kern="1200" dirty="0">
                <a:solidFill>
                  <a:schemeClr val="tx1"/>
                </a:solidFill>
                <a:effectLst/>
                <a:latin typeface="+mn-lt"/>
                <a:ea typeface="+mn-ea"/>
                <a:cs typeface="+mn-cs"/>
              </a:rPr>
              <a:t>AI</a:t>
            </a:r>
            <a:r>
              <a:rPr lang="zh-CN" altLang="en-US" sz="1200" b="0" i="0" kern="1200" dirty="0">
                <a:solidFill>
                  <a:schemeClr val="tx1"/>
                </a:solidFill>
                <a:effectLst/>
                <a:latin typeface="+mn-lt"/>
                <a:ea typeface="+mn-ea"/>
                <a:cs typeface="+mn-cs"/>
              </a:rPr>
              <a:t>数据中心的“标配”，而不是“可选项”。</a:t>
            </a:r>
            <a:endParaRPr lang="en-US" altLang="zh-CN" sz="1200" b="0" i="0" kern="1200" dirty="0">
              <a:solidFill>
                <a:schemeClr val="tx1"/>
              </a:solidFill>
              <a:effectLst/>
              <a:latin typeface="+mn-lt"/>
              <a:ea typeface="+mn-ea"/>
              <a:cs typeface="+mn-cs"/>
            </a:endParaRPr>
          </a:p>
          <a:p>
            <a:pPr marL="685800" lvl="1" indent="-228600">
              <a:buAutoNum type="arabicPeriod"/>
            </a:pPr>
            <a:r>
              <a:rPr lang="en-US" altLang="zh-CN" sz="1200" b="0" i="0" kern="1200" dirty="0">
                <a:solidFill>
                  <a:schemeClr val="tx1"/>
                </a:solidFill>
                <a:effectLst/>
                <a:latin typeface="+mn-lt"/>
                <a:ea typeface="+mn-ea"/>
                <a:cs typeface="+mn-cs"/>
              </a:rPr>
              <a:t>Yole</a:t>
            </a:r>
            <a:r>
              <a:rPr lang="zh-CN" altLang="en-US" sz="1200" b="0" i="0" kern="1200" dirty="0">
                <a:solidFill>
                  <a:schemeClr val="tx1"/>
                </a:solidFill>
                <a:effectLst/>
                <a:latin typeface="+mn-lt"/>
                <a:ea typeface="+mn-ea"/>
                <a:cs typeface="+mn-cs"/>
              </a:rPr>
              <a:t>中等。</a:t>
            </a:r>
            <a:r>
              <a:rPr lang="en-US" altLang="zh-CN" sz="1200" b="0" i="0" kern="1200" dirty="0">
                <a:solidFill>
                  <a:schemeClr val="tx1"/>
                </a:solidFill>
                <a:effectLst/>
                <a:latin typeface="+mn-lt"/>
                <a:ea typeface="+mn-ea"/>
                <a:cs typeface="+mn-cs"/>
              </a:rPr>
              <a:t>Bottom-up</a:t>
            </a:r>
            <a:r>
              <a:rPr lang="zh-CN" altLang="en-US" sz="1200" b="0" i="0" kern="1200" dirty="0">
                <a:solidFill>
                  <a:schemeClr val="tx1"/>
                </a:solidFill>
                <a:effectLst/>
                <a:latin typeface="+mn-lt"/>
                <a:ea typeface="+mn-ea"/>
                <a:cs typeface="+mn-cs"/>
              </a:rPr>
              <a:t>角度，分别算</a:t>
            </a:r>
            <a:r>
              <a:rPr lang="en-US" altLang="zh-CN" sz="1200" b="0" i="0" kern="1200" dirty="0">
                <a:solidFill>
                  <a:schemeClr val="tx1"/>
                </a:solidFill>
                <a:effectLst/>
                <a:latin typeface="+mn-lt"/>
                <a:ea typeface="+mn-ea"/>
                <a:cs typeface="+mn-cs"/>
              </a:rPr>
              <a:t>scale up</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scale out</a:t>
            </a:r>
            <a:r>
              <a:rPr lang="zh-CN" altLang="en-US" sz="1200" b="0" i="0" kern="1200" dirty="0">
                <a:solidFill>
                  <a:schemeClr val="tx1"/>
                </a:solidFill>
                <a:effectLst/>
                <a:latin typeface="+mn-lt"/>
                <a:ea typeface="+mn-ea"/>
                <a:cs typeface="+mn-cs"/>
              </a:rPr>
              <a:t>需要的光引擎数量，预测</a:t>
            </a:r>
            <a:r>
              <a:rPr lang="en-US" altLang="zh-CN" sz="1200" b="0" i="0" kern="1200" dirty="0">
                <a:solidFill>
                  <a:schemeClr val="tx1"/>
                </a:solidFill>
                <a:effectLst/>
                <a:latin typeface="+mn-lt"/>
                <a:ea typeface="+mn-ea"/>
                <a:cs typeface="+mn-cs"/>
              </a:rPr>
              <a:t>20%+</a:t>
            </a:r>
            <a:r>
              <a:rPr lang="zh-CN" altLang="en-US" sz="1200" b="0" i="0" kern="1200" dirty="0">
                <a:solidFill>
                  <a:schemeClr val="tx1"/>
                </a:solidFill>
                <a:effectLst/>
                <a:latin typeface="+mn-lt"/>
                <a:ea typeface="+mn-ea"/>
                <a:cs typeface="+mn-cs"/>
              </a:rPr>
              <a:t>渗透。核心假设为</a:t>
            </a:r>
            <a:r>
              <a:rPr lang="en-US" altLang="zh-CN" sz="1200" b="0" i="0" kern="1200" dirty="0">
                <a:solidFill>
                  <a:schemeClr val="tx1"/>
                </a:solidFill>
                <a:effectLst/>
                <a:latin typeface="+mn-lt"/>
                <a:ea typeface="+mn-ea"/>
                <a:cs typeface="+mn-cs"/>
              </a:rPr>
              <a:t>scale up</a:t>
            </a:r>
            <a:r>
              <a:rPr lang="zh-CN" altLang="en-US" sz="1200" b="0" i="0" kern="1200" dirty="0">
                <a:solidFill>
                  <a:schemeClr val="tx1"/>
                </a:solidFill>
                <a:effectLst/>
                <a:latin typeface="+mn-lt"/>
                <a:ea typeface="+mn-ea"/>
                <a:cs typeface="+mn-cs"/>
              </a:rPr>
              <a:t>场景</a:t>
            </a:r>
            <a:r>
              <a:rPr lang="en-US" altLang="zh-CN" sz="1200" b="0" i="0" kern="1200" dirty="0">
                <a:solidFill>
                  <a:schemeClr val="tx1"/>
                </a:solidFill>
                <a:effectLst/>
                <a:latin typeface="+mn-lt"/>
                <a:ea typeface="+mn-ea"/>
                <a:cs typeface="+mn-cs"/>
              </a:rPr>
              <a:t>2028</a:t>
            </a:r>
            <a:r>
              <a:rPr lang="zh-CN" altLang="en-US" sz="1200" b="0" i="0" kern="1200" dirty="0">
                <a:solidFill>
                  <a:schemeClr val="tx1"/>
                </a:solidFill>
                <a:effectLst/>
                <a:latin typeface="+mn-lt"/>
                <a:ea typeface="+mn-ea"/>
                <a:cs typeface="+mn-cs"/>
              </a:rPr>
              <a:t>年大量采纳（</a:t>
            </a:r>
            <a:r>
              <a:rPr lang="en-US" altLang="zh-CN" sz="1200" b="0" i="0" kern="1200" dirty="0">
                <a:solidFill>
                  <a:schemeClr val="tx1"/>
                </a:solidFill>
                <a:effectLst/>
                <a:latin typeface="+mn-lt"/>
                <a:ea typeface="+mn-ea"/>
                <a:cs typeface="+mn-cs"/>
              </a:rPr>
              <a:t>1.6T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3.2T</a:t>
            </a:r>
            <a:r>
              <a:rPr lang="zh-CN" altLang="en-US" sz="1200" b="0" i="0" kern="1200" dirty="0">
                <a:solidFill>
                  <a:schemeClr val="tx1"/>
                </a:solidFill>
                <a:effectLst/>
                <a:latin typeface="+mn-lt"/>
                <a:ea typeface="+mn-ea"/>
                <a:cs typeface="+mn-cs"/>
              </a:rPr>
              <a:t>光模块替换需求）</a:t>
            </a:r>
            <a:endParaRPr lang="en-US" altLang="zh-CN" sz="1200" b="0" i="0" kern="1200" dirty="0">
              <a:solidFill>
                <a:schemeClr val="tx1"/>
              </a:solidFill>
              <a:effectLst/>
              <a:latin typeface="+mn-lt"/>
              <a:ea typeface="+mn-ea"/>
              <a:cs typeface="+mn-cs"/>
            </a:endParaRPr>
          </a:p>
          <a:p>
            <a:pPr marL="685800" lvl="1" indent="-228600">
              <a:buAutoNum type="arabicPeriod"/>
            </a:pPr>
            <a:r>
              <a:rPr lang="en-US" altLang="zh-CN" sz="1200" b="0" i="0" kern="1200" dirty="0" err="1">
                <a:solidFill>
                  <a:schemeClr val="tx1"/>
                </a:solidFill>
                <a:effectLst/>
                <a:latin typeface="+mn-lt"/>
                <a:ea typeface="+mn-ea"/>
                <a:cs typeface="+mn-cs"/>
              </a:rPr>
              <a:t>Lightcounting</a:t>
            </a:r>
            <a:r>
              <a:rPr lang="zh-CN" altLang="en-US" sz="1200" b="0" i="0" kern="1200" dirty="0">
                <a:solidFill>
                  <a:schemeClr val="tx1"/>
                </a:solidFill>
                <a:effectLst/>
                <a:latin typeface="+mn-lt"/>
                <a:ea typeface="+mn-ea"/>
                <a:cs typeface="+mn-cs"/>
              </a:rPr>
              <a:t>、小摩偏保守。</a:t>
            </a:r>
            <a:r>
              <a:rPr lang="en-US" altLang="zh-CN" sz="1200" b="0" i="0" kern="1200" dirty="0">
                <a:solidFill>
                  <a:schemeClr val="tx1"/>
                </a:solidFill>
                <a:effectLst/>
                <a:latin typeface="+mn-lt"/>
                <a:ea typeface="+mn-ea"/>
                <a:cs typeface="+mn-cs"/>
              </a:rPr>
              <a:t>Bottom-up</a:t>
            </a:r>
            <a:r>
              <a:rPr lang="zh-CN" altLang="en-US" sz="1200" b="0" i="0" kern="1200" dirty="0">
                <a:solidFill>
                  <a:schemeClr val="tx1"/>
                </a:solidFill>
                <a:effectLst/>
                <a:latin typeface="+mn-lt"/>
                <a:ea typeface="+mn-ea"/>
                <a:cs typeface="+mn-cs"/>
              </a:rPr>
              <a:t>角度，分别算</a:t>
            </a:r>
            <a:r>
              <a:rPr lang="en-US" altLang="zh-CN" sz="1200" b="0" i="0" kern="1200" dirty="0">
                <a:solidFill>
                  <a:schemeClr val="tx1"/>
                </a:solidFill>
                <a:effectLst/>
                <a:latin typeface="+mn-lt"/>
                <a:ea typeface="+mn-ea"/>
                <a:cs typeface="+mn-cs"/>
              </a:rPr>
              <a:t>800g-3.2t</a:t>
            </a:r>
            <a:r>
              <a:rPr lang="zh-CN" altLang="en-US" sz="1200" b="0" i="0" kern="1200" dirty="0">
                <a:solidFill>
                  <a:schemeClr val="tx1"/>
                </a:solidFill>
                <a:effectLst/>
                <a:latin typeface="+mn-lt"/>
                <a:ea typeface="+mn-ea"/>
                <a:cs typeface="+mn-cs"/>
              </a:rPr>
              <a:t>的光模块出货量，对每个速率假设一个</a:t>
            </a:r>
            <a:r>
              <a:rPr lang="en-US" altLang="zh-CN" sz="1200" b="0" i="0" kern="1200" dirty="0">
                <a:solidFill>
                  <a:schemeClr val="tx1"/>
                </a:solidFill>
                <a:effectLst/>
                <a:latin typeface="+mn-lt"/>
                <a:ea typeface="+mn-ea"/>
                <a:cs typeface="+mn-cs"/>
              </a:rPr>
              <a:t>CPO</a:t>
            </a:r>
            <a:r>
              <a:rPr lang="zh-CN" altLang="en-US" sz="1200" b="0" i="0" kern="1200" dirty="0">
                <a:solidFill>
                  <a:schemeClr val="tx1"/>
                </a:solidFill>
                <a:effectLst/>
                <a:latin typeface="+mn-lt"/>
                <a:ea typeface="+mn-ea"/>
                <a:cs typeface="+mn-cs"/>
              </a:rPr>
              <a:t>渗透率（</a:t>
            </a:r>
            <a:r>
              <a:rPr lang="en-US" altLang="zh-CN" sz="1200" b="0" i="0" kern="1200" dirty="0">
                <a:solidFill>
                  <a:schemeClr val="tx1"/>
                </a:solidFill>
                <a:effectLst/>
                <a:latin typeface="+mn-lt"/>
                <a:ea typeface="+mn-ea"/>
                <a:cs typeface="+mn-cs"/>
              </a:rPr>
              <a:t>2.9%, 9.5%, 50.6%</a:t>
            </a:r>
            <a:r>
              <a:rPr lang="zh-CN" altLang="en-US" sz="1200" b="0" i="0" kern="1200" dirty="0">
                <a:solidFill>
                  <a:schemeClr val="tx1"/>
                </a:solidFill>
                <a:effectLst/>
                <a:latin typeface="+mn-lt"/>
                <a:ea typeface="+mn-ea"/>
                <a:cs typeface="+mn-cs"/>
              </a:rPr>
              <a:t>），最终渗透率约</a:t>
            </a:r>
            <a:r>
              <a:rPr lang="en-US" altLang="zh-CN" sz="1200" b="0" i="0" kern="1200" dirty="0">
                <a:solidFill>
                  <a:schemeClr val="tx1"/>
                </a:solidFill>
                <a:effectLst/>
                <a:latin typeface="+mn-lt"/>
                <a:ea typeface="+mn-ea"/>
                <a:cs typeface="+mn-cs"/>
              </a:rPr>
              <a:t>15%</a:t>
            </a:r>
            <a:r>
              <a:rPr lang="zh-CN" altLang="en-US" sz="1200" b="0" i="0" kern="1200" dirty="0">
                <a:solidFill>
                  <a:schemeClr val="tx1"/>
                </a:solidFill>
                <a:effectLst/>
                <a:latin typeface="+mn-lt"/>
                <a:ea typeface="+mn-ea"/>
                <a:cs typeface="+mn-cs"/>
              </a:rPr>
              <a:t>。核心假设为，</a:t>
            </a:r>
            <a:r>
              <a:rPr lang="en-US" altLang="zh-CN" sz="1200" b="0" i="0" kern="1200" dirty="0">
                <a:solidFill>
                  <a:schemeClr val="tx1"/>
                </a:solidFill>
                <a:effectLst/>
                <a:latin typeface="+mn-lt"/>
                <a:ea typeface="+mn-ea"/>
                <a:cs typeface="+mn-cs"/>
              </a:rPr>
              <a:t>2025</a:t>
            </a:r>
            <a:r>
              <a:rPr lang="zh-CN" altLang="en-US" sz="1200" b="0" i="0" kern="1200" dirty="0">
                <a:solidFill>
                  <a:schemeClr val="tx1"/>
                </a:solidFill>
                <a:effectLst/>
                <a:latin typeface="+mn-lt"/>
                <a:ea typeface="+mn-ea"/>
                <a:cs typeface="+mn-cs"/>
              </a:rPr>
              <a:t>年市场拐点，初期由</a:t>
            </a:r>
            <a:r>
              <a:rPr lang="en-US" altLang="zh-CN" sz="1200" b="0" i="0" kern="1200" dirty="0">
                <a:solidFill>
                  <a:schemeClr val="tx1"/>
                </a:solidFill>
                <a:effectLst/>
                <a:latin typeface="+mn-lt"/>
                <a:ea typeface="+mn-ea"/>
                <a:cs typeface="+mn-cs"/>
              </a:rPr>
              <a:t>800g</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1.6t</a:t>
            </a:r>
            <a:r>
              <a:rPr lang="zh-CN" altLang="en-US" sz="1200" b="0" i="0" kern="1200" dirty="0">
                <a:solidFill>
                  <a:schemeClr val="tx1"/>
                </a:solidFill>
                <a:effectLst/>
                <a:latin typeface="+mn-lt"/>
                <a:ea typeface="+mn-ea"/>
                <a:cs typeface="+mn-cs"/>
              </a:rPr>
              <a:t>推动，最重要的因素是</a:t>
            </a:r>
            <a:r>
              <a:rPr lang="en-US" altLang="zh-CN" sz="1200" b="0" i="0" kern="1200" dirty="0">
                <a:solidFill>
                  <a:schemeClr val="tx1"/>
                </a:solidFill>
                <a:effectLst/>
                <a:latin typeface="+mn-lt"/>
                <a:ea typeface="+mn-ea"/>
                <a:cs typeface="+mn-cs"/>
              </a:rPr>
              <a:t>2027</a:t>
            </a:r>
            <a:r>
              <a:rPr lang="zh-CN" altLang="en-US" sz="1200" b="0" i="0" kern="1200" dirty="0">
                <a:solidFill>
                  <a:schemeClr val="tx1"/>
                </a:solidFill>
                <a:effectLst/>
                <a:latin typeface="+mn-lt"/>
                <a:ea typeface="+mn-ea"/>
                <a:cs typeface="+mn-cs"/>
              </a:rPr>
              <a:t>年可能启动的</a:t>
            </a:r>
            <a:r>
              <a:rPr lang="en-US" altLang="zh-CN" sz="1200" b="0" i="0" kern="1200" dirty="0">
                <a:solidFill>
                  <a:schemeClr val="tx1"/>
                </a:solidFill>
                <a:effectLst/>
                <a:latin typeface="+mn-lt"/>
                <a:ea typeface="+mn-ea"/>
                <a:cs typeface="+mn-cs"/>
              </a:rPr>
              <a:t>3.2t</a:t>
            </a:r>
            <a:r>
              <a:rPr lang="zh-CN" altLang="en-US" sz="1200" b="0" i="0" kern="1200" dirty="0">
                <a:solidFill>
                  <a:schemeClr val="tx1"/>
                </a:solidFill>
                <a:effectLst/>
                <a:latin typeface="+mn-lt"/>
                <a:ea typeface="+mn-ea"/>
                <a:cs typeface="+mn-cs"/>
              </a:rPr>
              <a:t>技术，会迅速普及并强烈需求</a:t>
            </a:r>
            <a:r>
              <a:rPr lang="en-US" altLang="zh-CN" sz="1200" b="0" i="0" kern="1200" dirty="0" err="1">
                <a:solidFill>
                  <a:schemeClr val="tx1"/>
                </a:solidFill>
                <a:effectLst/>
                <a:latin typeface="+mn-lt"/>
                <a:ea typeface="+mn-ea"/>
                <a:cs typeface="+mn-cs"/>
              </a:rPr>
              <a:t>cpo</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lpo</a:t>
            </a:r>
            <a:r>
              <a:rPr lang="zh-CN" altLang="en-US" sz="1200" b="0" i="0" kern="1200" dirty="0">
                <a:solidFill>
                  <a:schemeClr val="tx1"/>
                </a:solidFill>
                <a:effectLst/>
                <a:latin typeface="+mn-lt"/>
                <a:ea typeface="+mn-ea"/>
                <a:cs typeface="+mn-cs"/>
              </a:rPr>
              <a:t>无法满足）</a:t>
            </a:r>
            <a:endParaRPr lang="en-US" altLang="zh-CN" sz="1200" b="0" i="0" kern="1200" dirty="0">
              <a:solidFill>
                <a:schemeClr val="tx1"/>
              </a:solidFill>
              <a:effectLst/>
              <a:latin typeface="+mn-lt"/>
              <a:ea typeface="+mn-ea"/>
              <a:cs typeface="+mn-cs"/>
            </a:endParaRPr>
          </a:p>
          <a:p>
            <a:pPr marL="228600" lvl="0" indent="-228600">
              <a:buAutoNum type="arabicPeriod"/>
            </a:pPr>
            <a:r>
              <a:rPr lang="en-US" altLang="zh-CN" sz="1200" b="0" i="0" kern="1200" dirty="0" err="1">
                <a:solidFill>
                  <a:schemeClr val="tx1"/>
                </a:solidFill>
                <a:effectLst/>
                <a:latin typeface="+mn-lt"/>
                <a:ea typeface="+mn-ea"/>
                <a:cs typeface="+mn-cs"/>
              </a:rPr>
              <a:t>Lightcounting</a:t>
            </a:r>
            <a:r>
              <a:rPr lang="zh-CN" altLang="en-US" sz="1200" b="0" i="0" kern="1200" dirty="0">
                <a:solidFill>
                  <a:schemeClr val="tx1"/>
                </a:solidFill>
                <a:effectLst/>
                <a:latin typeface="+mn-lt"/>
                <a:ea typeface="+mn-ea"/>
                <a:cs typeface="+mn-cs"/>
              </a:rPr>
              <a:t>的逻辑比较好复刻，后续可以找各大券商覆盖中际旭创、新易盛的</a:t>
            </a:r>
            <a:r>
              <a:rPr lang="en-US" altLang="zh-CN" sz="1200" b="0" i="0" kern="1200" dirty="0">
                <a:solidFill>
                  <a:schemeClr val="tx1"/>
                </a:solidFill>
                <a:effectLst/>
                <a:latin typeface="+mn-lt"/>
                <a:ea typeface="+mn-ea"/>
                <a:cs typeface="+mn-cs"/>
              </a:rPr>
              <a:t>model</a:t>
            </a:r>
            <a:r>
              <a:rPr lang="zh-CN" altLang="en-US" sz="1200" b="0" i="0" kern="1200" dirty="0">
                <a:solidFill>
                  <a:schemeClr val="tx1"/>
                </a:solidFill>
                <a:effectLst/>
                <a:latin typeface="+mn-lt"/>
                <a:ea typeface="+mn-ea"/>
                <a:cs typeface="+mn-cs"/>
              </a:rPr>
              <a:t>中对光模块出货量的预估</a:t>
            </a:r>
            <a:endParaRPr lang="en-US" altLang="zh-CN" sz="1200" b="0" i="0" kern="1200" dirty="0">
              <a:solidFill>
                <a:schemeClr val="tx1"/>
              </a:solidFill>
              <a:effectLst/>
              <a:latin typeface="+mn-lt"/>
              <a:ea typeface="+mn-ea"/>
              <a:cs typeface="+mn-cs"/>
            </a:endParaRPr>
          </a:p>
          <a:p>
            <a:pPr marL="228600" lvl="0" indent="-228600">
              <a:buAutoNum type="arabicPeriod"/>
            </a:pPr>
            <a:r>
              <a:rPr lang="zh-CN" altLang="en-US" sz="1200" b="0" i="0" kern="1200" dirty="0">
                <a:solidFill>
                  <a:schemeClr val="tx1"/>
                </a:solidFill>
                <a:effectLst/>
                <a:latin typeface="+mn-lt"/>
                <a:ea typeface="+mn-ea"/>
                <a:cs typeface="+mn-cs"/>
              </a:rPr>
              <a:t>还有一种方法，按照各大机构对中际旭创和新易盛的各速率光模块销售收入预估倒推市场规模，以下为高盛数据</a:t>
            </a:r>
            <a:endParaRPr lang="en-US" altLang="zh-CN" sz="1200" b="0" i="0" kern="1200" dirty="0">
              <a:solidFill>
                <a:schemeClr val="tx1"/>
              </a:solidFill>
              <a:effectLst/>
              <a:latin typeface="+mn-lt"/>
              <a:ea typeface="+mn-ea"/>
              <a:cs typeface="+mn-cs"/>
            </a:endParaRPr>
          </a:p>
          <a:p>
            <a:pPr marL="685800" lvl="1" indent="-228600">
              <a:buAutoNum type="arabicPeriod"/>
            </a:pPr>
            <a:r>
              <a:rPr lang="zh-CN" altLang="en-US" sz="1200" b="0" i="0" kern="1200" dirty="0">
                <a:solidFill>
                  <a:schemeClr val="tx1"/>
                </a:solidFill>
                <a:effectLst/>
                <a:latin typeface="+mn-lt"/>
                <a:ea typeface="+mn-ea"/>
                <a:cs typeface="+mn-cs"/>
              </a:rPr>
              <a:t>中际旭创 </a:t>
            </a:r>
            <a:r>
              <a:rPr lang="en-US" altLang="zh-CN" sz="1200" b="0" i="0" kern="1200" dirty="0">
                <a:solidFill>
                  <a:schemeClr val="tx1"/>
                </a:solidFill>
                <a:effectLst/>
                <a:latin typeface="+mn-lt"/>
                <a:ea typeface="+mn-ea"/>
                <a:cs typeface="+mn-cs"/>
              </a:rPr>
              <a:t>2030E</a:t>
            </a:r>
            <a:r>
              <a:rPr lang="zh-CN" altLang="en-US" sz="1200" b="0" i="0" kern="1200" dirty="0">
                <a:solidFill>
                  <a:schemeClr val="tx1"/>
                </a:solidFill>
                <a:effectLst/>
                <a:latin typeface="+mn-lt"/>
                <a:ea typeface="+mn-ea"/>
                <a:cs typeface="+mn-cs"/>
                <a:sym typeface="Wingdings" panose="05000000000000000000" pitchFamily="2" charset="2"/>
              </a:rPr>
              <a:t> </a:t>
            </a:r>
            <a:r>
              <a:rPr lang="en-US" altLang="zh-CN" sz="1200" b="0" i="0" kern="1200" dirty="0">
                <a:solidFill>
                  <a:schemeClr val="tx1"/>
                </a:solidFill>
                <a:effectLst/>
                <a:latin typeface="+mn-lt"/>
                <a:ea typeface="+mn-ea"/>
                <a:cs typeface="+mn-cs"/>
                <a:sym typeface="Wingdings" panose="05000000000000000000" pitchFamily="2" charset="2"/>
              </a:rPr>
              <a:t>(</a:t>
            </a:r>
            <a:r>
              <a:rPr lang="en-US" altLang="zh-CN" sz="1200" b="0" i="0" kern="1200" dirty="0">
                <a:solidFill>
                  <a:schemeClr val="tx1"/>
                </a:solidFill>
                <a:effectLst/>
                <a:latin typeface="+mn-lt"/>
                <a:ea typeface="+mn-ea"/>
                <a:cs typeface="+mn-cs"/>
              </a:rPr>
              <a:t>7793 + 23185 + 62792) / 40%</a:t>
            </a:r>
            <a:r>
              <a:rPr lang="zh-CN" altLang="en-US" sz="1200" b="0" i="0" kern="1200" dirty="0">
                <a:solidFill>
                  <a:schemeClr val="tx1"/>
                </a:solidFill>
                <a:effectLst/>
                <a:latin typeface="+mn-lt"/>
                <a:ea typeface="+mn-ea"/>
                <a:cs typeface="+mn-cs"/>
              </a:rPr>
              <a:t>当前市场份额 </a:t>
            </a:r>
            <a:r>
              <a:rPr lang="en-US" altLang="zh-CN" sz="1200" b="0" i="0" kern="1200" dirty="0">
                <a:solidFill>
                  <a:schemeClr val="tx1"/>
                </a:solidFill>
                <a:effectLst/>
                <a:latin typeface="+mn-lt"/>
                <a:ea typeface="+mn-ea"/>
                <a:cs typeface="+mn-cs"/>
              </a:rPr>
              <a:t>* 40%CPO</a:t>
            </a:r>
            <a:r>
              <a:rPr lang="zh-CN" altLang="en-US" sz="1200" b="0" i="0" kern="1200" dirty="0">
                <a:solidFill>
                  <a:schemeClr val="tx1"/>
                </a:solidFill>
                <a:effectLst/>
                <a:latin typeface="+mn-lt"/>
                <a:ea typeface="+mn-ea"/>
                <a:cs typeface="+mn-cs"/>
              </a:rPr>
              <a:t>渗透率 </a:t>
            </a:r>
            <a:r>
              <a:rPr lang="en-US" altLang="zh-CN" sz="1200" b="0" i="0" kern="1200" dirty="0">
                <a:solidFill>
                  <a:schemeClr val="tx1"/>
                </a:solidFill>
                <a:effectLst/>
                <a:latin typeface="+mn-lt"/>
                <a:ea typeface="+mn-ea"/>
                <a:cs typeface="+mn-cs"/>
              </a:rPr>
              <a:t>/ 7 = 13.3b</a:t>
            </a:r>
          </a:p>
          <a:p>
            <a:pPr marL="685800" lvl="1" indent="-228600">
              <a:buAutoNum type="arabicPeriod"/>
            </a:pPr>
            <a:r>
              <a:rPr lang="zh-CN" altLang="en-US" sz="1200" b="0" i="0" kern="1200" dirty="0">
                <a:solidFill>
                  <a:schemeClr val="tx1"/>
                </a:solidFill>
                <a:effectLst/>
                <a:latin typeface="+mn-lt"/>
                <a:ea typeface="+mn-ea"/>
                <a:cs typeface="+mn-cs"/>
              </a:rPr>
              <a:t>新易盛</a:t>
            </a:r>
            <a:r>
              <a:rPr lang="en-US" altLang="zh-CN" sz="1200" b="0" i="0" kern="1200" dirty="0">
                <a:solidFill>
                  <a:schemeClr val="tx1"/>
                </a:solidFill>
                <a:effectLst/>
                <a:latin typeface="+mn-lt"/>
                <a:ea typeface="+mn-ea"/>
                <a:cs typeface="+mn-cs"/>
              </a:rPr>
              <a:t> 2030E (6281 + 25975 + 40366) / 25%</a:t>
            </a:r>
            <a:r>
              <a:rPr lang="zh-CN" altLang="en-US" sz="1200" b="0" i="0" kern="1200" dirty="0">
                <a:solidFill>
                  <a:schemeClr val="tx1"/>
                </a:solidFill>
                <a:effectLst/>
                <a:latin typeface="+mn-lt"/>
                <a:ea typeface="+mn-ea"/>
                <a:cs typeface="+mn-cs"/>
              </a:rPr>
              <a:t>当前市场份额 </a:t>
            </a:r>
            <a:r>
              <a:rPr lang="en-US" altLang="zh-CN" sz="1200" b="0" i="0" kern="1200" dirty="0">
                <a:solidFill>
                  <a:schemeClr val="tx1"/>
                </a:solidFill>
                <a:effectLst/>
                <a:latin typeface="+mn-lt"/>
                <a:ea typeface="+mn-ea"/>
                <a:cs typeface="+mn-cs"/>
              </a:rPr>
              <a:t>* 40%CPO</a:t>
            </a:r>
            <a:r>
              <a:rPr lang="zh-CN" altLang="en-US" sz="1200" b="0" i="0" kern="1200" dirty="0">
                <a:solidFill>
                  <a:schemeClr val="tx1"/>
                </a:solidFill>
                <a:effectLst/>
                <a:latin typeface="+mn-lt"/>
                <a:ea typeface="+mn-ea"/>
                <a:cs typeface="+mn-cs"/>
              </a:rPr>
              <a:t>渗透率 </a:t>
            </a:r>
            <a:r>
              <a:rPr lang="en-US" altLang="zh-CN" sz="1200" b="0" i="0" kern="1200" dirty="0">
                <a:solidFill>
                  <a:schemeClr val="tx1"/>
                </a:solidFill>
                <a:effectLst/>
                <a:latin typeface="+mn-lt"/>
                <a:ea typeface="+mn-ea"/>
                <a:cs typeface="+mn-cs"/>
              </a:rPr>
              <a:t>/ 7 = 16.5b</a:t>
            </a:r>
          </a:p>
        </p:txBody>
      </p:sp>
      <p:sp>
        <p:nvSpPr>
          <p:cNvPr id="4" name="灯片编号占位符 3">
            <a:extLst>
              <a:ext uri="{FF2B5EF4-FFF2-40B4-BE49-F238E27FC236}">
                <a16:creationId xmlns:a16="http://schemas.microsoft.com/office/drawing/2014/main" id="{E31BC9FA-B046-79AD-EAB1-CE96EA49FB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32800-FE64-4159-8F62-EF1F0A4E3E25}"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400850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en-US" altLang="zh-CN" dirty="0"/>
              <a:t>For</a:t>
            </a:r>
            <a:r>
              <a:rPr lang="zh-CN" altLang="en-US" dirty="0"/>
              <a:t>简单理解</a:t>
            </a:r>
            <a:r>
              <a:rPr lang="en-US" altLang="zh-CN" dirty="0"/>
              <a:t>CPO</a:t>
            </a:r>
            <a:r>
              <a:rPr lang="zh-CN" altLang="en-US" dirty="0"/>
              <a:t>关键环节</a:t>
            </a:r>
            <a:endParaRPr lang="en-US" altLang="zh-CN" dirty="0"/>
          </a:p>
          <a:p>
            <a:pPr marL="228600" indent="-228600">
              <a:buAutoNum type="arabicPeriod"/>
            </a:pPr>
            <a:r>
              <a:rPr lang="zh-CN" altLang="en-US" dirty="0"/>
              <a:t>用跨语言通话理解：当我和一个说韩语的人打电话</a:t>
            </a:r>
            <a:endParaRPr lang="en-US" altLang="zh-CN" dirty="0"/>
          </a:p>
          <a:p>
            <a:pPr marL="685800" lvl="1" indent="-228600">
              <a:buAutoNum type="arabicPeriod"/>
            </a:pPr>
            <a:r>
              <a:rPr lang="zh-CN" altLang="en-US" dirty="0"/>
              <a:t>光纤：电话线</a:t>
            </a:r>
            <a:endParaRPr lang="en-US" altLang="zh-CN" dirty="0"/>
          </a:p>
          <a:p>
            <a:pPr marL="685800" lvl="1" indent="-228600">
              <a:buAutoNum type="arabicPeriod"/>
            </a:pPr>
            <a:r>
              <a:rPr lang="zh-CN" altLang="en-US" dirty="0"/>
              <a:t>激光器：喇叭。这俩没那么重要</a:t>
            </a:r>
            <a:endParaRPr lang="en-US" altLang="zh-CN" dirty="0"/>
          </a:p>
          <a:p>
            <a:pPr marL="685800" lvl="1" indent="-228600">
              <a:buAutoNum type="arabicPeriod"/>
            </a:pPr>
            <a:r>
              <a:rPr lang="zh-CN" altLang="en-US" dirty="0"/>
              <a:t>硅光：翻译官，光电互译</a:t>
            </a:r>
            <a:endParaRPr lang="en-US" altLang="zh-CN" dirty="0"/>
          </a:p>
          <a:p>
            <a:pPr marL="685800" lvl="1" indent="-228600">
              <a:buAutoNum type="arabicPeriod"/>
            </a:pPr>
            <a:r>
              <a:rPr lang="zh-CN" altLang="en-US" dirty="0"/>
              <a:t>电光：声音润色，让声音更大，听得更清楚</a:t>
            </a:r>
            <a:endParaRPr lang="en-US" altLang="zh-CN" dirty="0"/>
          </a:p>
          <a:p>
            <a:pPr marL="685800" lvl="1" indent="-228600">
              <a:buAutoNum type="arabicPeriod"/>
            </a:pPr>
            <a:r>
              <a:rPr lang="zh-CN" altLang="en-US" dirty="0"/>
              <a:t>交换机：末端首脑</a:t>
            </a:r>
            <a:endParaRPr lang="en-US" altLang="zh-CN" dirty="0"/>
          </a:p>
        </p:txBody>
      </p:sp>
      <p:sp>
        <p:nvSpPr>
          <p:cNvPr id="4" name="灯片编号占位符 3"/>
          <p:cNvSpPr>
            <a:spLocks noGrp="1"/>
          </p:cNvSpPr>
          <p:nvPr>
            <p:ph type="sldNum" sz="quarter" idx="5"/>
          </p:nvPr>
        </p:nvSpPr>
        <p:spPr/>
        <p:txBody>
          <a:bodyPr/>
          <a:lstStyle/>
          <a:p>
            <a:fld id="{60132800-FE64-4159-8F62-EF1F0A4E3E25}" type="slidenum">
              <a:rPr lang="zh-CN" altLang="en-US" smtClean="0"/>
              <a:t>15</a:t>
            </a:fld>
            <a:endParaRPr lang="zh-CN" altLang="en-US"/>
          </a:p>
        </p:txBody>
      </p:sp>
    </p:spTree>
    <p:extLst>
      <p:ext uri="{BB962C8B-B14F-4D97-AF65-F5344CB8AC3E}">
        <p14:creationId xmlns:p14="http://schemas.microsoft.com/office/powerpoint/2010/main" val="1129302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占比较大、规模较大、毛利较高，电相关芯片，</a:t>
            </a:r>
            <a:r>
              <a:rPr lang="en-US" altLang="zh-CN" dirty="0"/>
              <a:t>EIC</a:t>
            </a:r>
            <a:r>
              <a:rPr lang="zh-CN" altLang="en-US" dirty="0"/>
              <a:t>、</a:t>
            </a:r>
            <a:r>
              <a:rPr lang="en-US" altLang="zh-CN" dirty="0"/>
              <a:t>Switch ASIC</a:t>
            </a:r>
            <a:r>
              <a:rPr lang="zh-CN" altLang="en-US" dirty="0"/>
              <a:t>，但增速低，偏向于低价渗透</a:t>
            </a:r>
            <a:r>
              <a:rPr lang="en-US" altLang="zh-CN" dirty="0"/>
              <a:t>=&gt;</a:t>
            </a:r>
            <a:r>
              <a:rPr lang="zh-CN" altLang="en-US" dirty="0"/>
              <a:t>起量逻辑</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60132800-FE64-4159-8F62-EF1F0A4E3E25}" type="slidenum">
              <a:rPr lang="zh-CN" altLang="en-US" smtClean="0"/>
              <a:t>16</a:t>
            </a:fld>
            <a:endParaRPr lang="zh-CN" altLang="en-US"/>
          </a:p>
        </p:txBody>
      </p:sp>
    </p:spTree>
    <p:extLst>
      <p:ext uri="{BB962C8B-B14F-4D97-AF65-F5344CB8AC3E}">
        <p14:creationId xmlns:p14="http://schemas.microsoft.com/office/powerpoint/2010/main" val="7347447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283AB-BA7C-DD8C-C418-E95DBC3488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570EFF-4685-F733-FC4D-715EFE659C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7D006D-3A81-EE25-94C2-12CC7BC303D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4761D6F-24C1-86CE-7D65-53B8CB893B1E}"/>
              </a:ext>
            </a:extLst>
          </p:cNvPr>
          <p:cNvSpPr>
            <a:spLocks noGrp="1"/>
          </p:cNvSpPr>
          <p:nvPr>
            <p:ph type="sldNum" sz="quarter" idx="5"/>
          </p:nvPr>
        </p:nvSpPr>
        <p:spPr/>
        <p:txBody>
          <a:bodyPr/>
          <a:lstStyle/>
          <a:p>
            <a:fld id="{60132800-FE64-4159-8F62-EF1F0A4E3E25}" type="slidenum">
              <a:rPr lang="zh-CN" altLang="en-US" smtClean="0"/>
              <a:t>18</a:t>
            </a:fld>
            <a:endParaRPr lang="zh-CN" altLang="en-US"/>
          </a:p>
        </p:txBody>
      </p:sp>
    </p:spTree>
    <p:extLst>
      <p:ext uri="{BB962C8B-B14F-4D97-AF65-F5344CB8AC3E}">
        <p14:creationId xmlns:p14="http://schemas.microsoft.com/office/powerpoint/2010/main" val="2759690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55E8D-9D4C-B576-89E1-6C6D0F80C1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557838-0F90-27A6-BD9D-61F9591D34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306591-1F35-34AE-45DB-6C520A3626D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EE2D8B9-0FEE-414F-4D40-AA9E2F14DA7C}"/>
              </a:ext>
            </a:extLst>
          </p:cNvPr>
          <p:cNvSpPr>
            <a:spLocks noGrp="1"/>
          </p:cNvSpPr>
          <p:nvPr>
            <p:ph type="sldNum" sz="quarter" idx="5"/>
          </p:nvPr>
        </p:nvSpPr>
        <p:spPr/>
        <p:txBody>
          <a:bodyPr/>
          <a:lstStyle/>
          <a:p>
            <a:fld id="{60132800-FE64-4159-8F62-EF1F0A4E3E25}" type="slidenum">
              <a:rPr lang="zh-CN" altLang="en-US" smtClean="0"/>
              <a:t>20</a:t>
            </a:fld>
            <a:endParaRPr lang="zh-CN" altLang="en-US"/>
          </a:p>
        </p:txBody>
      </p:sp>
    </p:spTree>
    <p:extLst>
      <p:ext uri="{BB962C8B-B14F-4D97-AF65-F5344CB8AC3E}">
        <p14:creationId xmlns:p14="http://schemas.microsoft.com/office/powerpoint/2010/main" val="2985388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3C1FC-4102-E753-14C2-54FFD6BC57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342C2F-790F-9301-79D4-9BA499B15D5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FD8636-4C9C-BD65-3F2F-F726DCD9DEF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2C7AAAC-AEF8-A4D5-4D00-2D3DF7B0FF99}"/>
              </a:ext>
            </a:extLst>
          </p:cNvPr>
          <p:cNvSpPr>
            <a:spLocks noGrp="1"/>
          </p:cNvSpPr>
          <p:nvPr>
            <p:ph type="sldNum" sz="quarter" idx="5"/>
          </p:nvPr>
        </p:nvSpPr>
        <p:spPr/>
        <p:txBody>
          <a:bodyPr/>
          <a:lstStyle/>
          <a:p>
            <a:fld id="{60132800-FE64-4159-8F62-EF1F0A4E3E25}" type="slidenum">
              <a:rPr lang="zh-CN" altLang="en-US" smtClean="0"/>
              <a:t>21</a:t>
            </a:fld>
            <a:endParaRPr lang="zh-CN" altLang="en-US"/>
          </a:p>
        </p:txBody>
      </p:sp>
    </p:spTree>
    <p:extLst>
      <p:ext uri="{BB962C8B-B14F-4D97-AF65-F5344CB8AC3E}">
        <p14:creationId xmlns:p14="http://schemas.microsoft.com/office/powerpoint/2010/main" val="5858906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5188F-0C1B-9BB9-B624-B8CEE13CF0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D10F4C-27ED-860C-C110-B7EE030448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BE31EE-32EA-8555-6100-0B4F5670EAC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6595747-82F0-E094-AEBD-AE7CD957900C}"/>
              </a:ext>
            </a:extLst>
          </p:cNvPr>
          <p:cNvSpPr>
            <a:spLocks noGrp="1"/>
          </p:cNvSpPr>
          <p:nvPr>
            <p:ph type="sldNum" sz="quarter" idx="5"/>
          </p:nvPr>
        </p:nvSpPr>
        <p:spPr/>
        <p:txBody>
          <a:bodyPr/>
          <a:lstStyle/>
          <a:p>
            <a:fld id="{60132800-FE64-4159-8F62-EF1F0A4E3E25}" type="slidenum">
              <a:rPr lang="zh-CN" altLang="en-US" smtClean="0"/>
              <a:t>22</a:t>
            </a:fld>
            <a:endParaRPr lang="zh-CN" altLang="en-US"/>
          </a:p>
        </p:txBody>
      </p:sp>
    </p:spTree>
    <p:extLst>
      <p:ext uri="{BB962C8B-B14F-4D97-AF65-F5344CB8AC3E}">
        <p14:creationId xmlns:p14="http://schemas.microsoft.com/office/powerpoint/2010/main" val="2326315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0132800-FE64-4159-8F62-EF1F0A4E3E25}" type="slidenum">
              <a:rPr lang="zh-CN" altLang="en-US" smtClean="0"/>
              <a:t>23</a:t>
            </a:fld>
            <a:endParaRPr lang="zh-CN" altLang="en-US"/>
          </a:p>
        </p:txBody>
      </p:sp>
    </p:spTree>
    <p:extLst>
      <p:ext uri="{BB962C8B-B14F-4D97-AF65-F5344CB8AC3E}">
        <p14:creationId xmlns:p14="http://schemas.microsoft.com/office/powerpoint/2010/main" val="15516449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85DC4-9F71-7029-88C9-5231930CFF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A44506-1A1E-4CD4-7D0C-26A26BE272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F59C66-A481-15B0-C4B1-7F35E9C9B2F1}"/>
              </a:ext>
            </a:extLst>
          </p:cNvPr>
          <p:cNvSpPr>
            <a:spLocks noGrp="1"/>
          </p:cNvSpPr>
          <p:nvPr>
            <p:ph type="body" idx="1"/>
          </p:nvPr>
        </p:nvSpPr>
        <p:spPr/>
        <p:txBody>
          <a:bodyPr/>
          <a:lstStyle/>
          <a:p>
            <a:r>
              <a:rPr lang="en-US" altLang="zh-CN" dirty="0"/>
              <a:t>1. DS</a:t>
            </a:r>
            <a:endParaRPr lang="zh-CN" altLang="en-US" dirty="0"/>
          </a:p>
        </p:txBody>
      </p:sp>
      <p:sp>
        <p:nvSpPr>
          <p:cNvPr id="4" name="灯片编号占位符 3">
            <a:extLst>
              <a:ext uri="{FF2B5EF4-FFF2-40B4-BE49-F238E27FC236}">
                <a16:creationId xmlns:a16="http://schemas.microsoft.com/office/drawing/2014/main" id="{7050F25C-6548-447D-772B-4FC52E0DD580}"/>
              </a:ext>
            </a:extLst>
          </p:cNvPr>
          <p:cNvSpPr>
            <a:spLocks noGrp="1"/>
          </p:cNvSpPr>
          <p:nvPr>
            <p:ph type="sldNum" sz="quarter" idx="5"/>
          </p:nvPr>
        </p:nvSpPr>
        <p:spPr/>
        <p:txBody>
          <a:bodyPr/>
          <a:lstStyle/>
          <a:p>
            <a:fld id="{60132800-FE64-4159-8F62-EF1F0A4E3E25}" type="slidenum">
              <a:rPr lang="zh-CN" altLang="en-US" smtClean="0"/>
              <a:t>25</a:t>
            </a:fld>
            <a:endParaRPr lang="zh-CN" altLang="en-US"/>
          </a:p>
        </p:txBody>
      </p:sp>
    </p:spTree>
    <p:extLst>
      <p:ext uri="{BB962C8B-B14F-4D97-AF65-F5344CB8AC3E}">
        <p14:creationId xmlns:p14="http://schemas.microsoft.com/office/powerpoint/2010/main" val="7629351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9D08B-C1F5-1A4F-FC1B-9B287A1DDC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66261A-3948-235F-00D8-3D6FADA67B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A90EAB-BB90-686A-8731-24D274DA5D64}"/>
              </a:ext>
            </a:extLst>
          </p:cNvPr>
          <p:cNvSpPr>
            <a:spLocks noGrp="1"/>
          </p:cNvSpPr>
          <p:nvPr>
            <p:ph type="body" idx="1"/>
          </p:nvPr>
        </p:nvSpPr>
        <p:spPr/>
        <p:txBody>
          <a:bodyPr/>
          <a:lstStyle/>
          <a:p>
            <a:r>
              <a:rPr lang="en-US" altLang="zh-CN" dirty="0"/>
              <a:t>1. DS</a:t>
            </a:r>
            <a:endParaRPr lang="zh-CN" altLang="en-US" dirty="0"/>
          </a:p>
        </p:txBody>
      </p:sp>
      <p:sp>
        <p:nvSpPr>
          <p:cNvPr id="4" name="灯片编号占位符 3">
            <a:extLst>
              <a:ext uri="{FF2B5EF4-FFF2-40B4-BE49-F238E27FC236}">
                <a16:creationId xmlns:a16="http://schemas.microsoft.com/office/drawing/2014/main" id="{77F7A6D1-4A5B-D883-24EC-16BA776F82C0}"/>
              </a:ext>
            </a:extLst>
          </p:cNvPr>
          <p:cNvSpPr>
            <a:spLocks noGrp="1"/>
          </p:cNvSpPr>
          <p:nvPr>
            <p:ph type="sldNum" sz="quarter" idx="5"/>
          </p:nvPr>
        </p:nvSpPr>
        <p:spPr/>
        <p:txBody>
          <a:bodyPr/>
          <a:lstStyle/>
          <a:p>
            <a:fld id="{60132800-FE64-4159-8F62-EF1F0A4E3E25}" type="slidenum">
              <a:rPr lang="zh-CN" altLang="en-US" smtClean="0"/>
              <a:t>26</a:t>
            </a:fld>
            <a:endParaRPr lang="zh-CN" altLang="en-US"/>
          </a:p>
        </p:txBody>
      </p:sp>
    </p:spTree>
    <p:extLst>
      <p:ext uri="{BB962C8B-B14F-4D97-AF65-F5344CB8AC3E}">
        <p14:creationId xmlns:p14="http://schemas.microsoft.com/office/powerpoint/2010/main" val="3754045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92A03-0AE5-E8B6-B44E-2ED060F221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89D116-0090-7692-A808-11EAA5B80C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900BBC0-5C0B-D40A-32B6-9FC660E20030}"/>
              </a:ext>
            </a:extLst>
          </p:cNvPr>
          <p:cNvSpPr>
            <a:spLocks noGrp="1"/>
          </p:cNvSpPr>
          <p:nvPr>
            <p:ph type="body" idx="1"/>
          </p:nvPr>
        </p:nvSpPr>
        <p:spPr/>
        <p:txBody>
          <a:bodyPr/>
          <a:lstStyle/>
          <a:p>
            <a:pPr marL="0" indent="0">
              <a:buNone/>
            </a:pPr>
            <a:endParaRPr lang="zh-CN" altLang="en-US" dirty="0"/>
          </a:p>
        </p:txBody>
      </p:sp>
      <p:sp>
        <p:nvSpPr>
          <p:cNvPr id="4" name="灯片编号占位符 3">
            <a:extLst>
              <a:ext uri="{FF2B5EF4-FFF2-40B4-BE49-F238E27FC236}">
                <a16:creationId xmlns:a16="http://schemas.microsoft.com/office/drawing/2014/main" id="{C587399D-03AA-ACD3-94CB-C584E9D9E75E}"/>
              </a:ext>
            </a:extLst>
          </p:cNvPr>
          <p:cNvSpPr>
            <a:spLocks noGrp="1"/>
          </p:cNvSpPr>
          <p:nvPr>
            <p:ph type="sldNum" sz="quarter" idx="5"/>
          </p:nvPr>
        </p:nvSpPr>
        <p:spPr/>
        <p:txBody>
          <a:bodyPr/>
          <a:lstStyle/>
          <a:p>
            <a:fld id="{60132800-FE64-4159-8F62-EF1F0A4E3E25}" type="slidenum">
              <a:rPr lang="zh-CN" altLang="en-US" smtClean="0"/>
              <a:t>27</a:t>
            </a:fld>
            <a:endParaRPr lang="zh-CN" altLang="en-US"/>
          </a:p>
        </p:txBody>
      </p:sp>
    </p:spTree>
    <p:extLst>
      <p:ext uri="{BB962C8B-B14F-4D97-AF65-F5344CB8AC3E}">
        <p14:creationId xmlns:p14="http://schemas.microsoft.com/office/powerpoint/2010/main" val="22069715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B86A8-7591-8406-6C23-BB55AEFA2C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948E406-13BB-E2AD-64DB-7C66E717C0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623573-22AB-BC5E-EE2C-B727BDAF4B0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2C74687-5F85-8C3C-2C93-DC0ABEAFED5D}"/>
              </a:ext>
            </a:extLst>
          </p:cNvPr>
          <p:cNvSpPr>
            <a:spLocks noGrp="1"/>
          </p:cNvSpPr>
          <p:nvPr>
            <p:ph type="sldNum" sz="quarter" idx="5"/>
          </p:nvPr>
        </p:nvSpPr>
        <p:spPr/>
        <p:txBody>
          <a:bodyPr/>
          <a:lstStyle/>
          <a:p>
            <a:fld id="{60132800-FE64-4159-8F62-EF1F0A4E3E25}" type="slidenum">
              <a:rPr lang="zh-CN" altLang="en-US" smtClean="0"/>
              <a:t>28</a:t>
            </a:fld>
            <a:endParaRPr lang="zh-CN" altLang="en-US"/>
          </a:p>
        </p:txBody>
      </p:sp>
    </p:spTree>
    <p:extLst>
      <p:ext uri="{BB962C8B-B14F-4D97-AF65-F5344CB8AC3E}">
        <p14:creationId xmlns:p14="http://schemas.microsoft.com/office/powerpoint/2010/main" val="13704058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7.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1_Titl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2" name="Object 6" hidden="1"/>
          <p:cNvPicPr/>
          <p:nvPr/>
        </p:nvPicPr>
        <p:blipFill>
          <a:blip r:embed="rId3"/>
          <a:stretch>
            <a:fillRect/>
          </a:stretch>
        </p:blipFill>
        <p:spPr>
          <a:xfrm>
            <a:off x="1588" y="1588"/>
            <a:ext cx="1588" cy="1588"/>
          </a:xfrm>
          <a:prstGeom prst="rect">
            <a:avLst/>
          </a:prstGeom>
        </p:spPr>
      </p:pic>
      <p:sp>
        <p:nvSpPr>
          <p:cNvPr id="3" name="Rectangle 1" hidden="1"/>
          <p:cNvSpPr/>
          <p:nvPr userDrawn="1"/>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a:spcBef>
                <a:spcPts val="300"/>
              </a:spcBef>
              <a:spcAft>
                <a:spcPts val="300"/>
              </a:spcAft>
            </a:pPr>
            <a:endParaRPr lang="en-US" sz="4400" b="1" i="0" baseline="0" dirty="0">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4" name="Documenttype"/>
          <p:cNvSpPr>
            <a:spLocks noGrp="1"/>
          </p:cNvSpPr>
          <p:nvPr>
            <p:ph type="body" sz="quarter" idx="13" hasCustomPrompt="1"/>
          </p:nvPr>
        </p:nvSpPr>
        <p:spPr bwMode="ltGray">
          <a:xfrm>
            <a:off x="550801" y="4881475"/>
            <a:ext cx="7736926" cy="215444"/>
          </a:xfrm>
          <a:prstGeom prst="rect">
            <a:avLst/>
          </a:prstGeom>
          <a:noFill/>
        </p:spPr>
        <p:txBody>
          <a:bodyPr vert="horz" wrap="square" lIns="0" tIns="0" rIns="0" bIns="0" rtlCol="0" anchor="t" anchorCtr="0">
            <a:spAutoFit/>
          </a:bodyPr>
          <a:lstStyle>
            <a:lvl1pPr>
              <a:defRPr lang="en-US" sz="1400" dirty="0">
                <a:solidFill>
                  <a:schemeClr val="tx2"/>
                </a:solidFill>
                <a:latin typeface="+mj-lt"/>
                <a:ea typeface="+mj-ea"/>
                <a:sym typeface="微软雅黑" panose="020B0503020204020204" pitchFamily="34" charset="-122"/>
              </a:defRPr>
            </a:lvl1pPr>
          </a:lstStyle>
          <a:p>
            <a:pPr lvl="0">
              <a:buNone/>
            </a:pPr>
            <a:r>
              <a:rPr lang="en-US" dirty="0"/>
              <a:t>Edit date or title/role</a:t>
            </a:r>
            <a:endParaRPr/>
          </a:p>
        </p:txBody>
      </p:sp>
      <p:sp>
        <p:nvSpPr>
          <p:cNvPr id="5" name="Subtitle"/>
          <p:cNvSpPr>
            <a:spLocks noGrp="1"/>
          </p:cNvSpPr>
          <p:nvPr>
            <p:ph type="subTitle" idx="1"/>
          </p:nvPr>
        </p:nvSpPr>
        <p:spPr bwMode="ltGray">
          <a:xfrm>
            <a:off x="551942" y="4170626"/>
            <a:ext cx="7736926" cy="307777"/>
          </a:xfrm>
          <a:prstGeom prst="rect">
            <a:avLst/>
          </a:prstGeom>
          <a:noFill/>
        </p:spPr>
        <p:txBody>
          <a:bodyPr vert="horz" wrap="square" lIns="0" tIns="0" rIns="0" bIns="0" rtlCol="0" anchor="t" anchorCtr="0">
            <a:spAutoFit/>
          </a:bodyPr>
          <a:lstStyle>
            <a:lvl1pPr>
              <a:defRPr lang="en-US" sz="2000" dirty="0">
                <a:solidFill>
                  <a:schemeClr val="tx2"/>
                </a:solidFill>
                <a:latin typeface="+mj-lt"/>
                <a:ea typeface="+mj-ea"/>
                <a:sym typeface="微软雅黑" panose="020B0503020204020204" pitchFamily="34" charset="-122"/>
              </a:defRPr>
            </a:lvl1pPr>
          </a:lstStyle>
          <a:p>
            <a:pPr lvl="0">
              <a:buNone/>
            </a:pPr>
            <a:r>
              <a:rPr lang="en-US"/>
              <a:t>Click to edit Master subtitle style</a:t>
            </a:r>
            <a:endParaRPr lang="en-US" dirty="0"/>
          </a:p>
        </p:txBody>
      </p:sp>
      <p:sp>
        <p:nvSpPr>
          <p:cNvPr id="6" name="Title"/>
          <p:cNvSpPr>
            <a:spLocks noGrp="1"/>
          </p:cNvSpPr>
          <p:nvPr>
            <p:ph type="title"/>
          </p:nvPr>
        </p:nvSpPr>
        <p:spPr bwMode="ltGray">
          <a:xfrm>
            <a:off x="551942" y="3090446"/>
            <a:ext cx="7736926" cy="677108"/>
          </a:xfrm>
          <a:prstGeom prst="rect">
            <a:avLst/>
          </a:prstGeom>
          <a:noFill/>
        </p:spPr>
        <p:txBody>
          <a:bodyPr vert="horz" wrap="square" lIns="0" tIns="0" rIns="0" bIns="0" rtlCol="0" anchor="b" anchorCtr="0">
            <a:spAutoFit/>
          </a:bodyPr>
          <a:lstStyle>
            <a:lvl1pPr>
              <a:defRPr lang="en-US" sz="4400" dirty="0">
                <a:solidFill>
                  <a:schemeClr val="tx2"/>
                </a:solidFill>
                <a:latin typeface="+mj-lt"/>
                <a:ea typeface="+mj-ea"/>
                <a:sym typeface="微软雅黑" panose="020B0503020204020204" pitchFamily="34" charset="-122"/>
              </a:defRPr>
            </a:lvl1pPr>
          </a:lstStyle>
          <a:p>
            <a:pPr lvl="0"/>
            <a:r>
              <a:rPr lang="en-US"/>
              <a:t>Click to edit Master title style</a:t>
            </a:r>
            <a:endParaRPr lang="en-US" dirty="0"/>
          </a:p>
        </p:txBody>
      </p:sp>
      <p:pic>
        <p:nvPicPr>
          <p:cNvPr id="7" name="图片 11" descr="03_Tencent_English logo_Reverse type"/>
          <p:cNvPicPr>
            <a:picLocks noChangeAspect="1"/>
          </p:cNvPicPr>
          <p:nvPr userDrawn="1"/>
        </p:nvPicPr>
        <p:blipFill>
          <a:blip r:embed="rId4"/>
          <a:stretch>
            <a:fillRect/>
          </a:stretch>
        </p:blipFill>
        <p:spPr>
          <a:xfrm>
            <a:off x="10466705" y="31750"/>
            <a:ext cx="1647825" cy="677545"/>
          </a:xfrm>
          <a:prstGeom prst="rect">
            <a:avLst/>
          </a:prstGeom>
        </p:spPr>
      </p:pic>
      <p:sp>
        <p:nvSpPr>
          <p:cNvPr id="8" name="Slide Number"/>
          <p:cNvSpPr>
            <a:spLocks noChangeArrowheads="1"/>
          </p:cNvSpPr>
          <p:nvPr userDrawn="1"/>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870" fontAlgn="auto">
              <a:spcBef>
                <a:spcPts val="0"/>
              </a:spcBef>
              <a:spcAft>
                <a:spcPts val="0"/>
              </a:spcAft>
              <a:defRPr/>
            </a:pPr>
            <a:fld id="{4ABDCABE-3F10-B64C-92F1-862014417034}" type="slidenum">
              <a:rPr lang="en-US" sz="900" b="0" smtClean="0">
                <a:solidFill>
                  <a:schemeClr val="tx1"/>
                </a:solidFill>
                <a:latin typeface="+mj-lt"/>
                <a:ea typeface="+mj-ea"/>
                <a:cs typeface="Arial" panose="020B0604020202020204" pitchFamily="34" charset="0"/>
                <a:sym typeface="微软雅黑" panose="020B0503020204020204" pitchFamily="34" charset="-122"/>
              </a:rPr>
              <a:t>‹#›</a:t>
            </a:fld>
            <a:endParaRPr lang="en-US" sz="900" b="0" dirty="0">
              <a:solidFill>
                <a:schemeClr val="tx1"/>
              </a:solidFill>
              <a:latin typeface="+mj-lt"/>
              <a:ea typeface="+mj-ea"/>
              <a:cs typeface="Arial" panose="020B0604020202020204" pitchFamily="34" charset="0"/>
              <a:sym typeface="微软雅黑" panose="020B0503020204020204" pitchFamily="34" charset="-122"/>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Pr>
        <a:solidFill>
          <a:schemeClr val="bg1"/>
        </a:solidFill>
        <a:effectLst/>
      </p:bgPr>
    </p:bg>
    <p:spTree>
      <p:nvGrpSpPr>
        <p:cNvPr id="1" name=""/>
        <p:cNvGrpSpPr/>
        <p:nvPr/>
      </p:nvGrpSpPr>
      <p:grpSpPr>
        <a:xfrm>
          <a:off x="0" y="0"/>
          <a:ext cx="0" cy="0"/>
          <a:chOff x="0" y="0"/>
          <a:chExt cx="0" cy="0"/>
        </a:xfrm>
      </p:grpSpPr>
      <p:pic>
        <p:nvPicPr>
          <p:cNvPr id="10" name="Object 6" hidden="1"/>
          <p:cNvPicPr/>
          <p:nvPr/>
        </p:nvPicPr>
        <p:blipFill>
          <a:blip r:embed="rId2"/>
          <a:stretch>
            <a:fillRect/>
          </a:stretch>
        </p:blipFill>
        <p:spPr>
          <a:xfrm>
            <a:off x="1588" y="1588"/>
            <a:ext cx="1588" cy="1588"/>
          </a:xfrm>
          <a:prstGeom prst="rect">
            <a:avLst/>
          </a:prstGeom>
        </p:spPr>
      </p:pic>
      <p:sp>
        <p:nvSpPr>
          <p:cNvPr id="11" name="Rectangle 1" hidden="1"/>
          <p:cNvSpPr/>
          <p:nvPr userDrawn="1"/>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a:spcBef>
                <a:spcPts val="300"/>
              </a:spcBef>
              <a:spcAft>
                <a:spcPts val="300"/>
              </a:spcAft>
            </a:pPr>
            <a:endParaRPr lang="en-US" sz="2500" b="1" i="0" baseline="0" dirty="0">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12" name="2. Slide Title"/>
          <p:cNvSpPr>
            <a:spLocks noGrp="1"/>
          </p:cNvSpPr>
          <p:nvPr>
            <p:ph type="title"/>
          </p:nvPr>
        </p:nvSpPr>
        <p:spPr>
          <a:xfrm>
            <a:off x="158750" y="172212"/>
            <a:ext cx="9677146" cy="731520"/>
          </a:xfrm>
        </p:spPr>
        <p:txBody>
          <a:bodyPr vert="horz" wrap="square" lIns="0" tIns="0" rIns="0" bIns="0" rtlCol="0" anchor="ctr" anchorCtr="0">
            <a:noAutofit/>
          </a:bodyPr>
          <a:lstStyle>
            <a:lvl1pPr>
              <a:defRPr lang="en-US" dirty="0">
                <a:solidFill>
                  <a:schemeClr val="tx1"/>
                </a:solidFill>
                <a:latin typeface="+mj-lt"/>
                <a:ea typeface="+mj-ea"/>
                <a:sym typeface="微软雅黑" panose="020B0503020204020204" pitchFamily="34" charset="-122"/>
              </a:defRPr>
            </a:lvl1pPr>
          </a:lstStyle>
          <a:p>
            <a:pPr lvl="0"/>
            <a:r>
              <a:rPr lang="en-US" dirty="0"/>
              <a:t>Click to edit Master title style</a:t>
            </a:r>
            <a:endParaRPr/>
          </a:p>
        </p:txBody>
      </p:sp>
      <p:sp>
        <p:nvSpPr>
          <p:cNvPr id="13" name="3. Subtitle"/>
          <p:cNvSpPr>
            <a:spLocks noGrp="1"/>
          </p:cNvSpPr>
          <p:nvPr>
            <p:ph type="subTitle" idx="1"/>
          </p:nvPr>
        </p:nvSpPr>
        <p:spPr>
          <a:xfrm>
            <a:off x="158750" y="916604"/>
            <a:ext cx="9677146" cy="276999"/>
          </a:xfrm>
          <a:prstGeom prst="rect">
            <a:avLst/>
          </a:prstGeom>
        </p:spPr>
        <p:txBody>
          <a:bodyPr vert="horz" wrap="square" lIns="0" tIns="0" rIns="0" bIns="0" rtlCol="0">
            <a:spAutoFit/>
          </a:bodyPr>
          <a:lstStyle>
            <a:lvl1pPr>
              <a:defRPr lang="en-US" sz="1800" b="0" dirty="0">
                <a:latin typeface="+mj-lt"/>
                <a:ea typeface="+mj-ea"/>
                <a:sym typeface="微软雅黑" panose="020B0503020204020204" pitchFamily="34" charset="-122"/>
              </a:defRPr>
            </a:lvl1pPr>
          </a:lstStyle>
          <a:p>
            <a:pPr lvl="0">
              <a:buNone/>
            </a:pPr>
            <a:r>
              <a:rPr lang="en-US" dirty="0"/>
              <a:t>Click to edit Master subtitle style</a:t>
            </a:r>
            <a:endParaRPr/>
          </a:p>
        </p:txBody>
      </p:sp>
      <p:sp>
        <p:nvSpPr>
          <p:cNvPr id="14" name="Slide Number"/>
          <p:cNvSpPr>
            <a:spLocks noChangeArrowheads="1"/>
          </p:cNvSpPr>
          <p:nvPr userDrawn="1"/>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870" fontAlgn="auto">
              <a:spcBef>
                <a:spcPts val="0"/>
              </a:spcBef>
              <a:spcAft>
                <a:spcPts val="0"/>
              </a:spcAft>
              <a:defRPr/>
            </a:pPr>
            <a:fld id="{4ABDCABE-3F10-B64C-92F1-862014417034}" type="slidenum">
              <a:rPr lang="en-US" sz="900" b="0" smtClean="0">
                <a:solidFill>
                  <a:schemeClr val="tx1"/>
                </a:solidFill>
                <a:latin typeface="+mj-lt"/>
                <a:ea typeface="+mj-ea"/>
                <a:cs typeface="Arial" panose="020B0604020202020204" pitchFamily="34" charset="0"/>
                <a:sym typeface="微软雅黑" panose="020B0503020204020204" pitchFamily="34" charset="-122"/>
              </a:rPr>
              <a:t>‹#›</a:t>
            </a:fld>
            <a:endParaRPr lang="en-US" sz="900" b="0" dirty="0">
              <a:solidFill>
                <a:schemeClr val="tx1"/>
              </a:solidFill>
              <a:latin typeface="+mj-lt"/>
              <a:ea typeface="+mj-ea"/>
              <a:cs typeface="Arial" panose="020B0604020202020204" pitchFamily="34" charset="0"/>
              <a:sym typeface="微软雅黑" panose="020B0503020204020204" pitchFamily="34" charset="-122"/>
            </a:endParaRPr>
          </a:p>
        </p:txBody>
      </p:sp>
      <p:sp>
        <p:nvSpPr>
          <p:cNvPr id="15" name="5. Source" hidden="1"/>
          <p:cNvSpPr txBox="1"/>
          <p:nvPr userDrawn="1"/>
        </p:nvSpPr>
        <p:spPr>
          <a:xfrm>
            <a:off x="554735" y="6498754"/>
            <a:ext cx="7277861" cy="123111"/>
          </a:xfrm>
          <a:prstGeom prst="rect">
            <a:avLst/>
          </a:prstGeom>
          <a:noFill/>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6255" indent="-287655">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880">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dirty="0">
                <a:latin typeface="微软雅黑" panose="020B0503020204020204" pitchFamily="34" charset="-122"/>
                <a:ea typeface="微软雅黑" panose="020B0503020204020204" pitchFamily="34" charset="-122"/>
                <a:sym typeface="微软雅黑" panose="020B0503020204020204" pitchFamily="34" charset="-122"/>
              </a:rPr>
              <a:t>Source: …</a:t>
            </a:r>
            <a:endParaRPr/>
          </a:p>
        </p:txBody>
      </p:sp>
      <p:sp>
        <p:nvSpPr>
          <p:cNvPr id="16" name="Text Placeholder 4"/>
          <p:cNvSpPr>
            <a:spLocks noGrp="1"/>
          </p:cNvSpPr>
          <p:nvPr>
            <p:ph idx="10"/>
          </p:nvPr>
        </p:nvSpPr>
        <p:spPr>
          <a:xfrm>
            <a:off x="158750" y="2170800"/>
            <a:ext cx="2880641" cy="1384995"/>
          </a:xfrm>
          <a:prstGeom prst="rect">
            <a:avLst/>
          </a:prstGeom>
        </p:spPr>
        <p:txBody>
          <a:bodyPr vert="horz" wrap="square" lIns="0" tIns="0" rIns="0" bIns="0" rtlCol="0">
            <a:spAutoFit/>
          </a:bodyPr>
          <a:lstStyle/>
          <a:p>
            <a:pPr lvl="0"/>
            <a:r>
              <a:rPr lang="en-US" dirty="0"/>
              <a:t>Click to edit Master text styles</a:t>
            </a:r>
            <a:endParaRPr/>
          </a:p>
          <a:p>
            <a:pPr lvl="1"/>
            <a:r>
              <a:rPr lang="en-US" dirty="0"/>
              <a:t>Second level</a:t>
            </a:r>
            <a:endParaRPr/>
          </a:p>
          <a:p>
            <a:pPr lvl="2"/>
            <a:r>
              <a:rPr lang="en-US" dirty="0"/>
              <a:t>Third level</a:t>
            </a:r>
            <a:endParaRPr/>
          </a:p>
          <a:p>
            <a:pPr lvl="3"/>
            <a:r>
              <a:rPr lang="en-US" dirty="0"/>
              <a:t>Fourth level</a:t>
            </a:r>
            <a:endParaRPr/>
          </a:p>
          <a:p>
            <a:pPr lvl="4"/>
            <a:r>
              <a:rPr lang="en-US" dirty="0"/>
              <a:t>Fifth level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1/4">
    <p:spTree>
      <p:nvGrpSpPr>
        <p:cNvPr id="1" name=""/>
        <p:cNvGrpSpPr/>
        <p:nvPr/>
      </p:nvGrpSpPr>
      <p:grpSpPr>
        <a:xfrm>
          <a:off x="0" y="0"/>
          <a:ext cx="0" cy="0"/>
          <a:chOff x="0" y="0"/>
          <a:chExt cx="0" cy="0"/>
        </a:xfrm>
      </p:grpSpPr>
      <p:pic>
        <p:nvPicPr>
          <p:cNvPr id="47" name="Object 6" hidden="1"/>
          <p:cNvPicPr/>
          <p:nvPr/>
        </p:nvPicPr>
        <p:blipFill>
          <a:blip r:embed="rId2"/>
          <a:stretch>
            <a:fillRect/>
          </a:stretch>
        </p:blipFill>
        <p:spPr>
          <a:xfrm>
            <a:off x="1588" y="1588"/>
            <a:ext cx="1588" cy="1588"/>
          </a:xfrm>
          <a:prstGeom prst="rect">
            <a:avLst/>
          </a:prstGeom>
        </p:spPr>
      </p:pic>
      <p:sp>
        <p:nvSpPr>
          <p:cNvPr id="48" name="Rectangle 1" hidden="1"/>
          <p:cNvSpPr/>
          <p:nvPr userDrawn="1"/>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a:spcBef>
                <a:spcPts val="300"/>
              </a:spcBef>
              <a:spcAft>
                <a:spcPts val="300"/>
              </a:spcAft>
            </a:pPr>
            <a:endParaRPr lang="en-US" sz="2500" b="1" i="0" baseline="0" dirty="0">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49" name="RectangleLight"/>
          <p:cNvSpPr/>
          <p:nvPr userDrawn="1"/>
        </p:nvSpPr>
        <p:spPr bwMode="ltGray">
          <a:xfrm>
            <a:off x="3413760" y="0"/>
            <a:ext cx="8778240" cy="6858000"/>
          </a:xfrm>
          <a:prstGeom prst="rect">
            <a:avLst/>
          </a:prstGeom>
          <a:solidFill>
            <a:srgbClr val="D5E3FF"/>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en-US" dirty="0">
              <a:solidFill>
                <a:srgbClr val="F0F0F0"/>
              </a:solidFill>
              <a:latin typeface="+mj-lt"/>
              <a:ea typeface="+mj-ea"/>
              <a:sym typeface="微软雅黑" panose="020B0503020204020204" pitchFamily="34" charset="-122"/>
            </a:endParaRPr>
          </a:p>
        </p:txBody>
      </p:sp>
      <p:sp>
        <p:nvSpPr>
          <p:cNvPr id="50" name="Slide Number"/>
          <p:cNvSpPr>
            <a:spLocks noChangeArrowheads="1"/>
          </p:cNvSpPr>
          <p:nvPr userDrawn="1"/>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870" fontAlgn="auto">
              <a:spcBef>
                <a:spcPts val="0"/>
              </a:spcBef>
              <a:spcAft>
                <a:spcPts val="0"/>
              </a:spcAft>
              <a:defRPr/>
            </a:pPr>
            <a:fld id="{4ABDCABE-3F10-B64C-92F1-862014417034}" type="slidenum">
              <a:rPr lang="en-US" sz="900" b="0" smtClean="0">
                <a:solidFill>
                  <a:schemeClr val="tx1"/>
                </a:solidFill>
                <a:latin typeface="+mj-lt"/>
                <a:ea typeface="+mj-ea"/>
                <a:cs typeface="Arial" panose="020B0604020202020204" pitchFamily="34" charset="0"/>
                <a:sym typeface="微软雅黑" panose="020B0503020204020204" pitchFamily="34" charset="-122"/>
              </a:rPr>
              <a:t>‹#›</a:t>
            </a:fld>
            <a:endParaRPr lang="en-US" sz="900" b="0" dirty="0">
              <a:solidFill>
                <a:schemeClr val="tx1"/>
              </a:solidFill>
              <a:latin typeface="+mj-lt"/>
              <a:ea typeface="+mj-ea"/>
              <a:cs typeface="Arial" panose="020B0604020202020204" pitchFamily="34" charset="0"/>
              <a:sym typeface="微软雅黑" panose="020B0503020204020204" pitchFamily="34" charset="-122"/>
            </a:endParaRPr>
          </a:p>
        </p:txBody>
      </p:sp>
      <p:sp>
        <p:nvSpPr>
          <p:cNvPr id="51" name="2. Slide Title"/>
          <p:cNvSpPr>
            <a:spLocks noGrp="1"/>
          </p:cNvSpPr>
          <p:nvPr>
            <p:ph type="title"/>
          </p:nvPr>
        </p:nvSpPr>
        <p:spPr>
          <a:xfrm>
            <a:off x="554736" y="2744369"/>
            <a:ext cx="2514600" cy="769441"/>
          </a:xfrm>
        </p:spPr>
        <p:txBody>
          <a:bodyPr vert="horz" wrap="square" lIns="0" tIns="0" rIns="0" bIns="0" rtlCol="0" anchor="b" anchorCtr="0">
            <a:noAutofit/>
          </a:bodyPr>
          <a:lstStyle>
            <a:lvl1pPr>
              <a:defRPr lang="en-US" dirty="0">
                <a:solidFill>
                  <a:schemeClr val="tx1"/>
                </a:solidFill>
                <a:latin typeface="+mj-lt"/>
                <a:ea typeface="+mj-ea"/>
                <a:sym typeface="微软雅黑" panose="020B0503020204020204" pitchFamily="34" charset="-122"/>
              </a:defRPr>
            </a:lvl1pPr>
          </a:lstStyle>
          <a:p>
            <a:pPr lvl="0"/>
            <a:r>
              <a:rPr lang="en-US"/>
              <a:t>Click to edit Master title style</a:t>
            </a:r>
            <a:endParaRPr lang="en-US" dirty="0"/>
          </a:p>
        </p:txBody>
      </p:sp>
      <p:sp>
        <p:nvSpPr>
          <p:cNvPr id="52" name="3. Subtitle"/>
          <p:cNvSpPr>
            <a:spLocks noGrp="1"/>
          </p:cNvSpPr>
          <p:nvPr>
            <p:ph type="subTitle" idx="1"/>
          </p:nvPr>
        </p:nvSpPr>
        <p:spPr>
          <a:xfrm>
            <a:off x="554736" y="3659644"/>
            <a:ext cx="2514600" cy="553998"/>
          </a:xfrm>
          <a:prstGeom prst="rect">
            <a:avLst/>
          </a:prstGeom>
        </p:spPr>
        <p:txBody>
          <a:bodyPr wrap="square">
            <a:spAutoFit/>
          </a:bodyPr>
          <a:lstStyle>
            <a:lvl1pPr marL="0" indent="0" algn="l">
              <a:buNone/>
              <a:defRPr sz="1800" b="0">
                <a:solidFill>
                  <a:schemeClr val="tx1"/>
                </a:solidFill>
                <a:latin typeface="+mj-lt"/>
                <a:ea typeface="+mj-ea"/>
                <a:sym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3" name="5. Source" hidden="1"/>
          <p:cNvSpPr txBox="1"/>
          <p:nvPr userDrawn="1"/>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6255" indent="-287655">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880">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latin typeface="微软雅黑" panose="020B0503020204020204" pitchFamily="34" charset="-122"/>
                <a:ea typeface="微软雅黑" panose="020B0503020204020204" pitchFamily="34" charset="-122"/>
                <a:sym typeface="微软雅黑" panose="020B0503020204020204" pitchFamily="34" charset="-122"/>
              </a:rPr>
              <a:t>Source: …</a:t>
            </a:r>
            <a:endParaRPr/>
          </a:p>
        </p:txBody>
      </p:sp>
      <p:sp>
        <p:nvSpPr>
          <p:cNvPr id="54" name="1. On-page tracker"/>
          <p:cNvSpPr>
            <a:spLocks noGrp="1"/>
          </p:cNvSpPr>
          <p:nvPr>
            <p:ph type="body" sz="quarter" idx="10" hasCustomPrompt="1"/>
          </p:nvPr>
        </p:nvSpPr>
        <p:spPr>
          <a:xfrm>
            <a:off x="554735" y="41597"/>
            <a:ext cx="2514601" cy="123111"/>
          </a:xfrm>
          <a:prstGeom prst="rect">
            <a:avLst/>
          </a:prstGeom>
          <a:ln w="6350">
            <a:noFill/>
            <a:miter lim="800000"/>
          </a:ln>
        </p:spPr>
        <p:txBody>
          <a:bodyPr vert="horz" wrap="square" lIns="0" tIns="0" rIns="0" bIns="0" rtlCol="0">
            <a:spAutoFit/>
          </a:bodyPr>
          <a:lstStyle>
            <a:lvl1pPr>
              <a:defRPr lang="en-US" sz="800" b="0" dirty="0">
                <a:solidFill>
                  <a:schemeClr val="tx1"/>
                </a:solidFill>
                <a:latin typeface="+mj-lt"/>
                <a:ea typeface="+mj-ea"/>
                <a:cs typeface="+mn-cs"/>
                <a:sym typeface="微软雅黑" panose="020B0503020204020204" pitchFamily="34" charset="-122"/>
              </a:defRPr>
            </a:lvl1pPr>
          </a:lstStyle>
          <a:p>
            <a:pPr lvl="0">
              <a:buNone/>
            </a:pPr>
            <a:r>
              <a:rPr lang="en-US" dirty="0"/>
              <a:t>Add tracker</a:t>
            </a:r>
            <a:endParaRPr/>
          </a:p>
        </p:txBody>
      </p:sp>
      <p:pic>
        <p:nvPicPr>
          <p:cNvPr id="55" name="图片 7" descr="03_Tencent_English logo"/>
          <p:cNvPicPr>
            <a:picLocks noChangeAspect="1"/>
          </p:cNvPicPr>
          <p:nvPr userDrawn="1"/>
        </p:nvPicPr>
        <p:blipFill>
          <a:blip r:embed="rId3"/>
          <a:stretch>
            <a:fillRect/>
          </a:stretch>
        </p:blipFill>
        <p:spPr>
          <a:xfrm>
            <a:off x="10466705" y="31750"/>
            <a:ext cx="1636395" cy="6731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1/3">
    <p:spTree>
      <p:nvGrpSpPr>
        <p:cNvPr id="1" name=""/>
        <p:cNvGrpSpPr/>
        <p:nvPr/>
      </p:nvGrpSpPr>
      <p:grpSpPr>
        <a:xfrm>
          <a:off x="0" y="0"/>
          <a:ext cx="0" cy="0"/>
          <a:chOff x="0" y="0"/>
          <a:chExt cx="0" cy="0"/>
        </a:xfrm>
      </p:grpSpPr>
      <p:pic>
        <p:nvPicPr>
          <p:cNvPr id="57" name="Object 2" hidden="1"/>
          <p:cNvPicPr/>
          <p:nvPr/>
        </p:nvPicPr>
        <p:blipFill>
          <a:blip r:embed="rId2"/>
          <a:stretch>
            <a:fillRect/>
          </a:stretch>
        </p:blipFill>
        <p:spPr>
          <a:xfrm>
            <a:off x="1588" y="1588"/>
            <a:ext cx="1588" cy="1588"/>
          </a:xfrm>
          <a:prstGeom prst="rect">
            <a:avLst/>
          </a:prstGeom>
        </p:spPr>
      </p:pic>
      <p:sp>
        <p:nvSpPr>
          <p:cNvPr id="58" name="Rectangle 3" hidden="1"/>
          <p:cNvSpPr/>
          <p:nvPr userDrawn="1"/>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a:spcBef>
                <a:spcPts val="300"/>
              </a:spcBef>
              <a:spcAft>
                <a:spcPts val="300"/>
              </a:spcAft>
            </a:pPr>
            <a:endParaRPr lang="en-US" sz="2500" b="1" i="0" baseline="0" dirty="0">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59" name="RectangleLight"/>
          <p:cNvSpPr/>
          <p:nvPr userDrawn="1"/>
        </p:nvSpPr>
        <p:spPr bwMode="ltGray">
          <a:xfrm>
            <a:off x="4364736" y="0"/>
            <a:ext cx="7827264" cy="6858000"/>
          </a:xfrm>
          <a:prstGeom prst="rect">
            <a:avLst/>
          </a:prstGeom>
          <a:solidFill>
            <a:srgbClr val="D5E3FF"/>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lvl="0" algn="ctr"/>
            <a:endParaRPr lang="en-US" dirty="0">
              <a:solidFill>
                <a:srgbClr val="F0F0F0"/>
              </a:solidFill>
              <a:latin typeface="+mj-lt"/>
              <a:ea typeface="+mj-ea"/>
              <a:sym typeface="微软雅黑" panose="020B0503020204020204" pitchFamily="34" charset="-122"/>
            </a:endParaRPr>
          </a:p>
        </p:txBody>
      </p:sp>
      <p:sp>
        <p:nvSpPr>
          <p:cNvPr id="60" name="Slide Number"/>
          <p:cNvSpPr>
            <a:spLocks noChangeArrowheads="1"/>
          </p:cNvSpPr>
          <p:nvPr userDrawn="1"/>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870" fontAlgn="auto">
              <a:spcBef>
                <a:spcPts val="0"/>
              </a:spcBef>
              <a:spcAft>
                <a:spcPts val="0"/>
              </a:spcAft>
              <a:defRPr/>
            </a:pPr>
            <a:fld id="{4ABDCABE-3F10-B64C-92F1-862014417034}" type="slidenum">
              <a:rPr lang="en-US" sz="900" b="0" smtClean="0">
                <a:solidFill>
                  <a:schemeClr val="tx1"/>
                </a:solidFill>
                <a:latin typeface="+mj-lt"/>
                <a:ea typeface="+mj-ea"/>
                <a:cs typeface="Arial" panose="020B0604020202020204" pitchFamily="34" charset="0"/>
                <a:sym typeface="微软雅黑" panose="020B0503020204020204" pitchFamily="34" charset="-122"/>
              </a:rPr>
              <a:t>‹#›</a:t>
            </a:fld>
            <a:endParaRPr lang="en-US" sz="900" b="0" dirty="0">
              <a:solidFill>
                <a:schemeClr val="tx1"/>
              </a:solidFill>
              <a:latin typeface="+mj-lt"/>
              <a:ea typeface="+mj-ea"/>
              <a:cs typeface="Arial" panose="020B0604020202020204" pitchFamily="34" charset="0"/>
              <a:sym typeface="微软雅黑" panose="020B0503020204020204" pitchFamily="34" charset="-122"/>
            </a:endParaRPr>
          </a:p>
        </p:txBody>
      </p:sp>
      <p:sp>
        <p:nvSpPr>
          <p:cNvPr id="61" name="2. Slide Title"/>
          <p:cNvSpPr>
            <a:spLocks noGrp="1"/>
          </p:cNvSpPr>
          <p:nvPr>
            <p:ph type="title"/>
          </p:nvPr>
        </p:nvSpPr>
        <p:spPr>
          <a:xfrm>
            <a:off x="554736" y="2744369"/>
            <a:ext cx="3465576" cy="769441"/>
          </a:xfrm>
          <a:prstGeom prst="rect">
            <a:avLst/>
          </a:prstGeom>
        </p:spPr>
        <p:txBody>
          <a:bodyPr vert="horz" wrap="square" lIns="0" tIns="0" rIns="0" bIns="0" rtlCol="0" anchor="b" anchorCtr="0">
            <a:noAutofit/>
          </a:bodyPr>
          <a:lstStyle>
            <a:lvl1pPr>
              <a:defRPr lang="en-US" dirty="0">
                <a:solidFill>
                  <a:schemeClr val="tx1"/>
                </a:solidFill>
                <a:latin typeface="+mj-lt"/>
                <a:ea typeface="+mj-ea"/>
                <a:sym typeface="微软雅黑" panose="020B0503020204020204" pitchFamily="34" charset="-122"/>
              </a:defRPr>
            </a:lvl1pPr>
          </a:lstStyle>
          <a:p>
            <a:pPr lvl="0"/>
            <a:r>
              <a:rPr lang="en-US"/>
              <a:t>Click to edit Master title style</a:t>
            </a:r>
            <a:endParaRPr lang="en-US" dirty="0"/>
          </a:p>
        </p:txBody>
      </p:sp>
      <p:sp>
        <p:nvSpPr>
          <p:cNvPr id="62" name="3. Subtitle"/>
          <p:cNvSpPr>
            <a:spLocks noGrp="1"/>
          </p:cNvSpPr>
          <p:nvPr>
            <p:ph type="subTitle" idx="1"/>
          </p:nvPr>
        </p:nvSpPr>
        <p:spPr>
          <a:xfrm>
            <a:off x="554735" y="3659644"/>
            <a:ext cx="3465575" cy="276999"/>
          </a:xfrm>
          <a:prstGeom prst="rect">
            <a:avLst/>
          </a:prstGeom>
        </p:spPr>
        <p:txBody>
          <a:bodyPr wrap="square">
            <a:spAutoFit/>
          </a:bodyPr>
          <a:lstStyle>
            <a:lvl1pPr marL="0" indent="0" algn="l">
              <a:buNone/>
              <a:defRPr sz="1800" b="0">
                <a:solidFill>
                  <a:schemeClr val="tx1"/>
                </a:solidFill>
                <a:latin typeface="+mj-lt"/>
                <a:ea typeface="+mj-ea"/>
                <a:sym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3" name="5. Source" hidden="1"/>
          <p:cNvSpPr txBox="1"/>
          <p:nvPr userDrawn="1"/>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6255" indent="-287655">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880">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latin typeface="微软雅黑" panose="020B0503020204020204" pitchFamily="34" charset="-122"/>
                <a:ea typeface="微软雅黑" panose="020B0503020204020204" pitchFamily="34" charset="-122"/>
                <a:sym typeface="微软雅黑" panose="020B0503020204020204" pitchFamily="34" charset="-122"/>
              </a:rPr>
              <a:t>Source: …</a:t>
            </a:r>
            <a:endParaRPr/>
          </a:p>
        </p:txBody>
      </p:sp>
      <p:sp>
        <p:nvSpPr>
          <p:cNvPr id="64" name="1. On-page tracker"/>
          <p:cNvSpPr>
            <a:spLocks noGrp="1"/>
          </p:cNvSpPr>
          <p:nvPr>
            <p:ph type="body" sz="quarter" idx="10" hasCustomPrompt="1"/>
          </p:nvPr>
        </p:nvSpPr>
        <p:spPr>
          <a:xfrm>
            <a:off x="554735" y="41597"/>
            <a:ext cx="3465577" cy="123111"/>
          </a:xfrm>
          <a:prstGeom prst="rect">
            <a:avLst/>
          </a:prstGeom>
          <a:ln w="6350">
            <a:noFill/>
            <a:miter lim="800000"/>
          </a:ln>
        </p:spPr>
        <p:txBody>
          <a:bodyPr vert="horz" wrap="square" lIns="0" tIns="0" rIns="0" bIns="0" rtlCol="0">
            <a:spAutoFit/>
          </a:bodyPr>
          <a:lstStyle>
            <a:lvl1pPr>
              <a:defRPr lang="en-US" sz="800" b="0" dirty="0">
                <a:solidFill>
                  <a:schemeClr val="tx1"/>
                </a:solidFill>
                <a:latin typeface="+mj-lt"/>
                <a:ea typeface="+mj-ea"/>
                <a:cs typeface="+mn-cs"/>
                <a:sym typeface="微软雅黑" panose="020B0503020204020204" pitchFamily="34" charset="-122"/>
              </a:defRPr>
            </a:lvl1pPr>
          </a:lstStyle>
          <a:p>
            <a:pPr lvl="0">
              <a:buNone/>
            </a:pPr>
            <a:r>
              <a:rPr lang="en-US" dirty="0"/>
              <a:t>Add tracker</a:t>
            </a:r>
            <a:endParaRPr/>
          </a:p>
        </p:txBody>
      </p:sp>
      <p:pic>
        <p:nvPicPr>
          <p:cNvPr id="65" name="图片 7" descr="03_Tencent_English logo"/>
          <p:cNvPicPr>
            <a:picLocks noChangeAspect="1"/>
          </p:cNvPicPr>
          <p:nvPr userDrawn="1"/>
        </p:nvPicPr>
        <p:blipFill>
          <a:blip r:embed="rId3"/>
          <a:stretch>
            <a:fillRect/>
          </a:stretch>
        </p:blipFill>
        <p:spPr>
          <a:xfrm>
            <a:off x="10466705" y="31750"/>
            <a:ext cx="1636395" cy="6731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1/2">
    <p:spTree>
      <p:nvGrpSpPr>
        <p:cNvPr id="1" name=""/>
        <p:cNvGrpSpPr/>
        <p:nvPr/>
      </p:nvGrpSpPr>
      <p:grpSpPr>
        <a:xfrm>
          <a:off x="0" y="0"/>
          <a:ext cx="0" cy="0"/>
          <a:chOff x="0" y="0"/>
          <a:chExt cx="0" cy="0"/>
        </a:xfrm>
      </p:grpSpPr>
      <p:pic>
        <p:nvPicPr>
          <p:cNvPr id="67" name="Object 2" hidden="1"/>
          <p:cNvPicPr/>
          <p:nvPr/>
        </p:nvPicPr>
        <p:blipFill>
          <a:blip r:embed="rId2"/>
          <a:stretch>
            <a:fillRect/>
          </a:stretch>
        </p:blipFill>
        <p:spPr>
          <a:xfrm>
            <a:off x="1588" y="1588"/>
            <a:ext cx="1588" cy="1588"/>
          </a:xfrm>
          <a:prstGeom prst="rect">
            <a:avLst/>
          </a:prstGeom>
        </p:spPr>
      </p:pic>
      <p:sp>
        <p:nvSpPr>
          <p:cNvPr id="68" name="Rectangle 3" hidden="1"/>
          <p:cNvSpPr/>
          <p:nvPr userDrawn="1"/>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a:spcBef>
                <a:spcPts val="300"/>
              </a:spcBef>
              <a:spcAft>
                <a:spcPts val="300"/>
              </a:spcAft>
            </a:pPr>
            <a:endParaRPr lang="en-US" sz="2500" b="1" i="0" baseline="0" dirty="0">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69" name="RectangleLight"/>
          <p:cNvSpPr/>
          <p:nvPr userDrawn="1"/>
        </p:nvSpPr>
        <p:spPr bwMode="ltGray">
          <a:xfrm>
            <a:off x="6092952" y="0"/>
            <a:ext cx="6099048" cy="6858000"/>
          </a:xfrm>
          <a:prstGeom prst="rect">
            <a:avLst/>
          </a:prstGeom>
          <a:solidFill>
            <a:srgbClr val="D5E3FF"/>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lvl="0" algn="ctr"/>
            <a:endParaRPr lang="en-US" dirty="0">
              <a:solidFill>
                <a:srgbClr val="F0F0F0"/>
              </a:solidFill>
              <a:latin typeface="+mj-lt"/>
              <a:ea typeface="+mj-ea"/>
              <a:sym typeface="微软雅黑" panose="020B0503020204020204" pitchFamily="34" charset="-122"/>
            </a:endParaRPr>
          </a:p>
        </p:txBody>
      </p:sp>
      <p:sp>
        <p:nvSpPr>
          <p:cNvPr id="70" name="Slide Number"/>
          <p:cNvSpPr>
            <a:spLocks noChangeArrowheads="1"/>
          </p:cNvSpPr>
          <p:nvPr userDrawn="1"/>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870" fontAlgn="auto">
              <a:spcBef>
                <a:spcPts val="0"/>
              </a:spcBef>
              <a:spcAft>
                <a:spcPts val="0"/>
              </a:spcAft>
              <a:defRPr/>
            </a:pPr>
            <a:fld id="{4ABDCABE-3F10-B64C-92F1-862014417034}" type="slidenum">
              <a:rPr lang="en-US" sz="900" b="0" smtClean="0">
                <a:solidFill>
                  <a:schemeClr val="tx1"/>
                </a:solidFill>
                <a:latin typeface="+mj-lt"/>
                <a:ea typeface="+mj-ea"/>
                <a:cs typeface="Arial" panose="020B0604020202020204" pitchFamily="34" charset="0"/>
                <a:sym typeface="微软雅黑" panose="020B0503020204020204" pitchFamily="34" charset="-122"/>
              </a:rPr>
              <a:t>‹#›</a:t>
            </a:fld>
            <a:endParaRPr lang="en-US" sz="900" b="0" dirty="0">
              <a:solidFill>
                <a:schemeClr val="tx1"/>
              </a:solidFill>
              <a:latin typeface="+mj-lt"/>
              <a:ea typeface="+mj-ea"/>
              <a:cs typeface="Arial" panose="020B0604020202020204" pitchFamily="34" charset="0"/>
              <a:sym typeface="微软雅黑" panose="020B0503020204020204" pitchFamily="34" charset="-122"/>
            </a:endParaRPr>
          </a:p>
        </p:txBody>
      </p:sp>
      <p:sp>
        <p:nvSpPr>
          <p:cNvPr id="71" name="2. Slide Title"/>
          <p:cNvSpPr>
            <a:spLocks noGrp="1"/>
          </p:cNvSpPr>
          <p:nvPr>
            <p:ph type="title"/>
          </p:nvPr>
        </p:nvSpPr>
        <p:spPr>
          <a:xfrm>
            <a:off x="554736" y="172212"/>
            <a:ext cx="5065776" cy="731520"/>
          </a:xfrm>
        </p:spPr>
        <p:txBody>
          <a:bodyPr vert="horz"/>
          <a:lstStyle>
            <a:lvl1pPr>
              <a:defRPr>
                <a:solidFill>
                  <a:schemeClr val="tx1"/>
                </a:solidFill>
                <a:latin typeface="+mj-lt"/>
                <a:ea typeface="+mj-ea"/>
                <a:sym typeface="微软雅黑" panose="020B0503020204020204" pitchFamily="34" charset="-122"/>
              </a:defRPr>
            </a:lvl1pPr>
          </a:lstStyle>
          <a:p>
            <a:r>
              <a:rPr lang="en-US"/>
              <a:t>Click to edit Master title style</a:t>
            </a:r>
            <a:endParaRPr lang="en-US" dirty="0"/>
          </a:p>
        </p:txBody>
      </p:sp>
      <p:sp>
        <p:nvSpPr>
          <p:cNvPr id="72" name="3. Subtitle"/>
          <p:cNvSpPr>
            <a:spLocks noGrp="1"/>
          </p:cNvSpPr>
          <p:nvPr>
            <p:ph type="subTitle" idx="1"/>
          </p:nvPr>
        </p:nvSpPr>
        <p:spPr>
          <a:xfrm>
            <a:off x="554736" y="988324"/>
            <a:ext cx="5065776" cy="276999"/>
          </a:xfrm>
          <a:prstGeom prst="rect">
            <a:avLst/>
          </a:prstGeom>
        </p:spPr>
        <p:txBody>
          <a:bodyPr wrap="square">
            <a:spAutoFit/>
          </a:bodyPr>
          <a:lstStyle>
            <a:lvl1pPr marL="0" indent="0" algn="l">
              <a:buNone/>
              <a:defRPr sz="1800" b="0">
                <a:solidFill>
                  <a:schemeClr val="tx1"/>
                </a:solidFill>
                <a:latin typeface="+mj-lt"/>
                <a:ea typeface="+mj-ea"/>
                <a:sym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3" name="5. Source" hidden="1"/>
          <p:cNvSpPr txBox="1"/>
          <p:nvPr userDrawn="1"/>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6255" indent="-287655">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880">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latin typeface="微软雅黑" panose="020B0503020204020204" pitchFamily="34" charset="-122"/>
                <a:ea typeface="微软雅黑" panose="020B0503020204020204" pitchFamily="34" charset="-122"/>
                <a:sym typeface="微软雅黑" panose="020B0503020204020204" pitchFamily="34" charset="-122"/>
              </a:rPr>
              <a:t>Source: …</a:t>
            </a:r>
            <a:endParaRPr/>
          </a:p>
        </p:txBody>
      </p:sp>
      <p:sp>
        <p:nvSpPr>
          <p:cNvPr id="74" name="1. On-page tracker"/>
          <p:cNvSpPr>
            <a:spLocks noGrp="1"/>
          </p:cNvSpPr>
          <p:nvPr>
            <p:ph type="body" sz="quarter" idx="10" hasCustomPrompt="1"/>
          </p:nvPr>
        </p:nvSpPr>
        <p:spPr>
          <a:xfrm>
            <a:off x="554735" y="41597"/>
            <a:ext cx="3843338" cy="123111"/>
          </a:xfrm>
          <a:prstGeom prst="rect">
            <a:avLst/>
          </a:prstGeom>
          <a:ln w="6350">
            <a:noFill/>
            <a:miter lim="800000"/>
          </a:ln>
        </p:spPr>
        <p:txBody>
          <a:bodyPr vert="horz" wrap="square" lIns="0" tIns="0" rIns="0" bIns="0" rtlCol="0">
            <a:spAutoFit/>
          </a:bodyPr>
          <a:lstStyle>
            <a:lvl1pPr>
              <a:defRPr lang="en-US" sz="800" b="0" dirty="0">
                <a:solidFill>
                  <a:schemeClr val="tx1"/>
                </a:solidFill>
                <a:latin typeface="+mj-lt"/>
                <a:ea typeface="+mj-ea"/>
                <a:cs typeface="+mn-cs"/>
                <a:sym typeface="微软雅黑" panose="020B0503020204020204" pitchFamily="34" charset="-122"/>
              </a:defRPr>
            </a:lvl1pPr>
          </a:lstStyle>
          <a:p>
            <a:pPr lvl="0">
              <a:buNone/>
            </a:pPr>
            <a:r>
              <a:rPr lang="en-US" dirty="0"/>
              <a:t>Add tracker</a:t>
            </a:r>
            <a:endParaRPr/>
          </a:p>
        </p:txBody>
      </p:sp>
      <p:pic>
        <p:nvPicPr>
          <p:cNvPr id="75" name="图片 7" descr="03_Tencent_English logo"/>
          <p:cNvPicPr>
            <a:picLocks noChangeAspect="1"/>
          </p:cNvPicPr>
          <p:nvPr userDrawn="1"/>
        </p:nvPicPr>
        <p:blipFill>
          <a:blip r:embed="rId3"/>
          <a:stretch>
            <a:fillRect/>
          </a:stretch>
        </p:blipFill>
        <p:spPr>
          <a:xfrm>
            <a:off x="10466705" y="31750"/>
            <a:ext cx="1636395" cy="6731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2/3">
    <p:spTree>
      <p:nvGrpSpPr>
        <p:cNvPr id="1" name=""/>
        <p:cNvGrpSpPr/>
        <p:nvPr/>
      </p:nvGrpSpPr>
      <p:grpSpPr>
        <a:xfrm>
          <a:off x="0" y="0"/>
          <a:ext cx="0" cy="0"/>
          <a:chOff x="0" y="0"/>
          <a:chExt cx="0" cy="0"/>
        </a:xfrm>
      </p:grpSpPr>
      <p:pic>
        <p:nvPicPr>
          <p:cNvPr id="77" name="Object 2" hidden="1"/>
          <p:cNvPicPr/>
          <p:nvPr/>
        </p:nvPicPr>
        <p:blipFill>
          <a:blip r:embed="rId2"/>
          <a:stretch>
            <a:fillRect/>
          </a:stretch>
        </p:blipFill>
        <p:spPr>
          <a:xfrm>
            <a:off x="1588" y="1588"/>
            <a:ext cx="1588" cy="1588"/>
          </a:xfrm>
          <a:prstGeom prst="rect">
            <a:avLst/>
          </a:prstGeom>
        </p:spPr>
      </p:pic>
      <p:sp>
        <p:nvSpPr>
          <p:cNvPr id="78" name="Rectangle 3" hidden="1"/>
          <p:cNvSpPr/>
          <p:nvPr userDrawn="1"/>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a:spcBef>
                <a:spcPts val="300"/>
              </a:spcBef>
              <a:spcAft>
                <a:spcPts val="300"/>
              </a:spcAft>
            </a:pPr>
            <a:endParaRPr lang="en-US" sz="2500" b="1" i="0" baseline="0" dirty="0">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79" name="2. Slide Title"/>
          <p:cNvSpPr>
            <a:spLocks noGrp="1"/>
          </p:cNvSpPr>
          <p:nvPr>
            <p:ph type="title"/>
          </p:nvPr>
        </p:nvSpPr>
        <p:spPr>
          <a:xfrm>
            <a:off x="554736" y="172212"/>
            <a:ext cx="6967728" cy="731520"/>
          </a:xfrm>
        </p:spPr>
        <p:txBody>
          <a:bodyPr vert="horz"/>
          <a:lstStyle>
            <a:lvl1pPr>
              <a:defRPr>
                <a:solidFill>
                  <a:schemeClr val="tx1"/>
                </a:solidFill>
                <a:latin typeface="+mj-lt"/>
                <a:ea typeface="+mj-ea"/>
                <a:sym typeface="微软雅黑" panose="020B0503020204020204" pitchFamily="34" charset="-122"/>
              </a:defRPr>
            </a:lvl1pPr>
          </a:lstStyle>
          <a:p>
            <a:r>
              <a:rPr lang="en-US"/>
              <a:t>Click to edit Master title style</a:t>
            </a:r>
            <a:endParaRPr lang="en-US" dirty="0"/>
          </a:p>
        </p:txBody>
      </p:sp>
      <p:sp>
        <p:nvSpPr>
          <p:cNvPr id="80" name="RectangleLight"/>
          <p:cNvSpPr/>
          <p:nvPr userDrawn="1"/>
        </p:nvSpPr>
        <p:spPr bwMode="ltGray">
          <a:xfrm>
            <a:off x="7830312" y="0"/>
            <a:ext cx="4361688" cy="6858000"/>
          </a:xfrm>
          <a:prstGeom prst="rect">
            <a:avLst/>
          </a:prstGeom>
          <a:solidFill>
            <a:srgbClr val="D5E3FF"/>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lvl="0" algn="ctr"/>
            <a:endParaRPr lang="en-US" dirty="0">
              <a:solidFill>
                <a:srgbClr val="F0F0F0"/>
              </a:solidFill>
              <a:latin typeface="+mj-lt"/>
              <a:ea typeface="+mj-ea"/>
              <a:sym typeface="微软雅黑" panose="020B0503020204020204" pitchFamily="34" charset="-122"/>
            </a:endParaRPr>
          </a:p>
        </p:txBody>
      </p:sp>
      <p:sp>
        <p:nvSpPr>
          <p:cNvPr id="81" name="Slide Number"/>
          <p:cNvSpPr>
            <a:spLocks noChangeArrowheads="1"/>
          </p:cNvSpPr>
          <p:nvPr userDrawn="1"/>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870" fontAlgn="auto">
              <a:spcBef>
                <a:spcPts val="0"/>
              </a:spcBef>
              <a:spcAft>
                <a:spcPts val="0"/>
              </a:spcAft>
              <a:defRPr/>
            </a:pPr>
            <a:fld id="{4ABDCABE-3F10-B64C-92F1-862014417034}" type="slidenum">
              <a:rPr lang="en-US" sz="900" b="0" smtClean="0">
                <a:solidFill>
                  <a:schemeClr val="tx1"/>
                </a:solidFill>
                <a:latin typeface="+mj-lt"/>
                <a:ea typeface="+mj-ea"/>
                <a:cs typeface="Arial" panose="020B0604020202020204" pitchFamily="34" charset="0"/>
                <a:sym typeface="微软雅黑" panose="020B0503020204020204" pitchFamily="34" charset="-122"/>
              </a:rPr>
              <a:t>‹#›</a:t>
            </a:fld>
            <a:endParaRPr lang="en-US" sz="900" b="0" dirty="0">
              <a:solidFill>
                <a:schemeClr val="tx1"/>
              </a:solidFill>
              <a:latin typeface="+mj-lt"/>
              <a:ea typeface="+mj-ea"/>
              <a:cs typeface="Arial" panose="020B0604020202020204" pitchFamily="34" charset="0"/>
              <a:sym typeface="微软雅黑" panose="020B0503020204020204" pitchFamily="34" charset="-122"/>
            </a:endParaRPr>
          </a:p>
        </p:txBody>
      </p:sp>
      <p:sp>
        <p:nvSpPr>
          <p:cNvPr id="82" name="3. Subtitle"/>
          <p:cNvSpPr>
            <a:spLocks noGrp="1"/>
          </p:cNvSpPr>
          <p:nvPr>
            <p:ph type="subTitle" idx="1"/>
          </p:nvPr>
        </p:nvSpPr>
        <p:spPr>
          <a:xfrm>
            <a:off x="554736" y="988324"/>
            <a:ext cx="6967728" cy="276999"/>
          </a:xfrm>
          <a:prstGeom prst="rect">
            <a:avLst/>
          </a:prstGeom>
        </p:spPr>
        <p:txBody>
          <a:bodyPr wrap="square">
            <a:spAutoFit/>
          </a:bodyPr>
          <a:lstStyle>
            <a:lvl1pPr marL="0" indent="0" algn="l">
              <a:buNone/>
              <a:defRPr sz="1800" b="0">
                <a:solidFill>
                  <a:schemeClr val="tx1"/>
                </a:solidFill>
                <a:latin typeface="+mj-lt"/>
                <a:ea typeface="+mj-ea"/>
                <a:sym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3" name="5. Source" hidden="1"/>
          <p:cNvSpPr txBox="1"/>
          <p:nvPr userDrawn="1"/>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6255" indent="-287655">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880">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Source: …</a:t>
            </a:r>
            <a:endParaRPr/>
          </a:p>
        </p:txBody>
      </p:sp>
      <p:sp>
        <p:nvSpPr>
          <p:cNvPr id="84" name="1. On-page tracker"/>
          <p:cNvSpPr>
            <a:spLocks noGrp="1"/>
          </p:cNvSpPr>
          <p:nvPr>
            <p:ph type="body" sz="quarter" idx="10" hasCustomPrompt="1"/>
          </p:nvPr>
        </p:nvSpPr>
        <p:spPr>
          <a:xfrm>
            <a:off x="554735" y="41597"/>
            <a:ext cx="3843338" cy="123111"/>
          </a:xfrm>
          <a:prstGeom prst="rect">
            <a:avLst/>
          </a:prstGeom>
          <a:ln w="6350">
            <a:noFill/>
            <a:miter lim="800000"/>
          </a:ln>
        </p:spPr>
        <p:txBody>
          <a:bodyPr vert="horz" wrap="square" lIns="0" tIns="0" rIns="0" bIns="0" rtlCol="0">
            <a:spAutoFit/>
          </a:bodyPr>
          <a:lstStyle>
            <a:lvl1pPr>
              <a:defRPr lang="en-US" sz="800" b="0" dirty="0">
                <a:solidFill>
                  <a:schemeClr val="tx1"/>
                </a:solidFill>
                <a:latin typeface="+mj-lt"/>
                <a:ea typeface="+mj-ea"/>
                <a:cs typeface="+mn-cs"/>
                <a:sym typeface="微软雅黑" panose="020B0503020204020204" pitchFamily="34" charset="-122"/>
              </a:defRPr>
            </a:lvl1pPr>
          </a:lstStyle>
          <a:p>
            <a:pPr lvl="0">
              <a:buNone/>
            </a:pPr>
            <a:r>
              <a:rPr lang="en-US" dirty="0"/>
              <a:t>Add tracker</a:t>
            </a:r>
            <a:endParaRPr/>
          </a:p>
        </p:txBody>
      </p:sp>
      <p:pic>
        <p:nvPicPr>
          <p:cNvPr id="85" name="图片 7" descr="03_Tencent_English logo"/>
          <p:cNvPicPr>
            <a:picLocks noChangeAspect="1"/>
          </p:cNvPicPr>
          <p:nvPr userDrawn="1"/>
        </p:nvPicPr>
        <p:blipFill>
          <a:blip r:embed="rId3"/>
          <a:stretch>
            <a:fillRect/>
          </a:stretch>
        </p:blipFill>
        <p:spPr>
          <a:xfrm>
            <a:off x="10466705" y="31750"/>
            <a:ext cx="1636395" cy="6731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3/4 ">
    <p:spTree>
      <p:nvGrpSpPr>
        <p:cNvPr id="1" name=""/>
        <p:cNvGrpSpPr/>
        <p:nvPr/>
      </p:nvGrpSpPr>
      <p:grpSpPr>
        <a:xfrm>
          <a:off x="0" y="0"/>
          <a:ext cx="0" cy="0"/>
          <a:chOff x="0" y="0"/>
          <a:chExt cx="0" cy="0"/>
        </a:xfrm>
      </p:grpSpPr>
      <p:pic>
        <p:nvPicPr>
          <p:cNvPr id="87" name="Object 6" hidden="1"/>
          <p:cNvPicPr/>
          <p:nvPr/>
        </p:nvPicPr>
        <p:blipFill>
          <a:blip r:embed="rId2"/>
          <a:stretch>
            <a:fillRect/>
          </a:stretch>
        </p:blipFill>
        <p:spPr>
          <a:xfrm>
            <a:off x="1588" y="1588"/>
            <a:ext cx="1588" cy="1588"/>
          </a:xfrm>
          <a:prstGeom prst="rect">
            <a:avLst/>
          </a:prstGeom>
        </p:spPr>
      </p:pic>
      <p:sp>
        <p:nvSpPr>
          <p:cNvPr id="88" name="Rectangle 1" hidden="1"/>
          <p:cNvSpPr/>
          <p:nvPr userDrawn="1"/>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a:spcBef>
                <a:spcPts val="300"/>
              </a:spcBef>
              <a:spcAft>
                <a:spcPts val="300"/>
              </a:spcAft>
            </a:pPr>
            <a:endParaRPr lang="en-US" sz="2500" b="1" i="0" baseline="0" dirty="0">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89" name="RectangleLight"/>
          <p:cNvSpPr/>
          <p:nvPr userDrawn="1"/>
        </p:nvSpPr>
        <p:spPr bwMode="ltGray">
          <a:xfrm>
            <a:off x="8781416" y="0"/>
            <a:ext cx="3410584" cy="6858000"/>
          </a:xfrm>
          <a:prstGeom prst="rect">
            <a:avLst/>
          </a:prstGeom>
          <a:solidFill>
            <a:srgbClr val="D5E3FF"/>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lvl="0" algn="ctr"/>
            <a:endParaRPr lang="en-US" noProof="0" dirty="0">
              <a:solidFill>
                <a:srgbClr val="F0F0F0"/>
              </a:solidFill>
              <a:latin typeface="+mj-lt"/>
              <a:ea typeface="+mj-ea"/>
              <a:sym typeface="微软雅黑" panose="020B0503020204020204" pitchFamily="34" charset="-122"/>
            </a:endParaRPr>
          </a:p>
        </p:txBody>
      </p:sp>
      <p:sp>
        <p:nvSpPr>
          <p:cNvPr id="90" name="Slide Number"/>
          <p:cNvSpPr>
            <a:spLocks noChangeArrowheads="1"/>
          </p:cNvSpPr>
          <p:nvPr userDrawn="1"/>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marL="0" marR="0" lvl="0" indent="0" algn="r" defTabSz="610870" rtl="0" eaLnBrk="1" fontAlgn="auto" latinLnBrk="0" hangingPunct="1">
              <a:lnSpc>
                <a:spcPct val="100000"/>
              </a:lnSpc>
              <a:spcBef>
                <a:spcPts val="0"/>
              </a:spcBef>
              <a:spcAft>
                <a:spcPts val="0"/>
              </a:spcAft>
              <a:buClrTx/>
              <a:buSzTx/>
              <a:buFontTx/>
              <a:buNone/>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mj-lt"/>
                <a:ea typeface="+mj-ea"/>
                <a:cs typeface="Arial" panose="020B0604020202020204" pitchFamily="34" charset="0"/>
                <a:sym typeface="微软雅黑" panose="020B0503020204020204" pitchFamily="34" charset="-122"/>
              </a:rPr>
              <a:t>‹#›</a:t>
            </a:fld>
            <a:endParaRPr kumimoji="0" lang="en-US" sz="900" b="0" i="0" u="none" strike="noStrike" kern="1200" cap="none" spc="0" normalizeH="0" baseline="0" noProof="0" dirty="0">
              <a:ln>
                <a:noFill/>
              </a:ln>
              <a:solidFill>
                <a:schemeClr val="tx1"/>
              </a:solidFill>
              <a:effectLst/>
              <a:uLnTx/>
              <a:uFillTx/>
              <a:latin typeface="+mj-lt"/>
              <a:ea typeface="+mj-ea"/>
              <a:cs typeface="Arial" panose="020B0604020202020204" pitchFamily="34" charset="0"/>
              <a:sym typeface="微软雅黑" panose="020B0503020204020204" pitchFamily="34" charset="-122"/>
            </a:endParaRPr>
          </a:p>
        </p:txBody>
      </p:sp>
      <p:sp>
        <p:nvSpPr>
          <p:cNvPr id="91" name="2. Slide Title"/>
          <p:cNvSpPr>
            <a:spLocks noGrp="1"/>
          </p:cNvSpPr>
          <p:nvPr>
            <p:ph type="title"/>
          </p:nvPr>
        </p:nvSpPr>
        <p:spPr>
          <a:xfrm>
            <a:off x="554736" y="172212"/>
            <a:ext cx="7918704" cy="731520"/>
          </a:xfrm>
        </p:spPr>
        <p:txBody>
          <a:bodyPr vert="horz"/>
          <a:lstStyle>
            <a:lvl1pPr>
              <a:defRPr>
                <a:solidFill>
                  <a:schemeClr val="tx1"/>
                </a:solidFill>
                <a:latin typeface="+mj-lt"/>
                <a:ea typeface="+mj-ea"/>
                <a:sym typeface="微软雅黑" panose="020B0503020204020204" pitchFamily="34" charset="-122"/>
              </a:defRPr>
            </a:lvl1pPr>
          </a:lstStyle>
          <a:p>
            <a:r>
              <a:rPr lang="en-US"/>
              <a:t>Click to edit Master title style</a:t>
            </a:r>
            <a:endParaRPr lang="en-US" dirty="0"/>
          </a:p>
        </p:txBody>
      </p:sp>
      <p:sp>
        <p:nvSpPr>
          <p:cNvPr id="92" name="3. Subtitle"/>
          <p:cNvSpPr>
            <a:spLocks noGrp="1"/>
          </p:cNvSpPr>
          <p:nvPr>
            <p:ph type="subTitle" idx="1"/>
          </p:nvPr>
        </p:nvSpPr>
        <p:spPr>
          <a:xfrm>
            <a:off x="554736" y="988324"/>
            <a:ext cx="7918704" cy="276999"/>
          </a:xfrm>
          <a:prstGeom prst="rect">
            <a:avLst/>
          </a:prstGeom>
        </p:spPr>
        <p:txBody>
          <a:bodyPr wrap="square">
            <a:spAutoFit/>
          </a:bodyPr>
          <a:lstStyle>
            <a:lvl1pPr marL="0" indent="0" algn="l">
              <a:buNone/>
              <a:defRPr sz="1800" b="0">
                <a:solidFill>
                  <a:schemeClr val="tx1"/>
                </a:solidFill>
                <a:latin typeface="+mj-lt"/>
                <a:ea typeface="+mj-ea"/>
                <a:sym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3" name="5. Source" hidden="1"/>
          <p:cNvSpPr txBox="1"/>
          <p:nvPr userDrawn="1"/>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6255" indent="-287655">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880">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defRPr/>
            </a:pPr>
            <a:r>
              <a:rPr kumimoji="0" lang="en-US" sz="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Source: …</a:t>
            </a:r>
            <a:endParaRPr/>
          </a:p>
        </p:txBody>
      </p:sp>
      <p:sp>
        <p:nvSpPr>
          <p:cNvPr id="94" name="1. On-page tracker"/>
          <p:cNvSpPr>
            <a:spLocks noGrp="1"/>
          </p:cNvSpPr>
          <p:nvPr>
            <p:ph type="body" sz="quarter" idx="10" hasCustomPrompt="1"/>
          </p:nvPr>
        </p:nvSpPr>
        <p:spPr>
          <a:xfrm>
            <a:off x="554735" y="41597"/>
            <a:ext cx="3843338" cy="123111"/>
          </a:xfrm>
          <a:prstGeom prst="rect">
            <a:avLst/>
          </a:prstGeom>
          <a:ln w="6350">
            <a:noFill/>
            <a:miter lim="800000"/>
          </a:ln>
        </p:spPr>
        <p:txBody>
          <a:bodyPr vert="horz" wrap="square" lIns="0" tIns="0" rIns="0" bIns="0" rtlCol="0">
            <a:spAutoFit/>
          </a:bodyPr>
          <a:lstStyle>
            <a:lvl1pPr>
              <a:defRPr lang="en-US" sz="800" b="0" dirty="0">
                <a:solidFill>
                  <a:schemeClr val="tx1"/>
                </a:solidFill>
                <a:latin typeface="+mj-lt"/>
                <a:ea typeface="+mj-ea"/>
                <a:cs typeface="+mn-cs"/>
                <a:sym typeface="微软雅黑" panose="020B0503020204020204" pitchFamily="34" charset="-122"/>
              </a:defRPr>
            </a:lvl1pPr>
          </a:lstStyle>
          <a:p>
            <a:pPr lvl="0">
              <a:buNone/>
            </a:pPr>
            <a:r>
              <a:rPr lang="en-US" dirty="0"/>
              <a:t>Add tracker</a:t>
            </a:r>
            <a:endParaRPr/>
          </a:p>
        </p:txBody>
      </p:sp>
      <p:pic>
        <p:nvPicPr>
          <p:cNvPr id="95" name="图片 7" descr="03_Tencent_English logo"/>
          <p:cNvPicPr>
            <a:picLocks noChangeAspect="1"/>
          </p:cNvPicPr>
          <p:nvPr userDrawn="1"/>
        </p:nvPicPr>
        <p:blipFill>
          <a:blip r:embed="rId3"/>
          <a:stretch>
            <a:fillRect/>
          </a:stretch>
        </p:blipFill>
        <p:spPr>
          <a:xfrm>
            <a:off x="10466705" y="31750"/>
            <a:ext cx="1636395" cy="6731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Custom">
    <p:spTree>
      <p:nvGrpSpPr>
        <p:cNvPr id="1" name=""/>
        <p:cNvGrpSpPr/>
        <p:nvPr/>
      </p:nvGrpSpPr>
      <p:grpSpPr>
        <a:xfrm>
          <a:off x="0" y="0"/>
          <a:ext cx="0" cy="0"/>
          <a:chOff x="0" y="0"/>
          <a:chExt cx="0" cy="0"/>
        </a:xfrm>
      </p:grpSpPr>
      <p:pic>
        <p:nvPicPr>
          <p:cNvPr id="97" name="Object 1" hidden="1"/>
          <p:cNvPicPr/>
          <p:nvPr/>
        </p:nvPicPr>
        <p:blipFill>
          <a:blip r:embed="rId2"/>
          <a:stretch>
            <a:fillRect/>
          </a:stretch>
        </p:blipFill>
        <p:spPr>
          <a:xfrm>
            <a:off x="1588" y="1588"/>
            <a:ext cx="1588" cy="1588"/>
          </a:xfrm>
          <a:prstGeom prst="rect">
            <a:avLst/>
          </a:prstGeom>
        </p:spPr>
      </p:pic>
      <p:sp>
        <p:nvSpPr>
          <p:cNvPr id="98" name="Slide Number"/>
          <p:cNvSpPr>
            <a:spLocks noChangeArrowheads="1"/>
          </p:cNvSpPr>
          <p:nvPr userDrawn="1"/>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870" fontAlgn="auto">
              <a:spcBef>
                <a:spcPts val="0"/>
              </a:spcBef>
              <a:spcAft>
                <a:spcPts val="0"/>
              </a:spcAft>
              <a:defRPr/>
            </a:pPr>
            <a:fld id="{4ABDCABE-3F10-B64C-92F1-862014417034}" type="slidenum">
              <a:rPr lang="en-US" sz="900" b="0" smtClean="0">
                <a:solidFill>
                  <a:schemeClr val="tx1"/>
                </a:solidFill>
                <a:latin typeface="+mj-lt"/>
                <a:ea typeface="+mj-ea"/>
                <a:cs typeface="Arial" panose="020B0604020202020204" pitchFamily="34" charset="0"/>
                <a:sym typeface="微软雅黑" panose="020B0503020204020204" pitchFamily="34" charset="-122"/>
              </a:rPr>
              <a:t>‹#›</a:t>
            </a:fld>
            <a:endParaRPr lang="en-US" sz="900" b="0" dirty="0">
              <a:solidFill>
                <a:schemeClr val="tx1"/>
              </a:solidFill>
              <a:latin typeface="+mj-lt"/>
              <a:ea typeface="+mj-ea"/>
              <a:cs typeface="Arial" panose="020B0604020202020204" pitchFamily="34" charset="0"/>
              <a:sym typeface="微软雅黑" panose="020B0503020204020204" pitchFamily="34" charset="-122"/>
            </a:endParaRPr>
          </a:p>
        </p:txBody>
      </p:sp>
      <p:sp>
        <p:nvSpPr>
          <p:cNvPr id="99" name="5. Source" hidden="1"/>
          <p:cNvSpPr txBox="1"/>
          <p:nvPr userDrawn="1"/>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6255" indent="-287655">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880">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latin typeface="微软雅黑" panose="020B0503020204020204" pitchFamily="34" charset="-122"/>
                <a:ea typeface="微软雅黑" panose="020B0503020204020204" pitchFamily="34" charset="-122"/>
                <a:sym typeface="微软雅黑" panose="020B0503020204020204" pitchFamily="34" charset="-122"/>
              </a:rPr>
              <a:t>Source: …</a:t>
            </a:r>
            <a:endParaRPr/>
          </a:p>
        </p:txBody>
      </p:sp>
      <p:sp>
        <p:nvSpPr>
          <p:cNvPr id="100" name="1. On-page tracker"/>
          <p:cNvSpPr>
            <a:spLocks noGrp="1"/>
          </p:cNvSpPr>
          <p:nvPr>
            <p:ph type="body" sz="quarter" idx="10" hasCustomPrompt="1"/>
          </p:nvPr>
        </p:nvSpPr>
        <p:spPr>
          <a:xfrm>
            <a:off x="554735" y="41597"/>
            <a:ext cx="3843338" cy="123111"/>
          </a:xfrm>
          <a:prstGeom prst="rect">
            <a:avLst/>
          </a:prstGeom>
          <a:ln w="6350">
            <a:noFill/>
            <a:miter lim="800000"/>
          </a:ln>
        </p:spPr>
        <p:txBody>
          <a:bodyPr vert="horz" wrap="square" lIns="0" tIns="0" rIns="0" bIns="0" rtlCol="0">
            <a:spAutoFit/>
          </a:bodyPr>
          <a:lstStyle>
            <a:lvl1pPr>
              <a:defRPr lang="en-US" sz="800" b="0" dirty="0">
                <a:solidFill>
                  <a:schemeClr val="bg1"/>
                </a:solidFill>
                <a:latin typeface="+mj-lt"/>
                <a:ea typeface="+mj-ea"/>
                <a:cs typeface="+mn-cs"/>
                <a:sym typeface="微软雅黑" panose="020B0503020204020204" pitchFamily="34" charset="-122"/>
              </a:defRPr>
            </a:lvl1pPr>
          </a:lstStyle>
          <a:p>
            <a:pPr lvl="0">
              <a:buNone/>
            </a:pPr>
            <a:r>
              <a:rPr lang="en-US" dirty="0"/>
              <a:t>Add tracker</a:t>
            </a:r>
            <a:endParaRPr/>
          </a:p>
        </p:txBody>
      </p:sp>
      <p:pic>
        <p:nvPicPr>
          <p:cNvPr id="101" name="图片 3" descr="03_Tencent_English logo"/>
          <p:cNvPicPr>
            <a:picLocks noChangeAspect="1"/>
          </p:cNvPicPr>
          <p:nvPr userDrawn="1"/>
        </p:nvPicPr>
        <p:blipFill>
          <a:blip r:embed="rId3"/>
          <a:stretch>
            <a:fillRect/>
          </a:stretch>
        </p:blipFill>
        <p:spPr>
          <a:xfrm>
            <a:off x="10466705" y="31750"/>
            <a:ext cx="1636395" cy="6731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En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03" name="Object 1" hidden="1"/>
          <p:cNvPicPr/>
          <p:nvPr/>
        </p:nvPicPr>
        <p:blipFill>
          <a:blip r:embed="rId3"/>
          <a:stretch>
            <a:fillRect/>
          </a:stretch>
        </p:blipFill>
        <p:spPr>
          <a:xfrm>
            <a:off x="1588" y="1588"/>
            <a:ext cx="1588" cy="1588"/>
          </a:xfrm>
          <a:prstGeom prst="rect">
            <a:avLst/>
          </a:prstGeom>
        </p:spPr>
      </p:pic>
      <p:sp>
        <p:nvSpPr>
          <p:cNvPr id="104" name="5. Source" hidden="1"/>
          <p:cNvSpPr txBox="1"/>
          <p:nvPr userDrawn="1"/>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6255" indent="-287655">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880">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latin typeface="微软雅黑" panose="020B0503020204020204" pitchFamily="34" charset="-122"/>
                <a:ea typeface="微软雅黑" panose="020B0503020204020204" pitchFamily="34" charset="-122"/>
                <a:sym typeface="微软雅黑" panose="020B0503020204020204" pitchFamily="34" charset="-122"/>
              </a:rPr>
              <a:t>Source: …</a:t>
            </a:r>
            <a:endParaRPr/>
          </a:p>
        </p:txBody>
      </p:sp>
      <p:sp>
        <p:nvSpPr>
          <p:cNvPr id="105" name="TextBox 11"/>
          <p:cNvSpPr txBox="1"/>
          <p:nvPr userDrawn="1"/>
        </p:nvSpPr>
        <p:spPr bwMode="ltGray">
          <a:xfrm>
            <a:off x="4427988" y="3090446"/>
            <a:ext cx="3336024" cy="677108"/>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785" lvl="2" indent="-210185">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575">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4070" lvl="4" indent="-146050">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4400" b="1" dirty="0">
                <a:solidFill>
                  <a:schemeClr val="bg2"/>
                </a:solidFill>
                <a:latin typeface="+mj-lt"/>
                <a:ea typeface="+mj-ea"/>
                <a:sym typeface="微软雅黑" panose="020B0503020204020204" pitchFamily="34" charset="-122"/>
              </a:rPr>
              <a:t>THANK YOU</a:t>
            </a:r>
            <a:endParaRPr/>
          </a:p>
        </p:txBody>
      </p:sp>
      <p:sp>
        <p:nvSpPr>
          <p:cNvPr id="106" name="文本框 3"/>
          <p:cNvSpPr txBox="1"/>
          <p:nvPr userDrawn="1"/>
        </p:nvSpPr>
        <p:spPr>
          <a:xfrm>
            <a:off x="2007704" y="2723322"/>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kumimoji="1" lang="zh-CN" altLang="en-US" sz="16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3-line">
    <p:spTree>
      <p:nvGrpSpPr>
        <p:cNvPr id="1" name=""/>
        <p:cNvGrpSpPr/>
        <p:nvPr/>
      </p:nvGrpSpPr>
      <p:grpSpPr>
        <a:xfrm>
          <a:off x="0" y="0"/>
          <a:ext cx="0" cy="0"/>
          <a:chOff x="0" y="0"/>
          <a:chExt cx="0" cy="0"/>
        </a:xfrm>
      </p:grpSpPr>
      <p:pic>
        <p:nvPicPr>
          <p:cNvPr id="18" name="Object 2" hidden="1"/>
          <p:cNvPicPr/>
          <p:nvPr/>
        </p:nvPicPr>
        <p:blipFill>
          <a:blip r:embed="rId2"/>
          <a:stretch>
            <a:fillRect/>
          </a:stretch>
        </p:blipFill>
        <p:spPr>
          <a:xfrm>
            <a:off x="1588" y="1588"/>
            <a:ext cx="1588" cy="1588"/>
          </a:xfrm>
          <a:prstGeom prst="rect">
            <a:avLst/>
          </a:prstGeom>
        </p:spPr>
      </p:pic>
      <p:sp>
        <p:nvSpPr>
          <p:cNvPr id="19" name="Rectangle 1" hidden="1"/>
          <p:cNvSpPr/>
          <p:nvPr userDrawn="1"/>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a:spcBef>
                <a:spcPts val="300"/>
              </a:spcBef>
              <a:spcAft>
                <a:spcPts val="300"/>
              </a:spcAft>
            </a:pPr>
            <a:endParaRPr lang="en-US" sz="2500" b="1" i="0" baseline="0" dirty="0">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20" name="Slide Number"/>
          <p:cNvSpPr>
            <a:spLocks noChangeArrowheads="1"/>
          </p:cNvSpPr>
          <p:nvPr userDrawn="1"/>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870" fontAlgn="auto">
              <a:spcBef>
                <a:spcPts val="0"/>
              </a:spcBef>
              <a:spcAft>
                <a:spcPts val="0"/>
              </a:spcAft>
              <a:defRPr/>
            </a:pPr>
            <a:fld id="{4ABDCABE-3F10-B64C-92F1-862014417034}" type="slidenum">
              <a:rPr lang="en-US" sz="900" b="0" smtClean="0">
                <a:solidFill>
                  <a:schemeClr val="tx1"/>
                </a:solidFill>
                <a:latin typeface="+mj-lt"/>
                <a:ea typeface="+mj-ea"/>
                <a:cs typeface="Arial" panose="020B0604020202020204" pitchFamily="34" charset="0"/>
                <a:sym typeface="微软雅黑" panose="020B0503020204020204" pitchFamily="34" charset="-122"/>
              </a:rPr>
              <a:t>‹#›</a:t>
            </a:fld>
            <a:endParaRPr lang="en-US" sz="900" b="0" dirty="0">
              <a:solidFill>
                <a:schemeClr val="tx1"/>
              </a:solidFill>
              <a:latin typeface="+mj-lt"/>
              <a:ea typeface="+mj-ea"/>
              <a:cs typeface="Arial" panose="020B0604020202020204" pitchFamily="34" charset="0"/>
              <a:sym typeface="微软雅黑" panose="020B0503020204020204" pitchFamily="34" charset="-122"/>
            </a:endParaRPr>
          </a:p>
        </p:txBody>
      </p:sp>
      <p:sp>
        <p:nvSpPr>
          <p:cNvPr id="21" name="2. Slide Title"/>
          <p:cNvSpPr>
            <a:spLocks noGrp="1"/>
          </p:cNvSpPr>
          <p:nvPr>
            <p:ph type="title"/>
          </p:nvPr>
        </p:nvSpPr>
        <p:spPr>
          <a:xfrm>
            <a:off x="158750" y="175171"/>
            <a:ext cx="9677146" cy="989512"/>
          </a:xfrm>
        </p:spPr>
        <p:txBody>
          <a:bodyPr vert="horz">
            <a:noAutofit/>
          </a:bodyPr>
          <a:lstStyle>
            <a:lvl1pPr>
              <a:defRPr>
                <a:solidFill>
                  <a:schemeClr val="tx1"/>
                </a:solidFill>
                <a:latin typeface="+mj-lt"/>
                <a:ea typeface="+mj-ea"/>
                <a:sym typeface="微软雅黑" panose="020B0503020204020204" pitchFamily="34" charset="-122"/>
              </a:defRPr>
            </a:lvl1pPr>
          </a:lstStyle>
          <a:p>
            <a:r>
              <a:rPr lang="en-US" dirty="0"/>
              <a:t>Click to edit Master title style</a:t>
            </a:r>
            <a:endParaRPr/>
          </a:p>
        </p:txBody>
      </p:sp>
      <p:sp>
        <p:nvSpPr>
          <p:cNvPr id="22" name="5. Source" hidden="1"/>
          <p:cNvSpPr txBox="1"/>
          <p:nvPr userDrawn="1"/>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6255" indent="-287655">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880">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latin typeface="微软雅黑" panose="020B0503020204020204" pitchFamily="34" charset="-122"/>
                <a:ea typeface="微软雅黑" panose="020B0503020204020204" pitchFamily="34" charset="-122"/>
                <a:sym typeface="微软雅黑" panose="020B0503020204020204" pitchFamily="34" charset="-122"/>
              </a:rPr>
              <a:t>Source: …</a:t>
            </a:r>
            <a:endParaRPr/>
          </a:p>
        </p:txBody>
      </p:sp>
      <p:sp>
        <p:nvSpPr>
          <p:cNvPr id="23" name="1. On-page tracker"/>
          <p:cNvSpPr>
            <a:spLocks noGrp="1"/>
          </p:cNvSpPr>
          <p:nvPr>
            <p:ph type="body" sz="quarter" idx="10" hasCustomPrompt="1"/>
          </p:nvPr>
        </p:nvSpPr>
        <p:spPr>
          <a:xfrm>
            <a:off x="158750" y="41597"/>
            <a:ext cx="4239323" cy="123111"/>
          </a:xfrm>
          <a:prstGeom prst="rect">
            <a:avLst/>
          </a:prstGeom>
          <a:ln w="6350">
            <a:noFill/>
            <a:miter lim="800000"/>
          </a:ln>
        </p:spPr>
        <p:txBody>
          <a:bodyPr vert="horz" wrap="square" lIns="0" tIns="0" rIns="0" bIns="0" rtlCol="0">
            <a:spAutoFit/>
          </a:bodyPr>
          <a:lstStyle>
            <a:lvl1pPr>
              <a:defRPr lang="en-US" sz="800" b="0" dirty="0">
                <a:latin typeface="+mj-lt"/>
                <a:ea typeface="+mj-ea"/>
                <a:cs typeface="+mn-cs"/>
                <a:sym typeface="微软雅黑" panose="020B0503020204020204" pitchFamily="34" charset="-122"/>
              </a:defRPr>
            </a:lvl1pPr>
          </a:lstStyle>
          <a:p>
            <a:pPr lvl="0">
              <a:buNone/>
            </a:pPr>
            <a:r>
              <a:rPr lang="en-US" dirty="0"/>
              <a:t>Add tracker</a:t>
            </a:r>
            <a:endParaRPr/>
          </a:p>
        </p:txBody>
      </p:sp>
      <p:sp>
        <p:nvSpPr>
          <p:cNvPr id="24" name="Text Placeholder 4"/>
          <p:cNvSpPr>
            <a:spLocks noGrp="1"/>
          </p:cNvSpPr>
          <p:nvPr>
            <p:ph idx="1"/>
          </p:nvPr>
        </p:nvSpPr>
        <p:spPr>
          <a:xfrm>
            <a:off x="158750" y="2170800"/>
            <a:ext cx="2880641" cy="1384995"/>
          </a:xfrm>
          <a:prstGeom prst="rect">
            <a:avLst/>
          </a:prstGeom>
        </p:spPr>
        <p:txBody>
          <a:bodyPr vert="horz" wrap="square" lIns="0" tIns="0" rIns="0" bIns="0" rtlCol="0">
            <a:spAutoFit/>
          </a:bodyPr>
          <a:lstStyle/>
          <a:p>
            <a:pPr lvl="0"/>
            <a:r>
              <a:rPr lang="en-US" dirty="0"/>
              <a:t>Click to edit Master text styles</a:t>
            </a:r>
            <a:endParaRPr/>
          </a:p>
          <a:p>
            <a:pPr lvl="1"/>
            <a:r>
              <a:rPr lang="en-US" dirty="0"/>
              <a:t>Second level</a:t>
            </a:r>
            <a:endParaRPr/>
          </a:p>
          <a:p>
            <a:pPr lvl="2"/>
            <a:r>
              <a:rPr lang="en-US" dirty="0"/>
              <a:t>Third level</a:t>
            </a:r>
            <a:endParaRPr/>
          </a:p>
          <a:p>
            <a:pPr lvl="3"/>
            <a:r>
              <a:rPr lang="en-US" dirty="0"/>
              <a:t>Fourth level</a:t>
            </a:r>
            <a:endParaRPr/>
          </a:p>
          <a:p>
            <a:pPr lvl="4"/>
            <a:r>
              <a:rPr lang="en-US" dirty="0"/>
              <a:t>Fifth level</a:t>
            </a:r>
            <a:endParaRPr/>
          </a:p>
        </p:txBody>
      </p:sp>
      <p:pic>
        <p:nvPicPr>
          <p:cNvPr id="25" name="图片 6" descr="03_Tencent_English logo"/>
          <p:cNvPicPr>
            <a:picLocks noChangeAspect="1"/>
          </p:cNvPicPr>
          <p:nvPr userDrawn="1"/>
        </p:nvPicPr>
        <p:blipFill>
          <a:blip r:embed="rId3"/>
          <a:stretch>
            <a:fillRect/>
          </a:stretch>
        </p:blipFill>
        <p:spPr>
          <a:xfrm>
            <a:off x="10466705" y="31750"/>
            <a:ext cx="1636395" cy="67310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pic>
        <p:nvPicPr>
          <p:cNvPr id="27" name="Object 2" hidden="1"/>
          <p:cNvPicPr/>
          <p:nvPr/>
        </p:nvPicPr>
        <p:blipFill>
          <a:blip r:embed="rId2"/>
          <a:stretch>
            <a:fillRect/>
          </a:stretch>
        </p:blipFill>
        <p:spPr>
          <a:xfrm>
            <a:off x="1588" y="1588"/>
            <a:ext cx="1588" cy="1588"/>
          </a:xfrm>
          <a:prstGeom prst="rect">
            <a:avLst/>
          </a:prstGeom>
        </p:spPr>
      </p:pic>
      <p:sp>
        <p:nvSpPr>
          <p:cNvPr id="28" name="Rectangle 1" hidden="1"/>
          <p:cNvSpPr/>
          <p:nvPr userDrawn="1"/>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eaLnBrk="1">
              <a:lnSpc>
                <a:spcPct val="100000"/>
              </a:lnSpc>
              <a:spcBef>
                <a:spcPct val="1"/>
              </a:spcBef>
              <a:spcAft>
                <a:spcPct val="1"/>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29" name="2. Slide Title"/>
          <p:cNvSpPr>
            <a:spLocks noGrp="1"/>
          </p:cNvSpPr>
          <p:nvPr>
            <p:ph type="title"/>
          </p:nvPr>
        </p:nvSpPr>
        <p:spPr>
          <a:xfrm>
            <a:off x="158750" y="182372"/>
            <a:ext cx="11478514" cy="731520"/>
          </a:xfrm>
        </p:spPr>
        <p:txBody>
          <a:bodyPr vert="horz"/>
          <a:lstStyle>
            <a:lvl1pPr>
              <a:defRPr>
                <a:solidFill>
                  <a:schemeClr val="tx1"/>
                </a:solidFill>
                <a:latin typeface="+mj-lt"/>
                <a:ea typeface="+mj-ea"/>
              </a:defRPr>
            </a:lvl1pPr>
          </a:lstStyle>
          <a:p>
            <a:r>
              <a:rPr lang="en-US" dirty="0"/>
              <a:t>Click to edit Master title style</a:t>
            </a:r>
            <a:endParaRPr/>
          </a:p>
        </p:txBody>
      </p:sp>
      <p:sp>
        <p:nvSpPr>
          <p:cNvPr id="30" name="Slide Number"/>
          <p:cNvSpPr>
            <a:spLocks noChangeArrowheads="1"/>
          </p:cNvSpPr>
          <p:nvPr userDrawn="1"/>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870" fontAlgn="auto">
              <a:spcBef>
                <a:spcPts val="0"/>
              </a:spcBef>
              <a:spcAft>
                <a:spcPts val="0"/>
              </a:spcAft>
              <a:defRPr/>
            </a:pPr>
            <a:fld id="{4ABDCABE-3F10-B64C-92F1-862014417034}" type="slidenum">
              <a:rPr lang="en-US" sz="900" smtClean="0">
                <a:solidFill>
                  <a:schemeClr val="tx1"/>
                </a:solidFill>
                <a:latin typeface="+mj-lt"/>
                <a:ea typeface="+mj-ea"/>
                <a:cs typeface="Arial" panose="020B0604020202020204" pitchFamily="34" charset="0"/>
              </a:rPr>
              <a:t>‹#›</a:t>
            </a:fld>
            <a:endParaRPr lang="en-US" sz="900" dirty="0">
              <a:solidFill>
                <a:schemeClr val="tx1"/>
              </a:solidFill>
              <a:latin typeface="+mj-lt"/>
              <a:ea typeface="+mj-ea"/>
              <a:cs typeface="Arial" panose="020B0604020202020204" pitchFamily="34" charset="0"/>
            </a:endParaRPr>
          </a:p>
        </p:txBody>
      </p:sp>
      <p:sp>
        <p:nvSpPr>
          <p:cNvPr id="31" name="5. Source" hidden="1"/>
          <p:cNvSpPr txBox="1"/>
          <p:nvPr userDrawn="1"/>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6255" indent="-287655">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880">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endParaRPr/>
          </a:p>
        </p:txBody>
      </p:sp>
      <p:sp>
        <p:nvSpPr>
          <p:cNvPr id="32" name="1. On-page tracker"/>
          <p:cNvSpPr>
            <a:spLocks noGrp="1"/>
          </p:cNvSpPr>
          <p:nvPr>
            <p:ph type="body" sz="quarter" idx="17" hasCustomPrompt="1"/>
          </p:nvPr>
        </p:nvSpPr>
        <p:spPr>
          <a:xfrm>
            <a:off x="7159752" y="78768"/>
            <a:ext cx="4480560" cy="123111"/>
          </a:xfrm>
        </p:spPr>
        <p:txBody>
          <a:bodyPr anchor="ctr" anchorCtr="0">
            <a:spAutoFit/>
          </a:bodyPr>
          <a:lstStyle>
            <a:lvl1pPr algn="r">
              <a:defRPr sz="800">
                <a:latin typeface="+mj-lt"/>
                <a:ea typeface="+mj-ea"/>
              </a:defRPr>
            </a:lvl1pPr>
          </a:lstStyle>
          <a:p>
            <a:pPr lvl="0"/>
            <a:r>
              <a:rPr lang="en-US" dirty="0"/>
              <a:t>Chapter › Topic</a:t>
            </a:r>
            <a:endParaRPr/>
          </a:p>
        </p:txBody>
      </p:sp>
      <p:sp>
        <p:nvSpPr>
          <p:cNvPr id="33" name="3. Subtitle"/>
          <p:cNvSpPr>
            <a:spLocks noGrp="1"/>
          </p:cNvSpPr>
          <p:nvPr>
            <p:ph type="subTitle" idx="1"/>
          </p:nvPr>
        </p:nvSpPr>
        <p:spPr>
          <a:xfrm>
            <a:off x="158750" y="919250"/>
            <a:ext cx="11478514" cy="246221"/>
          </a:xfrm>
        </p:spPr>
        <p:txBody>
          <a:bodyPr anchor="ctr" anchorCtr="0"/>
          <a:lstStyle>
            <a:lvl1pPr>
              <a:defRPr>
                <a:latin typeface="+mj-lt"/>
                <a:ea typeface="+mj-ea"/>
              </a:defRPr>
            </a:lvl1pPr>
          </a:lstStyle>
          <a:p>
            <a:r>
              <a:rPr lang="en-US" sz="1600"/>
              <a:t>Click to edit Master subtitle style</a:t>
            </a:r>
            <a:endParaRPr lang="en-US" sz="1600" dirty="0"/>
          </a:p>
        </p:txBody>
      </p:sp>
      <p:sp>
        <p:nvSpPr>
          <p:cNvPr id="34" name="Text Placeholder 4"/>
          <p:cNvSpPr>
            <a:spLocks noGrp="1"/>
          </p:cNvSpPr>
          <p:nvPr>
            <p:ph idx="18"/>
          </p:nvPr>
        </p:nvSpPr>
        <p:spPr>
          <a:xfrm>
            <a:off x="158750" y="2170800"/>
            <a:ext cx="2880641" cy="1384995"/>
          </a:xfrm>
          <a:prstGeom prst="rect">
            <a:avLst/>
          </a:prstGeom>
        </p:spPr>
        <p:txBody>
          <a:bodyPr vert="horz" wrap="square" lIns="0" tIns="0" rIns="0" bIns="0" rtlCol="0">
            <a:spAutoFit/>
          </a:bodyPr>
          <a:lstStyle/>
          <a:p>
            <a:pPr lvl="0"/>
            <a:r>
              <a:rPr lang="en-US" dirty="0"/>
              <a:t>Click to edit Master text styles</a:t>
            </a:r>
            <a:endParaRPr/>
          </a:p>
          <a:p>
            <a:pPr lvl="1"/>
            <a:r>
              <a:rPr lang="en-US" dirty="0"/>
              <a:t>Second level</a:t>
            </a:r>
            <a:endParaRPr/>
          </a:p>
          <a:p>
            <a:pPr lvl="2"/>
            <a:r>
              <a:rPr lang="en-US" dirty="0"/>
              <a:t>Third level</a:t>
            </a:r>
            <a:endParaRPr/>
          </a:p>
          <a:p>
            <a:pPr lvl="3"/>
            <a:r>
              <a:rPr lang="en-US" dirty="0"/>
              <a:t>Fourth level</a:t>
            </a:r>
            <a:endParaRPr/>
          </a:p>
          <a:p>
            <a:pPr lvl="4"/>
            <a:r>
              <a:rPr lang="en-US" dirty="0"/>
              <a:t>Fifth level</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9D6027-F7C7-4EF3-85DD-09E27ACEEACA}"/>
              </a:ext>
            </a:extLst>
          </p:cNvPr>
          <p:cNvSpPr>
            <a:spLocks noGrp="1"/>
          </p:cNvSpPr>
          <p:nvPr>
            <p:ph type="dt" sz="half" idx="10"/>
          </p:nvPr>
        </p:nvSpPr>
        <p:spPr/>
        <p:txBody>
          <a:bodyPr/>
          <a:lstStyle/>
          <a:p>
            <a:fld id="{B9109487-48C0-49BF-9A76-4EC48A3BB7C8}" type="datetime1">
              <a:rPr lang="zh-CN" altLang="en-US" smtClean="0"/>
              <a:t>2025/9/25</a:t>
            </a:fld>
            <a:endParaRPr lang="zh-CN" altLang="en-US"/>
          </a:p>
        </p:txBody>
      </p:sp>
      <p:sp>
        <p:nvSpPr>
          <p:cNvPr id="3" name="Footer Placeholder 2">
            <a:extLst>
              <a:ext uri="{FF2B5EF4-FFF2-40B4-BE49-F238E27FC236}">
                <a16:creationId xmlns:a16="http://schemas.microsoft.com/office/drawing/2014/main" id="{66262BA1-A5A7-45F4-B365-E880E1C324C3}"/>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F80CF1E8-0939-4B4D-A4D3-E47E208FC47E}"/>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32160672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CCB8619-3FCC-0EF8-E258-77211AE9EE24}"/>
              </a:ext>
            </a:extLst>
          </p:cNvPr>
          <p:cNvGraphicFramePr>
            <a:graphicFrameLocks noChangeAspect="1"/>
          </p:cNvGraphicFramePr>
          <p:nvPr userDrawn="1">
            <p:custDataLst>
              <p:tags r:id="rId1"/>
            </p:custDataLst>
            <p:extLst>
              <p:ext uri="{D42A27DB-BD31-4B8C-83A1-F6EECF244321}">
                <p14:modId xmlns:p14="http://schemas.microsoft.com/office/powerpoint/2010/main" val="13014393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 imgW="349" imgH="350" progId="TCLayout.ActiveDocument.1">
                  <p:embed/>
                </p:oleObj>
              </mc:Choice>
              <mc:Fallback>
                <p:oleObj name="think-cell 幻灯片" r:id="rId3" imgW="349" imgH="350" progId="TCLayout.ActiveDocument.1">
                  <p:embed/>
                  <p:pic>
                    <p:nvPicPr>
                      <p:cNvPr id="4" name="Object 3" hidden="1">
                        <a:extLst>
                          <a:ext uri="{FF2B5EF4-FFF2-40B4-BE49-F238E27FC236}">
                            <a16:creationId xmlns:a16="http://schemas.microsoft.com/office/drawing/2014/main" id="{ACCB8619-3FCC-0EF8-E258-77211AE9EE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Placeholder 1">
            <a:extLst>
              <a:ext uri="{FF2B5EF4-FFF2-40B4-BE49-F238E27FC236}">
                <a16:creationId xmlns:a16="http://schemas.microsoft.com/office/drawing/2014/main" id="{CA9EE022-1F91-8EF9-007F-7CEE235FD9C2}"/>
              </a:ext>
            </a:extLst>
          </p:cNvPr>
          <p:cNvSpPr>
            <a:spLocks noGrp="1"/>
          </p:cNvSpPr>
          <p:nvPr>
            <p:ph type="title"/>
          </p:nvPr>
        </p:nvSpPr>
        <p:spPr>
          <a:xfrm>
            <a:off x="403200" y="258578"/>
            <a:ext cx="10087200" cy="387798"/>
          </a:xfrm>
          <a:prstGeom prst="rect">
            <a:avLst/>
          </a:prstGeom>
        </p:spPr>
        <p:txBody>
          <a:bodyPr vert="horz" wrap="square" lIns="0" tIns="0" rIns="0" bIns="0" rtlCol="0" anchor="t" anchorCtr="0">
            <a:spAutoFit/>
          </a:bodyPr>
          <a:lstStyle>
            <a:lvl1pPr rtl="0">
              <a:defRPr>
                <a:latin typeface="+mj-lt"/>
                <a:cs typeface="+mj-cs"/>
              </a:defRPr>
            </a:lvl1pPr>
          </a:lstStyle>
          <a:p>
            <a:r>
              <a:rPr lang="en-US"/>
              <a:t>Click to edit Master title style</a:t>
            </a:r>
          </a:p>
        </p:txBody>
      </p:sp>
    </p:spTree>
    <p:extLst>
      <p:ext uri="{BB962C8B-B14F-4D97-AF65-F5344CB8AC3E}">
        <p14:creationId xmlns:p14="http://schemas.microsoft.com/office/powerpoint/2010/main" val="82076385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37" name="think-cell data - do not delete" hidden="1">
            <a:extLst>
              <a:ext uri="{FF2B5EF4-FFF2-40B4-BE49-F238E27FC236}">
                <a16:creationId xmlns:a16="http://schemas.microsoft.com/office/drawing/2014/main" id="{5498E0C6-D3B1-F8C9-B459-36796394059F}"/>
              </a:ext>
            </a:extLst>
          </p:cNvPr>
          <p:cNvGraphicFramePr>
            <a:graphicFrameLocks noChangeAspect="1"/>
          </p:cNvGraphicFramePr>
          <p:nvPr userDrawn="1">
            <p:custDataLst>
              <p:tags r:id="rId15"/>
            </p:custDataLst>
            <p:extLst>
              <p:ext uri="{D42A27DB-BD31-4B8C-83A1-F6EECF244321}">
                <p14:modId xmlns:p14="http://schemas.microsoft.com/office/powerpoint/2010/main" val="9499258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6" imgW="7772400" imgH="10058400" progId="TCLayout.ActiveDocument.1">
                  <p:embed/>
                </p:oleObj>
              </mc:Choice>
              <mc:Fallback>
                <p:oleObj name="think-cell 幻灯片" r:id="rId16" imgW="7772400" imgH="10058400" progId="TCLayout.ActiveDocument.1">
                  <p:embed/>
                  <p:pic>
                    <p:nvPicPr>
                      <p:cNvPr id="0" name=""/>
                      <p:cNvPicPr/>
                      <p:nvPr/>
                    </p:nvPicPr>
                    <p:blipFill>
                      <a:blip r:embed="rId17"/>
                      <a:stretch>
                        <a:fillRect/>
                      </a:stretch>
                    </p:blipFill>
                    <p:spPr>
                      <a:xfrm>
                        <a:off x="1588" y="1588"/>
                        <a:ext cx="1227" cy="1588"/>
                      </a:xfrm>
                      <a:prstGeom prst="rect">
                        <a:avLst/>
                      </a:prstGeom>
                    </p:spPr>
                  </p:pic>
                </p:oleObj>
              </mc:Fallback>
            </mc:AlternateContent>
          </a:graphicData>
        </a:graphic>
      </p:graphicFrame>
      <p:pic>
        <p:nvPicPr>
          <p:cNvPr id="2" name="图片 7" descr="03_Tencent_English logo"/>
          <p:cNvPicPr>
            <a:picLocks noChangeAspect="1"/>
          </p:cNvPicPr>
          <p:nvPr userDrawn="1"/>
        </p:nvPicPr>
        <p:blipFill>
          <a:blip r:embed="rId18"/>
          <a:stretch>
            <a:fillRect/>
          </a:stretch>
        </p:blipFill>
        <p:spPr>
          <a:xfrm>
            <a:off x="10466705" y="31750"/>
            <a:ext cx="1636395" cy="673100"/>
          </a:xfrm>
          <a:prstGeom prst="rect">
            <a:avLst/>
          </a:prstGeom>
        </p:spPr>
      </p:pic>
      <p:pic>
        <p:nvPicPr>
          <p:cNvPr id="3" name="Object 6" hidden="1"/>
          <p:cNvPicPr/>
          <p:nvPr/>
        </p:nvPicPr>
        <p:blipFill>
          <a:blip r:embed="rId19"/>
          <a:stretch>
            <a:fillRect/>
          </a:stretch>
        </p:blipFill>
        <p:spPr>
          <a:xfrm>
            <a:off x="1588" y="1588"/>
            <a:ext cx="1588" cy="1588"/>
          </a:xfrm>
          <a:prstGeom prst="rect">
            <a:avLst/>
          </a:prstGeom>
        </p:spPr>
      </p:pic>
      <p:sp>
        <p:nvSpPr>
          <p:cNvPr id="4" name="Rectangle 1" hidden="1"/>
          <p:cNvSpPr/>
          <p:nvPr userDrawn="1"/>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a:spcBef>
                <a:spcPts val="300"/>
              </a:spcBef>
              <a:spcAft>
                <a:spcPts val="300"/>
              </a:spcAft>
            </a:pPr>
            <a:endParaRPr lang="en-US" sz="2500" b="1" i="0" baseline="0" dirty="0">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5" name="4. Footnote" hidden="1"/>
          <p:cNvSpPr txBox="1"/>
          <p:nvPr userDrawn="1"/>
        </p:nvSpPr>
        <p:spPr>
          <a:xfrm>
            <a:off x="553972" y="6278400"/>
            <a:ext cx="727862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defRPr sz="800">
                <a:cs typeface="Arial" panose="020B0604020202020204" pitchFamily="34" charset="0"/>
              </a:defRPr>
            </a:lvl1pPr>
          </a:lstStyle>
          <a:p>
            <a:pPr lvl="0"/>
            <a:r>
              <a:rPr lang="en-US" dirty="0">
                <a:latin typeface="微软雅黑" panose="020B0503020204020204" pitchFamily="34" charset="-122"/>
                <a:ea typeface="微软雅黑" panose="020B0503020204020204" pitchFamily="34" charset="-122"/>
                <a:sym typeface="微软雅黑" panose="020B0503020204020204" pitchFamily="34" charset="-122"/>
              </a:rPr>
              <a:t>Footnotes</a:t>
            </a:r>
            <a:endParaRPr/>
          </a:p>
        </p:txBody>
      </p:sp>
      <p:sp>
        <p:nvSpPr>
          <p:cNvPr id="6" name="2. Slide Title"/>
          <p:cNvSpPr>
            <a:spLocks noGrp="1"/>
          </p:cNvSpPr>
          <p:nvPr>
            <p:ph type="title"/>
          </p:nvPr>
        </p:nvSpPr>
        <p:spPr>
          <a:xfrm>
            <a:off x="158750" y="172212"/>
            <a:ext cx="9677146" cy="731520"/>
          </a:xfrm>
          <a:prstGeom prst="rect">
            <a:avLst/>
          </a:prstGeom>
        </p:spPr>
        <p:txBody>
          <a:bodyPr vert="horz" wrap="square" lIns="0" tIns="0" rIns="0" bIns="0" rtlCol="0" anchor="ctr" anchorCtr="0">
            <a:noAutofit/>
          </a:bodyPr>
          <a:lstStyle/>
          <a:p>
            <a:pPr lvl="0"/>
            <a:r>
              <a:rPr lang="en-US" dirty="0"/>
              <a:t>Click to edit Master title style</a:t>
            </a:r>
            <a:endParaRPr/>
          </a:p>
        </p:txBody>
      </p:sp>
      <p:grpSp>
        <p:nvGrpSpPr>
          <p:cNvPr id="7" name="Grid" hidden="1"/>
          <p:cNvGrpSpPr/>
          <p:nvPr userDrawn="1"/>
        </p:nvGrpSpPr>
        <p:grpSpPr>
          <a:xfrm>
            <a:off x="0" y="0"/>
            <a:ext cx="12190476" cy="6858000"/>
            <a:chOff x="0" y="0"/>
            <a:chExt cx="12190476" cy="6858000"/>
          </a:xfrm>
        </p:grpSpPr>
        <p:sp>
          <p:nvSpPr>
            <p:cNvPr id="8" name="slide margin"/>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9" name="Straight Connector 60"/>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61"/>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1" name="Straight Connector 62"/>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63"/>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64"/>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65"/>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66"/>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6" name="Straight Connector 67"/>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68"/>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69"/>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70"/>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71"/>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21" name="Freeform: Shape 72"/>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Freeform: Shape 73"/>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Freeform: Shape 74"/>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Freeform: Shape 75"/>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Freeform: Shape 76"/>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Freeform: Shape 77"/>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Freeform: Shape 78"/>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Freeform: Shape 79"/>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Freeform: Shape 80"/>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Freeform: Shape 81"/>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Freeform: Shape 82"/>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 name="Freeform: Shape 83"/>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Freeform: Shape 84"/>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Freeform: Shape 85"/>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Freeform: Shape 86"/>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Freeform: Shape 87"/>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Freeform: Shape 88"/>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Freeform: Shape 89"/>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Freeform: Shape 90"/>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Freeform: Shape 91"/>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Freeform: Shape 92"/>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Freeform: Shape 93"/>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Freeform: Shape 94"/>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 name="Freeform: Shape 95"/>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5" name="Freeform: Shape 96"/>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noAutofit/>
            </a:bodyPr>
            <a:lstStyle/>
            <a:p>
              <a:pPr lvl="0" algn="ctr"/>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46" name="Straight Connector 97"/>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47" name="Straight Connector 98"/>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48" name="Straight Connector 99"/>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49" name="Straight Connector 100"/>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0" name="Straight Connector 101"/>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1" name="Straight Connector 104"/>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106"/>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107"/>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108"/>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109"/>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110"/>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7" name="Straight Connector 111"/>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8" name="Straight Connector 112"/>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9" name="Straight Connector 113"/>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0" name="Straight Connector 114"/>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1" name="Straight Connector 115"/>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2" name="Straight Connector 116"/>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3" name="Straight Connector 117"/>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4" name="Straight Connector 118"/>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5" name="Straight Connector 119"/>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6" name="Straight Connector 120"/>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7" name="Straight Connector 121"/>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8" name="Straight Connector 122"/>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9" name="Straight Connector 123"/>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0" name="Straight Connector 124"/>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1" name="Straight Connector 125"/>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2" name="Straight Connector 126"/>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3" name="Straight Connector 127"/>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4" name="Straight Connector 128"/>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5" name="Straight Connector 129"/>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6" name="Straight Connector 130"/>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7" name="Straight Connector 131"/>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132"/>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133"/>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134"/>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135"/>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136"/>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137"/>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138"/>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139"/>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140"/>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141"/>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142"/>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143"/>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90" name="main body box"/>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noAutofit/>
            </a:bodyPr>
            <a:lstStyle/>
            <a:p>
              <a:endParaRPr lang="en-US" sz="1325"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91" name="Straight Connector 145"/>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92" name="Straight Connector 146"/>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93" name="Sticker" hidden="1"/>
          <p:cNvSpPr txBox="1"/>
          <p:nvPr userDrawn="1"/>
        </p:nvSpPr>
        <p:spPr>
          <a:xfrm>
            <a:off x="554736" y="1323648"/>
            <a:ext cx="431208"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a:r>
              <a:rPr lang="en-US" dirty="0">
                <a:latin typeface="微软雅黑" panose="020B0503020204020204" pitchFamily="34" charset="-122"/>
                <a:ea typeface="微软雅黑" panose="020B0503020204020204" pitchFamily="34" charset="-122"/>
                <a:sym typeface="微软雅黑" panose="020B0503020204020204" pitchFamily="34" charset="-122"/>
              </a:rPr>
              <a:t>STICKER</a:t>
            </a:r>
            <a:endParaRPr/>
          </a:p>
        </p:txBody>
      </p:sp>
      <p:sp>
        <p:nvSpPr>
          <p:cNvPr id="94" name="ACET" hidden="1"/>
          <p:cNvSpPr txBox="1"/>
          <p:nvPr userDrawn="1"/>
        </p:nvSpPr>
        <p:spPr>
          <a:xfrm>
            <a:off x="554736" y="2170800"/>
            <a:ext cx="3049253" cy="492443"/>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3230" lvl="2" indent="-214630">
              <a:lnSpc>
                <a:spcPct val="100000"/>
              </a:lnSpc>
              <a:spcBef>
                <a:spcPts val="0"/>
              </a:spcBef>
              <a:spcAft>
                <a:spcPts val="300"/>
              </a:spcAft>
              <a:buSzPct val="110000"/>
              <a:buFont typeface="Arial" panose="020B0604020202020204" pitchFamily="34" charset="0"/>
              <a:buChar char="‒"/>
              <a:defRPr sz="1600"/>
            </a:lvl3pPr>
            <a:lvl4pPr marL="598805" lvl="3" indent="-152400">
              <a:lnSpc>
                <a:spcPct val="100000"/>
              </a:lnSpc>
              <a:spcBef>
                <a:spcPts val="0"/>
              </a:spcBef>
              <a:spcAft>
                <a:spcPts val="300"/>
              </a:spcAft>
              <a:buFont typeface="Arial" panose="020B0604020202020204" pitchFamily="34" charset="0"/>
              <a:buChar char="•"/>
              <a:defRPr sz="1600"/>
            </a:lvl4pPr>
            <a:lvl5pPr marL="817880" lvl="4" indent="-147955">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dirty="0">
                <a:latin typeface="微软雅黑" panose="020B0503020204020204" pitchFamily="34" charset="-122"/>
                <a:ea typeface="微软雅黑" panose="020B0503020204020204" pitchFamily="34" charset="-122"/>
                <a:sym typeface="微软雅黑" panose="020B0503020204020204" pitchFamily="34" charset="-122"/>
              </a:rPr>
              <a:t>Above Chart Exhibit Title</a:t>
            </a:r>
            <a:br>
              <a:rPr lang="en-US" dirty="0">
                <a:latin typeface="微软雅黑" panose="020B0503020204020204" pitchFamily="34" charset="-122"/>
                <a:ea typeface="微软雅黑" panose="020B0503020204020204" pitchFamily="34" charset="-122"/>
                <a:sym typeface="微软雅黑" panose="020B0503020204020204" pitchFamily="34" charset="-122"/>
              </a:rPr>
            </a:br>
            <a:r>
              <a:rPr lang="en-US" b="0" dirty="0">
                <a:latin typeface="微软雅黑" panose="020B0503020204020204" pitchFamily="34" charset="-122"/>
                <a:ea typeface="微软雅黑" panose="020B0503020204020204" pitchFamily="34" charset="-122"/>
                <a:sym typeface="微软雅黑" panose="020B0503020204020204" pitchFamily="34" charset="-122"/>
              </a:rPr>
              <a:t>Unit of Measure</a:t>
            </a:r>
            <a:endParaRPr/>
          </a:p>
        </p:txBody>
      </p:sp>
      <p:sp>
        <p:nvSpPr>
          <p:cNvPr id="95" name="Text Placeholder 4"/>
          <p:cNvSpPr>
            <a:spLocks noGrp="1"/>
          </p:cNvSpPr>
          <p:nvPr>
            <p:ph type="body" idx="1"/>
          </p:nvPr>
        </p:nvSpPr>
        <p:spPr>
          <a:xfrm>
            <a:off x="158750" y="2170800"/>
            <a:ext cx="2880641" cy="246221"/>
          </a:xfrm>
          <a:prstGeom prst="rect">
            <a:avLst/>
          </a:prstGeom>
        </p:spPr>
        <p:txBody>
          <a:bodyPr vert="horz" wrap="square" lIns="0" tIns="0" rIns="0" bIns="0" rtlCol="0">
            <a:spAutoFit/>
          </a:bodyPr>
          <a:lstStyle/>
          <a:p>
            <a:pPr lvl="0"/>
            <a:r>
              <a:rPr lang="en-US"/>
              <a:t>Text</a:t>
            </a:r>
            <a:endParaRPr lang="en-US" dirty="0"/>
          </a:p>
        </p:txBody>
      </p:sp>
      <p:grpSp>
        <p:nvGrpSpPr>
          <p:cNvPr id="96" name="LegendLines" hidden="1"/>
          <p:cNvGrpSpPr/>
          <p:nvPr userDrawn="1"/>
        </p:nvGrpSpPr>
        <p:grpSpPr>
          <a:xfrm>
            <a:off x="10317304" y="3150223"/>
            <a:ext cx="1361638" cy="958286"/>
            <a:chOff x="10162879" y="3243772"/>
            <a:chExt cx="1361638" cy="958286"/>
          </a:xfrm>
        </p:grpSpPr>
        <p:sp>
          <p:nvSpPr>
            <p:cNvPr id="97" name="Legend1" hidden="1"/>
            <p:cNvSpPr txBox="1"/>
            <p:nvPr/>
          </p:nvSpPr>
          <p:spPr>
            <a:xfrm>
              <a:off x="10886522" y="3243772"/>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sp>
          <p:nvSpPr>
            <p:cNvPr id="98" name="Legend2" hidden="1"/>
            <p:cNvSpPr txBox="1"/>
            <p:nvPr/>
          </p:nvSpPr>
          <p:spPr>
            <a:xfrm>
              <a:off x="10886522" y="3615193"/>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sp>
          <p:nvSpPr>
            <p:cNvPr id="99" name="Legend3" hidden="1"/>
            <p:cNvSpPr txBox="1"/>
            <p:nvPr/>
          </p:nvSpPr>
          <p:spPr>
            <a:xfrm>
              <a:off x="10886522" y="3986614"/>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sp>
          <p:nvSpPr>
            <p:cNvPr id="100" name="LineLegend3" hidden="1"/>
            <p:cNvSpPr>
              <a:spLocks noChangeShapeType="1"/>
            </p:cNvSpPr>
            <p:nvPr/>
          </p:nvSpPr>
          <p:spPr bwMode="gray">
            <a:xfrm>
              <a:off x="10162879" y="4092784"/>
              <a:ext cx="457200" cy="0"/>
            </a:xfrm>
            <a:prstGeom prst="line">
              <a:avLst/>
            </a:prstGeom>
            <a:noFill/>
            <a:ln w="28575">
              <a:solidFill>
                <a:schemeClr val="accent1"/>
              </a:solidFill>
              <a:round/>
            </a:ln>
            <a:effectLst/>
          </p:spPr>
          <p:txBody>
            <a:bodyPr/>
            <a:lstStyle/>
            <a:p>
              <a:endParaRPr lang="en-US" sz="1400" baseline="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1" name="LineLegend2" hidden="1"/>
            <p:cNvSpPr>
              <a:spLocks noChangeShapeType="1"/>
            </p:cNvSpPr>
            <p:nvPr/>
          </p:nvSpPr>
          <p:spPr bwMode="gray">
            <a:xfrm>
              <a:off x="10162879" y="3719425"/>
              <a:ext cx="457200" cy="0"/>
            </a:xfrm>
            <a:prstGeom prst="line">
              <a:avLst/>
            </a:prstGeom>
            <a:noFill/>
            <a:ln w="28575">
              <a:solidFill>
                <a:schemeClr val="accent1"/>
              </a:solidFill>
              <a:prstDash val="dash"/>
              <a:round/>
            </a:ln>
            <a:effectLst/>
          </p:spPr>
          <p:txBody>
            <a:bodyPr/>
            <a:lstStyle/>
            <a:p>
              <a:endParaRPr lang="en-US" sz="1400" baseline="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2" name="LineLegend1" hidden="1"/>
            <p:cNvSpPr>
              <a:spLocks noChangeShapeType="1"/>
            </p:cNvSpPr>
            <p:nvPr/>
          </p:nvSpPr>
          <p:spPr bwMode="gray">
            <a:xfrm>
              <a:off x="10162879" y="3351494"/>
              <a:ext cx="457200" cy="0"/>
            </a:xfrm>
            <a:prstGeom prst="line">
              <a:avLst/>
            </a:prstGeom>
            <a:noFill/>
            <a:ln w="28575">
              <a:solidFill>
                <a:schemeClr val="accent1"/>
              </a:solidFill>
              <a:prstDash val="sysDot"/>
              <a:round/>
            </a:ln>
            <a:effectLst/>
          </p:spPr>
          <p:txBody>
            <a:bodyPr/>
            <a:lstStyle/>
            <a:p>
              <a:endParaRPr lang="en-US" sz="1400" baseline="0" dirty="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03" name="LegendMoons" hidden="1"/>
          <p:cNvGrpSpPr/>
          <p:nvPr userDrawn="1"/>
        </p:nvGrpSpPr>
        <p:grpSpPr>
          <a:xfrm>
            <a:off x="10688315" y="1145373"/>
            <a:ext cx="990627" cy="1731859"/>
            <a:chOff x="7723680" y="1702457"/>
            <a:chExt cx="990627" cy="1731859"/>
          </a:xfrm>
        </p:grpSpPr>
        <p:sp>
          <p:nvSpPr>
            <p:cNvPr id="104" name="Legend1" hidden="1"/>
            <p:cNvSpPr txBox="1"/>
            <p:nvPr/>
          </p:nvSpPr>
          <p:spPr>
            <a:xfrm>
              <a:off x="8076312" y="1709816"/>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sp>
          <p:nvSpPr>
            <p:cNvPr id="105" name="Legend2" hidden="1"/>
            <p:cNvSpPr txBox="1"/>
            <p:nvPr/>
          </p:nvSpPr>
          <p:spPr>
            <a:xfrm>
              <a:off x="8076312" y="2085275"/>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sp>
          <p:nvSpPr>
            <p:cNvPr id="106" name="Legend3" hidden="1"/>
            <p:cNvSpPr txBox="1"/>
            <p:nvPr/>
          </p:nvSpPr>
          <p:spPr>
            <a:xfrm>
              <a:off x="8076312" y="2460734"/>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sp>
          <p:nvSpPr>
            <p:cNvPr id="107" name="Legend4" hidden="1"/>
            <p:cNvSpPr txBox="1"/>
            <p:nvPr/>
          </p:nvSpPr>
          <p:spPr>
            <a:xfrm>
              <a:off x="8076312" y="2836193"/>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sp>
          <p:nvSpPr>
            <p:cNvPr id="108" name="Legend5" hidden="1"/>
            <p:cNvSpPr txBox="1"/>
            <p:nvPr/>
          </p:nvSpPr>
          <p:spPr>
            <a:xfrm>
              <a:off x="8076312" y="3211654"/>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grpSp>
          <p:nvGrpSpPr>
            <p:cNvPr id="109" name="MoonLegend1" hidden="1"/>
            <p:cNvGrpSpPr>
              <a:grpSpLocks noChangeAspect="1"/>
            </p:cNvGrpSpPr>
            <p:nvPr/>
          </p:nvGrpSpPr>
          <p:grpSpPr>
            <a:xfrm>
              <a:off x="7723680" y="1702457"/>
              <a:ext cx="228600" cy="228600"/>
              <a:chOff x="762000" y="1270000"/>
              <a:chExt cx="254000" cy="254000"/>
            </a:xfrm>
          </p:grpSpPr>
          <p:sp>
            <p:nvSpPr>
              <p:cNvPr id="110" name="Oval 213" hidden="1"/>
              <p:cNvSpPr/>
              <p:nvPr/>
            </p:nvSpPr>
            <p:spPr>
              <a:xfrm>
                <a:off x="762000" y="1270000"/>
                <a:ext cx="254000" cy="254000"/>
              </a:xfrm>
              <a:prstGeom prst="ellipse">
                <a:avLst/>
              </a:prstGeom>
              <a:solidFill>
                <a:srgbClr val="D0D0D0"/>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1" name="Arc 214" hidden="1"/>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dirty="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12" name="MoonLegend2" hidden="1"/>
            <p:cNvGrpSpPr>
              <a:grpSpLocks noChangeAspect="1"/>
            </p:cNvGrpSpPr>
            <p:nvPr/>
          </p:nvGrpSpPr>
          <p:grpSpPr>
            <a:xfrm>
              <a:off x="7723680" y="2078270"/>
              <a:ext cx="228600" cy="228600"/>
              <a:chOff x="762000" y="1270000"/>
              <a:chExt cx="254000" cy="254000"/>
            </a:xfrm>
          </p:grpSpPr>
          <p:sp>
            <p:nvSpPr>
              <p:cNvPr id="113" name="Oval 211" hidden="1"/>
              <p:cNvSpPr/>
              <p:nvPr/>
            </p:nvSpPr>
            <p:spPr>
              <a:xfrm>
                <a:off x="762000" y="1270000"/>
                <a:ext cx="254000" cy="254000"/>
              </a:xfrm>
              <a:prstGeom prst="ellipse">
                <a:avLst/>
              </a:prstGeom>
              <a:solidFill>
                <a:srgbClr val="D0D0D0"/>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4" name="Arc 212" hidden="1"/>
              <p:cNvSpPr/>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dirty="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15" name="MoonLegend3" hidden="1"/>
            <p:cNvGrpSpPr>
              <a:grpSpLocks noChangeAspect="1"/>
            </p:cNvGrpSpPr>
            <p:nvPr/>
          </p:nvGrpSpPr>
          <p:grpSpPr>
            <a:xfrm>
              <a:off x="7723680" y="2454085"/>
              <a:ext cx="228600" cy="228600"/>
              <a:chOff x="762000" y="1270000"/>
              <a:chExt cx="254000" cy="254000"/>
            </a:xfrm>
          </p:grpSpPr>
          <p:sp>
            <p:nvSpPr>
              <p:cNvPr id="116" name="Oval 209" hidden="1"/>
              <p:cNvSpPr/>
              <p:nvPr/>
            </p:nvSpPr>
            <p:spPr>
              <a:xfrm>
                <a:off x="762000" y="1270000"/>
                <a:ext cx="254000" cy="254000"/>
              </a:xfrm>
              <a:prstGeom prst="ellipse">
                <a:avLst/>
              </a:prstGeom>
              <a:solidFill>
                <a:srgbClr val="D0D0D0"/>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7" name="Arc 210" hidden="1"/>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dirty="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18" name="MoonLegend4" hidden="1"/>
            <p:cNvGrpSpPr>
              <a:grpSpLocks noChangeAspect="1"/>
            </p:cNvGrpSpPr>
            <p:nvPr/>
          </p:nvGrpSpPr>
          <p:grpSpPr>
            <a:xfrm>
              <a:off x="7723680" y="2829900"/>
              <a:ext cx="228600" cy="228600"/>
              <a:chOff x="762000" y="1270000"/>
              <a:chExt cx="254000" cy="254000"/>
            </a:xfrm>
          </p:grpSpPr>
          <p:sp>
            <p:nvSpPr>
              <p:cNvPr id="119" name="Oval 207" hidden="1"/>
              <p:cNvSpPr/>
              <p:nvPr/>
            </p:nvSpPr>
            <p:spPr>
              <a:xfrm>
                <a:off x="762000" y="1270000"/>
                <a:ext cx="254000" cy="254000"/>
              </a:xfrm>
              <a:prstGeom prst="ellipse">
                <a:avLst/>
              </a:prstGeom>
              <a:solidFill>
                <a:srgbClr val="D0D0D0"/>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0" name="Arc 208" hidden="1"/>
              <p:cNvSpPr/>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dirty="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21" name="MoonLegend5" hidden="1"/>
            <p:cNvGrpSpPr>
              <a:grpSpLocks noChangeAspect="1"/>
            </p:cNvGrpSpPr>
            <p:nvPr/>
          </p:nvGrpSpPr>
          <p:grpSpPr>
            <a:xfrm>
              <a:off x="7723680" y="3205716"/>
              <a:ext cx="228600" cy="228600"/>
              <a:chOff x="762000" y="1270000"/>
              <a:chExt cx="254000" cy="254000"/>
            </a:xfrm>
          </p:grpSpPr>
          <p:sp>
            <p:nvSpPr>
              <p:cNvPr id="122" name="Oval 205" hidden="1"/>
              <p:cNvSpPr/>
              <p:nvPr/>
            </p:nvSpPr>
            <p:spPr>
              <a:xfrm>
                <a:off x="762000" y="1270000"/>
                <a:ext cx="254000" cy="254000"/>
              </a:xfrm>
              <a:prstGeom prst="ellipse">
                <a:avLst/>
              </a:prstGeom>
              <a:solidFill>
                <a:srgbClr val="D0D0D0"/>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3" name="Arc 206" hidden="1"/>
              <p:cNvSpPr/>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dirty="0">
                  <a:latin typeface="微软雅黑" panose="020B0503020204020204" pitchFamily="34" charset="-122"/>
                  <a:ea typeface="微软雅黑" panose="020B0503020204020204" pitchFamily="34" charset="-122"/>
                  <a:sym typeface="微软雅黑" panose="020B0503020204020204" pitchFamily="34" charset="-122"/>
                </a:endParaRPr>
              </a:p>
            </p:txBody>
          </p:sp>
        </p:grpSp>
      </p:grpSp>
      <p:grpSp>
        <p:nvGrpSpPr>
          <p:cNvPr id="124" name="LegendBoxes" hidden="1"/>
          <p:cNvGrpSpPr/>
          <p:nvPr userDrawn="1"/>
        </p:nvGrpSpPr>
        <p:grpSpPr>
          <a:xfrm>
            <a:off x="10714801" y="4381500"/>
            <a:ext cx="964141" cy="1717282"/>
            <a:chOff x="10652400" y="4322824"/>
            <a:chExt cx="964141" cy="1717282"/>
          </a:xfrm>
        </p:grpSpPr>
        <p:sp>
          <p:nvSpPr>
            <p:cNvPr id="125" name="RectangleLegend1" hidden="1"/>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4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6" name="RectangleLegend2" hidden="1"/>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4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7" name="RectangleLegend3" hidden="1"/>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4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8" name="RectangleLegend4" hidden="1"/>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4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9" name="RectangleLegend5" hidden="1"/>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4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0" name="Legend1" hidden="1"/>
            <p:cNvSpPr txBox="1"/>
            <p:nvPr/>
          </p:nvSpPr>
          <p:spPr>
            <a:xfrm>
              <a:off x="10978546" y="4322824"/>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sp>
          <p:nvSpPr>
            <p:cNvPr id="131" name="Legend2" hidden="1"/>
            <p:cNvSpPr txBox="1"/>
            <p:nvPr/>
          </p:nvSpPr>
          <p:spPr>
            <a:xfrm>
              <a:off x="10978546" y="4702322"/>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sp>
          <p:nvSpPr>
            <p:cNvPr id="132" name="Legend3" hidden="1"/>
            <p:cNvSpPr txBox="1"/>
            <p:nvPr/>
          </p:nvSpPr>
          <p:spPr>
            <a:xfrm>
              <a:off x="10978546" y="5081820"/>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sp>
          <p:nvSpPr>
            <p:cNvPr id="133" name="Legend4" hidden="1"/>
            <p:cNvSpPr txBox="1"/>
            <p:nvPr/>
          </p:nvSpPr>
          <p:spPr>
            <a:xfrm>
              <a:off x="10978546" y="5453241"/>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sp>
          <p:nvSpPr>
            <p:cNvPr id="134" name="Legend5" hidden="1"/>
            <p:cNvSpPr txBox="1"/>
            <p:nvPr/>
          </p:nvSpPr>
          <p:spPr>
            <a:xfrm>
              <a:off x="10978545" y="5824662"/>
              <a:ext cx="637995" cy="215444"/>
            </a:xfrm>
            <a:prstGeom prst="rect">
              <a:avLst/>
            </a:prstGeom>
            <a:noFill/>
            <a:ln>
              <a:noFill/>
              <a:miter lim="800000"/>
            </a:ln>
          </p:spPr>
          <p:txBody>
            <a:bodyPr wrap="none" lIns="0" tIns="0" rIns="0" bIns="0" rtlCol="0" anchor="ctr" anchorCtr="0">
              <a:spAutoFit/>
            </a:bodyPr>
            <a:lstStyle/>
            <a:p>
              <a:pPr>
                <a:spcAft>
                  <a:spcPts val="600"/>
                </a:spcAft>
              </a:pPr>
              <a:r>
                <a:rPr lang="en-US" sz="1400" dirty="0">
                  <a:latin typeface="微软雅黑" panose="020B0503020204020204" pitchFamily="34" charset="-122"/>
                  <a:ea typeface="微软雅黑" panose="020B0503020204020204" pitchFamily="34" charset="-122"/>
                  <a:sym typeface="微软雅黑" panose="020B0503020204020204" pitchFamily="34" charset="-122"/>
                </a:rPr>
                <a:t>Legend</a:t>
              </a:r>
              <a:endParaRPr/>
            </a:p>
          </p:txBody>
        </p:sp>
      </p:grpSp>
      <p:sp>
        <p:nvSpPr>
          <p:cNvPr id="135" name="Slide Number"/>
          <p:cNvSpPr>
            <a:spLocks noChangeArrowheads="1"/>
          </p:cNvSpPr>
          <p:nvPr userDrawn="1"/>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870" fontAlgn="auto">
              <a:spcBef>
                <a:spcPts val="0"/>
              </a:spcBef>
              <a:spcAft>
                <a:spcPts val="0"/>
              </a:spcAft>
              <a:defRPr/>
            </a:pPr>
            <a:fld id="{4ABDCABE-3F10-B64C-92F1-862014417034}" type="slidenum">
              <a:rPr lang="en-US" sz="900" b="0" smtClean="0">
                <a:solidFill>
                  <a:schemeClr val="tx1"/>
                </a:solidFill>
                <a:latin typeface="+mj-lt"/>
                <a:ea typeface="+mj-ea"/>
                <a:cs typeface="Arial" panose="020B0604020202020204" pitchFamily="34" charset="0"/>
                <a:sym typeface="微软雅黑" panose="020B0503020204020204" pitchFamily="34" charset="-122"/>
              </a:rPr>
              <a:t>‹#›</a:t>
            </a:fld>
            <a:endParaRPr lang="en-US" sz="900" b="0" dirty="0">
              <a:solidFill>
                <a:schemeClr val="tx1"/>
              </a:solidFill>
              <a:latin typeface="+mj-lt"/>
              <a:ea typeface="+mj-ea"/>
              <a:cs typeface="Arial" panose="020B060402020202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hdr="0" ftr="0" dt="0"/>
  <p:txStyles>
    <p:titleStyle>
      <a:lvl1pPr algn="l" defTabSz="914400" rtl="0" eaLnBrk="1" latinLnBrk="0" hangingPunct="1">
        <a:lnSpc>
          <a:spcPct val="100000"/>
        </a:lnSpc>
        <a:spcBef>
          <a:spcPct val="1"/>
        </a:spcBef>
        <a:buNone/>
        <a:defRPr lang="en-US" sz="2500" b="0" kern="1200" spc="0" baseline="0" dirty="0">
          <a:ln w="6350" cap="flat">
            <a:noFill/>
            <a:miter lim="800000"/>
          </a:ln>
          <a:solidFill>
            <a:schemeClr val="tx1"/>
          </a:solidFill>
          <a:latin typeface="+mn-lt"/>
          <a:ea typeface="+mn-ea"/>
          <a:cs typeface="+mj-cs"/>
          <a:sym typeface="微软雅黑" panose="020B0503020204020204" pitchFamily="34" charset="-122"/>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8.emf"/><Relationship Id="rId4" Type="http://schemas.openxmlformats.org/officeDocument/2006/relationships/oleObject" Target="../embeddings/oleObject3.bin"/></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7.xml"/><Relationship Id="rId7" Type="http://schemas.openxmlformats.org/officeDocument/2006/relationships/notesSlide" Target="../notesSlides/notesSlide2.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slideLayout" Target="../slideLayouts/slideLayout13.xml"/><Relationship Id="rId5" Type="http://schemas.openxmlformats.org/officeDocument/2006/relationships/tags" Target="../tags/tag9.xml"/><Relationship Id="rId4" Type="http://schemas.openxmlformats.org/officeDocument/2006/relationships/tags" Target="../tags/tag8.xml"/><Relationship Id="rId9" Type="http://schemas.openxmlformats.org/officeDocument/2006/relationships/image" Target="../media/image7.emf"/></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5.png"/><Relationship Id="rId3" Type="http://schemas.openxmlformats.org/officeDocument/2006/relationships/notesSlide" Target="../notesSlides/notesSlide3.xml"/><Relationship Id="rId7" Type="http://schemas.openxmlformats.org/officeDocument/2006/relationships/image" Target="../media/image10.png"/><Relationship Id="rId12" Type="http://schemas.openxmlformats.org/officeDocument/2006/relationships/image" Target="../media/image14.png"/><Relationship Id="rId2" Type="http://schemas.openxmlformats.org/officeDocument/2006/relationships/slideLayout" Target="../slideLayouts/slideLayout13.xml"/><Relationship Id="rId1" Type="http://schemas.openxmlformats.org/officeDocument/2006/relationships/tags" Target="../tags/tag10.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7.emf"/><Relationship Id="rId15" Type="http://schemas.openxmlformats.org/officeDocument/2006/relationships/image" Target="../media/image17.jpg"/><Relationship Id="rId10" Type="http://schemas.microsoft.com/office/2007/relationships/hdphoto" Target="../media/hdphoto1.wdp"/><Relationship Id="rId4" Type="http://schemas.openxmlformats.org/officeDocument/2006/relationships/oleObject" Target="../embeddings/oleObject5.bin"/><Relationship Id="rId9" Type="http://schemas.openxmlformats.org/officeDocument/2006/relationships/image" Target="../media/image12.png"/><Relationship Id="rId14" Type="http://schemas.openxmlformats.org/officeDocument/2006/relationships/image" Target="../media/image1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chart" Target="../charts/chart1.xml"/><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image" Target="../media/image8.emf"/><Relationship Id="rId2" Type="http://schemas.openxmlformats.org/officeDocument/2006/relationships/tags" Target="../tags/tag12.xml"/><Relationship Id="rId16" Type="http://schemas.openxmlformats.org/officeDocument/2006/relationships/oleObject" Target="../embeddings/oleObject6.bin"/><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notesSlide" Target="../notesSlides/notesSlide5.xml"/><Relationship Id="rId10" Type="http://schemas.openxmlformats.org/officeDocument/2006/relationships/tags" Target="../tags/tag20.xml"/><Relationship Id="rId19" Type="http://schemas.openxmlformats.org/officeDocument/2006/relationships/chart" Target="../charts/chart2.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tags" Target="../tags/tag26.xml"/><Relationship Id="rId7" Type="http://schemas.openxmlformats.org/officeDocument/2006/relationships/notesSlide" Target="../notesSlides/notesSlide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Layout" Target="../slideLayouts/slideLayout2.xml"/><Relationship Id="rId5" Type="http://schemas.openxmlformats.org/officeDocument/2006/relationships/tags" Target="../tags/tag28.xml"/><Relationship Id="rId10" Type="http://schemas.openxmlformats.org/officeDocument/2006/relationships/chart" Target="../charts/chart3.xml"/><Relationship Id="rId4" Type="http://schemas.openxmlformats.org/officeDocument/2006/relationships/tags" Target="../tags/tag27.xml"/><Relationship Id="rId9" Type="http://schemas.openxmlformats.org/officeDocument/2006/relationships/image" Target="../media/image18.emf"/></Relationships>
</file>

<file path=ppt/slides/_rels/slide7.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tags" Target="../tags/tag41.xml"/><Relationship Id="rId18" Type="http://schemas.openxmlformats.org/officeDocument/2006/relationships/slideLayout" Target="../slideLayouts/slideLayout2.xml"/><Relationship Id="rId3" Type="http://schemas.openxmlformats.org/officeDocument/2006/relationships/tags" Target="../tags/tag31.xml"/><Relationship Id="rId21" Type="http://schemas.openxmlformats.org/officeDocument/2006/relationships/image" Target="../media/image8.emf"/><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tags" Target="../tags/tag45.xml"/><Relationship Id="rId2" Type="http://schemas.openxmlformats.org/officeDocument/2006/relationships/tags" Target="../tags/tag30.xml"/><Relationship Id="rId16" Type="http://schemas.openxmlformats.org/officeDocument/2006/relationships/tags" Target="../tags/tag44.xml"/><Relationship Id="rId20" Type="http://schemas.openxmlformats.org/officeDocument/2006/relationships/oleObject" Target="../embeddings/oleObject8.bin"/><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5" Type="http://schemas.openxmlformats.org/officeDocument/2006/relationships/tags" Target="../tags/tag33.xml"/><Relationship Id="rId15" Type="http://schemas.openxmlformats.org/officeDocument/2006/relationships/tags" Target="../tags/tag43.xml"/><Relationship Id="rId10" Type="http://schemas.openxmlformats.org/officeDocument/2006/relationships/tags" Target="../tags/tag38.xml"/><Relationship Id="rId19" Type="http://schemas.openxmlformats.org/officeDocument/2006/relationships/notesSlide" Target="../notesSlides/notesSlide7.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 Id="rId22"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6.xml"/><Relationship Id="rId5" Type="http://schemas.openxmlformats.org/officeDocument/2006/relationships/image" Target="../media/image8.emf"/><Relationship Id="rId4" Type="http://schemas.openxmlformats.org/officeDocument/2006/relationships/oleObject" Target="../embeddings/oleObject9.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9.png"/><Relationship Id="rId3" Type="http://schemas.openxmlformats.org/officeDocument/2006/relationships/tags" Target="../tags/tag49.xml"/><Relationship Id="rId7" Type="http://schemas.openxmlformats.org/officeDocument/2006/relationships/notesSlide" Target="../notesSlides/notesSlide9.xml"/><Relationship Id="rId12" Type="http://schemas.openxmlformats.org/officeDocument/2006/relationships/image" Target="../media/image2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Layout" Target="../slideLayouts/slideLayout2.xml"/><Relationship Id="rId11" Type="http://schemas.openxmlformats.org/officeDocument/2006/relationships/image" Target="../media/image20.png"/><Relationship Id="rId5" Type="http://schemas.openxmlformats.org/officeDocument/2006/relationships/tags" Target="../tags/tag51.xml"/><Relationship Id="rId15" Type="http://schemas.openxmlformats.org/officeDocument/2006/relationships/image" Target="../media/image22.png"/><Relationship Id="rId10" Type="http://schemas.openxmlformats.org/officeDocument/2006/relationships/image" Target="../media/image19.png"/><Relationship Id="rId4" Type="http://schemas.openxmlformats.org/officeDocument/2006/relationships/tags" Target="../tags/tag50.xml"/><Relationship Id="rId9" Type="http://schemas.openxmlformats.org/officeDocument/2006/relationships/image" Target="../media/image18.emf"/><Relationship Id="rId1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10.xml"/><Relationship Id="rId7" Type="http://schemas.microsoft.com/office/2007/relationships/hdphoto" Target="../media/hdphoto2.wdp"/><Relationship Id="rId2" Type="http://schemas.openxmlformats.org/officeDocument/2006/relationships/slideLayout" Target="../slideLayouts/slideLayout2.xml"/><Relationship Id="rId1" Type="http://schemas.openxmlformats.org/officeDocument/2006/relationships/tags" Target="../tags/tag52.xml"/><Relationship Id="rId6" Type="http://schemas.openxmlformats.org/officeDocument/2006/relationships/image" Target="../media/image23.png"/><Relationship Id="rId11" Type="http://schemas.microsoft.com/office/2007/relationships/hdphoto" Target="../media/hdphoto4.wdp"/><Relationship Id="rId5" Type="http://schemas.openxmlformats.org/officeDocument/2006/relationships/image" Target="../media/image8.emf"/><Relationship Id="rId10" Type="http://schemas.openxmlformats.org/officeDocument/2006/relationships/image" Target="../media/image25.png"/><Relationship Id="rId4" Type="http://schemas.openxmlformats.org/officeDocument/2006/relationships/oleObject" Target="../embeddings/oleObject11.bin"/><Relationship Id="rId9" Type="http://schemas.microsoft.com/office/2007/relationships/hdphoto" Target="../media/hdphoto3.wdp"/></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oleObject" Target="../embeddings/oleObject12.bin"/><Relationship Id="rId7" Type="http://schemas.microsoft.com/office/2007/relationships/hdphoto" Target="../media/hdphoto5.wdp"/><Relationship Id="rId2" Type="http://schemas.openxmlformats.org/officeDocument/2006/relationships/slideLayout" Target="../slideLayouts/slideLayout2.xml"/><Relationship Id="rId1" Type="http://schemas.openxmlformats.org/officeDocument/2006/relationships/tags" Target="../tags/tag53.xml"/><Relationship Id="rId6" Type="http://schemas.openxmlformats.org/officeDocument/2006/relationships/image" Target="../media/image26.png"/><Relationship Id="rId11"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8.png"/><Relationship Id="rId4" Type="http://schemas.openxmlformats.org/officeDocument/2006/relationships/image" Target="../media/image8.emf"/><Relationship Id="rId9" Type="http://schemas.microsoft.com/office/2007/relationships/hdphoto" Target="../media/hdphoto6.wdp"/></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33.jpeg"/><Relationship Id="rId3" Type="http://schemas.openxmlformats.org/officeDocument/2006/relationships/oleObject" Target="../embeddings/oleObject13.bin"/><Relationship Id="rId7" Type="http://schemas.openxmlformats.org/officeDocument/2006/relationships/image" Target="../media/image15.png"/><Relationship Id="rId12"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ags" Target="../tags/tag54.xml"/><Relationship Id="rId6" Type="http://schemas.openxmlformats.org/officeDocument/2006/relationships/image" Target="../media/image10.png"/><Relationship Id="rId11" Type="http://schemas.openxmlformats.org/officeDocument/2006/relationships/image" Target="../media/image31.jpeg"/><Relationship Id="rId5" Type="http://schemas.openxmlformats.org/officeDocument/2006/relationships/image" Target="../media/image9.png"/><Relationship Id="rId10" Type="http://schemas.openxmlformats.org/officeDocument/2006/relationships/image" Target="../media/image30.png"/><Relationship Id="rId4" Type="http://schemas.openxmlformats.org/officeDocument/2006/relationships/image" Target="../media/image8.emf"/><Relationship Id="rId9" Type="http://schemas.openxmlformats.org/officeDocument/2006/relationships/image" Target="../media/image29.png"/><Relationship Id="rId14" Type="http://schemas.openxmlformats.org/officeDocument/2006/relationships/image" Target="../media/image34.png"/></Relationships>
</file>

<file path=ppt/slides/_rels/slide13.xml.rels><?xml version="1.0" encoding="UTF-8" standalone="yes"?>
<Relationships xmlns="http://schemas.openxmlformats.org/package/2006/relationships"><Relationship Id="rId13" Type="http://schemas.openxmlformats.org/officeDocument/2006/relationships/tags" Target="../tags/tag67.xml"/><Relationship Id="rId18" Type="http://schemas.openxmlformats.org/officeDocument/2006/relationships/tags" Target="../tags/tag72.xml"/><Relationship Id="rId26" Type="http://schemas.openxmlformats.org/officeDocument/2006/relationships/tags" Target="../tags/tag80.xml"/><Relationship Id="rId39" Type="http://schemas.openxmlformats.org/officeDocument/2006/relationships/notesSlide" Target="../notesSlides/notesSlide11.xml"/><Relationship Id="rId21" Type="http://schemas.openxmlformats.org/officeDocument/2006/relationships/tags" Target="../tags/tag75.xml"/><Relationship Id="rId34" Type="http://schemas.openxmlformats.org/officeDocument/2006/relationships/tags" Target="../tags/tag88.xml"/><Relationship Id="rId42" Type="http://schemas.openxmlformats.org/officeDocument/2006/relationships/chart" Target="../charts/chart5.xml"/><Relationship Id="rId47" Type="http://schemas.openxmlformats.org/officeDocument/2006/relationships/chart" Target="../charts/chart8.xml"/><Relationship Id="rId7" Type="http://schemas.openxmlformats.org/officeDocument/2006/relationships/tags" Target="../tags/tag61.xml"/><Relationship Id="rId2" Type="http://schemas.openxmlformats.org/officeDocument/2006/relationships/tags" Target="../tags/tag56.xml"/><Relationship Id="rId16" Type="http://schemas.openxmlformats.org/officeDocument/2006/relationships/tags" Target="../tags/tag70.xml"/><Relationship Id="rId29" Type="http://schemas.openxmlformats.org/officeDocument/2006/relationships/tags" Target="../tags/tag83.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24" Type="http://schemas.openxmlformats.org/officeDocument/2006/relationships/tags" Target="../tags/tag78.xml"/><Relationship Id="rId32" Type="http://schemas.openxmlformats.org/officeDocument/2006/relationships/tags" Target="../tags/tag86.xml"/><Relationship Id="rId37" Type="http://schemas.openxmlformats.org/officeDocument/2006/relationships/tags" Target="../tags/tag91.xml"/><Relationship Id="rId40" Type="http://schemas.openxmlformats.org/officeDocument/2006/relationships/oleObject" Target="../embeddings/oleObject14.bin"/><Relationship Id="rId45" Type="http://schemas.openxmlformats.org/officeDocument/2006/relationships/image" Target="../media/image35.png"/><Relationship Id="rId5" Type="http://schemas.openxmlformats.org/officeDocument/2006/relationships/tags" Target="../tags/tag59.xml"/><Relationship Id="rId15" Type="http://schemas.openxmlformats.org/officeDocument/2006/relationships/tags" Target="../tags/tag69.xml"/><Relationship Id="rId23" Type="http://schemas.openxmlformats.org/officeDocument/2006/relationships/tags" Target="../tags/tag77.xml"/><Relationship Id="rId28" Type="http://schemas.openxmlformats.org/officeDocument/2006/relationships/tags" Target="../tags/tag82.xml"/><Relationship Id="rId36" Type="http://schemas.openxmlformats.org/officeDocument/2006/relationships/tags" Target="../tags/tag90.xml"/><Relationship Id="rId10" Type="http://schemas.openxmlformats.org/officeDocument/2006/relationships/tags" Target="../tags/tag64.xml"/><Relationship Id="rId19" Type="http://schemas.openxmlformats.org/officeDocument/2006/relationships/tags" Target="../tags/tag73.xml"/><Relationship Id="rId31" Type="http://schemas.openxmlformats.org/officeDocument/2006/relationships/tags" Target="../tags/tag85.xml"/><Relationship Id="rId44" Type="http://schemas.openxmlformats.org/officeDocument/2006/relationships/chart" Target="../charts/chart7.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tags" Target="../tags/tag68.xml"/><Relationship Id="rId22" Type="http://schemas.openxmlformats.org/officeDocument/2006/relationships/tags" Target="../tags/tag76.xml"/><Relationship Id="rId27" Type="http://schemas.openxmlformats.org/officeDocument/2006/relationships/tags" Target="../tags/tag81.xml"/><Relationship Id="rId30" Type="http://schemas.openxmlformats.org/officeDocument/2006/relationships/tags" Target="../tags/tag84.xml"/><Relationship Id="rId35" Type="http://schemas.openxmlformats.org/officeDocument/2006/relationships/tags" Target="../tags/tag89.xml"/><Relationship Id="rId43" Type="http://schemas.openxmlformats.org/officeDocument/2006/relationships/chart" Target="../charts/chart6.xml"/><Relationship Id="rId8" Type="http://schemas.openxmlformats.org/officeDocument/2006/relationships/tags" Target="../tags/tag62.xml"/><Relationship Id="rId3" Type="http://schemas.openxmlformats.org/officeDocument/2006/relationships/tags" Target="../tags/tag57.xml"/><Relationship Id="rId12" Type="http://schemas.openxmlformats.org/officeDocument/2006/relationships/tags" Target="../tags/tag66.xml"/><Relationship Id="rId17" Type="http://schemas.openxmlformats.org/officeDocument/2006/relationships/tags" Target="../tags/tag71.xml"/><Relationship Id="rId25" Type="http://schemas.openxmlformats.org/officeDocument/2006/relationships/tags" Target="../tags/tag79.xml"/><Relationship Id="rId33" Type="http://schemas.openxmlformats.org/officeDocument/2006/relationships/tags" Target="../tags/tag87.xml"/><Relationship Id="rId38" Type="http://schemas.openxmlformats.org/officeDocument/2006/relationships/slideLayout" Target="../slideLayouts/slideLayout2.xml"/><Relationship Id="rId46" Type="http://schemas.microsoft.com/office/2007/relationships/hdphoto" Target="../media/hdphoto7.wdp"/><Relationship Id="rId20" Type="http://schemas.openxmlformats.org/officeDocument/2006/relationships/tags" Target="../tags/tag74.xml"/><Relationship Id="rId41" Type="http://schemas.openxmlformats.org/officeDocument/2006/relationships/image" Target="../media/image8.emf"/></Relationships>
</file>

<file path=ppt/slides/_rels/slide1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notesSlide" Target="../notesSlides/notesSlide12.xml"/><Relationship Id="rId7" Type="http://schemas.openxmlformats.org/officeDocument/2006/relationships/image" Target="../media/image37.svg"/><Relationship Id="rId2" Type="http://schemas.openxmlformats.org/officeDocument/2006/relationships/slideLayout" Target="../slideLayouts/slideLayout2.xml"/><Relationship Id="rId1" Type="http://schemas.openxmlformats.org/officeDocument/2006/relationships/tags" Target="../tags/tag92.xml"/><Relationship Id="rId6" Type="http://schemas.openxmlformats.org/officeDocument/2006/relationships/image" Target="../media/image36.png"/><Relationship Id="rId5" Type="http://schemas.openxmlformats.org/officeDocument/2006/relationships/image" Target="../media/image8.emf"/><Relationship Id="rId4" Type="http://schemas.openxmlformats.org/officeDocument/2006/relationships/oleObject" Target="../embeddings/oleObject15.bin"/><Relationship Id="rId9" Type="http://schemas.openxmlformats.org/officeDocument/2006/relationships/image" Target="../media/image39.svg"/></Relationships>
</file>

<file path=ppt/slides/_rels/slide1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notesSlide" Target="../notesSlides/notesSlide13.xml"/><Relationship Id="rId7" Type="http://schemas.microsoft.com/office/2007/relationships/hdphoto" Target="../media/hdphoto8.wdp"/><Relationship Id="rId2" Type="http://schemas.openxmlformats.org/officeDocument/2006/relationships/slideLayout" Target="../slideLayouts/slideLayout2.xml"/><Relationship Id="rId1" Type="http://schemas.openxmlformats.org/officeDocument/2006/relationships/tags" Target="../tags/tag93.xml"/><Relationship Id="rId6" Type="http://schemas.openxmlformats.org/officeDocument/2006/relationships/image" Target="../media/image40.png"/><Relationship Id="rId11" Type="http://schemas.microsoft.com/office/2007/relationships/hdphoto" Target="../media/hdphoto9.wdp"/><Relationship Id="rId5" Type="http://schemas.openxmlformats.org/officeDocument/2006/relationships/image" Target="../media/image8.emf"/><Relationship Id="rId10" Type="http://schemas.openxmlformats.org/officeDocument/2006/relationships/image" Target="../media/image43.png"/><Relationship Id="rId4" Type="http://schemas.openxmlformats.org/officeDocument/2006/relationships/oleObject" Target="../embeddings/oleObject16.bin"/><Relationship Id="rId9" Type="http://schemas.openxmlformats.org/officeDocument/2006/relationships/image" Target="../media/image42.pn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49.png"/><Relationship Id="rId3" Type="http://schemas.openxmlformats.org/officeDocument/2006/relationships/notesSlide" Target="../notesSlides/notesSlide14.xml"/><Relationship Id="rId7" Type="http://schemas.openxmlformats.org/officeDocument/2006/relationships/image" Target="../media/image44.png"/><Relationship Id="rId12"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94.xml"/><Relationship Id="rId6" Type="http://schemas.openxmlformats.org/officeDocument/2006/relationships/image" Target="../media/image22.png"/><Relationship Id="rId11" Type="http://schemas.openxmlformats.org/officeDocument/2006/relationships/image" Target="../media/image47.png"/><Relationship Id="rId5" Type="http://schemas.openxmlformats.org/officeDocument/2006/relationships/image" Target="../media/image8.emf"/><Relationship Id="rId10" Type="http://schemas.openxmlformats.org/officeDocument/2006/relationships/image" Target="../media/image46.png"/><Relationship Id="rId4" Type="http://schemas.openxmlformats.org/officeDocument/2006/relationships/oleObject" Target="../embeddings/oleObject17.bin"/><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26" Type="http://schemas.openxmlformats.org/officeDocument/2006/relationships/image" Target="../media/image62.png"/><Relationship Id="rId21" Type="http://schemas.openxmlformats.org/officeDocument/2006/relationships/image" Target="../media/image59.png"/><Relationship Id="rId42" Type="http://schemas.microsoft.com/office/2007/relationships/hdphoto" Target="../media/hdphoto23.wdp"/><Relationship Id="rId47" Type="http://schemas.openxmlformats.org/officeDocument/2006/relationships/image" Target="../media/image76.png"/><Relationship Id="rId63" Type="http://schemas.microsoft.com/office/2007/relationships/hdphoto" Target="../media/hdphoto29.wdp"/><Relationship Id="rId68" Type="http://schemas.microsoft.com/office/2007/relationships/hdphoto" Target="../media/hdphoto31.wdp"/><Relationship Id="rId84" Type="http://schemas.openxmlformats.org/officeDocument/2006/relationships/image" Target="../media/image93.png"/><Relationship Id="rId89" Type="http://schemas.microsoft.com/office/2007/relationships/hdphoto" Target="../media/hdphoto40.wdp"/><Relationship Id="rId16" Type="http://schemas.microsoft.com/office/2007/relationships/hdphoto" Target="../media/hdphoto14.wdp"/><Relationship Id="rId11" Type="http://schemas.microsoft.com/office/2007/relationships/hdphoto" Target="../media/hdphoto12.wdp"/><Relationship Id="rId32" Type="http://schemas.microsoft.com/office/2007/relationships/hdphoto" Target="../media/hdphoto19.wdp"/><Relationship Id="rId37" Type="http://schemas.openxmlformats.org/officeDocument/2006/relationships/image" Target="../media/image70.png"/><Relationship Id="rId53" Type="http://schemas.microsoft.com/office/2007/relationships/hdphoto" Target="../media/hdphoto26.wdp"/><Relationship Id="rId58" Type="http://schemas.openxmlformats.org/officeDocument/2006/relationships/image" Target="../media/image26.png"/><Relationship Id="rId74" Type="http://schemas.microsoft.com/office/2007/relationships/hdphoto" Target="../media/hdphoto34.wdp"/><Relationship Id="rId79" Type="http://schemas.openxmlformats.org/officeDocument/2006/relationships/image" Target="../media/image90.png"/><Relationship Id="rId5" Type="http://schemas.openxmlformats.org/officeDocument/2006/relationships/image" Target="../media/image50.png"/><Relationship Id="rId90" Type="http://schemas.openxmlformats.org/officeDocument/2006/relationships/image" Target="../media/image96.png"/><Relationship Id="rId14" Type="http://schemas.openxmlformats.org/officeDocument/2006/relationships/image" Target="../media/image55.png"/><Relationship Id="rId22" Type="http://schemas.microsoft.com/office/2007/relationships/hdphoto" Target="../media/hdphoto16.wdp"/><Relationship Id="rId27" Type="http://schemas.openxmlformats.org/officeDocument/2006/relationships/image" Target="../media/image63.png"/><Relationship Id="rId30" Type="http://schemas.microsoft.com/office/2007/relationships/hdphoto" Target="../media/hdphoto18.wdp"/><Relationship Id="rId35" Type="http://schemas.microsoft.com/office/2007/relationships/hdphoto" Target="../media/hdphoto20.wdp"/><Relationship Id="rId43" Type="http://schemas.openxmlformats.org/officeDocument/2006/relationships/image" Target="../media/image73.png"/><Relationship Id="rId48" Type="http://schemas.microsoft.com/office/2007/relationships/hdphoto" Target="../media/hdphoto24.wdp"/><Relationship Id="rId56" Type="http://schemas.openxmlformats.org/officeDocument/2006/relationships/image" Target="../media/image80.png"/><Relationship Id="rId64" Type="http://schemas.openxmlformats.org/officeDocument/2006/relationships/image" Target="../media/image82.png"/><Relationship Id="rId69" Type="http://schemas.openxmlformats.org/officeDocument/2006/relationships/image" Target="../media/image85.png"/><Relationship Id="rId77" Type="http://schemas.openxmlformats.org/officeDocument/2006/relationships/image" Target="../media/image44.png"/><Relationship Id="rId8" Type="http://schemas.openxmlformats.org/officeDocument/2006/relationships/image" Target="../media/image52.png"/><Relationship Id="rId51" Type="http://schemas.microsoft.com/office/2007/relationships/hdphoto" Target="../media/hdphoto25.wdp"/><Relationship Id="rId72" Type="http://schemas.microsoft.com/office/2007/relationships/hdphoto" Target="../media/hdphoto33.wdp"/><Relationship Id="rId80" Type="http://schemas.openxmlformats.org/officeDocument/2006/relationships/image" Target="../media/image91.png"/><Relationship Id="rId85" Type="http://schemas.microsoft.com/office/2007/relationships/hdphoto" Target="../media/hdphoto38.wdp"/><Relationship Id="rId3" Type="http://schemas.openxmlformats.org/officeDocument/2006/relationships/oleObject" Target="../embeddings/oleObject18.bin"/><Relationship Id="rId12" Type="http://schemas.openxmlformats.org/officeDocument/2006/relationships/image" Target="../media/image54.png"/><Relationship Id="rId17" Type="http://schemas.openxmlformats.org/officeDocument/2006/relationships/image" Target="../media/image57.png"/><Relationship Id="rId25" Type="http://schemas.openxmlformats.org/officeDocument/2006/relationships/image" Target="../media/image61.png"/><Relationship Id="rId33" Type="http://schemas.openxmlformats.org/officeDocument/2006/relationships/image" Target="../media/image67.png"/><Relationship Id="rId38" Type="http://schemas.microsoft.com/office/2007/relationships/hdphoto" Target="../media/hdphoto21.wdp"/><Relationship Id="rId46" Type="http://schemas.openxmlformats.org/officeDocument/2006/relationships/image" Target="../media/image46.png"/><Relationship Id="rId59" Type="http://schemas.microsoft.com/office/2007/relationships/hdphoto" Target="../media/hdphoto5.wdp"/><Relationship Id="rId67" Type="http://schemas.openxmlformats.org/officeDocument/2006/relationships/image" Target="../media/image84.png"/><Relationship Id="rId20" Type="http://schemas.openxmlformats.org/officeDocument/2006/relationships/image" Target="../media/image22.png"/><Relationship Id="rId41" Type="http://schemas.openxmlformats.org/officeDocument/2006/relationships/image" Target="../media/image72.png"/><Relationship Id="rId54" Type="http://schemas.openxmlformats.org/officeDocument/2006/relationships/image" Target="../media/image79.png"/><Relationship Id="rId62" Type="http://schemas.openxmlformats.org/officeDocument/2006/relationships/image" Target="../media/image81.png"/><Relationship Id="rId70" Type="http://schemas.microsoft.com/office/2007/relationships/hdphoto" Target="../media/hdphoto32.wdp"/><Relationship Id="rId75" Type="http://schemas.openxmlformats.org/officeDocument/2006/relationships/image" Target="../media/image88.png"/><Relationship Id="rId83" Type="http://schemas.microsoft.com/office/2007/relationships/hdphoto" Target="../media/hdphoto37.wdp"/><Relationship Id="rId88" Type="http://schemas.openxmlformats.org/officeDocument/2006/relationships/image" Target="../media/image95.png"/><Relationship Id="rId1" Type="http://schemas.openxmlformats.org/officeDocument/2006/relationships/tags" Target="../tags/tag95.xml"/><Relationship Id="rId6" Type="http://schemas.microsoft.com/office/2007/relationships/hdphoto" Target="../media/hdphoto10.wdp"/><Relationship Id="rId15" Type="http://schemas.openxmlformats.org/officeDocument/2006/relationships/image" Target="../media/image56.png"/><Relationship Id="rId23" Type="http://schemas.openxmlformats.org/officeDocument/2006/relationships/image" Target="../media/image60.png"/><Relationship Id="rId28" Type="http://schemas.openxmlformats.org/officeDocument/2006/relationships/image" Target="../media/image64.png"/><Relationship Id="rId36" Type="http://schemas.openxmlformats.org/officeDocument/2006/relationships/image" Target="../media/image69.png"/><Relationship Id="rId49" Type="http://schemas.openxmlformats.org/officeDocument/2006/relationships/image" Target="../media/image28.png"/><Relationship Id="rId57" Type="http://schemas.microsoft.com/office/2007/relationships/hdphoto" Target="../media/hdphoto28.wdp"/><Relationship Id="rId10" Type="http://schemas.openxmlformats.org/officeDocument/2006/relationships/image" Target="../media/image53.png"/><Relationship Id="rId31" Type="http://schemas.openxmlformats.org/officeDocument/2006/relationships/image" Target="../media/image66.png"/><Relationship Id="rId44" Type="http://schemas.openxmlformats.org/officeDocument/2006/relationships/image" Target="../media/image74.png"/><Relationship Id="rId52" Type="http://schemas.openxmlformats.org/officeDocument/2006/relationships/image" Target="../media/image78.png"/><Relationship Id="rId60" Type="http://schemas.openxmlformats.org/officeDocument/2006/relationships/image" Target="../media/image27.png"/><Relationship Id="rId65" Type="http://schemas.openxmlformats.org/officeDocument/2006/relationships/image" Target="../media/image83.png"/><Relationship Id="rId73" Type="http://schemas.openxmlformats.org/officeDocument/2006/relationships/image" Target="../media/image87.png"/><Relationship Id="rId78" Type="http://schemas.openxmlformats.org/officeDocument/2006/relationships/image" Target="../media/image89.png"/><Relationship Id="rId81" Type="http://schemas.microsoft.com/office/2007/relationships/hdphoto" Target="../media/hdphoto36.wdp"/><Relationship Id="rId86" Type="http://schemas.openxmlformats.org/officeDocument/2006/relationships/image" Target="../media/image94.png"/><Relationship Id="rId4" Type="http://schemas.openxmlformats.org/officeDocument/2006/relationships/image" Target="../media/image8.emf"/><Relationship Id="rId9" Type="http://schemas.microsoft.com/office/2007/relationships/hdphoto" Target="../media/hdphoto11.wdp"/><Relationship Id="rId13" Type="http://schemas.microsoft.com/office/2007/relationships/hdphoto" Target="../media/hdphoto13.wdp"/><Relationship Id="rId18" Type="http://schemas.microsoft.com/office/2007/relationships/hdphoto" Target="../media/hdphoto15.wdp"/><Relationship Id="rId39" Type="http://schemas.openxmlformats.org/officeDocument/2006/relationships/image" Target="../media/image71.png"/><Relationship Id="rId34" Type="http://schemas.openxmlformats.org/officeDocument/2006/relationships/image" Target="../media/image68.png"/><Relationship Id="rId50" Type="http://schemas.openxmlformats.org/officeDocument/2006/relationships/image" Target="../media/image77.png"/><Relationship Id="rId55" Type="http://schemas.microsoft.com/office/2007/relationships/hdphoto" Target="../media/hdphoto27.wdp"/><Relationship Id="rId76" Type="http://schemas.microsoft.com/office/2007/relationships/hdphoto" Target="../media/hdphoto35.wdp"/><Relationship Id="rId7" Type="http://schemas.openxmlformats.org/officeDocument/2006/relationships/image" Target="../media/image51.jpeg"/><Relationship Id="rId71" Type="http://schemas.openxmlformats.org/officeDocument/2006/relationships/image" Target="../media/image86.png"/><Relationship Id="rId2" Type="http://schemas.openxmlformats.org/officeDocument/2006/relationships/slideLayout" Target="../slideLayouts/slideLayout2.xml"/><Relationship Id="rId29" Type="http://schemas.openxmlformats.org/officeDocument/2006/relationships/image" Target="../media/image65.png"/><Relationship Id="rId24" Type="http://schemas.microsoft.com/office/2007/relationships/hdphoto" Target="../media/hdphoto17.wdp"/><Relationship Id="rId40" Type="http://schemas.microsoft.com/office/2007/relationships/hdphoto" Target="../media/hdphoto22.wdp"/><Relationship Id="rId45" Type="http://schemas.openxmlformats.org/officeDocument/2006/relationships/image" Target="../media/image75.png"/><Relationship Id="rId66" Type="http://schemas.microsoft.com/office/2007/relationships/hdphoto" Target="../media/hdphoto30.wdp"/><Relationship Id="rId87" Type="http://schemas.microsoft.com/office/2007/relationships/hdphoto" Target="../media/hdphoto39.wdp"/><Relationship Id="rId61" Type="http://schemas.microsoft.com/office/2007/relationships/hdphoto" Target="../media/hdphoto6.wdp"/><Relationship Id="rId82" Type="http://schemas.openxmlformats.org/officeDocument/2006/relationships/image" Target="../media/image92.png"/><Relationship Id="rId19" Type="http://schemas.openxmlformats.org/officeDocument/2006/relationships/image" Target="../media/image58.png"/></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15.xml"/><Relationship Id="rId7" Type="http://schemas.openxmlformats.org/officeDocument/2006/relationships/image" Target="../media/image97.png"/><Relationship Id="rId2" Type="http://schemas.openxmlformats.org/officeDocument/2006/relationships/slideLayout" Target="../slideLayouts/slideLayout2.xml"/><Relationship Id="rId1" Type="http://schemas.openxmlformats.org/officeDocument/2006/relationships/tags" Target="../tags/tag96.xml"/><Relationship Id="rId6" Type="http://schemas.openxmlformats.org/officeDocument/2006/relationships/image" Target="../media/image22.png"/><Relationship Id="rId5" Type="http://schemas.openxmlformats.org/officeDocument/2006/relationships/image" Target="../media/image18.emf"/><Relationship Id="rId4" Type="http://schemas.openxmlformats.org/officeDocument/2006/relationships/oleObject" Target="../embeddings/oleObject19.bin"/><Relationship Id="rId9" Type="http://schemas.openxmlformats.org/officeDocument/2006/relationships/image" Target="../media/image58.png"/></Relationships>
</file>

<file path=ppt/slides/_rels/slide19.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7.png"/><Relationship Id="rId18" Type="http://schemas.openxmlformats.org/officeDocument/2006/relationships/image" Target="../media/image99.png"/><Relationship Id="rId26" Type="http://schemas.openxmlformats.org/officeDocument/2006/relationships/image" Target="../media/image80.png"/><Relationship Id="rId3" Type="http://schemas.openxmlformats.org/officeDocument/2006/relationships/tags" Target="../tags/tag99.xml"/><Relationship Id="rId21" Type="http://schemas.microsoft.com/office/2007/relationships/hdphoto" Target="../media/hdphoto42.wdp"/><Relationship Id="rId7" Type="http://schemas.openxmlformats.org/officeDocument/2006/relationships/image" Target="../media/image46.png"/><Relationship Id="rId12" Type="http://schemas.openxmlformats.org/officeDocument/2006/relationships/image" Target="../media/image58.png"/><Relationship Id="rId17" Type="http://schemas.openxmlformats.org/officeDocument/2006/relationships/image" Target="../media/image28.png"/><Relationship Id="rId25" Type="http://schemas.openxmlformats.org/officeDocument/2006/relationships/image" Target="../media/image101.png"/><Relationship Id="rId2" Type="http://schemas.openxmlformats.org/officeDocument/2006/relationships/tags" Target="../tags/tag98.xml"/><Relationship Id="rId16" Type="http://schemas.microsoft.com/office/2007/relationships/hdphoto" Target="../media/hdphoto26.wdp"/><Relationship Id="rId20" Type="http://schemas.openxmlformats.org/officeDocument/2006/relationships/image" Target="../media/image100.png"/><Relationship Id="rId1" Type="http://schemas.openxmlformats.org/officeDocument/2006/relationships/tags" Target="../tags/tag97.xml"/><Relationship Id="rId6" Type="http://schemas.openxmlformats.org/officeDocument/2006/relationships/image" Target="../media/image18.emf"/><Relationship Id="rId11" Type="http://schemas.openxmlformats.org/officeDocument/2006/relationships/image" Target="../media/image22.png"/><Relationship Id="rId24" Type="http://schemas.openxmlformats.org/officeDocument/2006/relationships/image" Target="../media/image73.png"/><Relationship Id="rId5" Type="http://schemas.openxmlformats.org/officeDocument/2006/relationships/oleObject" Target="../embeddings/oleObject20.bin"/><Relationship Id="rId15" Type="http://schemas.openxmlformats.org/officeDocument/2006/relationships/image" Target="../media/image78.png"/><Relationship Id="rId23" Type="http://schemas.microsoft.com/office/2007/relationships/hdphoto" Target="../media/hdphoto37.wdp"/><Relationship Id="rId10" Type="http://schemas.openxmlformats.org/officeDocument/2006/relationships/image" Target="../media/image89.png"/><Relationship Id="rId19" Type="http://schemas.microsoft.com/office/2007/relationships/hdphoto" Target="../media/hdphoto41.wdp"/><Relationship Id="rId4" Type="http://schemas.openxmlformats.org/officeDocument/2006/relationships/slideLayout" Target="../slideLayouts/slideLayout2.xml"/><Relationship Id="rId9" Type="http://schemas.openxmlformats.org/officeDocument/2006/relationships/image" Target="../media/image98.png"/><Relationship Id="rId14" Type="http://schemas.microsoft.com/office/2007/relationships/hdphoto" Target="../media/hdphoto25.wdp"/><Relationship Id="rId22" Type="http://schemas.openxmlformats.org/officeDocument/2006/relationships/image" Target="../media/image92.png"/><Relationship Id="rId27" Type="http://schemas.microsoft.com/office/2007/relationships/hdphoto" Target="../media/hdphoto28.wdp"/></Relationships>
</file>

<file path=ppt/slides/_rels/slide20.xml.rels><?xml version="1.0" encoding="UTF-8" standalone="yes"?>
<Relationships xmlns="http://schemas.openxmlformats.org/package/2006/relationships"><Relationship Id="rId8" Type="http://schemas.openxmlformats.org/officeDocument/2006/relationships/tags" Target="../tags/tag107.xml"/><Relationship Id="rId13" Type="http://schemas.openxmlformats.org/officeDocument/2006/relationships/tags" Target="../tags/tag112.xml"/><Relationship Id="rId18" Type="http://schemas.openxmlformats.org/officeDocument/2006/relationships/chart" Target="../charts/chart9.xml"/><Relationship Id="rId3" Type="http://schemas.openxmlformats.org/officeDocument/2006/relationships/tags" Target="../tags/tag102.xml"/><Relationship Id="rId7" Type="http://schemas.openxmlformats.org/officeDocument/2006/relationships/tags" Target="../tags/tag106.xml"/><Relationship Id="rId12" Type="http://schemas.openxmlformats.org/officeDocument/2006/relationships/tags" Target="../tags/tag111.xml"/><Relationship Id="rId17" Type="http://schemas.openxmlformats.org/officeDocument/2006/relationships/image" Target="../media/image18.emf"/><Relationship Id="rId2" Type="http://schemas.openxmlformats.org/officeDocument/2006/relationships/tags" Target="../tags/tag101.xml"/><Relationship Id="rId16" Type="http://schemas.openxmlformats.org/officeDocument/2006/relationships/oleObject" Target="../embeddings/oleObject21.bin"/><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tags" Target="../tags/tag110.xml"/><Relationship Id="rId5" Type="http://schemas.openxmlformats.org/officeDocument/2006/relationships/tags" Target="../tags/tag104.xml"/><Relationship Id="rId15" Type="http://schemas.openxmlformats.org/officeDocument/2006/relationships/notesSlide" Target="../notesSlides/notesSlide16.xml"/><Relationship Id="rId10" Type="http://schemas.openxmlformats.org/officeDocument/2006/relationships/tags" Target="../tags/tag109.xml"/><Relationship Id="rId19" Type="http://schemas.openxmlformats.org/officeDocument/2006/relationships/chart" Target="../charts/chart10.xml"/><Relationship Id="rId4" Type="http://schemas.openxmlformats.org/officeDocument/2006/relationships/tags" Target="../tags/tag103.xml"/><Relationship Id="rId9" Type="http://schemas.openxmlformats.org/officeDocument/2006/relationships/tags" Target="../tags/tag108.xml"/><Relationship Id="rId1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3" Type="http://schemas.openxmlformats.org/officeDocument/2006/relationships/tags" Target="../tags/tag125.xml"/><Relationship Id="rId18" Type="http://schemas.openxmlformats.org/officeDocument/2006/relationships/tags" Target="../tags/tag130.xml"/><Relationship Id="rId26" Type="http://schemas.openxmlformats.org/officeDocument/2006/relationships/tags" Target="../tags/tag138.xml"/><Relationship Id="rId39" Type="http://schemas.openxmlformats.org/officeDocument/2006/relationships/tags" Target="../tags/tag151.xml"/><Relationship Id="rId21" Type="http://schemas.openxmlformats.org/officeDocument/2006/relationships/tags" Target="../tags/tag133.xml"/><Relationship Id="rId34" Type="http://schemas.openxmlformats.org/officeDocument/2006/relationships/tags" Target="../tags/tag146.xml"/><Relationship Id="rId42" Type="http://schemas.openxmlformats.org/officeDocument/2006/relationships/tags" Target="../tags/tag154.xml"/><Relationship Id="rId47" Type="http://schemas.openxmlformats.org/officeDocument/2006/relationships/slideLayout" Target="../slideLayouts/slideLayout2.xml"/><Relationship Id="rId50" Type="http://schemas.openxmlformats.org/officeDocument/2006/relationships/image" Target="../media/image18.emf"/><Relationship Id="rId7" Type="http://schemas.openxmlformats.org/officeDocument/2006/relationships/tags" Target="../tags/tag119.xml"/><Relationship Id="rId2" Type="http://schemas.openxmlformats.org/officeDocument/2006/relationships/tags" Target="../tags/tag114.xml"/><Relationship Id="rId16" Type="http://schemas.openxmlformats.org/officeDocument/2006/relationships/tags" Target="../tags/tag128.xml"/><Relationship Id="rId29" Type="http://schemas.openxmlformats.org/officeDocument/2006/relationships/tags" Target="../tags/tag141.xml"/><Relationship Id="rId11" Type="http://schemas.openxmlformats.org/officeDocument/2006/relationships/tags" Target="../tags/tag123.xml"/><Relationship Id="rId24" Type="http://schemas.openxmlformats.org/officeDocument/2006/relationships/tags" Target="../tags/tag136.xml"/><Relationship Id="rId32" Type="http://schemas.openxmlformats.org/officeDocument/2006/relationships/tags" Target="../tags/tag144.xml"/><Relationship Id="rId37" Type="http://schemas.openxmlformats.org/officeDocument/2006/relationships/tags" Target="../tags/tag149.xml"/><Relationship Id="rId40" Type="http://schemas.openxmlformats.org/officeDocument/2006/relationships/tags" Target="../tags/tag152.xml"/><Relationship Id="rId45" Type="http://schemas.openxmlformats.org/officeDocument/2006/relationships/tags" Target="../tags/tag157.xml"/><Relationship Id="rId5" Type="http://schemas.openxmlformats.org/officeDocument/2006/relationships/tags" Target="../tags/tag117.xml"/><Relationship Id="rId15" Type="http://schemas.openxmlformats.org/officeDocument/2006/relationships/tags" Target="../tags/tag127.xml"/><Relationship Id="rId23" Type="http://schemas.openxmlformats.org/officeDocument/2006/relationships/tags" Target="../tags/tag135.xml"/><Relationship Id="rId28" Type="http://schemas.openxmlformats.org/officeDocument/2006/relationships/tags" Target="../tags/tag140.xml"/><Relationship Id="rId36" Type="http://schemas.openxmlformats.org/officeDocument/2006/relationships/tags" Target="../tags/tag148.xml"/><Relationship Id="rId49" Type="http://schemas.openxmlformats.org/officeDocument/2006/relationships/oleObject" Target="../embeddings/oleObject22.bin"/><Relationship Id="rId10" Type="http://schemas.openxmlformats.org/officeDocument/2006/relationships/tags" Target="../tags/tag122.xml"/><Relationship Id="rId19" Type="http://schemas.openxmlformats.org/officeDocument/2006/relationships/tags" Target="../tags/tag131.xml"/><Relationship Id="rId31" Type="http://schemas.openxmlformats.org/officeDocument/2006/relationships/tags" Target="../tags/tag143.xml"/><Relationship Id="rId44" Type="http://schemas.openxmlformats.org/officeDocument/2006/relationships/tags" Target="../tags/tag156.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tags" Target="../tags/tag126.xml"/><Relationship Id="rId22" Type="http://schemas.openxmlformats.org/officeDocument/2006/relationships/tags" Target="../tags/tag134.xml"/><Relationship Id="rId27" Type="http://schemas.openxmlformats.org/officeDocument/2006/relationships/tags" Target="../tags/tag139.xml"/><Relationship Id="rId30" Type="http://schemas.openxmlformats.org/officeDocument/2006/relationships/tags" Target="../tags/tag142.xml"/><Relationship Id="rId35" Type="http://schemas.openxmlformats.org/officeDocument/2006/relationships/tags" Target="../tags/tag147.xml"/><Relationship Id="rId43" Type="http://schemas.openxmlformats.org/officeDocument/2006/relationships/tags" Target="../tags/tag155.xml"/><Relationship Id="rId48" Type="http://schemas.openxmlformats.org/officeDocument/2006/relationships/notesSlide" Target="../notesSlides/notesSlide17.xml"/><Relationship Id="rId8" Type="http://schemas.openxmlformats.org/officeDocument/2006/relationships/tags" Target="../tags/tag120.xml"/><Relationship Id="rId51" Type="http://schemas.openxmlformats.org/officeDocument/2006/relationships/chart" Target="../charts/chart11.xml"/><Relationship Id="rId3" Type="http://schemas.openxmlformats.org/officeDocument/2006/relationships/tags" Target="../tags/tag115.xml"/><Relationship Id="rId12" Type="http://schemas.openxmlformats.org/officeDocument/2006/relationships/tags" Target="../tags/tag124.xml"/><Relationship Id="rId17" Type="http://schemas.openxmlformats.org/officeDocument/2006/relationships/tags" Target="../tags/tag129.xml"/><Relationship Id="rId25" Type="http://schemas.openxmlformats.org/officeDocument/2006/relationships/tags" Target="../tags/tag137.xml"/><Relationship Id="rId33" Type="http://schemas.openxmlformats.org/officeDocument/2006/relationships/tags" Target="../tags/tag145.xml"/><Relationship Id="rId38" Type="http://schemas.openxmlformats.org/officeDocument/2006/relationships/tags" Target="../tags/tag150.xml"/><Relationship Id="rId46" Type="http://schemas.openxmlformats.org/officeDocument/2006/relationships/tags" Target="../tags/tag158.xml"/><Relationship Id="rId20" Type="http://schemas.openxmlformats.org/officeDocument/2006/relationships/tags" Target="../tags/tag132.xml"/><Relationship Id="rId41" Type="http://schemas.openxmlformats.org/officeDocument/2006/relationships/tags" Target="../tags/tag153.xml"/><Relationship Id="rId1" Type="http://schemas.openxmlformats.org/officeDocument/2006/relationships/tags" Target="../tags/tag113.xml"/><Relationship Id="rId6" Type="http://schemas.openxmlformats.org/officeDocument/2006/relationships/tags" Target="../tags/tag118.xml"/></Relationships>
</file>

<file path=ppt/slides/_rels/slide22.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chart" Target="../charts/chart13.xml"/><Relationship Id="rId18" Type="http://schemas.openxmlformats.org/officeDocument/2006/relationships/image" Target="../media/image97.png"/><Relationship Id="rId3" Type="http://schemas.openxmlformats.org/officeDocument/2006/relationships/notesSlide" Target="../notesSlides/notesSlide18.xml"/><Relationship Id="rId7" Type="http://schemas.openxmlformats.org/officeDocument/2006/relationships/image" Target="../media/image103.svg"/><Relationship Id="rId12" Type="http://schemas.openxmlformats.org/officeDocument/2006/relationships/image" Target="../media/image107.png"/><Relationship Id="rId17" Type="http://schemas.openxmlformats.org/officeDocument/2006/relationships/image" Target="../media/image109.png"/><Relationship Id="rId2" Type="http://schemas.openxmlformats.org/officeDocument/2006/relationships/slideLayout" Target="../slideLayouts/slideLayout2.xml"/><Relationship Id="rId16" Type="http://schemas.openxmlformats.org/officeDocument/2006/relationships/image" Target="../media/image108.png"/><Relationship Id="rId20" Type="http://schemas.openxmlformats.org/officeDocument/2006/relationships/chart" Target="../charts/chart15.xml"/><Relationship Id="rId1" Type="http://schemas.openxmlformats.org/officeDocument/2006/relationships/tags" Target="../tags/tag159.xml"/><Relationship Id="rId6" Type="http://schemas.openxmlformats.org/officeDocument/2006/relationships/image" Target="../media/image102.png"/><Relationship Id="rId11" Type="http://schemas.openxmlformats.org/officeDocument/2006/relationships/image" Target="../media/image106.png"/><Relationship Id="rId5" Type="http://schemas.openxmlformats.org/officeDocument/2006/relationships/image" Target="../media/image18.emf"/><Relationship Id="rId15" Type="http://schemas.openxmlformats.org/officeDocument/2006/relationships/image" Target="../media/image22.png"/><Relationship Id="rId10" Type="http://schemas.openxmlformats.org/officeDocument/2006/relationships/chart" Target="../charts/chart12.xml"/><Relationship Id="rId19" Type="http://schemas.openxmlformats.org/officeDocument/2006/relationships/image" Target="../media/image110.png"/><Relationship Id="rId4" Type="http://schemas.openxmlformats.org/officeDocument/2006/relationships/oleObject" Target="../embeddings/oleObject23.bin"/><Relationship Id="rId9" Type="http://schemas.openxmlformats.org/officeDocument/2006/relationships/image" Target="../media/image105.svg"/><Relationship Id="rId14" Type="http://schemas.openxmlformats.org/officeDocument/2006/relationships/chart" Target="../charts/chart14.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11.png"/><Relationship Id="rId18" Type="http://schemas.openxmlformats.org/officeDocument/2006/relationships/image" Target="../media/image116.png"/><Relationship Id="rId3" Type="http://schemas.openxmlformats.org/officeDocument/2006/relationships/tags" Target="../tags/tag162.xml"/><Relationship Id="rId7" Type="http://schemas.openxmlformats.org/officeDocument/2006/relationships/tags" Target="../tags/tag166.xml"/><Relationship Id="rId12" Type="http://schemas.openxmlformats.org/officeDocument/2006/relationships/image" Target="../media/image55.png"/><Relationship Id="rId17" Type="http://schemas.openxmlformats.org/officeDocument/2006/relationships/image" Target="../media/image115.png"/><Relationship Id="rId2" Type="http://schemas.openxmlformats.org/officeDocument/2006/relationships/tags" Target="../tags/tag161.xml"/><Relationship Id="rId16" Type="http://schemas.openxmlformats.org/officeDocument/2006/relationships/image" Target="../media/image114.jpeg"/><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image" Target="../media/image18.emf"/><Relationship Id="rId5" Type="http://schemas.openxmlformats.org/officeDocument/2006/relationships/tags" Target="../tags/tag164.xml"/><Relationship Id="rId15" Type="http://schemas.openxmlformats.org/officeDocument/2006/relationships/image" Target="../media/image113.png"/><Relationship Id="rId10" Type="http://schemas.openxmlformats.org/officeDocument/2006/relationships/oleObject" Target="../embeddings/oleObject24.bin"/><Relationship Id="rId4" Type="http://schemas.openxmlformats.org/officeDocument/2006/relationships/tags" Target="../tags/tag163.xml"/><Relationship Id="rId9" Type="http://schemas.openxmlformats.org/officeDocument/2006/relationships/notesSlide" Target="../notesSlides/notesSlide19.xml"/><Relationship Id="rId14" Type="http://schemas.openxmlformats.org/officeDocument/2006/relationships/image" Target="../media/image112.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tags" Target="../tags/tag167.xml"/><Relationship Id="rId4" Type="http://schemas.openxmlformats.org/officeDocument/2006/relationships/image" Target="../media/image18.emf"/></Relationships>
</file>

<file path=ppt/slides/_rels/slide2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20.xml"/><Relationship Id="rId7" Type="http://schemas.openxmlformats.org/officeDocument/2006/relationships/image" Target="../media/image118.png"/><Relationship Id="rId12" Type="http://schemas.openxmlformats.org/officeDocument/2006/relationships/image" Target="../media/image121.png"/><Relationship Id="rId2" Type="http://schemas.openxmlformats.org/officeDocument/2006/relationships/slideLayout" Target="../slideLayouts/slideLayout2.xml"/><Relationship Id="rId1" Type="http://schemas.openxmlformats.org/officeDocument/2006/relationships/tags" Target="../tags/tag168.xml"/><Relationship Id="rId6" Type="http://schemas.openxmlformats.org/officeDocument/2006/relationships/image" Target="../media/image117.png"/><Relationship Id="rId11" Type="http://schemas.openxmlformats.org/officeDocument/2006/relationships/image" Target="../media/image120.png"/><Relationship Id="rId5" Type="http://schemas.openxmlformats.org/officeDocument/2006/relationships/image" Target="../media/image8.emf"/><Relationship Id="rId10" Type="http://schemas.openxmlformats.org/officeDocument/2006/relationships/image" Target="../media/image119.png"/><Relationship Id="rId4" Type="http://schemas.openxmlformats.org/officeDocument/2006/relationships/oleObject" Target="../embeddings/oleObject26.bin"/><Relationship Id="rId9" Type="http://schemas.openxmlformats.org/officeDocument/2006/relationships/image" Target="../media/image14.png"/></Relationships>
</file>

<file path=ppt/slides/_rels/slide26.xml.rels><?xml version="1.0" encoding="UTF-8" standalone="yes"?>
<Relationships xmlns="http://schemas.openxmlformats.org/package/2006/relationships"><Relationship Id="rId8" Type="http://schemas.openxmlformats.org/officeDocument/2006/relationships/tags" Target="../tags/tag176.xml"/><Relationship Id="rId13" Type="http://schemas.openxmlformats.org/officeDocument/2006/relationships/tags" Target="../tags/tag181.xml"/><Relationship Id="rId18" Type="http://schemas.openxmlformats.org/officeDocument/2006/relationships/tags" Target="../tags/tag186.xml"/><Relationship Id="rId26" Type="http://schemas.openxmlformats.org/officeDocument/2006/relationships/chart" Target="../charts/chart16.xml"/><Relationship Id="rId3" Type="http://schemas.openxmlformats.org/officeDocument/2006/relationships/tags" Target="../tags/tag171.xml"/><Relationship Id="rId21" Type="http://schemas.openxmlformats.org/officeDocument/2006/relationships/tags" Target="../tags/tag189.xml"/><Relationship Id="rId7" Type="http://schemas.openxmlformats.org/officeDocument/2006/relationships/tags" Target="../tags/tag175.xml"/><Relationship Id="rId12" Type="http://schemas.openxmlformats.org/officeDocument/2006/relationships/tags" Target="../tags/tag180.xml"/><Relationship Id="rId17" Type="http://schemas.openxmlformats.org/officeDocument/2006/relationships/tags" Target="../tags/tag185.xml"/><Relationship Id="rId25" Type="http://schemas.openxmlformats.org/officeDocument/2006/relationships/image" Target="../media/image8.emf"/><Relationship Id="rId2" Type="http://schemas.openxmlformats.org/officeDocument/2006/relationships/tags" Target="../tags/tag170.xml"/><Relationship Id="rId16" Type="http://schemas.openxmlformats.org/officeDocument/2006/relationships/tags" Target="../tags/tag184.xml"/><Relationship Id="rId20" Type="http://schemas.openxmlformats.org/officeDocument/2006/relationships/tags" Target="../tags/tag188.xml"/><Relationship Id="rId1" Type="http://schemas.openxmlformats.org/officeDocument/2006/relationships/tags" Target="../tags/tag169.xml"/><Relationship Id="rId6" Type="http://schemas.openxmlformats.org/officeDocument/2006/relationships/tags" Target="../tags/tag174.xml"/><Relationship Id="rId11" Type="http://schemas.openxmlformats.org/officeDocument/2006/relationships/tags" Target="../tags/tag179.xml"/><Relationship Id="rId24" Type="http://schemas.openxmlformats.org/officeDocument/2006/relationships/oleObject" Target="../embeddings/oleObject27.bin"/><Relationship Id="rId5" Type="http://schemas.openxmlformats.org/officeDocument/2006/relationships/tags" Target="../tags/tag173.xml"/><Relationship Id="rId15" Type="http://schemas.openxmlformats.org/officeDocument/2006/relationships/tags" Target="../tags/tag183.xml"/><Relationship Id="rId23" Type="http://schemas.openxmlformats.org/officeDocument/2006/relationships/notesSlide" Target="../notesSlides/notesSlide21.xml"/><Relationship Id="rId10" Type="http://schemas.openxmlformats.org/officeDocument/2006/relationships/tags" Target="../tags/tag178.xml"/><Relationship Id="rId19" Type="http://schemas.openxmlformats.org/officeDocument/2006/relationships/tags" Target="../tags/tag187.xml"/><Relationship Id="rId4" Type="http://schemas.openxmlformats.org/officeDocument/2006/relationships/tags" Target="../tags/tag172.xml"/><Relationship Id="rId9" Type="http://schemas.openxmlformats.org/officeDocument/2006/relationships/tags" Target="../tags/tag177.xml"/><Relationship Id="rId14" Type="http://schemas.openxmlformats.org/officeDocument/2006/relationships/tags" Target="../tags/tag182.xml"/><Relationship Id="rId22" Type="http://schemas.openxmlformats.org/officeDocument/2006/relationships/slideLayout" Target="../slideLayouts/slideLayout2.xml"/><Relationship Id="rId27" Type="http://schemas.openxmlformats.org/officeDocument/2006/relationships/chart" Target="../charts/chart1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90.xml"/><Relationship Id="rId5" Type="http://schemas.openxmlformats.org/officeDocument/2006/relationships/image" Target="../media/image8.emf"/><Relationship Id="rId4" Type="http://schemas.openxmlformats.org/officeDocument/2006/relationships/oleObject" Target="../embeddings/oleObject28.bin"/></Relationships>
</file>

<file path=ppt/slides/_rels/slide28.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124.png"/><Relationship Id="rId18" Type="http://schemas.openxmlformats.org/officeDocument/2006/relationships/image" Target="../media/image129.png"/><Relationship Id="rId3" Type="http://schemas.openxmlformats.org/officeDocument/2006/relationships/notesSlide" Target="../notesSlides/notesSlide23.xml"/><Relationship Id="rId7" Type="http://schemas.openxmlformats.org/officeDocument/2006/relationships/image" Target="../media/image22.png"/><Relationship Id="rId12" Type="http://schemas.openxmlformats.org/officeDocument/2006/relationships/image" Target="../media/image98.png"/><Relationship Id="rId17" Type="http://schemas.openxmlformats.org/officeDocument/2006/relationships/image" Target="../media/image128.png"/><Relationship Id="rId2" Type="http://schemas.openxmlformats.org/officeDocument/2006/relationships/slideLayout" Target="../slideLayouts/slideLayout2.xml"/><Relationship Id="rId16" Type="http://schemas.openxmlformats.org/officeDocument/2006/relationships/image" Target="../media/image127.png"/><Relationship Id="rId1" Type="http://schemas.openxmlformats.org/officeDocument/2006/relationships/tags" Target="../tags/tag191.xml"/><Relationship Id="rId6" Type="http://schemas.openxmlformats.org/officeDocument/2006/relationships/image" Target="../media/image122.png"/><Relationship Id="rId11" Type="http://schemas.openxmlformats.org/officeDocument/2006/relationships/image" Target="../media/image123.png"/><Relationship Id="rId5" Type="http://schemas.openxmlformats.org/officeDocument/2006/relationships/image" Target="../media/image18.emf"/><Relationship Id="rId15" Type="http://schemas.openxmlformats.org/officeDocument/2006/relationships/image" Target="../media/image126.png"/><Relationship Id="rId10" Type="http://schemas.openxmlformats.org/officeDocument/2006/relationships/image" Target="../media/image46.png"/><Relationship Id="rId19" Type="http://schemas.openxmlformats.org/officeDocument/2006/relationships/image" Target="../media/image130.png"/><Relationship Id="rId4" Type="http://schemas.openxmlformats.org/officeDocument/2006/relationships/oleObject" Target="../embeddings/oleObject29.bin"/><Relationship Id="rId9" Type="http://schemas.openxmlformats.org/officeDocument/2006/relationships/image" Target="../media/image74.png"/><Relationship Id="rId14" Type="http://schemas.openxmlformats.org/officeDocument/2006/relationships/image" Target="../media/image125.jpeg"/></Relationships>
</file>

<file path=ppt/slides/_rels/slide29.xml.rels><?xml version="1.0" encoding="UTF-8" standalone="yes"?>
<Relationships xmlns="http://schemas.openxmlformats.org/package/2006/relationships"><Relationship Id="rId13" Type="http://schemas.openxmlformats.org/officeDocument/2006/relationships/image" Target="../media/image134.png"/><Relationship Id="rId18" Type="http://schemas.openxmlformats.org/officeDocument/2006/relationships/image" Target="../media/image137.png"/><Relationship Id="rId26" Type="http://schemas.openxmlformats.org/officeDocument/2006/relationships/image" Target="../media/image143.png"/><Relationship Id="rId39" Type="http://schemas.openxmlformats.org/officeDocument/2006/relationships/image" Target="../media/image153.png"/><Relationship Id="rId21" Type="http://schemas.openxmlformats.org/officeDocument/2006/relationships/image" Target="../media/image140.png"/><Relationship Id="rId34" Type="http://schemas.openxmlformats.org/officeDocument/2006/relationships/image" Target="../media/image75.png"/><Relationship Id="rId42" Type="http://schemas.openxmlformats.org/officeDocument/2006/relationships/image" Target="../media/image155.png"/><Relationship Id="rId47" Type="http://schemas.openxmlformats.org/officeDocument/2006/relationships/image" Target="../media/image159.png"/><Relationship Id="rId50" Type="http://schemas.openxmlformats.org/officeDocument/2006/relationships/image" Target="../media/image63.png"/><Relationship Id="rId55" Type="http://schemas.openxmlformats.org/officeDocument/2006/relationships/image" Target="../media/image165.png"/><Relationship Id="rId63" Type="http://schemas.openxmlformats.org/officeDocument/2006/relationships/image" Target="../media/image172.png"/><Relationship Id="rId7" Type="http://schemas.openxmlformats.org/officeDocument/2006/relationships/image" Target="../media/image22.png"/><Relationship Id="rId2" Type="http://schemas.openxmlformats.org/officeDocument/2006/relationships/slideLayout" Target="../slideLayouts/slideLayout2.xml"/><Relationship Id="rId16" Type="http://schemas.openxmlformats.org/officeDocument/2006/relationships/image" Target="../media/image58.png"/><Relationship Id="rId29" Type="http://schemas.openxmlformats.org/officeDocument/2006/relationships/image" Target="../media/image146.png"/><Relationship Id="rId11" Type="http://schemas.openxmlformats.org/officeDocument/2006/relationships/image" Target="../media/image62.png"/><Relationship Id="rId24" Type="http://schemas.openxmlformats.org/officeDocument/2006/relationships/image" Target="../media/image141.png"/><Relationship Id="rId32" Type="http://schemas.openxmlformats.org/officeDocument/2006/relationships/image" Target="../media/image74.png"/><Relationship Id="rId37" Type="http://schemas.openxmlformats.org/officeDocument/2006/relationships/image" Target="../media/image151.png"/><Relationship Id="rId40" Type="http://schemas.openxmlformats.org/officeDocument/2006/relationships/image" Target="../media/image154.png"/><Relationship Id="rId45" Type="http://schemas.openxmlformats.org/officeDocument/2006/relationships/image" Target="../media/image157.png"/><Relationship Id="rId53" Type="http://schemas.openxmlformats.org/officeDocument/2006/relationships/image" Target="../media/image163.png"/><Relationship Id="rId58" Type="http://schemas.openxmlformats.org/officeDocument/2006/relationships/image" Target="../media/image168.png"/><Relationship Id="rId5" Type="http://schemas.openxmlformats.org/officeDocument/2006/relationships/image" Target="../media/image131.png"/><Relationship Id="rId61" Type="http://schemas.openxmlformats.org/officeDocument/2006/relationships/image" Target="../media/image61.png"/><Relationship Id="rId19" Type="http://schemas.openxmlformats.org/officeDocument/2006/relationships/image" Target="../media/image138.png"/><Relationship Id="rId14" Type="http://schemas.openxmlformats.org/officeDocument/2006/relationships/image" Target="../media/image135.png"/><Relationship Id="rId22" Type="http://schemas.openxmlformats.org/officeDocument/2006/relationships/image" Target="../media/image89.png"/><Relationship Id="rId27" Type="http://schemas.openxmlformats.org/officeDocument/2006/relationships/image" Target="../media/image144.png"/><Relationship Id="rId30" Type="http://schemas.openxmlformats.org/officeDocument/2006/relationships/image" Target="../media/image147.png"/><Relationship Id="rId35" Type="http://schemas.openxmlformats.org/officeDocument/2006/relationships/image" Target="../media/image149.png"/><Relationship Id="rId43" Type="http://schemas.openxmlformats.org/officeDocument/2006/relationships/image" Target="../media/image46.png"/><Relationship Id="rId48" Type="http://schemas.openxmlformats.org/officeDocument/2006/relationships/image" Target="../media/image160.png"/><Relationship Id="rId56" Type="http://schemas.openxmlformats.org/officeDocument/2006/relationships/image" Target="../media/image166.png"/><Relationship Id="rId8" Type="http://schemas.openxmlformats.org/officeDocument/2006/relationships/image" Target="../media/image133.png"/><Relationship Id="rId51" Type="http://schemas.openxmlformats.org/officeDocument/2006/relationships/image" Target="../media/image161.png"/><Relationship Id="rId3" Type="http://schemas.openxmlformats.org/officeDocument/2006/relationships/oleObject" Target="../embeddings/oleObject30.bin"/><Relationship Id="rId12" Type="http://schemas.openxmlformats.org/officeDocument/2006/relationships/image" Target="../media/image122.png"/><Relationship Id="rId17" Type="http://schemas.openxmlformats.org/officeDocument/2006/relationships/image" Target="../media/image136.png"/><Relationship Id="rId25" Type="http://schemas.openxmlformats.org/officeDocument/2006/relationships/image" Target="../media/image142.png"/><Relationship Id="rId33" Type="http://schemas.openxmlformats.org/officeDocument/2006/relationships/image" Target="../media/image148.png"/><Relationship Id="rId38" Type="http://schemas.openxmlformats.org/officeDocument/2006/relationships/image" Target="../media/image152.png"/><Relationship Id="rId46" Type="http://schemas.openxmlformats.org/officeDocument/2006/relationships/image" Target="../media/image158.png"/><Relationship Id="rId59" Type="http://schemas.openxmlformats.org/officeDocument/2006/relationships/image" Target="../media/image169.png"/><Relationship Id="rId20" Type="http://schemas.openxmlformats.org/officeDocument/2006/relationships/image" Target="../media/image139.png"/><Relationship Id="rId41" Type="http://schemas.openxmlformats.org/officeDocument/2006/relationships/image" Target="../media/image69.png"/><Relationship Id="rId54" Type="http://schemas.openxmlformats.org/officeDocument/2006/relationships/image" Target="../media/image164.png"/><Relationship Id="rId62" Type="http://schemas.openxmlformats.org/officeDocument/2006/relationships/image" Target="../media/image171.png"/><Relationship Id="rId1" Type="http://schemas.openxmlformats.org/officeDocument/2006/relationships/tags" Target="../tags/tag192.xml"/><Relationship Id="rId6" Type="http://schemas.openxmlformats.org/officeDocument/2006/relationships/image" Target="../media/image132.png"/><Relationship Id="rId15" Type="http://schemas.openxmlformats.org/officeDocument/2006/relationships/image" Target="../media/image64.png"/><Relationship Id="rId23" Type="http://schemas.openxmlformats.org/officeDocument/2006/relationships/image" Target="../media/image90.png"/><Relationship Id="rId28" Type="http://schemas.openxmlformats.org/officeDocument/2006/relationships/image" Target="../media/image145.png"/><Relationship Id="rId36" Type="http://schemas.openxmlformats.org/officeDocument/2006/relationships/image" Target="../media/image150.png"/><Relationship Id="rId49" Type="http://schemas.openxmlformats.org/officeDocument/2006/relationships/image" Target="../media/image67.png"/><Relationship Id="rId57" Type="http://schemas.openxmlformats.org/officeDocument/2006/relationships/image" Target="../media/image167.png"/><Relationship Id="rId10" Type="http://schemas.openxmlformats.org/officeDocument/2006/relationships/image" Target="../media/image28.png"/><Relationship Id="rId31" Type="http://schemas.openxmlformats.org/officeDocument/2006/relationships/image" Target="../media/image73.png"/><Relationship Id="rId44" Type="http://schemas.openxmlformats.org/officeDocument/2006/relationships/image" Target="../media/image156.png"/><Relationship Id="rId52" Type="http://schemas.openxmlformats.org/officeDocument/2006/relationships/image" Target="../media/image162.png"/><Relationship Id="rId60" Type="http://schemas.openxmlformats.org/officeDocument/2006/relationships/image" Target="../media/image170.png"/><Relationship Id="rId4" Type="http://schemas.openxmlformats.org/officeDocument/2006/relationships/image" Target="../media/image18.emf"/><Relationship Id="rId9" Type="http://schemas.openxmlformats.org/officeDocument/2006/relationships/image" Target="../media/image108.png"/></Relationships>
</file>

<file path=ppt/slides/_rels/slide30.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2CC5A34-E94C-9C85-43D4-E435CB73F069}"/>
              </a:ext>
            </a:extLst>
          </p:cNvPr>
          <p:cNvGraphicFramePr>
            <a:graphicFrameLocks noChangeAspect="1"/>
          </p:cNvGraphicFramePr>
          <p:nvPr>
            <p:custDataLst>
              <p:tags r:id="rId1"/>
            </p:custDataLst>
            <p:extLst>
              <p:ext uri="{D42A27DB-BD31-4B8C-83A1-F6EECF244321}">
                <p14:modId xmlns:p14="http://schemas.microsoft.com/office/powerpoint/2010/main" val="12095973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4" imgH="405" progId="TCLayout.ActiveDocument.1">
                  <p:embed/>
                </p:oleObj>
              </mc:Choice>
              <mc:Fallback>
                <p:oleObj name="think-cell 幻灯片" r:id="rId4" imgW="404" imgH="40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 name="图片 1"/>
          <p:cNvPicPr/>
          <p:nvPr/>
        </p:nvPicPr>
        <p:blipFill>
          <a:blip r:embed="rId6"/>
          <a:stretch>
            <a:fillRect/>
          </a:stretch>
        </p:blipFill>
        <p:spPr>
          <a:xfrm>
            <a:off x="1588" y="1588"/>
            <a:ext cx="1588" cy="1588"/>
          </a:xfrm>
          <a:prstGeom prst="rect">
            <a:avLst/>
          </a:prstGeom>
        </p:spPr>
      </p:pic>
      <p:sp>
        <p:nvSpPr>
          <p:cNvPr id="3" name="文本占位符 1"/>
          <p:cNvSpPr>
            <a:spLocks noGrp="1"/>
          </p:cNvSpPr>
          <p:nvPr>
            <p:ph type="body" sz="quarter" idx="13"/>
          </p:nvPr>
        </p:nvSpPr>
        <p:spPr>
          <a:xfrm>
            <a:off x="550801" y="4881475"/>
            <a:ext cx="7740650" cy="215900"/>
          </a:xfrm>
        </p:spPr>
        <p:txBody>
          <a:bodyPr/>
          <a:lstStyle/>
          <a:p>
            <a:pPr>
              <a:buClr>
                <a:schemeClr val="tx1">
                  <a:alpha val="100000"/>
                </a:schemeClr>
              </a:buClr>
              <a:buSzPct val="100000"/>
              <a:buFont typeface="Segoe UI" panose="020B0502040204020203" pitchFamily="34" charset="0"/>
              <a:buChar char="​"/>
            </a:pPr>
            <a:r>
              <a:rPr lang="en-US" dirty="0">
                <a:latin typeface="+mn-lt"/>
                <a:ea typeface="+mn-ea"/>
                <a:cs typeface="+mn-ea"/>
                <a:sym typeface="+mn-lt"/>
              </a:rPr>
              <a:t>2025/</a:t>
            </a:r>
            <a:r>
              <a:rPr lang="en-US" altLang="zh-CN" dirty="0">
                <a:latin typeface="+mn-lt"/>
                <a:ea typeface="+mn-ea"/>
                <a:cs typeface="+mn-ea"/>
                <a:sym typeface="+mn-lt"/>
              </a:rPr>
              <a:t>09</a:t>
            </a:r>
            <a:endParaRPr lang="zh-CN" dirty="0">
              <a:latin typeface="+mn-lt"/>
              <a:ea typeface="+mn-ea"/>
              <a:cs typeface="+mn-ea"/>
              <a:sym typeface="+mn-lt"/>
            </a:endParaRPr>
          </a:p>
        </p:txBody>
      </p:sp>
      <p:sp>
        <p:nvSpPr>
          <p:cNvPr id="4" name="副标题 2"/>
          <p:cNvSpPr>
            <a:spLocks noGrp="1"/>
          </p:cNvSpPr>
          <p:nvPr>
            <p:ph type="subTitle" idx="1"/>
          </p:nvPr>
        </p:nvSpPr>
        <p:spPr/>
        <p:txBody>
          <a:bodyPr/>
          <a:lstStyle/>
          <a:p>
            <a:r>
              <a:rPr lang="en-US" altLang="zh-CN" dirty="0">
                <a:latin typeface="+mn-lt"/>
                <a:ea typeface="+mn-ea"/>
                <a:cs typeface="+mn-ea"/>
                <a:sym typeface="+mn-lt"/>
              </a:rPr>
              <a:t>Co-packaged Optics</a:t>
            </a:r>
            <a:endParaRPr lang="zh-CN" altLang="en-US" dirty="0">
              <a:latin typeface="+mn-lt"/>
              <a:ea typeface="+mn-ea"/>
              <a:cs typeface="+mn-ea"/>
              <a:sym typeface="+mn-lt"/>
            </a:endParaRPr>
          </a:p>
        </p:txBody>
      </p:sp>
      <p:sp>
        <p:nvSpPr>
          <p:cNvPr id="5" name="标题 3"/>
          <p:cNvSpPr>
            <a:spLocks noGrp="1"/>
          </p:cNvSpPr>
          <p:nvPr>
            <p:ph type="title"/>
          </p:nvPr>
        </p:nvSpPr>
        <p:spPr>
          <a:xfrm>
            <a:off x="551942" y="3090446"/>
            <a:ext cx="7740650" cy="679450"/>
          </a:xfrm>
        </p:spPr>
        <p:txBody>
          <a:bodyPr vert="horz"/>
          <a:lstStyle/>
          <a:p>
            <a:pPr>
              <a:buNone/>
            </a:pPr>
            <a:r>
              <a:rPr lang="en-US" altLang="zh-CN" dirty="0">
                <a:latin typeface="+mn-lt"/>
                <a:ea typeface="+mn-ea"/>
                <a:cs typeface="+mn-ea"/>
                <a:sym typeface="+mn-lt"/>
              </a:rPr>
              <a:t>CPO</a:t>
            </a:r>
            <a:endParaRPr dirty="0">
              <a:latin typeface="+mn-lt"/>
              <a:ea typeface="+mn-ea"/>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noChangeAspect="1"/>
          </p:cNvGraphicFramePr>
          <p:nvPr>
            <p:custDataLst>
              <p:tags r:id="rId1"/>
            </p:custDataLst>
            <p:extLst>
              <p:ext uri="{D42A27DB-BD31-4B8C-83A1-F6EECF244321}">
                <p14:modId xmlns:p14="http://schemas.microsoft.com/office/powerpoint/2010/main" val="758661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8" imgW="349" imgH="350" progId="TCLayout.ActiveDocument.1">
                  <p:embed/>
                </p:oleObj>
              </mc:Choice>
              <mc:Fallback>
                <p:oleObj name="think-cell 幻灯片" r:id="rId8"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dirty="0"/>
              <a:t>Table of contents</a:t>
            </a:r>
          </a:p>
        </p:txBody>
      </p:sp>
      <p:sp>
        <p:nvSpPr>
          <p:cNvPr id="47" name="Rectangle 3">
            <a:extLst>
              <a:ext uri="{FF2B5EF4-FFF2-40B4-BE49-F238E27FC236}">
                <a16:creationId xmlns:a16="http://schemas.microsoft.com/office/drawing/2014/main" id="{0E5FD172-F0A8-5034-8CBA-1F583F5E0DB8}"/>
              </a:ext>
            </a:extLst>
          </p:cNvPr>
          <p:cNvSpPr>
            <a:spLocks/>
          </p:cNvSpPr>
          <p:nvPr>
            <p:custDataLst>
              <p:tags r:id="rId2"/>
            </p:custDataLst>
          </p:nvPr>
        </p:nvSpPr>
        <p:spPr bwMode="gray">
          <a:xfrm>
            <a:off x="1171575" y="4249034"/>
            <a:ext cx="3025427" cy="674566"/>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marL="0" marR="0" lvl="0" indent="0" algn="l" defTabSz="978998" eaLnBrk="1" fontAlgn="base" latinLnBrk="0" hangingPunct="1">
              <a:lnSpc>
                <a:spcPct val="100000"/>
              </a:lnSpc>
              <a:spcBef>
                <a:spcPct val="0"/>
              </a:spcBef>
              <a:spcAft>
                <a:spcPct val="0"/>
              </a:spcAft>
              <a:buClrTx/>
              <a:buSzTx/>
              <a:buFontTx/>
              <a:buNone/>
              <a:tabLst/>
              <a:defRPr/>
            </a:pPr>
            <a:r>
              <a:rPr kumimoji="0" lang="en-US" i="0" u="none" strike="noStrike" kern="1200" spc="0" normalizeH="0" noProof="0">
                <a:ln>
                  <a:noFill/>
                </a:ln>
                <a:solidFill>
                  <a:schemeClr val="tx2"/>
                </a:solidFill>
                <a:effectLst/>
                <a:uLnTx/>
                <a:uFillTx/>
                <a:ea typeface="+mn-ea"/>
              </a:rPr>
              <a:t>Lorem ipsum dolor</a:t>
            </a:r>
          </a:p>
        </p:txBody>
      </p:sp>
      <p:sp>
        <p:nvSpPr>
          <p:cNvPr id="48" name="Rectangle 3">
            <a:extLst>
              <a:ext uri="{FF2B5EF4-FFF2-40B4-BE49-F238E27FC236}">
                <a16:creationId xmlns:a16="http://schemas.microsoft.com/office/drawing/2014/main" id="{92CF7951-BA26-0815-17A7-B665AFD6B5BD}"/>
              </a:ext>
            </a:extLst>
          </p:cNvPr>
          <p:cNvSpPr>
            <a:spLocks/>
          </p:cNvSpPr>
          <p:nvPr>
            <p:custDataLst>
              <p:tags r:id="rId3"/>
            </p:custDataLst>
          </p:nvPr>
        </p:nvSpPr>
        <p:spPr bwMode="gray">
          <a:xfrm>
            <a:off x="1171575" y="5205533"/>
            <a:ext cx="3025427" cy="674566"/>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marL="0" marR="0" lvl="0" indent="0" algn="l" defTabSz="978998" eaLnBrk="1" fontAlgn="base" latinLnBrk="0" hangingPunct="1">
              <a:lnSpc>
                <a:spcPct val="100000"/>
              </a:lnSpc>
              <a:spcBef>
                <a:spcPct val="0"/>
              </a:spcBef>
              <a:spcAft>
                <a:spcPct val="0"/>
              </a:spcAft>
              <a:buClrTx/>
              <a:buSzTx/>
              <a:buFontTx/>
              <a:buNone/>
              <a:tabLst/>
              <a:defRPr/>
            </a:pPr>
            <a:r>
              <a:rPr kumimoji="0" lang="en-US" i="0" u="none" strike="noStrike" kern="1200" spc="0" normalizeH="0" noProof="0">
                <a:ln>
                  <a:noFill/>
                </a:ln>
                <a:solidFill>
                  <a:schemeClr val="tx2"/>
                </a:solidFill>
                <a:effectLst/>
                <a:uLnTx/>
                <a:uFillTx/>
                <a:ea typeface="+mn-ea"/>
              </a:rPr>
              <a:t>Lorem ipsum dolor</a:t>
            </a:r>
          </a:p>
        </p:txBody>
      </p:sp>
      <p:cxnSp>
        <p:nvCxnSpPr>
          <p:cNvPr id="49" name="Gerader Verbinder 46">
            <a:extLst>
              <a:ext uri="{FF2B5EF4-FFF2-40B4-BE49-F238E27FC236}">
                <a16:creationId xmlns:a16="http://schemas.microsoft.com/office/drawing/2014/main" id="{490F8E88-088A-F3F6-BF71-8E7F7E2140DD}"/>
              </a:ext>
            </a:extLst>
          </p:cNvPr>
          <p:cNvCxnSpPr>
            <a:cxnSpLocks/>
          </p:cNvCxnSpPr>
          <p:nvPr/>
        </p:nvCxnSpPr>
        <p:spPr>
          <a:xfrm flipH="1">
            <a:off x="4479009" y="2013083"/>
            <a:ext cx="7330404"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0" name="Gerader Verbinder 47">
            <a:extLst>
              <a:ext uri="{FF2B5EF4-FFF2-40B4-BE49-F238E27FC236}">
                <a16:creationId xmlns:a16="http://schemas.microsoft.com/office/drawing/2014/main" id="{28CA3F0A-5846-6D01-0C46-F56EC8C1A164}"/>
              </a:ext>
            </a:extLst>
          </p:cNvPr>
          <p:cNvCxnSpPr>
            <a:cxnSpLocks/>
          </p:cNvCxnSpPr>
          <p:nvPr/>
        </p:nvCxnSpPr>
        <p:spPr>
          <a:xfrm flipH="1">
            <a:off x="4479009" y="2880174"/>
            <a:ext cx="7330404"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1" name="Gerader Verbinder 48">
            <a:extLst>
              <a:ext uri="{FF2B5EF4-FFF2-40B4-BE49-F238E27FC236}">
                <a16:creationId xmlns:a16="http://schemas.microsoft.com/office/drawing/2014/main" id="{66BE0612-789C-4634-F549-9190A13AF82A}"/>
              </a:ext>
            </a:extLst>
          </p:cNvPr>
          <p:cNvCxnSpPr>
            <a:cxnSpLocks/>
          </p:cNvCxnSpPr>
          <p:nvPr/>
        </p:nvCxnSpPr>
        <p:spPr>
          <a:xfrm flipH="1">
            <a:off x="4479009" y="3747265"/>
            <a:ext cx="7330404"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2" name="Gerader Verbinder 49">
            <a:extLst>
              <a:ext uri="{FF2B5EF4-FFF2-40B4-BE49-F238E27FC236}">
                <a16:creationId xmlns:a16="http://schemas.microsoft.com/office/drawing/2014/main" id="{397646D5-9BC1-D3AC-58F9-971E5BFCD571}"/>
              </a:ext>
            </a:extLst>
          </p:cNvPr>
          <p:cNvCxnSpPr>
            <a:cxnSpLocks/>
          </p:cNvCxnSpPr>
          <p:nvPr/>
        </p:nvCxnSpPr>
        <p:spPr>
          <a:xfrm flipH="1">
            <a:off x="4479009" y="4614356"/>
            <a:ext cx="7330404"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sp>
        <p:nvSpPr>
          <p:cNvPr id="53" name="Rectangle 3">
            <a:extLst>
              <a:ext uri="{FF2B5EF4-FFF2-40B4-BE49-F238E27FC236}">
                <a16:creationId xmlns:a16="http://schemas.microsoft.com/office/drawing/2014/main" id="{C268E9D9-A3ED-440A-2D19-BF526D3C05F5}"/>
              </a:ext>
            </a:extLst>
          </p:cNvPr>
          <p:cNvSpPr>
            <a:spLocks/>
          </p:cNvSpPr>
          <p:nvPr/>
        </p:nvSpPr>
        <p:spPr bwMode="gray">
          <a:xfrm>
            <a:off x="4479008" y="1456427"/>
            <a:ext cx="7330404" cy="246221"/>
          </a:xfrm>
          <a:prstGeom prst="rect">
            <a:avLst/>
          </a:prstGeom>
          <a:noFill/>
          <a:ln w="9525" algn="ctr">
            <a:noFill/>
            <a:miter lim="800000"/>
            <a:headEnd/>
            <a:tailEnd/>
          </a:ln>
          <a:effectLst/>
        </p:spPr>
        <p:txBody>
          <a:bodyPr wrap="square" lIns="0" tIns="0" rIns="0" bIns="0" anchor="ctr">
            <a:spAutoFit/>
          </a:bodyPr>
          <a:lstStyle/>
          <a:p>
            <a:pPr marL="0" marR="0" lvl="0" indent="0" algn="l" defTabSz="978998"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ea typeface="+mn-ea"/>
              </a:rPr>
              <a:t>01. Why the focus on </a:t>
            </a:r>
            <a:r>
              <a:rPr lang="en-US" sz="1600" dirty="0">
                <a:solidFill>
                  <a:prstClr val="black"/>
                </a:solidFill>
              </a:rPr>
              <a:t>CPO</a:t>
            </a:r>
            <a:r>
              <a:rPr kumimoji="0" lang="en-US" sz="1600" b="0" i="0" u="none" strike="noStrike" kern="1200" cap="none" spc="0" normalizeH="0" baseline="0" noProof="0" dirty="0">
                <a:ln>
                  <a:noFill/>
                </a:ln>
                <a:solidFill>
                  <a:prstClr val="black"/>
                </a:solidFill>
                <a:effectLst/>
                <a:uLnTx/>
                <a:uFillTx/>
                <a:ea typeface="+mn-ea"/>
              </a:rPr>
              <a:t>? </a:t>
            </a:r>
          </a:p>
        </p:txBody>
      </p:sp>
      <p:sp>
        <p:nvSpPr>
          <p:cNvPr id="54" name="Rectangle 3">
            <a:extLst>
              <a:ext uri="{FF2B5EF4-FFF2-40B4-BE49-F238E27FC236}">
                <a16:creationId xmlns:a16="http://schemas.microsoft.com/office/drawing/2014/main" id="{1711F00B-9E27-94D5-6998-00906995CBB1}"/>
              </a:ext>
            </a:extLst>
          </p:cNvPr>
          <p:cNvSpPr>
            <a:spLocks/>
          </p:cNvSpPr>
          <p:nvPr/>
        </p:nvSpPr>
        <p:spPr bwMode="gray">
          <a:xfrm>
            <a:off x="4479008" y="2323518"/>
            <a:ext cx="7330404" cy="246221"/>
          </a:xfrm>
          <a:prstGeom prst="rect">
            <a:avLst/>
          </a:prstGeom>
          <a:noFill/>
          <a:ln w="9525" algn="ctr">
            <a:noFill/>
            <a:miter lim="800000"/>
            <a:headEnd/>
            <a:tailEnd/>
          </a:ln>
          <a:effectLst/>
        </p:spPr>
        <p:txBody>
          <a:bodyPr wrap="square" lIns="0" tIns="0" rIns="0" bIns="0" anchor="ctr">
            <a:spAutoFit/>
          </a:bodyPr>
          <a:lstStyle/>
          <a:p>
            <a:pPr defTabSz="978998" fontAlgn="base">
              <a:spcBef>
                <a:spcPct val="0"/>
              </a:spcBef>
              <a:spcAft>
                <a:spcPct val="0"/>
              </a:spcAft>
              <a:defRPr/>
            </a:pPr>
            <a:r>
              <a:rPr lang="en-US" sz="1600" dirty="0">
                <a:solidFill>
                  <a:prstClr val="black"/>
                </a:solidFill>
              </a:rPr>
              <a:t>02. Why copper to optical? Why pluggable to </a:t>
            </a:r>
            <a:r>
              <a:rPr lang="en-US" altLang="zh-CN" sz="1600" dirty="0">
                <a:solidFill>
                  <a:prstClr val="black"/>
                </a:solidFill>
              </a:rPr>
              <a:t>co-packaged? </a:t>
            </a:r>
            <a:endParaRPr lang="en-US" sz="1600" dirty="0">
              <a:solidFill>
                <a:prstClr val="black"/>
              </a:solidFill>
            </a:endParaRPr>
          </a:p>
        </p:txBody>
      </p:sp>
      <p:sp>
        <p:nvSpPr>
          <p:cNvPr id="55" name="Rectangle 3">
            <a:extLst>
              <a:ext uri="{FF2B5EF4-FFF2-40B4-BE49-F238E27FC236}">
                <a16:creationId xmlns:a16="http://schemas.microsoft.com/office/drawing/2014/main" id="{CFCF0417-DC67-7FFC-30C3-E2148368344D}"/>
              </a:ext>
            </a:extLst>
          </p:cNvPr>
          <p:cNvSpPr>
            <a:spLocks/>
          </p:cNvSpPr>
          <p:nvPr/>
        </p:nvSpPr>
        <p:spPr bwMode="gray">
          <a:xfrm>
            <a:off x="4479008" y="3190609"/>
            <a:ext cx="7330404" cy="246221"/>
          </a:xfrm>
          <a:prstGeom prst="rect">
            <a:avLst/>
          </a:prstGeom>
          <a:noFill/>
          <a:ln w="9525" algn="ctr">
            <a:noFill/>
            <a:miter lim="800000"/>
            <a:headEnd/>
            <a:tailEnd/>
          </a:ln>
          <a:effectLst/>
        </p:spPr>
        <p:txBody>
          <a:bodyPr wrap="square" lIns="0" tIns="0" rIns="0" bIns="0" anchor="ctr">
            <a:spAutoFit/>
          </a:bodyPr>
          <a:lstStyle/>
          <a:p>
            <a:pPr defTabSz="978998" fontAlgn="base">
              <a:spcBef>
                <a:spcPct val="0"/>
              </a:spcBef>
              <a:spcAft>
                <a:spcPct val="0"/>
              </a:spcAft>
              <a:defRPr/>
            </a:pPr>
            <a:r>
              <a:rPr lang="en-US" sz="1600" dirty="0">
                <a:solidFill>
                  <a:prstClr val="black"/>
                </a:solidFill>
              </a:rPr>
              <a:t>03. Where CPO fits first: scale up or scale out?</a:t>
            </a:r>
          </a:p>
        </p:txBody>
      </p:sp>
      <p:sp>
        <p:nvSpPr>
          <p:cNvPr id="56" name="Rectangle 3">
            <a:extLst>
              <a:ext uri="{FF2B5EF4-FFF2-40B4-BE49-F238E27FC236}">
                <a16:creationId xmlns:a16="http://schemas.microsoft.com/office/drawing/2014/main" id="{4E6924D9-36EE-8C24-72F0-88A20491AB31}"/>
              </a:ext>
            </a:extLst>
          </p:cNvPr>
          <p:cNvSpPr>
            <a:spLocks/>
          </p:cNvSpPr>
          <p:nvPr/>
        </p:nvSpPr>
        <p:spPr bwMode="gray">
          <a:xfrm>
            <a:off x="4479008" y="4057700"/>
            <a:ext cx="7330404" cy="246221"/>
          </a:xfrm>
          <a:prstGeom prst="rect">
            <a:avLst/>
          </a:prstGeom>
          <a:noFill/>
          <a:ln w="9525" algn="ctr">
            <a:noFill/>
            <a:miter lim="800000"/>
            <a:headEnd/>
            <a:tailEnd/>
          </a:ln>
          <a:effectLst/>
        </p:spPr>
        <p:txBody>
          <a:bodyPr wrap="square" lIns="0" tIns="0" rIns="0" bIns="0" anchor="ctr">
            <a:spAutoFit/>
          </a:bodyPr>
          <a:lstStyle/>
          <a:p>
            <a:pPr defTabSz="978998" fontAlgn="base">
              <a:spcBef>
                <a:spcPct val="0"/>
              </a:spcBef>
              <a:spcAft>
                <a:spcPct val="0"/>
              </a:spcAft>
              <a:defRPr/>
            </a:pPr>
            <a:r>
              <a:rPr lang="en-US" sz="1600" dirty="0">
                <a:solidFill>
                  <a:prstClr val="black"/>
                </a:solidFill>
              </a:rPr>
              <a:t>04. How big? </a:t>
            </a:r>
          </a:p>
        </p:txBody>
      </p:sp>
      <p:sp>
        <p:nvSpPr>
          <p:cNvPr id="57" name="Rectangle 3">
            <a:extLst>
              <a:ext uri="{FF2B5EF4-FFF2-40B4-BE49-F238E27FC236}">
                <a16:creationId xmlns:a16="http://schemas.microsoft.com/office/drawing/2014/main" id="{19CE5E72-40CA-01FA-1C10-14066CBD5584}"/>
              </a:ext>
            </a:extLst>
          </p:cNvPr>
          <p:cNvSpPr>
            <a:spLocks/>
          </p:cNvSpPr>
          <p:nvPr/>
        </p:nvSpPr>
        <p:spPr bwMode="gray">
          <a:xfrm>
            <a:off x="4479008" y="4924791"/>
            <a:ext cx="7330404" cy="246221"/>
          </a:xfrm>
          <a:prstGeom prst="rect">
            <a:avLst/>
          </a:prstGeom>
          <a:noFill/>
          <a:ln w="9525" algn="ctr">
            <a:noFill/>
            <a:miter lim="800000"/>
            <a:headEnd/>
            <a:tailEnd/>
          </a:ln>
          <a:effectLst/>
        </p:spPr>
        <p:txBody>
          <a:bodyPr wrap="square" lIns="0" tIns="0" rIns="0" bIns="0" anchor="ctr">
            <a:spAutoFit/>
          </a:bodyPr>
          <a:lstStyle/>
          <a:p>
            <a:pPr defTabSz="978998" fontAlgn="base">
              <a:spcBef>
                <a:spcPct val="0"/>
              </a:spcBef>
              <a:spcAft>
                <a:spcPct val="0"/>
              </a:spcAft>
              <a:defRPr/>
            </a:pPr>
            <a:r>
              <a:rPr lang="en-US" altLang="zh-CN" sz="1600" dirty="0">
                <a:solidFill>
                  <a:prstClr val="black"/>
                </a:solidFill>
              </a:rPr>
              <a:t>05. Which segment matters most?</a:t>
            </a:r>
            <a:endParaRPr lang="en-US" sz="1600" dirty="0">
              <a:solidFill>
                <a:prstClr val="black"/>
              </a:solidFill>
            </a:endParaRPr>
          </a:p>
        </p:txBody>
      </p:sp>
      <p:sp>
        <p:nvSpPr>
          <p:cNvPr id="63" name="Rectangle 3">
            <a:extLst>
              <a:ext uri="{FF2B5EF4-FFF2-40B4-BE49-F238E27FC236}">
                <a16:creationId xmlns:a16="http://schemas.microsoft.com/office/drawing/2014/main" id="{05AB95B3-0DEB-3315-E8A5-3356A692A211}"/>
              </a:ext>
            </a:extLst>
          </p:cNvPr>
          <p:cNvSpPr>
            <a:spLocks/>
          </p:cNvSpPr>
          <p:nvPr/>
        </p:nvSpPr>
        <p:spPr bwMode="gray">
          <a:xfrm rot="16200000">
            <a:off x="-256358" y="2056570"/>
            <a:ext cx="1631062" cy="276999"/>
          </a:xfrm>
          <a:prstGeom prst="rect">
            <a:avLst/>
          </a:prstGeom>
          <a:noFill/>
          <a:ln w="9525" algn="ctr">
            <a:noFill/>
            <a:miter lim="800000"/>
            <a:headEnd/>
            <a:tailEnd/>
          </a:ln>
          <a:effectLst/>
        </p:spPr>
        <p:txBody>
          <a:bodyPr wrap="square" lIns="0" tIns="0" rIns="0" bIns="0" anchor="ctr">
            <a:spAutoFit/>
          </a:bodyPr>
          <a:lstStyle/>
          <a:p>
            <a:pPr marL="0" marR="0" lvl="0" indent="0" algn="ctr" defTabSz="978998" eaLnBrk="1" fontAlgn="base" latinLnBrk="0" hangingPunct="1">
              <a:lnSpc>
                <a:spcPct val="100000"/>
              </a:lnSpc>
              <a:spcBef>
                <a:spcPct val="0"/>
              </a:spcBef>
              <a:spcAft>
                <a:spcPct val="0"/>
              </a:spcAft>
              <a:buClrTx/>
              <a:buSzTx/>
              <a:buFontTx/>
              <a:buNone/>
              <a:tabLst/>
              <a:defRPr/>
            </a:pPr>
            <a:r>
              <a:rPr kumimoji="0" lang="en-US" b="0" i="0" u="none" strike="noStrike" kern="1200" cap="none" spc="0" normalizeH="0" baseline="0" noProof="0">
                <a:ln>
                  <a:noFill/>
                </a:ln>
                <a:solidFill>
                  <a:schemeClr val="tx2"/>
                </a:solidFill>
                <a:effectLst/>
                <a:uLnTx/>
                <a:uFillTx/>
                <a:ea typeface="+mn-ea"/>
              </a:rPr>
              <a:t>Lorem ipsum</a:t>
            </a:r>
          </a:p>
        </p:txBody>
      </p:sp>
      <p:cxnSp>
        <p:nvCxnSpPr>
          <p:cNvPr id="64" name="Gerader Verbinder 4">
            <a:extLst>
              <a:ext uri="{FF2B5EF4-FFF2-40B4-BE49-F238E27FC236}">
                <a16:creationId xmlns:a16="http://schemas.microsoft.com/office/drawing/2014/main" id="{8923743B-4175-AD1F-4D60-5A5278929663}"/>
              </a:ext>
            </a:extLst>
          </p:cNvPr>
          <p:cNvCxnSpPr>
            <a:cxnSpLocks/>
          </p:cNvCxnSpPr>
          <p:nvPr/>
        </p:nvCxnSpPr>
        <p:spPr>
          <a:xfrm>
            <a:off x="862187" y="1456427"/>
            <a:ext cx="0" cy="2126404"/>
          </a:xfrm>
          <a:prstGeom prst="line">
            <a:avLst/>
          </a:prstGeom>
          <a:ln w="38100">
            <a:solidFill>
              <a:srgbClr val="0052D9"/>
            </a:solidFill>
          </a:ln>
        </p:spPr>
        <p:style>
          <a:lnRef idx="1">
            <a:schemeClr val="accent1"/>
          </a:lnRef>
          <a:fillRef idx="0">
            <a:schemeClr val="accent1"/>
          </a:fillRef>
          <a:effectRef idx="0">
            <a:schemeClr val="accent1"/>
          </a:effectRef>
          <a:fontRef idx="minor">
            <a:schemeClr val="tx1"/>
          </a:fontRef>
        </p:style>
      </p:cxnSp>
      <p:cxnSp>
        <p:nvCxnSpPr>
          <p:cNvPr id="65" name="Gerader Verbinder 29">
            <a:extLst>
              <a:ext uri="{FF2B5EF4-FFF2-40B4-BE49-F238E27FC236}">
                <a16:creationId xmlns:a16="http://schemas.microsoft.com/office/drawing/2014/main" id="{1C56A34A-54BD-E335-63F2-ECEB171821AC}"/>
              </a:ext>
            </a:extLst>
          </p:cNvPr>
          <p:cNvCxnSpPr>
            <a:cxnSpLocks/>
          </p:cNvCxnSpPr>
          <p:nvPr/>
        </p:nvCxnSpPr>
        <p:spPr>
          <a:xfrm>
            <a:off x="862187" y="3935560"/>
            <a:ext cx="0" cy="2102546"/>
          </a:xfrm>
          <a:prstGeom prst="line">
            <a:avLst/>
          </a:prstGeom>
          <a:ln w="38100">
            <a:solidFill>
              <a:srgbClr val="0052D9"/>
            </a:solidFill>
          </a:ln>
        </p:spPr>
        <p:style>
          <a:lnRef idx="1">
            <a:schemeClr val="accent1"/>
          </a:lnRef>
          <a:fillRef idx="0">
            <a:schemeClr val="accent1"/>
          </a:fillRef>
          <a:effectRef idx="0">
            <a:schemeClr val="accent1"/>
          </a:effectRef>
          <a:fontRef idx="minor">
            <a:schemeClr val="tx1"/>
          </a:fontRef>
        </p:style>
      </p:cxnSp>
      <p:sp>
        <p:nvSpPr>
          <p:cNvPr id="66" name="Rectangle 3">
            <a:extLst>
              <a:ext uri="{FF2B5EF4-FFF2-40B4-BE49-F238E27FC236}">
                <a16:creationId xmlns:a16="http://schemas.microsoft.com/office/drawing/2014/main" id="{224219E5-899D-1660-2E29-E7281290499E}"/>
              </a:ext>
            </a:extLst>
          </p:cNvPr>
          <p:cNvSpPr>
            <a:spLocks/>
          </p:cNvSpPr>
          <p:nvPr/>
        </p:nvSpPr>
        <p:spPr bwMode="gray">
          <a:xfrm rot="16200000">
            <a:off x="-734609" y="4447818"/>
            <a:ext cx="2587564" cy="276999"/>
          </a:xfrm>
          <a:prstGeom prst="rect">
            <a:avLst/>
          </a:prstGeom>
          <a:noFill/>
          <a:ln w="9525" algn="ctr">
            <a:noFill/>
            <a:miter lim="800000"/>
            <a:headEnd/>
            <a:tailEnd/>
          </a:ln>
          <a:effectLst/>
        </p:spPr>
        <p:txBody>
          <a:bodyPr wrap="square" lIns="0" tIns="0" rIns="0" bIns="0" anchor="ctr">
            <a:spAutoFit/>
          </a:bodyPr>
          <a:lstStyle/>
          <a:p>
            <a:pPr marL="0" marR="0" lvl="0" indent="0" algn="ctr" defTabSz="978998" eaLnBrk="1" fontAlgn="base" latinLnBrk="0" hangingPunct="1">
              <a:lnSpc>
                <a:spcPct val="100000"/>
              </a:lnSpc>
              <a:spcBef>
                <a:spcPct val="0"/>
              </a:spcBef>
              <a:spcAft>
                <a:spcPct val="0"/>
              </a:spcAft>
              <a:buClrTx/>
              <a:buSzTx/>
              <a:buFontTx/>
              <a:buNone/>
              <a:tabLst/>
              <a:defRPr/>
            </a:pPr>
            <a:r>
              <a:rPr kumimoji="0" lang="en-US" b="0" i="0" u="none" strike="noStrike" kern="1200" cap="none" spc="0" normalizeH="0" baseline="0" noProof="0">
                <a:ln>
                  <a:noFill/>
                </a:ln>
                <a:solidFill>
                  <a:schemeClr val="tx2"/>
                </a:solidFill>
                <a:effectLst/>
                <a:uLnTx/>
                <a:uFillTx/>
                <a:ea typeface="+mn-ea"/>
              </a:rPr>
              <a:t>Lorem ipsum</a:t>
            </a:r>
          </a:p>
        </p:txBody>
      </p:sp>
      <p:sp>
        <p:nvSpPr>
          <p:cNvPr id="4" name="Rectangle 3">
            <a:extLst>
              <a:ext uri="{FF2B5EF4-FFF2-40B4-BE49-F238E27FC236}">
                <a16:creationId xmlns:a16="http://schemas.microsoft.com/office/drawing/2014/main" id="{FE0EE93B-3E60-D020-4FC8-CB950A8AC788}"/>
              </a:ext>
            </a:extLst>
          </p:cNvPr>
          <p:cNvSpPr>
            <a:spLocks/>
          </p:cNvSpPr>
          <p:nvPr/>
        </p:nvSpPr>
        <p:spPr bwMode="gray">
          <a:xfrm>
            <a:off x="4479008" y="5791885"/>
            <a:ext cx="7330404" cy="246221"/>
          </a:xfrm>
          <a:prstGeom prst="rect">
            <a:avLst/>
          </a:prstGeom>
          <a:noFill/>
          <a:ln w="9525" algn="ctr">
            <a:noFill/>
            <a:miter lim="800000"/>
            <a:headEnd/>
            <a:tailEnd/>
          </a:ln>
          <a:effectLst/>
        </p:spPr>
        <p:txBody>
          <a:bodyPr wrap="square" lIns="0" tIns="0" rIns="0" bIns="0" anchor="ctr">
            <a:spAutoFit/>
          </a:bodyPr>
          <a:lstStyle/>
          <a:p>
            <a:pPr defTabSz="978998" fontAlgn="base">
              <a:spcBef>
                <a:spcPct val="0"/>
              </a:spcBef>
              <a:spcAft>
                <a:spcPct val="0"/>
              </a:spcAft>
              <a:defRPr/>
            </a:pPr>
            <a:r>
              <a:rPr lang="en-US" sz="1600" dirty="0">
                <a:solidFill>
                  <a:prstClr val="black"/>
                </a:solidFill>
              </a:rPr>
              <a:t>06. Key players to watch: Broadcom and </a:t>
            </a:r>
            <a:r>
              <a:rPr lang="en-US" sz="1600" dirty="0" err="1">
                <a:solidFill>
                  <a:prstClr val="black"/>
                </a:solidFill>
              </a:rPr>
              <a:t>ficonTEC</a:t>
            </a:r>
            <a:endParaRPr lang="en-US" sz="1600" dirty="0">
              <a:solidFill>
                <a:prstClr val="black"/>
              </a:solidFill>
            </a:endParaRPr>
          </a:p>
        </p:txBody>
      </p:sp>
      <p:cxnSp>
        <p:nvCxnSpPr>
          <p:cNvPr id="7" name="Gerader Verbinder 49">
            <a:extLst>
              <a:ext uri="{FF2B5EF4-FFF2-40B4-BE49-F238E27FC236}">
                <a16:creationId xmlns:a16="http://schemas.microsoft.com/office/drawing/2014/main" id="{4BE098FC-799F-1029-374A-1475EF5821A2}"/>
              </a:ext>
            </a:extLst>
          </p:cNvPr>
          <p:cNvCxnSpPr>
            <a:cxnSpLocks/>
          </p:cNvCxnSpPr>
          <p:nvPr/>
        </p:nvCxnSpPr>
        <p:spPr>
          <a:xfrm flipH="1">
            <a:off x="4479008" y="5481447"/>
            <a:ext cx="7330404"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2C38A9D3-E26D-76B9-5256-41C855B27326}"/>
              </a:ext>
            </a:extLst>
          </p:cNvPr>
          <p:cNvGrpSpPr/>
          <p:nvPr/>
        </p:nvGrpSpPr>
        <p:grpSpPr>
          <a:xfrm>
            <a:off x="1244740" y="1773311"/>
            <a:ext cx="1833093" cy="1492635"/>
            <a:chOff x="1244742" y="2055191"/>
            <a:chExt cx="1833093" cy="1492635"/>
          </a:xfrm>
        </p:grpSpPr>
        <p:sp>
          <p:nvSpPr>
            <p:cNvPr id="59" name="Rectangle 3">
              <a:extLst>
                <a:ext uri="{FF2B5EF4-FFF2-40B4-BE49-F238E27FC236}">
                  <a16:creationId xmlns:a16="http://schemas.microsoft.com/office/drawing/2014/main" id="{66DC64BD-ECC4-3DAC-C3DB-2B0ED0EC975F}"/>
                </a:ext>
              </a:extLst>
            </p:cNvPr>
            <p:cNvSpPr>
              <a:spLocks/>
            </p:cNvSpPr>
            <p:nvPr>
              <p:custDataLst>
                <p:tags r:id="rId5"/>
              </p:custDataLst>
            </p:nvPr>
          </p:nvSpPr>
          <p:spPr bwMode="gray">
            <a:xfrm>
              <a:off x="1300336" y="2055191"/>
              <a:ext cx="1352711" cy="520790"/>
            </a:xfrm>
            <a:prstGeom prst="rect">
              <a:avLst/>
            </a:prstGeom>
            <a:noFill/>
            <a:ln w="9525" algn="ctr">
              <a:noFill/>
              <a:miter lim="800000"/>
              <a:headEnd/>
              <a:tailEnd/>
            </a:ln>
            <a:effectLst/>
          </p:spPr>
          <p:txBody>
            <a:bodyPr wrap="square" lIns="0" tIns="0" rIns="0" bIns="0" anchor="ctr">
              <a:noAutofit/>
            </a:bodyPr>
            <a:lstStyle/>
            <a:p>
              <a:pPr marL="0" marR="0" lvl="0" indent="0" defTabSz="978998" eaLnBrk="1" fontAlgn="base" latinLnBrk="0" hangingPunct="1">
                <a:lnSpc>
                  <a:spcPct val="100000"/>
                </a:lnSpc>
                <a:spcBef>
                  <a:spcPct val="0"/>
                </a:spcBef>
                <a:spcAft>
                  <a:spcPct val="0"/>
                </a:spcAft>
                <a:buClrTx/>
                <a:buSzTx/>
                <a:buFontTx/>
                <a:buNone/>
                <a:tabLst/>
                <a:defRPr/>
              </a:pPr>
              <a:r>
                <a:rPr lang="en-US" sz="3200" b="1" dirty="0">
                  <a:solidFill>
                    <a:srgbClr val="0052D9"/>
                  </a:solidFill>
                </a:rPr>
                <a:t>Techs</a:t>
              </a:r>
              <a:endParaRPr kumimoji="0" lang="en-US" sz="3200" b="1" i="0" u="none" strike="noStrike" kern="1200" cap="none" spc="0" normalizeH="0" baseline="0" noProof="0" dirty="0">
                <a:solidFill>
                  <a:srgbClr val="0052D9"/>
                </a:solidFill>
                <a:effectLst/>
                <a:uLnTx/>
                <a:uFillTx/>
              </a:endParaRPr>
            </a:p>
          </p:txBody>
        </p:sp>
        <p:sp>
          <p:nvSpPr>
            <p:cNvPr id="11" name="文本框 10">
              <a:extLst>
                <a:ext uri="{FF2B5EF4-FFF2-40B4-BE49-F238E27FC236}">
                  <a16:creationId xmlns:a16="http://schemas.microsoft.com/office/drawing/2014/main" id="{FE558451-A235-2B74-CC6E-E9F4D0F630AF}"/>
                </a:ext>
              </a:extLst>
            </p:cNvPr>
            <p:cNvSpPr txBox="1"/>
            <p:nvPr/>
          </p:nvSpPr>
          <p:spPr>
            <a:xfrm>
              <a:off x="1244742" y="2645015"/>
              <a:ext cx="1833093" cy="902811"/>
            </a:xfrm>
            <a:prstGeom prst="rect">
              <a:avLst/>
            </a:prstGeom>
            <a:noFill/>
          </p:spPr>
          <p:txBody>
            <a:bodyPr wrap="square" rtlCol="0">
              <a:spAutoFit/>
            </a:bodyPr>
            <a:lstStyle/>
            <a:p>
              <a:pPr lvl="0" defTabSz="978998" fontAlgn="base">
                <a:spcBef>
                  <a:spcPts val="500"/>
                </a:spcBef>
                <a:spcAft>
                  <a:spcPts val="500"/>
                </a:spcAft>
                <a:defRPr/>
              </a:pPr>
              <a:r>
                <a:rPr lang="en-US" altLang="zh-CN" sz="1200" dirty="0">
                  <a:solidFill>
                    <a:srgbClr val="0052D9"/>
                  </a:solidFill>
                </a:rPr>
                <a:t>Interconnect</a:t>
              </a:r>
            </a:p>
            <a:p>
              <a:pPr lvl="0" defTabSz="978998" fontAlgn="base">
                <a:spcBef>
                  <a:spcPts val="500"/>
                </a:spcBef>
                <a:spcAft>
                  <a:spcPts val="500"/>
                </a:spcAft>
                <a:defRPr/>
              </a:pPr>
              <a:r>
                <a:rPr lang="en-US" altLang="zh-CN" sz="1200" dirty="0">
                  <a:solidFill>
                    <a:srgbClr val="0052D9"/>
                  </a:solidFill>
                </a:rPr>
                <a:t>Optical</a:t>
              </a:r>
            </a:p>
            <a:p>
              <a:pPr lvl="0" defTabSz="978998" fontAlgn="base">
                <a:spcBef>
                  <a:spcPts val="500"/>
                </a:spcBef>
                <a:spcAft>
                  <a:spcPts val="500"/>
                </a:spcAft>
                <a:defRPr/>
              </a:pPr>
              <a:r>
                <a:rPr lang="en-US" altLang="zh-CN" sz="1200" dirty="0">
                  <a:solidFill>
                    <a:srgbClr val="0052D9"/>
                  </a:solidFill>
                </a:rPr>
                <a:t>CPO</a:t>
              </a:r>
            </a:p>
          </p:txBody>
        </p:sp>
      </p:grpSp>
      <p:grpSp>
        <p:nvGrpSpPr>
          <p:cNvPr id="19" name="组合 18">
            <a:extLst>
              <a:ext uri="{FF2B5EF4-FFF2-40B4-BE49-F238E27FC236}">
                <a16:creationId xmlns:a16="http://schemas.microsoft.com/office/drawing/2014/main" id="{69E50D06-AF41-43E8-63B7-1E98F01C22C2}"/>
              </a:ext>
            </a:extLst>
          </p:cNvPr>
          <p:cNvGrpSpPr/>
          <p:nvPr/>
        </p:nvGrpSpPr>
        <p:grpSpPr>
          <a:xfrm>
            <a:off x="1244741" y="4180810"/>
            <a:ext cx="1833093" cy="1581607"/>
            <a:chOff x="1244742" y="4113360"/>
            <a:chExt cx="1833093" cy="1581607"/>
          </a:xfrm>
        </p:grpSpPr>
        <p:sp>
          <p:nvSpPr>
            <p:cNvPr id="62" name="Rectangle 3">
              <a:extLst>
                <a:ext uri="{FF2B5EF4-FFF2-40B4-BE49-F238E27FC236}">
                  <a16:creationId xmlns:a16="http://schemas.microsoft.com/office/drawing/2014/main" id="{AE265D59-EBB0-FF67-33E9-BD13DB5E1BD0}"/>
                </a:ext>
              </a:extLst>
            </p:cNvPr>
            <p:cNvSpPr>
              <a:spLocks/>
            </p:cNvSpPr>
            <p:nvPr>
              <p:custDataLst>
                <p:tags r:id="rId4"/>
              </p:custDataLst>
            </p:nvPr>
          </p:nvSpPr>
          <p:spPr bwMode="gray">
            <a:xfrm>
              <a:off x="1328241" y="4113360"/>
              <a:ext cx="1721906" cy="520790"/>
            </a:xfrm>
            <a:prstGeom prst="rect">
              <a:avLst/>
            </a:prstGeom>
            <a:noFill/>
            <a:ln w="9525" algn="ctr">
              <a:noFill/>
              <a:miter lim="800000"/>
              <a:headEnd/>
              <a:tailEnd/>
            </a:ln>
            <a:effectLst/>
          </p:spPr>
          <p:txBody>
            <a:bodyPr wrap="square" lIns="0" tIns="0" rIns="0" bIns="0" anchor="ctr">
              <a:noAutofit/>
            </a:bodyPr>
            <a:lstStyle/>
            <a:p>
              <a:pPr marL="0" marR="0" lvl="0" indent="0" defTabSz="978998"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solidFill>
                    <a:srgbClr val="0052D9"/>
                  </a:solidFill>
                  <a:effectLst/>
                  <a:uLnTx/>
                  <a:uFillTx/>
                </a:rPr>
                <a:t>Markets</a:t>
              </a:r>
            </a:p>
          </p:txBody>
        </p:sp>
        <p:sp>
          <p:nvSpPr>
            <p:cNvPr id="12" name="文本框 11">
              <a:extLst>
                <a:ext uri="{FF2B5EF4-FFF2-40B4-BE49-F238E27FC236}">
                  <a16:creationId xmlns:a16="http://schemas.microsoft.com/office/drawing/2014/main" id="{07E11F60-EAF1-1828-DD1D-836B1FC571EE}"/>
                </a:ext>
              </a:extLst>
            </p:cNvPr>
            <p:cNvSpPr txBox="1"/>
            <p:nvPr/>
          </p:nvSpPr>
          <p:spPr>
            <a:xfrm>
              <a:off x="1244742" y="4792156"/>
              <a:ext cx="1833093" cy="902811"/>
            </a:xfrm>
            <a:prstGeom prst="rect">
              <a:avLst/>
            </a:prstGeom>
            <a:noFill/>
          </p:spPr>
          <p:txBody>
            <a:bodyPr wrap="square" rtlCol="0">
              <a:spAutoFit/>
            </a:bodyPr>
            <a:lstStyle/>
            <a:p>
              <a:pPr lvl="0" defTabSz="978998" fontAlgn="base">
                <a:spcBef>
                  <a:spcPts val="500"/>
                </a:spcBef>
                <a:spcAft>
                  <a:spcPts val="500"/>
                </a:spcAft>
                <a:defRPr/>
              </a:pPr>
              <a:r>
                <a:rPr lang="en-US" altLang="zh-CN" sz="1200" dirty="0">
                  <a:solidFill>
                    <a:srgbClr val="0052D9"/>
                  </a:solidFill>
                </a:rPr>
                <a:t>Sizing</a:t>
              </a:r>
            </a:p>
            <a:p>
              <a:pPr lvl="0" defTabSz="978998" fontAlgn="base">
                <a:spcBef>
                  <a:spcPts val="500"/>
                </a:spcBef>
                <a:spcAft>
                  <a:spcPts val="500"/>
                </a:spcAft>
                <a:defRPr/>
              </a:pPr>
              <a:r>
                <a:rPr lang="en-US" altLang="zh-CN" sz="1200" dirty="0">
                  <a:solidFill>
                    <a:srgbClr val="0052D9"/>
                  </a:solidFill>
                </a:rPr>
                <a:t>Segments</a:t>
              </a:r>
            </a:p>
            <a:p>
              <a:pPr lvl="0" defTabSz="978998" fontAlgn="base">
                <a:spcBef>
                  <a:spcPts val="500"/>
                </a:spcBef>
                <a:spcAft>
                  <a:spcPts val="500"/>
                </a:spcAft>
                <a:defRPr/>
              </a:pPr>
              <a:r>
                <a:rPr lang="en-US" altLang="zh-CN" sz="1200" dirty="0">
                  <a:solidFill>
                    <a:srgbClr val="0052D9"/>
                  </a:solidFill>
                </a:rPr>
                <a:t>Players</a:t>
              </a:r>
            </a:p>
          </p:txBody>
        </p:sp>
      </p:grpSp>
    </p:spTree>
    <p:extLst>
      <p:ext uri="{BB962C8B-B14F-4D97-AF65-F5344CB8AC3E}">
        <p14:creationId xmlns:p14="http://schemas.microsoft.com/office/powerpoint/2010/main" val="3410321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noChangeAspect="1"/>
          </p:cNvGraphicFramePr>
          <p:nvPr>
            <p:custDataLst>
              <p:tags r:id="rId1"/>
            </p:custDataLst>
            <p:extLst>
              <p:ext uri="{D42A27DB-BD31-4B8C-83A1-F6EECF244321}">
                <p14:modId xmlns:p14="http://schemas.microsoft.com/office/powerpoint/2010/main" val="32913362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349" imgH="350" progId="TCLayout.ActiveDocument.1">
                  <p:embed/>
                </p:oleObj>
              </mc:Choice>
              <mc:Fallback>
                <p:oleObj name="think-cell 幻灯片" r:id="rId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a:xfrm>
            <a:off x="403200" y="258578"/>
            <a:ext cx="10087200" cy="384721"/>
          </a:xfrm>
        </p:spPr>
        <p:txBody>
          <a:bodyPr vert="horz"/>
          <a:lstStyle/>
          <a:p>
            <a:r>
              <a:rPr lang="en-US" altLang="zh-CN" dirty="0"/>
              <a:t>Why the focus on CPO? Nvidia, Broadcom, and </a:t>
            </a:r>
            <a:r>
              <a:rPr lang="en-US" altLang="zh-CN" dirty="0" err="1"/>
              <a:t>DeepSeek</a:t>
            </a:r>
            <a:endParaRPr lang="en-US" dirty="0"/>
          </a:p>
        </p:txBody>
      </p:sp>
      <p:grpSp>
        <p:nvGrpSpPr>
          <p:cNvPr id="47" name="组合 46">
            <a:extLst>
              <a:ext uri="{FF2B5EF4-FFF2-40B4-BE49-F238E27FC236}">
                <a16:creationId xmlns:a16="http://schemas.microsoft.com/office/drawing/2014/main" id="{2DBD3E1D-27FA-003B-4382-12E92529FE1E}"/>
              </a:ext>
            </a:extLst>
          </p:cNvPr>
          <p:cNvGrpSpPr/>
          <p:nvPr/>
        </p:nvGrpSpPr>
        <p:grpSpPr>
          <a:xfrm>
            <a:off x="363631" y="1337390"/>
            <a:ext cx="3788426" cy="4081694"/>
            <a:chOff x="363631" y="1428426"/>
            <a:chExt cx="3788426" cy="4081694"/>
          </a:xfrm>
        </p:grpSpPr>
        <p:sp>
          <p:nvSpPr>
            <p:cNvPr id="2" name="Rechteck 52">
              <a:extLst>
                <a:ext uri="{FF2B5EF4-FFF2-40B4-BE49-F238E27FC236}">
                  <a16:creationId xmlns:a16="http://schemas.microsoft.com/office/drawing/2014/main" id="{FE2110A6-EDBD-8697-B5F7-4B336BB31161}"/>
                </a:ext>
              </a:extLst>
            </p:cNvPr>
            <p:cNvSpPr>
              <a:spLocks/>
            </p:cNvSpPr>
            <p:nvPr/>
          </p:nvSpPr>
          <p:spPr>
            <a:xfrm>
              <a:off x="407987" y="2609993"/>
              <a:ext cx="3563744" cy="158027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all" spc="100">
                  <a:solidFill>
                    <a:schemeClr val="accent5"/>
                  </a:solidFill>
                </a:rPr>
                <a:t>IMAGE</a:t>
              </a:r>
            </a:p>
          </p:txBody>
        </p:sp>
        <p:sp>
          <p:nvSpPr>
            <p:cNvPr id="18" name="Inhaltsplatzhalter 2">
              <a:extLst>
                <a:ext uri="{FF2B5EF4-FFF2-40B4-BE49-F238E27FC236}">
                  <a16:creationId xmlns:a16="http://schemas.microsoft.com/office/drawing/2014/main" id="{6634A095-ABD0-527D-E2B1-46D80EE1E49A}"/>
                </a:ext>
              </a:extLst>
            </p:cNvPr>
            <p:cNvSpPr txBox="1">
              <a:spLocks/>
            </p:cNvSpPr>
            <p:nvPr/>
          </p:nvSpPr>
          <p:spPr>
            <a:xfrm>
              <a:off x="474582" y="5002289"/>
              <a:ext cx="3563744" cy="507831"/>
            </a:xfrm>
            <a:prstGeom prst="rect">
              <a:avLst/>
            </a:prstGeom>
          </p:spPr>
          <p:txBody>
            <a:bodyPr lIns="0" tIns="0" rIns="0" bIns="0">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altLang="zh-CN" sz="1400" dirty="0"/>
                <a:t>Pivots from Copper to Optics</a:t>
              </a:r>
            </a:p>
            <a:p>
              <a:pPr>
                <a:spcBef>
                  <a:spcPts val="600"/>
                </a:spcBef>
              </a:pPr>
              <a:r>
                <a:rPr lang="en-US" altLang="zh-CN" sz="1400" dirty="0"/>
                <a:t>Launches 2 CPO Switches</a:t>
              </a:r>
              <a:endParaRPr lang="en-US" sz="1400" dirty="0"/>
            </a:p>
          </p:txBody>
        </p:sp>
        <p:grpSp>
          <p:nvGrpSpPr>
            <p:cNvPr id="34" name="组合 33">
              <a:extLst>
                <a:ext uri="{FF2B5EF4-FFF2-40B4-BE49-F238E27FC236}">
                  <a16:creationId xmlns:a16="http://schemas.microsoft.com/office/drawing/2014/main" id="{D3FBE701-18A7-DD39-9241-D02C4BB6A543}"/>
                </a:ext>
              </a:extLst>
            </p:cNvPr>
            <p:cNvGrpSpPr/>
            <p:nvPr/>
          </p:nvGrpSpPr>
          <p:grpSpPr>
            <a:xfrm>
              <a:off x="363631" y="1428426"/>
              <a:ext cx="3788426" cy="776996"/>
              <a:chOff x="363631" y="1356036"/>
              <a:chExt cx="3788426" cy="776996"/>
            </a:xfrm>
          </p:grpSpPr>
          <p:sp>
            <p:nvSpPr>
              <p:cNvPr id="15" name="Textplatzhalter 9">
                <a:extLst>
                  <a:ext uri="{FF2B5EF4-FFF2-40B4-BE49-F238E27FC236}">
                    <a16:creationId xmlns:a16="http://schemas.microsoft.com/office/drawing/2014/main" id="{F3F9DCEA-95C5-231D-DDE1-741629D3FFE7}"/>
                  </a:ext>
                </a:extLst>
              </p:cNvPr>
              <p:cNvSpPr txBox="1">
                <a:spLocks/>
              </p:cNvSpPr>
              <p:nvPr/>
            </p:nvSpPr>
            <p:spPr bwMode="gray">
              <a:xfrm>
                <a:off x="437170" y="1948366"/>
                <a:ext cx="3563744" cy="184666"/>
              </a:xfrm>
              <a:prstGeom prst="rect">
                <a:avLst/>
              </a:prstGeom>
              <a:noFill/>
              <a:ln w="6350">
                <a:noFill/>
              </a:ln>
            </p:spPr>
            <p:txBody>
              <a:bodyPr vert="horz" wrap="square" lIns="0" tIns="0" rIns="0" bIns="0" rtlCol="0">
                <a:spAutoFit/>
              </a:bodyPr>
              <a:lstStyle>
                <a:lvl1pPr marL="0" indent="0" algn="l" defTabSz="914400" rtl="0" eaLnBrk="1" latinLnBrk="0" hangingPunct="1">
                  <a:spcBef>
                    <a:spcPts val="600"/>
                  </a:spcBef>
                  <a:buClr>
                    <a:schemeClr val="tx1"/>
                  </a:buClr>
                  <a:buFont typeface="Arial" panose="020B0604020202020204" pitchFamily="34" charset="0"/>
                  <a:buNone/>
                  <a:defRPr sz="1200" kern="1200">
                    <a:solidFill>
                      <a:schemeClr val="tx1"/>
                    </a:solidFill>
                    <a:latin typeface="+mn-lt"/>
                    <a:ea typeface="+mn-ea"/>
                    <a:cs typeface="+mn-cs"/>
                    <a:sym typeface="Futura"/>
                  </a:defRPr>
                </a:lvl1pPr>
                <a:lvl2pPr marL="180975"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2pPr>
                <a:lvl3pPr marL="360000"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3pPr>
                <a:lvl4pPr marL="541338" indent="-179388" algn="l" defTabSz="914400" rtl="0" eaLnBrk="1" latinLnBrk="0" hangingPunct="1">
                  <a:spcBef>
                    <a:spcPts val="600"/>
                  </a:spcBef>
                  <a:buClr>
                    <a:schemeClr val="tx1"/>
                  </a:buClr>
                  <a:buFont typeface="Arial" panose="020B0604020202020204" pitchFamily="34" charset="0"/>
                  <a:buChar char="•"/>
                  <a:tabLst/>
                  <a:defRPr sz="1200" kern="1200">
                    <a:solidFill>
                      <a:schemeClr val="tx1"/>
                    </a:solidFill>
                    <a:latin typeface="+mn-lt"/>
                    <a:ea typeface="+mn-ea"/>
                    <a:cs typeface="+mn-cs"/>
                    <a:sym typeface="Futura"/>
                  </a:defRPr>
                </a:lvl4pPr>
                <a:lvl5pPr marL="720000"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buClr>
                    <a:srgbClr val="000000"/>
                  </a:buClr>
                </a:pPr>
                <a:r>
                  <a:rPr lang="en-US" altLang="zh-CN" b="1" dirty="0"/>
                  <a:t>Aggressively announced CPO switches</a:t>
                </a:r>
                <a:endParaRPr lang="en-US" sz="1400" dirty="0">
                  <a:solidFill>
                    <a:srgbClr val="0052D9"/>
                  </a:solidFill>
                </a:endParaRPr>
              </a:p>
            </p:txBody>
          </p:sp>
          <p:grpSp>
            <p:nvGrpSpPr>
              <p:cNvPr id="4" name="组合 3">
                <a:extLst>
                  <a:ext uri="{FF2B5EF4-FFF2-40B4-BE49-F238E27FC236}">
                    <a16:creationId xmlns:a16="http://schemas.microsoft.com/office/drawing/2014/main" id="{32ED5BD9-2AC6-6B70-928D-74564A44C9D5}"/>
                  </a:ext>
                </a:extLst>
              </p:cNvPr>
              <p:cNvGrpSpPr/>
              <p:nvPr/>
            </p:nvGrpSpPr>
            <p:grpSpPr>
              <a:xfrm>
                <a:off x="363631" y="1356036"/>
                <a:ext cx="3788426" cy="671530"/>
                <a:chOff x="496428" y="1562181"/>
                <a:chExt cx="3788426" cy="671530"/>
              </a:xfrm>
              <a:noFill/>
            </p:grpSpPr>
            <p:sp>
              <p:nvSpPr>
                <p:cNvPr id="6" name="Rechteck 22">
                  <a:extLst>
                    <a:ext uri="{FF2B5EF4-FFF2-40B4-BE49-F238E27FC236}">
                      <a16:creationId xmlns:a16="http://schemas.microsoft.com/office/drawing/2014/main" id="{2E50D80A-1704-3509-9D6E-FF86D2EDA342}"/>
                    </a:ext>
                  </a:extLst>
                </p:cNvPr>
                <p:cNvSpPr>
                  <a:spLocks/>
                </p:cNvSpPr>
                <p:nvPr/>
              </p:nvSpPr>
              <p:spPr>
                <a:xfrm>
                  <a:off x="1657056" y="1562181"/>
                  <a:ext cx="2627798" cy="671530"/>
                </a:xfrm>
                <a:prstGeom prst="rect">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180000" bIns="144000" rtlCol="0" anchor="ctr"/>
                <a:lstStyle/>
                <a:p>
                  <a:pPr>
                    <a:buClr>
                      <a:srgbClr val="000000"/>
                    </a:buClr>
                  </a:pPr>
                  <a:r>
                    <a:rPr lang="en-US" altLang="zh-CN" sz="1400" b="1" dirty="0">
                      <a:solidFill>
                        <a:schemeClr val="accent1"/>
                      </a:solidFill>
                      <a:sym typeface="Futura"/>
                    </a:rPr>
                    <a:t>GTC 2025</a:t>
                  </a:r>
                </a:p>
              </p:txBody>
            </p:sp>
            <p:pic>
              <p:nvPicPr>
                <p:cNvPr id="8" name="图片 7">
                  <a:extLst>
                    <a:ext uri="{FF2B5EF4-FFF2-40B4-BE49-F238E27FC236}">
                      <a16:creationId xmlns:a16="http://schemas.microsoft.com/office/drawing/2014/main" id="{2B0F00AE-79C7-64B9-F55F-63167A365C22}"/>
                    </a:ext>
                  </a:extLst>
                </p:cNvPr>
                <p:cNvPicPr>
                  <a:picLocks noChangeAspect="1"/>
                </p:cNvPicPr>
                <p:nvPr/>
              </p:nvPicPr>
              <p:blipFill>
                <a:blip r:embed="rId6"/>
                <a:stretch>
                  <a:fillRect/>
                </a:stretch>
              </p:blipFill>
              <p:spPr>
                <a:xfrm>
                  <a:off x="496428" y="1737288"/>
                  <a:ext cx="443699" cy="319247"/>
                </a:xfrm>
                <a:prstGeom prst="rect">
                  <a:avLst/>
                </a:prstGeom>
                <a:grpFill/>
              </p:spPr>
            </p:pic>
            <p:pic>
              <p:nvPicPr>
                <p:cNvPr id="9" name="图片 8">
                  <a:extLst>
                    <a:ext uri="{FF2B5EF4-FFF2-40B4-BE49-F238E27FC236}">
                      <a16:creationId xmlns:a16="http://schemas.microsoft.com/office/drawing/2014/main" id="{1E42ACC8-7E17-BB78-EF6C-B7F4644430E8}"/>
                    </a:ext>
                  </a:extLst>
                </p:cNvPr>
                <p:cNvPicPr>
                  <a:picLocks noChangeAspect="1"/>
                </p:cNvPicPr>
                <p:nvPr/>
              </p:nvPicPr>
              <p:blipFill>
                <a:blip r:embed="rId7"/>
                <a:stretch>
                  <a:fillRect/>
                </a:stretch>
              </p:blipFill>
              <p:spPr>
                <a:xfrm>
                  <a:off x="940127" y="1790778"/>
                  <a:ext cx="740492" cy="199933"/>
                </a:xfrm>
                <a:prstGeom prst="rect">
                  <a:avLst/>
                </a:prstGeom>
                <a:grpFill/>
              </p:spPr>
            </p:pic>
          </p:grpSp>
        </p:grpSp>
        <p:pic>
          <p:nvPicPr>
            <p:cNvPr id="26" name="Picture 2">
              <a:extLst>
                <a:ext uri="{FF2B5EF4-FFF2-40B4-BE49-F238E27FC236}">
                  <a16:creationId xmlns:a16="http://schemas.microsoft.com/office/drawing/2014/main" id="{73BC45A2-D98F-47EB-BEC6-315762D7D29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66348" y="2608882"/>
              <a:ext cx="3142640" cy="19012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组合 44">
            <a:extLst>
              <a:ext uri="{FF2B5EF4-FFF2-40B4-BE49-F238E27FC236}">
                <a16:creationId xmlns:a16="http://schemas.microsoft.com/office/drawing/2014/main" id="{053F97F4-EF41-C44A-B19B-2BDEB5B82F8D}"/>
              </a:ext>
            </a:extLst>
          </p:cNvPr>
          <p:cNvGrpSpPr/>
          <p:nvPr/>
        </p:nvGrpSpPr>
        <p:grpSpPr>
          <a:xfrm>
            <a:off x="8206661" y="1337390"/>
            <a:ext cx="3959939" cy="4297138"/>
            <a:chOff x="4296841" y="1428426"/>
            <a:chExt cx="3959939" cy="4297138"/>
          </a:xfrm>
        </p:grpSpPr>
        <p:sp>
          <p:nvSpPr>
            <p:cNvPr id="3" name="Rechteck 53">
              <a:extLst>
                <a:ext uri="{FF2B5EF4-FFF2-40B4-BE49-F238E27FC236}">
                  <a16:creationId xmlns:a16="http://schemas.microsoft.com/office/drawing/2014/main" id="{A3D89242-83E7-0754-DC42-B6C7A9C3DB38}"/>
                </a:ext>
              </a:extLst>
            </p:cNvPr>
            <p:cNvSpPr>
              <a:spLocks/>
            </p:cNvSpPr>
            <p:nvPr/>
          </p:nvSpPr>
          <p:spPr>
            <a:xfrm>
              <a:off x="4332383" y="2609993"/>
              <a:ext cx="3563744" cy="158027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all" spc="100">
                  <a:solidFill>
                    <a:schemeClr val="accent5"/>
                  </a:solidFill>
                </a:rPr>
                <a:t>IMAGE</a:t>
              </a:r>
            </a:p>
          </p:txBody>
        </p:sp>
        <p:sp>
          <p:nvSpPr>
            <p:cNvPr id="19" name="Inhaltsplatzhalter 2">
              <a:extLst>
                <a:ext uri="{FF2B5EF4-FFF2-40B4-BE49-F238E27FC236}">
                  <a16:creationId xmlns:a16="http://schemas.microsoft.com/office/drawing/2014/main" id="{AD8FE314-262A-C078-EDB0-5CA09AA3D723}"/>
                </a:ext>
              </a:extLst>
            </p:cNvPr>
            <p:cNvSpPr txBox="1">
              <a:spLocks/>
            </p:cNvSpPr>
            <p:nvPr/>
          </p:nvSpPr>
          <p:spPr>
            <a:xfrm>
              <a:off x="4346974" y="5002289"/>
              <a:ext cx="3660375" cy="723275"/>
            </a:xfrm>
            <a:prstGeom prst="rect">
              <a:avLst/>
            </a:prstGeom>
          </p:spPr>
          <p:txBody>
            <a:bodyPr wrap="square" lIns="0" tIns="0" rIns="0" bIns="0">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sz="1400" dirty="0"/>
                <a:t>Bandwidth limitation restricts training, inference, and network strategies</a:t>
              </a:r>
            </a:p>
            <a:p>
              <a:pPr>
                <a:spcBef>
                  <a:spcPts val="600"/>
                </a:spcBef>
              </a:pPr>
              <a:r>
                <a:rPr lang="en-US" sz="1400" dirty="0"/>
                <a:t>CPO: higher bandwidth &amp; energy efficiency</a:t>
              </a:r>
            </a:p>
          </p:txBody>
        </p:sp>
        <p:grpSp>
          <p:nvGrpSpPr>
            <p:cNvPr id="35" name="组合 34">
              <a:extLst>
                <a:ext uri="{FF2B5EF4-FFF2-40B4-BE49-F238E27FC236}">
                  <a16:creationId xmlns:a16="http://schemas.microsoft.com/office/drawing/2014/main" id="{73983089-FEDB-7DF9-02B7-B656363B0BF7}"/>
                </a:ext>
              </a:extLst>
            </p:cNvPr>
            <p:cNvGrpSpPr/>
            <p:nvPr/>
          </p:nvGrpSpPr>
          <p:grpSpPr>
            <a:xfrm>
              <a:off x="4346975" y="1428426"/>
              <a:ext cx="3909805" cy="776996"/>
              <a:chOff x="4346975" y="1356036"/>
              <a:chExt cx="3909805" cy="776996"/>
            </a:xfrm>
          </p:grpSpPr>
          <p:sp>
            <p:nvSpPr>
              <p:cNvPr id="11" name="Rechteck 22">
                <a:extLst>
                  <a:ext uri="{FF2B5EF4-FFF2-40B4-BE49-F238E27FC236}">
                    <a16:creationId xmlns:a16="http://schemas.microsoft.com/office/drawing/2014/main" id="{D122097B-3085-F1BA-955F-93F0AF30E4E8}"/>
                  </a:ext>
                </a:extLst>
              </p:cNvPr>
              <p:cNvSpPr>
                <a:spLocks/>
              </p:cNvSpPr>
              <p:nvPr/>
            </p:nvSpPr>
            <p:spPr>
              <a:xfrm>
                <a:off x="5628982" y="1356036"/>
                <a:ext cx="2627798" cy="6715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180000" bIns="144000" rtlCol="0" anchor="ctr"/>
              <a:lstStyle/>
              <a:p>
                <a:pPr>
                  <a:buClr>
                    <a:srgbClr val="000000"/>
                  </a:buClr>
                </a:pPr>
                <a:r>
                  <a:rPr lang="en-US" altLang="zh-CN" sz="1400" b="1" dirty="0">
                    <a:solidFill>
                      <a:schemeClr val="accent1"/>
                    </a:solidFill>
                    <a:sym typeface="Futura"/>
                  </a:rPr>
                  <a:t>《Insights into DS-V3》</a:t>
                </a:r>
              </a:p>
            </p:txBody>
          </p:sp>
          <p:pic>
            <p:nvPicPr>
              <p:cNvPr id="12" name="图片 11">
                <a:extLst>
                  <a:ext uri="{FF2B5EF4-FFF2-40B4-BE49-F238E27FC236}">
                    <a16:creationId xmlns:a16="http://schemas.microsoft.com/office/drawing/2014/main" id="{33D30D61-CEC3-4A04-6835-9D269EB0DADA}"/>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9962" b="88889" l="3125" r="94697">
                            <a14:foregroundMark x1="6155" y1="31418" x2="6155" y2="31418"/>
                            <a14:foregroundMark x1="11364" y1="83525" x2="11364" y2="83525"/>
                            <a14:foregroundMark x1="3125" y1="59387" x2="3125" y2="59387"/>
                            <a14:foregroundMark x1="32576" y1="59387" x2="32576" y2="59387"/>
                            <a14:foregroundMark x1="41098" y1="55556" x2="41098" y2="55556"/>
                            <a14:foregroundMark x1="49242" y1="54789" x2="49242" y2="54789"/>
                            <a14:foregroundMark x1="57765" y1="56705" x2="57765" y2="56705"/>
                            <a14:foregroundMark x1="68845" y1="55939" x2="68845" y2="55939"/>
                            <a14:foregroundMark x1="78030" y1="57088" x2="78030" y2="57088"/>
                            <a14:foregroundMark x1="82765" y1="54023" x2="82765" y2="54023"/>
                            <a14:foregroundMark x1="91288" y1="54406" x2="91288" y2="54406"/>
                            <a14:foregroundMark x1="94697" y1="55556" x2="94697" y2="55556"/>
                          </a14:backgroundRemoval>
                        </a14:imgEffect>
                      </a14:imgLayer>
                    </a14:imgProps>
                  </a:ext>
                </a:extLst>
              </a:blip>
              <a:stretch>
                <a:fillRect/>
              </a:stretch>
            </p:blipFill>
            <p:spPr>
              <a:xfrm>
                <a:off x="4350967" y="1529000"/>
                <a:ext cx="1317379" cy="325602"/>
              </a:xfrm>
              <a:prstGeom prst="rect">
                <a:avLst/>
              </a:prstGeom>
            </p:spPr>
          </p:pic>
          <p:sp>
            <p:nvSpPr>
              <p:cNvPr id="13" name="Textplatzhalter 9">
                <a:extLst>
                  <a:ext uri="{FF2B5EF4-FFF2-40B4-BE49-F238E27FC236}">
                    <a16:creationId xmlns:a16="http://schemas.microsoft.com/office/drawing/2014/main" id="{AF68D50D-414D-635E-2792-0BEAB0496A59}"/>
                  </a:ext>
                </a:extLst>
              </p:cNvPr>
              <p:cNvSpPr txBox="1">
                <a:spLocks/>
              </p:cNvSpPr>
              <p:nvPr/>
            </p:nvSpPr>
            <p:spPr bwMode="gray">
              <a:xfrm>
                <a:off x="4346975" y="1948366"/>
                <a:ext cx="3563744" cy="184666"/>
              </a:xfrm>
              <a:prstGeom prst="rect">
                <a:avLst/>
              </a:prstGeom>
              <a:noFill/>
              <a:ln w="6350">
                <a:noFill/>
              </a:ln>
            </p:spPr>
            <p:txBody>
              <a:bodyPr vert="horz" wrap="square" lIns="0" tIns="0" rIns="0" bIns="0" rtlCol="0">
                <a:spAutoFit/>
              </a:bodyPr>
              <a:lstStyle>
                <a:lvl1pPr marL="0" indent="0" algn="l" defTabSz="914400" rtl="0" eaLnBrk="1" latinLnBrk="0" hangingPunct="1">
                  <a:spcBef>
                    <a:spcPts val="600"/>
                  </a:spcBef>
                  <a:buClr>
                    <a:schemeClr val="tx1"/>
                  </a:buClr>
                  <a:buFont typeface="Arial" panose="020B0604020202020204" pitchFamily="34" charset="0"/>
                  <a:buNone/>
                  <a:defRPr sz="1200" kern="1200">
                    <a:solidFill>
                      <a:schemeClr val="tx1"/>
                    </a:solidFill>
                    <a:latin typeface="+mn-lt"/>
                    <a:ea typeface="+mn-ea"/>
                    <a:cs typeface="+mn-cs"/>
                    <a:sym typeface="Futura"/>
                  </a:defRPr>
                </a:lvl1pPr>
                <a:lvl2pPr marL="180975"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2pPr>
                <a:lvl3pPr marL="360000"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3pPr>
                <a:lvl4pPr marL="541338" indent="-179388" algn="l" defTabSz="914400" rtl="0" eaLnBrk="1" latinLnBrk="0" hangingPunct="1">
                  <a:spcBef>
                    <a:spcPts val="600"/>
                  </a:spcBef>
                  <a:buClr>
                    <a:schemeClr val="tx1"/>
                  </a:buClr>
                  <a:buFont typeface="Arial" panose="020B0604020202020204" pitchFamily="34" charset="0"/>
                  <a:buChar char="•"/>
                  <a:tabLst/>
                  <a:defRPr sz="1200" kern="1200">
                    <a:solidFill>
                      <a:schemeClr val="tx1"/>
                    </a:solidFill>
                    <a:latin typeface="+mn-lt"/>
                    <a:ea typeface="+mn-ea"/>
                    <a:cs typeface="+mn-cs"/>
                    <a:sym typeface="Futura"/>
                  </a:defRPr>
                </a:lvl4pPr>
                <a:lvl5pPr marL="720000"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buClr>
                    <a:srgbClr val="000000"/>
                  </a:buClr>
                </a:pPr>
                <a:r>
                  <a:rPr lang="en-US" altLang="zh-CN" b="1" dirty="0"/>
                  <a:t>CPO matters</a:t>
                </a:r>
                <a:r>
                  <a:rPr lang="zh-CN" altLang="en-US" b="1" dirty="0"/>
                  <a:t> </a:t>
                </a:r>
                <a:r>
                  <a:rPr lang="en-US" altLang="zh-CN" b="1" dirty="0"/>
                  <a:t>under limited</a:t>
                </a:r>
                <a:r>
                  <a:rPr lang="zh-CN" altLang="en-US" b="1" dirty="0"/>
                  <a:t> </a:t>
                </a:r>
                <a:r>
                  <a:rPr lang="en-US" altLang="zh-CN" b="1" dirty="0"/>
                  <a:t>bandwidth in China</a:t>
                </a:r>
                <a:endParaRPr lang="en-US" sz="1400" dirty="0">
                  <a:solidFill>
                    <a:srgbClr val="0052D9"/>
                  </a:solidFill>
                </a:endParaRPr>
              </a:p>
            </p:txBody>
          </p:sp>
        </p:grpSp>
        <p:grpSp>
          <p:nvGrpSpPr>
            <p:cNvPr id="27" name="组合 26">
              <a:extLst>
                <a:ext uri="{FF2B5EF4-FFF2-40B4-BE49-F238E27FC236}">
                  <a16:creationId xmlns:a16="http://schemas.microsoft.com/office/drawing/2014/main" id="{4D943F7C-E7EF-9207-A884-3A534698B846}"/>
                </a:ext>
              </a:extLst>
            </p:cNvPr>
            <p:cNvGrpSpPr/>
            <p:nvPr/>
          </p:nvGrpSpPr>
          <p:grpSpPr>
            <a:xfrm>
              <a:off x="4296841" y="2598533"/>
              <a:ext cx="3509584" cy="1911646"/>
              <a:chOff x="7440021" y="1361951"/>
              <a:chExt cx="3509584" cy="1911646"/>
            </a:xfrm>
          </p:grpSpPr>
          <p:pic>
            <p:nvPicPr>
              <p:cNvPr id="28" name="图片 27">
                <a:extLst>
                  <a:ext uri="{FF2B5EF4-FFF2-40B4-BE49-F238E27FC236}">
                    <a16:creationId xmlns:a16="http://schemas.microsoft.com/office/drawing/2014/main" id="{0234BB60-FB48-622D-A498-75516FE24AE4}"/>
                  </a:ext>
                </a:extLst>
              </p:cNvPr>
              <p:cNvPicPr>
                <a:picLocks noChangeAspect="1"/>
              </p:cNvPicPr>
              <p:nvPr/>
            </p:nvPicPr>
            <p:blipFill>
              <a:blip r:embed="rId11"/>
              <a:stretch>
                <a:fillRect/>
              </a:stretch>
            </p:blipFill>
            <p:spPr>
              <a:xfrm>
                <a:off x="7440022" y="1361951"/>
                <a:ext cx="3509583" cy="553199"/>
              </a:xfrm>
              <a:prstGeom prst="rect">
                <a:avLst/>
              </a:prstGeom>
            </p:spPr>
          </p:pic>
          <p:pic>
            <p:nvPicPr>
              <p:cNvPr id="29" name="图片 28">
                <a:extLst>
                  <a:ext uri="{FF2B5EF4-FFF2-40B4-BE49-F238E27FC236}">
                    <a16:creationId xmlns:a16="http://schemas.microsoft.com/office/drawing/2014/main" id="{2594A99E-9B03-0559-EB83-31733FA28A85}"/>
                  </a:ext>
                </a:extLst>
              </p:cNvPr>
              <p:cNvPicPr>
                <a:picLocks noChangeAspect="1"/>
              </p:cNvPicPr>
              <p:nvPr/>
            </p:nvPicPr>
            <p:blipFill>
              <a:blip r:embed="rId12"/>
              <a:srcRect b="68697"/>
              <a:stretch/>
            </p:blipFill>
            <p:spPr>
              <a:xfrm>
                <a:off x="7440021" y="1877371"/>
                <a:ext cx="3444240" cy="1396226"/>
              </a:xfrm>
              <a:prstGeom prst="rect">
                <a:avLst/>
              </a:prstGeom>
            </p:spPr>
          </p:pic>
          <p:sp>
            <p:nvSpPr>
              <p:cNvPr id="30" name="矩形 29">
                <a:extLst>
                  <a:ext uri="{FF2B5EF4-FFF2-40B4-BE49-F238E27FC236}">
                    <a16:creationId xmlns:a16="http://schemas.microsoft.com/office/drawing/2014/main" id="{009EA39E-0613-8F9A-4489-6AACB923E3C7}"/>
                  </a:ext>
                </a:extLst>
              </p:cNvPr>
              <p:cNvSpPr/>
              <p:nvPr/>
            </p:nvSpPr>
            <p:spPr>
              <a:xfrm>
                <a:off x="7440021" y="1877370"/>
                <a:ext cx="3444240" cy="515310"/>
              </a:xfrm>
              <a:prstGeom prst="rect">
                <a:avLst/>
              </a:prstGeom>
              <a:noFill/>
              <a:ln w="12700">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6" name="组合 45">
            <a:extLst>
              <a:ext uri="{FF2B5EF4-FFF2-40B4-BE49-F238E27FC236}">
                <a16:creationId xmlns:a16="http://schemas.microsoft.com/office/drawing/2014/main" id="{704D17CB-1C73-07DF-4888-E30EF5D1A1EF}"/>
              </a:ext>
            </a:extLst>
          </p:cNvPr>
          <p:cNvGrpSpPr/>
          <p:nvPr/>
        </p:nvGrpSpPr>
        <p:grpSpPr>
          <a:xfrm>
            <a:off x="4154770" y="1337390"/>
            <a:ext cx="4049178" cy="4275036"/>
            <a:chOff x="4148330" y="1450528"/>
            <a:chExt cx="4049178" cy="4275036"/>
          </a:xfrm>
        </p:grpSpPr>
        <p:sp>
          <p:nvSpPr>
            <p:cNvPr id="14" name="Rechteck 54">
              <a:extLst>
                <a:ext uri="{FF2B5EF4-FFF2-40B4-BE49-F238E27FC236}">
                  <a16:creationId xmlns:a16="http://schemas.microsoft.com/office/drawing/2014/main" id="{3D6A41AE-49DF-B3A5-B25A-942FE82A13C1}"/>
                </a:ext>
              </a:extLst>
            </p:cNvPr>
            <p:cNvSpPr>
              <a:spLocks/>
            </p:cNvSpPr>
            <p:nvPr/>
          </p:nvSpPr>
          <p:spPr>
            <a:xfrm>
              <a:off x="4148330" y="2609993"/>
              <a:ext cx="3563744" cy="158027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all" spc="100">
                  <a:solidFill>
                    <a:schemeClr val="accent5"/>
                  </a:solidFill>
                </a:rPr>
                <a:t>IMAGE</a:t>
              </a:r>
            </a:p>
          </p:txBody>
        </p:sp>
        <p:sp>
          <p:nvSpPr>
            <p:cNvPr id="20" name="Inhaltsplatzhalter 2">
              <a:extLst>
                <a:ext uri="{FF2B5EF4-FFF2-40B4-BE49-F238E27FC236}">
                  <a16:creationId xmlns:a16="http://schemas.microsoft.com/office/drawing/2014/main" id="{44AEC338-DA13-8B7F-9021-2039CE822D21}"/>
                </a:ext>
              </a:extLst>
            </p:cNvPr>
            <p:cNvSpPr txBox="1">
              <a:spLocks/>
            </p:cNvSpPr>
            <p:nvPr/>
          </p:nvSpPr>
          <p:spPr>
            <a:xfrm>
              <a:off x="4162922" y="5002289"/>
              <a:ext cx="3563744" cy="723275"/>
            </a:xfrm>
            <a:prstGeom prst="rect">
              <a:avLst/>
            </a:prstGeom>
          </p:spPr>
          <p:txBody>
            <a:bodyPr lIns="0" tIns="0" rIns="0" bIns="0">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sz="1400" dirty="0"/>
                <a:t>TH4: 1</a:t>
              </a:r>
              <a:r>
                <a:rPr lang="en-US" sz="1400" baseline="30000" dirty="0"/>
                <a:t>st</a:t>
              </a:r>
              <a:r>
                <a:rPr lang="en-US" sz="1400" dirty="0"/>
                <a:t> CPO switch chip</a:t>
              </a:r>
            </a:p>
            <a:p>
              <a:pPr>
                <a:spcBef>
                  <a:spcPts val="600"/>
                </a:spcBef>
              </a:pPr>
              <a:r>
                <a:rPr lang="en-US" altLang="zh-CN" sz="1400" dirty="0"/>
                <a:t>TH6: fastest CPO switch chip, announced in April</a:t>
              </a:r>
              <a:endParaRPr lang="en-US" sz="1400" dirty="0"/>
            </a:p>
          </p:txBody>
        </p:sp>
        <p:grpSp>
          <p:nvGrpSpPr>
            <p:cNvPr id="36" name="组合 35">
              <a:extLst>
                <a:ext uri="{FF2B5EF4-FFF2-40B4-BE49-F238E27FC236}">
                  <a16:creationId xmlns:a16="http://schemas.microsoft.com/office/drawing/2014/main" id="{933640C3-6ECD-00EA-59B0-1938CEA933B0}"/>
                </a:ext>
              </a:extLst>
            </p:cNvPr>
            <p:cNvGrpSpPr/>
            <p:nvPr/>
          </p:nvGrpSpPr>
          <p:grpSpPr>
            <a:xfrm>
              <a:off x="4241855" y="1450528"/>
              <a:ext cx="3955653" cy="732793"/>
              <a:chOff x="8350305" y="1400239"/>
              <a:chExt cx="3955653" cy="732793"/>
            </a:xfrm>
          </p:grpSpPr>
          <p:grpSp>
            <p:nvGrpSpPr>
              <p:cNvPr id="22" name="组合 21">
                <a:extLst>
                  <a:ext uri="{FF2B5EF4-FFF2-40B4-BE49-F238E27FC236}">
                    <a16:creationId xmlns:a16="http://schemas.microsoft.com/office/drawing/2014/main" id="{B1FB1EEC-A9CB-C7CC-D5D2-7B46ABA0D29C}"/>
                  </a:ext>
                </a:extLst>
              </p:cNvPr>
              <p:cNvGrpSpPr/>
              <p:nvPr/>
            </p:nvGrpSpPr>
            <p:grpSpPr>
              <a:xfrm>
                <a:off x="8350306" y="1400239"/>
                <a:ext cx="3955652" cy="583124"/>
                <a:chOff x="530808" y="4679121"/>
                <a:chExt cx="3955652" cy="583124"/>
              </a:xfrm>
            </p:grpSpPr>
            <p:sp>
              <p:nvSpPr>
                <p:cNvPr id="23" name="Rechteck 23">
                  <a:extLst>
                    <a:ext uri="{FF2B5EF4-FFF2-40B4-BE49-F238E27FC236}">
                      <a16:creationId xmlns:a16="http://schemas.microsoft.com/office/drawing/2014/main" id="{D46FDC1B-0589-0C6F-14BE-04FAC0134390}"/>
                    </a:ext>
                  </a:extLst>
                </p:cNvPr>
                <p:cNvSpPr>
                  <a:spLocks/>
                </p:cNvSpPr>
                <p:nvPr/>
              </p:nvSpPr>
              <p:spPr>
                <a:xfrm>
                  <a:off x="1858662" y="4679121"/>
                  <a:ext cx="2627798" cy="58312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180000" bIns="144000" rtlCol="0" anchor="ctr"/>
                <a:lstStyle/>
                <a:p>
                  <a:pPr>
                    <a:buClr>
                      <a:srgbClr val="000000"/>
                    </a:buClr>
                  </a:pPr>
                  <a:r>
                    <a:rPr lang="en-US" altLang="zh-CN" sz="1400" b="1" dirty="0">
                      <a:solidFill>
                        <a:schemeClr val="accent1"/>
                      </a:solidFill>
                    </a:rPr>
                    <a:t>Tomahawk Switches</a:t>
                  </a:r>
                  <a:endParaRPr lang="en-US" sz="1400" b="1" dirty="0">
                    <a:solidFill>
                      <a:schemeClr val="accent1"/>
                    </a:solidFill>
                    <a:sym typeface="Futura"/>
                  </a:endParaRPr>
                </a:p>
              </p:txBody>
            </p:sp>
            <p:pic>
              <p:nvPicPr>
                <p:cNvPr id="24" name="图片 23">
                  <a:extLst>
                    <a:ext uri="{FF2B5EF4-FFF2-40B4-BE49-F238E27FC236}">
                      <a16:creationId xmlns:a16="http://schemas.microsoft.com/office/drawing/2014/main" id="{CBBA7B24-CECB-4D5E-2109-668B333CB5BB}"/>
                    </a:ext>
                  </a:extLst>
                </p:cNvPr>
                <p:cNvPicPr>
                  <a:picLocks noChangeAspect="1"/>
                </p:cNvPicPr>
                <p:nvPr/>
              </p:nvPicPr>
              <p:blipFill>
                <a:blip r:embed="rId13"/>
                <a:stretch>
                  <a:fillRect/>
                </a:stretch>
              </p:blipFill>
              <p:spPr>
                <a:xfrm>
                  <a:off x="530808" y="4821989"/>
                  <a:ext cx="312632" cy="300127"/>
                </a:xfrm>
                <a:prstGeom prst="rect">
                  <a:avLst/>
                </a:prstGeom>
              </p:spPr>
            </p:pic>
            <p:pic>
              <p:nvPicPr>
                <p:cNvPr id="25" name="图片 24">
                  <a:extLst>
                    <a:ext uri="{FF2B5EF4-FFF2-40B4-BE49-F238E27FC236}">
                      <a16:creationId xmlns:a16="http://schemas.microsoft.com/office/drawing/2014/main" id="{16E62E3A-EFCC-484A-7059-19CC0144FBDD}"/>
                    </a:ext>
                  </a:extLst>
                </p:cNvPr>
                <p:cNvPicPr>
                  <a:picLocks noChangeAspect="1"/>
                </p:cNvPicPr>
                <p:nvPr/>
              </p:nvPicPr>
              <p:blipFill>
                <a:blip r:embed="rId14"/>
                <a:stretch>
                  <a:fillRect/>
                </a:stretch>
              </p:blipFill>
              <p:spPr>
                <a:xfrm>
                  <a:off x="920504" y="4911791"/>
                  <a:ext cx="861094" cy="125435"/>
                </a:xfrm>
                <a:prstGeom prst="rect">
                  <a:avLst/>
                </a:prstGeom>
              </p:spPr>
            </p:pic>
          </p:grpSp>
          <p:sp>
            <p:nvSpPr>
              <p:cNvPr id="31" name="Textplatzhalter 9">
                <a:extLst>
                  <a:ext uri="{FF2B5EF4-FFF2-40B4-BE49-F238E27FC236}">
                    <a16:creationId xmlns:a16="http://schemas.microsoft.com/office/drawing/2014/main" id="{C5A4A542-2958-433B-B7FD-8AE91883B95C}"/>
                  </a:ext>
                </a:extLst>
              </p:cNvPr>
              <p:cNvSpPr txBox="1">
                <a:spLocks/>
              </p:cNvSpPr>
              <p:nvPr/>
            </p:nvSpPr>
            <p:spPr bwMode="gray">
              <a:xfrm>
                <a:off x="8350305" y="1948366"/>
                <a:ext cx="3563744" cy="184666"/>
              </a:xfrm>
              <a:prstGeom prst="rect">
                <a:avLst/>
              </a:prstGeom>
              <a:noFill/>
              <a:ln w="6350">
                <a:noFill/>
              </a:ln>
            </p:spPr>
            <p:txBody>
              <a:bodyPr vert="horz" wrap="square" lIns="0" tIns="0" rIns="0" bIns="0" rtlCol="0">
                <a:spAutoFit/>
              </a:bodyPr>
              <a:lstStyle>
                <a:lvl1pPr marL="0" indent="0" algn="l" defTabSz="914400" rtl="0" eaLnBrk="1" latinLnBrk="0" hangingPunct="1">
                  <a:spcBef>
                    <a:spcPts val="600"/>
                  </a:spcBef>
                  <a:buClr>
                    <a:schemeClr val="tx1"/>
                  </a:buClr>
                  <a:buFont typeface="Arial" panose="020B0604020202020204" pitchFamily="34" charset="0"/>
                  <a:buNone/>
                  <a:defRPr sz="1200" kern="1200">
                    <a:solidFill>
                      <a:schemeClr val="tx1"/>
                    </a:solidFill>
                    <a:latin typeface="+mn-lt"/>
                    <a:ea typeface="+mn-ea"/>
                    <a:cs typeface="+mn-cs"/>
                    <a:sym typeface="Futura"/>
                  </a:defRPr>
                </a:lvl1pPr>
                <a:lvl2pPr marL="180975"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2pPr>
                <a:lvl3pPr marL="360000"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3pPr>
                <a:lvl4pPr marL="541338" indent="-179388" algn="l" defTabSz="914400" rtl="0" eaLnBrk="1" latinLnBrk="0" hangingPunct="1">
                  <a:spcBef>
                    <a:spcPts val="600"/>
                  </a:spcBef>
                  <a:buClr>
                    <a:schemeClr val="tx1"/>
                  </a:buClr>
                  <a:buFont typeface="Arial" panose="020B0604020202020204" pitchFamily="34" charset="0"/>
                  <a:buChar char="•"/>
                  <a:tabLst/>
                  <a:defRPr sz="1200" kern="1200">
                    <a:solidFill>
                      <a:schemeClr val="tx1"/>
                    </a:solidFill>
                    <a:latin typeface="+mn-lt"/>
                    <a:ea typeface="+mn-ea"/>
                    <a:cs typeface="+mn-cs"/>
                    <a:sym typeface="Futura"/>
                  </a:defRPr>
                </a:lvl4pPr>
                <a:lvl5pPr marL="720000"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buClr>
                    <a:srgbClr val="000000"/>
                  </a:buClr>
                </a:pPr>
                <a:r>
                  <a:rPr lang="en-US" altLang="zh-CN" b="1" dirty="0"/>
                  <a:t>Drives ongoing CPO ecosystem adoption</a:t>
                </a:r>
                <a:endParaRPr lang="en-US" sz="1400" dirty="0">
                  <a:solidFill>
                    <a:srgbClr val="0052D9"/>
                  </a:solidFill>
                </a:endParaRPr>
              </a:p>
            </p:txBody>
          </p:sp>
        </p:grpSp>
        <p:pic>
          <p:nvPicPr>
            <p:cNvPr id="33" name="图片 32" descr="男人戴着眼镜&#10;&#10;AI 生成的内容可能不正确。">
              <a:extLst>
                <a:ext uri="{FF2B5EF4-FFF2-40B4-BE49-F238E27FC236}">
                  <a16:creationId xmlns:a16="http://schemas.microsoft.com/office/drawing/2014/main" id="{519DC953-2C84-BF8C-246B-B569654A264B}"/>
                </a:ext>
              </a:extLst>
            </p:cNvPr>
            <p:cNvPicPr>
              <a:picLocks noChangeAspect="1"/>
            </p:cNvPicPr>
            <p:nvPr/>
          </p:nvPicPr>
          <p:blipFill>
            <a:blip r:embed="rId15">
              <a:extLst>
                <a:ext uri="{28A0092B-C50C-407E-A947-70E740481C1C}">
                  <a14:useLocalDpi xmlns:a14="http://schemas.microsoft.com/office/drawing/2010/main" val="0"/>
                </a:ext>
              </a:extLst>
            </a:blip>
            <a:srcRect l="11497" t="4454" r="24533" b="12287"/>
            <a:stretch/>
          </p:blipFill>
          <p:spPr>
            <a:xfrm>
              <a:off x="4241855" y="2607979"/>
              <a:ext cx="3141178" cy="1892755"/>
            </a:xfrm>
            <a:prstGeom prst="rect">
              <a:avLst/>
            </a:prstGeom>
          </p:spPr>
        </p:pic>
      </p:grpSp>
    </p:spTree>
    <p:extLst>
      <p:ext uri="{BB962C8B-B14F-4D97-AF65-F5344CB8AC3E}">
        <p14:creationId xmlns:p14="http://schemas.microsoft.com/office/powerpoint/2010/main" val="4178307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36C85-D235-2003-B9C0-052A98ADCF0E}"/>
            </a:ext>
          </a:extLst>
        </p:cNvPr>
        <p:cNvGrpSpPr/>
        <p:nvPr/>
      </p:nvGrpSpPr>
      <p:grpSpPr>
        <a:xfrm>
          <a:off x="0" y="0"/>
          <a:ext cx="0" cy="0"/>
          <a:chOff x="0" y="0"/>
          <a:chExt cx="0" cy="0"/>
        </a:xfrm>
      </p:grpSpPr>
      <p:sp>
        <p:nvSpPr>
          <p:cNvPr id="22" name="ShapeIsoscelesTriangle 22">
            <a:extLst>
              <a:ext uri="{FF2B5EF4-FFF2-40B4-BE49-F238E27FC236}">
                <a16:creationId xmlns:a16="http://schemas.microsoft.com/office/drawing/2014/main" id="{16C88260-A0BD-A503-4565-BB80C6C113B5}"/>
              </a:ext>
            </a:extLst>
          </p:cNvPr>
          <p:cNvSpPr/>
          <p:nvPr/>
        </p:nvSpPr>
        <p:spPr>
          <a:xfrm>
            <a:off x="4122597" y="2337424"/>
            <a:ext cx="3946806" cy="3402419"/>
          </a:xfrm>
          <a:prstGeom prst="triangle">
            <a:avLst/>
          </a:prstGeom>
          <a:solidFill>
            <a:srgbClr val="F2F2F2"/>
          </a:solid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a:endParaRPr lang="zh-CN" altLang="en-US" dirty="0"/>
          </a:p>
        </p:txBody>
      </p:sp>
      <p:grpSp>
        <p:nvGrpSpPr>
          <p:cNvPr id="9" name="组合 8">
            <a:extLst>
              <a:ext uri="{FF2B5EF4-FFF2-40B4-BE49-F238E27FC236}">
                <a16:creationId xmlns:a16="http://schemas.microsoft.com/office/drawing/2014/main" id="{5C0F53BD-CF13-09D7-CD70-30CD58C3C89C}"/>
              </a:ext>
            </a:extLst>
          </p:cNvPr>
          <p:cNvGrpSpPr/>
          <p:nvPr/>
        </p:nvGrpSpPr>
        <p:grpSpPr>
          <a:xfrm>
            <a:off x="1892461" y="1686290"/>
            <a:ext cx="3635094" cy="1366256"/>
            <a:chOff x="615749" y="4321548"/>
            <a:chExt cx="3635094" cy="1366256"/>
          </a:xfrm>
        </p:grpSpPr>
        <p:sp>
          <p:nvSpPr>
            <p:cNvPr id="42" name="Bullet2">
              <a:extLst>
                <a:ext uri="{FF2B5EF4-FFF2-40B4-BE49-F238E27FC236}">
                  <a16:creationId xmlns:a16="http://schemas.microsoft.com/office/drawing/2014/main" id="{AD7E5E9D-5BB8-E5F7-B5D6-8BDBDE8FCCB6}"/>
                </a:ext>
              </a:extLst>
            </p:cNvPr>
            <p:cNvSpPr>
              <a:spLocks/>
            </p:cNvSpPr>
            <p:nvPr/>
          </p:nvSpPr>
          <p:spPr>
            <a:xfrm flipH="1">
              <a:off x="692753" y="4321548"/>
              <a:ext cx="2934444" cy="549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pPr algn="r"/>
              <a:r>
                <a:rPr kumimoji="1" lang="zh-CN" altLang="en-US" dirty="0">
                  <a:solidFill>
                    <a:schemeClr val="tx1">
                      <a:lumMod val="50000"/>
                    </a:schemeClr>
                  </a:solidFill>
                  <a:cs typeface="+mn-ea"/>
                  <a:sym typeface="+mn-lt"/>
                </a:rPr>
                <a:t>通信速率</a:t>
              </a:r>
              <a:endParaRPr lang="en-US" altLang="zh-CN" b="1" dirty="0">
                <a:cs typeface="Arial" panose="020B0604020202020204" pitchFamily="34" charset="0"/>
              </a:endParaRPr>
            </a:p>
          </p:txBody>
        </p:sp>
        <p:sp>
          <p:nvSpPr>
            <p:cNvPr id="43" name="Text2">
              <a:extLst>
                <a:ext uri="{FF2B5EF4-FFF2-40B4-BE49-F238E27FC236}">
                  <a16:creationId xmlns:a16="http://schemas.microsoft.com/office/drawing/2014/main" id="{0B1BFAA2-8A23-4D8A-51B5-EAC207FF8428}"/>
                </a:ext>
              </a:extLst>
            </p:cNvPr>
            <p:cNvSpPr>
              <a:spLocks/>
            </p:cNvSpPr>
            <p:nvPr/>
          </p:nvSpPr>
          <p:spPr>
            <a:xfrm flipH="1">
              <a:off x="615749" y="4879942"/>
              <a:ext cx="3011448" cy="8078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gn="r">
                <a:lnSpc>
                  <a:spcPct val="120000"/>
                </a:lnSpc>
              </a:pPr>
              <a:r>
                <a:rPr lang="zh-CN" altLang="en-US" sz="1400" dirty="0">
                  <a:solidFill>
                    <a:schemeClr val="bg1">
                      <a:lumMod val="50000"/>
                    </a:schemeClr>
                  </a:solidFill>
                </a:rPr>
                <a:t>低功耗下延长传输距离需降低数据速率或采用更窄带宽</a:t>
              </a:r>
              <a:endParaRPr kumimoji="1" lang="en-US" altLang="zh-CN" sz="1400" dirty="0">
                <a:solidFill>
                  <a:schemeClr val="bg1">
                    <a:lumMod val="50000"/>
                  </a:schemeClr>
                </a:solidFill>
                <a:sym typeface="Arial" panose="020B0604020202020204" pitchFamily="34" charset="0"/>
              </a:endParaRPr>
            </a:p>
          </p:txBody>
        </p:sp>
        <p:sp>
          <p:nvSpPr>
            <p:cNvPr id="41" name="Number2">
              <a:extLst>
                <a:ext uri="{FF2B5EF4-FFF2-40B4-BE49-F238E27FC236}">
                  <a16:creationId xmlns:a16="http://schemas.microsoft.com/office/drawing/2014/main" id="{88D41197-0323-1967-31F4-7F86FD4170ED}"/>
                </a:ext>
              </a:extLst>
            </p:cNvPr>
            <p:cNvSpPr txBox="1">
              <a:spLocks noChangeAspect="1"/>
            </p:cNvSpPr>
            <p:nvPr/>
          </p:nvSpPr>
          <p:spPr>
            <a:xfrm flipH="1">
              <a:off x="3710843" y="4509933"/>
              <a:ext cx="540000" cy="540000"/>
            </a:xfrm>
            <a:prstGeom prst="roundRect">
              <a:avLst>
                <a:gd name="adj" fmla="val 50000"/>
              </a:avLst>
            </a:prstGeom>
            <a:solidFill>
              <a:srgbClr val="0052D9"/>
            </a:solidFill>
            <a:ln w="12700" cap="flat">
              <a:noFill/>
              <a:prstDash val="solid"/>
              <a:miter/>
            </a:ln>
            <a:effectLst>
              <a:outerShdw blurRad="127000" dist="63500" dir="2700000" algn="tl" rotWithShape="0">
                <a:schemeClr val="accent1">
                  <a:alpha val="40000"/>
                </a:schemeClr>
              </a:outerShdw>
            </a:effectLst>
          </p:spPr>
          <p:txBody>
            <a:bodyPr wrap="none" rtlCol="0" anchor="ctr"/>
            <a:lstStyle>
              <a:defPPr>
                <a:defRPr lang="zh-CN"/>
              </a:defPPr>
              <a:lvl1pPr algn="ctr">
                <a:defRPr b="1">
                  <a:solidFill>
                    <a:srgbClr val="FFFFFF"/>
                  </a:solidFill>
                  <a:latin typeface="Arial" panose="020B0604020202020204" pitchFamily="34" charset="0"/>
                  <a:ea typeface="微软雅黑" panose="020B0503020204020204" pitchFamily="34" charset="-122"/>
                </a:defRPr>
              </a:lvl1pPr>
            </a:lstStyle>
            <a:p>
              <a:r>
                <a:rPr lang="en-US" altLang="zh-CN" dirty="0">
                  <a:latin typeface="+mn-lt"/>
                  <a:ea typeface="+mn-ea"/>
                  <a:sym typeface="Arial" panose="020B0604020202020204" pitchFamily="34" charset="0"/>
                </a:rPr>
                <a:t>1</a:t>
              </a:r>
              <a:endParaRPr lang="zh-CN" altLang="en-US" dirty="0">
                <a:latin typeface="+mn-lt"/>
                <a:ea typeface="+mn-ea"/>
                <a:sym typeface="Arial" panose="020B0604020202020204" pitchFamily="34" charset="0"/>
              </a:endParaRPr>
            </a:p>
          </p:txBody>
        </p:sp>
      </p:grpSp>
      <p:grpSp>
        <p:nvGrpSpPr>
          <p:cNvPr id="8" name="组合 7">
            <a:extLst>
              <a:ext uri="{FF2B5EF4-FFF2-40B4-BE49-F238E27FC236}">
                <a16:creationId xmlns:a16="http://schemas.microsoft.com/office/drawing/2014/main" id="{A9B9F577-638B-7FAE-9CD2-4143C9451290}"/>
              </a:ext>
            </a:extLst>
          </p:cNvPr>
          <p:cNvGrpSpPr/>
          <p:nvPr/>
        </p:nvGrpSpPr>
        <p:grpSpPr>
          <a:xfrm>
            <a:off x="8202929" y="4727558"/>
            <a:ext cx="3558090" cy="1366256"/>
            <a:chOff x="7960810" y="4321548"/>
            <a:chExt cx="3558090" cy="1366256"/>
          </a:xfrm>
        </p:grpSpPr>
        <p:sp>
          <p:nvSpPr>
            <p:cNvPr id="37" name="Bullet3">
              <a:extLst>
                <a:ext uri="{FF2B5EF4-FFF2-40B4-BE49-F238E27FC236}">
                  <a16:creationId xmlns:a16="http://schemas.microsoft.com/office/drawing/2014/main" id="{5EB07114-1B64-7AB3-881D-2F910A3D00A4}"/>
                </a:ext>
              </a:extLst>
            </p:cNvPr>
            <p:cNvSpPr>
              <a:spLocks/>
            </p:cNvSpPr>
            <p:nvPr/>
          </p:nvSpPr>
          <p:spPr>
            <a:xfrm>
              <a:off x="8584456" y="4321548"/>
              <a:ext cx="2934444" cy="549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dirty="0">
                  <a:solidFill>
                    <a:schemeClr val="tx1">
                      <a:lumMod val="50000"/>
                    </a:schemeClr>
                  </a:solidFill>
                  <a:cs typeface="+mn-ea"/>
                  <a:sym typeface="+mn-lt"/>
                </a:rPr>
                <a:t>通信功耗</a:t>
              </a:r>
              <a:endParaRPr lang="en-US" altLang="zh-CN" b="1" dirty="0">
                <a:cs typeface="Arial" panose="020B0604020202020204" pitchFamily="34" charset="0"/>
              </a:endParaRPr>
            </a:p>
          </p:txBody>
        </p:sp>
        <p:sp>
          <p:nvSpPr>
            <p:cNvPr id="38" name="Text3">
              <a:extLst>
                <a:ext uri="{FF2B5EF4-FFF2-40B4-BE49-F238E27FC236}">
                  <a16:creationId xmlns:a16="http://schemas.microsoft.com/office/drawing/2014/main" id="{B0D4B49A-57E2-9478-02C9-086D3221DF1E}"/>
                </a:ext>
              </a:extLst>
            </p:cNvPr>
            <p:cNvSpPr>
              <a:spLocks/>
            </p:cNvSpPr>
            <p:nvPr/>
          </p:nvSpPr>
          <p:spPr>
            <a:xfrm>
              <a:off x="8584456" y="4879942"/>
              <a:ext cx="2934444" cy="8078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lang="zh-CN" altLang="en-US" sz="1400" dirty="0">
                  <a:solidFill>
                    <a:schemeClr val="bg1">
                      <a:lumMod val="50000"/>
                    </a:schemeClr>
                  </a:solidFill>
                </a:rPr>
                <a:t>远距离传输信号衰减大，高速率需更高信噪比，需功率补偿</a:t>
              </a:r>
              <a:endParaRPr lang="en-US" altLang="zh-CN" sz="1400" dirty="0">
                <a:solidFill>
                  <a:schemeClr val="bg1">
                    <a:lumMod val="50000"/>
                  </a:schemeClr>
                </a:solidFill>
                <a:sym typeface="Arial" panose="020B0604020202020204" pitchFamily="34" charset="0"/>
              </a:endParaRPr>
            </a:p>
          </p:txBody>
        </p:sp>
        <p:sp>
          <p:nvSpPr>
            <p:cNvPr id="36" name="Number3">
              <a:extLst>
                <a:ext uri="{FF2B5EF4-FFF2-40B4-BE49-F238E27FC236}">
                  <a16:creationId xmlns:a16="http://schemas.microsoft.com/office/drawing/2014/main" id="{92787A42-58EB-D724-89E3-05CC3AC7C966}"/>
                </a:ext>
              </a:extLst>
            </p:cNvPr>
            <p:cNvSpPr txBox="1">
              <a:spLocks noChangeAspect="1"/>
            </p:cNvSpPr>
            <p:nvPr/>
          </p:nvSpPr>
          <p:spPr>
            <a:xfrm>
              <a:off x="7960810" y="4509933"/>
              <a:ext cx="540000" cy="540000"/>
            </a:xfrm>
            <a:prstGeom prst="roundRect">
              <a:avLst>
                <a:gd name="adj" fmla="val 50000"/>
              </a:avLst>
            </a:prstGeom>
            <a:solidFill>
              <a:srgbClr val="0052D9"/>
            </a:solidFill>
            <a:ln w="12700" cap="flat">
              <a:noFill/>
              <a:prstDash val="solid"/>
              <a:miter/>
            </a:ln>
            <a:effectLst>
              <a:outerShdw blurRad="127000" dist="63500" dir="2700000" algn="tl" rotWithShape="0">
                <a:schemeClr val="accent1">
                  <a:alpha val="40000"/>
                </a:schemeClr>
              </a:outerShdw>
            </a:effectLst>
          </p:spPr>
          <p:txBody>
            <a:bodyPr wrap="none" rtlCol="0" anchor="ctr"/>
            <a:lstStyle>
              <a:defPPr>
                <a:defRPr lang="zh-CN"/>
              </a:defPPr>
              <a:lvl1pPr algn="ctr">
                <a:defRPr b="1">
                  <a:solidFill>
                    <a:srgbClr val="FFFFFF"/>
                  </a:solidFill>
                  <a:latin typeface="Arial" panose="020B0604020202020204" pitchFamily="34" charset="0"/>
                  <a:ea typeface="微软雅黑" panose="020B0503020204020204" pitchFamily="34" charset="-122"/>
                </a:defRPr>
              </a:lvl1pPr>
            </a:lstStyle>
            <a:p>
              <a:r>
                <a:rPr lang="en-US" altLang="zh-CN" dirty="0">
                  <a:latin typeface="+mn-lt"/>
                  <a:ea typeface="+mn-ea"/>
                  <a:sym typeface="Arial" panose="020B0604020202020204" pitchFamily="34" charset="0"/>
                </a:rPr>
                <a:t>3</a:t>
              </a:r>
              <a:endParaRPr lang="zh-CN" altLang="en-US" dirty="0">
                <a:latin typeface="+mn-lt"/>
                <a:ea typeface="+mn-ea"/>
                <a:sym typeface="Arial" panose="020B0604020202020204" pitchFamily="34" charset="0"/>
              </a:endParaRPr>
            </a:p>
          </p:txBody>
        </p:sp>
      </p:grpSp>
      <p:sp>
        <p:nvSpPr>
          <p:cNvPr id="2" name="标题 1">
            <a:extLst>
              <a:ext uri="{FF2B5EF4-FFF2-40B4-BE49-F238E27FC236}">
                <a16:creationId xmlns:a16="http://schemas.microsoft.com/office/drawing/2014/main" id="{F26B064E-A8D5-ADA9-9FFF-52D5812066E7}"/>
              </a:ext>
            </a:extLst>
          </p:cNvPr>
          <p:cNvSpPr txBox="1">
            <a:spLocks/>
          </p:cNvSpPr>
          <p:nvPr/>
        </p:nvSpPr>
        <p:spPr>
          <a:xfrm>
            <a:off x="182120" y="262654"/>
            <a:ext cx="9677146" cy="731520"/>
          </a:xfrm>
          <a:prstGeom prst="rect">
            <a:avLst/>
          </a:prstGeom>
        </p:spPr>
        <p:txBody>
          <a:bodyPr vert="horz"/>
          <a:lstStyle>
            <a:lvl1pPr algn="l" defTabSz="914400" rtl="0" eaLnBrk="1" latinLnBrk="0" hangingPunct="1">
              <a:lnSpc>
                <a:spcPct val="100000"/>
              </a:lnSpc>
              <a:spcBef>
                <a:spcPct val="1"/>
              </a:spcBef>
              <a:buNone/>
              <a:defRPr lang="en-US" sz="2500" b="0" kern="1200" spc="0" baseline="0" dirty="0">
                <a:ln w="6350" cap="flat">
                  <a:noFill/>
                  <a:miter lim="800000"/>
                </a:ln>
                <a:solidFill>
                  <a:schemeClr val="tx1"/>
                </a:solidFill>
                <a:latin typeface="+mn-lt"/>
                <a:ea typeface="+mn-ea"/>
                <a:cs typeface="+mj-cs"/>
                <a:sym typeface="微软雅黑" panose="020B0503020204020204" pitchFamily="34" charset="-122"/>
              </a:defRPr>
            </a:lvl1pPr>
          </a:lstStyle>
          <a:p>
            <a:r>
              <a:rPr lang="zh-CN" altLang="en-US" dirty="0">
                <a:cs typeface="+mn-ea"/>
                <a:sym typeface="+mn-lt"/>
              </a:rPr>
              <a:t>大模型及</a:t>
            </a:r>
            <a:r>
              <a:rPr lang="en-US" altLang="zh-CN" dirty="0">
                <a:cs typeface="+mn-ea"/>
                <a:sym typeface="+mn-lt"/>
              </a:rPr>
              <a:t>IDC</a:t>
            </a:r>
            <a:r>
              <a:rPr lang="zh-CN" altLang="en-US" dirty="0">
                <a:cs typeface="+mn-ea"/>
                <a:sym typeface="+mn-lt"/>
              </a:rPr>
              <a:t>面临“通信不可能三角”：速率、距离、功耗</a:t>
            </a:r>
          </a:p>
        </p:txBody>
      </p:sp>
      <p:sp>
        <p:nvSpPr>
          <p:cNvPr id="5" name="time-passing_150431">
            <a:extLst>
              <a:ext uri="{FF2B5EF4-FFF2-40B4-BE49-F238E27FC236}">
                <a16:creationId xmlns:a16="http://schemas.microsoft.com/office/drawing/2014/main" id="{AD10E905-E0B2-C284-C15C-14DD0D807A47}"/>
              </a:ext>
            </a:extLst>
          </p:cNvPr>
          <p:cNvSpPr/>
          <p:nvPr/>
        </p:nvSpPr>
        <p:spPr>
          <a:xfrm>
            <a:off x="5916067" y="2939059"/>
            <a:ext cx="359863" cy="359321"/>
          </a:xfrm>
          <a:custGeom>
            <a:avLst/>
            <a:gdLst>
              <a:gd name="connsiteX0" fmla="*/ 304595 w 609191"/>
              <a:gd name="connsiteY0" fmla="*/ 113046 h 608274"/>
              <a:gd name="connsiteX1" fmla="*/ 304595 w 609191"/>
              <a:gd name="connsiteY1" fmla="*/ 304137 h 608274"/>
              <a:gd name="connsiteX2" fmla="*/ 495933 w 609191"/>
              <a:gd name="connsiteY2" fmla="*/ 304137 h 608274"/>
              <a:gd name="connsiteX3" fmla="*/ 304595 w 609191"/>
              <a:gd name="connsiteY3" fmla="*/ 495228 h 608274"/>
              <a:gd name="connsiteX4" fmla="*/ 113257 w 609191"/>
              <a:gd name="connsiteY4" fmla="*/ 304137 h 608274"/>
              <a:gd name="connsiteX5" fmla="*/ 304595 w 609191"/>
              <a:gd name="connsiteY5" fmla="*/ 113046 h 608274"/>
              <a:gd name="connsiteX6" fmla="*/ 304596 w 609191"/>
              <a:gd name="connsiteY6" fmla="*/ 0 h 608274"/>
              <a:gd name="connsiteX7" fmla="*/ 496064 w 609191"/>
              <a:gd name="connsiteY7" fmla="*/ 67552 h 608274"/>
              <a:gd name="connsiteX8" fmla="*/ 530950 w 609191"/>
              <a:gd name="connsiteY8" fmla="*/ 32820 h 608274"/>
              <a:gd name="connsiteX9" fmla="*/ 548998 w 609191"/>
              <a:gd name="connsiteY9" fmla="*/ 29196 h 608274"/>
              <a:gd name="connsiteX10" fmla="*/ 559282 w 609191"/>
              <a:gd name="connsiteY10" fmla="*/ 44498 h 608274"/>
              <a:gd name="connsiteX11" fmla="*/ 559282 w 609191"/>
              <a:gd name="connsiteY11" fmla="*/ 165106 h 608274"/>
              <a:gd name="connsiteX12" fmla="*/ 542646 w 609191"/>
              <a:gd name="connsiteY12" fmla="*/ 181616 h 608274"/>
              <a:gd name="connsiteX13" fmla="*/ 421957 w 609191"/>
              <a:gd name="connsiteY13" fmla="*/ 181616 h 608274"/>
              <a:gd name="connsiteX14" fmla="*/ 406632 w 609191"/>
              <a:gd name="connsiteY14" fmla="*/ 171448 h 608274"/>
              <a:gd name="connsiteX15" fmla="*/ 410261 w 609191"/>
              <a:gd name="connsiteY15" fmla="*/ 153327 h 608274"/>
              <a:gd name="connsiteX16" fmla="*/ 450491 w 609191"/>
              <a:gd name="connsiteY16" fmla="*/ 113158 h 608274"/>
              <a:gd name="connsiteX17" fmla="*/ 423268 w 609191"/>
              <a:gd name="connsiteY17" fmla="*/ 95137 h 608274"/>
              <a:gd name="connsiteX18" fmla="*/ 423167 w 609191"/>
              <a:gd name="connsiteY18" fmla="*/ 95238 h 608274"/>
              <a:gd name="connsiteX19" fmla="*/ 304596 w 609191"/>
              <a:gd name="connsiteY19" fmla="*/ 63928 h 608274"/>
              <a:gd name="connsiteX20" fmla="*/ 64024 w 609191"/>
              <a:gd name="connsiteY20" fmla="*/ 304137 h 608274"/>
              <a:gd name="connsiteX21" fmla="*/ 304596 w 609191"/>
              <a:gd name="connsiteY21" fmla="*/ 544346 h 608274"/>
              <a:gd name="connsiteX22" fmla="*/ 545167 w 609191"/>
              <a:gd name="connsiteY22" fmla="*/ 304137 h 608274"/>
              <a:gd name="connsiteX23" fmla="*/ 527421 w 609191"/>
              <a:gd name="connsiteY23" fmla="*/ 213631 h 608274"/>
              <a:gd name="connsiteX24" fmla="*/ 542646 w 609191"/>
              <a:gd name="connsiteY24" fmla="*/ 213631 h 608274"/>
              <a:gd name="connsiteX25" fmla="*/ 585799 w 609191"/>
              <a:gd name="connsiteY25" fmla="*/ 187355 h 608274"/>
              <a:gd name="connsiteX26" fmla="*/ 609191 w 609191"/>
              <a:gd name="connsiteY26" fmla="*/ 304137 h 608274"/>
              <a:gd name="connsiteX27" fmla="*/ 304596 w 609191"/>
              <a:gd name="connsiteY27" fmla="*/ 608274 h 608274"/>
              <a:gd name="connsiteX28" fmla="*/ 0 w 609191"/>
              <a:gd name="connsiteY28" fmla="*/ 304137 h 608274"/>
              <a:gd name="connsiteX29" fmla="*/ 304596 w 609191"/>
              <a:gd name="connsiteY29"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09191" h="608274">
                <a:moveTo>
                  <a:pt x="304595" y="113046"/>
                </a:moveTo>
                <a:lnTo>
                  <a:pt x="304595" y="304137"/>
                </a:lnTo>
                <a:lnTo>
                  <a:pt x="495933" y="304137"/>
                </a:lnTo>
                <a:cubicBezTo>
                  <a:pt x="495933" y="409650"/>
                  <a:pt x="410244" y="495228"/>
                  <a:pt x="304595" y="495228"/>
                </a:cubicBezTo>
                <a:cubicBezTo>
                  <a:pt x="198946" y="495228"/>
                  <a:pt x="113257" y="409650"/>
                  <a:pt x="113257" y="304137"/>
                </a:cubicBezTo>
                <a:cubicBezTo>
                  <a:pt x="113257" y="198624"/>
                  <a:pt x="198946" y="113046"/>
                  <a:pt x="304595" y="113046"/>
                </a:cubicBezTo>
                <a:close/>
                <a:moveTo>
                  <a:pt x="304596" y="0"/>
                </a:moveTo>
                <a:cubicBezTo>
                  <a:pt x="372754" y="0"/>
                  <a:pt x="440610" y="22752"/>
                  <a:pt x="496064" y="67552"/>
                </a:cubicBezTo>
                <a:lnTo>
                  <a:pt x="530950" y="32820"/>
                </a:lnTo>
                <a:cubicBezTo>
                  <a:pt x="535689" y="28088"/>
                  <a:pt x="542848" y="26679"/>
                  <a:pt x="548998" y="29196"/>
                </a:cubicBezTo>
                <a:cubicBezTo>
                  <a:pt x="555249" y="31712"/>
                  <a:pt x="559282" y="37753"/>
                  <a:pt x="559282" y="44498"/>
                </a:cubicBezTo>
                <a:lnTo>
                  <a:pt x="559282" y="165106"/>
                </a:lnTo>
                <a:cubicBezTo>
                  <a:pt x="559282" y="174167"/>
                  <a:pt x="551821" y="181616"/>
                  <a:pt x="542646" y="181616"/>
                </a:cubicBezTo>
                <a:lnTo>
                  <a:pt x="421957" y="181616"/>
                </a:lnTo>
                <a:cubicBezTo>
                  <a:pt x="415202" y="181616"/>
                  <a:pt x="409152" y="177589"/>
                  <a:pt x="406632" y="171448"/>
                </a:cubicBezTo>
                <a:cubicBezTo>
                  <a:pt x="404010" y="165207"/>
                  <a:pt x="405522" y="158059"/>
                  <a:pt x="410261" y="153327"/>
                </a:cubicBezTo>
                <a:lnTo>
                  <a:pt x="450491" y="113158"/>
                </a:lnTo>
                <a:cubicBezTo>
                  <a:pt x="441820" y="106513"/>
                  <a:pt x="432745" y="100473"/>
                  <a:pt x="423268" y="95137"/>
                </a:cubicBezTo>
                <a:lnTo>
                  <a:pt x="423167" y="95238"/>
                </a:lnTo>
                <a:cubicBezTo>
                  <a:pt x="387475" y="74902"/>
                  <a:pt x="346943" y="63928"/>
                  <a:pt x="304596" y="63928"/>
                </a:cubicBezTo>
                <a:cubicBezTo>
                  <a:pt x="172009" y="63928"/>
                  <a:pt x="64024" y="171750"/>
                  <a:pt x="64024" y="304137"/>
                </a:cubicBezTo>
                <a:cubicBezTo>
                  <a:pt x="64024" y="436624"/>
                  <a:pt x="172009" y="544346"/>
                  <a:pt x="304596" y="544346"/>
                </a:cubicBezTo>
                <a:cubicBezTo>
                  <a:pt x="437283" y="544346"/>
                  <a:pt x="545167" y="436624"/>
                  <a:pt x="545167" y="304137"/>
                </a:cubicBezTo>
                <a:cubicBezTo>
                  <a:pt x="545167" y="272123"/>
                  <a:pt x="538815" y="241518"/>
                  <a:pt x="527421" y="213631"/>
                </a:cubicBezTo>
                <a:lnTo>
                  <a:pt x="542646" y="213631"/>
                </a:lnTo>
                <a:cubicBezTo>
                  <a:pt x="561400" y="213631"/>
                  <a:pt x="577733" y="202959"/>
                  <a:pt x="585799" y="187355"/>
                </a:cubicBezTo>
                <a:cubicBezTo>
                  <a:pt x="600923" y="223296"/>
                  <a:pt x="609191" y="262760"/>
                  <a:pt x="609191" y="304137"/>
                </a:cubicBezTo>
                <a:cubicBezTo>
                  <a:pt x="609191" y="471860"/>
                  <a:pt x="472572" y="608274"/>
                  <a:pt x="304596" y="608274"/>
                </a:cubicBezTo>
                <a:cubicBezTo>
                  <a:pt x="136619" y="608274"/>
                  <a:pt x="0" y="471860"/>
                  <a:pt x="0" y="304137"/>
                </a:cubicBezTo>
                <a:cubicBezTo>
                  <a:pt x="0" y="136414"/>
                  <a:pt x="136619" y="0"/>
                  <a:pt x="304596" y="0"/>
                </a:cubicBezTo>
                <a:close/>
              </a:path>
            </a:pathLst>
          </a:cu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uble-diagonal-arrow_57071">
            <a:extLst>
              <a:ext uri="{FF2B5EF4-FFF2-40B4-BE49-F238E27FC236}">
                <a16:creationId xmlns:a16="http://schemas.microsoft.com/office/drawing/2014/main" id="{8A9D0D0C-9ED6-6361-321F-BA8D01085337}"/>
              </a:ext>
            </a:extLst>
          </p:cNvPr>
          <p:cNvSpPr/>
          <p:nvPr/>
        </p:nvSpPr>
        <p:spPr>
          <a:xfrm>
            <a:off x="7204542" y="5241064"/>
            <a:ext cx="274160" cy="273778"/>
          </a:xfrm>
          <a:custGeom>
            <a:avLst/>
            <a:gdLst>
              <a:gd name="T0" fmla="*/ 1333 w 12856"/>
              <a:gd name="T1" fmla="*/ 7083 h 12856"/>
              <a:gd name="T2" fmla="*/ 2667 w 12856"/>
              <a:gd name="T3" fmla="*/ 5749 h 12856"/>
              <a:gd name="T4" fmla="*/ 2667 w 12856"/>
              <a:gd name="T5" fmla="*/ 4552 h 12856"/>
              <a:gd name="T6" fmla="*/ 8304 w 12856"/>
              <a:gd name="T7" fmla="*/ 10189 h 12856"/>
              <a:gd name="T8" fmla="*/ 7107 w 12856"/>
              <a:gd name="T9" fmla="*/ 10189 h 12856"/>
              <a:gd name="T10" fmla="*/ 5773 w 12856"/>
              <a:gd name="T11" fmla="*/ 11523 h 12856"/>
              <a:gd name="T12" fmla="*/ 7107 w 12856"/>
              <a:gd name="T13" fmla="*/ 12856 h 12856"/>
              <a:gd name="T14" fmla="*/ 11523 w 12856"/>
              <a:gd name="T15" fmla="*/ 12856 h 12856"/>
              <a:gd name="T16" fmla="*/ 12415 w 12856"/>
              <a:gd name="T17" fmla="*/ 12513 h 12856"/>
              <a:gd name="T18" fmla="*/ 12591 w 12856"/>
              <a:gd name="T19" fmla="*/ 12321 h 12856"/>
              <a:gd name="T20" fmla="*/ 12591 w 12856"/>
              <a:gd name="T21" fmla="*/ 12321 h 12856"/>
              <a:gd name="T22" fmla="*/ 12856 w 12856"/>
              <a:gd name="T23" fmla="*/ 11528 h 12856"/>
              <a:gd name="T24" fmla="*/ 12856 w 12856"/>
              <a:gd name="T25" fmla="*/ 11524 h 12856"/>
              <a:gd name="T26" fmla="*/ 12856 w 12856"/>
              <a:gd name="T27" fmla="*/ 7199 h 12856"/>
              <a:gd name="T28" fmla="*/ 11523 w 12856"/>
              <a:gd name="T29" fmla="*/ 5865 h 12856"/>
              <a:gd name="T30" fmla="*/ 10189 w 12856"/>
              <a:gd name="T31" fmla="*/ 7199 h 12856"/>
              <a:gd name="T32" fmla="*/ 10189 w 12856"/>
              <a:gd name="T33" fmla="*/ 8304 h 12856"/>
              <a:gd name="T34" fmla="*/ 4552 w 12856"/>
              <a:gd name="T35" fmla="*/ 2667 h 12856"/>
              <a:gd name="T36" fmla="*/ 5656 w 12856"/>
              <a:gd name="T37" fmla="*/ 2667 h 12856"/>
              <a:gd name="T38" fmla="*/ 6989 w 12856"/>
              <a:gd name="T39" fmla="*/ 1333 h 12856"/>
              <a:gd name="T40" fmla="*/ 5656 w 12856"/>
              <a:gd name="T41" fmla="*/ 0 h 12856"/>
              <a:gd name="T42" fmla="*/ 1333 w 12856"/>
              <a:gd name="T43" fmla="*/ 0 h 12856"/>
              <a:gd name="T44" fmla="*/ 1331 w 12856"/>
              <a:gd name="T45" fmla="*/ 0 h 12856"/>
              <a:gd name="T46" fmla="*/ 803 w 12856"/>
              <a:gd name="T47" fmla="*/ 109 h 12856"/>
              <a:gd name="T48" fmla="*/ 353 w 12856"/>
              <a:gd name="T49" fmla="*/ 428 h 12856"/>
              <a:gd name="T50" fmla="*/ 255 w 12856"/>
              <a:gd name="T51" fmla="*/ 548 h 12856"/>
              <a:gd name="T52" fmla="*/ 160 w 12856"/>
              <a:gd name="T53" fmla="*/ 697 h 12856"/>
              <a:gd name="T54" fmla="*/ 160 w 12856"/>
              <a:gd name="T55" fmla="*/ 699 h 12856"/>
              <a:gd name="T56" fmla="*/ 12 w 12856"/>
              <a:gd name="T57" fmla="*/ 1155 h 12856"/>
              <a:gd name="T58" fmla="*/ 0 w 12856"/>
              <a:gd name="T59" fmla="*/ 1329 h 12856"/>
              <a:gd name="T60" fmla="*/ 0 w 12856"/>
              <a:gd name="T61" fmla="*/ 1333 h 12856"/>
              <a:gd name="T62" fmla="*/ 0 w 12856"/>
              <a:gd name="T63" fmla="*/ 5749 h 12856"/>
              <a:gd name="T64" fmla="*/ 1333 w 12856"/>
              <a:gd name="T65" fmla="*/ 7083 h 12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56" h="12856">
                <a:moveTo>
                  <a:pt x="1333" y="7083"/>
                </a:moveTo>
                <a:cubicBezTo>
                  <a:pt x="2069" y="7083"/>
                  <a:pt x="2667" y="6485"/>
                  <a:pt x="2667" y="5749"/>
                </a:cubicBezTo>
                <a:lnTo>
                  <a:pt x="2667" y="4552"/>
                </a:lnTo>
                <a:lnTo>
                  <a:pt x="8304" y="10189"/>
                </a:lnTo>
                <a:lnTo>
                  <a:pt x="7107" y="10189"/>
                </a:lnTo>
                <a:cubicBezTo>
                  <a:pt x="6371" y="10189"/>
                  <a:pt x="5773" y="10787"/>
                  <a:pt x="5773" y="11523"/>
                </a:cubicBezTo>
                <a:cubicBezTo>
                  <a:pt x="5773" y="12259"/>
                  <a:pt x="6371" y="12856"/>
                  <a:pt x="7107" y="12856"/>
                </a:cubicBezTo>
                <a:lnTo>
                  <a:pt x="11523" y="12856"/>
                </a:lnTo>
                <a:cubicBezTo>
                  <a:pt x="11852" y="12856"/>
                  <a:pt x="12169" y="12731"/>
                  <a:pt x="12415" y="12513"/>
                </a:cubicBezTo>
                <a:cubicBezTo>
                  <a:pt x="12480" y="12456"/>
                  <a:pt x="12539" y="12391"/>
                  <a:pt x="12591" y="12321"/>
                </a:cubicBezTo>
                <a:lnTo>
                  <a:pt x="12591" y="12321"/>
                </a:lnTo>
                <a:cubicBezTo>
                  <a:pt x="12761" y="12093"/>
                  <a:pt x="12855" y="11813"/>
                  <a:pt x="12856" y="11528"/>
                </a:cubicBezTo>
                <a:lnTo>
                  <a:pt x="12856" y="11524"/>
                </a:lnTo>
                <a:lnTo>
                  <a:pt x="12856" y="7199"/>
                </a:lnTo>
                <a:cubicBezTo>
                  <a:pt x="12856" y="6463"/>
                  <a:pt x="12259" y="5865"/>
                  <a:pt x="11523" y="5865"/>
                </a:cubicBezTo>
                <a:cubicBezTo>
                  <a:pt x="10787" y="5865"/>
                  <a:pt x="10189" y="6463"/>
                  <a:pt x="10189" y="7199"/>
                </a:cubicBezTo>
                <a:lnTo>
                  <a:pt x="10189" y="8304"/>
                </a:lnTo>
                <a:lnTo>
                  <a:pt x="4552" y="2667"/>
                </a:lnTo>
                <a:lnTo>
                  <a:pt x="5656" y="2667"/>
                </a:lnTo>
                <a:cubicBezTo>
                  <a:pt x="6392" y="2667"/>
                  <a:pt x="6989" y="2069"/>
                  <a:pt x="6989" y="1333"/>
                </a:cubicBezTo>
                <a:cubicBezTo>
                  <a:pt x="6989" y="597"/>
                  <a:pt x="6392" y="0"/>
                  <a:pt x="5656" y="0"/>
                </a:cubicBezTo>
                <a:lnTo>
                  <a:pt x="1333" y="0"/>
                </a:lnTo>
                <a:lnTo>
                  <a:pt x="1331" y="0"/>
                </a:lnTo>
                <a:cubicBezTo>
                  <a:pt x="1151" y="1"/>
                  <a:pt x="969" y="37"/>
                  <a:pt x="803" y="109"/>
                </a:cubicBezTo>
                <a:cubicBezTo>
                  <a:pt x="633" y="184"/>
                  <a:pt x="480" y="292"/>
                  <a:pt x="353" y="428"/>
                </a:cubicBezTo>
                <a:cubicBezTo>
                  <a:pt x="317" y="467"/>
                  <a:pt x="285" y="507"/>
                  <a:pt x="255" y="548"/>
                </a:cubicBezTo>
                <a:cubicBezTo>
                  <a:pt x="220" y="596"/>
                  <a:pt x="188" y="645"/>
                  <a:pt x="160" y="697"/>
                </a:cubicBezTo>
                <a:lnTo>
                  <a:pt x="160" y="699"/>
                </a:lnTo>
                <a:cubicBezTo>
                  <a:pt x="83" y="839"/>
                  <a:pt x="32" y="995"/>
                  <a:pt x="12" y="1155"/>
                </a:cubicBezTo>
                <a:cubicBezTo>
                  <a:pt x="4" y="1213"/>
                  <a:pt x="0" y="1271"/>
                  <a:pt x="0" y="1329"/>
                </a:cubicBezTo>
                <a:lnTo>
                  <a:pt x="0" y="1333"/>
                </a:lnTo>
                <a:lnTo>
                  <a:pt x="0" y="5749"/>
                </a:lnTo>
                <a:cubicBezTo>
                  <a:pt x="0" y="6485"/>
                  <a:pt x="597" y="7083"/>
                  <a:pt x="1333" y="7083"/>
                </a:cubicBezTo>
                <a:close/>
              </a:path>
            </a:pathLst>
          </a:cu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hapeIsoscelesTriangle 22">
            <a:extLst>
              <a:ext uri="{FF2B5EF4-FFF2-40B4-BE49-F238E27FC236}">
                <a16:creationId xmlns:a16="http://schemas.microsoft.com/office/drawing/2014/main" id="{85FBB884-59C1-5697-118B-1DFE52F5234C}"/>
              </a:ext>
            </a:extLst>
          </p:cNvPr>
          <p:cNvSpPr/>
          <p:nvPr/>
        </p:nvSpPr>
        <p:spPr>
          <a:xfrm rot="10800000">
            <a:off x="5257555" y="4127101"/>
            <a:ext cx="1647346" cy="1420126"/>
          </a:xfrm>
          <a:prstGeom prst="triangle">
            <a:avLst/>
          </a:prstGeom>
          <a:solidFill>
            <a:srgbClr val="0052D9"/>
          </a:solid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a:endParaRPr lang="zh-CN" altLang="en-US" dirty="0"/>
          </a:p>
        </p:txBody>
      </p:sp>
      <p:grpSp>
        <p:nvGrpSpPr>
          <p:cNvPr id="13" name="组合 12">
            <a:extLst>
              <a:ext uri="{FF2B5EF4-FFF2-40B4-BE49-F238E27FC236}">
                <a16:creationId xmlns:a16="http://schemas.microsoft.com/office/drawing/2014/main" id="{C1261C36-B73F-FD1B-4AB6-0A3AF886EE6D}"/>
              </a:ext>
            </a:extLst>
          </p:cNvPr>
          <p:cNvGrpSpPr/>
          <p:nvPr/>
        </p:nvGrpSpPr>
        <p:grpSpPr>
          <a:xfrm>
            <a:off x="459341" y="4721387"/>
            <a:ext cx="3558090" cy="1366256"/>
            <a:chOff x="692753" y="4321548"/>
            <a:chExt cx="3558090" cy="1366256"/>
          </a:xfrm>
        </p:grpSpPr>
        <p:sp>
          <p:nvSpPr>
            <p:cNvPr id="15" name="Bullet2">
              <a:extLst>
                <a:ext uri="{FF2B5EF4-FFF2-40B4-BE49-F238E27FC236}">
                  <a16:creationId xmlns:a16="http://schemas.microsoft.com/office/drawing/2014/main" id="{020D2B8C-297B-1DE8-7205-1FCC7FF548A2}"/>
                </a:ext>
              </a:extLst>
            </p:cNvPr>
            <p:cNvSpPr>
              <a:spLocks/>
            </p:cNvSpPr>
            <p:nvPr/>
          </p:nvSpPr>
          <p:spPr>
            <a:xfrm flipH="1">
              <a:off x="692753" y="4321548"/>
              <a:ext cx="2934444" cy="549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pPr algn="r"/>
              <a:r>
                <a:rPr kumimoji="1" lang="zh-CN" altLang="en-US" dirty="0">
                  <a:solidFill>
                    <a:schemeClr val="tx1">
                      <a:lumMod val="50000"/>
                    </a:schemeClr>
                  </a:solidFill>
                  <a:cs typeface="+mn-ea"/>
                  <a:sym typeface="+mn-lt"/>
                </a:rPr>
                <a:t>通信距离</a:t>
              </a:r>
              <a:endParaRPr lang="en-US" altLang="zh-CN" b="1" dirty="0">
                <a:cs typeface="Arial" panose="020B0604020202020204" pitchFamily="34" charset="0"/>
              </a:endParaRPr>
            </a:p>
          </p:txBody>
        </p:sp>
        <p:sp>
          <p:nvSpPr>
            <p:cNvPr id="16" name="Text2">
              <a:extLst>
                <a:ext uri="{FF2B5EF4-FFF2-40B4-BE49-F238E27FC236}">
                  <a16:creationId xmlns:a16="http://schemas.microsoft.com/office/drawing/2014/main" id="{5009F1E3-5AC0-17B2-CC3B-ED261A33494A}"/>
                </a:ext>
              </a:extLst>
            </p:cNvPr>
            <p:cNvSpPr>
              <a:spLocks/>
            </p:cNvSpPr>
            <p:nvPr/>
          </p:nvSpPr>
          <p:spPr>
            <a:xfrm flipH="1">
              <a:off x="692753" y="4879942"/>
              <a:ext cx="2934444" cy="8078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gn="r">
                <a:lnSpc>
                  <a:spcPct val="120000"/>
                </a:lnSpc>
              </a:pPr>
              <a:r>
                <a:rPr lang="zh-CN" altLang="en-US" sz="1400" dirty="0">
                  <a:solidFill>
                    <a:schemeClr val="bg1">
                      <a:lumMod val="50000"/>
                    </a:schemeClr>
                  </a:solidFill>
                </a:rPr>
                <a:t>高速传输耗电量大，低功耗传输通常只能覆盖近程通信</a:t>
              </a:r>
              <a:endParaRPr lang="en-US" altLang="zh-CN" sz="1400" dirty="0">
                <a:solidFill>
                  <a:schemeClr val="bg1">
                    <a:lumMod val="50000"/>
                  </a:schemeClr>
                </a:solidFill>
                <a:sym typeface="Arial" panose="020B0604020202020204" pitchFamily="34" charset="0"/>
              </a:endParaRPr>
            </a:p>
          </p:txBody>
        </p:sp>
        <p:sp>
          <p:nvSpPr>
            <p:cNvPr id="17" name="Number2">
              <a:extLst>
                <a:ext uri="{FF2B5EF4-FFF2-40B4-BE49-F238E27FC236}">
                  <a16:creationId xmlns:a16="http://schemas.microsoft.com/office/drawing/2014/main" id="{15E7B3D2-FCDE-F42D-CD2F-EDACC50481DB}"/>
                </a:ext>
              </a:extLst>
            </p:cNvPr>
            <p:cNvSpPr txBox="1">
              <a:spLocks noChangeAspect="1"/>
            </p:cNvSpPr>
            <p:nvPr/>
          </p:nvSpPr>
          <p:spPr>
            <a:xfrm flipH="1">
              <a:off x="3710843" y="4509933"/>
              <a:ext cx="540000" cy="540000"/>
            </a:xfrm>
            <a:prstGeom prst="roundRect">
              <a:avLst>
                <a:gd name="adj" fmla="val 50000"/>
              </a:avLst>
            </a:prstGeom>
            <a:solidFill>
              <a:srgbClr val="0052D9"/>
            </a:solidFill>
            <a:ln w="12700" cap="flat">
              <a:noFill/>
              <a:prstDash val="solid"/>
              <a:miter/>
            </a:ln>
            <a:effectLst>
              <a:outerShdw blurRad="127000" dist="63500" dir="2700000" algn="tl" rotWithShape="0">
                <a:schemeClr val="accent1">
                  <a:alpha val="40000"/>
                </a:schemeClr>
              </a:outerShdw>
            </a:effectLst>
          </p:spPr>
          <p:txBody>
            <a:bodyPr wrap="none" rtlCol="0" anchor="ctr"/>
            <a:lstStyle>
              <a:defPPr>
                <a:defRPr lang="zh-CN"/>
              </a:defPPr>
              <a:lvl1pPr algn="ctr">
                <a:defRPr b="1">
                  <a:solidFill>
                    <a:srgbClr val="FFFFFF"/>
                  </a:solidFill>
                  <a:latin typeface="Arial" panose="020B0604020202020204" pitchFamily="34" charset="0"/>
                  <a:ea typeface="微软雅黑" panose="020B0503020204020204" pitchFamily="34" charset="-122"/>
                </a:defRPr>
              </a:lvl1pPr>
            </a:lstStyle>
            <a:p>
              <a:r>
                <a:rPr lang="en-US" altLang="zh-CN" dirty="0">
                  <a:latin typeface="+mn-lt"/>
                  <a:ea typeface="+mn-ea"/>
                  <a:sym typeface="Arial" panose="020B0604020202020204" pitchFamily="34" charset="0"/>
                </a:rPr>
                <a:t>2</a:t>
              </a:r>
              <a:endParaRPr lang="zh-CN" altLang="en-US" dirty="0">
                <a:latin typeface="+mn-lt"/>
                <a:ea typeface="+mn-ea"/>
                <a:sym typeface="Arial" panose="020B0604020202020204" pitchFamily="34" charset="0"/>
              </a:endParaRPr>
            </a:p>
          </p:txBody>
        </p:sp>
      </p:grpSp>
      <p:sp>
        <p:nvSpPr>
          <p:cNvPr id="19" name="light-bolt_192749">
            <a:extLst>
              <a:ext uri="{FF2B5EF4-FFF2-40B4-BE49-F238E27FC236}">
                <a16:creationId xmlns:a16="http://schemas.microsoft.com/office/drawing/2014/main" id="{DE47084A-DC66-D937-D49F-3DF49F28D92F}"/>
              </a:ext>
            </a:extLst>
          </p:cNvPr>
          <p:cNvSpPr/>
          <p:nvPr/>
        </p:nvSpPr>
        <p:spPr>
          <a:xfrm>
            <a:off x="4789786" y="5114571"/>
            <a:ext cx="267266" cy="400271"/>
          </a:xfrm>
          <a:custGeom>
            <a:avLst/>
            <a:gdLst>
              <a:gd name="T0" fmla="*/ 4551 w 4551"/>
              <a:gd name="T1" fmla="*/ 2844 h 6827"/>
              <a:gd name="T2" fmla="*/ 2655 w 4551"/>
              <a:gd name="T3" fmla="*/ 2844 h 6827"/>
              <a:gd name="T4" fmla="*/ 2655 w 4551"/>
              <a:gd name="T5" fmla="*/ 0 h 6827"/>
              <a:gd name="T6" fmla="*/ 0 w 4551"/>
              <a:gd name="T7" fmla="*/ 3982 h 6827"/>
              <a:gd name="T8" fmla="*/ 1896 w 4551"/>
              <a:gd name="T9" fmla="*/ 3982 h 6827"/>
              <a:gd name="T10" fmla="*/ 1896 w 4551"/>
              <a:gd name="T11" fmla="*/ 6827 h 6827"/>
              <a:gd name="T12" fmla="*/ 4551 w 4551"/>
              <a:gd name="T13" fmla="*/ 2844 h 6827"/>
            </a:gdLst>
            <a:ahLst/>
            <a:cxnLst>
              <a:cxn ang="0">
                <a:pos x="T0" y="T1"/>
              </a:cxn>
              <a:cxn ang="0">
                <a:pos x="T2" y="T3"/>
              </a:cxn>
              <a:cxn ang="0">
                <a:pos x="T4" y="T5"/>
              </a:cxn>
              <a:cxn ang="0">
                <a:pos x="T6" y="T7"/>
              </a:cxn>
              <a:cxn ang="0">
                <a:pos x="T8" y="T9"/>
              </a:cxn>
              <a:cxn ang="0">
                <a:pos x="T10" y="T11"/>
              </a:cxn>
              <a:cxn ang="0">
                <a:pos x="T12" y="T13"/>
              </a:cxn>
            </a:cxnLst>
            <a:rect l="0" t="0" r="r" b="b"/>
            <a:pathLst>
              <a:path w="4551" h="6827">
                <a:moveTo>
                  <a:pt x="4551" y="2844"/>
                </a:moveTo>
                <a:lnTo>
                  <a:pt x="2655" y="2844"/>
                </a:lnTo>
                <a:lnTo>
                  <a:pt x="2655" y="0"/>
                </a:lnTo>
                <a:lnTo>
                  <a:pt x="0" y="3982"/>
                </a:lnTo>
                <a:lnTo>
                  <a:pt x="1896" y="3982"/>
                </a:lnTo>
                <a:lnTo>
                  <a:pt x="1896" y="6827"/>
                </a:lnTo>
                <a:lnTo>
                  <a:pt x="4551" y="2844"/>
                </a:lnTo>
                <a:close/>
              </a:path>
            </a:pathLst>
          </a:cu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文本框 19">
            <a:extLst>
              <a:ext uri="{FF2B5EF4-FFF2-40B4-BE49-F238E27FC236}">
                <a16:creationId xmlns:a16="http://schemas.microsoft.com/office/drawing/2014/main" id="{6460CAD9-B853-308F-68B2-80168C22CC05}"/>
              </a:ext>
            </a:extLst>
          </p:cNvPr>
          <p:cNvSpPr txBox="1"/>
          <p:nvPr/>
        </p:nvSpPr>
        <p:spPr>
          <a:xfrm>
            <a:off x="511331" y="954770"/>
            <a:ext cx="10837646" cy="327025"/>
          </a:xfrm>
          <a:prstGeom prst="rect">
            <a:avLst/>
          </a:prstGeom>
          <a:ln w="6350">
            <a:noFill/>
            <a:miter lim="800000"/>
          </a:ln>
        </p:spPr>
        <p:txBody>
          <a:bodyPr vert="horz" wrap="square" lIns="0" tIns="0" rIns="0" bIns="0" rtlCol="0">
            <a:noAutofit/>
          </a:bodyPr>
          <a:lstStyle/>
          <a:p>
            <a:pPr marL="285750" indent="-285750">
              <a:spcBef>
                <a:spcPts val="200"/>
              </a:spcBef>
              <a:spcAft>
                <a:spcPts val="200"/>
              </a:spcAft>
              <a:buFont typeface="Arial" panose="020B0604020202020204" pitchFamily="34" charset="0"/>
              <a:buChar char="•"/>
            </a:pPr>
            <a:r>
              <a:rPr kumimoji="1" lang="zh-CN" altLang="en-US" b="1" dirty="0">
                <a:solidFill>
                  <a:srgbClr val="0052D9"/>
                </a:solidFill>
                <a:cs typeface="+mn-ea"/>
                <a:sym typeface="+mn-lt"/>
              </a:rPr>
              <a:t>误码率</a:t>
            </a:r>
            <a:r>
              <a:rPr kumimoji="1" lang="en-US" altLang="zh-CN" baseline="30000" dirty="0">
                <a:solidFill>
                  <a:schemeClr val="tx1">
                    <a:lumMod val="50000"/>
                  </a:schemeClr>
                </a:solidFill>
                <a:cs typeface="+mn-ea"/>
                <a:sym typeface="+mn-lt"/>
              </a:rPr>
              <a:t>1</a:t>
            </a:r>
            <a:r>
              <a:rPr kumimoji="1" lang="zh-CN" altLang="en-US" dirty="0">
                <a:solidFill>
                  <a:schemeClr val="tx1">
                    <a:lumMod val="50000"/>
                  </a:schemeClr>
                </a:solidFill>
                <a:cs typeface="+mn-ea"/>
                <a:sym typeface="+mn-lt"/>
              </a:rPr>
              <a:t>为</a:t>
            </a:r>
            <a:r>
              <a:rPr kumimoji="1" lang="en-US" altLang="zh-CN" dirty="0">
                <a:solidFill>
                  <a:schemeClr val="tx1">
                    <a:lumMod val="50000"/>
                  </a:schemeClr>
                </a:solidFill>
                <a:cs typeface="+mn-ea"/>
                <a:sym typeface="+mn-lt"/>
              </a:rPr>
              <a:t>IDC</a:t>
            </a:r>
            <a:r>
              <a:rPr kumimoji="1" lang="zh-CN" altLang="en-US" dirty="0">
                <a:solidFill>
                  <a:schemeClr val="tx1">
                    <a:lumMod val="50000"/>
                  </a:schemeClr>
                </a:solidFill>
                <a:cs typeface="+mn-ea"/>
                <a:sym typeface="+mn-lt"/>
              </a:rPr>
              <a:t>数据通信中的核心指标，用于衡量传输可靠性</a:t>
            </a:r>
            <a:endParaRPr kumimoji="1" lang="en-US" altLang="zh-CN" dirty="0">
              <a:solidFill>
                <a:schemeClr val="tx1">
                  <a:lumMod val="50000"/>
                </a:schemeClr>
              </a:solidFill>
              <a:cs typeface="+mn-ea"/>
              <a:sym typeface="+mn-lt"/>
            </a:endParaRPr>
          </a:p>
          <a:p>
            <a:pPr marL="285750" indent="-285750">
              <a:spcBef>
                <a:spcPts val="200"/>
              </a:spcBef>
              <a:spcAft>
                <a:spcPts val="200"/>
              </a:spcAft>
              <a:buFont typeface="Arial" panose="020B0604020202020204" pitchFamily="34" charset="0"/>
              <a:buChar char="•"/>
            </a:pPr>
            <a:r>
              <a:rPr kumimoji="1" lang="zh-CN" altLang="en-US" dirty="0">
                <a:solidFill>
                  <a:schemeClr val="tx1">
                    <a:lumMod val="50000"/>
                  </a:schemeClr>
                </a:solidFill>
                <a:cs typeface="+mn-ea"/>
                <a:sym typeface="+mn-lt"/>
              </a:rPr>
              <a:t>提升传输</a:t>
            </a:r>
            <a:r>
              <a:rPr kumimoji="1" lang="zh-CN" altLang="en-US" b="1" dirty="0">
                <a:solidFill>
                  <a:srgbClr val="0052D9"/>
                </a:solidFill>
                <a:cs typeface="+mn-ea"/>
                <a:sym typeface="+mn-lt"/>
              </a:rPr>
              <a:t>速率</a:t>
            </a:r>
            <a:r>
              <a:rPr kumimoji="1" lang="zh-CN" altLang="en-US" dirty="0">
                <a:solidFill>
                  <a:schemeClr val="tx1">
                    <a:lumMod val="50000"/>
                  </a:schemeClr>
                </a:solidFill>
                <a:cs typeface="+mn-ea"/>
                <a:sym typeface="+mn-lt"/>
              </a:rPr>
              <a:t>、传输</a:t>
            </a:r>
            <a:r>
              <a:rPr kumimoji="1" lang="zh-CN" altLang="en-US" b="1" dirty="0">
                <a:solidFill>
                  <a:srgbClr val="0052D9"/>
                </a:solidFill>
                <a:cs typeface="+mn-ea"/>
                <a:sym typeface="+mn-lt"/>
              </a:rPr>
              <a:t>距离</a:t>
            </a:r>
            <a:r>
              <a:rPr kumimoji="1" lang="zh-CN" altLang="en-US" dirty="0">
                <a:solidFill>
                  <a:schemeClr val="tx1">
                    <a:lumMod val="50000"/>
                  </a:schemeClr>
                </a:solidFill>
                <a:cs typeface="+mn-ea"/>
                <a:sym typeface="+mn-lt"/>
              </a:rPr>
              <a:t>、降低</a:t>
            </a:r>
            <a:r>
              <a:rPr kumimoji="1" lang="zh-CN" altLang="en-US" b="1" dirty="0">
                <a:solidFill>
                  <a:srgbClr val="0052D9"/>
                </a:solidFill>
                <a:cs typeface="+mn-ea"/>
                <a:sym typeface="+mn-lt"/>
              </a:rPr>
              <a:t>功耗</a:t>
            </a:r>
            <a:r>
              <a:rPr kumimoji="1" lang="zh-CN" altLang="en-US" dirty="0">
                <a:solidFill>
                  <a:schemeClr val="tx1">
                    <a:lumMod val="50000"/>
                  </a:schemeClr>
                </a:solidFill>
                <a:cs typeface="+mn-ea"/>
                <a:sym typeface="+mn-lt"/>
              </a:rPr>
              <a:t>均使得误码率上升</a:t>
            </a:r>
            <a:endParaRPr kumimoji="1" lang="zh-CN" altLang="zh-CN" dirty="0">
              <a:solidFill>
                <a:schemeClr val="tx1">
                  <a:lumMod val="50000"/>
                </a:schemeClr>
              </a:solidFill>
              <a:cs typeface="+mn-ea"/>
              <a:sym typeface="+mn-lt"/>
            </a:endParaRPr>
          </a:p>
        </p:txBody>
      </p:sp>
      <p:sp>
        <p:nvSpPr>
          <p:cNvPr id="23" name="文本框 22">
            <a:extLst>
              <a:ext uri="{FF2B5EF4-FFF2-40B4-BE49-F238E27FC236}">
                <a16:creationId xmlns:a16="http://schemas.microsoft.com/office/drawing/2014/main" id="{12D250EE-29A5-4FC0-9797-B9301924E016}"/>
              </a:ext>
            </a:extLst>
          </p:cNvPr>
          <p:cNvSpPr txBox="1"/>
          <p:nvPr/>
        </p:nvSpPr>
        <p:spPr>
          <a:xfrm>
            <a:off x="5395274" y="4497658"/>
            <a:ext cx="1413540" cy="327025"/>
          </a:xfrm>
          <a:prstGeom prst="rect">
            <a:avLst/>
          </a:prstGeom>
          <a:ln w="6350">
            <a:noFill/>
            <a:miter lim="800000"/>
          </a:ln>
        </p:spPr>
        <p:txBody>
          <a:bodyPr vert="horz" wrap="square" lIns="0" tIns="0" rIns="0" bIns="0" rtlCol="0">
            <a:noAutofit/>
          </a:bodyPr>
          <a:lstStyle/>
          <a:p>
            <a:pPr algn="ctr"/>
            <a:r>
              <a:rPr kumimoji="1" lang="zh-CN" altLang="en-US" b="1" dirty="0">
                <a:solidFill>
                  <a:schemeClr val="bg1"/>
                </a:solidFill>
                <a:cs typeface="+mn-ea"/>
                <a:sym typeface="+mn-lt"/>
              </a:rPr>
              <a:t>误码率</a:t>
            </a:r>
            <a:endParaRPr kumimoji="1" lang="en-US" altLang="zh-CN" b="1" dirty="0">
              <a:solidFill>
                <a:schemeClr val="bg1"/>
              </a:solidFill>
              <a:cs typeface="+mn-ea"/>
              <a:sym typeface="+mn-lt"/>
            </a:endParaRPr>
          </a:p>
        </p:txBody>
      </p:sp>
      <p:sp>
        <p:nvSpPr>
          <p:cNvPr id="24" name="文本框 23">
            <a:extLst>
              <a:ext uri="{FF2B5EF4-FFF2-40B4-BE49-F238E27FC236}">
                <a16:creationId xmlns:a16="http://schemas.microsoft.com/office/drawing/2014/main" id="{07F8177C-D92C-0C3D-0709-1D72C476F289}"/>
              </a:ext>
            </a:extLst>
          </p:cNvPr>
          <p:cNvSpPr txBox="1"/>
          <p:nvPr/>
        </p:nvSpPr>
        <p:spPr>
          <a:xfrm>
            <a:off x="285044" y="6373197"/>
            <a:ext cx="8357129"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a:t>
            </a:r>
            <a:r>
              <a:rPr kumimoji="1" lang="zh-CN" altLang="en-US" sz="1200" i="1" dirty="0">
                <a:solidFill>
                  <a:schemeClr val="tx1">
                    <a:lumMod val="50000"/>
                  </a:schemeClr>
                </a:solidFill>
                <a:cs typeface="+mn-ea"/>
              </a:rPr>
              <a:t>误码率（</a:t>
            </a:r>
            <a:r>
              <a:rPr kumimoji="1" lang="en-US" altLang="zh-CN" sz="1200" i="1" dirty="0">
                <a:solidFill>
                  <a:schemeClr val="tx1">
                    <a:lumMod val="50000"/>
                  </a:schemeClr>
                </a:solidFill>
                <a:cs typeface="+mn-ea"/>
                <a:sym typeface="+mn-lt"/>
              </a:rPr>
              <a:t> BER</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rPr>
              <a:t>Bit Error Rate </a:t>
            </a:r>
            <a:r>
              <a:rPr kumimoji="1" lang="zh-CN" altLang="en-US" sz="1200" i="1" dirty="0">
                <a:solidFill>
                  <a:schemeClr val="tx1">
                    <a:lumMod val="50000"/>
                  </a:schemeClr>
                </a:solidFill>
                <a:cs typeface="+mn-ea"/>
              </a:rPr>
              <a:t>）​，</a:t>
            </a:r>
            <a:r>
              <a:rPr kumimoji="1" lang="en-US" altLang="zh-CN" sz="1200" i="1" dirty="0">
                <a:solidFill>
                  <a:schemeClr val="tx1">
                    <a:lumMod val="50000"/>
                  </a:schemeClr>
                </a:solidFill>
                <a:cs typeface="+mn-ea"/>
              </a:rPr>
              <a:t>IDC</a:t>
            </a:r>
            <a:r>
              <a:rPr kumimoji="1" lang="zh-CN" altLang="en-US" sz="1200" i="1" dirty="0">
                <a:solidFill>
                  <a:schemeClr val="tx1">
                    <a:lumMod val="50000"/>
                  </a:schemeClr>
                </a:solidFill>
                <a:cs typeface="+mn-ea"/>
              </a:rPr>
              <a:t>场景下标准为 </a:t>
            </a:r>
            <a:r>
              <a:rPr kumimoji="1" lang="en-US" altLang="zh-CN" sz="1200" i="1" dirty="0">
                <a:solidFill>
                  <a:schemeClr val="tx1">
                    <a:lumMod val="50000"/>
                  </a:schemeClr>
                </a:solidFill>
                <a:cs typeface="+mn-ea"/>
              </a:rPr>
              <a:t>&lt; 1e12</a:t>
            </a:r>
            <a:r>
              <a:rPr kumimoji="1" lang="zh-CN" altLang="en-US" sz="1200" i="1" dirty="0">
                <a:solidFill>
                  <a:schemeClr val="tx1">
                    <a:lumMod val="50000"/>
                  </a:schemeClr>
                </a:solidFill>
                <a:cs typeface="+mn-ea"/>
              </a:rPr>
              <a:t>，代表平均传输一万亿比特，出现</a:t>
            </a:r>
            <a:r>
              <a:rPr kumimoji="1" lang="en-US" altLang="zh-CN" sz="1200" i="1" dirty="0">
                <a:solidFill>
                  <a:schemeClr val="tx1">
                    <a:lumMod val="50000"/>
                  </a:schemeClr>
                </a:solidFill>
                <a:cs typeface="+mn-ea"/>
              </a:rPr>
              <a:t>1</a:t>
            </a:r>
            <a:r>
              <a:rPr kumimoji="1" lang="zh-CN" altLang="en-US" sz="1200" i="1" dirty="0">
                <a:solidFill>
                  <a:schemeClr val="tx1">
                    <a:lumMod val="50000"/>
                  </a:schemeClr>
                </a:solidFill>
                <a:cs typeface="+mn-ea"/>
              </a:rPr>
              <a:t>比特错误</a:t>
            </a:r>
            <a:endParaRPr kumimoji="1" lang="en-US" altLang="zh-CN" sz="1200" i="1" dirty="0">
              <a:solidFill>
                <a:schemeClr val="tx1">
                  <a:lumMod val="50000"/>
                </a:schemeClr>
              </a:solidFill>
              <a:cs typeface="+mn-ea"/>
              <a:sym typeface="+mn-lt"/>
            </a:endParaRPr>
          </a:p>
        </p:txBody>
      </p:sp>
    </p:spTree>
    <p:extLst>
      <p:ext uri="{BB962C8B-B14F-4D97-AF65-F5344CB8AC3E}">
        <p14:creationId xmlns:p14="http://schemas.microsoft.com/office/powerpoint/2010/main" val="1740705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DB18A-A612-81D0-A2EB-7A43E173C26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77F1ACE-62DC-6BFF-33F3-2B9D22D2B23F}"/>
              </a:ext>
            </a:extLst>
          </p:cNvPr>
          <p:cNvGraphicFramePr>
            <a:graphicFrameLocks noChangeAspect="1"/>
          </p:cNvGraphicFramePr>
          <p:nvPr>
            <p:custDataLst>
              <p:tags r:id="rId1"/>
            </p:custDataLst>
            <p:extLst>
              <p:ext uri="{D42A27DB-BD31-4B8C-83A1-F6EECF244321}">
                <p14:modId xmlns:p14="http://schemas.microsoft.com/office/powerpoint/2010/main" val="35446543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6" imgW="404" imgH="405" progId="TCLayout.ActiveDocument.1">
                  <p:embed/>
                </p:oleObj>
              </mc:Choice>
              <mc:Fallback>
                <p:oleObj name="think-cell 幻灯片" r:id="rId16" imgW="404" imgH="405" progId="TCLayout.ActiveDocument.1">
                  <p:embed/>
                  <p:pic>
                    <p:nvPicPr>
                      <p:cNvPr id="5" name="think-cell data - do not delete" hidden="1">
                        <a:extLst>
                          <a:ext uri="{FF2B5EF4-FFF2-40B4-BE49-F238E27FC236}">
                            <a16:creationId xmlns:a16="http://schemas.microsoft.com/office/drawing/2014/main" id="{B1B79062-AB10-AD66-28A3-873272074B86}"/>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91" name="矩形 90">
            <a:extLst>
              <a:ext uri="{FF2B5EF4-FFF2-40B4-BE49-F238E27FC236}">
                <a16:creationId xmlns:a16="http://schemas.microsoft.com/office/drawing/2014/main" id="{2A75B2E2-D37D-930E-3B33-EF1FA065535C}"/>
              </a:ext>
            </a:extLst>
          </p:cNvPr>
          <p:cNvSpPr/>
          <p:nvPr/>
        </p:nvSpPr>
        <p:spPr>
          <a:xfrm>
            <a:off x="7219107" y="2149555"/>
            <a:ext cx="3578478" cy="1849644"/>
          </a:xfrm>
          <a:prstGeom prst="rect">
            <a:avLst/>
          </a:prstGeom>
          <a:solidFill>
            <a:srgbClr val="C1E1FE">
              <a:alpha val="25000"/>
            </a:srgbClr>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85" name="矩形 84">
            <a:extLst>
              <a:ext uri="{FF2B5EF4-FFF2-40B4-BE49-F238E27FC236}">
                <a16:creationId xmlns:a16="http://schemas.microsoft.com/office/drawing/2014/main" id="{51C27984-14BA-3117-3032-E80831A01721}"/>
              </a:ext>
            </a:extLst>
          </p:cNvPr>
          <p:cNvSpPr/>
          <p:nvPr/>
        </p:nvSpPr>
        <p:spPr>
          <a:xfrm>
            <a:off x="7219107" y="4039673"/>
            <a:ext cx="3584584" cy="1478239"/>
          </a:xfrm>
          <a:prstGeom prst="rect">
            <a:avLst/>
          </a:prstGeom>
          <a:solidFill>
            <a:srgbClr val="D9D9D9">
              <a:alpha val="25000"/>
            </a:srgbClr>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aphicFrame>
        <p:nvGraphicFramePr>
          <p:cNvPr id="170" name="图表 169">
            <a:extLst>
              <a:ext uri="{FF2B5EF4-FFF2-40B4-BE49-F238E27FC236}">
                <a16:creationId xmlns:a16="http://schemas.microsoft.com/office/drawing/2014/main" id="{1987FD83-4562-496F-1F5C-FF0AE6A9FED6}"/>
              </a:ext>
            </a:extLst>
          </p:cNvPr>
          <p:cNvGraphicFramePr>
            <a:graphicFrameLocks/>
          </p:cNvGraphicFramePr>
          <p:nvPr>
            <p:extLst>
              <p:ext uri="{D42A27DB-BD31-4B8C-83A1-F6EECF244321}">
                <p14:modId xmlns:p14="http://schemas.microsoft.com/office/powerpoint/2010/main" val="970872902"/>
              </p:ext>
            </p:extLst>
          </p:nvPr>
        </p:nvGraphicFramePr>
        <p:xfrm>
          <a:off x="6762206" y="2381331"/>
          <a:ext cx="4398145" cy="3704850"/>
        </p:xfrm>
        <a:graphic>
          <a:graphicData uri="http://schemas.openxmlformats.org/drawingml/2006/chart">
            <c:chart xmlns:c="http://schemas.openxmlformats.org/drawingml/2006/chart" xmlns:r="http://schemas.openxmlformats.org/officeDocument/2006/relationships" r:id="rId18"/>
          </a:graphicData>
        </a:graphic>
      </p:graphicFrame>
      <p:sp>
        <p:nvSpPr>
          <p:cNvPr id="116" name="Text Placeholder 4">
            <a:extLst>
              <a:ext uri="{FF2B5EF4-FFF2-40B4-BE49-F238E27FC236}">
                <a16:creationId xmlns:a16="http://schemas.microsoft.com/office/drawing/2014/main" id="{807F10EC-ADEC-73F9-6554-6EB9ED0A117A}"/>
              </a:ext>
            </a:extLst>
          </p:cNvPr>
          <p:cNvSpPr txBox="1">
            <a:spLocks/>
          </p:cNvSpPr>
          <p:nvPr>
            <p:custDataLst>
              <p:tags r:id="rId2"/>
            </p:custDataLst>
          </p:nvPr>
        </p:nvSpPr>
        <p:spPr bwMode="auto">
          <a:xfrm>
            <a:off x="10956617" y="3325720"/>
            <a:ext cx="803486" cy="280029"/>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zh-CN" altLang="en-US" b="1" dirty="0">
                <a:solidFill>
                  <a:srgbClr val="0052D9"/>
                </a:solidFill>
                <a:latin typeface="+mn-lt"/>
                <a:ea typeface="+mn-ea"/>
                <a:cs typeface="+mn-ea"/>
                <a:sym typeface="+mn-lt"/>
              </a:rPr>
              <a:t>光互连</a:t>
            </a:r>
          </a:p>
        </p:txBody>
      </p:sp>
      <p:sp>
        <p:nvSpPr>
          <p:cNvPr id="121" name="Text Placeholder 4">
            <a:extLst>
              <a:ext uri="{FF2B5EF4-FFF2-40B4-BE49-F238E27FC236}">
                <a16:creationId xmlns:a16="http://schemas.microsoft.com/office/drawing/2014/main" id="{EEB2B4E0-7BAA-AEAB-AF03-71285B868F39}"/>
              </a:ext>
            </a:extLst>
          </p:cNvPr>
          <p:cNvSpPr txBox="1">
            <a:spLocks/>
          </p:cNvSpPr>
          <p:nvPr>
            <p:custDataLst>
              <p:tags r:id="rId3"/>
            </p:custDataLst>
          </p:nvPr>
        </p:nvSpPr>
        <p:spPr bwMode="auto">
          <a:xfrm>
            <a:off x="7225826" y="2681467"/>
            <a:ext cx="1231792" cy="280029"/>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zh-CN" altLang="en-US" sz="1200" dirty="0">
                <a:latin typeface="+mn-lt"/>
                <a:ea typeface="+mn-ea"/>
                <a:cs typeface="+mn-ea"/>
                <a:sym typeface="+mn-lt"/>
              </a:rPr>
              <a:t>上限</a:t>
            </a:r>
            <a:r>
              <a:rPr lang="en-US" altLang="zh-CN" sz="1200" dirty="0">
                <a:latin typeface="+mn-lt"/>
                <a:ea typeface="+mn-ea"/>
                <a:cs typeface="+mn-ea"/>
                <a:sym typeface="+mn-lt"/>
              </a:rPr>
              <a:t>1.6Tbp/s</a:t>
            </a:r>
          </a:p>
          <a:p>
            <a:pPr>
              <a:spcBef>
                <a:spcPct val="0"/>
              </a:spcBef>
              <a:spcAft>
                <a:spcPct val="0"/>
              </a:spcAft>
            </a:pPr>
            <a:r>
              <a:rPr lang="zh-CN" altLang="en-US" sz="1200" b="1" dirty="0">
                <a:latin typeface="+mn-lt"/>
                <a:ea typeface="+mn-ea"/>
                <a:cs typeface="+mn-ea"/>
                <a:sym typeface="+mn-lt"/>
              </a:rPr>
              <a:t>可插拔光模块</a:t>
            </a:r>
            <a:endParaRPr lang="en-US" altLang="zh-CN" sz="1200" b="1" dirty="0">
              <a:latin typeface="+mn-lt"/>
              <a:ea typeface="+mn-ea"/>
              <a:cs typeface="+mn-ea"/>
              <a:sym typeface="+mn-lt"/>
            </a:endParaRPr>
          </a:p>
        </p:txBody>
      </p:sp>
      <p:sp>
        <p:nvSpPr>
          <p:cNvPr id="126" name="Text Placeholder 4">
            <a:extLst>
              <a:ext uri="{FF2B5EF4-FFF2-40B4-BE49-F238E27FC236}">
                <a16:creationId xmlns:a16="http://schemas.microsoft.com/office/drawing/2014/main" id="{F7E52F83-B906-C63C-D683-335A742EE245}"/>
              </a:ext>
            </a:extLst>
          </p:cNvPr>
          <p:cNvSpPr txBox="1">
            <a:spLocks/>
          </p:cNvSpPr>
          <p:nvPr>
            <p:custDataLst>
              <p:tags r:id="rId4"/>
            </p:custDataLst>
          </p:nvPr>
        </p:nvSpPr>
        <p:spPr bwMode="auto">
          <a:xfrm>
            <a:off x="7244051" y="2256287"/>
            <a:ext cx="1231792" cy="279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zh-CN" altLang="en-US" sz="1200" dirty="0">
                <a:latin typeface="+mn-lt"/>
                <a:ea typeface="+mn-ea"/>
                <a:cs typeface="+mn-ea"/>
                <a:sym typeface="+mn-lt"/>
              </a:rPr>
              <a:t>上限</a:t>
            </a:r>
            <a:r>
              <a:rPr lang="en-US" altLang="zh-CN" sz="1200" dirty="0">
                <a:latin typeface="+mn-lt"/>
                <a:ea typeface="+mn-ea"/>
                <a:cs typeface="+mn-ea"/>
                <a:sym typeface="+mn-lt"/>
              </a:rPr>
              <a:t>6.4Tbp/s</a:t>
            </a:r>
          </a:p>
          <a:p>
            <a:pPr>
              <a:spcBef>
                <a:spcPct val="0"/>
              </a:spcBef>
              <a:spcAft>
                <a:spcPct val="0"/>
              </a:spcAft>
            </a:pPr>
            <a:r>
              <a:rPr lang="en-US" altLang="zh-CN" sz="1600" b="1" dirty="0">
                <a:latin typeface="+mn-lt"/>
                <a:ea typeface="+mn-ea"/>
                <a:cs typeface="+mn-ea"/>
                <a:sym typeface="+mn-lt"/>
              </a:rPr>
              <a:t>CPO</a:t>
            </a:r>
          </a:p>
        </p:txBody>
      </p:sp>
      <p:sp>
        <p:nvSpPr>
          <p:cNvPr id="140" name="Text Placeholder 4">
            <a:extLst>
              <a:ext uri="{FF2B5EF4-FFF2-40B4-BE49-F238E27FC236}">
                <a16:creationId xmlns:a16="http://schemas.microsoft.com/office/drawing/2014/main" id="{633B19CE-4887-7952-2D13-649B2FB8D7FB}"/>
              </a:ext>
            </a:extLst>
          </p:cNvPr>
          <p:cNvSpPr txBox="1">
            <a:spLocks/>
          </p:cNvSpPr>
          <p:nvPr>
            <p:custDataLst>
              <p:tags r:id="rId5"/>
            </p:custDataLst>
          </p:nvPr>
        </p:nvSpPr>
        <p:spPr bwMode="auto">
          <a:xfrm>
            <a:off x="10962789" y="4609608"/>
            <a:ext cx="803486" cy="280029"/>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zh-CN" altLang="en-US" b="1" dirty="0">
                <a:solidFill>
                  <a:schemeClr val="tx2">
                    <a:lumMod val="50000"/>
                  </a:schemeClr>
                </a:solidFill>
                <a:latin typeface="+mn-lt"/>
                <a:ea typeface="+mn-ea"/>
                <a:cs typeface="+mn-ea"/>
                <a:sym typeface="+mn-lt"/>
              </a:rPr>
              <a:t>铜互连</a:t>
            </a:r>
          </a:p>
        </p:txBody>
      </p:sp>
      <p:cxnSp>
        <p:nvCxnSpPr>
          <p:cNvPr id="144" name="直接连接符 143">
            <a:extLst>
              <a:ext uri="{FF2B5EF4-FFF2-40B4-BE49-F238E27FC236}">
                <a16:creationId xmlns:a16="http://schemas.microsoft.com/office/drawing/2014/main" id="{B3E2BD4A-657D-A020-D137-31054771F2F9}"/>
              </a:ext>
            </a:extLst>
          </p:cNvPr>
          <p:cNvCxnSpPr>
            <a:cxnSpLocks/>
          </p:cNvCxnSpPr>
          <p:nvPr/>
        </p:nvCxnSpPr>
        <p:spPr>
          <a:xfrm>
            <a:off x="7288198" y="2610148"/>
            <a:ext cx="3379481" cy="0"/>
          </a:xfrm>
          <a:prstGeom prst="line">
            <a:avLst/>
          </a:prstGeom>
          <a:ln>
            <a:solidFill>
              <a:schemeClr val="tx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61518263-54BA-16B5-9CE4-5D013E91E44B}"/>
              </a:ext>
            </a:extLst>
          </p:cNvPr>
          <p:cNvSpPr>
            <a:spLocks noGrp="1"/>
          </p:cNvSpPr>
          <p:nvPr>
            <p:ph type="title"/>
          </p:nvPr>
        </p:nvSpPr>
        <p:spPr>
          <a:xfrm>
            <a:off x="263143" y="159198"/>
            <a:ext cx="9677146" cy="731520"/>
          </a:xfrm>
        </p:spPr>
        <p:txBody>
          <a:bodyPr vert="horz"/>
          <a:lstStyle/>
          <a:p>
            <a:r>
              <a:rPr lang="zh-CN" altLang="en-US" dirty="0">
                <a:latin typeface="+mn-lt"/>
                <a:ea typeface="+mn-ea"/>
                <a:cs typeface="+mn-ea"/>
                <a:sym typeface="+mn-lt"/>
              </a:rPr>
              <a:t>铜互连速率成为</a:t>
            </a:r>
            <a:r>
              <a:rPr lang="en-US" altLang="zh-CN" dirty="0">
                <a:latin typeface="+mn-lt"/>
                <a:ea typeface="+mn-ea"/>
                <a:cs typeface="+mn-ea"/>
                <a:sym typeface="+mn-lt"/>
              </a:rPr>
              <a:t>IDC</a:t>
            </a:r>
            <a:r>
              <a:rPr lang="zh-CN" altLang="en-US" dirty="0">
                <a:latin typeface="+mn-lt"/>
                <a:ea typeface="+mn-ea"/>
                <a:cs typeface="+mn-ea"/>
                <a:sym typeface="+mn-lt"/>
              </a:rPr>
              <a:t>算力释放瓶颈，光互连可突破铜互连速率上限</a:t>
            </a:r>
          </a:p>
        </p:txBody>
      </p:sp>
      <p:sp>
        <p:nvSpPr>
          <p:cNvPr id="62" name="文本框 61">
            <a:extLst>
              <a:ext uri="{FF2B5EF4-FFF2-40B4-BE49-F238E27FC236}">
                <a16:creationId xmlns:a16="http://schemas.microsoft.com/office/drawing/2014/main" id="{347A6CDC-24B1-60EE-BA29-CB2E35B197DC}"/>
              </a:ext>
            </a:extLst>
          </p:cNvPr>
          <p:cNvSpPr txBox="1"/>
          <p:nvPr/>
        </p:nvSpPr>
        <p:spPr>
          <a:xfrm>
            <a:off x="395404" y="5990163"/>
            <a:ext cx="6536586"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200" i="1" dirty="0">
                <a:solidFill>
                  <a:schemeClr val="tx1">
                    <a:lumMod val="50000"/>
                  </a:schemeClr>
                </a:solidFill>
                <a:cs typeface="+mn-ea"/>
                <a:sym typeface="+mn-lt"/>
              </a:rPr>
              <a:t>Source:</a:t>
            </a:r>
            <a:r>
              <a:rPr kumimoji="1" lang="zh-CN" altLang="en-US" sz="1200" i="1" dirty="0">
                <a:solidFill>
                  <a:schemeClr val="tx1">
                    <a:lumMod val="50000"/>
                  </a:schemeClr>
                </a:solidFill>
                <a:cs typeface="+mn-ea"/>
                <a:sym typeface="+mn-lt"/>
              </a:rPr>
              <a:t> </a:t>
            </a:r>
            <a:r>
              <a:rPr kumimoji="1" lang="en-US" altLang="zh-CN" sz="1200" i="1" dirty="0">
                <a:solidFill>
                  <a:schemeClr val="tx1">
                    <a:lumMod val="50000"/>
                  </a:schemeClr>
                </a:solidFill>
                <a:cs typeface="+mn-ea"/>
                <a:sym typeface="+mn-lt"/>
              </a:rPr>
              <a:t>Nvidia</a:t>
            </a:r>
            <a:endParaRPr kumimoji="1" lang="en-US" altLang="zh-CN" sz="1200" dirty="0">
              <a:solidFill>
                <a:schemeClr val="tx1">
                  <a:lumMod val="50000"/>
                </a:schemeClr>
              </a:solidFill>
              <a:cs typeface="+mn-ea"/>
              <a:sym typeface="+mn-lt"/>
            </a:endParaRPr>
          </a:p>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InfiniBand</a:t>
            </a:r>
            <a:r>
              <a:rPr kumimoji="1" lang="zh-CN" altLang="en-US" sz="1200" i="1" dirty="0">
                <a:solidFill>
                  <a:schemeClr val="tx1">
                    <a:lumMod val="50000"/>
                  </a:schemeClr>
                </a:solidFill>
                <a:cs typeface="+mn-ea"/>
                <a:sym typeface="+mn-lt"/>
              </a:rPr>
              <a:t>网卡带宽</a:t>
            </a:r>
            <a:endParaRPr kumimoji="1" lang="en-US" altLang="zh-CN" sz="1200" i="1" dirty="0">
              <a:solidFill>
                <a:schemeClr val="tx1">
                  <a:lumMod val="50000"/>
                </a:schemeClr>
              </a:solidFill>
              <a:cs typeface="+mn-ea"/>
              <a:sym typeface="+mn-lt"/>
            </a:endParaRPr>
          </a:p>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2</a:t>
            </a:r>
            <a:r>
              <a:rPr kumimoji="1" lang="zh-CN" altLang="en-US" sz="1200" i="1" dirty="0">
                <a:solidFill>
                  <a:schemeClr val="tx1">
                    <a:lumMod val="50000"/>
                  </a:schemeClr>
                </a:solidFill>
                <a:cs typeface="+mn-ea"/>
                <a:sym typeface="+mn-lt"/>
              </a:rPr>
              <a:t>：有效传输速率，保证误码率不超过可用临界值的稳定传输速率</a:t>
            </a:r>
          </a:p>
        </p:txBody>
      </p:sp>
      <p:sp>
        <p:nvSpPr>
          <p:cNvPr id="55" name="文本框 54">
            <a:extLst>
              <a:ext uri="{FF2B5EF4-FFF2-40B4-BE49-F238E27FC236}">
                <a16:creationId xmlns:a16="http://schemas.microsoft.com/office/drawing/2014/main" id="{AA5F3160-738C-87C5-A795-B056FD86FF71}"/>
              </a:ext>
            </a:extLst>
          </p:cNvPr>
          <p:cNvSpPr txBox="1"/>
          <p:nvPr/>
        </p:nvSpPr>
        <p:spPr>
          <a:xfrm>
            <a:off x="6181999" y="1261308"/>
            <a:ext cx="5130761" cy="301625"/>
          </a:xfrm>
          <a:prstGeom prst="rect">
            <a:avLst/>
          </a:prstGeom>
          <a:ln w="6350">
            <a:noFill/>
            <a:miter lim="800000"/>
          </a:ln>
        </p:spPr>
        <p:txBody>
          <a:bodyPr vert="horz" wrap="square" lIns="0" tIns="0" rIns="0" bIns="0" rtlCol="0">
            <a:noAutofit/>
          </a:bodyPr>
          <a:lstStyle/>
          <a:p>
            <a:pPr marL="285750" indent="-285750" algn="l">
              <a:spcBef>
                <a:spcPts val="300"/>
              </a:spcBef>
              <a:spcAft>
                <a:spcPts val="300"/>
              </a:spcAft>
              <a:buFont typeface="Arial" panose="020B0604020202020204" pitchFamily="34" charset="0"/>
              <a:buChar char="•"/>
            </a:pPr>
            <a:endParaRPr kumimoji="1" lang="zh-CN" altLang="en-US" sz="1600" dirty="0">
              <a:solidFill>
                <a:schemeClr val="tx1">
                  <a:lumMod val="50000"/>
                </a:schemeClr>
              </a:solidFill>
              <a:cs typeface="+mn-ea"/>
              <a:sym typeface="+mn-lt"/>
            </a:endParaRPr>
          </a:p>
        </p:txBody>
      </p:sp>
      <p:sp>
        <p:nvSpPr>
          <p:cNvPr id="153" name="文本框 152">
            <a:extLst>
              <a:ext uri="{FF2B5EF4-FFF2-40B4-BE49-F238E27FC236}">
                <a16:creationId xmlns:a16="http://schemas.microsoft.com/office/drawing/2014/main" id="{B8C5B985-123B-5E5B-694E-C5248B1DAF9C}"/>
              </a:ext>
            </a:extLst>
          </p:cNvPr>
          <p:cNvSpPr txBox="1"/>
          <p:nvPr/>
        </p:nvSpPr>
        <p:spPr>
          <a:xfrm>
            <a:off x="6435999" y="1529170"/>
            <a:ext cx="5269570" cy="328613"/>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en-US" altLang="zh-CN" dirty="0" err="1">
                <a:solidFill>
                  <a:schemeClr val="tx1">
                    <a:lumMod val="50000"/>
                  </a:schemeClr>
                </a:solidFill>
                <a:cs typeface="+mn-ea"/>
                <a:sym typeface="+mn-lt"/>
              </a:rPr>
              <a:t>NVLink</a:t>
            </a:r>
            <a:r>
              <a:rPr kumimoji="1" lang="zh-CN" altLang="en-US" dirty="0">
                <a:solidFill>
                  <a:schemeClr val="tx1">
                    <a:lumMod val="50000"/>
                  </a:schemeClr>
                </a:solidFill>
                <a:cs typeface="+mn-ea"/>
                <a:sym typeface="+mn-lt"/>
              </a:rPr>
              <a:t>单通道触达</a:t>
            </a:r>
            <a:r>
              <a:rPr kumimoji="1" lang="zh-CN" altLang="zh-CN" dirty="0">
                <a:solidFill>
                  <a:schemeClr val="tx1">
                    <a:lumMod val="50000"/>
                  </a:schemeClr>
                </a:solidFill>
                <a:cs typeface="+mn-ea"/>
                <a:sym typeface="+mn-lt"/>
              </a:rPr>
              <a:t>铜互连</a:t>
            </a:r>
            <a:r>
              <a:rPr kumimoji="1" lang="zh-CN" altLang="en-US" b="1" dirty="0">
                <a:solidFill>
                  <a:srgbClr val="0052D9"/>
                </a:solidFill>
                <a:cs typeface="+mn-ea"/>
                <a:sym typeface="+mn-lt"/>
              </a:rPr>
              <a:t>有效</a:t>
            </a:r>
            <a:r>
              <a:rPr kumimoji="1" lang="zh-CN" altLang="zh-CN" b="1" dirty="0">
                <a:solidFill>
                  <a:srgbClr val="0052D9"/>
                </a:solidFill>
                <a:cs typeface="+mn-ea"/>
                <a:sym typeface="+mn-lt"/>
              </a:rPr>
              <a:t>传输速率</a:t>
            </a:r>
            <a:r>
              <a:rPr kumimoji="1" lang="en-US" altLang="zh-CN" b="1" baseline="30000" dirty="0">
                <a:solidFill>
                  <a:srgbClr val="0052D9"/>
                </a:solidFill>
                <a:cs typeface="+mn-ea"/>
                <a:sym typeface="+mn-lt"/>
              </a:rPr>
              <a:t>2</a:t>
            </a:r>
            <a:r>
              <a:rPr kumimoji="1" lang="zh-CN" altLang="en-US" dirty="0">
                <a:solidFill>
                  <a:schemeClr val="tx1">
                    <a:lumMod val="50000"/>
                  </a:schemeClr>
                </a:solidFill>
                <a:cs typeface="+mn-ea"/>
                <a:sym typeface="+mn-lt"/>
              </a:rPr>
              <a:t>极限</a:t>
            </a:r>
            <a:r>
              <a:rPr kumimoji="1" lang="en-US" altLang="zh-CN" b="1" dirty="0">
                <a:solidFill>
                  <a:srgbClr val="0052D9"/>
                </a:solidFill>
                <a:cs typeface="+mn-ea"/>
                <a:sym typeface="+mn-lt"/>
              </a:rPr>
              <a:t>224Gbps</a:t>
            </a:r>
            <a:r>
              <a:rPr kumimoji="1" lang="zh-CN" altLang="en-US" dirty="0">
                <a:solidFill>
                  <a:schemeClr val="tx1">
                    <a:lumMod val="50000"/>
                  </a:schemeClr>
                </a:solidFill>
                <a:cs typeface="+mn-ea"/>
                <a:sym typeface="+mn-lt"/>
              </a:rPr>
              <a:t>，光互连</a:t>
            </a:r>
            <a:r>
              <a:rPr kumimoji="1" lang="en-US" altLang="zh-CN" dirty="0">
                <a:solidFill>
                  <a:schemeClr val="tx1">
                    <a:lumMod val="50000"/>
                  </a:schemeClr>
                </a:solidFill>
                <a:cs typeface="+mn-ea"/>
                <a:sym typeface="+mn-lt"/>
              </a:rPr>
              <a:t>&gt;800Gbp/s</a:t>
            </a:r>
            <a:r>
              <a:rPr kumimoji="1" lang="zh-CN" altLang="en-US" dirty="0">
                <a:solidFill>
                  <a:schemeClr val="tx1">
                    <a:lumMod val="50000"/>
                  </a:schemeClr>
                </a:solidFill>
                <a:cs typeface="+mn-ea"/>
                <a:sym typeface="+mn-lt"/>
              </a:rPr>
              <a:t>可支持算力扩充</a:t>
            </a:r>
            <a:endParaRPr kumimoji="1" lang="en-US" altLang="zh-CN" dirty="0">
              <a:solidFill>
                <a:schemeClr val="tx1">
                  <a:lumMod val="50000"/>
                </a:schemeClr>
              </a:solidFill>
              <a:cs typeface="+mn-ea"/>
              <a:sym typeface="+mn-lt"/>
            </a:endParaRPr>
          </a:p>
        </p:txBody>
      </p:sp>
      <p:sp>
        <p:nvSpPr>
          <p:cNvPr id="164" name="Text Placeholder 4">
            <a:extLst>
              <a:ext uri="{FF2B5EF4-FFF2-40B4-BE49-F238E27FC236}">
                <a16:creationId xmlns:a16="http://schemas.microsoft.com/office/drawing/2014/main" id="{CC1B76EA-80C4-9E0C-FE26-828AA4BD346A}"/>
              </a:ext>
            </a:extLst>
          </p:cNvPr>
          <p:cNvSpPr txBox="1">
            <a:spLocks/>
          </p:cNvSpPr>
          <p:nvPr>
            <p:custDataLst>
              <p:tags r:id="rId6"/>
            </p:custDataLst>
          </p:nvPr>
        </p:nvSpPr>
        <p:spPr bwMode="auto">
          <a:xfrm>
            <a:off x="8297035" y="4740132"/>
            <a:ext cx="803486" cy="280029"/>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en-US" altLang="zh-CN" sz="1200" b="1" dirty="0">
                <a:latin typeface="+mn-lt"/>
                <a:ea typeface="+mn-ea"/>
                <a:cs typeface="+mn-ea"/>
                <a:sym typeface="+mn-lt"/>
              </a:rPr>
              <a:t>H100</a:t>
            </a:r>
            <a:endParaRPr lang="zh-CN" altLang="en-US" sz="1200" b="1" dirty="0">
              <a:latin typeface="+mn-lt"/>
              <a:ea typeface="+mn-ea"/>
              <a:cs typeface="+mn-ea"/>
              <a:sym typeface="+mn-lt"/>
            </a:endParaRPr>
          </a:p>
        </p:txBody>
      </p:sp>
      <p:sp>
        <p:nvSpPr>
          <p:cNvPr id="165" name="Text Placeholder 4">
            <a:extLst>
              <a:ext uri="{FF2B5EF4-FFF2-40B4-BE49-F238E27FC236}">
                <a16:creationId xmlns:a16="http://schemas.microsoft.com/office/drawing/2014/main" id="{F66D4AB4-3C0B-4878-7716-B4AC555CDE0A}"/>
              </a:ext>
            </a:extLst>
          </p:cNvPr>
          <p:cNvSpPr txBox="1">
            <a:spLocks/>
          </p:cNvSpPr>
          <p:nvPr>
            <p:custDataLst>
              <p:tags r:id="rId7"/>
            </p:custDataLst>
          </p:nvPr>
        </p:nvSpPr>
        <p:spPr bwMode="auto">
          <a:xfrm>
            <a:off x="7420040" y="5069992"/>
            <a:ext cx="803486" cy="280029"/>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en-US" altLang="zh-CN" sz="1200" b="1" dirty="0">
                <a:latin typeface="+mn-lt"/>
                <a:ea typeface="+mn-ea"/>
                <a:cs typeface="+mn-ea"/>
                <a:sym typeface="+mn-lt"/>
              </a:rPr>
              <a:t>A100</a:t>
            </a:r>
            <a:endParaRPr lang="zh-CN" altLang="en-US" sz="1200" b="1" dirty="0">
              <a:latin typeface="+mn-lt"/>
              <a:ea typeface="+mn-ea"/>
              <a:cs typeface="+mn-ea"/>
              <a:sym typeface="+mn-lt"/>
            </a:endParaRPr>
          </a:p>
        </p:txBody>
      </p:sp>
      <p:sp>
        <p:nvSpPr>
          <p:cNvPr id="176" name="Text Placeholder 4">
            <a:extLst>
              <a:ext uri="{FF2B5EF4-FFF2-40B4-BE49-F238E27FC236}">
                <a16:creationId xmlns:a16="http://schemas.microsoft.com/office/drawing/2014/main" id="{7779F627-F2EA-D7A9-F0EA-94AB8399BED4}"/>
              </a:ext>
            </a:extLst>
          </p:cNvPr>
          <p:cNvSpPr txBox="1">
            <a:spLocks/>
          </p:cNvSpPr>
          <p:nvPr>
            <p:custDataLst>
              <p:tags r:id="rId8"/>
            </p:custDataLst>
          </p:nvPr>
        </p:nvSpPr>
        <p:spPr bwMode="auto">
          <a:xfrm>
            <a:off x="9150041" y="4210281"/>
            <a:ext cx="803486" cy="280029"/>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en-US" altLang="zh-CN" sz="1200" b="1" dirty="0">
                <a:latin typeface="+mn-lt"/>
                <a:ea typeface="+mn-ea"/>
                <a:cs typeface="+mn-ea"/>
                <a:sym typeface="+mn-lt"/>
              </a:rPr>
              <a:t>B100</a:t>
            </a:r>
            <a:endParaRPr lang="zh-CN" altLang="en-US" sz="1200" b="1" dirty="0">
              <a:latin typeface="+mn-lt"/>
              <a:ea typeface="+mn-ea"/>
              <a:cs typeface="+mn-ea"/>
              <a:sym typeface="+mn-lt"/>
            </a:endParaRPr>
          </a:p>
        </p:txBody>
      </p:sp>
      <p:graphicFrame>
        <p:nvGraphicFramePr>
          <p:cNvPr id="3" name="图表 2">
            <a:extLst>
              <a:ext uri="{FF2B5EF4-FFF2-40B4-BE49-F238E27FC236}">
                <a16:creationId xmlns:a16="http://schemas.microsoft.com/office/drawing/2014/main" id="{40C3D0EE-0AAE-5FDA-C19D-D60482CFEB6C}"/>
              </a:ext>
            </a:extLst>
          </p:cNvPr>
          <p:cNvGraphicFramePr>
            <a:graphicFrameLocks/>
          </p:cNvGraphicFramePr>
          <p:nvPr>
            <p:extLst>
              <p:ext uri="{D42A27DB-BD31-4B8C-83A1-F6EECF244321}">
                <p14:modId xmlns:p14="http://schemas.microsoft.com/office/powerpoint/2010/main" val="1684642023"/>
              </p:ext>
            </p:extLst>
          </p:nvPr>
        </p:nvGraphicFramePr>
        <p:xfrm>
          <a:off x="406016" y="2028367"/>
          <a:ext cx="4792881" cy="3672051"/>
        </p:xfrm>
        <a:graphic>
          <a:graphicData uri="http://schemas.openxmlformats.org/drawingml/2006/chart">
            <c:chart xmlns:c="http://schemas.openxmlformats.org/drawingml/2006/chart" xmlns:r="http://schemas.openxmlformats.org/officeDocument/2006/relationships" r:id="rId19"/>
          </a:graphicData>
        </a:graphic>
      </p:graphicFrame>
      <p:grpSp>
        <p:nvGrpSpPr>
          <p:cNvPr id="33" name="组合 32">
            <a:extLst>
              <a:ext uri="{FF2B5EF4-FFF2-40B4-BE49-F238E27FC236}">
                <a16:creationId xmlns:a16="http://schemas.microsoft.com/office/drawing/2014/main" id="{D830B87E-BE31-2C31-7690-D1F862E02D80}"/>
              </a:ext>
            </a:extLst>
          </p:cNvPr>
          <p:cNvGrpSpPr/>
          <p:nvPr/>
        </p:nvGrpSpPr>
        <p:grpSpPr>
          <a:xfrm>
            <a:off x="504186" y="971862"/>
            <a:ext cx="11708217" cy="503758"/>
            <a:chOff x="504186" y="971862"/>
            <a:chExt cx="11708217" cy="503758"/>
          </a:xfrm>
        </p:grpSpPr>
        <p:sp>
          <p:nvSpPr>
            <p:cNvPr id="65" name="文本框 64">
              <a:extLst>
                <a:ext uri="{FF2B5EF4-FFF2-40B4-BE49-F238E27FC236}">
                  <a16:creationId xmlns:a16="http://schemas.microsoft.com/office/drawing/2014/main" id="{BCE16986-4D40-A41A-E6B6-A05C05606FD1}"/>
                </a:ext>
              </a:extLst>
            </p:cNvPr>
            <p:cNvSpPr txBox="1"/>
            <p:nvPr/>
          </p:nvSpPr>
          <p:spPr>
            <a:xfrm>
              <a:off x="6326494" y="976464"/>
              <a:ext cx="5885909" cy="30162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zh-CN" altLang="en-US" b="1" dirty="0">
                  <a:solidFill>
                    <a:schemeClr val="accent6">
                      <a:lumMod val="10000"/>
                    </a:schemeClr>
                  </a:solidFill>
                  <a:cs typeface="+mn-ea"/>
                  <a:sym typeface="+mn-lt"/>
                </a:rPr>
                <a:t>铜 </a:t>
              </a:r>
              <a:r>
                <a:rPr kumimoji="1" lang="en-US" altLang="zh-CN" b="1" dirty="0">
                  <a:solidFill>
                    <a:schemeClr val="accent6">
                      <a:lumMod val="10000"/>
                    </a:schemeClr>
                  </a:solidFill>
                  <a:cs typeface="+mn-ea"/>
                  <a:sym typeface="+mn-lt"/>
                </a:rPr>
                <a:t>=&gt; </a:t>
              </a:r>
              <a:r>
                <a:rPr kumimoji="1" lang="zh-CN" altLang="en-US" b="1" dirty="0">
                  <a:solidFill>
                    <a:schemeClr val="accent6">
                      <a:lumMod val="10000"/>
                    </a:schemeClr>
                  </a:solidFill>
                  <a:cs typeface="+mn-ea"/>
                  <a:sym typeface="+mn-lt"/>
                </a:rPr>
                <a:t>光：传输速率</a:t>
              </a:r>
              <a:r>
                <a:rPr kumimoji="1" lang="en-US" altLang="zh-CN" b="1" dirty="0">
                  <a:solidFill>
                    <a:schemeClr val="accent6">
                      <a:lumMod val="10000"/>
                    </a:schemeClr>
                  </a:solidFill>
                  <a:cs typeface="+mn-ea"/>
                  <a:sym typeface="+mn-lt"/>
                </a:rPr>
                <a:t>224Gbps =&gt; 800Gbps+</a:t>
              </a:r>
              <a:endParaRPr kumimoji="1" lang="zh-CN" altLang="en-US" b="1" dirty="0">
                <a:solidFill>
                  <a:schemeClr val="accent6">
                    <a:lumMod val="10000"/>
                  </a:schemeClr>
                </a:solidFill>
                <a:cs typeface="+mn-ea"/>
                <a:sym typeface="+mn-lt"/>
              </a:endParaRPr>
            </a:p>
          </p:txBody>
        </p:sp>
        <p:sp>
          <p:nvSpPr>
            <p:cNvPr id="73" name="文本框 72">
              <a:extLst>
                <a:ext uri="{FF2B5EF4-FFF2-40B4-BE49-F238E27FC236}">
                  <a16:creationId xmlns:a16="http://schemas.microsoft.com/office/drawing/2014/main" id="{7932CE7E-7053-F560-8F79-599E34A7B976}"/>
                </a:ext>
              </a:extLst>
            </p:cNvPr>
            <p:cNvSpPr txBox="1"/>
            <p:nvPr/>
          </p:nvSpPr>
          <p:spPr>
            <a:xfrm>
              <a:off x="6172421" y="1173995"/>
              <a:ext cx="5130761" cy="301625"/>
            </a:xfrm>
            <a:prstGeom prst="rect">
              <a:avLst/>
            </a:prstGeom>
            <a:ln w="6350">
              <a:noFill/>
              <a:miter lim="800000"/>
            </a:ln>
          </p:spPr>
          <p:txBody>
            <a:bodyPr vert="horz" wrap="square" lIns="0" tIns="0" rIns="0" bIns="0" rtlCol="0">
              <a:noAutofit/>
            </a:bodyPr>
            <a:lstStyle/>
            <a:p>
              <a:pPr marL="285750" indent="-285750" algn="l">
                <a:spcBef>
                  <a:spcPts val="300"/>
                </a:spcBef>
                <a:spcAft>
                  <a:spcPts val="300"/>
                </a:spcAft>
                <a:buFont typeface="Arial" panose="020B0604020202020204" pitchFamily="34" charset="0"/>
                <a:buChar char="•"/>
              </a:pPr>
              <a:endParaRPr kumimoji="1" lang="zh-CN" altLang="en-US" sz="1600" dirty="0">
                <a:solidFill>
                  <a:schemeClr val="tx1">
                    <a:lumMod val="50000"/>
                  </a:schemeClr>
                </a:solidFill>
                <a:cs typeface="+mn-ea"/>
                <a:sym typeface="+mn-lt"/>
              </a:endParaRPr>
            </a:p>
          </p:txBody>
        </p:sp>
        <p:cxnSp>
          <p:nvCxnSpPr>
            <p:cNvPr id="89" name="直线连接符 38">
              <a:extLst>
                <a:ext uri="{FF2B5EF4-FFF2-40B4-BE49-F238E27FC236}">
                  <a16:creationId xmlns:a16="http://schemas.microsoft.com/office/drawing/2014/main" id="{A2459047-D2F5-6A93-6043-F65FE093ABAC}"/>
                </a:ext>
              </a:extLst>
            </p:cNvPr>
            <p:cNvCxnSpPr>
              <a:cxnSpLocks/>
            </p:cNvCxnSpPr>
            <p:nvPr/>
          </p:nvCxnSpPr>
          <p:spPr>
            <a:xfrm>
              <a:off x="6326494" y="1307289"/>
              <a:ext cx="5269570"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72C7B039-FE12-C778-F388-F1495DFAED31}"/>
                </a:ext>
              </a:extLst>
            </p:cNvPr>
            <p:cNvSpPr txBox="1"/>
            <p:nvPr/>
          </p:nvSpPr>
          <p:spPr>
            <a:xfrm>
              <a:off x="504186" y="971862"/>
              <a:ext cx="3873873" cy="327025"/>
            </a:xfrm>
            <a:prstGeom prst="rect">
              <a:avLst/>
            </a:prstGeom>
            <a:ln w="6350">
              <a:noFill/>
              <a:miter lim="800000"/>
            </a:ln>
          </p:spPr>
          <p:txBody>
            <a:bodyPr vert="horz" wrap="square" lIns="0" tIns="0" rIns="0" bIns="0" rtlCol="0" anchor="ctr">
              <a:noAutofit/>
            </a:bodyPr>
            <a:lstStyle/>
            <a:p>
              <a:pPr>
                <a:spcBef>
                  <a:spcPts val="600"/>
                </a:spcBef>
                <a:spcAft>
                  <a:spcPts val="600"/>
                </a:spcAft>
              </a:pPr>
              <a:r>
                <a:rPr kumimoji="1" lang="zh-CN" altLang="en-US" b="1" dirty="0">
                  <a:solidFill>
                    <a:schemeClr val="tx1">
                      <a:lumMod val="50000"/>
                    </a:schemeClr>
                  </a:solidFill>
                  <a:cs typeface="+mn-ea"/>
                  <a:sym typeface="+mn-lt"/>
                </a:rPr>
                <a:t>通信速率相对算力发展严重落后</a:t>
              </a:r>
              <a:endParaRPr kumimoji="1" lang="en-US" altLang="zh-CN" dirty="0">
                <a:solidFill>
                  <a:schemeClr val="tx1">
                    <a:lumMod val="50000"/>
                  </a:schemeClr>
                </a:solidFill>
                <a:cs typeface="+mn-ea"/>
                <a:sym typeface="+mn-lt"/>
              </a:endParaRPr>
            </a:p>
          </p:txBody>
        </p:sp>
        <p:cxnSp>
          <p:nvCxnSpPr>
            <p:cNvPr id="8" name="直线连接符 38">
              <a:extLst>
                <a:ext uri="{FF2B5EF4-FFF2-40B4-BE49-F238E27FC236}">
                  <a16:creationId xmlns:a16="http://schemas.microsoft.com/office/drawing/2014/main" id="{9BCB1723-D312-8F2C-8985-206A2EAC758A}"/>
                </a:ext>
              </a:extLst>
            </p:cNvPr>
            <p:cNvCxnSpPr>
              <a:cxnSpLocks/>
            </p:cNvCxnSpPr>
            <p:nvPr/>
          </p:nvCxnSpPr>
          <p:spPr>
            <a:xfrm>
              <a:off x="504186" y="1316624"/>
              <a:ext cx="5356341"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130A2CCF-4792-4187-740B-53EDD1BC7B7C}"/>
              </a:ext>
            </a:extLst>
          </p:cNvPr>
          <p:cNvSpPr txBox="1"/>
          <p:nvPr/>
        </p:nvSpPr>
        <p:spPr>
          <a:xfrm>
            <a:off x="598141" y="1560262"/>
            <a:ext cx="5503863" cy="327025"/>
          </a:xfrm>
          <a:prstGeom prst="rect">
            <a:avLst/>
          </a:prstGeom>
          <a:ln w="6350">
            <a:noFill/>
            <a:miter lim="800000"/>
          </a:ln>
        </p:spPr>
        <p:txBody>
          <a:bodyPr vert="horz" wrap="square" lIns="0" tIns="0" rIns="0" bIns="0" rtlCol="0">
            <a:noAutofit/>
          </a:bodyPr>
          <a:lstStyle/>
          <a:p>
            <a:pPr marL="285750" indent="-285750">
              <a:buFont typeface="Arial" panose="020B0604020202020204" pitchFamily="34" charset="0"/>
              <a:buChar char="•"/>
            </a:pPr>
            <a:r>
              <a:rPr kumimoji="1" lang="zh-CN" altLang="en-US" dirty="0">
                <a:solidFill>
                  <a:schemeClr val="tx1">
                    <a:lumMod val="50000"/>
                  </a:schemeClr>
                </a:solidFill>
                <a:cs typeface="+mn-ea"/>
                <a:sym typeface="+mn-lt"/>
              </a:rPr>
              <a:t>基于铜互连的通信速率</a:t>
            </a:r>
            <a:r>
              <a:rPr kumimoji="1" lang="en-US" altLang="zh-CN" dirty="0">
                <a:solidFill>
                  <a:schemeClr val="tx1">
                    <a:lumMod val="50000"/>
                  </a:schemeClr>
                </a:solidFill>
                <a:cs typeface="+mn-ea"/>
                <a:sym typeface="+mn-lt"/>
              </a:rPr>
              <a:t>4</a:t>
            </a:r>
            <a:r>
              <a:rPr kumimoji="1" lang="zh-CN" altLang="en-US" dirty="0">
                <a:solidFill>
                  <a:schemeClr val="tx1">
                    <a:lumMod val="50000"/>
                  </a:schemeClr>
                </a:solidFill>
                <a:cs typeface="+mn-ea"/>
                <a:sym typeface="+mn-lt"/>
              </a:rPr>
              <a:t>年</a:t>
            </a:r>
            <a:r>
              <a:rPr kumimoji="1" lang="en-US" altLang="zh-CN" b="1" dirty="0">
                <a:solidFill>
                  <a:srgbClr val="0052D9"/>
                </a:solidFill>
                <a:cs typeface="+mn-ea"/>
                <a:sym typeface="+mn-lt"/>
              </a:rPr>
              <a:t>4x</a:t>
            </a:r>
            <a:r>
              <a:rPr kumimoji="1" lang="zh-CN" altLang="en-US" dirty="0">
                <a:solidFill>
                  <a:schemeClr val="tx1">
                    <a:lumMod val="50000"/>
                  </a:schemeClr>
                </a:solidFill>
                <a:cs typeface="+mn-ea"/>
                <a:sym typeface="+mn-lt"/>
              </a:rPr>
              <a:t>，落后于</a:t>
            </a:r>
            <a:r>
              <a:rPr kumimoji="1" lang="en-US" altLang="zh-CN" dirty="0">
                <a:solidFill>
                  <a:schemeClr val="tx1">
                    <a:lumMod val="50000"/>
                  </a:schemeClr>
                </a:solidFill>
                <a:cs typeface="+mn-ea"/>
                <a:sym typeface="+mn-lt"/>
              </a:rPr>
              <a:t>GPU</a:t>
            </a:r>
            <a:r>
              <a:rPr kumimoji="1" lang="zh-CN" altLang="en-US" dirty="0">
                <a:solidFill>
                  <a:schemeClr val="tx1">
                    <a:lumMod val="50000"/>
                  </a:schemeClr>
                </a:solidFill>
                <a:cs typeface="+mn-ea"/>
                <a:sym typeface="+mn-lt"/>
              </a:rPr>
              <a:t>算力增幅，通信速率成为集群算力瓶颈</a:t>
            </a:r>
            <a:endParaRPr kumimoji="1" lang="zh-CN" altLang="zh-CN" dirty="0">
              <a:solidFill>
                <a:schemeClr val="tx1">
                  <a:lumMod val="50000"/>
                </a:schemeClr>
              </a:solidFill>
              <a:cs typeface="+mn-ea"/>
              <a:sym typeface="+mn-lt"/>
            </a:endParaRPr>
          </a:p>
        </p:txBody>
      </p:sp>
      <p:sp>
        <p:nvSpPr>
          <p:cNvPr id="10" name="文本框 9">
            <a:extLst>
              <a:ext uri="{FF2B5EF4-FFF2-40B4-BE49-F238E27FC236}">
                <a16:creationId xmlns:a16="http://schemas.microsoft.com/office/drawing/2014/main" id="{2E107C64-2966-84EB-C537-9B401C82FCF5}"/>
              </a:ext>
            </a:extLst>
          </p:cNvPr>
          <p:cNvSpPr txBox="1"/>
          <p:nvPr/>
        </p:nvSpPr>
        <p:spPr>
          <a:xfrm>
            <a:off x="4939730" y="2362654"/>
            <a:ext cx="1156270" cy="301625"/>
          </a:xfrm>
          <a:prstGeom prst="rect">
            <a:avLst/>
          </a:prstGeom>
          <a:ln w="6350">
            <a:noFill/>
            <a:miter lim="800000"/>
          </a:ln>
        </p:spPr>
        <p:txBody>
          <a:bodyPr vert="horz" wrap="square" lIns="0" tIns="0" rIns="0" bIns="0" rtlCol="0">
            <a:noAutofit/>
          </a:bodyPr>
          <a:lstStyle/>
          <a:p>
            <a:pPr algn="ctr">
              <a:spcBef>
                <a:spcPts val="100"/>
              </a:spcBef>
              <a:spcAft>
                <a:spcPts val="100"/>
              </a:spcAft>
            </a:pPr>
            <a:r>
              <a:rPr kumimoji="1" lang="zh-CN" altLang="en-US" dirty="0">
                <a:solidFill>
                  <a:schemeClr val="accent6">
                    <a:lumMod val="10000"/>
                  </a:schemeClr>
                </a:solidFill>
                <a:cs typeface="+mn-ea"/>
                <a:sym typeface="+mn-lt"/>
              </a:rPr>
              <a:t>推理算力</a:t>
            </a:r>
            <a:endParaRPr kumimoji="1" lang="en-US" altLang="zh-CN" dirty="0">
              <a:solidFill>
                <a:schemeClr val="accent6">
                  <a:lumMod val="10000"/>
                </a:schemeClr>
              </a:solidFill>
              <a:cs typeface="+mn-ea"/>
              <a:sym typeface="+mn-lt"/>
            </a:endParaRPr>
          </a:p>
          <a:p>
            <a:pPr algn="ctr">
              <a:spcBef>
                <a:spcPts val="100"/>
              </a:spcBef>
              <a:spcAft>
                <a:spcPts val="100"/>
              </a:spcAft>
            </a:pPr>
            <a:r>
              <a:rPr kumimoji="1" lang="en-US" altLang="zh-CN" dirty="0">
                <a:solidFill>
                  <a:schemeClr val="accent6">
                    <a:lumMod val="10000"/>
                  </a:schemeClr>
                </a:solidFill>
                <a:cs typeface="+mn-ea"/>
                <a:sym typeface="+mn-lt"/>
              </a:rPr>
              <a:t>11x</a:t>
            </a:r>
          </a:p>
        </p:txBody>
      </p:sp>
      <p:sp>
        <p:nvSpPr>
          <p:cNvPr id="11" name="文本框 10">
            <a:extLst>
              <a:ext uri="{FF2B5EF4-FFF2-40B4-BE49-F238E27FC236}">
                <a16:creationId xmlns:a16="http://schemas.microsoft.com/office/drawing/2014/main" id="{041508EA-7012-F175-3EBD-4275FA38BD14}"/>
              </a:ext>
            </a:extLst>
          </p:cNvPr>
          <p:cNvSpPr txBox="1"/>
          <p:nvPr/>
        </p:nvSpPr>
        <p:spPr>
          <a:xfrm>
            <a:off x="4981915" y="3447162"/>
            <a:ext cx="1074463" cy="301625"/>
          </a:xfrm>
          <a:prstGeom prst="rect">
            <a:avLst/>
          </a:prstGeom>
          <a:ln w="6350">
            <a:noFill/>
            <a:miter lim="800000"/>
          </a:ln>
        </p:spPr>
        <p:txBody>
          <a:bodyPr vert="horz" wrap="square" lIns="0" tIns="0" rIns="0" bIns="0" rtlCol="0">
            <a:noAutofit/>
          </a:bodyPr>
          <a:lstStyle/>
          <a:p>
            <a:pPr algn="ctr">
              <a:spcBef>
                <a:spcPts val="100"/>
              </a:spcBef>
              <a:spcAft>
                <a:spcPts val="100"/>
              </a:spcAft>
            </a:pPr>
            <a:r>
              <a:rPr kumimoji="1" lang="zh-CN" altLang="en-US" dirty="0">
                <a:solidFill>
                  <a:schemeClr val="accent5"/>
                </a:solidFill>
                <a:cs typeface="+mn-ea"/>
                <a:sym typeface="+mn-lt"/>
              </a:rPr>
              <a:t>训练算力</a:t>
            </a:r>
            <a:endParaRPr kumimoji="1" lang="en-US" altLang="zh-CN" dirty="0">
              <a:solidFill>
                <a:schemeClr val="accent5"/>
              </a:solidFill>
              <a:cs typeface="+mn-ea"/>
              <a:sym typeface="+mn-lt"/>
            </a:endParaRPr>
          </a:p>
          <a:p>
            <a:pPr algn="ctr">
              <a:spcBef>
                <a:spcPts val="100"/>
              </a:spcBef>
              <a:spcAft>
                <a:spcPts val="100"/>
              </a:spcAft>
            </a:pPr>
            <a:r>
              <a:rPr kumimoji="1" lang="en-US" altLang="zh-CN" dirty="0">
                <a:solidFill>
                  <a:schemeClr val="accent5"/>
                </a:solidFill>
                <a:cs typeface="+mn-ea"/>
                <a:sym typeface="+mn-lt"/>
              </a:rPr>
              <a:t>5.6x</a:t>
            </a:r>
          </a:p>
        </p:txBody>
      </p:sp>
      <p:sp>
        <p:nvSpPr>
          <p:cNvPr id="12" name="文本框 11">
            <a:extLst>
              <a:ext uri="{FF2B5EF4-FFF2-40B4-BE49-F238E27FC236}">
                <a16:creationId xmlns:a16="http://schemas.microsoft.com/office/drawing/2014/main" id="{D3826E87-5A59-1074-F2A6-51787585C403}"/>
              </a:ext>
            </a:extLst>
          </p:cNvPr>
          <p:cNvSpPr txBox="1"/>
          <p:nvPr/>
        </p:nvSpPr>
        <p:spPr>
          <a:xfrm>
            <a:off x="5036531" y="4502840"/>
            <a:ext cx="1028700" cy="301625"/>
          </a:xfrm>
          <a:prstGeom prst="rect">
            <a:avLst/>
          </a:prstGeom>
          <a:ln w="6350">
            <a:noFill/>
            <a:miter lim="800000"/>
          </a:ln>
        </p:spPr>
        <p:txBody>
          <a:bodyPr vert="horz" wrap="square" lIns="0" tIns="0" rIns="0" bIns="0" rtlCol="0">
            <a:noAutofit/>
          </a:bodyPr>
          <a:lstStyle/>
          <a:p>
            <a:pPr algn="ctr">
              <a:spcBef>
                <a:spcPts val="100"/>
              </a:spcBef>
              <a:spcAft>
                <a:spcPts val="100"/>
              </a:spcAft>
            </a:pPr>
            <a:r>
              <a:rPr kumimoji="1" lang="zh-CN" altLang="en-US" dirty="0">
                <a:solidFill>
                  <a:srgbClr val="0052D9"/>
                </a:solidFill>
                <a:cs typeface="+mn-ea"/>
                <a:sym typeface="+mn-lt"/>
              </a:rPr>
              <a:t>网络带宽</a:t>
            </a:r>
            <a:r>
              <a:rPr kumimoji="1" lang="en-US" altLang="zh-CN" baseline="30000" dirty="0">
                <a:solidFill>
                  <a:srgbClr val="0052D9"/>
                </a:solidFill>
                <a:cs typeface="+mn-ea"/>
                <a:sym typeface="+mn-lt"/>
              </a:rPr>
              <a:t>1</a:t>
            </a:r>
            <a:r>
              <a:rPr kumimoji="1" lang="en-US" altLang="zh-CN" baseline="30000" dirty="0">
                <a:solidFill>
                  <a:schemeClr val="tx1">
                    <a:lumMod val="50000"/>
                  </a:schemeClr>
                </a:solidFill>
                <a:cs typeface="+mn-ea"/>
                <a:sym typeface="+mn-lt"/>
              </a:rPr>
              <a:t> </a:t>
            </a:r>
            <a:r>
              <a:rPr kumimoji="1" lang="en-US" altLang="zh-CN" dirty="0">
                <a:solidFill>
                  <a:srgbClr val="0052D9"/>
                </a:solidFill>
                <a:cs typeface="+mn-ea"/>
                <a:sym typeface="+mn-lt"/>
              </a:rPr>
              <a:t>4x</a:t>
            </a:r>
          </a:p>
        </p:txBody>
      </p:sp>
      <p:sp>
        <p:nvSpPr>
          <p:cNvPr id="13" name="文本框 12">
            <a:extLst>
              <a:ext uri="{FF2B5EF4-FFF2-40B4-BE49-F238E27FC236}">
                <a16:creationId xmlns:a16="http://schemas.microsoft.com/office/drawing/2014/main" id="{9D28867A-D863-6C5A-41FD-84F642EDBEC0}"/>
              </a:ext>
            </a:extLst>
          </p:cNvPr>
          <p:cNvSpPr txBox="1"/>
          <p:nvPr/>
        </p:nvSpPr>
        <p:spPr>
          <a:xfrm>
            <a:off x="3699339" y="2294221"/>
            <a:ext cx="867285" cy="600175"/>
          </a:xfrm>
          <a:prstGeom prst="rect">
            <a:avLst/>
          </a:prstGeom>
          <a:ln w="6350">
            <a:noFill/>
            <a:miter lim="800000"/>
          </a:ln>
        </p:spPr>
        <p:txBody>
          <a:bodyPr vert="horz" wrap="square" lIns="0" tIns="0" rIns="0" bIns="0" rtlCol="0">
            <a:noAutofit/>
          </a:bodyPr>
          <a:lstStyle/>
          <a:p>
            <a:pPr algn="ctr"/>
            <a:r>
              <a:rPr kumimoji="1" lang="en-US" altLang="zh-CN" sz="1200" dirty="0">
                <a:solidFill>
                  <a:schemeClr val="accent6">
                    <a:lumMod val="10000"/>
                  </a:schemeClr>
                </a:solidFill>
                <a:cs typeface="+mn-ea"/>
                <a:sym typeface="+mn-lt"/>
              </a:rPr>
              <a:t>Blackwell</a:t>
            </a:r>
          </a:p>
          <a:p>
            <a:pPr algn="ctr"/>
            <a:r>
              <a:rPr kumimoji="1" lang="en-US" altLang="zh-CN" sz="1200" dirty="0">
                <a:solidFill>
                  <a:schemeClr val="accent6">
                    <a:lumMod val="10000"/>
                  </a:schemeClr>
                </a:solidFill>
                <a:cs typeface="+mn-ea"/>
                <a:sym typeface="+mn-lt"/>
              </a:rPr>
              <a:t>7k TFLOPS</a:t>
            </a:r>
          </a:p>
          <a:p>
            <a:pPr algn="ctr"/>
            <a:r>
              <a:rPr kumimoji="1" lang="en-US" altLang="zh-CN" sz="1200" dirty="0">
                <a:solidFill>
                  <a:schemeClr val="accent6">
                    <a:lumMod val="10000"/>
                  </a:schemeClr>
                </a:solidFill>
                <a:cs typeface="+mn-ea"/>
                <a:sym typeface="+mn-lt"/>
              </a:rPr>
              <a:t>FP8</a:t>
            </a:r>
          </a:p>
        </p:txBody>
      </p:sp>
      <p:sp>
        <p:nvSpPr>
          <p:cNvPr id="16" name="文本框 15">
            <a:extLst>
              <a:ext uri="{FF2B5EF4-FFF2-40B4-BE49-F238E27FC236}">
                <a16:creationId xmlns:a16="http://schemas.microsoft.com/office/drawing/2014/main" id="{6EE0D2F9-50AB-A201-9125-EDB21C662140}"/>
              </a:ext>
            </a:extLst>
          </p:cNvPr>
          <p:cNvSpPr txBox="1"/>
          <p:nvPr/>
        </p:nvSpPr>
        <p:spPr>
          <a:xfrm>
            <a:off x="2832054" y="3297888"/>
            <a:ext cx="867285" cy="600175"/>
          </a:xfrm>
          <a:prstGeom prst="rect">
            <a:avLst/>
          </a:prstGeom>
          <a:ln w="6350">
            <a:noFill/>
            <a:miter lim="800000"/>
          </a:ln>
        </p:spPr>
        <p:txBody>
          <a:bodyPr vert="horz" wrap="square" lIns="0" tIns="0" rIns="0" bIns="0" rtlCol="0">
            <a:noAutofit/>
          </a:bodyPr>
          <a:lstStyle/>
          <a:p>
            <a:pPr algn="ctr"/>
            <a:r>
              <a:rPr kumimoji="1" lang="en-US" altLang="zh-CN" sz="1200" dirty="0">
                <a:solidFill>
                  <a:schemeClr val="accent6">
                    <a:lumMod val="10000"/>
                  </a:schemeClr>
                </a:solidFill>
                <a:cs typeface="+mn-ea"/>
                <a:sym typeface="+mn-lt"/>
              </a:rPr>
              <a:t>Hopper</a:t>
            </a:r>
          </a:p>
          <a:p>
            <a:pPr algn="ctr"/>
            <a:r>
              <a:rPr kumimoji="1" lang="en-US" altLang="zh-CN" sz="1200" dirty="0">
                <a:solidFill>
                  <a:schemeClr val="accent6">
                    <a:lumMod val="10000"/>
                  </a:schemeClr>
                </a:solidFill>
                <a:cs typeface="+mn-ea"/>
                <a:sym typeface="+mn-lt"/>
              </a:rPr>
              <a:t>4k TFLOPS</a:t>
            </a:r>
          </a:p>
          <a:p>
            <a:pPr algn="ctr"/>
            <a:r>
              <a:rPr kumimoji="1" lang="en-US" altLang="zh-CN" sz="1200" dirty="0">
                <a:solidFill>
                  <a:schemeClr val="accent6">
                    <a:lumMod val="10000"/>
                  </a:schemeClr>
                </a:solidFill>
                <a:cs typeface="+mn-ea"/>
                <a:sym typeface="+mn-lt"/>
              </a:rPr>
              <a:t>FP8</a:t>
            </a:r>
          </a:p>
        </p:txBody>
      </p:sp>
      <p:sp>
        <p:nvSpPr>
          <p:cNvPr id="17" name="文本框 16">
            <a:extLst>
              <a:ext uri="{FF2B5EF4-FFF2-40B4-BE49-F238E27FC236}">
                <a16:creationId xmlns:a16="http://schemas.microsoft.com/office/drawing/2014/main" id="{FBBB8668-846F-ABEC-00F1-04F3083BD423}"/>
              </a:ext>
            </a:extLst>
          </p:cNvPr>
          <p:cNvSpPr txBox="1"/>
          <p:nvPr/>
        </p:nvSpPr>
        <p:spPr>
          <a:xfrm>
            <a:off x="2207309" y="4167901"/>
            <a:ext cx="922810" cy="600175"/>
          </a:xfrm>
          <a:prstGeom prst="rect">
            <a:avLst/>
          </a:prstGeom>
          <a:ln w="6350">
            <a:noFill/>
            <a:miter lim="800000"/>
          </a:ln>
        </p:spPr>
        <p:txBody>
          <a:bodyPr vert="horz" wrap="square" lIns="0" tIns="0" rIns="0" bIns="0" rtlCol="0">
            <a:noAutofit/>
          </a:bodyPr>
          <a:lstStyle/>
          <a:p>
            <a:pPr algn="ctr"/>
            <a:r>
              <a:rPr kumimoji="1" lang="en-US" altLang="zh-CN" sz="1200" dirty="0">
                <a:solidFill>
                  <a:schemeClr val="accent6">
                    <a:lumMod val="10000"/>
                  </a:schemeClr>
                </a:solidFill>
                <a:cs typeface="+mn-ea"/>
                <a:sym typeface="+mn-lt"/>
              </a:rPr>
              <a:t>Ampere</a:t>
            </a:r>
          </a:p>
          <a:p>
            <a:pPr algn="ctr"/>
            <a:r>
              <a:rPr kumimoji="1" lang="en-US" altLang="zh-CN" sz="1200" dirty="0">
                <a:solidFill>
                  <a:schemeClr val="accent6">
                    <a:lumMod val="10000"/>
                  </a:schemeClr>
                </a:solidFill>
                <a:cs typeface="+mn-ea"/>
                <a:sym typeface="+mn-lt"/>
              </a:rPr>
              <a:t>620 TFLOPS</a:t>
            </a:r>
          </a:p>
          <a:p>
            <a:pPr algn="ctr"/>
            <a:r>
              <a:rPr kumimoji="1" lang="en-US" altLang="zh-CN" sz="1200" dirty="0">
                <a:solidFill>
                  <a:schemeClr val="accent6">
                    <a:lumMod val="10000"/>
                  </a:schemeClr>
                </a:solidFill>
                <a:cs typeface="+mn-ea"/>
                <a:sym typeface="+mn-lt"/>
              </a:rPr>
              <a:t>FP16</a:t>
            </a:r>
          </a:p>
        </p:txBody>
      </p:sp>
      <p:sp>
        <p:nvSpPr>
          <p:cNvPr id="19" name="文本框 18">
            <a:extLst>
              <a:ext uri="{FF2B5EF4-FFF2-40B4-BE49-F238E27FC236}">
                <a16:creationId xmlns:a16="http://schemas.microsoft.com/office/drawing/2014/main" id="{B2B2000C-0E01-6F45-654A-00DEE9458274}"/>
              </a:ext>
            </a:extLst>
          </p:cNvPr>
          <p:cNvSpPr txBox="1"/>
          <p:nvPr/>
        </p:nvSpPr>
        <p:spPr>
          <a:xfrm>
            <a:off x="1284903" y="4551092"/>
            <a:ext cx="984628" cy="600175"/>
          </a:xfrm>
          <a:prstGeom prst="rect">
            <a:avLst/>
          </a:prstGeom>
          <a:ln w="6350">
            <a:noFill/>
            <a:miter lim="800000"/>
          </a:ln>
        </p:spPr>
        <p:txBody>
          <a:bodyPr vert="horz" wrap="square" lIns="0" tIns="0" rIns="0" bIns="0" rtlCol="0">
            <a:noAutofit/>
          </a:bodyPr>
          <a:lstStyle/>
          <a:p>
            <a:pPr algn="ctr"/>
            <a:r>
              <a:rPr kumimoji="1" lang="en-US" altLang="zh-CN" sz="1200" dirty="0">
                <a:solidFill>
                  <a:schemeClr val="accent6">
                    <a:lumMod val="10000"/>
                  </a:schemeClr>
                </a:solidFill>
                <a:cs typeface="+mn-ea"/>
                <a:sym typeface="+mn-lt"/>
              </a:rPr>
              <a:t>Volta</a:t>
            </a:r>
          </a:p>
          <a:p>
            <a:pPr algn="ctr"/>
            <a:r>
              <a:rPr kumimoji="1" lang="en-US" altLang="zh-CN" sz="1200" dirty="0">
                <a:solidFill>
                  <a:schemeClr val="accent6">
                    <a:lumMod val="10000"/>
                  </a:schemeClr>
                </a:solidFill>
                <a:cs typeface="+mn-ea"/>
                <a:sym typeface="+mn-lt"/>
              </a:rPr>
              <a:t>130 TFLOPS</a:t>
            </a:r>
          </a:p>
          <a:p>
            <a:pPr algn="ctr"/>
            <a:r>
              <a:rPr kumimoji="1" lang="en-US" altLang="zh-CN" sz="1200" dirty="0">
                <a:solidFill>
                  <a:schemeClr val="accent6">
                    <a:lumMod val="10000"/>
                  </a:schemeClr>
                </a:solidFill>
                <a:cs typeface="+mn-ea"/>
                <a:sym typeface="+mn-lt"/>
              </a:rPr>
              <a:t>FP16</a:t>
            </a:r>
          </a:p>
        </p:txBody>
      </p:sp>
      <p:sp>
        <p:nvSpPr>
          <p:cNvPr id="20" name="文本框 19">
            <a:extLst>
              <a:ext uri="{FF2B5EF4-FFF2-40B4-BE49-F238E27FC236}">
                <a16:creationId xmlns:a16="http://schemas.microsoft.com/office/drawing/2014/main" id="{0FF201AB-0434-4852-8E17-DBA76094D961}"/>
              </a:ext>
            </a:extLst>
          </p:cNvPr>
          <p:cNvSpPr txBox="1"/>
          <p:nvPr/>
        </p:nvSpPr>
        <p:spPr>
          <a:xfrm>
            <a:off x="285657" y="4609608"/>
            <a:ext cx="867285" cy="600175"/>
          </a:xfrm>
          <a:prstGeom prst="rect">
            <a:avLst/>
          </a:prstGeom>
          <a:ln w="6350">
            <a:noFill/>
            <a:miter lim="800000"/>
          </a:ln>
        </p:spPr>
        <p:txBody>
          <a:bodyPr vert="horz" wrap="square" lIns="0" tIns="0" rIns="0" bIns="0" rtlCol="0">
            <a:noAutofit/>
          </a:bodyPr>
          <a:lstStyle/>
          <a:p>
            <a:pPr algn="ctr"/>
            <a:r>
              <a:rPr kumimoji="1" lang="en-US" altLang="zh-CN" sz="1200" dirty="0">
                <a:solidFill>
                  <a:schemeClr val="accent6">
                    <a:lumMod val="10000"/>
                  </a:schemeClr>
                </a:solidFill>
                <a:cs typeface="+mn-ea"/>
                <a:sym typeface="+mn-lt"/>
              </a:rPr>
              <a:t>Pascal</a:t>
            </a:r>
          </a:p>
          <a:p>
            <a:pPr algn="ctr"/>
            <a:r>
              <a:rPr kumimoji="1" lang="en-US" altLang="zh-CN" sz="1200" dirty="0">
                <a:solidFill>
                  <a:schemeClr val="accent6">
                    <a:lumMod val="10000"/>
                  </a:schemeClr>
                </a:solidFill>
                <a:cs typeface="+mn-ea"/>
                <a:sym typeface="+mn-lt"/>
              </a:rPr>
              <a:t>19 TFLOPS</a:t>
            </a:r>
          </a:p>
          <a:p>
            <a:pPr algn="ctr"/>
            <a:r>
              <a:rPr kumimoji="1" lang="en-US" altLang="zh-CN" sz="1200" dirty="0">
                <a:solidFill>
                  <a:schemeClr val="accent6">
                    <a:lumMod val="10000"/>
                  </a:schemeClr>
                </a:solidFill>
                <a:cs typeface="+mn-ea"/>
                <a:sym typeface="+mn-lt"/>
              </a:rPr>
              <a:t>FP16</a:t>
            </a:r>
          </a:p>
        </p:txBody>
      </p:sp>
      <p:sp>
        <p:nvSpPr>
          <p:cNvPr id="22" name="文本框 21">
            <a:extLst>
              <a:ext uri="{FF2B5EF4-FFF2-40B4-BE49-F238E27FC236}">
                <a16:creationId xmlns:a16="http://schemas.microsoft.com/office/drawing/2014/main" id="{77DF1B80-E3FD-4C79-FC30-FA6B7CDCE568}"/>
              </a:ext>
            </a:extLst>
          </p:cNvPr>
          <p:cNvSpPr txBox="1"/>
          <p:nvPr/>
        </p:nvSpPr>
        <p:spPr>
          <a:xfrm>
            <a:off x="3378919" y="3962964"/>
            <a:ext cx="867285" cy="335487"/>
          </a:xfrm>
          <a:prstGeom prst="rect">
            <a:avLst/>
          </a:prstGeom>
          <a:ln w="6350">
            <a:noFill/>
            <a:miter lim="800000"/>
          </a:ln>
        </p:spPr>
        <p:txBody>
          <a:bodyPr vert="horz" wrap="square" lIns="0" tIns="0" rIns="0" bIns="0" rtlCol="0">
            <a:noAutofit/>
          </a:bodyPr>
          <a:lstStyle/>
          <a:p>
            <a:pPr algn="ctr"/>
            <a:r>
              <a:rPr kumimoji="1" lang="en-US" altLang="zh-CN" sz="1200" dirty="0">
                <a:solidFill>
                  <a:schemeClr val="accent5"/>
                </a:solidFill>
                <a:cs typeface="+mn-ea"/>
                <a:sym typeface="+mn-lt"/>
              </a:rPr>
              <a:t>1k </a:t>
            </a:r>
            <a:r>
              <a:rPr kumimoji="1" lang="en-US" altLang="zh-CN" sz="1200" dirty="0" err="1">
                <a:solidFill>
                  <a:schemeClr val="accent5"/>
                </a:solidFill>
                <a:cs typeface="+mn-ea"/>
                <a:sym typeface="+mn-lt"/>
              </a:rPr>
              <a:t>Tflops</a:t>
            </a:r>
            <a:endParaRPr kumimoji="1" lang="en-US" altLang="zh-CN" sz="1200" dirty="0">
              <a:solidFill>
                <a:schemeClr val="accent5"/>
              </a:solidFill>
              <a:cs typeface="+mn-ea"/>
              <a:sym typeface="+mn-lt"/>
            </a:endParaRPr>
          </a:p>
          <a:p>
            <a:pPr algn="ctr"/>
            <a:r>
              <a:rPr kumimoji="1" lang="en-US" altLang="zh-CN" sz="1200" dirty="0">
                <a:solidFill>
                  <a:schemeClr val="accent5"/>
                </a:solidFill>
                <a:cs typeface="+mn-ea"/>
                <a:sym typeface="+mn-lt"/>
              </a:rPr>
              <a:t>FP16</a:t>
            </a:r>
          </a:p>
        </p:txBody>
      </p:sp>
      <p:sp>
        <p:nvSpPr>
          <p:cNvPr id="23" name="文本框 22">
            <a:extLst>
              <a:ext uri="{FF2B5EF4-FFF2-40B4-BE49-F238E27FC236}">
                <a16:creationId xmlns:a16="http://schemas.microsoft.com/office/drawing/2014/main" id="{2B98CB60-397E-AF27-C09D-4536FD50FDE6}"/>
              </a:ext>
            </a:extLst>
          </p:cNvPr>
          <p:cNvSpPr txBox="1"/>
          <p:nvPr/>
        </p:nvSpPr>
        <p:spPr>
          <a:xfrm>
            <a:off x="4096141" y="3465734"/>
            <a:ext cx="867285" cy="364203"/>
          </a:xfrm>
          <a:prstGeom prst="rect">
            <a:avLst/>
          </a:prstGeom>
          <a:ln w="6350">
            <a:noFill/>
            <a:miter lim="800000"/>
          </a:ln>
        </p:spPr>
        <p:txBody>
          <a:bodyPr vert="horz" wrap="square" lIns="0" tIns="0" rIns="0" bIns="0" rtlCol="0">
            <a:noAutofit/>
          </a:bodyPr>
          <a:lstStyle/>
          <a:p>
            <a:pPr algn="ctr"/>
            <a:r>
              <a:rPr kumimoji="1" lang="en-US" altLang="zh-CN" sz="1200" dirty="0">
                <a:solidFill>
                  <a:schemeClr val="accent5"/>
                </a:solidFill>
                <a:cs typeface="+mn-ea"/>
                <a:sym typeface="+mn-lt"/>
              </a:rPr>
              <a:t>1.75k </a:t>
            </a:r>
            <a:r>
              <a:rPr kumimoji="1" lang="en-US" altLang="zh-CN" sz="1200" dirty="0" err="1">
                <a:solidFill>
                  <a:schemeClr val="accent5"/>
                </a:solidFill>
                <a:cs typeface="+mn-ea"/>
                <a:sym typeface="+mn-lt"/>
              </a:rPr>
              <a:t>Tflops</a:t>
            </a:r>
            <a:endParaRPr kumimoji="1" lang="en-US" altLang="zh-CN" sz="1200" dirty="0">
              <a:solidFill>
                <a:schemeClr val="accent5"/>
              </a:solidFill>
              <a:cs typeface="+mn-ea"/>
              <a:sym typeface="+mn-lt"/>
            </a:endParaRPr>
          </a:p>
          <a:p>
            <a:pPr algn="ctr"/>
            <a:r>
              <a:rPr kumimoji="1" lang="en-US" altLang="zh-CN" sz="1200" dirty="0">
                <a:solidFill>
                  <a:schemeClr val="accent5"/>
                </a:solidFill>
                <a:cs typeface="+mn-ea"/>
                <a:sym typeface="+mn-lt"/>
              </a:rPr>
              <a:t>FP16</a:t>
            </a:r>
          </a:p>
        </p:txBody>
      </p:sp>
      <p:sp>
        <p:nvSpPr>
          <p:cNvPr id="24" name="文本框 23">
            <a:extLst>
              <a:ext uri="{FF2B5EF4-FFF2-40B4-BE49-F238E27FC236}">
                <a16:creationId xmlns:a16="http://schemas.microsoft.com/office/drawing/2014/main" id="{460F0908-50AC-1EC0-1A41-48AB2E05CB88}"/>
              </a:ext>
            </a:extLst>
          </p:cNvPr>
          <p:cNvSpPr txBox="1"/>
          <p:nvPr/>
        </p:nvSpPr>
        <p:spPr>
          <a:xfrm>
            <a:off x="4169246" y="4567520"/>
            <a:ext cx="867285" cy="364203"/>
          </a:xfrm>
          <a:prstGeom prst="rect">
            <a:avLst/>
          </a:prstGeom>
          <a:ln w="6350">
            <a:noFill/>
            <a:miter lim="800000"/>
          </a:ln>
        </p:spPr>
        <p:txBody>
          <a:bodyPr vert="horz" wrap="square" lIns="0" tIns="0" rIns="0" bIns="0" rtlCol="0">
            <a:noAutofit/>
          </a:bodyPr>
          <a:lstStyle/>
          <a:p>
            <a:pPr algn="ctr"/>
            <a:r>
              <a:rPr kumimoji="1" lang="en-US" altLang="zh-CN" sz="1200" dirty="0">
                <a:solidFill>
                  <a:srgbClr val="0052D9"/>
                </a:solidFill>
                <a:cs typeface="+mn-ea"/>
                <a:sym typeface="+mn-lt"/>
              </a:rPr>
              <a:t>800Gbps</a:t>
            </a:r>
          </a:p>
        </p:txBody>
      </p:sp>
      <p:sp>
        <p:nvSpPr>
          <p:cNvPr id="25" name="文本框 24">
            <a:extLst>
              <a:ext uri="{FF2B5EF4-FFF2-40B4-BE49-F238E27FC236}">
                <a16:creationId xmlns:a16="http://schemas.microsoft.com/office/drawing/2014/main" id="{111AC40C-71A8-C591-235F-4A6280BAEA79}"/>
              </a:ext>
            </a:extLst>
          </p:cNvPr>
          <p:cNvSpPr txBox="1"/>
          <p:nvPr/>
        </p:nvSpPr>
        <p:spPr>
          <a:xfrm>
            <a:off x="3387547" y="4849023"/>
            <a:ext cx="867285" cy="364203"/>
          </a:xfrm>
          <a:prstGeom prst="rect">
            <a:avLst/>
          </a:prstGeom>
          <a:ln w="6350">
            <a:noFill/>
            <a:miter lim="800000"/>
          </a:ln>
        </p:spPr>
        <p:txBody>
          <a:bodyPr vert="horz" wrap="square" lIns="0" tIns="0" rIns="0" bIns="0" rtlCol="0">
            <a:noAutofit/>
          </a:bodyPr>
          <a:lstStyle/>
          <a:p>
            <a:pPr algn="ctr"/>
            <a:r>
              <a:rPr kumimoji="1" lang="en-US" altLang="zh-CN" sz="1200" dirty="0">
                <a:solidFill>
                  <a:srgbClr val="0052D9"/>
                </a:solidFill>
                <a:cs typeface="+mn-ea"/>
                <a:sym typeface="+mn-lt"/>
              </a:rPr>
              <a:t>400Gbps</a:t>
            </a:r>
          </a:p>
        </p:txBody>
      </p:sp>
      <p:sp>
        <p:nvSpPr>
          <p:cNvPr id="26" name="文本框 25">
            <a:extLst>
              <a:ext uri="{FF2B5EF4-FFF2-40B4-BE49-F238E27FC236}">
                <a16:creationId xmlns:a16="http://schemas.microsoft.com/office/drawing/2014/main" id="{C39756B9-2D75-4F3F-A7E1-43CB33B1C463}"/>
              </a:ext>
            </a:extLst>
          </p:cNvPr>
          <p:cNvSpPr txBox="1"/>
          <p:nvPr/>
        </p:nvSpPr>
        <p:spPr>
          <a:xfrm>
            <a:off x="2474499" y="5037633"/>
            <a:ext cx="867285" cy="364203"/>
          </a:xfrm>
          <a:prstGeom prst="rect">
            <a:avLst/>
          </a:prstGeom>
          <a:ln w="6350">
            <a:noFill/>
            <a:miter lim="800000"/>
          </a:ln>
        </p:spPr>
        <p:txBody>
          <a:bodyPr vert="horz" wrap="square" lIns="0" tIns="0" rIns="0" bIns="0" rtlCol="0">
            <a:noAutofit/>
          </a:bodyPr>
          <a:lstStyle/>
          <a:p>
            <a:pPr algn="ctr"/>
            <a:r>
              <a:rPr kumimoji="1" lang="en-US" altLang="zh-CN" sz="1200" dirty="0">
                <a:solidFill>
                  <a:srgbClr val="0052D9"/>
                </a:solidFill>
                <a:cs typeface="+mn-ea"/>
                <a:sym typeface="+mn-lt"/>
              </a:rPr>
              <a:t>200Gbps</a:t>
            </a:r>
          </a:p>
        </p:txBody>
      </p:sp>
      <p:sp>
        <p:nvSpPr>
          <p:cNvPr id="27" name="Text Placeholder 4">
            <a:extLst>
              <a:ext uri="{FF2B5EF4-FFF2-40B4-BE49-F238E27FC236}">
                <a16:creationId xmlns:a16="http://schemas.microsoft.com/office/drawing/2014/main" id="{F9C5F783-6020-FF55-773A-563228759864}"/>
              </a:ext>
            </a:extLst>
          </p:cNvPr>
          <p:cNvSpPr txBox="1">
            <a:spLocks/>
          </p:cNvSpPr>
          <p:nvPr>
            <p:custDataLst>
              <p:tags r:id="rId9"/>
            </p:custDataLst>
          </p:nvPr>
        </p:nvSpPr>
        <p:spPr bwMode="auto">
          <a:xfrm>
            <a:off x="7420040" y="4524436"/>
            <a:ext cx="803486" cy="280029"/>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en-US" altLang="zh-CN" sz="1200" b="1" dirty="0" err="1">
                <a:latin typeface="+mn-lt"/>
                <a:ea typeface="+mn-ea"/>
                <a:cs typeface="+mn-ea"/>
                <a:sym typeface="+mn-lt"/>
              </a:rPr>
              <a:t>NVLink</a:t>
            </a:r>
            <a:r>
              <a:rPr lang="en-US" altLang="zh-CN" sz="1200" b="1" dirty="0">
                <a:latin typeface="+mn-lt"/>
                <a:ea typeface="+mn-ea"/>
                <a:cs typeface="+mn-ea"/>
                <a:sym typeface="+mn-lt"/>
              </a:rPr>
              <a:t> 3.0</a:t>
            </a:r>
            <a:endParaRPr lang="zh-CN" altLang="en-US" sz="1200" b="1" dirty="0">
              <a:latin typeface="+mn-lt"/>
              <a:ea typeface="+mn-ea"/>
              <a:cs typeface="+mn-ea"/>
              <a:sym typeface="+mn-lt"/>
            </a:endParaRPr>
          </a:p>
        </p:txBody>
      </p:sp>
      <p:sp>
        <p:nvSpPr>
          <p:cNvPr id="28" name="Text Placeholder 4">
            <a:extLst>
              <a:ext uri="{FF2B5EF4-FFF2-40B4-BE49-F238E27FC236}">
                <a16:creationId xmlns:a16="http://schemas.microsoft.com/office/drawing/2014/main" id="{3E7945A8-88A7-97FB-E1A1-7881D746439B}"/>
              </a:ext>
            </a:extLst>
          </p:cNvPr>
          <p:cNvSpPr txBox="1">
            <a:spLocks/>
          </p:cNvSpPr>
          <p:nvPr>
            <p:custDataLst>
              <p:tags r:id="rId10"/>
            </p:custDataLst>
          </p:nvPr>
        </p:nvSpPr>
        <p:spPr bwMode="auto">
          <a:xfrm>
            <a:off x="9076133" y="3719170"/>
            <a:ext cx="803486" cy="280029"/>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en-US" altLang="zh-CN" sz="1200" b="1" dirty="0" err="1">
                <a:latin typeface="+mn-lt"/>
                <a:ea typeface="+mn-ea"/>
                <a:cs typeface="+mn-ea"/>
                <a:sym typeface="+mn-lt"/>
              </a:rPr>
              <a:t>NVLink</a:t>
            </a:r>
            <a:r>
              <a:rPr lang="en-US" altLang="zh-CN" sz="1200" b="1" dirty="0">
                <a:latin typeface="+mn-lt"/>
                <a:ea typeface="+mn-ea"/>
                <a:cs typeface="+mn-ea"/>
                <a:sym typeface="+mn-lt"/>
              </a:rPr>
              <a:t> 5.0</a:t>
            </a:r>
            <a:endParaRPr lang="zh-CN" altLang="en-US" sz="1200" b="1" dirty="0">
              <a:latin typeface="+mn-lt"/>
              <a:ea typeface="+mn-ea"/>
              <a:cs typeface="+mn-ea"/>
              <a:sym typeface="+mn-lt"/>
            </a:endParaRPr>
          </a:p>
        </p:txBody>
      </p:sp>
      <p:sp>
        <p:nvSpPr>
          <p:cNvPr id="29" name="Text Placeholder 4">
            <a:extLst>
              <a:ext uri="{FF2B5EF4-FFF2-40B4-BE49-F238E27FC236}">
                <a16:creationId xmlns:a16="http://schemas.microsoft.com/office/drawing/2014/main" id="{6B069D73-4078-A6F3-4081-998A04DE5155}"/>
              </a:ext>
            </a:extLst>
          </p:cNvPr>
          <p:cNvSpPr txBox="1">
            <a:spLocks/>
          </p:cNvSpPr>
          <p:nvPr>
            <p:custDataLst>
              <p:tags r:id="rId11"/>
            </p:custDataLst>
          </p:nvPr>
        </p:nvSpPr>
        <p:spPr bwMode="auto">
          <a:xfrm>
            <a:off x="8264640" y="4106242"/>
            <a:ext cx="803486" cy="280029"/>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en-US" altLang="zh-CN" sz="1200" b="1" dirty="0" err="1">
                <a:latin typeface="+mn-lt"/>
                <a:ea typeface="+mn-ea"/>
                <a:cs typeface="+mn-ea"/>
                <a:sym typeface="+mn-lt"/>
              </a:rPr>
              <a:t>NVLink</a:t>
            </a:r>
            <a:r>
              <a:rPr lang="en-US" altLang="zh-CN" sz="1200" b="1" dirty="0">
                <a:latin typeface="+mn-lt"/>
                <a:ea typeface="+mn-ea"/>
                <a:cs typeface="+mn-ea"/>
                <a:sym typeface="+mn-lt"/>
              </a:rPr>
              <a:t> 4.0</a:t>
            </a:r>
            <a:endParaRPr lang="zh-CN" altLang="en-US" sz="1200" b="1" dirty="0">
              <a:latin typeface="+mn-lt"/>
              <a:ea typeface="+mn-ea"/>
              <a:cs typeface="+mn-ea"/>
              <a:sym typeface="+mn-lt"/>
            </a:endParaRPr>
          </a:p>
        </p:txBody>
      </p:sp>
      <p:sp>
        <p:nvSpPr>
          <p:cNvPr id="30" name="Text Placeholder 4">
            <a:extLst>
              <a:ext uri="{FF2B5EF4-FFF2-40B4-BE49-F238E27FC236}">
                <a16:creationId xmlns:a16="http://schemas.microsoft.com/office/drawing/2014/main" id="{1B0E99A9-0CF8-651E-AF1C-431C57E5D7E3}"/>
              </a:ext>
            </a:extLst>
          </p:cNvPr>
          <p:cNvSpPr txBox="1">
            <a:spLocks/>
          </p:cNvSpPr>
          <p:nvPr>
            <p:custDataLst>
              <p:tags r:id="rId12"/>
            </p:custDataLst>
          </p:nvPr>
        </p:nvSpPr>
        <p:spPr bwMode="auto">
          <a:xfrm>
            <a:off x="9994099" y="3719170"/>
            <a:ext cx="803486" cy="280029"/>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en-US" altLang="zh-CN" sz="1200" b="1" dirty="0" err="1">
                <a:latin typeface="+mn-lt"/>
                <a:ea typeface="+mn-ea"/>
                <a:cs typeface="+mn-ea"/>
                <a:sym typeface="+mn-lt"/>
              </a:rPr>
              <a:t>NVLink</a:t>
            </a:r>
            <a:r>
              <a:rPr lang="en-US" altLang="zh-CN" sz="1200" b="1" dirty="0">
                <a:latin typeface="+mn-lt"/>
                <a:ea typeface="+mn-ea"/>
                <a:cs typeface="+mn-ea"/>
                <a:sym typeface="+mn-lt"/>
              </a:rPr>
              <a:t> 6.0</a:t>
            </a:r>
            <a:endParaRPr lang="zh-CN" altLang="en-US" sz="1200" b="1" dirty="0">
              <a:latin typeface="+mn-lt"/>
              <a:ea typeface="+mn-ea"/>
              <a:cs typeface="+mn-ea"/>
              <a:sym typeface="+mn-lt"/>
            </a:endParaRPr>
          </a:p>
        </p:txBody>
      </p:sp>
      <p:sp>
        <p:nvSpPr>
          <p:cNvPr id="31" name="Text Placeholder 4">
            <a:extLst>
              <a:ext uri="{FF2B5EF4-FFF2-40B4-BE49-F238E27FC236}">
                <a16:creationId xmlns:a16="http://schemas.microsoft.com/office/drawing/2014/main" id="{3E14B2A7-8AFA-D06B-1F84-638BC175DAFB}"/>
              </a:ext>
            </a:extLst>
          </p:cNvPr>
          <p:cNvSpPr txBox="1">
            <a:spLocks/>
          </p:cNvSpPr>
          <p:nvPr>
            <p:custDataLst>
              <p:tags r:id="rId13"/>
            </p:custDataLst>
          </p:nvPr>
        </p:nvSpPr>
        <p:spPr bwMode="auto">
          <a:xfrm>
            <a:off x="9985817" y="4210281"/>
            <a:ext cx="803486" cy="280029"/>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en-US" altLang="zh-CN" sz="1200" b="1" dirty="0">
                <a:latin typeface="+mn-lt"/>
                <a:ea typeface="+mn-ea"/>
                <a:cs typeface="+mn-ea"/>
                <a:sym typeface="+mn-lt"/>
              </a:rPr>
              <a:t>Rubin</a:t>
            </a:r>
            <a:endParaRPr lang="zh-CN" altLang="en-US" sz="1200" b="1" dirty="0">
              <a:latin typeface="+mn-lt"/>
              <a:ea typeface="+mn-ea"/>
              <a:cs typeface="+mn-ea"/>
              <a:sym typeface="+mn-lt"/>
            </a:endParaRPr>
          </a:p>
        </p:txBody>
      </p:sp>
    </p:spTree>
    <p:extLst>
      <p:ext uri="{BB962C8B-B14F-4D97-AF65-F5344CB8AC3E}">
        <p14:creationId xmlns:p14="http://schemas.microsoft.com/office/powerpoint/2010/main" val="1132639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F132999-7A6A-C0DA-FA39-6557A781CD5D}"/>
              </a:ext>
            </a:extLst>
          </p:cNvPr>
          <p:cNvGraphicFramePr>
            <a:graphicFrameLocks noChangeAspect="1"/>
          </p:cNvGraphicFramePr>
          <p:nvPr>
            <p:custDataLst>
              <p:tags r:id="rId1"/>
            </p:custDataLst>
            <p:extLst>
              <p:ext uri="{D42A27DB-BD31-4B8C-83A1-F6EECF244321}">
                <p14:modId xmlns:p14="http://schemas.microsoft.com/office/powerpoint/2010/main" val="20438925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8" imgW="401" imgH="401" progId="TCLayout.ActiveDocument.1">
                  <p:embed/>
                </p:oleObj>
              </mc:Choice>
              <mc:Fallback>
                <p:oleObj name="think-cell 幻灯片" r:id="rId8" imgW="401" imgH="401" progId="TCLayout.ActiveDocument.1">
                  <p:embed/>
                  <p:pic>
                    <p:nvPicPr>
                      <p:cNvPr id="0" name=""/>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6" name="文本框 55">
            <a:extLst>
              <a:ext uri="{FF2B5EF4-FFF2-40B4-BE49-F238E27FC236}">
                <a16:creationId xmlns:a16="http://schemas.microsoft.com/office/drawing/2014/main" id="{73C0F648-236B-FC51-C553-DAB2DEE186DA}"/>
              </a:ext>
            </a:extLst>
          </p:cNvPr>
          <p:cNvSpPr txBox="1"/>
          <p:nvPr/>
        </p:nvSpPr>
        <p:spPr>
          <a:xfrm>
            <a:off x="194205" y="6480696"/>
            <a:ext cx="6536586" cy="281243"/>
          </a:xfrm>
          <a:prstGeom prst="rect">
            <a:avLst/>
          </a:prstGeom>
          <a:ln w="6350">
            <a:noFill/>
            <a:miter lim="800000"/>
          </a:ln>
        </p:spPr>
        <p:txBody>
          <a:bodyPr vert="horz" wrap="square" lIns="0" tIns="0" rIns="0" bIns="0" rtlCol="0" anchor="ctr">
            <a:noAutofit/>
          </a:bodyPr>
          <a:lstStyle/>
          <a:p>
            <a:pPr>
              <a:spcBef>
                <a:spcPts val="300"/>
              </a:spcBef>
              <a:spcAft>
                <a:spcPts val="300"/>
              </a:spcAft>
            </a:pPr>
            <a:r>
              <a:rPr kumimoji="1" lang="en-US" altLang="zh-CN" sz="1200" i="1" dirty="0">
                <a:solidFill>
                  <a:schemeClr val="tx1">
                    <a:lumMod val="50000"/>
                  </a:schemeClr>
                </a:solidFill>
                <a:cs typeface="+mn-ea"/>
                <a:sym typeface="+mn-lt"/>
              </a:rPr>
              <a:t>Source:</a:t>
            </a:r>
            <a:r>
              <a:rPr kumimoji="1" lang="zh-CN" altLang="en-US" sz="1200" i="1" dirty="0">
                <a:solidFill>
                  <a:schemeClr val="tx1">
                    <a:lumMod val="50000"/>
                  </a:schemeClr>
                </a:solidFill>
                <a:cs typeface="+mn-ea"/>
                <a:sym typeface="+mn-lt"/>
              </a:rPr>
              <a:t> </a:t>
            </a:r>
            <a:r>
              <a:rPr kumimoji="1" lang="en-US" altLang="zh-CN" sz="1200" i="1" dirty="0">
                <a:solidFill>
                  <a:schemeClr val="tx1">
                    <a:lumMod val="50000"/>
                  </a:schemeClr>
                </a:solidFill>
                <a:cs typeface="+mn-ea"/>
                <a:sym typeface="+mn-lt"/>
              </a:rPr>
              <a:t>Marvell</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Broadcom</a:t>
            </a:r>
            <a:r>
              <a:rPr kumimoji="1" lang="zh-CN" altLang="en-US" sz="1200" i="1" dirty="0">
                <a:solidFill>
                  <a:schemeClr val="tx1">
                    <a:lumMod val="50000"/>
                  </a:schemeClr>
                </a:solidFill>
                <a:cs typeface="+mn-ea"/>
                <a:sym typeface="+mn-lt"/>
              </a:rPr>
              <a:t>专家访谈、</a:t>
            </a:r>
            <a:r>
              <a:rPr kumimoji="1" lang="en-US" altLang="zh-CN" sz="1200" i="1" dirty="0">
                <a:solidFill>
                  <a:schemeClr val="tx1">
                    <a:lumMod val="50000"/>
                  </a:schemeClr>
                </a:solidFill>
                <a:cs typeface="+mn-ea"/>
                <a:sym typeface="+mn-lt"/>
              </a:rPr>
              <a:t> Microsoft Research</a:t>
            </a:r>
            <a:endParaRPr kumimoji="1" lang="en-US" altLang="zh-CN" sz="1200" dirty="0">
              <a:solidFill>
                <a:schemeClr val="tx1">
                  <a:lumMod val="50000"/>
                </a:schemeClr>
              </a:solidFill>
              <a:cs typeface="+mn-ea"/>
              <a:sym typeface="+mn-lt"/>
            </a:endParaRPr>
          </a:p>
        </p:txBody>
      </p:sp>
      <p:sp>
        <p:nvSpPr>
          <p:cNvPr id="57" name="文本框 56">
            <a:extLst>
              <a:ext uri="{FF2B5EF4-FFF2-40B4-BE49-F238E27FC236}">
                <a16:creationId xmlns:a16="http://schemas.microsoft.com/office/drawing/2014/main" id="{8C599B7C-C8ED-3D74-CE07-179B7D8D05C8}"/>
              </a:ext>
            </a:extLst>
          </p:cNvPr>
          <p:cNvSpPr txBox="1"/>
          <p:nvPr/>
        </p:nvSpPr>
        <p:spPr>
          <a:xfrm>
            <a:off x="610165" y="1475620"/>
            <a:ext cx="5268912" cy="327025"/>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en-US" altLang="zh-CN" dirty="0">
                <a:solidFill>
                  <a:schemeClr val="tx1">
                    <a:lumMod val="50000"/>
                  </a:schemeClr>
                </a:solidFill>
                <a:cs typeface="+mn-ea"/>
                <a:sym typeface="+mn-lt"/>
              </a:rPr>
              <a:t>GPU</a:t>
            </a:r>
            <a:r>
              <a:rPr kumimoji="1" lang="zh-CN" altLang="en-US" dirty="0">
                <a:solidFill>
                  <a:schemeClr val="tx1">
                    <a:lumMod val="50000"/>
                  </a:schemeClr>
                </a:solidFill>
                <a:cs typeface="+mn-ea"/>
                <a:sym typeface="+mn-lt"/>
              </a:rPr>
              <a:t>机柜间互连距离</a:t>
            </a:r>
            <a:r>
              <a:rPr kumimoji="1" lang="zh-CN" altLang="en-US" dirty="0">
                <a:solidFill>
                  <a:schemeClr val="accent6">
                    <a:lumMod val="10000"/>
                  </a:schemeClr>
                </a:solidFill>
                <a:cs typeface="+mn-ea"/>
                <a:sym typeface="+mn-lt"/>
              </a:rPr>
              <a:t>已突破</a:t>
            </a:r>
            <a:r>
              <a:rPr kumimoji="1" lang="en-US" altLang="zh-CN" b="1" dirty="0">
                <a:solidFill>
                  <a:srgbClr val="0052D9"/>
                </a:solidFill>
                <a:cs typeface="+mn-ea"/>
                <a:sym typeface="+mn-lt"/>
              </a:rPr>
              <a:t>5m</a:t>
            </a:r>
            <a:r>
              <a:rPr kumimoji="1" lang="zh-CN" altLang="en-US" dirty="0">
                <a:solidFill>
                  <a:schemeClr val="tx1">
                    <a:lumMod val="50000"/>
                  </a:schemeClr>
                </a:solidFill>
                <a:cs typeface="+mn-ea"/>
                <a:sym typeface="+mn-lt"/>
              </a:rPr>
              <a:t>，万卡集群千米级</a:t>
            </a:r>
            <a:endParaRPr kumimoji="1" lang="zh-CN" altLang="zh-CN" dirty="0">
              <a:solidFill>
                <a:schemeClr val="tx1">
                  <a:lumMod val="50000"/>
                </a:schemeClr>
              </a:solidFill>
              <a:cs typeface="+mn-ea"/>
              <a:sym typeface="+mn-lt"/>
            </a:endParaRPr>
          </a:p>
        </p:txBody>
      </p:sp>
      <p:sp>
        <p:nvSpPr>
          <p:cNvPr id="3840" name="矩形: 圆角 3839">
            <a:extLst>
              <a:ext uri="{FF2B5EF4-FFF2-40B4-BE49-F238E27FC236}">
                <a16:creationId xmlns:a16="http://schemas.microsoft.com/office/drawing/2014/main" id="{790B1870-88FB-BD6B-86C4-CCFB70E7AD0A}"/>
              </a:ext>
            </a:extLst>
          </p:cNvPr>
          <p:cNvSpPr/>
          <p:nvPr/>
        </p:nvSpPr>
        <p:spPr>
          <a:xfrm>
            <a:off x="6642100" y="5223912"/>
            <a:ext cx="4919043" cy="1112155"/>
          </a:xfrm>
          <a:prstGeom prst="roundRect">
            <a:avLst>
              <a:gd name="adj" fmla="val 3533"/>
            </a:avLst>
          </a:prstGeom>
          <a:solidFill>
            <a:schemeClr val="tx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5000"/>
              </a:lnSpc>
            </a:pPr>
            <a:r>
              <a:rPr lang="zh-CN" altLang="en-US" sz="1600" b="1" i="1" dirty="0">
                <a:solidFill>
                  <a:schemeClr val="tx1">
                    <a:lumMod val="50000"/>
                  </a:schemeClr>
                </a:solidFill>
                <a:cs typeface="+mn-ea"/>
                <a:sym typeface="+mn-lt"/>
              </a:rPr>
              <a:t>“</a:t>
            </a:r>
            <a:r>
              <a:rPr lang="zh-CN" altLang="zh-CN" sz="1600" b="1" i="1" dirty="0">
                <a:solidFill>
                  <a:schemeClr val="tx1">
                    <a:lumMod val="50000"/>
                  </a:schemeClr>
                </a:solidFill>
                <a:cs typeface="+mn-ea"/>
                <a:sym typeface="+mn-lt"/>
              </a:rPr>
              <a:t>铜互连的极限是</a:t>
            </a:r>
            <a:r>
              <a:rPr lang="en-US" altLang="zh-CN" sz="1600" b="1" i="1" u="sng" dirty="0">
                <a:solidFill>
                  <a:schemeClr val="tx1">
                    <a:lumMod val="50000"/>
                  </a:schemeClr>
                </a:solidFill>
                <a:cs typeface="+mn-ea"/>
                <a:sym typeface="+mn-lt"/>
              </a:rPr>
              <a:t>2.5</a:t>
            </a:r>
            <a:r>
              <a:rPr lang="zh-CN" altLang="zh-CN" sz="1600" b="1" i="1" u="sng" dirty="0">
                <a:solidFill>
                  <a:schemeClr val="tx1">
                    <a:lumMod val="50000"/>
                  </a:schemeClr>
                </a:solidFill>
                <a:cs typeface="+mn-ea"/>
                <a:sym typeface="+mn-lt"/>
              </a:rPr>
              <a:t>米</a:t>
            </a:r>
            <a:r>
              <a:rPr lang="en-US" altLang="zh-CN" sz="1600" b="1" i="1" u="sng" dirty="0">
                <a:solidFill>
                  <a:schemeClr val="tx1">
                    <a:lumMod val="50000"/>
                  </a:schemeClr>
                </a:solidFill>
                <a:cs typeface="+mn-ea"/>
                <a:sym typeface="+mn-lt"/>
              </a:rPr>
              <a:t>-3</a:t>
            </a:r>
            <a:r>
              <a:rPr lang="zh-CN" altLang="zh-CN" sz="1600" b="1" i="1" u="sng" dirty="0">
                <a:solidFill>
                  <a:schemeClr val="tx1">
                    <a:lumMod val="50000"/>
                  </a:schemeClr>
                </a:solidFill>
                <a:cs typeface="+mn-ea"/>
                <a:sym typeface="+mn-lt"/>
              </a:rPr>
              <a:t>米</a:t>
            </a:r>
            <a:r>
              <a:rPr lang="zh-CN" altLang="zh-CN" sz="1600" b="1" i="1" dirty="0">
                <a:solidFill>
                  <a:schemeClr val="tx1">
                    <a:lumMod val="50000"/>
                  </a:schemeClr>
                </a:solidFill>
                <a:cs typeface="+mn-ea"/>
                <a:sym typeface="+mn-lt"/>
              </a:rPr>
              <a:t>，因此铜互连能承载的集群上限大约是</a:t>
            </a:r>
            <a:r>
              <a:rPr lang="zh-CN" altLang="zh-CN" sz="1600" b="1" i="1" u="sng" dirty="0">
                <a:solidFill>
                  <a:schemeClr val="tx1">
                    <a:lumMod val="50000"/>
                  </a:schemeClr>
                </a:solidFill>
                <a:cs typeface="+mn-ea"/>
                <a:sym typeface="+mn-lt"/>
              </a:rPr>
              <a:t>万卡规模</a:t>
            </a:r>
            <a:r>
              <a:rPr lang="zh-CN" altLang="en-US" sz="1600" b="1" i="1" dirty="0">
                <a:solidFill>
                  <a:schemeClr val="tx1">
                    <a:lumMod val="50000"/>
                  </a:schemeClr>
                </a:solidFill>
                <a:cs typeface="+mn-ea"/>
                <a:sym typeface="+mn-lt"/>
              </a:rPr>
              <a:t>”</a:t>
            </a:r>
            <a:endParaRPr lang="en-US" altLang="zh-CN" sz="1600" b="1" i="1" dirty="0">
              <a:solidFill>
                <a:schemeClr val="tx1">
                  <a:lumMod val="50000"/>
                </a:schemeClr>
              </a:solidFill>
              <a:cs typeface="+mn-ea"/>
              <a:sym typeface="+mn-lt"/>
            </a:endParaRPr>
          </a:p>
          <a:p>
            <a:pPr algn="r">
              <a:lnSpc>
                <a:spcPct val="125000"/>
              </a:lnSpc>
            </a:pPr>
            <a:r>
              <a:rPr lang="zh-CN" altLang="en-US" sz="1600" dirty="0">
                <a:solidFill>
                  <a:schemeClr val="tx1">
                    <a:lumMod val="50000"/>
                  </a:schemeClr>
                </a:solidFill>
                <a:cs typeface="+mn-ea"/>
                <a:sym typeface="+mn-lt"/>
              </a:rPr>
              <a:t> </a:t>
            </a:r>
            <a:r>
              <a:rPr lang="en-US" altLang="zh-CN" sz="1600" dirty="0">
                <a:solidFill>
                  <a:schemeClr val="tx1">
                    <a:lumMod val="50000"/>
                  </a:schemeClr>
                </a:solidFill>
                <a:cs typeface="+mn-ea"/>
                <a:sym typeface="+mn-lt"/>
              </a:rPr>
              <a:t>—</a:t>
            </a:r>
            <a:r>
              <a:rPr lang="zh-CN" altLang="en-US" sz="1600" dirty="0">
                <a:solidFill>
                  <a:schemeClr val="tx1">
                    <a:lumMod val="50000"/>
                  </a:schemeClr>
                </a:solidFill>
                <a:cs typeface="+mn-ea"/>
                <a:sym typeface="+mn-lt"/>
              </a:rPr>
              <a:t>博通高速互联系统架构师</a:t>
            </a:r>
            <a:endParaRPr lang="en-US" altLang="zh-CN" sz="1600" dirty="0">
              <a:solidFill>
                <a:schemeClr val="tx1">
                  <a:lumMod val="50000"/>
                </a:schemeClr>
              </a:solidFill>
              <a:cs typeface="+mn-ea"/>
              <a:sym typeface="+mn-lt"/>
            </a:endParaRPr>
          </a:p>
        </p:txBody>
      </p:sp>
      <p:cxnSp>
        <p:nvCxnSpPr>
          <p:cNvPr id="3677" name="连接符: 肘形 3676">
            <a:extLst>
              <a:ext uri="{FF2B5EF4-FFF2-40B4-BE49-F238E27FC236}">
                <a16:creationId xmlns:a16="http://schemas.microsoft.com/office/drawing/2014/main" id="{D5A142FF-0735-3827-58EC-1A8BB46072D6}"/>
              </a:ext>
            </a:extLst>
          </p:cNvPr>
          <p:cNvCxnSpPr>
            <a:cxnSpLocks/>
            <a:stCxn id="3680" idx="2"/>
            <a:endCxn id="60" idx="2"/>
          </p:cNvCxnSpPr>
          <p:nvPr/>
        </p:nvCxnSpPr>
        <p:spPr>
          <a:xfrm rot="5400000" flipH="1" flipV="1">
            <a:off x="3229779" y="3011661"/>
            <a:ext cx="4876" cy="2766695"/>
          </a:xfrm>
          <a:prstGeom prst="bentConnector3">
            <a:avLst>
              <a:gd name="adj1" fmla="val -7813823"/>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3701" name="组合 3700">
            <a:extLst>
              <a:ext uri="{FF2B5EF4-FFF2-40B4-BE49-F238E27FC236}">
                <a16:creationId xmlns:a16="http://schemas.microsoft.com/office/drawing/2014/main" id="{AB83E71C-3E91-228C-61D0-151F9FC1C746}"/>
              </a:ext>
            </a:extLst>
          </p:cNvPr>
          <p:cNvGrpSpPr/>
          <p:nvPr/>
        </p:nvGrpSpPr>
        <p:grpSpPr>
          <a:xfrm>
            <a:off x="601424" y="2400171"/>
            <a:ext cx="2494891" cy="1997276"/>
            <a:chOff x="1226694" y="2091768"/>
            <a:chExt cx="2376970" cy="1902874"/>
          </a:xfrm>
        </p:grpSpPr>
        <p:grpSp>
          <p:nvGrpSpPr>
            <p:cNvPr id="24" name="组合 23">
              <a:extLst>
                <a:ext uri="{FF2B5EF4-FFF2-40B4-BE49-F238E27FC236}">
                  <a16:creationId xmlns:a16="http://schemas.microsoft.com/office/drawing/2014/main" id="{EA2216E7-D054-6911-62F1-6485D495319D}"/>
                </a:ext>
              </a:extLst>
            </p:cNvPr>
            <p:cNvGrpSpPr/>
            <p:nvPr/>
          </p:nvGrpSpPr>
          <p:grpSpPr>
            <a:xfrm>
              <a:off x="1330382" y="2935129"/>
              <a:ext cx="944034" cy="870628"/>
              <a:chOff x="926656" y="3512102"/>
              <a:chExt cx="944034" cy="870628"/>
            </a:xfrm>
          </p:grpSpPr>
          <p:sp>
            <p:nvSpPr>
              <p:cNvPr id="18" name="矩形: 圆角 17">
                <a:extLst>
                  <a:ext uri="{FF2B5EF4-FFF2-40B4-BE49-F238E27FC236}">
                    <a16:creationId xmlns:a16="http://schemas.microsoft.com/office/drawing/2014/main" id="{70323601-200F-D610-B725-2585A75D42C9}"/>
                  </a:ext>
                </a:extLst>
              </p:cNvPr>
              <p:cNvSpPr/>
              <p:nvPr/>
            </p:nvSpPr>
            <p:spPr>
              <a:xfrm>
                <a:off x="926656" y="3512102"/>
                <a:ext cx="944034" cy="870628"/>
              </a:xfrm>
              <a:prstGeom prst="roundRect">
                <a:avLst>
                  <a:gd name="adj" fmla="val 10158"/>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矩形: 圆角 18">
                <a:extLst>
                  <a:ext uri="{FF2B5EF4-FFF2-40B4-BE49-F238E27FC236}">
                    <a16:creationId xmlns:a16="http://schemas.microsoft.com/office/drawing/2014/main" id="{C59263FE-BD23-D3B9-1040-E7FADE1E688F}"/>
                  </a:ext>
                </a:extLst>
              </p:cNvPr>
              <p:cNvSpPr/>
              <p:nvPr/>
            </p:nvSpPr>
            <p:spPr>
              <a:xfrm>
                <a:off x="1065914" y="4001538"/>
                <a:ext cx="665519" cy="217561"/>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GPU</a:t>
                </a:r>
                <a:endParaRPr lang="zh-CN" altLang="en-US" dirty="0">
                  <a:solidFill>
                    <a:schemeClr val="bg1"/>
                  </a:solidFill>
                  <a:cs typeface="+mn-ea"/>
                  <a:sym typeface="+mn-lt"/>
                </a:endParaRPr>
              </a:p>
            </p:txBody>
          </p:sp>
          <p:sp>
            <p:nvSpPr>
              <p:cNvPr id="23" name="矩形: 圆角 22">
                <a:extLst>
                  <a:ext uri="{FF2B5EF4-FFF2-40B4-BE49-F238E27FC236}">
                    <a16:creationId xmlns:a16="http://schemas.microsoft.com/office/drawing/2014/main" id="{F4CBB76F-D749-0385-8424-4155C0662DEC}"/>
                  </a:ext>
                </a:extLst>
              </p:cNvPr>
              <p:cNvSpPr/>
              <p:nvPr/>
            </p:nvSpPr>
            <p:spPr>
              <a:xfrm>
                <a:off x="1065914" y="3667525"/>
                <a:ext cx="665519" cy="217561"/>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GPU</a:t>
                </a:r>
                <a:endParaRPr lang="zh-CN" altLang="en-US" dirty="0">
                  <a:solidFill>
                    <a:schemeClr val="bg1"/>
                  </a:solidFill>
                  <a:cs typeface="+mn-ea"/>
                  <a:sym typeface="+mn-lt"/>
                </a:endParaRPr>
              </a:p>
            </p:txBody>
          </p:sp>
        </p:grpSp>
        <p:grpSp>
          <p:nvGrpSpPr>
            <p:cNvPr id="25" name="组合 24">
              <a:extLst>
                <a:ext uri="{FF2B5EF4-FFF2-40B4-BE49-F238E27FC236}">
                  <a16:creationId xmlns:a16="http://schemas.microsoft.com/office/drawing/2014/main" id="{7AB78D5B-48DF-973F-5192-397F55E79838}"/>
                </a:ext>
              </a:extLst>
            </p:cNvPr>
            <p:cNvGrpSpPr/>
            <p:nvPr/>
          </p:nvGrpSpPr>
          <p:grpSpPr>
            <a:xfrm>
              <a:off x="2563712" y="2935129"/>
              <a:ext cx="944034" cy="870628"/>
              <a:chOff x="926656" y="3512102"/>
              <a:chExt cx="944034" cy="870628"/>
            </a:xfrm>
          </p:grpSpPr>
          <p:sp>
            <p:nvSpPr>
              <p:cNvPr id="26" name="矩形: 圆角 25">
                <a:extLst>
                  <a:ext uri="{FF2B5EF4-FFF2-40B4-BE49-F238E27FC236}">
                    <a16:creationId xmlns:a16="http://schemas.microsoft.com/office/drawing/2014/main" id="{1EA575A3-1765-6B76-30F7-2A70C9DDF344}"/>
                  </a:ext>
                </a:extLst>
              </p:cNvPr>
              <p:cNvSpPr/>
              <p:nvPr/>
            </p:nvSpPr>
            <p:spPr>
              <a:xfrm>
                <a:off x="926656" y="3512102"/>
                <a:ext cx="944034" cy="870628"/>
              </a:xfrm>
              <a:prstGeom prst="roundRect">
                <a:avLst>
                  <a:gd name="adj" fmla="val 10158"/>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矩形: 圆角 26">
                <a:extLst>
                  <a:ext uri="{FF2B5EF4-FFF2-40B4-BE49-F238E27FC236}">
                    <a16:creationId xmlns:a16="http://schemas.microsoft.com/office/drawing/2014/main" id="{DE4AD6F4-43A3-1B09-9A95-C30B6409F240}"/>
                  </a:ext>
                </a:extLst>
              </p:cNvPr>
              <p:cNvSpPr/>
              <p:nvPr/>
            </p:nvSpPr>
            <p:spPr>
              <a:xfrm>
                <a:off x="1065914" y="4001538"/>
                <a:ext cx="665519" cy="217561"/>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GPU</a:t>
                </a:r>
                <a:endParaRPr lang="zh-CN" altLang="en-US" dirty="0">
                  <a:solidFill>
                    <a:schemeClr val="bg1"/>
                  </a:solidFill>
                  <a:cs typeface="+mn-ea"/>
                  <a:sym typeface="+mn-lt"/>
                </a:endParaRPr>
              </a:p>
            </p:txBody>
          </p:sp>
          <p:sp>
            <p:nvSpPr>
              <p:cNvPr id="28" name="矩形: 圆角 27">
                <a:extLst>
                  <a:ext uri="{FF2B5EF4-FFF2-40B4-BE49-F238E27FC236}">
                    <a16:creationId xmlns:a16="http://schemas.microsoft.com/office/drawing/2014/main" id="{64496906-EA71-71DB-2065-706EBA29BAF6}"/>
                  </a:ext>
                </a:extLst>
              </p:cNvPr>
              <p:cNvSpPr/>
              <p:nvPr/>
            </p:nvSpPr>
            <p:spPr>
              <a:xfrm>
                <a:off x="1065914" y="3667525"/>
                <a:ext cx="665519" cy="217561"/>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GPU</a:t>
                </a:r>
                <a:endParaRPr lang="zh-CN" altLang="en-US" dirty="0">
                  <a:solidFill>
                    <a:schemeClr val="bg1"/>
                  </a:solidFill>
                  <a:cs typeface="+mn-ea"/>
                  <a:sym typeface="+mn-lt"/>
                </a:endParaRPr>
              </a:p>
            </p:txBody>
          </p:sp>
        </p:grpSp>
        <p:sp>
          <p:nvSpPr>
            <p:cNvPr id="37" name="文本框 36">
              <a:extLst>
                <a:ext uri="{FF2B5EF4-FFF2-40B4-BE49-F238E27FC236}">
                  <a16:creationId xmlns:a16="http://schemas.microsoft.com/office/drawing/2014/main" id="{C015E140-7A1D-7F16-C4EE-332851B5DB38}"/>
                </a:ext>
              </a:extLst>
            </p:cNvPr>
            <p:cNvSpPr txBox="1"/>
            <p:nvPr/>
          </p:nvSpPr>
          <p:spPr>
            <a:xfrm>
              <a:off x="2074972" y="3189996"/>
              <a:ext cx="679429" cy="335782"/>
            </a:xfrm>
            <a:prstGeom prst="rect">
              <a:avLst/>
            </a:prstGeom>
            <a:noFill/>
          </p:spPr>
          <p:txBody>
            <a:bodyPr wrap="square" rtlCol="0">
              <a:spAutoFit/>
            </a:bodyPr>
            <a:lstStyle/>
            <a:p>
              <a:pPr algn="ctr"/>
              <a:r>
                <a:rPr lang="en-US" altLang="zh-CN" dirty="0">
                  <a:solidFill>
                    <a:srgbClr val="0052D9"/>
                  </a:solidFill>
                  <a:cs typeface="+mn-ea"/>
                  <a:sym typeface="+mn-lt"/>
                </a:rPr>
                <a:t>···</a:t>
              </a:r>
              <a:endParaRPr lang="zh-CN" altLang="en-US" dirty="0">
                <a:solidFill>
                  <a:srgbClr val="0052D9"/>
                </a:solidFill>
                <a:cs typeface="+mn-ea"/>
                <a:sym typeface="+mn-lt"/>
              </a:endParaRPr>
            </a:p>
          </p:txBody>
        </p:sp>
        <p:cxnSp>
          <p:nvCxnSpPr>
            <p:cNvPr id="40" name="连接符: 肘形 39">
              <a:extLst>
                <a:ext uri="{FF2B5EF4-FFF2-40B4-BE49-F238E27FC236}">
                  <a16:creationId xmlns:a16="http://schemas.microsoft.com/office/drawing/2014/main" id="{7CC20260-5585-8F7B-0939-3015A660DE6B}"/>
                </a:ext>
              </a:extLst>
            </p:cNvPr>
            <p:cNvCxnSpPr>
              <a:cxnSpLocks/>
              <a:stCxn id="18" idx="0"/>
              <a:endCxn id="26" idx="0"/>
            </p:cNvCxnSpPr>
            <p:nvPr/>
          </p:nvCxnSpPr>
          <p:spPr>
            <a:xfrm rot="5400000" flipH="1" flipV="1">
              <a:off x="2419064" y="2318464"/>
              <a:ext cx="12700" cy="1233330"/>
            </a:xfrm>
            <a:prstGeom prst="bentConnector3">
              <a:avLst>
                <a:gd name="adj1" fmla="val 18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B84B9174-6976-1A7E-F9FF-3976F29D8BEC}"/>
                </a:ext>
              </a:extLst>
            </p:cNvPr>
            <p:cNvSpPr txBox="1"/>
            <p:nvPr/>
          </p:nvSpPr>
          <p:spPr>
            <a:xfrm>
              <a:off x="1504814" y="2143165"/>
              <a:ext cx="1816564" cy="587619"/>
            </a:xfrm>
            <a:prstGeom prst="rect">
              <a:avLst/>
            </a:prstGeom>
            <a:noFill/>
          </p:spPr>
          <p:txBody>
            <a:bodyPr wrap="square" rtlCol="0">
              <a:spAutoFit/>
            </a:bodyPr>
            <a:lstStyle/>
            <a:p>
              <a:pPr algn="ctr"/>
              <a:r>
                <a:rPr lang="en-US" altLang="zh-CN" dirty="0">
                  <a:cs typeface="+mn-ea"/>
                  <a:sym typeface="+mn-lt"/>
                </a:rPr>
                <a:t>Rack &amp; Rack</a:t>
              </a:r>
            </a:p>
            <a:p>
              <a:pPr algn="ctr"/>
              <a:r>
                <a:rPr lang="en-US" altLang="zh-CN" b="1" dirty="0">
                  <a:solidFill>
                    <a:srgbClr val="0052D9"/>
                  </a:solidFill>
                  <a:cs typeface="+mn-ea"/>
                  <a:sym typeface="+mn-lt"/>
                </a:rPr>
                <a:t>&gt;5m</a:t>
              </a:r>
              <a:endParaRPr lang="zh-CN" altLang="en-US" b="1" dirty="0">
                <a:solidFill>
                  <a:srgbClr val="0052D9"/>
                </a:solidFill>
                <a:cs typeface="+mn-ea"/>
                <a:sym typeface="+mn-lt"/>
              </a:endParaRPr>
            </a:p>
          </p:txBody>
        </p:sp>
        <p:sp>
          <p:nvSpPr>
            <p:cNvPr id="3680" name="矩形: 圆角 3679">
              <a:extLst>
                <a:ext uri="{FF2B5EF4-FFF2-40B4-BE49-F238E27FC236}">
                  <a16:creationId xmlns:a16="http://schemas.microsoft.com/office/drawing/2014/main" id="{08C830D4-FADA-DEE1-76AB-5CF7450C0330}"/>
                </a:ext>
              </a:extLst>
            </p:cNvPr>
            <p:cNvSpPr/>
            <p:nvPr/>
          </p:nvSpPr>
          <p:spPr>
            <a:xfrm>
              <a:off x="1226694" y="2091768"/>
              <a:ext cx="2376970" cy="1902874"/>
            </a:xfrm>
            <a:prstGeom prst="roundRect">
              <a:avLst>
                <a:gd name="adj" fmla="val 10158"/>
              </a:avLst>
            </a:prstGeom>
            <a:noFill/>
            <a:ln>
              <a:solidFill>
                <a:srgbClr val="0052D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684" name="文本框 3683">
            <a:extLst>
              <a:ext uri="{FF2B5EF4-FFF2-40B4-BE49-F238E27FC236}">
                <a16:creationId xmlns:a16="http://schemas.microsoft.com/office/drawing/2014/main" id="{1B2964A3-C377-4C2C-EB9B-019B27A0D665}"/>
              </a:ext>
            </a:extLst>
          </p:cNvPr>
          <p:cNvSpPr txBox="1"/>
          <p:nvPr/>
        </p:nvSpPr>
        <p:spPr>
          <a:xfrm>
            <a:off x="1652735" y="4880581"/>
            <a:ext cx="3183864" cy="646331"/>
          </a:xfrm>
          <a:prstGeom prst="rect">
            <a:avLst/>
          </a:prstGeom>
          <a:noFill/>
        </p:spPr>
        <p:txBody>
          <a:bodyPr wrap="square" rtlCol="0">
            <a:spAutoFit/>
          </a:bodyPr>
          <a:lstStyle/>
          <a:p>
            <a:pPr algn="ctr"/>
            <a:r>
              <a:rPr lang="en-US" altLang="zh-CN" dirty="0">
                <a:cs typeface="+mn-ea"/>
                <a:sym typeface="+mn-lt"/>
              </a:rPr>
              <a:t>Data center interconnect</a:t>
            </a:r>
          </a:p>
          <a:p>
            <a:pPr algn="ctr"/>
            <a:r>
              <a:rPr lang="en-US" altLang="zh-CN" b="1" dirty="0" err="1">
                <a:solidFill>
                  <a:srgbClr val="0052D9"/>
                </a:solidFill>
                <a:cs typeface="+mn-ea"/>
                <a:sym typeface="+mn-lt"/>
              </a:rPr>
              <a:t>m~km</a:t>
            </a:r>
            <a:endParaRPr lang="zh-CN" altLang="en-US" b="1" dirty="0">
              <a:solidFill>
                <a:srgbClr val="0052D9"/>
              </a:solidFill>
              <a:cs typeface="+mn-ea"/>
              <a:sym typeface="+mn-lt"/>
            </a:endParaRPr>
          </a:p>
        </p:txBody>
      </p:sp>
      <p:sp>
        <p:nvSpPr>
          <p:cNvPr id="3686" name="文本框 3685">
            <a:extLst>
              <a:ext uri="{FF2B5EF4-FFF2-40B4-BE49-F238E27FC236}">
                <a16:creationId xmlns:a16="http://schemas.microsoft.com/office/drawing/2014/main" id="{237B7F0C-9BCC-2C70-6872-EDC1DC7E2CF9}"/>
              </a:ext>
            </a:extLst>
          </p:cNvPr>
          <p:cNvSpPr txBox="1"/>
          <p:nvPr/>
        </p:nvSpPr>
        <p:spPr>
          <a:xfrm>
            <a:off x="6172421" y="1173995"/>
            <a:ext cx="5130761" cy="301625"/>
          </a:xfrm>
          <a:prstGeom prst="rect">
            <a:avLst/>
          </a:prstGeom>
          <a:ln w="6350">
            <a:noFill/>
            <a:miter lim="800000"/>
          </a:ln>
        </p:spPr>
        <p:txBody>
          <a:bodyPr vert="horz" wrap="square" lIns="0" tIns="0" rIns="0" bIns="0" rtlCol="0">
            <a:noAutofit/>
          </a:bodyPr>
          <a:lstStyle/>
          <a:p>
            <a:pPr marL="285750" indent="-285750" algn="l">
              <a:spcBef>
                <a:spcPts val="300"/>
              </a:spcBef>
              <a:spcAft>
                <a:spcPts val="300"/>
              </a:spcAft>
              <a:buFont typeface="Arial" panose="020B0604020202020204" pitchFamily="34" charset="0"/>
              <a:buChar char="•"/>
            </a:pPr>
            <a:endParaRPr kumimoji="1" lang="zh-CN" altLang="en-US" sz="1600" dirty="0">
              <a:solidFill>
                <a:schemeClr val="tx1">
                  <a:lumMod val="50000"/>
                </a:schemeClr>
              </a:solidFill>
              <a:cs typeface="+mn-ea"/>
              <a:sym typeface="+mn-lt"/>
            </a:endParaRPr>
          </a:p>
        </p:txBody>
      </p:sp>
      <p:sp>
        <p:nvSpPr>
          <p:cNvPr id="3706" name="文本框 3705">
            <a:extLst>
              <a:ext uri="{FF2B5EF4-FFF2-40B4-BE49-F238E27FC236}">
                <a16:creationId xmlns:a16="http://schemas.microsoft.com/office/drawing/2014/main" id="{073D2CD5-53C8-625B-57DA-625CF473DDC6}"/>
              </a:ext>
            </a:extLst>
          </p:cNvPr>
          <p:cNvSpPr txBox="1"/>
          <p:nvPr/>
        </p:nvSpPr>
        <p:spPr>
          <a:xfrm>
            <a:off x="6427695" y="1478376"/>
            <a:ext cx="5268913" cy="328613"/>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zh-CN" altLang="en-US" dirty="0">
                <a:solidFill>
                  <a:schemeClr val="tx1">
                    <a:lumMod val="50000"/>
                  </a:schemeClr>
                </a:solidFill>
                <a:cs typeface="+mn-ea"/>
                <a:sym typeface="+mn-lt"/>
              </a:rPr>
              <a:t>目前通用速率</a:t>
            </a:r>
            <a:r>
              <a:rPr kumimoji="1" lang="en-US" altLang="zh-CN" dirty="0">
                <a:solidFill>
                  <a:schemeClr val="tx1">
                    <a:lumMod val="50000"/>
                  </a:schemeClr>
                </a:solidFill>
                <a:cs typeface="+mn-ea"/>
                <a:sym typeface="+mn-lt"/>
              </a:rPr>
              <a:t>112Gbps</a:t>
            </a:r>
            <a:r>
              <a:rPr kumimoji="1" lang="zh-CN" altLang="en-US" dirty="0">
                <a:solidFill>
                  <a:schemeClr val="tx1">
                    <a:lumMod val="50000"/>
                  </a:schemeClr>
                </a:solidFill>
                <a:cs typeface="+mn-ea"/>
                <a:sym typeface="+mn-lt"/>
              </a:rPr>
              <a:t>下，铜互连有效传输距离仅</a:t>
            </a:r>
            <a:r>
              <a:rPr kumimoji="1" lang="en-US" altLang="zh-CN" b="1" dirty="0">
                <a:solidFill>
                  <a:srgbClr val="0052D9"/>
                </a:solidFill>
                <a:cs typeface="+mn-ea"/>
                <a:sym typeface="+mn-lt"/>
              </a:rPr>
              <a:t>2.5m</a:t>
            </a:r>
            <a:r>
              <a:rPr kumimoji="1" lang="zh-CN" altLang="en-US" dirty="0">
                <a:solidFill>
                  <a:schemeClr val="tx1">
                    <a:lumMod val="50000"/>
                  </a:schemeClr>
                </a:solidFill>
                <a:cs typeface="+mn-ea"/>
                <a:sym typeface="+mn-lt"/>
              </a:rPr>
              <a:t>，需采用光互连取代铜互连</a:t>
            </a:r>
            <a:endParaRPr kumimoji="1" lang="en-US" altLang="zh-CN" dirty="0">
              <a:solidFill>
                <a:schemeClr val="tx1">
                  <a:lumMod val="50000"/>
                </a:schemeClr>
              </a:solidFill>
              <a:cs typeface="+mn-ea"/>
              <a:sym typeface="+mn-lt"/>
            </a:endParaRPr>
          </a:p>
          <a:p>
            <a:pPr>
              <a:spcBef>
                <a:spcPts val="600"/>
              </a:spcBef>
              <a:spcAft>
                <a:spcPts val="600"/>
              </a:spcAft>
            </a:pPr>
            <a:endParaRPr kumimoji="1" lang="en-US" altLang="zh-CN" dirty="0">
              <a:solidFill>
                <a:schemeClr val="tx1">
                  <a:lumMod val="50000"/>
                </a:schemeClr>
              </a:solidFill>
              <a:cs typeface="+mn-ea"/>
              <a:sym typeface="+mn-lt"/>
            </a:endParaRPr>
          </a:p>
        </p:txBody>
      </p:sp>
      <p:graphicFrame>
        <p:nvGraphicFramePr>
          <p:cNvPr id="3707" name="图表 3706">
            <a:extLst>
              <a:ext uri="{FF2B5EF4-FFF2-40B4-BE49-F238E27FC236}">
                <a16:creationId xmlns:a16="http://schemas.microsoft.com/office/drawing/2014/main" id="{7713F77A-0E98-445D-ADAE-FE66BB31E805}"/>
              </a:ext>
            </a:extLst>
          </p:cNvPr>
          <p:cNvGraphicFramePr>
            <a:graphicFrameLocks/>
          </p:cNvGraphicFramePr>
          <p:nvPr>
            <p:extLst>
              <p:ext uri="{D42A27DB-BD31-4B8C-83A1-F6EECF244321}">
                <p14:modId xmlns:p14="http://schemas.microsoft.com/office/powerpoint/2010/main" val="1575859857"/>
              </p:ext>
            </p:extLst>
          </p:nvPr>
        </p:nvGraphicFramePr>
        <p:xfrm>
          <a:off x="6841656" y="2744991"/>
          <a:ext cx="4748919" cy="2416207"/>
        </p:xfrm>
        <a:graphic>
          <a:graphicData uri="http://schemas.openxmlformats.org/drawingml/2006/chart">
            <c:chart xmlns:c="http://schemas.openxmlformats.org/drawingml/2006/chart" xmlns:r="http://schemas.openxmlformats.org/officeDocument/2006/relationships" r:id="rId10"/>
          </a:graphicData>
        </a:graphic>
      </p:graphicFrame>
      <p:sp>
        <p:nvSpPr>
          <p:cNvPr id="3708" name="Text Placeholder 4">
            <a:extLst>
              <a:ext uri="{FF2B5EF4-FFF2-40B4-BE49-F238E27FC236}">
                <a16:creationId xmlns:a16="http://schemas.microsoft.com/office/drawing/2014/main" id="{C5DBB834-0EEA-7696-AEFA-E85517E0B2D0}"/>
              </a:ext>
            </a:extLst>
          </p:cNvPr>
          <p:cNvSpPr txBox="1">
            <a:spLocks/>
          </p:cNvSpPr>
          <p:nvPr>
            <p:custDataLst>
              <p:tags r:id="rId2"/>
            </p:custDataLst>
          </p:nvPr>
        </p:nvSpPr>
        <p:spPr bwMode="auto">
          <a:xfrm>
            <a:off x="6269738" y="2219720"/>
            <a:ext cx="2137308"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zh-CN" altLang="en-US" sz="1400" dirty="0">
                <a:solidFill>
                  <a:schemeClr val="bg1">
                    <a:lumMod val="50000"/>
                  </a:schemeClr>
                </a:solidFill>
                <a:latin typeface="+mn-lt"/>
                <a:ea typeface="+mn-ea"/>
                <a:cs typeface="+mn-ea"/>
                <a:sym typeface="+mn-lt"/>
              </a:rPr>
              <a:t>有效传输距离</a:t>
            </a:r>
            <a:r>
              <a:rPr lang="en-US" altLang="zh-CN" sz="1400" baseline="30000" dirty="0">
                <a:solidFill>
                  <a:schemeClr val="bg1">
                    <a:lumMod val="50000"/>
                  </a:schemeClr>
                </a:solidFill>
                <a:latin typeface="+mn-lt"/>
                <a:ea typeface="+mn-ea"/>
                <a:cs typeface="+mn-ea"/>
                <a:sym typeface="+mn-lt"/>
              </a:rPr>
              <a:t>1</a:t>
            </a:r>
            <a:r>
              <a:rPr lang="en-US" altLang="zh-CN" sz="1400" dirty="0">
                <a:solidFill>
                  <a:schemeClr val="bg1">
                    <a:lumMod val="50000"/>
                  </a:schemeClr>
                </a:solidFill>
                <a:latin typeface="+mn-lt"/>
                <a:ea typeface="+mn-ea"/>
                <a:cs typeface="+mn-ea"/>
                <a:sym typeface="+mn-lt"/>
              </a:rPr>
              <a:t>(m)</a:t>
            </a:r>
            <a:endParaRPr lang="zh-CN" altLang="en-US" sz="1400" dirty="0">
              <a:solidFill>
                <a:schemeClr val="bg1">
                  <a:lumMod val="50000"/>
                </a:schemeClr>
              </a:solidFill>
              <a:latin typeface="+mn-lt"/>
              <a:ea typeface="+mn-ea"/>
              <a:cs typeface="+mn-ea"/>
              <a:sym typeface="+mn-lt"/>
            </a:endParaRPr>
          </a:p>
        </p:txBody>
      </p:sp>
      <p:sp>
        <p:nvSpPr>
          <p:cNvPr id="3709" name="文本框 20">
            <a:extLst>
              <a:ext uri="{FF2B5EF4-FFF2-40B4-BE49-F238E27FC236}">
                <a16:creationId xmlns:a16="http://schemas.microsoft.com/office/drawing/2014/main" id="{6ECB1057-BBC7-AE00-2DB4-837FCAA81073}"/>
              </a:ext>
            </a:extLst>
          </p:cNvPr>
          <p:cNvSpPr txBox="1"/>
          <p:nvPr/>
        </p:nvSpPr>
        <p:spPr>
          <a:xfrm>
            <a:off x="8536185" y="4193194"/>
            <a:ext cx="636413" cy="280988"/>
          </a:xfrm>
          <a:prstGeom prst="rect">
            <a:avLst/>
          </a:prstGeom>
          <a:solidFill>
            <a:schemeClr val="bg1"/>
          </a:solidFill>
          <a:ln w="6350">
            <a:noFill/>
            <a:miter lim="800000"/>
          </a:ln>
        </p:spPr>
        <p:txBody>
          <a:bodyPr vert="horz"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spcAft>
                <a:spcPts val="600"/>
              </a:spcAft>
            </a:pPr>
            <a:r>
              <a:rPr kumimoji="1" lang="en-US" altLang="zh-CN" b="1" dirty="0">
                <a:solidFill>
                  <a:srgbClr val="0052D9"/>
                </a:solidFill>
                <a:cs typeface="+mn-ea"/>
                <a:sym typeface="+mn-lt"/>
              </a:rPr>
              <a:t>2.5m</a:t>
            </a:r>
          </a:p>
        </p:txBody>
      </p:sp>
      <p:sp>
        <p:nvSpPr>
          <p:cNvPr id="3710" name="Text Placeholder 4">
            <a:extLst>
              <a:ext uri="{FF2B5EF4-FFF2-40B4-BE49-F238E27FC236}">
                <a16:creationId xmlns:a16="http://schemas.microsoft.com/office/drawing/2014/main" id="{4AE8E1AA-D71C-85D7-04E9-7EE05BEA6B0E}"/>
              </a:ext>
            </a:extLst>
          </p:cNvPr>
          <p:cNvSpPr txBox="1">
            <a:spLocks/>
          </p:cNvSpPr>
          <p:nvPr>
            <p:custDataLst>
              <p:tags r:id="rId3"/>
            </p:custDataLst>
          </p:nvPr>
        </p:nvSpPr>
        <p:spPr bwMode="auto">
          <a:xfrm>
            <a:off x="7955150" y="3785904"/>
            <a:ext cx="2312282" cy="52121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en-US" altLang="zh-CN" dirty="0">
                <a:solidFill>
                  <a:schemeClr val="accent6">
                    <a:lumMod val="10000"/>
                  </a:schemeClr>
                </a:solidFill>
                <a:latin typeface="+mn-lt"/>
                <a:ea typeface="+mn-ea"/>
                <a:cs typeface="+mn-ea"/>
                <a:sym typeface="+mn-lt"/>
              </a:rPr>
              <a:t>112G</a:t>
            </a:r>
            <a:r>
              <a:rPr lang="zh-CN" altLang="en-US" dirty="0">
                <a:solidFill>
                  <a:schemeClr val="accent6">
                    <a:lumMod val="10000"/>
                  </a:schemeClr>
                </a:solidFill>
                <a:latin typeface="+mn-lt"/>
                <a:ea typeface="+mn-ea"/>
                <a:cs typeface="+mn-ea"/>
                <a:sym typeface="+mn-lt"/>
              </a:rPr>
              <a:t>铜互联</a:t>
            </a:r>
          </a:p>
        </p:txBody>
      </p:sp>
      <p:grpSp>
        <p:nvGrpSpPr>
          <p:cNvPr id="3711" name="组合 3710">
            <a:extLst>
              <a:ext uri="{FF2B5EF4-FFF2-40B4-BE49-F238E27FC236}">
                <a16:creationId xmlns:a16="http://schemas.microsoft.com/office/drawing/2014/main" id="{6C6F9160-A687-5112-7186-A19DE18AE21D}"/>
              </a:ext>
            </a:extLst>
          </p:cNvPr>
          <p:cNvGrpSpPr/>
          <p:nvPr/>
        </p:nvGrpSpPr>
        <p:grpSpPr>
          <a:xfrm>
            <a:off x="9099655" y="2359032"/>
            <a:ext cx="2454525" cy="667571"/>
            <a:chOff x="9291269" y="3716868"/>
            <a:chExt cx="2454525" cy="667571"/>
          </a:xfrm>
        </p:grpSpPr>
        <p:sp>
          <p:nvSpPr>
            <p:cNvPr id="1025" name="文本框 20">
              <a:extLst>
                <a:ext uri="{FF2B5EF4-FFF2-40B4-BE49-F238E27FC236}">
                  <a16:creationId xmlns:a16="http://schemas.microsoft.com/office/drawing/2014/main" id="{5E805C8B-DF20-F453-FEA9-C26CC0EDFA2A}"/>
                </a:ext>
              </a:extLst>
            </p:cNvPr>
            <p:cNvSpPr txBox="1"/>
            <p:nvPr/>
          </p:nvSpPr>
          <p:spPr>
            <a:xfrm>
              <a:off x="9291269" y="4103451"/>
              <a:ext cx="976311" cy="280988"/>
            </a:xfrm>
            <a:prstGeom prst="rect">
              <a:avLst/>
            </a:prstGeom>
            <a:solidFill>
              <a:schemeClr val="bg1"/>
            </a:solidFill>
            <a:ln w="6350">
              <a:noFill/>
              <a:miter lim="800000"/>
            </a:ln>
          </p:spPr>
          <p:txBody>
            <a:bodyPr vert="horz"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spcAft>
                  <a:spcPts val="600"/>
                </a:spcAft>
              </a:pPr>
              <a:r>
                <a:rPr kumimoji="1" lang="en-US" altLang="zh-CN" b="1" dirty="0">
                  <a:solidFill>
                    <a:srgbClr val="0052D9"/>
                  </a:solidFill>
                  <a:cs typeface="+mn-ea"/>
                  <a:sym typeface="+mn-lt"/>
                </a:rPr>
                <a:t>&gt;&gt;50m</a:t>
              </a:r>
            </a:p>
          </p:txBody>
        </p:sp>
        <p:sp>
          <p:nvSpPr>
            <p:cNvPr id="1026" name="Text Placeholder 4">
              <a:extLst>
                <a:ext uri="{FF2B5EF4-FFF2-40B4-BE49-F238E27FC236}">
                  <a16:creationId xmlns:a16="http://schemas.microsoft.com/office/drawing/2014/main" id="{785147F7-A2BB-2771-FFF2-9432554327EF}"/>
                </a:ext>
              </a:extLst>
            </p:cNvPr>
            <p:cNvSpPr txBox="1">
              <a:spLocks/>
            </p:cNvSpPr>
            <p:nvPr>
              <p:custDataLst>
                <p:tags r:id="rId5"/>
              </p:custDataLst>
            </p:nvPr>
          </p:nvSpPr>
          <p:spPr bwMode="auto">
            <a:xfrm>
              <a:off x="9291269" y="3716868"/>
              <a:ext cx="2454525" cy="52121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buNone/>
              </a:pPr>
              <a:r>
                <a:rPr lang="en-US" altLang="zh-CN" dirty="0">
                  <a:solidFill>
                    <a:schemeClr val="accent6">
                      <a:lumMod val="10000"/>
                    </a:schemeClr>
                  </a:solidFill>
                  <a:latin typeface="+mn-lt"/>
                  <a:ea typeface="+mn-ea"/>
                  <a:cs typeface="+mn-ea"/>
                  <a:sym typeface="+mn-lt"/>
                </a:rPr>
                <a:t>200G</a:t>
              </a:r>
              <a:r>
                <a:rPr lang="zh-CN" altLang="en-US" dirty="0">
                  <a:solidFill>
                    <a:schemeClr val="accent6">
                      <a:lumMod val="10000"/>
                    </a:schemeClr>
                  </a:solidFill>
                  <a:latin typeface="+mn-lt"/>
                  <a:ea typeface="+mn-ea"/>
                  <a:cs typeface="+mn-ea"/>
                  <a:sym typeface="+mn-lt"/>
                </a:rPr>
                <a:t>光互联</a:t>
              </a:r>
            </a:p>
          </p:txBody>
        </p:sp>
      </p:grpSp>
      <p:cxnSp>
        <p:nvCxnSpPr>
          <p:cNvPr id="1031" name="直接连接符 1030">
            <a:extLst>
              <a:ext uri="{FF2B5EF4-FFF2-40B4-BE49-F238E27FC236}">
                <a16:creationId xmlns:a16="http://schemas.microsoft.com/office/drawing/2014/main" id="{7630D003-B955-5A6D-156A-640E9CB482B1}"/>
              </a:ext>
            </a:extLst>
          </p:cNvPr>
          <p:cNvCxnSpPr>
            <a:cxnSpLocks/>
          </p:cNvCxnSpPr>
          <p:nvPr/>
        </p:nvCxnSpPr>
        <p:spPr>
          <a:xfrm>
            <a:off x="7274103" y="2561802"/>
            <a:ext cx="0" cy="366378"/>
          </a:xfrm>
          <a:prstGeom prst="line">
            <a:avLst/>
          </a:prstGeom>
          <a:ln w="9525">
            <a:solidFill>
              <a:srgbClr val="D9D9D9"/>
            </a:solidFill>
            <a:prstDash val="solid"/>
          </a:ln>
        </p:spPr>
        <p:style>
          <a:lnRef idx="1">
            <a:schemeClr val="accent1"/>
          </a:lnRef>
          <a:fillRef idx="0">
            <a:schemeClr val="accent1"/>
          </a:fillRef>
          <a:effectRef idx="0">
            <a:schemeClr val="accent1"/>
          </a:effectRef>
          <a:fontRef idx="minor">
            <a:schemeClr val="tx1"/>
          </a:fontRef>
        </p:style>
      </p:cxnSp>
      <p:sp>
        <p:nvSpPr>
          <p:cNvPr id="1032" name="椭圆 1031">
            <a:extLst>
              <a:ext uri="{FF2B5EF4-FFF2-40B4-BE49-F238E27FC236}">
                <a16:creationId xmlns:a16="http://schemas.microsoft.com/office/drawing/2014/main" id="{23CD7850-F95B-5AE5-7EF7-3A95E05D107B}"/>
              </a:ext>
            </a:extLst>
          </p:cNvPr>
          <p:cNvSpPr/>
          <p:nvPr/>
        </p:nvSpPr>
        <p:spPr>
          <a:xfrm>
            <a:off x="8926685" y="2555976"/>
            <a:ext cx="84667" cy="84667"/>
          </a:xfrm>
          <a:prstGeom prst="ellipse">
            <a:avLst/>
          </a:prstGeom>
          <a:solidFill>
            <a:schemeClr val="bg1"/>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033" name="直接箭头连接符 1032">
            <a:extLst>
              <a:ext uri="{FF2B5EF4-FFF2-40B4-BE49-F238E27FC236}">
                <a16:creationId xmlns:a16="http://schemas.microsoft.com/office/drawing/2014/main" id="{A024889B-083E-65DE-DA35-8EA1D88EC3A1}"/>
              </a:ext>
            </a:extLst>
          </p:cNvPr>
          <p:cNvCxnSpPr>
            <a:cxnSpLocks/>
          </p:cNvCxnSpPr>
          <p:nvPr/>
        </p:nvCxnSpPr>
        <p:spPr>
          <a:xfrm flipH="1">
            <a:off x="7299325" y="2598684"/>
            <a:ext cx="1629561" cy="0"/>
          </a:xfrm>
          <a:prstGeom prst="straightConnector1">
            <a:avLst/>
          </a:prstGeom>
          <a:ln w="127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28" name="椭圆 1027">
            <a:extLst>
              <a:ext uri="{FF2B5EF4-FFF2-40B4-BE49-F238E27FC236}">
                <a16:creationId xmlns:a16="http://schemas.microsoft.com/office/drawing/2014/main" id="{9C83E2F2-BF2A-4B53-3552-F0DD8601823F}"/>
              </a:ext>
            </a:extLst>
          </p:cNvPr>
          <p:cNvSpPr/>
          <p:nvPr/>
        </p:nvSpPr>
        <p:spPr>
          <a:xfrm>
            <a:off x="8417465" y="4553783"/>
            <a:ext cx="84667" cy="84667"/>
          </a:xfrm>
          <a:prstGeom prst="ellipse">
            <a:avLst/>
          </a:prstGeom>
          <a:solidFill>
            <a:schemeClr val="bg1"/>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034" name="直接箭头连接符 1033">
            <a:extLst>
              <a:ext uri="{FF2B5EF4-FFF2-40B4-BE49-F238E27FC236}">
                <a16:creationId xmlns:a16="http://schemas.microsoft.com/office/drawing/2014/main" id="{1E7B5A71-1378-25BA-844E-D629AD194426}"/>
              </a:ext>
            </a:extLst>
          </p:cNvPr>
          <p:cNvCxnSpPr>
            <a:cxnSpLocks/>
          </p:cNvCxnSpPr>
          <p:nvPr/>
        </p:nvCxnSpPr>
        <p:spPr>
          <a:xfrm flipH="1">
            <a:off x="7299325" y="4596116"/>
            <a:ext cx="1118140" cy="0"/>
          </a:xfrm>
          <a:prstGeom prst="straightConnector1">
            <a:avLst/>
          </a:prstGeom>
          <a:ln w="127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9" name="标题 1">
            <a:extLst>
              <a:ext uri="{FF2B5EF4-FFF2-40B4-BE49-F238E27FC236}">
                <a16:creationId xmlns:a16="http://schemas.microsoft.com/office/drawing/2014/main" id="{6CE95533-BFDD-317F-19D4-3112CF619809}"/>
              </a:ext>
            </a:extLst>
          </p:cNvPr>
          <p:cNvSpPr txBox="1">
            <a:spLocks/>
          </p:cNvSpPr>
          <p:nvPr/>
        </p:nvSpPr>
        <p:spPr>
          <a:xfrm>
            <a:off x="263143" y="159198"/>
            <a:ext cx="9677146" cy="731520"/>
          </a:xfrm>
          <a:prstGeom prst="rect">
            <a:avLst/>
          </a:prstGeom>
        </p:spPr>
        <p:txBody>
          <a:bodyPr vert="horz" wrap="square" lIns="0" tIns="0" rIns="0" bIns="0" rtlCol="0" anchor="ctr" anchorCtr="0">
            <a:noAutofit/>
          </a:bodyPr>
          <a:lstStyle>
            <a:lvl1pPr algn="l" defTabSz="914400" rtl="0" eaLnBrk="1" latinLnBrk="0" hangingPunct="1">
              <a:lnSpc>
                <a:spcPct val="100000"/>
              </a:lnSpc>
              <a:spcBef>
                <a:spcPct val="1"/>
              </a:spcBef>
              <a:buNone/>
              <a:defRPr lang="en-US" sz="2500" b="0" kern="1200" spc="0" baseline="0" dirty="0">
                <a:ln w="6350" cap="flat">
                  <a:noFill/>
                  <a:miter lim="800000"/>
                </a:ln>
                <a:solidFill>
                  <a:schemeClr val="tx1"/>
                </a:solidFill>
                <a:latin typeface="+mj-lt"/>
                <a:ea typeface="+mj-ea"/>
                <a:cs typeface="+mj-cs"/>
                <a:sym typeface="微软雅黑" panose="020B0503020204020204" pitchFamily="34" charset="-122"/>
              </a:defRPr>
            </a:lvl1pPr>
          </a:lstStyle>
          <a:p>
            <a:r>
              <a:rPr lang="zh-CN" altLang="en-US" dirty="0">
                <a:latin typeface="+mn-lt"/>
                <a:ea typeface="+mn-ea"/>
                <a:cs typeface="+mn-ea"/>
                <a:sym typeface="+mn-lt"/>
              </a:rPr>
              <a:t>铜互连传输距离成为</a:t>
            </a:r>
            <a:r>
              <a:rPr lang="en-US" altLang="zh-CN" dirty="0">
                <a:latin typeface="+mn-lt"/>
                <a:ea typeface="+mn-ea"/>
                <a:cs typeface="+mn-ea"/>
                <a:sym typeface="+mn-lt"/>
              </a:rPr>
              <a:t>IDC</a:t>
            </a:r>
            <a:r>
              <a:rPr lang="zh-CN" altLang="en-US" dirty="0">
                <a:latin typeface="+mn-lt"/>
                <a:ea typeface="+mn-ea"/>
                <a:cs typeface="+mn-ea"/>
                <a:sym typeface="+mn-lt"/>
              </a:rPr>
              <a:t>扩量瓶颈，光互连可突破铜互联距离上限</a:t>
            </a:r>
          </a:p>
        </p:txBody>
      </p:sp>
      <p:sp>
        <p:nvSpPr>
          <p:cNvPr id="1050" name="文本框 1049">
            <a:extLst>
              <a:ext uri="{FF2B5EF4-FFF2-40B4-BE49-F238E27FC236}">
                <a16:creationId xmlns:a16="http://schemas.microsoft.com/office/drawing/2014/main" id="{3179E295-4193-A968-20B6-7ED683B0F2D2}"/>
              </a:ext>
            </a:extLst>
          </p:cNvPr>
          <p:cNvSpPr txBox="1"/>
          <p:nvPr/>
        </p:nvSpPr>
        <p:spPr>
          <a:xfrm>
            <a:off x="6372462" y="6495055"/>
            <a:ext cx="6536586"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：有效传输距离，保证误码率不超过可用临界值的稳定传输距离</a:t>
            </a:r>
          </a:p>
        </p:txBody>
      </p:sp>
      <p:sp>
        <p:nvSpPr>
          <p:cNvPr id="1052" name="Text Placeholder 4">
            <a:extLst>
              <a:ext uri="{FF2B5EF4-FFF2-40B4-BE49-F238E27FC236}">
                <a16:creationId xmlns:a16="http://schemas.microsoft.com/office/drawing/2014/main" id="{98CB40A3-78E9-6274-F383-E6BC128C15F9}"/>
              </a:ext>
            </a:extLst>
          </p:cNvPr>
          <p:cNvSpPr txBox="1">
            <a:spLocks/>
          </p:cNvSpPr>
          <p:nvPr>
            <p:custDataLst>
              <p:tags r:id="rId4"/>
            </p:custDataLst>
          </p:nvPr>
        </p:nvSpPr>
        <p:spPr bwMode="auto">
          <a:xfrm>
            <a:off x="10075095" y="4321478"/>
            <a:ext cx="2137308"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r>
              <a:rPr lang="zh-CN" altLang="en-US" sz="1400" dirty="0">
                <a:solidFill>
                  <a:schemeClr val="bg1">
                    <a:lumMod val="50000"/>
                  </a:schemeClr>
                </a:solidFill>
                <a:latin typeface="+mn-lt"/>
                <a:ea typeface="+mn-ea"/>
                <a:cs typeface="+mn-ea"/>
                <a:sym typeface="+mn-lt"/>
              </a:rPr>
              <a:t>传输速率（</a:t>
            </a:r>
            <a:r>
              <a:rPr lang="en-US" altLang="zh-CN" sz="1400" dirty="0">
                <a:solidFill>
                  <a:schemeClr val="bg1">
                    <a:lumMod val="50000"/>
                  </a:schemeClr>
                </a:solidFill>
                <a:latin typeface="+mn-lt"/>
                <a:ea typeface="+mn-ea"/>
                <a:cs typeface="+mn-ea"/>
                <a:sym typeface="+mn-lt"/>
              </a:rPr>
              <a:t>Gbps</a:t>
            </a:r>
            <a:r>
              <a:rPr lang="zh-CN" altLang="en-US" sz="1400" dirty="0">
                <a:solidFill>
                  <a:schemeClr val="bg1">
                    <a:lumMod val="50000"/>
                  </a:schemeClr>
                </a:solidFill>
                <a:latin typeface="+mn-lt"/>
                <a:ea typeface="+mn-ea"/>
                <a:cs typeface="+mn-ea"/>
                <a:sym typeface="+mn-lt"/>
              </a:rPr>
              <a:t>）</a:t>
            </a:r>
          </a:p>
        </p:txBody>
      </p:sp>
      <p:grpSp>
        <p:nvGrpSpPr>
          <p:cNvPr id="1061" name="组合 1060">
            <a:extLst>
              <a:ext uri="{FF2B5EF4-FFF2-40B4-BE49-F238E27FC236}">
                <a16:creationId xmlns:a16="http://schemas.microsoft.com/office/drawing/2014/main" id="{9CEE07DE-0EB8-609B-C9BE-AA5A4E34D770}"/>
              </a:ext>
            </a:extLst>
          </p:cNvPr>
          <p:cNvGrpSpPr/>
          <p:nvPr/>
        </p:nvGrpSpPr>
        <p:grpSpPr>
          <a:xfrm>
            <a:off x="504186" y="971862"/>
            <a:ext cx="11708217" cy="503758"/>
            <a:chOff x="504186" y="971862"/>
            <a:chExt cx="11708217" cy="503758"/>
          </a:xfrm>
        </p:grpSpPr>
        <p:sp>
          <p:nvSpPr>
            <p:cNvPr id="1062" name="文本框 1061">
              <a:extLst>
                <a:ext uri="{FF2B5EF4-FFF2-40B4-BE49-F238E27FC236}">
                  <a16:creationId xmlns:a16="http://schemas.microsoft.com/office/drawing/2014/main" id="{55F168A1-7BD4-88E0-EF86-9379A44FF6E3}"/>
                </a:ext>
              </a:extLst>
            </p:cNvPr>
            <p:cNvSpPr txBox="1"/>
            <p:nvPr/>
          </p:nvSpPr>
          <p:spPr>
            <a:xfrm>
              <a:off x="6326494" y="976464"/>
              <a:ext cx="5885909" cy="30162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zh-CN" altLang="en-US" b="1" dirty="0">
                  <a:solidFill>
                    <a:schemeClr val="accent6">
                      <a:lumMod val="10000"/>
                    </a:schemeClr>
                  </a:solidFill>
                  <a:cs typeface="+mn-ea"/>
                  <a:sym typeface="+mn-lt"/>
                </a:rPr>
                <a:t>铜 </a:t>
              </a:r>
              <a:r>
                <a:rPr kumimoji="1" lang="en-US" altLang="zh-CN" b="1" dirty="0">
                  <a:solidFill>
                    <a:schemeClr val="accent6">
                      <a:lumMod val="10000"/>
                    </a:schemeClr>
                  </a:solidFill>
                  <a:cs typeface="+mn-ea"/>
                  <a:sym typeface="+mn-lt"/>
                </a:rPr>
                <a:t>=&gt; </a:t>
              </a:r>
              <a:r>
                <a:rPr kumimoji="1" lang="zh-CN" altLang="en-US" b="1" dirty="0">
                  <a:solidFill>
                    <a:schemeClr val="accent6">
                      <a:lumMod val="10000"/>
                    </a:schemeClr>
                  </a:solidFill>
                  <a:cs typeface="+mn-ea"/>
                  <a:sym typeface="+mn-lt"/>
                </a:rPr>
                <a:t>光：传输距离 </a:t>
              </a:r>
              <a:r>
                <a:rPr kumimoji="1" lang="en-US" altLang="zh-CN" b="1" dirty="0">
                  <a:solidFill>
                    <a:schemeClr val="accent6">
                      <a:lumMod val="10000"/>
                    </a:schemeClr>
                  </a:solidFill>
                  <a:cs typeface="+mn-ea"/>
                  <a:sym typeface="+mn-lt"/>
                </a:rPr>
                <a:t>2.5m =&gt; 10m</a:t>
              </a:r>
              <a:r>
                <a:rPr kumimoji="1" lang="zh-CN" altLang="en-US" b="1" dirty="0">
                  <a:solidFill>
                    <a:schemeClr val="accent6">
                      <a:lumMod val="10000"/>
                    </a:schemeClr>
                  </a:solidFill>
                  <a:cs typeface="+mn-ea"/>
                  <a:sym typeface="+mn-lt"/>
                </a:rPr>
                <a:t>级</a:t>
              </a:r>
            </a:p>
          </p:txBody>
        </p:sp>
        <p:sp>
          <p:nvSpPr>
            <p:cNvPr id="1063" name="文本框 1062">
              <a:extLst>
                <a:ext uri="{FF2B5EF4-FFF2-40B4-BE49-F238E27FC236}">
                  <a16:creationId xmlns:a16="http://schemas.microsoft.com/office/drawing/2014/main" id="{66B63D50-7A87-6ADA-4203-62F7A881047F}"/>
                </a:ext>
              </a:extLst>
            </p:cNvPr>
            <p:cNvSpPr txBox="1"/>
            <p:nvPr/>
          </p:nvSpPr>
          <p:spPr>
            <a:xfrm>
              <a:off x="6172421" y="1173995"/>
              <a:ext cx="5130761" cy="301625"/>
            </a:xfrm>
            <a:prstGeom prst="rect">
              <a:avLst/>
            </a:prstGeom>
            <a:ln w="6350">
              <a:noFill/>
              <a:miter lim="800000"/>
            </a:ln>
          </p:spPr>
          <p:txBody>
            <a:bodyPr vert="horz" wrap="square" lIns="0" tIns="0" rIns="0" bIns="0" rtlCol="0">
              <a:noAutofit/>
            </a:bodyPr>
            <a:lstStyle/>
            <a:p>
              <a:pPr marL="285750" indent="-285750" algn="l">
                <a:spcBef>
                  <a:spcPts val="300"/>
                </a:spcBef>
                <a:spcAft>
                  <a:spcPts val="300"/>
                </a:spcAft>
                <a:buFont typeface="Arial" panose="020B0604020202020204" pitchFamily="34" charset="0"/>
                <a:buChar char="•"/>
              </a:pPr>
              <a:endParaRPr kumimoji="1" lang="zh-CN" altLang="en-US" sz="1600" dirty="0">
                <a:solidFill>
                  <a:schemeClr val="tx1">
                    <a:lumMod val="50000"/>
                  </a:schemeClr>
                </a:solidFill>
                <a:cs typeface="+mn-ea"/>
                <a:sym typeface="+mn-lt"/>
              </a:endParaRPr>
            </a:p>
          </p:txBody>
        </p:sp>
        <p:cxnSp>
          <p:nvCxnSpPr>
            <p:cNvPr id="1064" name="直线连接符 38">
              <a:extLst>
                <a:ext uri="{FF2B5EF4-FFF2-40B4-BE49-F238E27FC236}">
                  <a16:creationId xmlns:a16="http://schemas.microsoft.com/office/drawing/2014/main" id="{B7C75769-1CDE-6452-24DB-AE99868E490F}"/>
                </a:ext>
              </a:extLst>
            </p:cNvPr>
            <p:cNvCxnSpPr>
              <a:cxnSpLocks/>
            </p:cNvCxnSpPr>
            <p:nvPr/>
          </p:nvCxnSpPr>
          <p:spPr>
            <a:xfrm>
              <a:off x="6326494" y="1307289"/>
              <a:ext cx="5269570"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65" name="文本框 1064">
              <a:extLst>
                <a:ext uri="{FF2B5EF4-FFF2-40B4-BE49-F238E27FC236}">
                  <a16:creationId xmlns:a16="http://schemas.microsoft.com/office/drawing/2014/main" id="{CA12BEBA-992B-1331-D01B-D4F034DAA27D}"/>
                </a:ext>
              </a:extLst>
            </p:cNvPr>
            <p:cNvSpPr txBox="1"/>
            <p:nvPr/>
          </p:nvSpPr>
          <p:spPr>
            <a:xfrm>
              <a:off x="504186" y="971862"/>
              <a:ext cx="3873873" cy="327025"/>
            </a:xfrm>
            <a:prstGeom prst="rect">
              <a:avLst/>
            </a:prstGeom>
            <a:ln w="6350">
              <a:noFill/>
              <a:miter lim="800000"/>
            </a:ln>
          </p:spPr>
          <p:txBody>
            <a:bodyPr vert="horz" wrap="square" lIns="0" tIns="0" rIns="0" bIns="0" rtlCol="0" anchor="ctr">
              <a:noAutofit/>
            </a:bodyPr>
            <a:lstStyle/>
            <a:p>
              <a:pPr>
                <a:spcBef>
                  <a:spcPts val="600"/>
                </a:spcBef>
                <a:spcAft>
                  <a:spcPts val="600"/>
                </a:spcAft>
              </a:pPr>
              <a:r>
                <a:rPr kumimoji="1" lang="en-US" altLang="zh-CN" b="1" dirty="0">
                  <a:solidFill>
                    <a:schemeClr val="tx1">
                      <a:lumMod val="50000"/>
                    </a:schemeClr>
                  </a:solidFill>
                  <a:cs typeface="+mn-ea"/>
                  <a:sym typeface="+mn-lt"/>
                </a:rPr>
                <a:t>IDC</a:t>
              </a:r>
              <a:r>
                <a:rPr kumimoji="1" lang="zh-CN" altLang="en-US" b="1" dirty="0">
                  <a:solidFill>
                    <a:schemeClr val="tx1">
                      <a:lumMod val="50000"/>
                    </a:schemeClr>
                  </a:solidFill>
                  <a:cs typeface="+mn-ea"/>
                  <a:sym typeface="+mn-lt"/>
                </a:rPr>
                <a:t>扩张对互连距离提出更高要求</a:t>
              </a:r>
              <a:endParaRPr kumimoji="1" lang="en-US" altLang="zh-CN" dirty="0">
                <a:solidFill>
                  <a:schemeClr val="tx1">
                    <a:lumMod val="50000"/>
                  </a:schemeClr>
                </a:solidFill>
                <a:cs typeface="+mn-ea"/>
                <a:sym typeface="+mn-lt"/>
              </a:endParaRPr>
            </a:p>
          </p:txBody>
        </p:sp>
        <p:cxnSp>
          <p:nvCxnSpPr>
            <p:cNvPr id="1066" name="直线连接符 38">
              <a:extLst>
                <a:ext uri="{FF2B5EF4-FFF2-40B4-BE49-F238E27FC236}">
                  <a16:creationId xmlns:a16="http://schemas.microsoft.com/office/drawing/2014/main" id="{01C339C7-3D20-22FC-25FA-5F4E074CFDBF}"/>
                </a:ext>
              </a:extLst>
            </p:cNvPr>
            <p:cNvCxnSpPr>
              <a:cxnSpLocks/>
            </p:cNvCxnSpPr>
            <p:nvPr/>
          </p:nvCxnSpPr>
          <p:spPr>
            <a:xfrm>
              <a:off x="504186" y="1316624"/>
              <a:ext cx="5356341"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52" name="组合 51">
            <a:extLst>
              <a:ext uri="{FF2B5EF4-FFF2-40B4-BE49-F238E27FC236}">
                <a16:creationId xmlns:a16="http://schemas.microsoft.com/office/drawing/2014/main" id="{91AF7A96-31F9-5A49-1F5A-3A43F6D6237F}"/>
              </a:ext>
            </a:extLst>
          </p:cNvPr>
          <p:cNvGrpSpPr/>
          <p:nvPr/>
        </p:nvGrpSpPr>
        <p:grpSpPr>
          <a:xfrm>
            <a:off x="3370603" y="2399272"/>
            <a:ext cx="2489923" cy="1993299"/>
            <a:chOff x="1226694" y="2091768"/>
            <a:chExt cx="2376970" cy="1902874"/>
          </a:xfrm>
        </p:grpSpPr>
        <p:grpSp>
          <p:nvGrpSpPr>
            <p:cNvPr id="53" name="组合 52">
              <a:extLst>
                <a:ext uri="{FF2B5EF4-FFF2-40B4-BE49-F238E27FC236}">
                  <a16:creationId xmlns:a16="http://schemas.microsoft.com/office/drawing/2014/main" id="{4900B3C9-AFC0-964E-CE06-3946EFEC1E7F}"/>
                </a:ext>
              </a:extLst>
            </p:cNvPr>
            <p:cNvGrpSpPr/>
            <p:nvPr/>
          </p:nvGrpSpPr>
          <p:grpSpPr>
            <a:xfrm>
              <a:off x="1330382" y="2935129"/>
              <a:ext cx="944034" cy="870628"/>
              <a:chOff x="926656" y="3512102"/>
              <a:chExt cx="944034" cy="870628"/>
            </a:xfrm>
          </p:grpSpPr>
          <p:sp>
            <p:nvSpPr>
              <p:cNvPr id="3648" name="矩形: 圆角 3647">
                <a:extLst>
                  <a:ext uri="{FF2B5EF4-FFF2-40B4-BE49-F238E27FC236}">
                    <a16:creationId xmlns:a16="http://schemas.microsoft.com/office/drawing/2014/main" id="{BD1A75CE-605E-2EE9-7377-DE7430A68E18}"/>
                  </a:ext>
                </a:extLst>
              </p:cNvPr>
              <p:cNvSpPr/>
              <p:nvPr/>
            </p:nvSpPr>
            <p:spPr>
              <a:xfrm>
                <a:off x="926656" y="3512102"/>
                <a:ext cx="944034" cy="870628"/>
              </a:xfrm>
              <a:prstGeom prst="roundRect">
                <a:avLst>
                  <a:gd name="adj" fmla="val 10158"/>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49" name="矩形: 圆角 3648">
                <a:extLst>
                  <a:ext uri="{FF2B5EF4-FFF2-40B4-BE49-F238E27FC236}">
                    <a16:creationId xmlns:a16="http://schemas.microsoft.com/office/drawing/2014/main" id="{370CD0EA-00EC-1283-7BF5-E79DDC6DF821}"/>
                  </a:ext>
                </a:extLst>
              </p:cNvPr>
              <p:cNvSpPr/>
              <p:nvPr/>
            </p:nvSpPr>
            <p:spPr>
              <a:xfrm>
                <a:off x="1065914" y="4001538"/>
                <a:ext cx="665519" cy="217561"/>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GPU</a:t>
                </a:r>
                <a:endParaRPr lang="zh-CN" altLang="en-US" dirty="0">
                  <a:solidFill>
                    <a:schemeClr val="bg1"/>
                  </a:solidFill>
                  <a:cs typeface="+mn-ea"/>
                  <a:sym typeface="+mn-lt"/>
                </a:endParaRPr>
              </a:p>
            </p:txBody>
          </p:sp>
          <p:sp>
            <p:nvSpPr>
              <p:cNvPr id="3650" name="矩形: 圆角 3649">
                <a:extLst>
                  <a:ext uri="{FF2B5EF4-FFF2-40B4-BE49-F238E27FC236}">
                    <a16:creationId xmlns:a16="http://schemas.microsoft.com/office/drawing/2014/main" id="{F12A9352-E771-F25B-30F3-3A0805CACB7A}"/>
                  </a:ext>
                </a:extLst>
              </p:cNvPr>
              <p:cNvSpPr/>
              <p:nvPr/>
            </p:nvSpPr>
            <p:spPr>
              <a:xfrm>
                <a:off x="1065914" y="3667525"/>
                <a:ext cx="665519" cy="217561"/>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GPU</a:t>
                </a:r>
                <a:endParaRPr lang="zh-CN" altLang="en-US" dirty="0">
                  <a:solidFill>
                    <a:schemeClr val="bg1"/>
                  </a:solidFill>
                  <a:cs typeface="+mn-ea"/>
                  <a:sym typeface="+mn-lt"/>
                </a:endParaRPr>
              </a:p>
            </p:txBody>
          </p:sp>
        </p:grpSp>
        <p:grpSp>
          <p:nvGrpSpPr>
            <p:cNvPr id="54" name="组合 53">
              <a:extLst>
                <a:ext uri="{FF2B5EF4-FFF2-40B4-BE49-F238E27FC236}">
                  <a16:creationId xmlns:a16="http://schemas.microsoft.com/office/drawing/2014/main" id="{F3EF336C-AB3D-0D4A-74DD-F513AFFA21D0}"/>
                </a:ext>
              </a:extLst>
            </p:cNvPr>
            <p:cNvGrpSpPr/>
            <p:nvPr/>
          </p:nvGrpSpPr>
          <p:grpSpPr>
            <a:xfrm>
              <a:off x="2563712" y="2935129"/>
              <a:ext cx="944034" cy="870628"/>
              <a:chOff x="926656" y="3512102"/>
              <a:chExt cx="944034" cy="870628"/>
            </a:xfrm>
          </p:grpSpPr>
          <p:sp>
            <p:nvSpPr>
              <p:cNvPr id="61" name="矩形: 圆角 60">
                <a:extLst>
                  <a:ext uri="{FF2B5EF4-FFF2-40B4-BE49-F238E27FC236}">
                    <a16:creationId xmlns:a16="http://schemas.microsoft.com/office/drawing/2014/main" id="{B1E4D708-A2CE-1FCA-B291-B6251B42BA88}"/>
                  </a:ext>
                </a:extLst>
              </p:cNvPr>
              <p:cNvSpPr/>
              <p:nvPr/>
            </p:nvSpPr>
            <p:spPr>
              <a:xfrm>
                <a:off x="926656" y="3512102"/>
                <a:ext cx="944034" cy="870628"/>
              </a:xfrm>
              <a:prstGeom prst="roundRect">
                <a:avLst>
                  <a:gd name="adj" fmla="val 10158"/>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2" name="矩形: 圆角 61">
                <a:extLst>
                  <a:ext uri="{FF2B5EF4-FFF2-40B4-BE49-F238E27FC236}">
                    <a16:creationId xmlns:a16="http://schemas.microsoft.com/office/drawing/2014/main" id="{48E69241-8187-0F6F-7630-6F20FE7F2E13}"/>
                  </a:ext>
                </a:extLst>
              </p:cNvPr>
              <p:cNvSpPr/>
              <p:nvPr/>
            </p:nvSpPr>
            <p:spPr>
              <a:xfrm>
                <a:off x="1065914" y="4001538"/>
                <a:ext cx="665519" cy="217561"/>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GPU</a:t>
                </a:r>
                <a:endParaRPr lang="zh-CN" altLang="en-US" dirty="0">
                  <a:solidFill>
                    <a:schemeClr val="bg1"/>
                  </a:solidFill>
                  <a:cs typeface="+mn-ea"/>
                  <a:sym typeface="+mn-lt"/>
                </a:endParaRPr>
              </a:p>
            </p:txBody>
          </p:sp>
          <p:sp>
            <p:nvSpPr>
              <p:cNvPr id="63" name="矩形: 圆角 62">
                <a:extLst>
                  <a:ext uri="{FF2B5EF4-FFF2-40B4-BE49-F238E27FC236}">
                    <a16:creationId xmlns:a16="http://schemas.microsoft.com/office/drawing/2014/main" id="{6C55BEF8-D487-0BB4-BCEF-142ABC0C7DF4}"/>
                  </a:ext>
                </a:extLst>
              </p:cNvPr>
              <p:cNvSpPr/>
              <p:nvPr/>
            </p:nvSpPr>
            <p:spPr>
              <a:xfrm>
                <a:off x="1065914" y="3667525"/>
                <a:ext cx="665519" cy="217561"/>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GPU</a:t>
                </a:r>
                <a:endParaRPr lang="zh-CN" altLang="en-US" dirty="0">
                  <a:solidFill>
                    <a:schemeClr val="bg1"/>
                  </a:solidFill>
                  <a:cs typeface="+mn-ea"/>
                  <a:sym typeface="+mn-lt"/>
                </a:endParaRPr>
              </a:p>
            </p:txBody>
          </p:sp>
        </p:grpSp>
        <p:sp>
          <p:nvSpPr>
            <p:cNvPr id="55" name="文本框 54">
              <a:extLst>
                <a:ext uri="{FF2B5EF4-FFF2-40B4-BE49-F238E27FC236}">
                  <a16:creationId xmlns:a16="http://schemas.microsoft.com/office/drawing/2014/main" id="{78DDF76C-DDEE-BF79-DCED-7EBD8E52BE5E}"/>
                </a:ext>
              </a:extLst>
            </p:cNvPr>
            <p:cNvSpPr txBox="1"/>
            <p:nvPr/>
          </p:nvSpPr>
          <p:spPr>
            <a:xfrm>
              <a:off x="2074972" y="3189996"/>
              <a:ext cx="679429" cy="335782"/>
            </a:xfrm>
            <a:prstGeom prst="rect">
              <a:avLst/>
            </a:prstGeom>
            <a:noFill/>
          </p:spPr>
          <p:txBody>
            <a:bodyPr wrap="square" rtlCol="0">
              <a:spAutoFit/>
            </a:bodyPr>
            <a:lstStyle/>
            <a:p>
              <a:pPr algn="ctr"/>
              <a:r>
                <a:rPr lang="en-US" altLang="zh-CN" dirty="0">
                  <a:solidFill>
                    <a:srgbClr val="0052D9"/>
                  </a:solidFill>
                  <a:cs typeface="+mn-ea"/>
                  <a:sym typeface="+mn-lt"/>
                </a:rPr>
                <a:t>···</a:t>
              </a:r>
              <a:endParaRPr lang="zh-CN" altLang="en-US" dirty="0">
                <a:solidFill>
                  <a:srgbClr val="0052D9"/>
                </a:solidFill>
                <a:cs typeface="+mn-ea"/>
                <a:sym typeface="+mn-lt"/>
              </a:endParaRPr>
            </a:p>
          </p:txBody>
        </p:sp>
        <p:cxnSp>
          <p:nvCxnSpPr>
            <p:cNvPr id="58" name="连接符: 肘形 57">
              <a:extLst>
                <a:ext uri="{FF2B5EF4-FFF2-40B4-BE49-F238E27FC236}">
                  <a16:creationId xmlns:a16="http://schemas.microsoft.com/office/drawing/2014/main" id="{0B63913F-B668-D78C-7EE0-BEF4F6677B9C}"/>
                </a:ext>
              </a:extLst>
            </p:cNvPr>
            <p:cNvCxnSpPr>
              <a:cxnSpLocks/>
              <a:stCxn id="3648" idx="0"/>
              <a:endCxn id="61" idx="0"/>
            </p:cNvCxnSpPr>
            <p:nvPr/>
          </p:nvCxnSpPr>
          <p:spPr>
            <a:xfrm rot="5400000" flipH="1" flipV="1">
              <a:off x="2419064" y="2318464"/>
              <a:ext cx="12700" cy="1233330"/>
            </a:xfrm>
            <a:prstGeom prst="bentConnector3">
              <a:avLst>
                <a:gd name="adj1" fmla="val 18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EB590EA8-C7A1-B431-98EF-A0F687DF4ACD}"/>
                </a:ext>
              </a:extLst>
            </p:cNvPr>
            <p:cNvSpPr txBox="1"/>
            <p:nvPr/>
          </p:nvSpPr>
          <p:spPr>
            <a:xfrm>
              <a:off x="1504814" y="2143165"/>
              <a:ext cx="1816564" cy="587619"/>
            </a:xfrm>
            <a:prstGeom prst="rect">
              <a:avLst/>
            </a:prstGeom>
            <a:noFill/>
          </p:spPr>
          <p:txBody>
            <a:bodyPr wrap="square" rtlCol="0">
              <a:spAutoFit/>
            </a:bodyPr>
            <a:lstStyle/>
            <a:p>
              <a:pPr algn="ctr"/>
              <a:r>
                <a:rPr lang="en-US" altLang="zh-CN" dirty="0">
                  <a:cs typeface="+mn-ea"/>
                  <a:sym typeface="+mn-lt"/>
                </a:rPr>
                <a:t>Rack &amp; Rack</a:t>
              </a:r>
            </a:p>
            <a:p>
              <a:pPr algn="ctr"/>
              <a:r>
                <a:rPr lang="en-US" altLang="zh-CN" b="1" dirty="0">
                  <a:solidFill>
                    <a:srgbClr val="0052D9"/>
                  </a:solidFill>
                  <a:cs typeface="+mn-ea"/>
                  <a:sym typeface="+mn-lt"/>
                </a:rPr>
                <a:t>&gt;5m</a:t>
              </a:r>
              <a:endParaRPr lang="zh-CN" altLang="en-US" b="1" dirty="0">
                <a:solidFill>
                  <a:srgbClr val="0052D9"/>
                </a:solidFill>
                <a:cs typeface="+mn-ea"/>
                <a:sym typeface="+mn-lt"/>
              </a:endParaRPr>
            </a:p>
          </p:txBody>
        </p:sp>
        <p:sp>
          <p:nvSpPr>
            <p:cNvPr id="60" name="矩形: 圆角 59">
              <a:extLst>
                <a:ext uri="{FF2B5EF4-FFF2-40B4-BE49-F238E27FC236}">
                  <a16:creationId xmlns:a16="http://schemas.microsoft.com/office/drawing/2014/main" id="{90866F0B-9C46-5F09-E239-BCD5E5C7E314}"/>
                </a:ext>
              </a:extLst>
            </p:cNvPr>
            <p:cNvSpPr/>
            <p:nvPr/>
          </p:nvSpPr>
          <p:spPr>
            <a:xfrm>
              <a:off x="1226694" y="2091768"/>
              <a:ext cx="2376970" cy="1902874"/>
            </a:xfrm>
            <a:prstGeom prst="roundRect">
              <a:avLst>
                <a:gd name="adj" fmla="val 10158"/>
              </a:avLst>
            </a:prstGeom>
            <a:noFill/>
            <a:ln>
              <a:solidFill>
                <a:srgbClr val="0052D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4193631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80F2B-B77D-64EE-D8EB-5C6CFE23B56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1B79062-AB10-AD66-28A3-873272074B86}"/>
              </a:ext>
            </a:extLst>
          </p:cNvPr>
          <p:cNvGraphicFramePr>
            <a:graphicFrameLocks noChangeAspect="1"/>
          </p:cNvGraphicFramePr>
          <p:nvPr>
            <p:custDataLst>
              <p:tags r:id="rId1"/>
            </p:custDataLst>
            <p:extLst>
              <p:ext uri="{D42A27DB-BD31-4B8C-83A1-F6EECF244321}">
                <p14:modId xmlns:p14="http://schemas.microsoft.com/office/powerpoint/2010/main" val="12085173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0" imgW="404" imgH="405" progId="TCLayout.ActiveDocument.1">
                  <p:embed/>
                </p:oleObj>
              </mc:Choice>
              <mc:Fallback>
                <p:oleObj name="think-cell 幻灯片" r:id="rId20" imgW="404" imgH="405" progId="TCLayout.ActiveDocument.1">
                  <p:embed/>
                  <p:pic>
                    <p:nvPicPr>
                      <p:cNvPr id="5" name="think-cell data - do not delete" hidden="1">
                        <a:extLst>
                          <a:ext uri="{FF2B5EF4-FFF2-40B4-BE49-F238E27FC236}">
                            <a16:creationId xmlns:a16="http://schemas.microsoft.com/office/drawing/2014/main" id="{797B2007-B7FD-C68E-DD7F-3E2CE41FC715}"/>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62" name="文本框 61">
            <a:extLst>
              <a:ext uri="{FF2B5EF4-FFF2-40B4-BE49-F238E27FC236}">
                <a16:creationId xmlns:a16="http://schemas.microsoft.com/office/drawing/2014/main" id="{1B75C849-9B8A-D63E-8B72-8C179694304E}"/>
              </a:ext>
            </a:extLst>
          </p:cNvPr>
          <p:cNvSpPr txBox="1"/>
          <p:nvPr/>
        </p:nvSpPr>
        <p:spPr>
          <a:xfrm>
            <a:off x="268503" y="6261465"/>
            <a:ext cx="6536586"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200" i="1" dirty="0">
                <a:solidFill>
                  <a:schemeClr val="tx1">
                    <a:lumMod val="50000"/>
                  </a:schemeClr>
                </a:solidFill>
                <a:cs typeface="+mn-ea"/>
                <a:sym typeface="+mn-lt"/>
              </a:rPr>
              <a:t>Source:</a:t>
            </a:r>
            <a:r>
              <a:rPr kumimoji="1" lang="zh-CN" altLang="en-US" sz="1200" i="1" dirty="0">
                <a:solidFill>
                  <a:schemeClr val="tx1">
                    <a:lumMod val="50000"/>
                  </a:schemeClr>
                </a:solidFill>
                <a:cs typeface="+mn-ea"/>
                <a:sym typeface="+mn-lt"/>
              </a:rPr>
              <a:t> </a:t>
            </a:r>
            <a:r>
              <a:rPr kumimoji="1" lang="en-US" altLang="zh-CN" sz="1200" i="1" dirty="0" err="1">
                <a:solidFill>
                  <a:schemeClr val="tx1">
                    <a:lumMod val="50000"/>
                  </a:schemeClr>
                </a:solidFill>
                <a:cs typeface="+mn-ea"/>
                <a:sym typeface="+mn-lt"/>
              </a:rPr>
              <a:t>Lightcounting</a:t>
            </a:r>
            <a:endParaRPr kumimoji="1" lang="en-US" altLang="zh-CN" sz="1200" dirty="0">
              <a:solidFill>
                <a:schemeClr val="tx1">
                  <a:lumMod val="50000"/>
                </a:schemeClr>
              </a:solidFill>
              <a:cs typeface="+mn-ea"/>
              <a:sym typeface="+mn-lt"/>
            </a:endParaRPr>
          </a:p>
        </p:txBody>
      </p:sp>
      <p:sp>
        <p:nvSpPr>
          <p:cNvPr id="15" name="文本框 14">
            <a:extLst>
              <a:ext uri="{FF2B5EF4-FFF2-40B4-BE49-F238E27FC236}">
                <a16:creationId xmlns:a16="http://schemas.microsoft.com/office/drawing/2014/main" id="{1115154D-BF4F-3FE2-994F-651E7AE8C2AF}"/>
              </a:ext>
            </a:extLst>
          </p:cNvPr>
          <p:cNvSpPr txBox="1"/>
          <p:nvPr/>
        </p:nvSpPr>
        <p:spPr>
          <a:xfrm>
            <a:off x="6096000" y="1596082"/>
            <a:ext cx="5196700" cy="328613"/>
          </a:xfrm>
          <a:prstGeom prst="rect">
            <a:avLst/>
          </a:prstGeom>
          <a:ln w="6350">
            <a:noFill/>
            <a:miter lim="800000"/>
          </a:ln>
        </p:spPr>
        <p:txBody>
          <a:bodyPr vert="horz" wrap="square" lIns="0" tIns="0" rIns="0" bIns="0" rtlCol="0">
            <a:noAutofit/>
          </a:bodyPr>
          <a:lstStyle/>
          <a:p>
            <a:pPr marL="285750" indent="-285750">
              <a:spcBef>
                <a:spcPts val="800"/>
              </a:spcBef>
              <a:spcAft>
                <a:spcPts val="800"/>
              </a:spcAft>
              <a:buFont typeface="Arial" panose="020B0604020202020204" pitchFamily="34" charset="0"/>
              <a:buChar char="•"/>
            </a:pPr>
            <a:r>
              <a:rPr kumimoji="1" lang="zh-CN" altLang="en-US" b="1" dirty="0">
                <a:solidFill>
                  <a:schemeClr val="tx1">
                    <a:lumMod val="50000"/>
                  </a:schemeClr>
                </a:solidFill>
                <a:cs typeface="+mn-ea"/>
                <a:sym typeface="+mn-lt"/>
              </a:rPr>
              <a:t>互连转换：</a:t>
            </a:r>
            <a:r>
              <a:rPr kumimoji="1" lang="zh-CN" altLang="en-US" dirty="0">
                <a:solidFill>
                  <a:schemeClr val="tx1">
                    <a:lumMod val="50000"/>
                  </a:schemeClr>
                </a:solidFill>
                <a:cs typeface="+mn-ea"/>
                <a:sym typeface="+mn-lt"/>
              </a:rPr>
              <a:t>起始于</a:t>
            </a:r>
            <a:r>
              <a:rPr kumimoji="1" lang="en-US" altLang="zh-CN" b="1" dirty="0">
                <a:solidFill>
                  <a:srgbClr val="0052D9"/>
                </a:solidFill>
                <a:cs typeface="+mn-ea"/>
                <a:sym typeface="+mn-lt"/>
              </a:rPr>
              <a:t>2014</a:t>
            </a:r>
            <a:r>
              <a:rPr kumimoji="1" lang="zh-CN" altLang="en-US" dirty="0">
                <a:solidFill>
                  <a:schemeClr val="tx1">
                    <a:lumMod val="50000"/>
                  </a:schemeClr>
                </a:solidFill>
                <a:cs typeface="+mn-ea"/>
                <a:sym typeface="+mn-lt"/>
              </a:rPr>
              <a:t>年可插拔光模块大规模量产，</a:t>
            </a:r>
            <a:r>
              <a:rPr kumimoji="1" lang="en-US" altLang="zh-CN" dirty="0">
                <a:solidFill>
                  <a:schemeClr val="tx1">
                    <a:lumMod val="50000"/>
                  </a:schemeClr>
                </a:solidFill>
                <a:cs typeface="+mn-ea"/>
                <a:sym typeface="+mn-lt"/>
              </a:rPr>
              <a:t>24</a:t>
            </a:r>
            <a:r>
              <a:rPr kumimoji="1" lang="zh-CN" altLang="en-US" dirty="0">
                <a:solidFill>
                  <a:schemeClr val="tx1">
                    <a:lumMod val="50000"/>
                  </a:schemeClr>
                </a:solidFill>
                <a:cs typeface="+mn-ea"/>
                <a:sym typeface="+mn-lt"/>
              </a:rPr>
              <a:t>年数据通信中光模块销售额达</a:t>
            </a:r>
            <a:r>
              <a:rPr kumimoji="1" lang="en-US" altLang="zh-CN" b="1" dirty="0">
                <a:solidFill>
                  <a:srgbClr val="0052D9"/>
                </a:solidFill>
                <a:cs typeface="+mn-ea"/>
                <a:sym typeface="+mn-lt"/>
              </a:rPr>
              <a:t>~$8b</a:t>
            </a:r>
          </a:p>
          <a:p>
            <a:pPr marL="285750" indent="-285750">
              <a:spcBef>
                <a:spcPts val="800"/>
              </a:spcBef>
              <a:spcAft>
                <a:spcPts val="800"/>
              </a:spcAft>
              <a:buFont typeface="Arial" panose="020B0604020202020204" pitchFamily="34" charset="0"/>
              <a:buChar char="•"/>
            </a:pPr>
            <a:r>
              <a:rPr kumimoji="1" lang="zh-CN" altLang="en-US" b="1" dirty="0">
                <a:solidFill>
                  <a:schemeClr val="tx1">
                    <a:lumMod val="50000"/>
                  </a:schemeClr>
                </a:solidFill>
                <a:cs typeface="+mn-ea"/>
                <a:sym typeface="+mn-lt"/>
              </a:rPr>
              <a:t>铜到可插拔：</a:t>
            </a:r>
            <a:r>
              <a:rPr kumimoji="1" lang="zh-CN" altLang="en-US" dirty="0">
                <a:solidFill>
                  <a:schemeClr val="tx1">
                    <a:lumMod val="50000"/>
                  </a:schemeClr>
                </a:solidFill>
                <a:cs typeface="+mn-ea"/>
                <a:sym typeface="+mn-lt"/>
              </a:rPr>
              <a:t>功耗提升</a:t>
            </a:r>
            <a:r>
              <a:rPr kumimoji="1" lang="en-US" altLang="zh-CN" b="1" dirty="0">
                <a:solidFill>
                  <a:srgbClr val="0052D9"/>
                </a:solidFill>
                <a:cs typeface="+mn-ea"/>
                <a:sym typeface="+mn-lt"/>
              </a:rPr>
              <a:t>60%+</a:t>
            </a:r>
            <a:r>
              <a:rPr kumimoji="1" lang="zh-CN" altLang="en-US" dirty="0">
                <a:solidFill>
                  <a:schemeClr val="tx1">
                    <a:lumMod val="50000"/>
                  </a:schemeClr>
                </a:solidFill>
                <a:cs typeface="+mn-ea"/>
                <a:sym typeface="+mn-lt"/>
              </a:rPr>
              <a:t>甚至</a:t>
            </a:r>
            <a:r>
              <a:rPr kumimoji="1" lang="en-US" altLang="zh-CN" b="1" dirty="0">
                <a:solidFill>
                  <a:srgbClr val="0052D9"/>
                </a:solidFill>
                <a:cs typeface="+mn-ea"/>
                <a:sym typeface="+mn-lt"/>
              </a:rPr>
              <a:t>2x</a:t>
            </a:r>
            <a:r>
              <a:rPr kumimoji="1" lang="zh-CN" altLang="en-US" b="1" dirty="0">
                <a:solidFill>
                  <a:schemeClr val="tx1">
                    <a:lumMod val="50000"/>
                  </a:schemeClr>
                </a:solidFill>
                <a:cs typeface="+mn-ea"/>
                <a:sym typeface="+mn-lt"/>
              </a:rPr>
              <a:t>，</a:t>
            </a:r>
            <a:r>
              <a:rPr kumimoji="1" lang="en-US" altLang="zh-CN" dirty="0">
                <a:solidFill>
                  <a:schemeClr val="tx1">
                    <a:lumMod val="50000"/>
                  </a:schemeClr>
                </a:solidFill>
                <a:cs typeface="+mn-ea"/>
                <a:sym typeface="+mn-lt"/>
              </a:rPr>
              <a:t>25-28</a:t>
            </a:r>
            <a:r>
              <a:rPr kumimoji="1" lang="zh-CN" altLang="en-US" dirty="0">
                <a:solidFill>
                  <a:schemeClr val="tx1">
                    <a:lumMod val="50000"/>
                  </a:schemeClr>
                </a:solidFill>
                <a:cs typeface="+mn-ea"/>
                <a:sym typeface="+mn-lt"/>
              </a:rPr>
              <a:t>年预计光模块在</a:t>
            </a:r>
            <a:r>
              <a:rPr kumimoji="1" lang="en-US" altLang="zh-CN" dirty="0">
                <a:solidFill>
                  <a:schemeClr val="tx1">
                    <a:lumMod val="50000"/>
                  </a:schemeClr>
                </a:solidFill>
                <a:cs typeface="+mn-ea"/>
                <a:sym typeface="+mn-lt"/>
              </a:rPr>
              <a:t>IDC</a:t>
            </a:r>
            <a:r>
              <a:rPr kumimoji="1" lang="zh-CN" altLang="en-US" dirty="0">
                <a:solidFill>
                  <a:schemeClr val="tx1">
                    <a:lumMod val="50000"/>
                  </a:schemeClr>
                </a:solidFill>
                <a:cs typeface="+mn-ea"/>
                <a:sym typeface="+mn-lt"/>
              </a:rPr>
              <a:t>耗电量将增长</a:t>
            </a:r>
            <a:r>
              <a:rPr kumimoji="1" lang="en-US" altLang="zh-CN" b="1" dirty="0">
                <a:solidFill>
                  <a:srgbClr val="0052D9"/>
                </a:solidFill>
                <a:cs typeface="+mn-ea"/>
                <a:sym typeface="+mn-lt"/>
              </a:rPr>
              <a:t>20x</a:t>
            </a:r>
          </a:p>
          <a:p>
            <a:pPr marL="285750" indent="-285750">
              <a:spcBef>
                <a:spcPts val="800"/>
              </a:spcBef>
              <a:spcAft>
                <a:spcPts val="800"/>
              </a:spcAft>
              <a:buFont typeface="Arial" panose="020B0604020202020204" pitchFamily="34" charset="0"/>
              <a:buChar char="•"/>
            </a:pPr>
            <a:r>
              <a:rPr kumimoji="1" lang="zh-CN" altLang="en-US" b="1" dirty="0">
                <a:solidFill>
                  <a:schemeClr val="tx1">
                    <a:lumMod val="50000"/>
                  </a:schemeClr>
                </a:solidFill>
                <a:cs typeface="+mn-ea"/>
                <a:sym typeface="+mn-lt"/>
              </a:rPr>
              <a:t>可插拔到</a:t>
            </a:r>
            <a:r>
              <a:rPr kumimoji="1" lang="en-US" altLang="zh-CN" b="1" dirty="0">
                <a:solidFill>
                  <a:schemeClr val="tx1">
                    <a:lumMod val="50000"/>
                  </a:schemeClr>
                </a:solidFill>
                <a:cs typeface="+mn-ea"/>
                <a:sym typeface="+mn-lt"/>
              </a:rPr>
              <a:t>CPO</a:t>
            </a:r>
            <a:r>
              <a:rPr kumimoji="1" lang="zh-CN" altLang="en-US" b="1" dirty="0">
                <a:solidFill>
                  <a:schemeClr val="tx1">
                    <a:lumMod val="50000"/>
                  </a:schemeClr>
                </a:solidFill>
                <a:cs typeface="+mn-ea"/>
                <a:sym typeface="+mn-lt"/>
              </a:rPr>
              <a:t>：</a:t>
            </a:r>
            <a:r>
              <a:rPr kumimoji="1" lang="zh-CN" altLang="en-US" dirty="0">
                <a:solidFill>
                  <a:schemeClr val="tx1">
                    <a:lumMod val="50000"/>
                  </a:schemeClr>
                </a:solidFill>
                <a:cs typeface="+mn-ea"/>
                <a:sym typeface="+mn-lt"/>
              </a:rPr>
              <a:t>降低</a:t>
            </a:r>
            <a:r>
              <a:rPr kumimoji="1" lang="en-US" altLang="zh-CN" b="1" dirty="0">
                <a:solidFill>
                  <a:srgbClr val="0052D9"/>
                </a:solidFill>
                <a:cs typeface="+mn-ea"/>
                <a:sym typeface="+mn-lt"/>
              </a:rPr>
              <a:t>60%+</a:t>
            </a:r>
            <a:r>
              <a:rPr kumimoji="1" lang="zh-CN" altLang="en-US" dirty="0">
                <a:solidFill>
                  <a:schemeClr val="tx1">
                    <a:lumMod val="50000"/>
                  </a:schemeClr>
                </a:solidFill>
                <a:cs typeface="+mn-ea"/>
                <a:sym typeface="+mn-lt"/>
              </a:rPr>
              <a:t>光模块功耗，</a:t>
            </a:r>
            <a:r>
              <a:rPr kumimoji="1" lang="en-US" altLang="zh-CN" dirty="0">
                <a:solidFill>
                  <a:schemeClr val="tx1">
                    <a:lumMod val="50000"/>
                  </a:schemeClr>
                </a:solidFill>
                <a:cs typeface="+mn-ea"/>
                <a:sym typeface="+mn-lt"/>
              </a:rPr>
              <a:t>GB200 </a:t>
            </a:r>
            <a:r>
              <a:rPr kumimoji="1" lang="zh-CN" altLang="en-US" dirty="0">
                <a:solidFill>
                  <a:schemeClr val="tx1">
                    <a:lumMod val="50000"/>
                  </a:schemeClr>
                </a:solidFill>
                <a:cs typeface="+mn-ea"/>
                <a:sym typeface="+mn-lt"/>
              </a:rPr>
              <a:t>万卡集群整体电费降低</a:t>
            </a:r>
            <a:r>
              <a:rPr kumimoji="1" lang="zh-CN" altLang="en-US" b="1" dirty="0">
                <a:solidFill>
                  <a:srgbClr val="0052D9"/>
                </a:solidFill>
                <a:cs typeface="+mn-ea"/>
                <a:sym typeface="+mn-lt"/>
              </a:rPr>
              <a:t>数百万</a:t>
            </a:r>
            <a:r>
              <a:rPr kumimoji="1" lang="en-US" altLang="zh-CN" b="1" dirty="0">
                <a:solidFill>
                  <a:srgbClr val="0052D9"/>
                </a:solidFill>
                <a:cs typeface="+mn-ea"/>
                <a:sym typeface="+mn-lt"/>
              </a:rPr>
              <a:t>RMB/</a:t>
            </a:r>
            <a:r>
              <a:rPr kumimoji="1" lang="zh-CN" altLang="en-US" b="1" dirty="0">
                <a:solidFill>
                  <a:srgbClr val="0052D9"/>
                </a:solidFill>
                <a:cs typeface="+mn-ea"/>
                <a:sym typeface="+mn-lt"/>
              </a:rPr>
              <a:t>年</a:t>
            </a:r>
            <a:r>
              <a:rPr kumimoji="1" lang="en-US" altLang="zh-CN" b="1" baseline="30000" dirty="0">
                <a:solidFill>
                  <a:srgbClr val="0052D9"/>
                </a:solidFill>
                <a:cs typeface="+mn-ea"/>
                <a:sym typeface="+mn-lt"/>
              </a:rPr>
              <a:t>1</a:t>
            </a:r>
            <a:endParaRPr kumimoji="1" lang="en-US" altLang="zh-CN" b="1" dirty="0">
              <a:solidFill>
                <a:srgbClr val="0052D9"/>
              </a:solidFill>
              <a:cs typeface="+mn-ea"/>
              <a:sym typeface="+mn-lt"/>
            </a:endParaRPr>
          </a:p>
        </p:txBody>
      </p:sp>
      <p:graphicFrame>
        <p:nvGraphicFramePr>
          <p:cNvPr id="66" name="Chart 3">
            <a:extLst>
              <a:ext uri="{FF2B5EF4-FFF2-40B4-BE49-F238E27FC236}">
                <a16:creationId xmlns:a16="http://schemas.microsoft.com/office/drawing/2014/main" id="{25C8CA3A-6D9C-2157-EEC8-FFE2320B18CA}"/>
              </a:ext>
            </a:extLst>
          </p:cNvPr>
          <p:cNvGraphicFramePr/>
          <p:nvPr>
            <p:custDataLst>
              <p:tags r:id="rId2"/>
            </p:custDataLst>
            <p:extLst>
              <p:ext uri="{D42A27DB-BD31-4B8C-83A1-F6EECF244321}">
                <p14:modId xmlns:p14="http://schemas.microsoft.com/office/powerpoint/2010/main" val="3588400296"/>
              </p:ext>
            </p:extLst>
          </p:nvPr>
        </p:nvGraphicFramePr>
        <p:xfrm>
          <a:off x="601663" y="2000250"/>
          <a:ext cx="4957762" cy="3414713"/>
        </p:xfrm>
        <a:graphic>
          <a:graphicData uri="http://schemas.openxmlformats.org/drawingml/2006/chart">
            <c:chart xmlns:c="http://schemas.openxmlformats.org/drawingml/2006/chart" xmlns:r="http://schemas.openxmlformats.org/officeDocument/2006/relationships" r:id="rId22"/>
          </a:graphicData>
        </a:graphic>
      </p:graphicFrame>
      <p:cxnSp>
        <p:nvCxnSpPr>
          <p:cNvPr id="6" name="直接连接符 5">
            <a:extLst>
              <a:ext uri="{FF2B5EF4-FFF2-40B4-BE49-F238E27FC236}">
                <a16:creationId xmlns:a16="http://schemas.microsoft.com/office/drawing/2014/main" id="{35101B2D-DB47-B323-F276-D42332233431}"/>
              </a:ext>
            </a:extLst>
          </p:cNvPr>
          <p:cNvCxnSpPr/>
          <p:nvPr>
            <p:custDataLst>
              <p:tags r:id="rId3"/>
            </p:custDataLst>
          </p:nvPr>
        </p:nvCxnSpPr>
        <p:spPr bwMode="auto">
          <a:xfrm flipV="1">
            <a:off x="1833563" y="2195513"/>
            <a:ext cx="0" cy="1266825"/>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直接连接符 7">
            <a:extLst>
              <a:ext uri="{FF2B5EF4-FFF2-40B4-BE49-F238E27FC236}">
                <a16:creationId xmlns:a16="http://schemas.microsoft.com/office/drawing/2014/main" id="{333640F1-B1C7-693D-B63F-79B79801C75F}"/>
              </a:ext>
            </a:extLst>
          </p:cNvPr>
          <p:cNvCxnSpPr/>
          <p:nvPr>
            <p:custDataLst>
              <p:tags r:id="rId4"/>
            </p:custDataLst>
          </p:nvPr>
        </p:nvCxnSpPr>
        <p:spPr bwMode="auto">
          <a:xfrm>
            <a:off x="1833563" y="2195513"/>
            <a:ext cx="1419225"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BDFE6433-2919-1E8F-C8DB-9E96D7C473F7}"/>
              </a:ext>
            </a:extLst>
          </p:cNvPr>
          <p:cNvCxnSpPr/>
          <p:nvPr>
            <p:custDataLst>
              <p:tags r:id="rId5"/>
            </p:custDataLst>
          </p:nvPr>
        </p:nvCxnSpPr>
        <p:spPr bwMode="auto">
          <a:xfrm>
            <a:off x="3252788" y="2195513"/>
            <a:ext cx="0" cy="233363"/>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271" name="直接连接符 270">
            <a:extLst>
              <a:ext uri="{FF2B5EF4-FFF2-40B4-BE49-F238E27FC236}">
                <a16:creationId xmlns:a16="http://schemas.microsoft.com/office/drawing/2014/main" id="{EEFE292B-D0A0-20CC-BC60-BAE3A928AACE}"/>
              </a:ext>
            </a:extLst>
          </p:cNvPr>
          <p:cNvCxnSpPr>
            <a:cxnSpLocks/>
          </p:cNvCxnSpPr>
          <p:nvPr>
            <p:custDataLst>
              <p:tags r:id="rId6"/>
            </p:custDataLst>
          </p:nvPr>
        </p:nvCxnSpPr>
        <p:spPr bwMode="auto">
          <a:xfrm flipV="1">
            <a:off x="3328988" y="2195513"/>
            <a:ext cx="0" cy="23336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7" name="直接连接符 46">
            <a:extLst>
              <a:ext uri="{FF2B5EF4-FFF2-40B4-BE49-F238E27FC236}">
                <a16:creationId xmlns:a16="http://schemas.microsoft.com/office/drawing/2014/main" id="{3818ECE0-82B7-DC06-95A8-1C90DA9721B2}"/>
              </a:ext>
            </a:extLst>
          </p:cNvPr>
          <p:cNvCxnSpPr/>
          <p:nvPr>
            <p:custDataLst>
              <p:tags r:id="rId7"/>
            </p:custDataLst>
          </p:nvPr>
        </p:nvCxnSpPr>
        <p:spPr bwMode="auto">
          <a:xfrm>
            <a:off x="3328988" y="2195513"/>
            <a:ext cx="1419225"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8" name="直接连接符 47">
            <a:extLst>
              <a:ext uri="{FF2B5EF4-FFF2-40B4-BE49-F238E27FC236}">
                <a16:creationId xmlns:a16="http://schemas.microsoft.com/office/drawing/2014/main" id="{9F3D5B60-BF92-80CF-B129-E4261AE538EC}"/>
              </a:ext>
            </a:extLst>
          </p:cNvPr>
          <p:cNvCxnSpPr/>
          <p:nvPr>
            <p:custDataLst>
              <p:tags r:id="rId8"/>
            </p:custDataLst>
          </p:nvPr>
        </p:nvCxnSpPr>
        <p:spPr bwMode="auto">
          <a:xfrm>
            <a:off x="4748213" y="2195513"/>
            <a:ext cx="0" cy="1927225"/>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327" name="Text Placeholder 4">
            <a:extLst>
              <a:ext uri="{FF2B5EF4-FFF2-40B4-BE49-F238E27FC236}">
                <a16:creationId xmlns:a16="http://schemas.microsoft.com/office/drawing/2014/main" id="{EE605E94-4724-DEF2-7912-9130B91ED26E}"/>
              </a:ext>
            </a:extLst>
          </p:cNvPr>
          <p:cNvSpPr>
            <a:spLocks/>
          </p:cNvSpPr>
          <p:nvPr>
            <p:custDataLst>
              <p:tags r:id="rId9"/>
            </p:custDataLst>
          </p:nvPr>
        </p:nvSpPr>
        <p:spPr bwMode="gray">
          <a:xfrm>
            <a:off x="1635125" y="4189413"/>
            <a:ext cx="396875"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33338" tIns="0" rIns="33338"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zh-CN" sz="1800" dirty="0">
                <a:solidFill>
                  <a:schemeClr val="accent6">
                    <a:lumMod val="10000"/>
                  </a:schemeClr>
                </a:solidFill>
                <a:cs typeface="+mn-ea"/>
                <a:sym typeface="+mn-lt"/>
              </a:rPr>
              <a:t>3-5</a:t>
            </a:r>
            <a:endParaRPr lang="zh-CN" altLang="en-US" sz="1800" dirty="0">
              <a:solidFill>
                <a:schemeClr val="accent6">
                  <a:lumMod val="10000"/>
                </a:schemeClr>
              </a:solidFill>
              <a:cs typeface="+mn-ea"/>
              <a:sym typeface="+mn-lt"/>
            </a:endParaRPr>
          </a:p>
        </p:txBody>
      </p:sp>
      <p:sp>
        <p:nvSpPr>
          <p:cNvPr id="155" name="Text Placeholder 4">
            <a:extLst>
              <a:ext uri="{FF2B5EF4-FFF2-40B4-BE49-F238E27FC236}">
                <a16:creationId xmlns:a16="http://schemas.microsoft.com/office/drawing/2014/main" id="{12CCB4E7-78E5-38E8-125C-7614CBCAF0AB}"/>
              </a:ext>
            </a:extLst>
          </p:cNvPr>
          <p:cNvSpPr>
            <a:spLocks/>
          </p:cNvSpPr>
          <p:nvPr>
            <p:custDataLst>
              <p:tags r:id="rId10"/>
            </p:custDataLst>
          </p:nvPr>
        </p:nvSpPr>
        <p:spPr bwMode="auto">
          <a:xfrm>
            <a:off x="1712913" y="5229224"/>
            <a:ext cx="241300"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3A78955D-E5A0-49B9-B7E1-CCC82A47AB9E}" type="datetime'铜'''''">
              <a:rPr lang="zh-CN" altLang="en-US" sz="1800" smtClean="0">
                <a:solidFill>
                  <a:srgbClr val="000000"/>
                </a:solidFill>
                <a:cs typeface="+mn-ea"/>
                <a:sym typeface="+mn-lt"/>
              </a:rPr>
              <a:pPr/>
              <a:t>铜</a:t>
            </a:fld>
            <a:endParaRPr lang="zh-CN" altLang="en-US" sz="1800" dirty="0">
              <a:solidFill>
                <a:srgbClr val="000000"/>
              </a:solidFill>
              <a:cs typeface="+mn-ea"/>
              <a:sym typeface="+mn-lt"/>
            </a:endParaRPr>
          </a:p>
        </p:txBody>
      </p:sp>
      <p:sp>
        <p:nvSpPr>
          <p:cNvPr id="336" name="Text Placeholder 4">
            <a:extLst>
              <a:ext uri="{FF2B5EF4-FFF2-40B4-BE49-F238E27FC236}">
                <a16:creationId xmlns:a16="http://schemas.microsoft.com/office/drawing/2014/main" id="{2D714D05-B240-7E6B-C34D-A9C32BCD887C}"/>
              </a:ext>
            </a:extLst>
          </p:cNvPr>
          <p:cNvSpPr>
            <a:spLocks/>
          </p:cNvSpPr>
          <p:nvPr>
            <p:custDataLst>
              <p:tags r:id="rId11"/>
            </p:custDataLst>
          </p:nvPr>
        </p:nvSpPr>
        <p:spPr bwMode="gray">
          <a:xfrm>
            <a:off x="3092450" y="3673475"/>
            <a:ext cx="396875"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33338" tIns="0" rIns="33338"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zh-CN" sz="1800" b="1" dirty="0">
                <a:solidFill>
                  <a:schemeClr val="bg1"/>
                </a:solidFill>
                <a:cs typeface="+mn-ea"/>
                <a:sym typeface="+mn-lt"/>
              </a:rPr>
              <a:t>5-8</a:t>
            </a:r>
            <a:endParaRPr lang="zh-CN" altLang="en-US" sz="1800" b="1" dirty="0">
              <a:solidFill>
                <a:schemeClr val="bg1"/>
              </a:solidFill>
              <a:cs typeface="+mn-ea"/>
              <a:sym typeface="+mn-lt"/>
            </a:endParaRPr>
          </a:p>
        </p:txBody>
      </p:sp>
      <p:sp>
        <p:nvSpPr>
          <p:cNvPr id="171" name="Text Placeholder 4">
            <a:extLst>
              <a:ext uri="{FF2B5EF4-FFF2-40B4-BE49-F238E27FC236}">
                <a16:creationId xmlns:a16="http://schemas.microsoft.com/office/drawing/2014/main" id="{C4877991-8815-3B0C-239A-FA241A1A2A3D}"/>
              </a:ext>
            </a:extLst>
          </p:cNvPr>
          <p:cNvSpPr>
            <a:spLocks/>
          </p:cNvSpPr>
          <p:nvPr>
            <p:custDataLst>
              <p:tags r:id="rId12"/>
            </p:custDataLst>
          </p:nvPr>
        </p:nvSpPr>
        <p:spPr bwMode="auto">
          <a:xfrm>
            <a:off x="2598738" y="5229224"/>
            <a:ext cx="1384300"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1C365C8-0CB0-4B88-9626-3C99A0890C17}" type="datetime'''可''''''''插拔''''''''''''''''光''''模''''块'''''''''''">
              <a:rPr lang="zh-CN" altLang="en-US" sz="1800" smtClean="0">
                <a:solidFill>
                  <a:srgbClr val="000000"/>
                </a:solidFill>
                <a:cs typeface="+mn-ea"/>
                <a:sym typeface="+mn-lt"/>
              </a:rPr>
              <a:pPr/>
              <a:t>可插拔光模块</a:t>
            </a:fld>
            <a:endParaRPr lang="zh-CN" altLang="en-US" sz="1800" dirty="0">
              <a:solidFill>
                <a:srgbClr val="000000"/>
              </a:solidFill>
              <a:cs typeface="+mn-ea"/>
              <a:sym typeface="+mn-lt"/>
            </a:endParaRPr>
          </a:p>
        </p:txBody>
      </p:sp>
      <p:sp>
        <p:nvSpPr>
          <p:cNvPr id="343" name="Text Placeholder 4">
            <a:extLst>
              <a:ext uri="{FF2B5EF4-FFF2-40B4-BE49-F238E27FC236}">
                <a16:creationId xmlns:a16="http://schemas.microsoft.com/office/drawing/2014/main" id="{BB709C0C-4FD8-2E1A-C5FC-902A7B56B955}"/>
              </a:ext>
            </a:extLst>
          </p:cNvPr>
          <p:cNvSpPr>
            <a:spLocks/>
          </p:cNvSpPr>
          <p:nvPr>
            <p:custDataLst>
              <p:tags r:id="rId13"/>
            </p:custDataLst>
          </p:nvPr>
        </p:nvSpPr>
        <p:spPr bwMode="gray">
          <a:xfrm>
            <a:off x="4556125" y="4519613"/>
            <a:ext cx="384175"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33338" tIns="0" rIns="33338"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3390113-E74C-4AFE-97FC-A33B57D3516D}" type="datetime'''''''''''''''''2'''''''''''''''''''''''">
              <a:rPr lang="zh-CN" altLang="en-US" sz="1800" b="1" smtClean="0">
                <a:solidFill>
                  <a:schemeClr val="tx2"/>
                </a:solidFill>
                <a:effectLst/>
                <a:cs typeface="+mn-ea"/>
                <a:sym typeface="+mn-lt"/>
              </a:rPr>
              <a:pPr lvl="0" algn="ctr">
                <a:spcBef>
                  <a:spcPct val="0"/>
                </a:spcBef>
                <a:spcAft>
                  <a:spcPct val="0"/>
                </a:spcAft>
              </a:pPr>
              <a:t>2</a:t>
            </a:fld>
            <a:r>
              <a:rPr lang="en-US" altLang="zh-CN" sz="1800" b="1" dirty="0">
                <a:solidFill>
                  <a:schemeClr val="tx2"/>
                </a:solidFill>
                <a:effectLst/>
                <a:cs typeface="+mn-ea"/>
                <a:sym typeface="+mn-lt"/>
              </a:rPr>
              <a:t>.4</a:t>
            </a:r>
            <a:endParaRPr lang="zh-CN" altLang="en-US" sz="1800" b="1" dirty="0">
              <a:solidFill>
                <a:schemeClr val="tx2"/>
              </a:solidFill>
              <a:cs typeface="+mn-ea"/>
              <a:sym typeface="+mn-lt"/>
            </a:endParaRPr>
          </a:p>
        </p:txBody>
      </p:sp>
      <p:sp>
        <p:nvSpPr>
          <p:cNvPr id="182" name="Text Placeholder 4">
            <a:extLst>
              <a:ext uri="{FF2B5EF4-FFF2-40B4-BE49-F238E27FC236}">
                <a16:creationId xmlns:a16="http://schemas.microsoft.com/office/drawing/2014/main" id="{62BEE835-D25C-5772-E70E-E3B50279754D}"/>
              </a:ext>
            </a:extLst>
          </p:cNvPr>
          <p:cNvSpPr>
            <a:spLocks/>
          </p:cNvSpPr>
          <p:nvPr>
            <p:custDataLst>
              <p:tags r:id="rId14"/>
            </p:custDataLst>
          </p:nvPr>
        </p:nvSpPr>
        <p:spPr bwMode="auto">
          <a:xfrm>
            <a:off x="4494213" y="5229224"/>
            <a:ext cx="508000"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4176B2D5-5628-4116-8002-3DBBCA4C15B9}" type="datetime'''''''''''''''C''''''''P''O'''''''''''''''''''''''''''''''''''">
              <a:rPr lang="en-US" altLang="en-US" sz="1800" smtClean="0">
                <a:cs typeface="+mn-ea"/>
                <a:sym typeface="+mn-lt"/>
              </a:rPr>
              <a:pPr/>
              <a:t>CPO</a:t>
            </a:fld>
            <a:endParaRPr lang="zh-CN" altLang="en-US" sz="1800" dirty="0">
              <a:cs typeface="+mn-ea"/>
              <a:sym typeface="+mn-lt"/>
            </a:endParaRPr>
          </a:p>
        </p:txBody>
      </p:sp>
      <p:sp>
        <p:nvSpPr>
          <p:cNvPr id="4" name="Text Placeholder 4">
            <a:extLst>
              <a:ext uri="{FF2B5EF4-FFF2-40B4-BE49-F238E27FC236}">
                <a16:creationId xmlns:a16="http://schemas.microsoft.com/office/drawing/2014/main" id="{FC80778E-D083-5825-5919-86855107A5C6}"/>
              </a:ext>
            </a:extLst>
          </p:cNvPr>
          <p:cNvSpPr>
            <a:spLocks/>
          </p:cNvSpPr>
          <p:nvPr>
            <p:custDataLst>
              <p:tags r:id="rId15"/>
            </p:custDataLst>
          </p:nvPr>
        </p:nvSpPr>
        <p:spPr bwMode="auto">
          <a:xfrm>
            <a:off x="2125663" y="2001838"/>
            <a:ext cx="836613" cy="388938"/>
          </a:xfrm>
          <a:prstGeom prst="ellipse">
            <a:avLst/>
          </a:prstGeom>
          <a:solidFill>
            <a:schemeClr val="bg1"/>
          </a:solidFill>
          <a:ln w="9525" cmpd="sng" algn="ctr">
            <a:solidFill>
              <a:schemeClr val="tx1"/>
            </a:solid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en-US" sz="1800" b="1" dirty="0">
                <a:effectLst/>
                <a:cs typeface="+mn-cs"/>
              </a:rPr>
              <a:t>60%+</a:t>
            </a:r>
            <a:endParaRPr lang="zh-CN" altLang="en-US" sz="1800" b="1" dirty="0">
              <a:cs typeface="+mn-cs"/>
            </a:endParaRPr>
          </a:p>
        </p:txBody>
      </p:sp>
      <p:sp>
        <p:nvSpPr>
          <p:cNvPr id="267" name="Text Placeholder 4">
            <a:extLst>
              <a:ext uri="{FF2B5EF4-FFF2-40B4-BE49-F238E27FC236}">
                <a16:creationId xmlns:a16="http://schemas.microsoft.com/office/drawing/2014/main" id="{9660483F-E692-1656-25FE-7D1AA851843D}"/>
              </a:ext>
            </a:extLst>
          </p:cNvPr>
          <p:cNvSpPr>
            <a:spLocks/>
          </p:cNvSpPr>
          <p:nvPr>
            <p:custDataLst>
              <p:tags r:id="rId16"/>
            </p:custDataLst>
          </p:nvPr>
        </p:nvSpPr>
        <p:spPr bwMode="auto">
          <a:xfrm>
            <a:off x="3660775" y="2001838"/>
            <a:ext cx="755650" cy="388938"/>
          </a:xfrm>
          <a:prstGeom prst="ellipse">
            <a:avLst/>
          </a:prstGeom>
          <a:solidFill>
            <a:schemeClr val="bg1"/>
          </a:solidFill>
          <a:ln w="9525" cmpd="sng" algn="ctr">
            <a:solidFill>
              <a:schemeClr val="tx1"/>
            </a:solid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6D21FFE5-290F-478E-813B-C3667B3F5B7E}" type="datetime'''''''-''''''''''''''''''''6''''''''''3%'''''''">
              <a:rPr lang="en-US" altLang="en-US" sz="1800" b="1" smtClean="0">
                <a:effectLst/>
                <a:cs typeface="+mn-ea"/>
                <a:sym typeface="+mn-lt"/>
              </a:rPr>
              <a:pPr lvl="0" algn="ctr">
                <a:spcBef>
                  <a:spcPct val="0"/>
                </a:spcBef>
                <a:spcAft>
                  <a:spcPct val="0"/>
                </a:spcAft>
              </a:pPr>
              <a:t>-63%</a:t>
            </a:fld>
            <a:endParaRPr lang="zh-CN" altLang="en-US" sz="1800" b="1" dirty="0">
              <a:cs typeface="+mn-ea"/>
              <a:sym typeface="+mn-lt"/>
            </a:endParaRPr>
          </a:p>
        </p:txBody>
      </p:sp>
      <p:sp>
        <p:nvSpPr>
          <p:cNvPr id="105" name="矩形: 圆角 104">
            <a:extLst>
              <a:ext uri="{FF2B5EF4-FFF2-40B4-BE49-F238E27FC236}">
                <a16:creationId xmlns:a16="http://schemas.microsoft.com/office/drawing/2014/main" id="{00530C14-FEC1-EEF4-F50D-D7B9DAE15A48}"/>
              </a:ext>
            </a:extLst>
          </p:cNvPr>
          <p:cNvSpPr/>
          <p:nvPr/>
        </p:nvSpPr>
        <p:spPr>
          <a:xfrm>
            <a:off x="6096000" y="4122738"/>
            <a:ext cx="5124450" cy="1289682"/>
          </a:xfrm>
          <a:prstGeom prst="roundRect">
            <a:avLst>
              <a:gd name="adj" fmla="val 368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5000"/>
              </a:lnSpc>
            </a:pPr>
            <a:r>
              <a:rPr lang="zh-CN" altLang="en-US" sz="1600" b="1" i="1" dirty="0">
                <a:solidFill>
                  <a:schemeClr val="tx1">
                    <a:lumMod val="50000"/>
                  </a:schemeClr>
                </a:solidFill>
                <a:cs typeface="+mn-ea"/>
                <a:sym typeface="+mn-lt"/>
              </a:rPr>
              <a:t>“</a:t>
            </a:r>
            <a:r>
              <a:rPr lang="en-US" altLang="zh-CN" sz="1600" b="1" i="1" dirty="0">
                <a:solidFill>
                  <a:schemeClr val="tx1">
                    <a:lumMod val="50000"/>
                  </a:schemeClr>
                </a:solidFill>
                <a:cs typeface="+mn-ea"/>
                <a:sym typeface="+mn-lt"/>
              </a:rPr>
              <a:t>CPO</a:t>
            </a:r>
            <a:r>
              <a:rPr lang="zh-CN" altLang="zh-CN" sz="1600" b="1" i="1" dirty="0">
                <a:solidFill>
                  <a:schemeClr val="tx1">
                    <a:lumMod val="50000"/>
                  </a:schemeClr>
                </a:solidFill>
                <a:cs typeface="+mn-ea"/>
                <a:sym typeface="+mn-lt"/>
              </a:rPr>
              <a:t>主要替代传统可插拔光模块，短期不替代铜互连。</a:t>
            </a:r>
            <a:r>
              <a:rPr lang="en-US" altLang="zh-CN" sz="1600" b="1" i="1" dirty="0">
                <a:solidFill>
                  <a:schemeClr val="tx1">
                    <a:lumMod val="50000"/>
                  </a:schemeClr>
                </a:solidFill>
                <a:cs typeface="+mn-ea"/>
                <a:sym typeface="+mn-lt"/>
              </a:rPr>
              <a:t>CPO</a:t>
            </a:r>
            <a:r>
              <a:rPr lang="zh-CN" altLang="zh-CN" sz="1600" b="1" i="1" dirty="0">
                <a:solidFill>
                  <a:schemeClr val="tx1">
                    <a:lumMod val="50000"/>
                  </a:schemeClr>
                </a:solidFill>
                <a:cs typeface="+mn-ea"/>
                <a:sym typeface="+mn-lt"/>
              </a:rPr>
              <a:t>方案</a:t>
            </a:r>
            <a:r>
              <a:rPr lang="zh-CN" altLang="zh-CN" sz="1600" b="1" i="1" u="sng" dirty="0">
                <a:solidFill>
                  <a:schemeClr val="tx1">
                    <a:lumMod val="50000"/>
                  </a:schemeClr>
                </a:solidFill>
                <a:cs typeface="+mn-ea"/>
                <a:sym typeface="+mn-lt"/>
              </a:rPr>
              <a:t>功耗降低</a:t>
            </a:r>
            <a:r>
              <a:rPr lang="en-US" altLang="zh-CN" sz="1600" b="1" i="1" u="sng" dirty="0">
                <a:solidFill>
                  <a:schemeClr val="tx1">
                    <a:lumMod val="50000"/>
                  </a:schemeClr>
                </a:solidFill>
                <a:cs typeface="+mn-ea"/>
                <a:sym typeface="+mn-lt"/>
              </a:rPr>
              <a:t>70%</a:t>
            </a:r>
            <a:r>
              <a:rPr lang="zh-CN" altLang="zh-CN" sz="1600" b="1" i="1" dirty="0">
                <a:solidFill>
                  <a:schemeClr val="tx1">
                    <a:lumMod val="50000"/>
                  </a:schemeClr>
                </a:solidFill>
                <a:cs typeface="+mn-ea"/>
                <a:sym typeface="+mn-lt"/>
              </a:rPr>
              <a:t>（</a:t>
            </a:r>
            <a:r>
              <a:rPr lang="en-US" altLang="zh-CN" sz="1600" b="1" i="1" dirty="0">
                <a:solidFill>
                  <a:schemeClr val="tx1">
                    <a:lumMod val="50000"/>
                  </a:schemeClr>
                </a:solidFill>
                <a:cs typeface="+mn-ea"/>
                <a:sym typeface="+mn-lt"/>
              </a:rPr>
              <a:t>33W→9W</a:t>
            </a:r>
            <a:r>
              <a:rPr lang="zh-CN" altLang="zh-CN" sz="1600" b="1" i="1" dirty="0">
                <a:solidFill>
                  <a:schemeClr val="tx1">
                    <a:lumMod val="50000"/>
                  </a:schemeClr>
                </a:solidFill>
                <a:cs typeface="+mn-ea"/>
                <a:sym typeface="+mn-lt"/>
              </a:rPr>
              <a:t>），</a:t>
            </a:r>
            <a:r>
              <a:rPr lang="zh-CN" altLang="en-US" sz="1600" b="1" i="1" dirty="0">
                <a:solidFill>
                  <a:schemeClr val="tx1">
                    <a:lumMod val="50000"/>
                  </a:schemeClr>
                </a:solidFill>
                <a:cs typeface="+mn-ea"/>
                <a:sym typeface="+mn-lt"/>
              </a:rPr>
              <a:t>（交换机）</a:t>
            </a:r>
            <a:r>
              <a:rPr lang="zh-CN" altLang="zh-CN" sz="1600" b="1" i="1" u="sng" dirty="0">
                <a:solidFill>
                  <a:schemeClr val="tx1">
                    <a:lumMod val="50000"/>
                  </a:schemeClr>
                </a:solidFill>
                <a:cs typeface="+mn-ea"/>
                <a:sym typeface="+mn-lt"/>
              </a:rPr>
              <a:t>整体成本降低</a:t>
            </a:r>
            <a:r>
              <a:rPr lang="en-US" altLang="zh-CN" sz="1600" b="1" i="1" u="sng" dirty="0">
                <a:solidFill>
                  <a:schemeClr val="tx1">
                    <a:lumMod val="50000"/>
                  </a:schemeClr>
                </a:solidFill>
                <a:cs typeface="+mn-ea"/>
                <a:sym typeface="+mn-lt"/>
              </a:rPr>
              <a:t>30%</a:t>
            </a:r>
            <a:r>
              <a:rPr lang="zh-CN" altLang="zh-CN" sz="1600" b="1" i="1" dirty="0">
                <a:solidFill>
                  <a:schemeClr val="tx1">
                    <a:lumMod val="50000"/>
                  </a:schemeClr>
                </a:solidFill>
                <a:cs typeface="+mn-ea"/>
                <a:sym typeface="+mn-lt"/>
              </a:rPr>
              <a:t>，具备明确竞争优势。</a:t>
            </a:r>
            <a:r>
              <a:rPr lang="zh-CN" altLang="en-US" sz="1600" b="1" i="1" dirty="0">
                <a:solidFill>
                  <a:schemeClr val="tx1">
                    <a:lumMod val="50000"/>
                  </a:schemeClr>
                </a:solidFill>
                <a:cs typeface="+mn-ea"/>
                <a:sym typeface="+mn-lt"/>
              </a:rPr>
              <a:t>”</a:t>
            </a:r>
            <a:endParaRPr lang="en-US" altLang="zh-CN" sz="1600" b="1" i="1" dirty="0">
              <a:solidFill>
                <a:schemeClr val="tx1">
                  <a:lumMod val="50000"/>
                </a:schemeClr>
              </a:solidFill>
              <a:cs typeface="+mn-ea"/>
              <a:sym typeface="+mn-lt"/>
            </a:endParaRPr>
          </a:p>
          <a:p>
            <a:pPr algn="r">
              <a:lnSpc>
                <a:spcPct val="125000"/>
              </a:lnSpc>
            </a:pPr>
            <a:r>
              <a:rPr lang="zh-CN" altLang="en-US" sz="1600" dirty="0">
                <a:solidFill>
                  <a:schemeClr val="tx1">
                    <a:lumMod val="50000"/>
                  </a:schemeClr>
                </a:solidFill>
                <a:cs typeface="+mn-ea"/>
                <a:sym typeface="+mn-lt"/>
              </a:rPr>
              <a:t> </a:t>
            </a:r>
            <a:r>
              <a:rPr lang="en-US" altLang="zh-CN" sz="1600" dirty="0">
                <a:solidFill>
                  <a:schemeClr val="tx1">
                    <a:lumMod val="50000"/>
                  </a:schemeClr>
                </a:solidFill>
                <a:cs typeface="+mn-ea"/>
                <a:sym typeface="+mn-lt"/>
              </a:rPr>
              <a:t>—</a:t>
            </a:r>
            <a:r>
              <a:rPr lang="zh-CN" altLang="en-US" sz="1600" dirty="0">
                <a:solidFill>
                  <a:schemeClr val="tx1">
                    <a:lumMod val="50000"/>
                  </a:schemeClr>
                </a:solidFill>
                <a:cs typeface="+mn-ea"/>
                <a:sym typeface="+mn-lt"/>
              </a:rPr>
              <a:t>英伟达网络方案架构师</a:t>
            </a:r>
            <a:endParaRPr lang="en-US" altLang="zh-CN" sz="1600" dirty="0">
              <a:solidFill>
                <a:schemeClr val="tx1">
                  <a:lumMod val="50000"/>
                </a:schemeClr>
              </a:solidFill>
              <a:cs typeface="+mn-ea"/>
              <a:sym typeface="+mn-lt"/>
            </a:endParaRPr>
          </a:p>
        </p:txBody>
      </p:sp>
      <p:sp>
        <p:nvSpPr>
          <p:cNvPr id="84" name="Text Placeholder 4">
            <a:extLst>
              <a:ext uri="{FF2B5EF4-FFF2-40B4-BE49-F238E27FC236}">
                <a16:creationId xmlns:a16="http://schemas.microsoft.com/office/drawing/2014/main" id="{ED4DBD6C-2C3B-3B52-8ADA-7166A0B107E1}"/>
              </a:ext>
            </a:extLst>
          </p:cNvPr>
          <p:cNvSpPr txBox="1">
            <a:spLocks/>
          </p:cNvSpPr>
          <p:nvPr>
            <p:custDataLst>
              <p:tags r:id="rId17"/>
            </p:custDataLst>
          </p:nvPr>
        </p:nvSpPr>
        <p:spPr bwMode="auto">
          <a:xfrm>
            <a:off x="520167" y="1609422"/>
            <a:ext cx="2137308"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800" b="0" kern="1200" dirty="0">
                <a:solidFill>
                  <a:schemeClr val="tx1"/>
                </a:solidFill>
                <a:latin typeface="+mj-lt"/>
                <a:ea typeface="+mj-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buNone/>
            </a:pPr>
            <a:r>
              <a:rPr lang="zh-CN" altLang="en-US" dirty="0">
                <a:latin typeface="+mn-lt"/>
                <a:ea typeface="+mn-ea"/>
                <a:cs typeface="+mn-ea"/>
                <a:sym typeface="+mn-lt"/>
              </a:rPr>
              <a:t>单通道功耗（</a:t>
            </a:r>
            <a:r>
              <a:rPr lang="en-US" altLang="zh-CN" dirty="0">
                <a:latin typeface="+mn-lt"/>
                <a:ea typeface="+mn-ea"/>
                <a:cs typeface="+mn-ea"/>
                <a:sym typeface="+mn-lt"/>
              </a:rPr>
              <a:t>w</a:t>
            </a:r>
            <a:r>
              <a:rPr lang="zh-CN" altLang="en-US" dirty="0">
                <a:latin typeface="+mn-lt"/>
                <a:ea typeface="+mn-ea"/>
                <a:cs typeface="+mn-ea"/>
                <a:sym typeface="+mn-lt"/>
              </a:rPr>
              <a:t>）</a:t>
            </a:r>
          </a:p>
        </p:txBody>
      </p:sp>
      <p:sp>
        <p:nvSpPr>
          <p:cNvPr id="96" name="标题 1">
            <a:extLst>
              <a:ext uri="{FF2B5EF4-FFF2-40B4-BE49-F238E27FC236}">
                <a16:creationId xmlns:a16="http://schemas.microsoft.com/office/drawing/2014/main" id="{BD7B789B-24A8-260F-8606-C0620ED9CB96}"/>
              </a:ext>
            </a:extLst>
          </p:cNvPr>
          <p:cNvSpPr txBox="1">
            <a:spLocks/>
          </p:cNvSpPr>
          <p:nvPr/>
        </p:nvSpPr>
        <p:spPr>
          <a:xfrm>
            <a:off x="263143" y="159198"/>
            <a:ext cx="9677146" cy="731520"/>
          </a:xfrm>
          <a:prstGeom prst="rect">
            <a:avLst/>
          </a:prstGeom>
        </p:spPr>
        <p:txBody>
          <a:bodyPr vert="horz" wrap="square" lIns="0" tIns="0" rIns="0" bIns="0" rtlCol="0" anchor="ctr" anchorCtr="0">
            <a:noAutofit/>
          </a:bodyPr>
          <a:lstStyle>
            <a:lvl1pPr algn="l" defTabSz="914400" rtl="0" eaLnBrk="1" latinLnBrk="0" hangingPunct="1">
              <a:lnSpc>
                <a:spcPct val="100000"/>
              </a:lnSpc>
              <a:spcBef>
                <a:spcPct val="1"/>
              </a:spcBef>
              <a:buNone/>
              <a:defRPr lang="en-US" sz="2500" b="0" kern="1200" spc="0" baseline="0" dirty="0">
                <a:ln w="6350" cap="flat">
                  <a:noFill/>
                  <a:miter lim="800000"/>
                </a:ln>
                <a:solidFill>
                  <a:schemeClr val="tx1"/>
                </a:solidFill>
                <a:latin typeface="+mj-lt"/>
                <a:ea typeface="+mj-ea"/>
                <a:cs typeface="+mj-cs"/>
                <a:sym typeface="微软雅黑" panose="020B0503020204020204" pitchFamily="34" charset="-122"/>
              </a:defRPr>
            </a:lvl1pPr>
          </a:lstStyle>
          <a:p>
            <a:r>
              <a:rPr lang="zh-CN" altLang="en-US" dirty="0">
                <a:latin typeface="+mn-lt"/>
                <a:ea typeface="+mn-ea"/>
                <a:cs typeface="+mn-ea"/>
                <a:sym typeface="+mn-lt"/>
              </a:rPr>
              <a:t>铜到光转换后面临功耗问题，</a:t>
            </a:r>
            <a:r>
              <a:rPr lang="en-US" altLang="zh-CN" dirty="0">
                <a:latin typeface="+mn-lt"/>
                <a:ea typeface="+mn-ea"/>
                <a:cs typeface="+mn-ea"/>
                <a:sym typeface="+mn-lt"/>
              </a:rPr>
              <a:t>CPO</a:t>
            </a:r>
            <a:r>
              <a:rPr lang="zh-CN" altLang="en-US" dirty="0">
                <a:latin typeface="+mn-lt"/>
                <a:ea typeface="+mn-ea"/>
                <a:cs typeface="+mn-ea"/>
                <a:sym typeface="+mn-lt"/>
              </a:rPr>
              <a:t>可大幅降低功耗</a:t>
            </a:r>
          </a:p>
        </p:txBody>
      </p:sp>
      <p:sp>
        <p:nvSpPr>
          <p:cNvPr id="259" name="文本框 258">
            <a:extLst>
              <a:ext uri="{FF2B5EF4-FFF2-40B4-BE49-F238E27FC236}">
                <a16:creationId xmlns:a16="http://schemas.microsoft.com/office/drawing/2014/main" id="{41A191AD-645C-E1FE-AD69-F0931DDFCF62}"/>
              </a:ext>
            </a:extLst>
          </p:cNvPr>
          <p:cNvSpPr txBox="1"/>
          <p:nvPr/>
        </p:nvSpPr>
        <p:spPr>
          <a:xfrm>
            <a:off x="245404" y="6531893"/>
            <a:ext cx="6536586"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：按照</a:t>
            </a:r>
            <a:r>
              <a:rPr kumimoji="1" lang="en-US" altLang="zh-CN" sz="1200" i="1" dirty="0">
                <a:solidFill>
                  <a:schemeClr val="tx1">
                    <a:lumMod val="50000"/>
                  </a:schemeClr>
                </a:solidFill>
                <a:cs typeface="+mn-ea"/>
                <a:sym typeface="+mn-lt"/>
              </a:rPr>
              <a:t>GB200 NVL72</a:t>
            </a:r>
            <a:r>
              <a:rPr kumimoji="1" lang="zh-CN" altLang="en-US" sz="1200" i="1" dirty="0">
                <a:solidFill>
                  <a:schemeClr val="tx1">
                    <a:lumMod val="50000"/>
                  </a:schemeClr>
                </a:solidFill>
                <a:cs typeface="+mn-ea"/>
                <a:sym typeface="+mn-lt"/>
              </a:rPr>
              <a:t>扩展方案，</a:t>
            </a:r>
            <a:r>
              <a:rPr kumimoji="1" lang="en-US" altLang="zh-CN" sz="1200" i="1" dirty="0">
                <a:solidFill>
                  <a:schemeClr val="tx1">
                    <a:lumMod val="50000"/>
                  </a:schemeClr>
                </a:solidFill>
                <a:cs typeface="+mn-ea"/>
                <a:sym typeface="+mn-lt"/>
              </a:rPr>
              <a:t>2</a:t>
            </a:r>
            <a:r>
              <a:rPr kumimoji="1" lang="zh-CN" altLang="en-US" sz="1200" i="1" dirty="0">
                <a:solidFill>
                  <a:schemeClr val="tx1">
                    <a:lumMod val="50000"/>
                  </a:schemeClr>
                </a:solidFill>
                <a:cs typeface="+mn-ea"/>
                <a:sym typeface="+mn-lt"/>
              </a:rPr>
              <a:t>组网架构层数计算</a:t>
            </a:r>
          </a:p>
        </p:txBody>
      </p:sp>
      <p:sp>
        <p:nvSpPr>
          <p:cNvPr id="63" name="文本框 62">
            <a:extLst>
              <a:ext uri="{FF2B5EF4-FFF2-40B4-BE49-F238E27FC236}">
                <a16:creationId xmlns:a16="http://schemas.microsoft.com/office/drawing/2014/main" id="{3FFC178B-21DE-D549-2F42-0066D119E61F}"/>
              </a:ext>
            </a:extLst>
          </p:cNvPr>
          <p:cNvSpPr txBox="1"/>
          <p:nvPr/>
        </p:nvSpPr>
        <p:spPr>
          <a:xfrm>
            <a:off x="1355959" y="1151205"/>
            <a:ext cx="5885909" cy="301625"/>
          </a:xfrm>
          <a:prstGeom prst="rect">
            <a:avLst/>
          </a:prstGeom>
          <a:ln w="6350">
            <a:noFill/>
            <a:miter lim="800000"/>
          </a:ln>
        </p:spPr>
        <p:txBody>
          <a:bodyPr vert="horz" wrap="square" lIns="0" tIns="0" rIns="0" bIns="0" rtlCol="0">
            <a:noAutofit/>
          </a:bodyPr>
          <a:lstStyle/>
          <a:p>
            <a:pPr>
              <a:spcBef>
                <a:spcPts val="300"/>
              </a:spcBef>
              <a:spcAft>
                <a:spcPts val="300"/>
              </a:spcAft>
            </a:pPr>
            <a:r>
              <a:rPr lang="zh-CN" altLang="en-US" b="1" dirty="0">
                <a:solidFill>
                  <a:schemeClr val="tx1">
                    <a:lumMod val="50000"/>
                  </a:schemeClr>
                </a:solidFill>
                <a:cs typeface="+mn-ea"/>
                <a:sym typeface="+mn-lt"/>
              </a:rPr>
              <a:t>铜互连到光互联的单通道功耗变化</a:t>
            </a:r>
            <a:endParaRPr kumimoji="1" lang="zh-CN" altLang="en-US" b="1" dirty="0">
              <a:solidFill>
                <a:schemeClr val="tx1">
                  <a:lumMod val="50000"/>
                </a:schemeClr>
              </a:solidFill>
              <a:cs typeface="+mn-ea"/>
              <a:sym typeface="+mn-lt"/>
            </a:endParaRPr>
          </a:p>
        </p:txBody>
      </p:sp>
    </p:spTree>
    <p:extLst>
      <p:ext uri="{BB962C8B-B14F-4D97-AF65-F5344CB8AC3E}">
        <p14:creationId xmlns:p14="http://schemas.microsoft.com/office/powerpoint/2010/main" val="1408630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FEB7AE4-B65B-C4C4-1B81-0F6F5726F23D}"/>
              </a:ext>
            </a:extLst>
          </p:cNvPr>
          <p:cNvGraphicFramePr>
            <a:graphicFrameLocks noChangeAspect="1"/>
          </p:cNvGraphicFramePr>
          <p:nvPr>
            <p:custDataLst>
              <p:tags r:id="rId1"/>
            </p:custDataLst>
            <p:extLst>
              <p:ext uri="{D42A27DB-BD31-4B8C-83A1-F6EECF244321}">
                <p14:modId xmlns:p14="http://schemas.microsoft.com/office/powerpoint/2010/main" val="17504586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4" imgH="405" progId="TCLayout.ActiveDocument.1">
                  <p:embed/>
                </p:oleObj>
              </mc:Choice>
              <mc:Fallback>
                <p:oleObj name="think-cell 幻灯片" r:id="rId4" imgW="404" imgH="40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标题 1">
            <a:extLst>
              <a:ext uri="{FF2B5EF4-FFF2-40B4-BE49-F238E27FC236}">
                <a16:creationId xmlns:a16="http://schemas.microsoft.com/office/drawing/2014/main" id="{989D3CE2-210E-CC7D-621E-E3C9275A6A3A}"/>
              </a:ext>
            </a:extLst>
          </p:cNvPr>
          <p:cNvSpPr txBox="1">
            <a:spLocks/>
          </p:cNvSpPr>
          <p:nvPr/>
        </p:nvSpPr>
        <p:spPr>
          <a:xfrm>
            <a:off x="311150" y="216822"/>
            <a:ext cx="10331450" cy="731520"/>
          </a:xfrm>
          <a:prstGeom prst="rect">
            <a:avLst/>
          </a:prstGeom>
        </p:spPr>
        <p:txBody>
          <a:bodyPr vert="horz" wrap="square" lIns="0" tIns="0" rIns="0" bIns="0" rtlCol="0" anchor="ctr" anchorCtr="0">
            <a:noAutofit/>
          </a:bodyPr>
          <a:lstStyle>
            <a:lvl1pPr algn="l" defTabSz="914400" rtl="0" eaLnBrk="1" latinLnBrk="0" hangingPunct="1">
              <a:lnSpc>
                <a:spcPct val="100000"/>
              </a:lnSpc>
              <a:spcBef>
                <a:spcPct val="1"/>
              </a:spcBef>
              <a:buNone/>
              <a:defRPr lang="en-US" sz="2500" b="0" kern="1200" spc="0" baseline="0" dirty="0">
                <a:ln w="6350" cap="flat">
                  <a:noFill/>
                  <a:miter lim="800000"/>
                </a:ln>
                <a:solidFill>
                  <a:schemeClr val="tx1"/>
                </a:solidFill>
                <a:latin typeface="+mj-lt"/>
                <a:ea typeface="+mj-ea"/>
                <a:cs typeface="+mj-cs"/>
                <a:sym typeface="微软雅黑" panose="020B0503020204020204" pitchFamily="34" charset="-122"/>
              </a:defRPr>
            </a:lvl1pPr>
          </a:lstStyle>
          <a:p>
            <a:r>
              <a:rPr lang="en-US" altLang="zh-CN" dirty="0">
                <a:latin typeface="+mn-lt"/>
                <a:ea typeface="+mn-ea"/>
                <a:cs typeface="+mn-ea"/>
                <a:sym typeface="+mn-lt"/>
              </a:rPr>
              <a:t>CPO</a:t>
            </a:r>
            <a:r>
              <a:rPr lang="zh-CN" altLang="en-US" dirty="0">
                <a:latin typeface="+mn-lt"/>
                <a:ea typeface="+mn-ea"/>
                <a:cs typeface="+mn-ea"/>
                <a:sym typeface="+mn-lt"/>
              </a:rPr>
              <a:t>解决可插拔光模块的信息损耗、功耗、速率痛点</a:t>
            </a:r>
          </a:p>
        </p:txBody>
      </p:sp>
      <p:cxnSp>
        <p:nvCxnSpPr>
          <p:cNvPr id="1037" name="直线连接符 30">
            <a:extLst>
              <a:ext uri="{FF2B5EF4-FFF2-40B4-BE49-F238E27FC236}">
                <a16:creationId xmlns:a16="http://schemas.microsoft.com/office/drawing/2014/main" id="{ED02B6E0-8381-DC9D-621A-D6B315636CD9}"/>
              </a:ext>
            </a:extLst>
          </p:cNvPr>
          <p:cNvCxnSpPr>
            <a:cxnSpLocks/>
          </p:cNvCxnSpPr>
          <p:nvPr/>
        </p:nvCxnSpPr>
        <p:spPr>
          <a:xfrm>
            <a:off x="1447849" y="2820832"/>
            <a:ext cx="9910206"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192" name="文本框 2191">
            <a:extLst>
              <a:ext uri="{FF2B5EF4-FFF2-40B4-BE49-F238E27FC236}">
                <a16:creationId xmlns:a16="http://schemas.microsoft.com/office/drawing/2014/main" id="{11C415A0-6402-D7B4-E114-4E16E77FFEE9}"/>
              </a:ext>
            </a:extLst>
          </p:cNvPr>
          <p:cNvSpPr txBox="1"/>
          <p:nvPr/>
        </p:nvSpPr>
        <p:spPr>
          <a:xfrm>
            <a:off x="298577" y="3421001"/>
            <a:ext cx="1361697" cy="523220"/>
          </a:xfrm>
          <a:prstGeom prst="rect">
            <a:avLst/>
          </a:prstGeom>
          <a:noFill/>
          <a:ln>
            <a:noFill/>
            <a:prstDash val="dash"/>
          </a:ln>
        </p:spPr>
        <p:txBody>
          <a:bodyPr wrap="square">
            <a:spAutoFit/>
          </a:bodyPr>
          <a:lstStyle/>
          <a:p>
            <a:pPr algn="ctr"/>
            <a:r>
              <a:rPr lang="en-US" altLang="zh-CN" sz="1400" b="1" dirty="0">
                <a:solidFill>
                  <a:schemeClr val="accent6">
                    <a:lumMod val="10000"/>
                  </a:schemeClr>
                </a:solidFill>
                <a:cs typeface="+mn-ea"/>
                <a:sym typeface="+mn-lt"/>
              </a:rPr>
              <a:t>Pluggable</a:t>
            </a:r>
          </a:p>
          <a:p>
            <a:pPr algn="ctr"/>
            <a:r>
              <a:rPr lang="zh-CN" altLang="en-US" sz="1400" b="1" dirty="0">
                <a:solidFill>
                  <a:schemeClr val="accent6">
                    <a:lumMod val="10000"/>
                  </a:schemeClr>
                </a:solidFill>
                <a:cs typeface="+mn-ea"/>
                <a:sym typeface="+mn-lt"/>
              </a:rPr>
              <a:t>传统方案</a:t>
            </a:r>
            <a:endParaRPr lang="en-US" altLang="zh-CN" sz="1400" b="1" dirty="0">
              <a:solidFill>
                <a:schemeClr val="accent6">
                  <a:lumMod val="10000"/>
                </a:schemeClr>
              </a:solidFill>
              <a:cs typeface="+mn-ea"/>
              <a:sym typeface="+mn-lt"/>
            </a:endParaRPr>
          </a:p>
        </p:txBody>
      </p:sp>
      <p:sp>
        <p:nvSpPr>
          <p:cNvPr id="2194" name="文本框 2193">
            <a:extLst>
              <a:ext uri="{FF2B5EF4-FFF2-40B4-BE49-F238E27FC236}">
                <a16:creationId xmlns:a16="http://schemas.microsoft.com/office/drawing/2014/main" id="{CA121FB0-0CE5-73AC-E986-07E323FE78ED}"/>
              </a:ext>
            </a:extLst>
          </p:cNvPr>
          <p:cNvSpPr txBox="1"/>
          <p:nvPr/>
        </p:nvSpPr>
        <p:spPr>
          <a:xfrm>
            <a:off x="536146" y="5340382"/>
            <a:ext cx="911703" cy="523220"/>
          </a:xfrm>
          <a:prstGeom prst="rect">
            <a:avLst/>
          </a:prstGeom>
          <a:noFill/>
          <a:ln>
            <a:noFill/>
            <a:prstDash val="dash"/>
          </a:ln>
        </p:spPr>
        <p:txBody>
          <a:bodyPr wrap="square">
            <a:spAutoFit/>
          </a:bodyPr>
          <a:lstStyle/>
          <a:p>
            <a:pPr algn="ctr"/>
            <a:r>
              <a:rPr lang="en-US" altLang="zh-CN" sz="1400" b="1" dirty="0">
                <a:solidFill>
                  <a:schemeClr val="accent6">
                    <a:lumMod val="10000"/>
                  </a:schemeClr>
                </a:solidFill>
                <a:cs typeface="+mn-ea"/>
                <a:sym typeface="+mn-lt"/>
              </a:rPr>
              <a:t>CPO</a:t>
            </a:r>
          </a:p>
          <a:p>
            <a:pPr algn="ctr"/>
            <a:r>
              <a:rPr lang="zh-CN" altLang="en-US" sz="1400" b="1" dirty="0">
                <a:solidFill>
                  <a:schemeClr val="accent6">
                    <a:lumMod val="10000"/>
                  </a:schemeClr>
                </a:solidFill>
                <a:cs typeface="+mn-ea"/>
                <a:sym typeface="+mn-lt"/>
              </a:rPr>
              <a:t>进阶方案</a:t>
            </a:r>
          </a:p>
        </p:txBody>
      </p:sp>
      <p:sp>
        <p:nvSpPr>
          <p:cNvPr id="2306" name="文本框 2305">
            <a:extLst>
              <a:ext uri="{FF2B5EF4-FFF2-40B4-BE49-F238E27FC236}">
                <a16:creationId xmlns:a16="http://schemas.microsoft.com/office/drawing/2014/main" id="{8702DED7-1C3A-C8DD-13BE-F188EA97DC8D}"/>
              </a:ext>
            </a:extLst>
          </p:cNvPr>
          <p:cNvSpPr txBox="1"/>
          <p:nvPr/>
        </p:nvSpPr>
        <p:spPr>
          <a:xfrm>
            <a:off x="536146" y="926664"/>
            <a:ext cx="10132483" cy="792406"/>
          </a:xfrm>
          <a:prstGeom prst="rect">
            <a:avLst/>
          </a:prstGeom>
          <a:ln w="6350">
            <a:noFill/>
            <a:miter lim="800000"/>
          </a:ln>
        </p:spPr>
        <p:txBody>
          <a:bodyPr vert="horz" wrap="square" lIns="0" tIns="0" rIns="0" bIns="0" rtlCol="0">
            <a:noAutofit/>
          </a:bodyPr>
          <a:lstStyle/>
          <a:p>
            <a:pPr marL="285750" indent="-285750">
              <a:spcBef>
                <a:spcPts val="400"/>
              </a:spcBef>
              <a:spcAft>
                <a:spcPts val="400"/>
              </a:spcAft>
              <a:buFont typeface="Arial" panose="020B0604020202020204" pitchFamily="34" charset="0"/>
              <a:buChar char="•"/>
            </a:pPr>
            <a:r>
              <a:rPr lang="zh-CN" altLang="en-US" sz="1600" b="1" dirty="0">
                <a:solidFill>
                  <a:schemeClr val="accent6">
                    <a:lumMod val="10000"/>
                  </a:schemeClr>
                </a:solidFill>
                <a:cs typeface="+mn-ea"/>
                <a:sym typeface="+mn-lt"/>
              </a:rPr>
              <a:t>硬制约：</a:t>
            </a:r>
            <a:r>
              <a:rPr lang="en-US" altLang="zh-CN" sz="1600" dirty="0">
                <a:solidFill>
                  <a:schemeClr val="accent6">
                    <a:lumMod val="10000"/>
                  </a:schemeClr>
                </a:solidFill>
                <a:cs typeface="+mn-ea"/>
                <a:sym typeface="+mn-lt"/>
              </a:rPr>
              <a:t>PCB</a:t>
            </a:r>
            <a:r>
              <a:rPr lang="zh-CN" altLang="en-US" sz="1600" dirty="0">
                <a:solidFill>
                  <a:schemeClr val="accent6">
                    <a:lumMod val="10000"/>
                  </a:schemeClr>
                </a:solidFill>
                <a:cs typeface="+mn-ea"/>
                <a:sym typeface="+mn-lt"/>
              </a:rPr>
              <a:t>走线带来高</a:t>
            </a:r>
            <a:r>
              <a:rPr lang="zh-CN" altLang="en-US" sz="1600" b="1" dirty="0">
                <a:solidFill>
                  <a:srgbClr val="0052D9"/>
                </a:solidFill>
                <a:cs typeface="+mn-ea"/>
                <a:sym typeface="+mn-lt"/>
              </a:rPr>
              <a:t>信息损耗和失真</a:t>
            </a:r>
            <a:r>
              <a:rPr lang="zh-CN" altLang="en-US" sz="1600" dirty="0">
                <a:solidFill>
                  <a:schemeClr val="accent6">
                    <a:lumMod val="10000"/>
                  </a:schemeClr>
                </a:solidFill>
                <a:cs typeface="+mn-ea"/>
                <a:sym typeface="+mn-lt"/>
              </a:rPr>
              <a:t>（无法完全通过功耗补偿），导致信号中断</a:t>
            </a:r>
            <a:endParaRPr lang="en-US" altLang="zh-CN" sz="1600" dirty="0">
              <a:solidFill>
                <a:schemeClr val="accent6">
                  <a:lumMod val="10000"/>
                </a:schemeClr>
              </a:solidFill>
              <a:cs typeface="+mn-ea"/>
              <a:sym typeface="+mn-lt"/>
            </a:endParaRPr>
          </a:p>
          <a:p>
            <a:pPr marL="742950" lvl="1" indent="-285750">
              <a:spcBef>
                <a:spcPts val="400"/>
              </a:spcBef>
              <a:spcAft>
                <a:spcPts val="400"/>
              </a:spcAft>
              <a:buFont typeface="Arial" panose="020B0604020202020204" pitchFamily="34" charset="0"/>
              <a:buChar char="•"/>
            </a:pPr>
            <a:r>
              <a:rPr lang="en-US" altLang="zh-CN" sz="1600" dirty="0">
                <a:solidFill>
                  <a:schemeClr val="accent6">
                    <a:lumMod val="10000"/>
                  </a:schemeClr>
                </a:solidFill>
                <a:cs typeface="+mn-ea"/>
                <a:sym typeface="+mn-lt"/>
              </a:rPr>
              <a:t>CPO</a:t>
            </a:r>
            <a:r>
              <a:rPr lang="zh-CN" altLang="en-US" sz="1600" dirty="0">
                <a:solidFill>
                  <a:schemeClr val="accent6">
                    <a:lumMod val="10000"/>
                  </a:schemeClr>
                </a:solidFill>
                <a:cs typeface="+mn-ea"/>
                <a:sym typeface="+mn-lt"/>
              </a:rPr>
              <a:t>不走 </a:t>
            </a:r>
            <a:r>
              <a:rPr lang="en-US" altLang="zh-CN" sz="1600" dirty="0">
                <a:solidFill>
                  <a:schemeClr val="accent6">
                    <a:lumMod val="10000"/>
                  </a:schemeClr>
                </a:solidFill>
                <a:cs typeface="+mn-ea"/>
                <a:sym typeface="+mn-lt"/>
              </a:rPr>
              <a:t>PCB</a:t>
            </a:r>
            <a:r>
              <a:rPr lang="zh-CN" altLang="en-US" sz="1600" dirty="0">
                <a:solidFill>
                  <a:schemeClr val="accent6">
                    <a:lumMod val="10000"/>
                  </a:schemeClr>
                </a:solidFill>
                <a:cs typeface="+mn-ea"/>
                <a:sym typeface="+mn-lt"/>
              </a:rPr>
              <a:t>，损耗</a:t>
            </a:r>
            <a:r>
              <a:rPr lang="en-US" altLang="zh-CN" sz="1600" dirty="0">
                <a:solidFill>
                  <a:schemeClr val="accent6">
                    <a:lumMod val="10000"/>
                  </a:schemeClr>
                </a:solidFill>
                <a:cs typeface="+mn-ea"/>
                <a:sym typeface="+mn-lt"/>
              </a:rPr>
              <a:t>22db =&gt;</a:t>
            </a:r>
            <a:r>
              <a:rPr lang="zh-CN" altLang="en-US" sz="1600" dirty="0">
                <a:solidFill>
                  <a:schemeClr val="accent6">
                    <a:lumMod val="10000"/>
                  </a:schemeClr>
                </a:solidFill>
                <a:cs typeface="+mn-ea"/>
                <a:sym typeface="+mn-lt"/>
              </a:rPr>
              <a:t> </a:t>
            </a:r>
            <a:r>
              <a:rPr lang="en-US" altLang="zh-CN" sz="1600" b="1" dirty="0">
                <a:solidFill>
                  <a:srgbClr val="0052D9"/>
                </a:solidFill>
                <a:cs typeface="+mn-ea"/>
                <a:sym typeface="+mn-lt"/>
              </a:rPr>
              <a:t>4db</a:t>
            </a:r>
          </a:p>
          <a:p>
            <a:pPr marL="285750" indent="-285750">
              <a:spcBef>
                <a:spcPts val="400"/>
              </a:spcBef>
              <a:spcAft>
                <a:spcPts val="400"/>
              </a:spcAft>
              <a:buFont typeface="Arial" panose="020B0604020202020204" pitchFamily="34" charset="0"/>
              <a:buChar char="•"/>
            </a:pPr>
            <a:r>
              <a:rPr lang="zh-CN" altLang="en-US" sz="1600" b="1" dirty="0">
                <a:solidFill>
                  <a:schemeClr val="accent6">
                    <a:lumMod val="10000"/>
                  </a:schemeClr>
                </a:solidFill>
                <a:cs typeface="+mn-ea"/>
                <a:sym typeface="+mn-lt"/>
              </a:rPr>
              <a:t>软制约：</a:t>
            </a:r>
            <a:r>
              <a:rPr lang="zh-CN" altLang="en-US" sz="1600" dirty="0">
                <a:solidFill>
                  <a:schemeClr val="accent6">
                    <a:lumMod val="10000"/>
                  </a:schemeClr>
                </a:solidFill>
                <a:cs typeface="+mn-ea"/>
                <a:sym typeface="+mn-lt"/>
              </a:rPr>
              <a:t>长距离信息损耗需</a:t>
            </a:r>
            <a:r>
              <a:rPr lang="zh-CN" altLang="en-US" sz="1600" b="1" dirty="0">
                <a:solidFill>
                  <a:srgbClr val="0052D9"/>
                </a:solidFill>
                <a:cs typeface="+mn-ea"/>
                <a:sym typeface="+mn-lt"/>
              </a:rPr>
              <a:t>高功耗补偿</a:t>
            </a:r>
            <a:r>
              <a:rPr lang="zh-CN" altLang="en-US" sz="1600" dirty="0">
                <a:solidFill>
                  <a:schemeClr val="accent6">
                    <a:lumMod val="10000"/>
                  </a:schemeClr>
                </a:solidFill>
                <a:cs typeface="+mn-ea"/>
                <a:sym typeface="+mn-lt"/>
              </a:rPr>
              <a:t>（</a:t>
            </a:r>
            <a:r>
              <a:rPr lang="en-US" altLang="zh-CN" sz="1600" dirty="0">
                <a:solidFill>
                  <a:schemeClr val="accent6">
                    <a:lumMod val="10000"/>
                  </a:schemeClr>
                </a:solidFill>
                <a:cs typeface="+mn-ea"/>
                <a:sym typeface="+mn-lt"/>
              </a:rPr>
              <a:t>20W</a:t>
            </a:r>
            <a:r>
              <a:rPr lang="zh-CN" altLang="en-US" sz="1600" dirty="0">
                <a:solidFill>
                  <a:schemeClr val="accent6">
                    <a:lumMod val="10000"/>
                  </a:schemeClr>
                </a:solidFill>
                <a:cs typeface="+mn-ea"/>
                <a:sym typeface="+mn-lt"/>
              </a:rPr>
              <a:t>，占整体光模块 </a:t>
            </a:r>
            <a:r>
              <a:rPr lang="en-US" altLang="zh-CN" sz="1600" dirty="0">
                <a:solidFill>
                  <a:schemeClr val="accent6">
                    <a:lumMod val="10000"/>
                  </a:schemeClr>
                </a:solidFill>
                <a:cs typeface="+mn-ea"/>
                <a:sym typeface="+mn-lt"/>
              </a:rPr>
              <a:t>2/3</a:t>
            </a:r>
            <a:r>
              <a:rPr lang="zh-CN" altLang="en-US" sz="1600" dirty="0">
                <a:solidFill>
                  <a:schemeClr val="accent6">
                    <a:lumMod val="10000"/>
                  </a:schemeClr>
                </a:solidFill>
                <a:cs typeface="+mn-ea"/>
                <a:sym typeface="+mn-lt"/>
              </a:rPr>
              <a:t>）且</a:t>
            </a:r>
            <a:r>
              <a:rPr lang="zh-CN" altLang="en-US" sz="1600" b="1" dirty="0">
                <a:solidFill>
                  <a:srgbClr val="0052D9"/>
                </a:solidFill>
                <a:cs typeface="+mn-ea"/>
                <a:sym typeface="+mn-lt"/>
              </a:rPr>
              <a:t>限制速率</a:t>
            </a:r>
            <a:endParaRPr lang="en-US" altLang="zh-CN" sz="1600" b="1" dirty="0">
              <a:solidFill>
                <a:srgbClr val="0052D9"/>
              </a:solidFill>
              <a:cs typeface="+mn-ea"/>
              <a:sym typeface="+mn-lt"/>
            </a:endParaRPr>
          </a:p>
          <a:p>
            <a:pPr marL="742950" lvl="1" indent="-285750">
              <a:spcBef>
                <a:spcPts val="400"/>
              </a:spcBef>
              <a:spcAft>
                <a:spcPts val="400"/>
              </a:spcAft>
              <a:buFont typeface="Arial" panose="020B0604020202020204" pitchFamily="34" charset="0"/>
              <a:buChar char="•"/>
            </a:pPr>
            <a:r>
              <a:rPr lang="en-US" altLang="zh-CN" sz="1600" dirty="0">
                <a:solidFill>
                  <a:schemeClr val="accent6">
                    <a:lumMod val="10000"/>
                  </a:schemeClr>
                </a:solidFill>
                <a:cs typeface="+mn-ea"/>
                <a:sym typeface="+mn-lt"/>
              </a:rPr>
              <a:t>CPO</a:t>
            </a:r>
            <a:r>
              <a:rPr lang="zh-CN" altLang="en-US" sz="1600" dirty="0">
                <a:solidFill>
                  <a:schemeClr val="accent6">
                    <a:lumMod val="10000"/>
                  </a:schemeClr>
                </a:solidFill>
                <a:cs typeface="+mn-ea"/>
                <a:sym typeface="+mn-lt"/>
              </a:rPr>
              <a:t> </a:t>
            </a:r>
            <a:r>
              <a:rPr lang="en-US" altLang="zh-CN" sz="1600" dirty="0">
                <a:solidFill>
                  <a:schemeClr val="accent6">
                    <a:lumMod val="10000"/>
                  </a:schemeClr>
                </a:solidFill>
                <a:cs typeface="+mn-ea"/>
                <a:sym typeface="+mn-lt"/>
              </a:rPr>
              <a:t>10x</a:t>
            </a:r>
            <a:r>
              <a:rPr lang="zh-CN" altLang="en-US" sz="1600" dirty="0">
                <a:solidFill>
                  <a:schemeClr val="accent6">
                    <a:lumMod val="10000"/>
                  </a:schemeClr>
                </a:solidFill>
                <a:cs typeface="+mn-ea"/>
                <a:sym typeface="+mn-lt"/>
              </a:rPr>
              <a:t>级缩距，传输速率上限提升</a:t>
            </a:r>
            <a:r>
              <a:rPr lang="en-US" altLang="zh-CN" sz="1600" b="1" dirty="0">
                <a:solidFill>
                  <a:srgbClr val="0052D9"/>
                </a:solidFill>
                <a:cs typeface="+mn-ea"/>
                <a:sym typeface="+mn-lt"/>
              </a:rPr>
              <a:t>4x</a:t>
            </a:r>
          </a:p>
        </p:txBody>
      </p:sp>
      <p:sp>
        <p:nvSpPr>
          <p:cNvPr id="48" name="文本框 47">
            <a:extLst>
              <a:ext uri="{FF2B5EF4-FFF2-40B4-BE49-F238E27FC236}">
                <a16:creationId xmlns:a16="http://schemas.microsoft.com/office/drawing/2014/main" id="{1FB244C6-6982-29E6-9E9D-31CEF0F57E3B}"/>
              </a:ext>
            </a:extLst>
          </p:cNvPr>
          <p:cNvSpPr txBox="1"/>
          <p:nvPr/>
        </p:nvSpPr>
        <p:spPr>
          <a:xfrm>
            <a:off x="298577" y="6334673"/>
            <a:ext cx="6536586" cy="281243"/>
          </a:xfrm>
          <a:prstGeom prst="rect">
            <a:avLst/>
          </a:prstGeom>
          <a:ln w="6350">
            <a:noFill/>
            <a:miter lim="800000"/>
          </a:ln>
        </p:spPr>
        <p:txBody>
          <a:bodyPr vert="horz" wrap="square" lIns="0" tIns="0" rIns="0" bIns="0" rtlCol="0" anchor="ctr">
            <a:noAutofit/>
          </a:bodyPr>
          <a:lstStyle/>
          <a:p>
            <a:pPr>
              <a:spcBef>
                <a:spcPts val="300"/>
              </a:spcBef>
              <a:spcAft>
                <a:spcPts val="300"/>
              </a:spcAft>
            </a:pPr>
            <a:r>
              <a:rPr kumimoji="1" lang="en-US" altLang="zh-CN" sz="1200" i="1" dirty="0">
                <a:solidFill>
                  <a:schemeClr val="tx1">
                    <a:lumMod val="50000"/>
                  </a:schemeClr>
                </a:solidFill>
                <a:cs typeface="+mn-ea"/>
                <a:sym typeface="+mn-lt"/>
              </a:rPr>
              <a:t>Source:</a:t>
            </a:r>
            <a:r>
              <a:rPr kumimoji="1" lang="zh-CN" altLang="en-US" sz="1200" i="1" dirty="0">
                <a:solidFill>
                  <a:schemeClr val="tx1">
                    <a:lumMod val="50000"/>
                  </a:schemeClr>
                </a:solidFill>
                <a:cs typeface="+mn-ea"/>
                <a:sym typeface="+mn-lt"/>
              </a:rPr>
              <a:t> </a:t>
            </a:r>
            <a:r>
              <a:rPr kumimoji="1" lang="en-US" altLang="zh-CN" sz="1200" i="1" dirty="0">
                <a:solidFill>
                  <a:schemeClr val="tx1">
                    <a:lumMod val="50000"/>
                  </a:schemeClr>
                </a:solidFill>
                <a:cs typeface="+mn-ea"/>
                <a:sym typeface="+mn-lt"/>
              </a:rPr>
              <a:t>Nvidia</a:t>
            </a:r>
          </a:p>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：功耗均为</a:t>
            </a:r>
            <a:r>
              <a:rPr kumimoji="1" lang="en-US" altLang="zh-CN" sz="1200" i="1" dirty="0">
                <a:solidFill>
                  <a:schemeClr val="tx1">
                    <a:lumMod val="50000"/>
                  </a:schemeClr>
                </a:solidFill>
                <a:cs typeface="+mn-ea"/>
                <a:sym typeface="+mn-lt"/>
              </a:rPr>
              <a:t>1.6Tbps</a:t>
            </a:r>
            <a:r>
              <a:rPr kumimoji="1" lang="zh-CN" altLang="en-US" sz="1200" i="1" dirty="0">
                <a:solidFill>
                  <a:schemeClr val="tx1">
                    <a:lumMod val="50000"/>
                  </a:schemeClr>
                </a:solidFill>
                <a:cs typeface="+mn-ea"/>
                <a:sym typeface="+mn-lt"/>
              </a:rPr>
              <a:t>速率下</a:t>
            </a:r>
            <a:endParaRPr kumimoji="1" lang="en-US" altLang="zh-CN" sz="1200" dirty="0">
              <a:solidFill>
                <a:schemeClr val="tx1">
                  <a:lumMod val="50000"/>
                </a:schemeClr>
              </a:solidFill>
              <a:cs typeface="+mn-ea"/>
              <a:sym typeface="+mn-lt"/>
            </a:endParaRPr>
          </a:p>
        </p:txBody>
      </p:sp>
      <p:grpSp>
        <p:nvGrpSpPr>
          <p:cNvPr id="11" name="组合 10">
            <a:extLst>
              <a:ext uri="{FF2B5EF4-FFF2-40B4-BE49-F238E27FC236}">
                <a16:creationId xmlns:a16="http://schemas.microsoft.com/office/drawing/2014/main" id="{2350886C-697B-026F-46EB-F4126C039A9E}"/>
              </a:ext>
            </a:extLst>
          </p:cNvPr>
          <p:cNvGrpSpPr/>
          <p:nvPr/>
        </p:nvGrpSpPr>
        <p:grpSpPr>
          <a:xfrm>
            <a:off x="4473209" y="2264950"/>
            <a:ext cx="8187507" cy="4042114"/>
            <a:chOff x="2568076" y="2105163"/>
            <a:chExt cx="8187507" cy="4042114"/>
          </a:xfrm>
        </p:grpSpPr>
        <p:sp>
          <p:nvSpPr>
            <p:cNvPr id="2195" name="矩形: 圆角 2194">
              <a:extLst>
                <a:ext uri="{FF2B5EF4-FFF2-40B4-BE49-F238E27FC236}">
                  <a16:creationId xmlns:a16="http://schemas.microsoft.com/office/drawing/2014/main" id="{1E008CC3-49DA-2C0C-1789-CD0CE484D03C}"/>
                </a:ext>
              </a:extLst>
            </p:cNvPr>
            <p:cNvSpPr/>
            <p:nvPr/>
          </p:nvSpPr>
          <p:spPr>
            <a:xfrm>
              <a:off x="5330856" y="3719775"/>
              <a:ext cx="3048997" cy="338554"/>
            </a:xfrm>
            <a:prstGeom prst="roundRect">
              <a:avLst>
                <a:gd name="adj" fmla="val 2414"/>
              </a:avLst>
            </a:prstGeom>
            <a:solidFill>
              <a:schemeClr val="accent2">
                <a:lumMod val="20000"/>
                <a:lumOff val="80000"/>
              </a:schemeClr>
            </a:solidFill>
            <a:ln>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36" name="文本框 1035">
              <a:extLst>
                <a:ext uri="{FF2B5EF4-FFF2-40B4-BE49-F238E27FC236}">
                  <a16:creationId xmlns:a16="http://schemas.microsoft.com/office/drawing/2014/main" id="{ECCC2ED5-0A88-21E2-49DF-C32546F8E5BC}"/>
                </a:ext>
              </a:extLst>
            </p:cNvPr>
            <p:cNvSpPr txBox="1"/>
            <p:nvPr/>
          </p:nvSpPr>
          <p:spPr>
            <a:xfrm>
              <a:off x="3432101" y="2105163"/>
              <a:ext cx="4473575" cy="431368"/>
            </a:xfrm>
            <a:prstGeom prst="rect">
              <a:avLst/>
            </a:prstGeom>
            <a:ln w="6350">
              <a:noFill/>
              <a:miter lim="800000"/>
            </a:ln>
          </p:spPr>
          <p:txBody>
            <a:bodyPr vert="horz" wrap="square" lIns="0" tIns="0" rIns="0" bIns="0" rtlCol="0" anchor="ctr">
              <a:noAutofit/>
            </a:bodyPr>
            <a:lstStyle/>
            <a:p>
              <a:pPr algn="l">
                <a:spcBef>
                  <a:spcPts val="300"/>
                </a:spcBef>
                <a:spcAft>
                  <a:spcPts val="300"/>
                </a:spcAft>
              </a:pPr>
              <a:r>
                <a:rPr kumimoji="1" lang="zh-CN" altLang="en-US" sz="1400" b="1" dirty="0">
                  <a:solidFill>
                    <a:schemeClr val="accent6">
                      <a:lumMod val="10000"/>
                    </a:schemeClr>
                  </a:solidFill>
                  <a:cs typeface="+mn-ea"/>
                  <a:sym typeface="+mn-lt"/>
                </a:rPr>
                <a:t>正面</a:t>
              </a:r>
              <a:endParaRPr kumimoji="1" lang="en-US" altLang="zh-CN" sz="1400" dirty="0">
                <a:solidFill>
                  <a:schemeClr val="accent6">
                    <a:lumMod val="10000"/>
                  </a:schemeClr>
                </a:solidFill>
                <a:cs typeface="+mn-ea"/>
                <a:sym typeface="+mn-lt"/>
              </a:endParaRPr>
            </a:p>
          </p:txBody>
        </p:sp>
        <p:sp>
          <p:nvSpPr>
            <p:cNvPr id="1042" name="矩形: 圆角 1041">
              <a:extLst>
                <a:ext uri="{FF2B5EF4-FFF2-40B4-BE49-F238E27FC236}">
                  <a16:creationId xmlns:a16="http://schemas.microsoft.com/office/drawing/2014/main" id="{2C14DC3B-5354-59BE-E4AB-329C65D1E68E}"/>
                </a:ext>
              </a:extLst>
            </p:cNvPr>
            <p:cNvSpPr/>
            <p:nvPr/>
          </p:nvSpPr>
          <p:spPr>
            <a:xfrm>
              <a:off x="2583401" y="2958907"/>
              <a:ext cx="2085629" cy="1269750"/>
            </a:xfrm>
            <a:prstGeom prst="roundRect">
              <a:avLst>
                <a:gd name="adj" fmla="val 2414"/>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43" name="矩形: 圆角 1042">
              <a:extLst>
                <a:ext uri="{FF2B5EF4-FFF2-40B4-BE49-F238E27FC236}">
                  <a16:creationId xmlns:a16="http://schemas.microsoft.com/office/drawing/2014/main" id="{6F68F9E7-9DBF-BD3C-CB2E-323EF915AE65}"/>
                </a:ext>
              </a:extLst>
            </p:cNvPr>
            <p:cNvSpPr/>
            <p:nvPr/>
          </p:nvSpPr>
          <p:spPr>
            <a:xfrm>
              <a:off x="2685930" y="3030900"/>
              <a:ext cx="1897669" cy="1103778"/>
            </a:xfrm>
            <a:prstGeom prst="roundRect">
              <a:avLst>
                <a:gd name="adj" fmla="val 2414"/>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046" name="组合 1045">
              <a:extLst>
                <a:ext uri="{FF2B5EF4-FFF2-40B4-BE49-F238E27FC236}">
                  <a16:creationId xmlns:a16="http://schemas.microsoft.com/office/drawing/2014/main" id="{BA8377B1-B952-9DA8-8F57-4FE110181346}"/>
                </a:ext>
              </a:extLst>
            </p:cNvPr>
            <p:cNvGrpSpPr/>
            <p:nvPr/>
          </p:nvGrpSpPr>
          <p:grpSpPr>
            <a:xfrm>
              <a:off x="3259680" y="3290152"/>
              <a:ext cx="750168" cy="577216"/>
              <a:chOff x="3336517" y="2797616"/>
              <a:chExt cx="750168" cy="577216"/>
            </a:xfrm>
            <a:effectLst>
              <a:outerShdw blurRad="50800" dist="38100" dir="2700000" algn="tl" rotWithShape="0">
                <a:prstClr val="black">
                  <a:alpha val="40000"/>
                </a:prstClr>
              </a:outerShdw>
            </a:effectLst>
          </p:grpSpPr>
          <p:sp>
            <p:nvSpPr>
              <p:cNvPr id="1044" name="矩形: 圆角 1043">
                <a:extLst>
                  <a:ext uri="{FF2B5EF4-FFF2-40B4-BE49-F238E27FC236}">
                    <a16:creationId xmlns:a16="http://schemas.microsoft.com/office/drawing/2014/main" id="{CA163804-597D-8956-E42D-B8ABC1F0534D}"/>
                  </a:ext>
                </a:extLst>
              </p:cNvPr>
              <p:cNvSpPr/>
              <p:nvPr/>
            </p:nvSpPr>
            <p:spPr>
              <a:xfrm>
                <a:off x="3336517" y="2797616"/>
                <a:ext cx="750168" cy="577216"/>
              </a:xfrm>
              <a:prstGeom prst="roundRect">
                <a:avLst>
                  <a:gd name="adj" fmla="val 0"/>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5" name="矩形: 圆角 1044">
                <a:extLst>
                  <a:ext uri="{FF2B5EF4-FFF2-40B4-BE49-F238E27FC236}">
                    <a16:creationId xmlns:a16="http://schemas.microsoft.com/office/drawing/2014/main" id="{DB5B6A9C-A7B5-79A8-3782-BDA030CC9E7E}"/>
                  </a:ext>
                </a:extLst>
              </p:cNvPr>
              <p:cNvSpPr/>
              <p:nvPr/>
            </p:nvSpPr>
            <p:spPr>
              <a:xfrm>
                <a:off x="3454981" y="2935009"/>
                <a:ext cx="529937" cy="298758"/>
              </a:xfrm>
              <a:prstGeom prst="roundRect">
                <a:avLst>
                  <a:gd name="adj" fmla="val 2414"/>
                </a:avLst>
              </a:prstGeom>
              <a:solidFill>
                <a:schemeClr val="accent6">
                  <a:lumMod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cs typeface="+mn-ea"/>
                    <a:sym typeface="+mn-lt"/>
                  </a:rPr>
                  <a:t>ASIC</a:t>
                </a:r>
                <a:endParaRPr lang="zh-CN" altLang="en-US" sz="1000" dirty="0">
                  <a:cs typeface="+mn-ea"/>
                  <a:sym typeface="+mn-lt"/>
                </a:endParaRPr>
              </a:p>
            </p:txBody>
          </p:sp>
        </p:grpSp>
        <p:sp>
          <p:nvSpPr>
            <p:cNvPr id="1047" name="矩形 1046">
              <a:extLst>
                <a:ext uri="{FF2B5EF4-FFF2-40B4-BE49-F238E27FC236}">
                  <a16:creationId xmlns:a16="http://schemas.microsoft.com/office/drawing/2014/main" id="{8350E1FE-666C-7AA9-474A-32B62A0E475B}"/>
                </a:ext>
              </a:extLst>
            </p:cNvPr>
            <p:cNvSpPr/>
            <p:nvPr/>
          </p:nvSpPr>
          <p:spPr>
            <a:xfrm>
              <a:off x="4511448" y="3138295"/>
              <a:ext cx="330200" cy="992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48" name="矩形 1047">
              <a:extLst>
                <a:ext uri="{FF2B5EF4-FFF2-40B4-BE49-F238E27FC236}">
                  <a16:creationId xmlns:a16="http://schemas.microsoft.com/office/drawing/2014/main" id="{B96B9758-7027-1FEC-AB6D-E2CF1A100AFC}"/>
                </a:ext>
              </a:extLst>
            </p:cNvPr>
            <p:cNvSpPr/>
            <p:nvPr/>
          </p:nvSpPr>
          <p:spPr>
            <a:xfrm>
              <a:off x="4547034" y="3138295"/>
              <a:ext cx="107711" cy="992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53" name="矩形 1052">
              <a:extLst>
                <a:ext uri="{FF2B5EF4-FFF2-40B4-BE49-F238E27FC236}">
                  <a16:creationId xmlns:a16="http://schemas.microsoft.com/office/drawing/2014/main" id="{A7B0E92B-B756-0B17-674C-AAEF90FE5694}"/>
                </a:ext>
              </a:extLst>
            </p:cNvPr>
            <p:cNvSpPr/>
            <p:nvPr/>
          </p:nvSpPr>
          <p:spPr>
            <a:xfrm>
              <a:off x="4513888" y="3325917"/>
              <a:ext cx="330200" cy="992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54" name="矩形 1053">
              <a:extLst>
                <a:ext uri="{FF2B5EF4-FFF2-40B4-BE49-F238E27FC236}">
                  <a16:creationId xmlns:a16="http://schemas.microsoft.com/office/drawing/2014/main" id="{3472999C-4C34-C793-DACE-2C5A7551C5EE}"/>
                </a:ext>
              </a:extLst>
            </p:cNvPr>
            <p:cNvSpPr/>
            <p:nvPr/>
          </p:nvSpPr>
          <p:spPr>
            <a:xfrm>
              <a:off x="4549474" y="3325917"/>
              <a:ext cx="107711" cy="992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57" name="矩形 1056">
              <a:extLst>
                <a:ext uri="{FF2B5EF4-FFF2-40B4-BE49-F238E27FC236}">
                  <a16:creationId xmlns:a16="http://schemas.microsoft.com/office/drawing/2014/main" id="{B2BD3E79-0917-9D6C-77B0-E12318CF5A59}"/>
                </a:ext>
              </a:extLst>
            </p:cNvPr>
            <p:cNvSpPr/>
            <p:nvPr/>
          </p:nvSpPr>
          <p:spPr>
            <a:xfrm>
              <a:off x="4511448" y="3909702"/>
              <a:ext cx="330200" cy="992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58" name="矩形 1057">
              <a:extLst>
                <a:ext uri="{FF2B5EF4-FFF2-40B4-BE49-F238E27FC236}">
                  <a16:creationId xmlns:a16="http://schemas.microsoft.com/office/drawing/2014/main" id="{10A355C0-9305-6632-BE91-51B70F7C1521}"/>
                </a:ext>
              </a:extLst>
            </p:cNvPr>
            <p:cNvSpPr/>
            <p:nvPr/>
          </p:nvSpPr>
          <p:spPr>
            <a:xfrm>
              <a:off x="4547034" y="3909702"/>
              <a:ext cx="107711" cy="992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059" name="直接连接符 1058">
              <a:extLst>
                <a:ext uri="{FF2B5EF4-FFF2-40B4-BE49-F238E27FC236}">
                  <a16:creationId xmlns:a16="http://schemas.microsoft.com/office/drawing/2014/main" id="{7BB8A278-EB91-9529-D699-7C254893C7F3}"/>
                </a:ext>
              </a:extLst>
            </p:cNvPr>
            <p:cNvCxnSpPr>
              <a:cxnSpLocks/>
              <a:stCxn id="1057" idx="3"/>
            </p:cNvCxnSpPr>
            <p:nvPr/>
          </p:nvCxnSpPr>
          <p:spPr>
            <a:xfrm>
              <a:off x="4841648" y="3959315"/>
              <a:ext cx="159765"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61" name="矩形 1060">
              <a:extLst>
                <a:ext uri="{FF2B5EF4-FFF2-40B4-BE49-F238E27FC236}">
                  <a16:creationId xmlns:a16="http://schemas.microsoft.com/office/drawing/2014/main" id="{8496BCF2-07F8-800B-1908-539DBA8804F7}"/>
                </a:ext>
              </a:extLst>
            </p:cNvPr>
            <p:cNvSpPr/>
            <p:nvPr/>
          </p:nvSpPr>
          <p:spPr>
            <a:xfrm>
              <a:off x="4515178" y="3728301"/>
              <a:ext cx="329336" cy="992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62" name="矩形 1061">
              <a:extLst>
                <a:ext uri="{FF2B5EF4-FFF2-40B4-BE49-F238E27FC236}">
                  <a16:creationId xmlns:a16="http://schemas.microsoft.com/office/drawing/2014/main" id="{E6A177FF-A6A2-57DE-30F2-40CDA08FFFF2}"/>
                </a:ext>
              </a:extLst>
            </p:cNvPr>
            <p:cNvSpPr/>
            <p:nvPr/>
          </p:nvSpPr>
          <p:spPr>
            <a:xfrm>
              <a:off x="4550671" y="3728301"/>
              <a:ext cx="107429" cy="992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64" name="椭圆 1063">
              <a:extLst>
                <a:ext uri="{FF2B5EF4-FFF2-40B4-BE49-F238E27FC236}">
                  <a16:creationId xmlns:a16="http://schemas.microsoft.com/office/drawing/2014/main" id="{6FDCDF67-8C85-5478-BCE2-56B514101DAF}"/>
                </a:ext>
              </a:extLst>
            </p:cNvPr>
            <p:cNvSpPr/>
            <p:nvPr/>
          </p:nvSpPr>
          <p:spPr>
            <a:xfrm>
              <a:off x="4666026" y="3481724"/>
              <a:ext cx="45719"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65" name="椭圆 1064">
              <a:extLst>
                <a:ext uri="{FF2B5EF4-FFF2-40B4-BE49-F238E27FC236}">
                  <a16:creationId xmlns:a16="http://schemas.microsoft.com/office/drawing/2014/main" id="{69377BAB-9FFF-BC50-93E3-45E5EE3018A9}"/>
                </a:ext>
              </a:extLst>
            </p:cNvPr>
            <p:cNvSpPr/>
            <p:nvPr/>
          </p:nvSpPr>
          <p:spPr>
            <a:xfrm>
              <a:off x="4666026" y="3626000"/>
              <a:ext cx="45719"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66" name="椭圆 1065">
              <a:extLst>
                <a:ext uri="{FF2B5EF4-FFF2-40B4-BE49-F238E27FC236}">
                  <a16:creationId xmlns:a16="http://schemas.microsoft.com/office/drawing/2014/main" id="{473112B6-B768-759A-09A6-26C00BE72A9C}"/>
                </a:ext>
              </a:extLst>
            </p:cNvPr>
            <p:cNvSpPr/>
            <p:nvPr/>
          </p:nvSpPr>
          <p:spPr>
            <a:xfrm>
              <a:off x="4666026" y="3553862"/>
              <a:ext cx="45719"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070" name="连接符: 肘形 1069">
              <a:extLst>
                <a:ext uri="{FF2B5EF4-FFF2-40B4-BE49-F238E27FC236}">
                  <a16:creationId xmlns:a16="http://schemas.microsoft.com/office/drawing/2014/main" id="{53068155-CCB4-44E1-5336-E64C0592D565}"/>
                </a:ext>
              </a:extLst>
            </p:cNvPr>
            <p:cNvCxnSpPr>
              <a:cxnSpLocks/>
              <a:stCxn id="1087" idx="6"/>
              <a:endCxn id="1047" idx="1"/>
            </p:cNvCxnSpPr>
            <p:nvPr/>
          </p:nvCxnSpPr>
          <p:spPr>
            <a:xfrm flipV="1">
              <a:off x="4027386" y="3187908"/>
              <a:ext cx="484062" cy="209714"/>
            </a:xfrm>
            <a:prstGeom prst="bentConnector3">
              <a:avLst>
                <a:gd name="adj1" fmla="val 27371"/>
              </a:avLst>
            </a:prstGeom>
          </p:spPr>
          <p:style>
            <a:lnRef idx="1">
              <a:schemeClr val="accent1"/>
            </a:lnRef>
            <a:fillRef idx="0">
              <a:schemeClr val="accent1"/>
            </a:fillRef>
            <a:effectRef idx="0">
              <a:schemeClr val="accent1"/>
            </a:effectRef>
            <a:fontRef idx="minor">
              <a:schemeClr val="tx1"/>
            </a:fontRef>
          </p:style>
        </p:cxnSp>
        <p:cxnSp>
          <p:nvCxnSpPr>
            <p:cNvPr id="1076" name="连接符: 肘形 1075">
              <a:extLst>
                <a:ext uri="{FF2B5EF4-FFF2-40B4-BE49-F238E27FC236}">
                  <a16:creationId xmlns:a16="http://schemas.microsoft.com/office/drawing/2014/main" id="{C46DB562-BF27-363E-1DD8-A9D038061614}"/>
                </a:ext>
              </a:extLst>
            </p:cNvPr>
            <p:cNvCxnSpPr>
              <a:cxnSpLocks/>
              <a:stCxn id="2051" idx="6"/>
              <a:endCxn id="1053" idx="1"/>
            </p:cNvCxnSpPr>
            <p:nvPr/>
          </p:nvCxnSpPr>
          <p:spPr>
            <a:xfrm flipV="1">
              <a:off x="4028672" y="3375530"/>
              <a:ext cx="485216" cy="9348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080" name="连接符: 肘形 1079">
              <a:extLst>
                <a:ext uri="{FF2B5EF4-FFF2-40B4-BE49-F238E27FC236}">
                  <a16:creationId xmlns:a16="http://schemas.microsoft.com/office/drawing/2014/main" id="{608FC537-CD16-8B76-495B-5605AB70A9E4}"/>
                </a:ext>
              </a:extLst>
            </p:cNvPr>
            <p:cNvCxnSpPr>
              <a:cxnSpLocks/>
              <a:stCxn id="2049" idx="6"/>
              <a:endCxn id="1061" idx="1"/>
            </p:cNvCxnSpPr>
            <p:nvPr/>
          </p:nvCxnSpPr>
          <p:spPr>
            <a:xfrm>
              <a:off x="4029704" y="3676691"/>
              <a:ext cx="485470" cy="10122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084" name="连接符: 肘形 1083">
              <a:extLst>
                <a:ext uri="{FF2B5EF4-FFF2-40B4-BE49-F238E27FC236}">
                  <a16:creationId xmlns:a16="http://schemas.microsoft.com/office/drawing/2014/main" id="{C14FAB72-7E07-C761-7F8F-9BD0C8303699}"/>
                </a:ext>
              </a:extLst>
            </p:cNvPr>
            <p:cNvCxnSpPr>
              <a:cxnSpLocks/>
              <a:stCxn id="2048" idx="6"/>
              <a:endCxn id="1057" idx="1"/>
            </p:cNvCxnSpPr>
            <p:nvPr/>
          </p:nvCxnSpPr>
          <p:spPr>
            <a:xfrm>
              <a:off x="4028672" y="3749163"/>
              <a:ext cx="482776" cy="210152"/>
            </a:xfrm>
            <a:prstGeom prst="bentConnector3">
              <a:avLst>
                <a:gd name="adj1" fmla="val 27640"/>
              </a:avLst>
            </a:prstGeom>
          </p:spPr>
          <p:style>
            <a:lnRef idx="1">
              <a:schemeClr val="accent1"/>
            </a:lnRef>
            <a:fillRef idx="0">
              <a:schemeClr val="accent1"/>
            </a:fillRef>
            <a:effectRef idx="0">
              <a:schemeClr val="accent1"/>
            </a:effectRef>
            <a:fontRef idx="minor">
              <a:schemeClr val="tx1"/>
            </a:fontRef>
          </p:style>
        </p:cxnSp>
        <p:sp>
          <p:nvSpPr>
            <p:cNvPr id="1087" name="椭圆 1086">
              <a:extLst>
                <a:ext uri="{FF2B5EF4-FFF2-40B4-BE49-F238E27FC236}">
                  <a16:creationId xmlns:a16="http://schemas.microsoft.com/office/drawing/2014/main" id="{CE795343-1F1E-E7E6-A80D-32209C3B087F}"/>
                </a:ext>
              </a:extLst>
            </p:cNvPr>
            <p:cNvSpPr/>
            <p:nvPr/>
          </p:nvSpPr>
          <p:spPr>
            <a:xfrm>
              <a:off x="3981667" y="337476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48" name="椭圆 2047">
              <a:extLst>
                <a:ext uri="{FF2B5EF4-FFF2-40B4-BE49-F238E27FC236}">
                  <a16:creationId xmlns:a16="http://schemas.microsoft.com/office/drawing/2014/main" id="{92AFFC3B-B98C-45A4-56BD-BD5530284314}"/>
                </a:ext>
              </a:extLst>
            </p:cNvPr>
            <p:cNvSpPr/>
            <p:nvPr/>
          </p:nvSpPr>
          <p:spPr>
            <a:xfrm>
              <a:off x="3982953" y="372630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49" name="椭圆 2048">
              <a:extLst>
                <a:ext uri="{FF2B5EF4-FFF2-40B4-BE49-F238E27FC236}">
                  <a16:creationId xmlns:a16="http://schemas.microsoft.com/office/drawing/2014/main" id="{B131E1CC-A42F-DC54-C680-7D00376308C0}"/>
                </a:ext>
              </a:extLst>
            </p:cNvPr>
            <p:cNvSpPr/>
            <p:nvPr/>
          </p:nvSpPr>
          <p:spPr>
            <a:xfrm>
              <a:off x="3983985" y="3653831"/>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51" name="椭圆 2050">
              <a:extLst>
                <a:ext uri="{FF2B5EF4-FFF2-40B4-BE49-F238E27FC236}">
                  <a16:creationId xmlns:a16="http://schemas.microsoft.com/office/drawing/2014/main" id="{5855C64E-E952-B368-D965-12F97492F792}"/>
                </a:ext>
              </a:extLst>
            </p:cNvPr>
            <p:cNvSpPr/>
            <p:nvPr/>
          </p:nvSpPr>
          <p:spPr>
            <a:xfrm>
              <a:off x="3982953" y="344615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64" name="矩形: 圆角 2063">
              <a:extLst>
                <a:ext uri="{FF2B5EF4-FFF2-40B4-BE49-F238E27FC236}">
                  <a16:creationId xmlns:a16="http://schemas.microsoft.com/office/drawing/2014/main" id="{2D3474E0-D9D6-0E59-925B-B54755F1F35A}"/>
                </a:ext>
              </a:extLst>
            </p:cNvPr>
            <p:cNvSpPr/>
            <p:nvPr/>
          </p:nvSpPr>
          <p:spPr>
            <a:xfrm>
              <a:off x="2568076" y="4877527"/>
              <a:ext cx="2085629" cy="1269750"/>
            </a:xfrm>
            <a:prstGeom prst="roundRect">
              <a:avLst>
                <a:gd name="adj" fmla="val 2414"/>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65" name="矩形: 圆角 2064">
              <a:extLst>
                <a:ext uri="{FF2B5EF4-FFF2-40B4-BE49-F238E27FC236}">
                  <a16:creationId xmlns:a16="http://schemas.microsoft.com/office/drawing/2014/main" id="{D3F80D84-B442-8B61-A21B-02D2BA10F9E3}"/>
                </a:ext>
              </a:extLst>
            </p:cNvPr>
            <p:cNvSpPr/>
            <p:nvPr/>
          </p:nvSpPr>
          <p:spPr>
            <a:xfrm>
              <a:off x="2670605" y="4949520"/>
              <a:ext cx="1897669" cy="1103778"/>
            </a:xfrm>
            <a:prstGeom prst="roundRect">
              <a:avLst>
                <a:gd name="adj" fmla="val 2414"/>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67" name="矩形: 圆角 2066">
              <a:extLst>
                <a:ext uri="{FF2B5EF4-FFF2-40B4-BE49-F238E27FC236}">
                  <a16:creationId xmlns:a16="http://schemas.microsoft.com/office/drawing/2014/main" id="{58F33ACB-8ABF-8166-4EB9-3E807939C910}"/>
                </a:ext>
              </a:extLst>
            </p:cNvPr>
            <p:cNvSpPr/>
            <p:nvPr/>
          </p:nvSpPr>
          <p:spPr>
            <a:xfrm>
              <a:off x="3268663" y="5208772"/>
              <a:ext cx="725860" cy="577216"/>
            </a:xfrm>
            <a:prstGeom prst="roundRect">
              <a:avLst>
                <a:gd name="adj" fmla="val 0"/>
              </a:avLst>
            </a:prstGeom>
            <a:solidFill>
              <a:srgbClr val="0052D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68" name="矩形: 圆角 2067">
              <a:extLst>
                <a:ext uri="{FF2B5EF4-FFF2-40B4-BE49-F238E27FC236}">
                  <a16:creationId xmlns:a16="http://schemas.microsoft.com/office/drawing/2014/main" id="{FB3213F1-9F17-855C-F534-A8249EE484E1}"/>
                </a:ext>
              </a:extLst>
            </p:cNvPr>
            <p:cNvSpPr/>
            <p:nvPr/>
          </p:nvSpPr>
          <p:spPr>
            <a:xfrm>
              <a:off x="3427029" y="5383738"/>
              <a:ext cx="415836" cy="234432"/>
            </a:xfrm>
            <a:prstGeom prst="roundRect">
              <a:avLst>
                <a:gd name="adj" fmla="val 2414"/>
              </a:avLst>
            </a:prstGeom>
            <a:solidFill>
              <a:schemeClr val="accent6">
                <a:lumMod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700" dirty="0">
                  <a:cs typeface="+mn-ea"/>
                  <a:sym typeface="+mn-lt"/>
                </a:rPr>
                <a:t>ASIC</a:t>
              </a:r>
              <a:endParaRPr lang="zh-CN" altLang="en-US" sz="700" dirty="0">
                <a:cs typeface="+mn-ea"/>
                <a:sym typeface="+mn-lt"/>
              </a:endParaRPr>
            </a:p>
          </p:txBody>
        </p:sp>
        <p:sp>
          <p:nvSpPr>
            <p:cNvPr id="2070" name="矩形 2069">
              <a:extLst>
                <a:ext uri="{FF2B5EF4-FFF2-40B4-BE49-F238E27FC236}">
                  <a16:creationId xmlns:a16="http://schemas.microsoft.com/office/drawing/2014/main" id="{B1030952-1810-5436-4395-5719ABFE9E15}"/>
                </a:ext>
              </a:extLst>
            </p:cNvPr>
            <p:cNvSpPr/>
            <p:nvPr/>
          </p:nvSpPr>
          <p:spPr>
            <a:xfrm>
              <a:off x="4568274" y="5056915"/>
              <a:ext cx="74872" cy="992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74" name="矩形 2073">
              <a:extLst>
                <a:ext uri="{FF2B5EF4-FFF2-40B4-BE49-F238E27FC236}">
                  <a16:creationId xmlns:a16="http://schemas.microsoft.com/office/drawing/2014/main" id="{32F1A191-6100-D28E-6EF9-78BCAD1FAD0A}"/>
                </a:ext>
              </a:extLst>
            </p:cNvPr>
            <p:cNvSpPr/>
            <p:nvPr/>
          </p:nvSpPr>
          <p:spPr>
            <a:xfrm>
              <a:off x="4568273" y="5244537"/>
              <a:ext cx="74873" cy="992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78" name="矩形 2077">
              <a:extLst>
                <a:ext uri="{FF2B5EF4-FFF2-40B4-BE49-F238E27FC236}">
                  <a16:creationId xmlns:a16="http://schemas.microsoft.com/office/drawing/2014/main" id="{5B676141-72DB-E0C4-DFE0-B876D7A11DA5}"/>
                </a:ext>
              </a:extLst>
            </p:cNvPr>
            <p:cNvSpPr/>
            <p:nvPr/>
          </p:nvSpPr>
          <p:spPr>
            <a:xfrm>
              <a:off x="4568273" y="5828322"/>
              <a:ext cx="83186" cy="992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080" name="直接连接符 2079">
              <a:extLst>
                <a:ext uri="{FF2B5EF4-FFF2-40B4-BE49-F238E27FC236}">
                  <a16:creationId xmlns:a16="http://schemas.microsoft.com/office/drawing/2014/main" id="{87D3F4F7-D37A-0E2C-6145-F7F063C6B46F}"/>
                </a:ext>
              </a:extLst>
            </p:cNvPr>
            <p:cNvCxnSpPr>
              <a:cxnSpLocks/>
              <a:stCxn id="2078" idx="3"/>
            </p:cNvCxnSpPr>
            <p:nvPr/>
          </p:nvCxnSpPr>
          <p:spPr>
            <a:xfrm>
              <a:off x="4651459" y="5877935"/>
              <a:ext cx="152738"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2082" name="矩形 2081">
              <a:extLst>
                <a:ext uri="{FF2B5EF4-FFF2-40B4-BE49-F238E27FC236}">
                  <a16:creationId xmlns:a16="http://schemas.microsoft.com/office/drawing/2014/main" id="{BB9BFD7D-0AAC-8124-8BC9-653A68EBB444}"/>
                </a:ext>
              </a:extLst>
            </p:cNvPr>
            <p:cNvSpPr/>
            <p:nvPr/>
          </p:nvSpPr>
          <p:spPr>
            <a:xfrm>
              <a:off x="4568273" y="5646921"/>
              <a:ext cx="83186" cy="992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089" name="连接符: 肘形 2088">
              <a:extLst>
                <a:ext uri="{FF2B5EF4-FFF2-40B4-BE49-F238E27FC236}">
                  <a16:creationId xmlns:a16="http://schemas.microsoft.com/office/drawing/2014/main" id="{8DD1F950-97EB-F4A2-AD4E-A1B01E72EC33}"/>
                </a:ext>
              </a:extLst>
            </p:cNvPr>
            <p:cNvCxnSpPr>
              <a:cxnSpLocks/>
              <a:stCxn id="2093" idx="6"/>
              <a:endCxn id="2070" idx="1"/>
            </p:cNvCxnSpPr>
            <p:nvPr/>
          </p:nvCxnSpPr>
          <p:spPr>
            <a:xfrm flipV="1">
              <a:off x="3976273" y="5106528"/>
              <a:ext cx="592001" cy="299591"/>
            </a:xfrm>
            <a:prstGeom prst="bentConnector3">
              <a:avLst>
                <a:gd name="adj1" fmla="val 30424"/>
              </a:avLst>
            </a:prstGeom>
            <a:ln w="31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090" name="连接符: 肘形 2089">
              <a:extLst>
                <a:ext uri="{FF2B5EF4-FFF2-40B4-BE49-F238E27FC236}">
                  <a16:creationId xmlns:a16="http://schemas.microsoft.com/office/drawing/2014/main" id="{8DF35806-A9FC-2A22-7101-F4E8ED531D97}"/>
                </a:ext>
              </a:extLst>
            </p:cNvPr>
            <p:cNvCxnSpPr>
              <a:cxnSpLocks/>
              <a:stCxn id="2096" idx="6"/>
              <a:endCxn id="2074" idx="1"/>
            </p:cNvCxnSpPr>
            <p:nvPr/>
          </p:nvCxnSpPr>
          <p:spPr>
            <a:xfrm flipV="1">
              <a:off x="3976938" y="5294150"/>
              <a:ext cx="591335" cy="163731"/>
            </a:xfrm>
            <a:prstGeom prst="bentConnector3">
              <a:avLst>
                <a:gd name="adj1" fmla="val 50000"/>
              </a:avLst>
            </a:prstGeom>
            <a:ln w="31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091" name="连接符: 肘形 2090">
              <a:extLst>
                <a:ext uri="{FF2B5EF4-FFF2-40B4-BE49-F238E27FC236}">
                  <a16:creationId xmlns:a16="http://schemas.microsoft.com/office/drawing/2014/main" id="{8C346686-067C-63BF-E445-631A708B7640}"/>
                </a:ext>
              </a:extLst>
            </p:cNvPr>
            <p:cNvCxnSpPr>
              <a:cxnSpLocks/>
              <a:stCxn id="2095" idx="6"/>
              <a:endCxn id="2082" idx="1"/>
            </p:cNvCxnSpPr>
            <p:nvPr/>
          </p:nvCxnSpPr>
          <p:spPr>
            <a:xfrm>
              <a:off x="3976272" y="5537266"/>
              <a:ext cx="592001" cy="159268"/>
            </a:xfrm>
            <a:prstGeom prst="bentConnector3">
              <a:avLst>
                <a:gd name="adj1" fmla="val 50000"/>
              </a:avLst>
            </a:prstGeom>
            <a:ln w="31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092" name="连接符: 肘形 2091">
              <a:extLst>
                <a:ext uri="{FF2B5EF4-FFF2-40B4-BE49-F238E27FC236}">
                  <a16:creationId xmlns:a16="http://schemas.microsoft.com/office/drawing/2014/main" id="{82590B93-6530-1C73-159A-88359E6EBE58}"/>
                </a:ext>
              </a:extLst>
            </p:cNvPr>
            <p:cNvCxnSpPr>
              <a:cxnSpLocks/>
              <a:stCxn id="2094" idx="6"/>
              <a:endCxn id="2078" idx="1"/>
            </p:cNvCxnSpPr>
            <p:nvPr/>
          </p:nvCxnSpPr>
          <p:spPr>
            <a:xfrm>
              <a:off x="3976539" y="5591536"/>
              <a:ext cx="591734" cy="286399"/>
            </a:xfrm>
            <a:prstGeom prst="bentConnector3">
              <a:avLst>
                <a:gd name="adj1" fmla="val 30684"/>
              </a:avLst>
            </a:prstGeom>
            <a:ln w="3175">
              <a:solidFill>
                <a:srgbClr val="FFFF00"/>
              </a:solidFill>
            </a:ln>
          </p:spPr>
          <p:style>
            <a:lnRef idx="1">
              <a:schemeClr val="accent1"/>
            </a:lnRef>
            <a:fillRef idx="0">
              <a:schemeClr val="accent1"/>
            </a:fillRef>
            <a:effectRef idx="0">
              <a:schemeClr val="accent1"/>
            </a:effectRef>
            <a:fontRef idx="minor">
              <a:schemeClr val="tx1"/>
            </a:fontRef>
          </p:style>
        </p:cxnSp>
        <p:sp>
          <p:nvSpPr>
            <p:cNvPr id="2093" name="椭圆 2092">
              <a:extLst>
                <a:ext uri="{FF2B5EF4-FFF2-40B4-BE49-F238E27FC236}">
                  <a16:creationId xmlns:a16="http://schemas.microsoft.com/office/drawing/2014/main" id="{A0E07606-750D-7A9B-454E-36E2CA7773A9}"/>
                </a:ext>
              </a:extLst>
            </p:cNvPr>
            <p:cNvSpPr/>
            <p:nvPr/>
          </p:nvSpPr>
          <p:spPr>
            <a:xfrm>
              <a:off x="3930554" y="5383259"/>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94" name="椭圆 2093">
              <a:extLst>
                <a:ext uri="{FF2B5EF4-FFF2-40B4-BE49-F238E27FC236}">
                  <a16:creationId xmlns:a16="http://schemas.microsoft.com/office/drawing/2014/main" id="{ED2C1C18-69A0-D6F6-7C9A-E424AA2983A8}"/>
                </a:ext>
              </a:extLst>
            </p:cNvPr>
            <p:cNvSpPr/>
            <p:nvPr/>
          </p:nvSpPr>
          <p:spPr>
            <a:xfrm>
              <a:off x="3930820" y="5568676"/>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95" name="椭圆 2094">
              <a:extLst>
                <a:ext uri="{FF2B5EF4-FFF2-40B4-BE49-F238E27FC236}">
                  <a16:creationId xmlns:a16="http://schemas.microsoft.com/office/drawing/2014/main" id="{80993937-D567-1CBC-53AF-525CCE51C4A3}"/>
                </a:ext>
              </a:extLst>
            </p:cNvPr>
            <p:cNvSpPr/>
            <p:nvPr/>
          </p:nvSpPr>
          <p:spPr>
            <a:xfrm>
              <a:off x="3930553" y="5514406"/>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96" name="椭圆 2095">
              <a:extLst>
                <a:ext uri="{FF2B5EF4-FFF2-40B4-BE49-F238E27FC236}">
                  <a16:creationId xmlns:a16="http://schemas.microsoft.com/office/drawing/2014/main" id="{A47E9B9D-9642-DBC7-A831-7CC92DDF5FF6}"/>
                </a:ext>
              </a:extLst>
            </p:cNvPr>
            <p:cNvSpPr/>
            <p:nvPr/>
          </p:nvSpPr>
          <p:spPr>
            <a:xfrm>
              <a:off x="3931219" y="5435021"/>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19" name="直接连接符 2118">
              <a:extLst>
                <a:ext uri="{FF2B5EF4-FFF2-40B4-BE49-F238E27FC236}">
                  <a16:creationId xmlns:a16="http://schemas.microsoft.com/office/drawing/2014/main" id="{3B3537D0-C835-9C80-9C28-35DC1224C280}"/>
                </a:ext>
              </a:extLst>
            </p:cNvPr>
            <p:cNvCxnSpPr>
              <a:cxnSpLocks/>
            </p:cNvCxnSpPr>
            <p:nvPr/>
          </p:nvCxnSpPr>
          <p:spPr>
            <a:xfrm>
              <a:off x="4841648" y="3783102"/>
              <a:ext cx="159765"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20" name="直接连接符 2119">
              <a:extLst>
                <a:ext uri="{FF2B5EF4-FFF2-40B4-BE49-F238E27FC236}">
                  <a16:creationId xmlns:a16="http://schemas.microsoft.com/office/drawing/2014/main" id="{678B84E6-DAC7-A2EF-5EA7-43681B73B3EE}"/>
                </a:ext>
              </a:extLst>
            </p:cNvPr>
            <p:cNvCxnSpPr>
              <a:cxnSpLocks/>
            </p:cNvCxnSpPr>
            <p:nvPr/>
          </p:nvCxnSpPr>
          <p:spPr>
            <a:xfrm>
              <a:off x="4841648" y="3375294"/>
              <a:ext cx="159765"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21" name="直接连接符 2120">
              <a:extLst>
                <a:ext uri="{FF2B5EF4-FFF2-40B4-BE49-F238E27FC236}">
                  <a16:creationId xmlns:a16="http://schemas.microsoft.com/office/drawing/2014/main" id="{BB4CF096-CB66-22F0-2DB3-10A21FAD3B50}"/>
                </a:ext>
              </a:extLst>
            </p:cNvPr>
            <p:cNvCxnSpPr>
              <a:cxnSpLocks/>
            </p:cNvCxnSpPr>
            <p:nvPr/>
          </p:nvCxnSpPr>
          <p:spPr>
            <a:xfrm>
              <a:off x="4841648" y="3187908"/>
              <a:ext cx="159765"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22" name="直接连接符 2121">
              <a:extLst>
                <a:ext uri="{FF2B5EF4-FFF2-40B4-BE49-F238E27FC236}">
                  <a16:creationId xmlns:a16="http://schemas.microsoft.com/office/drawing/2014/main" id="{3E65DC7F-2F8A-8030-73C6-B10B0359D458}"/>
                </a:ext>
              </a:extLst>
            </p:cNvPr>
            <p:cNvCxnSpPr>
              <a:cxnSpLocks/>
            </p:cNvCxnSpPr>
            <p:nvPr/>
          </p:nvCxnSpPr>
          <p:spPr>
            <a:xfrm>
              <a:off x="4651459" y="5697064"/>
              <a:ext cx="152738"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23" name="直接连接符 2122">
              <a:extLst>
                <a:ext uri="{FF2B5EF4-FFF2-40B4-BE49-F238E27FC236}">
                  <a16:creationId xmlns:a16="http://schemas.microsoft.com/office/drawing/2014/main" id="{A0FD160C-58A3-913D-D882-533546A7B042}"/>
                </a:ext>
              </a:extLst>
            </p:cNvPr>
            <p:cNvCxnSpPr>
              <a:cxnSpLocks/>
            </p:cNvCxnSpPr>
            <p:nvPr/>
          </p:nvCxnSpPr>
          <p:spPr>
            <a:xfrm>
              <a:off x="4643146" y="5293382"/>
              <a:ext cx="152738"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24" name="直接连接符 2123">
              <a:extLst>
                <a:ext uri="{FF2B5EF4-FFF2-40B4-BE49-F238E27FC236}">
                  <a16:creationId xmlns:a16="http://schemas.microsoft.com/office/drawing/2014/main" id="{F725813E-84C7-EA56-D518-55861B1EA78F}"/>
                </a:ext>
              </a:extLst>
            </p:cNvPr>
            <p:cNvCxnSpPr>
              <a:cxnSpLocks/>
            </p:cNvCxnSpPr>
            <p:nvPr/>
          </p:nvCxnSpPr>
          <p:spPr>
            <a:xfrm>
              <a:off x="4643146" y="5106528"/>
              <a:ext cx="152738"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2125" name="矩形 2124">
              <a:extLst>
                <a:ext uri="{FF2B5EF4-FFF2-40B4-BE49-F238E27FC236}">
                  <a16:creationId xmlns:a16="http://schemas.microsoft.com/office/drawing/2014/main" id="{DD30B286-427C-9FF9-0FBC-B9990AE98510}"/>
                </a:ext>
              </a:extLst>
            </p:cNvPr>
            <p:cNvSpPr/>
            <p:nvPr/>
          </p:nvSpPr>
          <p:spPr>
            <a:xfrm>
              <a:off x="3868827" y="5383747"/>
              <a:ext cx="107711" cy="234432"/>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42" name="直接连接符 2141">
              <a:extLst>
                <a:ext uri="{FF2B5EF4-FFF2-40B4-BE49-F238E27FC236}">
                  <a16:creationId xmlns:a16="http://schemas.microsoft.com/office/drawing/2014/main" id="{018AB5C2-76BE-4C7E-C14D-BC46F3175833}"/>
                </a:ext>
              </a:extLst>
            </p:cNvPr>
            <p:cNvCxnSpPr>
              <a:cxnSpLocks/>
            </p:cNvCxnSpPr>
            <p:nvPr/>
          </p:nvCxnSpPr>
          <p:spPr>
            <a:xfrm>
              <a:off x="3842865" y="5406118"/>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44" name="直接连接符 2143">
              <a:extLst>
                <a:ext uri="{FF2B5EF4-FFF2-40B4-BE49-F238E27FC236}">
                  <a16:creationId xmlns:a16="http://schemas.microsoft.com/office/drawing/2014/main" id="{FBCEB2F9-ABD4-72D4-FDBC-4BCC218447DA}"/>
                </a:ext>
              </a:extLst>
            </p:cNvPr>
            <p:cNvCxnSpPr>
              <a:cxnSpLocks/>
            </p:cNvCxnSpPr>
            <p:nvPr/>
          </p:nvCxnSpPr>
          <p:spPr>
            <a:xfrm>
              <a:off x="3842865" y="5457880"/>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45" name="直接连接符 2144">
              <a:extLst>
                <a:ext uri="{FF2B5EF4-FFF2-40B4-BE49-F238E27FC236}">
                  <a16:creationId xmlns:a16="http://schemas.microsoft.com/office/drawing/2014/main" id="{BA546A0B-4FD7-D411-1455-CB36E4BA3ABD}"/>
                </a:ext>
              </a:extLst>
            </p:cNvPr>
            <p:cNvCxnSpPr>
              <a:cxnSpLocks/>
            </p:cNvCxnSpPr>
            <p:nvPr/>
          </p:nvCxnSpPr>
          <p:spPr>
            <a:xfrm>
              <a:off x="3842865" y="5537962"/>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46" name="直接连接符 2145">
              <a:extLst>
                <a:ext uri="{FF2B5EF4-FFF2-40B4-BE49-F238E27FC236}">
                  <a16:creationId xmlns:a16="http://schemas.microsoft.com/office/drawing/2014/main" id="{E137EBE4-A222-E161-C69E-5CC6C17918E1}"/>
                </a:ext>
              </a:extLst>
            </p:cNvPr>
            <p:cNvCxnSpPr>
              <a:cxnSpLocks/>
            </p:cNvCxnSpPr>
            <p:nvPr/>
          </p:nvCxnSpPr>
          <p:spPr>
            <a:xfrm>
              <a:off x="3842865" y="5593466"/>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grpSp>
          <p:nvGrpSpPr>
            <p:cNvPr id="2154" name="组合 2153">
              <a:extLst>
                <a:ext uri="{FF2B5EF4-FFF2-40B4-BE49-F238E27FC236}">
                  <a16:creationId xmlns:a16="http://schemas.microsoft.com/office/drawing/2014/main" id="{E78C4C66-170F-A06C-6F8D-4D38E1D9321C}"/>
                </a:ext>
              </a:extLst>
            </p:cNvPr>
            <p:cNvGrpSpPr/>
            <p:nvPr/>
          </p:nvGrpSpPr>
          <p:grpSpPr>
            <a:xfrm rot="16200000">
              <a:off x="3564677" y="5199694"/>
              <a:ext cx="133673" cy="234432"/>
              <a:chOff x="4069877" y="6177592"/>
              <a:chExt cx="133673" cy="234432"/>
            </a:xfrm>
          </p:grpSpPr>
          <p:sp>
            <p:nvSpPr>
              <p:cNvPr id="2149" name="矩形 2148">
                <a:extLst>
                  <a:ext uri="{FF2B5EF4-FFF2-40B4-BE49-F238E27FC236}">
                    <a16:creationId xmlns:a16="http://schemas.microsoft.com/office/drawing/2014/main" id="{F16E47A6-6573-F98E-F75C-7329AFFFBB60}"/>
                  </a:ext>
                </a:extLst>
              </p:cNvPr>
              <p:cNvSpPr/>
              <p:nvPr/>
            </p:nvSpPr>
            <p:spPr>
              <a:xfrm>
                <a:off x="4095839" y="6177592"/>
                <a:ext cx="107711" cy="234432"/>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50" name="直接连接符 2149">
                <a:extLst>
                  <a:ext uri="{FF2B5EF4-FFF2-40B4-BE49-F238E27FC236}">
                    <a16:creationId xmlns:a16="http://schemas.microsoft.com/office/drawing/2014/main" id="{2DEFB9AB-6125-A95E-528C-3AD457AED4B8}"/>
                  </a:ext>
                </a:extLst>
              </p:cNvPr>
              <p:cNvCxnSpPr>
                <a:cxnSpLocks/>
              </p:cNvCxnSpPr>
              <p:nvPr/>
            </p:nvCxnSpPr>
            <p:spPr>
              <a:xfrm>
                <a:off x="4069877" y="6199963"/>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51" name="直接连接符 2150">
                <a:extLst>
                  <a:ext uri="{FF2B5EF4-FFF2-40B4-BE49-F238E27FC236}">
                    <a16:creationId xmlns:a16="http://schemas.microsoft.com/office/drawing/2014/main" id="{24226B46-97DD-EEDD-93D8-0D5A414B188D}"/>
                  </a:ext>
                </a:extLst>
              </p:cNvPr>
              <p:cNvCxnSpPr>
                <a:cxnSpLocks/>
              </p:cNvCxnSpPr>
              <p:nvPr/>
            </p:nvCxnSpPr>
            <p:spPr>
              <a:xfrm>
                <a:off x="4069877" y="6251725"/>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52" name="直接连接符 2151">
                <a:extLst>
                  <a:ext uri="{FF2B5EF4-FFF2-40B4-BE49-F238E27FC236}">
                    <a16:creationId xmlns:a16="http://schemas.microsoft.com/office/drawing/2014/main" id="{285C4076-1E2A-59C4-5EE3-586500774C2A}"/>
                  </a:ext>
                </a:extLst>
              </p:cNvPr>
              <p:cNvCxnSpPr>
                <a:cxnSpLocks/>
              </p:cNvCxnSpPr>
              <p:nvPr/>
            </p:nvCxnSpPr>
            <p:spPr>
              <a:xfrm>
                <a:off x="4069877" y="6331807"/>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53" name="直接连接符 2152">
                <a:extLst>
                  <a:ext uri="{FF2B5EF4-FFF2-40B4-BE49-F238E27FC236}">
                    <a16:creationId xmlns:a16="http://schemas.microsoft.com/office/drawing/2014/main" id="{472D814C-E1BB-4710-3482-807D4F653FC3}"/>
                  </a:ext>
                </a:extLst>
              </p:cNvPr>
              <p:cNvCxnSpPr>
                <a:cxnSpLocks/>
              </p:cNvCxnSpPr>
              <p:nvPr/>
            </p:nvCxnSpPr>
            <p:spPr>
              <a:xfrm>
                <a:off x="4069877" y="6387311"/>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grpSp>
        <p:grpSp>
          <p:nvGrpSpPr>
            <p:cNvPr id="2184" name="组合 2183">
              <a:extLst>
                <a:ext uri="{FF2B5EF4-FFF2-40B4-BE49-F238E27FC236}">
                  <a16:creationId xmlns:a16="http://schemas.microsoft.com/office/drawing/2014/main" id="{700D2923-9348-78EA-3D49-838ABCAE2F1A}"/>
                </a:ext>
              </a:extLst>
            </p:cNvPr>
            <p:cNvGrpSpPr/>
            <p:nvPr/>
          </p:nvGrpSpPr>
          <p:grpSpPr>
            <a:xfrm rot="5400000">
              <a:off x="3560034" y="5567772"/>
              <a:ext cx="133673" cy="234432"/>
              <a:chOff x="3963440" y="6379578"/>
              <a:chExt cx="133673" cy="234432"/>
            </a:xfrm>
          </p:grpSpPr>
          <p:sp>
            <p:nvSpPr>
              <p:cNvPr id="2155" name="矩形 2154">
                <a:extLst>
                  <a:ext uri="{FF2B5EF4-FFF2-40B4-BE49-F238E27FC236}">
                    <a16:creationId xmlns:a16="http://schemas.microsoft.com/office/drawing/2014/main" id="{5BD91CE2-ECD5-6CB6-09E7-ADFD123DD55E}"/>
                  </a:ext>
                </a:extLst>
              </p:cNvPr>
              <p:cNvSpPr/>
              <p:nvPr/>
            </p:nvSpPr>
            <p:spPr>
              <a:xfrm>
                <a:off x="3989402" y="6379578"/>
                <a:ext cx="107711" cy="234432"/>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56" name="直接连接符 2155">
                <a:extLst>
                  <a:ext uri="{FF2B5EF4-FFF2-40B4-BE49-F238E27FC236}">
                    <a16:creationId xmlns:a16="http://schemas.microsoft.com/office/drawing/2014/main" id="{8B2F601F-E22D-1A3A-BCBC-392A540622F7}"/>
                  </a:ext>
                </a:extLst>
              </p:cNvPr>
              <p:cNvCxnSpPr>
                <a:cxnSpLocks/>
              </p:cNvCxnSpPr>
              <p:nvPr/>
            </p:nvCxnSpPr>
            <p:spPr>
              <a:xfrm>
                <a:off x="3963440" y="6401949"/>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57" name="直接连接符 2156">
                <a:extLst>
                  <a:ext uri="{FF2B5EF4-FFF2-40B4-BE49-F238E27FC236}">
                    <a16:creationId xmlns:a16="http://schemas.microsoft.com/office/drawing/2014/main" id="{B2C8C993-3430-FFF0-5294-DCE79E104B3E}"/>
                  </a:ext>
                </a:extLst>
              </p:cNvPr>
              <p:cNvCxnSpPr>
                <a:cxnSpLocks/>
              </p:cNvCxnSpPr>
              <p:nvPr/>
            </p:nvCxnSpPr>
            <p:spPr>
              <a:xfrm>
                <a:off x="3963440" y="6453711"/>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58" name="直接连接符 2157">
                <a:extLst>
                  <a:ext uri="{FF2B5EF4-FFF2-40B4-BE49-F238E27FC236}">
                    <a16:creationId xmlns:a16="http://schemas.microsoft.com/office/drawing/2014/main" id="{AE0A485D-143F-1983-19EF-E99A49B1670C}"/>
                  </a:ext>
                </a:extLst>
              </p:cNvPr>
              <p:cNvCxnSpPr>
                <a:cxnSpLocks/>
              </p:cNvCxnSpPr>
              <p:nvPr/>
            </p:nvCxnSpPr>
            <p:spPr>
              <a:xfrm>
                <a:off x="3963440" y="6533793"/>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59" name="直接连接符 2158">
                <a:extLst>
                  <a:ext uri="{FF2B5EF4-FFF2-40B4-BE49-F238E27FC236}">
                    <a16:creationId xmlns:a16="http://schemas.microsoft.com/office/drawing/2014/main" id="{90414AED-0C67-2E2F-5763-31C5D10AE4DB}"/>
                  </a:ext>
                </a:extLst>
              </p:cNvPr>
              <p:cNvCxnSpPr>
                <a:cxnSpLocks/>
              </p:cNvCxnSpPr>
              <p:nvPr/>
            </p:nvCxnSpPr>
            <p:spPr>
              <a:xfrm>
                <a:off x="3963440" y="6589297"/>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grpSp>
        <p:grpSp>
          <p:nvGrpSpPr>
            <p:cNvPr id="2185" name="组合 2184">
              <a:extLst>
                <a:ext uri="{FF2B5EF4-FFF2-40B4-BE49-F238E27FC236}">
                  <a16:creationId xmlns:a16="http://schemas.microsoft.com/office/drawing/2014/main" id="{6948E263-CC9A-2ADD-ECB9-5838F9627EF3}"/>
                </a:ext>
              </a:extLst>
            </p:cNvPr>
            <p:cNvGrpSpPr/>
            <p:nvPr/>
          </p:nvGrpSpPr>
          <p:grpSpPr>
            <a:xfrm rot="10800000">
              <a:off x="3294369" y="5379963"/>
              <a:ext cx="133673" cy="234432"/>
              <a:chOff x="3963440" y="6379578"/>
              <a:chExt cx="133673" cy="234432"/>
            </a:xfrm>
          </p:grpSpPr>
          <p:sp>
            <p:nvSpPr>
              <p:cNvPr id="2186" name="矩形 2185">
                <a:extLst>
                  <a:ext uri="{FF2B5EF4-FFF2-40B4-BE49-F238E27FC236}">
                    <a16:creationId xmlns:a16="http://schemas.microsoft.com/office/drawing/2014/main" id="{7316E993-FDF0-7C38-09F8-594FBA6BA955}"/>
                  </a:ext>
                </a:extLst>
              </p:cNvPr>
              <p:cNvSpPr/>
              <p:nvPr/>
            </p:nvSpPr>
            <p:spPr>
              <a:xfrm>
                <a:off x="3989402" y="6379578"/>
                <a:ext cx="107711" cy="234432"/>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87" name="直接连接符 2186">
                <a:extLst>
                  <a:ext uri="{FF2B5EF4-FFF2-40B4-BE49-F238E27FC236}">
                    <a16:creationId xmlns:a16="http://schemas.microsoft.com/office/drawing/2014/main" id="{D2D71FE3-5E45-54DA-3C4C-F1EB12E7E296}"/>
                  </a:ext>
                </a:extLst>
              </p:cNvPr>
              <p:cNvCxnSpPr>
                <a:cxnSpLocks/>
              </p:cNvCxnSpPr>
              <p:nvPr/>
            </p:nvCxnSpPr>
            <p:spPr>
              <a:xfrm>
                <a:off x="3963440" y="6401949"/>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88" name="直接连接符 2187">
                <a:extLst>
                  <a:ext uri="{FF2B5EF4-FFF2-40B4-BE49-F238E27FC236}">
                    <a16:creationId xmlns:a16="http://schemas.microsoft.com/office/drawing/2014/main" id="{B33DF06A-5242-F6C1-F717-188BBFB1E4E9}"/>
                  </a:ext>
                </a:extLst>
              </p:cNvPr>
              <p:cNvCxnSpPr>
                <a:cxnSpLocks/>
              </p:cNvCxnSpPr>
              <p:nvPr/>
            </p:nvCxnSpPr>
            <p:spPr>
              <a:xfrm>
                <a:off x="3963440" y="6453711"/>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89" name="直接连接符 2188">
                <a:extLst>
                  <a:ext uri="{FF2B5EF4-FFF2-40B4-BE49-F238E27FC236}">
                    <a16:creationId xmlns:a16="http://schemas.microsoft.com/office/drawing/2014/main" id="{C0D0A1A6-E1CF-6B8F-0D43-75A4128C4CA9}"/>
                  </a:ext>
                </a:extLst>
              </p:cNvPr>
              <p:cNvCxnSpPr>
                <a:cxnSpLocks/>
              </p:cNvCxnSpPr>
              <p:nvPr/>
            </p:nvCxnSpPr>
            <p:spPr>
              <a:xfrm>
                <a:off x="3963440" y="6533793"/>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cxnSp>
            <p:nvCxnSpPr>
              <p:cNvPr id="2190" name="直接连接符 2189">
                <a:extLst>
                  <a:ext uri="{FF2B5EF4-FFF2-40B4-BE49-F238E27FC236}">
                    <a16:creationId xmlns:a16="http://schemas.microsoft.com/office/drawing/2014/main" id="{0470F646-6534-B7E9-60B4-FB42C5C9C0AD}"/>
                  </a:ext>
                </a:extLst>
              </p:cNvPr>
              <p:cNvCxnSpPr>
                <a:cxnSpLocks/>
              </p:cNvCxnSpPr>
              <p:nvPr/>
            </p:nvCxnSpPr>
            <p:spPr>
              <a:xfrm>
                <a:off x="3963440" y="6589297"/>
                <a:ext cx="26190" cy="0"/>
              </a:xfrm>
              <a:prstGeom prst="line">
                <a:avLst/>
              </a:prstGeom>
              <a:ln>
                <a:solidFill>
                  <a:srgbClr val="FF7201"/>
                </a:solidFill>
              </a:ln>
            </p:spPr>
            <p:style>
              <a:lnRef idx="1">
                <a:schemeClr val="accent1"/>
              </a:lnRef>
              <a:fillRef idx="0">
                <a:schemeClr val="accent1"/>
              </a:fillRef>
              <a:effectRef idx="0">
                <a:schemeClr val="accent1"/>
              </a:effectRef>
              <a:fontRef idx="minor">
                <a:schemeClr val="tx1"/>
              </a:fontRef>
            </p:style>
          </p:cxnSp>
        </p:grpSp>
        <p:grpSp>
          <p:nvGrpSpPr>
            <p:cNvPr id="2283" name="组合 2282">
              <a:extLst>
                <a:ext uri="{FF2B5EF4-FFF2-40B4-BE49-F238E27FC236}">
                  <a16:creationId xmlns:a16="http://schemas.microsoft.com/office/drawing/2014/main" id="{293D0147-C09F-6F8D-A3D3-8B10C8E129D5}"/>
                </a:ext>
              </a:extLst>
            </p:cNvPr>
            <p:cNvGrpSpPr/>
            <p:nvPr/>
          </p:nvGrpSpPr>
          <p:grpSpPr>
            <a:xfrm>
              <a:off x="6777012" y="5355590"/>
              <a:ext cx="180133" cy="51782"/>
              <a:chOff x="7867918" y="2835520"/>
              <a:chExt cx="180133" cy="51782"/>
            </a:xfrm>
          </p:grpSpPr>
          <p:sp>
            <p:nvSpPr>
              <p:cNvPr id="2284" name="椭圆 2283">
                <a:extLst>
                  <a:ext uri="{FF2B5EF4-FFF2-40B4-BE49-F238E27FC236}">
                    <a16:creationId xmlns:a16="http://schemas.microsoft.com/office/drawing/2014/main" id="{AE6FD3A3-80B0-1E9E-F69C-44524BD73C07}"/>
                  </a:ext>
                </a:extLst>
              </p:cNvPr>
              <p:cNvSpPr/>
              <p:nvPr/>
            </p:nvSpPr>
            <p:spPr>
              <a:xfrm>
                <a:off x="7867918"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85" name="椭圆 2284">
                <a:extLst>
                  <a:ext uri="{FF2B5EF4-FFF2-40B4-BE49-F238E27FC236}">
                    <a16:creationId xmlns:a16="http://schemas.microsoft.com/office/drawing/2014/main" id="{E24357DA-78BF-37D7-9509-F80E141FF0FB}"/>
                  </a:ext>
                </a:extLst>
              </p:cNvPr>
              <p:cNvSpPr/>
              <p:nvPr/>
            </p:nvSpPr>
            <p:spPr>
              <a:xfrm>
                <a:off x="7996269"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207" name="矩形 2206">
              <a:extLst>
                <a:ext uri="{FF2B5EF4-FFF2-40B4-BE49-F238E27FC236}">
                  <a16:creationId xmlns:a16="http://schemas.microsoft.com/office/drawing/2014/main" id="{9D01AEB0-2411-BFDB-2528-00333FFD822E}"/>
                </a:ext>
              </a:extLst>
            </p:cNvPr>
            <p:cNvSpPr/>
            <p:nvPr/>
          </p:nvSpPr>
          <p:spPr>
            <a:xfrm>
              <a:off x="7970483" y="3468200"/>
              <a:ext cx="583239" cy="246220"/>
            </a:xfrm>
            <a:custGeom>
              <a:avLst/>
              <a:gdLst>
                <a:gd name="connsiteX0" fmla="*/ 0 w 518039"/>
                <a:gd name="connsiteY0" fmla="*/ 0 h 246220"/>
                <a:gd name="connsiteX1" fmla="*/ 518039 w 518039"/>
                <a:gd name="connsiteY1" fmla="*/ 0 h 246220"/>
                <a:gd name="connsiteX2" fmla="*/ 518039 w 518039"/>
                <a:gd name="connsiteY2" fmla="*/ 246220 h 246220"/>
                <a:gd name="connsiteX3" fmla="*/ 0 w 518039"/>
                <a:gd name="connsiteY3" fmla="*/ 246220 h 246220"/>
                <a:gd name="connsiteX4" fmla="*/ 0 w 518039"/>
                <a:gd name="connsiteY4" fmla="*/ 0 h 246220"/>
                <a:gd name="connsiteX0" fmla="*/ 0 w 518039"/>
                <a:gd name="connsiteY0" fmla="*/ 0 h 246220"/>
                <a:gd name="connsiteX1" fmla="*/ 518039 w 518039"/>
                <a:gd name="connsiteY1" fmla="*/ 0 h 246220"/>
                <a:gd name="connsiteX2" fmla="*/ 518039 w 518039"/>
                <a:gd name="connsiteY2" fmla="*/ 246220 h 246220"/>
                <a:gd name="connsiteX3" fmla="*/ 422160 w 518039"/>
                <a:gd name="connsiteY3" fmla="*/ 246030 h 246220"/>
                <a:gd name="connsiteX4" fmla="*/ 0 w 518039"/>
                <a:gd name="connsiteY4" fmla="*/ 246220 h 246220"/>
                <a:gd name="connsiteX5" fmla="*/ 0 w 518039"/>
                <a:gd name="connsiteY5" fmla="*/ 0 h 24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8039" h="246220">
                  <a:moveTo>
                    <a:pt x="0" y="0"/>
                  </a:moveTo>
                  <a:lnTo>
                    <a:pt x="518039" y="0"/>
                  </a:lnTo>
                  <a:lnTo>
                    <a:pt x="518039" y="246220"/>
                  </a:lnTo>
                  <a:lnTo>
                    <a:pt x="422160" y="246030"/>
                  </a:lnTo>
                  <a:lnTo>
                    <a:pt x="0" y="246220"/>
                  </a:lnTo>
                  <a:lnTo>
                    <a:pt x="0" y="0"/>
                  </a:lnTo>
                  <a:close/>
                </a:path>
              </a:pathLst>
            </a:custGeom>
            <a:solidFill>
              <a:srgbClr val="A6A6A6">
                <a:alpha val="2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18" name="椭圆 2217">
              <a:extLst>
                <a:ext uri="{FF2B5EF4-FFF2-40B4-BE49-F238E27FC236}">
                  <a16:creationId xmlns:a16="http://schemas.microsoft.com/office/drawing/2014/main" id="{4F68F8D8-5A4F-9AB0-A2B1-4AA8521AE26C}"/>
                </a:ext>
              </a:extLst>
            </p:cNvPr>
            <p:cNvSpPr/>
            <p:nvPr/>
          </p:nvSpPr>
          <p:spPr>
            <a:xfrm>
              <a:off x="8100201" y="3677084"/>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19" name="椭圆 2218">
              <a:extLst>
                <a:ext uri="{FF2B5EF4-FFF2-40B4-BE49-F238E27FC236}">
                  <a16:creationId xmlns:a16="http://schemas.microsoft.com/office/drawing/2014/main" id="{697FD642-E1C7-984C-84FD-F9BA32AE213D}"/>
                </a:ext>
              </a:extLst>
            </p:cNvPr>
            <p:cNvSpPr/>
            <p:nvPr/>
          </p:nvSpPr>
          <p:spPr>
            <a:xfrm>
              <a:off x="8018472" y="3677908"/>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216" name="组合 2215">
              <a:extLst>
                <a:ext uri="{FF2B5EF4-FFF2-40B4-BE49-F238E27FC236}">
                  <a16:creationId xmlns:a16="http://schemas.microsoft.com/office/drawing/2014/main" id="{88447058-E641-6033-8952-D70647929279}"/>
                </a:ext>
              </a:extLst>
            </p:cNvPr>
            <p:cNvGrpSpPr/>
            <p:nvPr/>
          </p:nvGrpSpPr>
          <p:grpSpPr>
            <a:xfrm>
              <a:off x="5792113" y="3427635"/>
              <a:ext cx="565185" cy="51782"/>
              <a:chOff x="7867918" y="2835520"/>
              <a:chExt cx="565185" cy="51782"/>
            </a:xfrm>
          </p:grpSpPr>
          <p:sp>
            <p:nvSpPr>
              <p:cNvPr id="2210" name="椭圆 2209">
                <a:extLst>
                  <a:ext uri="{FF2B5EF4-FFF2-40B4-BE49-F238E27FC236}">
                    <a16:creationId xmlns:a16="http://schemas.microsoft.com/office/drawing/2014/main" id="{CA5BA9F9-7CBE-A8DC-E632-02874C6EE9DD}"/>
                  </a:ext>
                </a:extLst>
              </p:cNvPr>
              <p:cNvSpPr/>
              <p:nvPr/>
            </p:nvSpPr>
            <p:spPr>
              <a:xfrm>
                <a:off x="7867918"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12" name="椭圆 2211">
                <a:extLst>
                  <a:ext uri="{FF2B5EF4-FFF2-40B4-BE49-F238E27FC236}">
                    <a16:creationId xmlns:a16="http://schemas.microsoft.com/office/drawing/2014/main" id="{38157B7A-7332-FF4E-39CB-CE4F567035F6}"/>
                  </a:ext>
                </a:extLst>
              </p:cNvPr>
              <p:cNvSpPr/>
              <p:nvPr/>
            </p:nvSpPr>
            <p:spPr>
              <a:xfrm>
                <a:off x="7996269"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13" name="椭圆 2212">
                <a:extLst>
                  <a:ext uri="{FF2B5EF4-FFF2-40B4-BE49-F238E27FC236}">
                    <a16:creationId xmlns:a16="http://schemas.microsoft.com/office/drawing/2014/main" id="{30AF12B0-CB8E-BA97-2FE1-598E1F01918C}"/>
                  </a:ext>
                </a:extLst>
              </p:cNvPr>
              <p:cNvSpPr/>
              <p:nvPr/>
            </p:nvSpPr>
            <p:spPr>
              <a:xfrm>
                <a:off x="8381321"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14" name="椭圆 2213">
                <a:extLst>
                  <a:ext uri="{FF2B5EF4-FFF2-40B4-BE49-F238E27FC236}">
                    <a16:creationId xmlns:a16="http://schemas.microsoft.com/office/drawing/2014/main" id="{F8570447-E39D-1361-7A43-AA47875F2729}"/>
                  </a:ext>
                </a:extLst>
              </p:cNvPr>
              <p:cNvSpPr/>
              <p:nvPr/>
            </p:nvSpPr>
            <p:spPr>
              <a:xfrm>
                <a:off x="8124620"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15" name="椭圆 2214">
                <a:extLst>
                  <a:ext uri="{FF2B5EF4-FFF2-40B4-BE49-F238E27FC236}">
                    <a16:creationId xmlns:a16="http://schemas.microsoft.com/office/drawing/2014/main" id="{48899A2D-3DEA-B68D-20ED-9FB5F2AEA527}"/>
                  </a:ext>
                </a:extLst>
              </p:cNvPr>
              <p:cNvSpPr/>
              <p:nvPr/>
            </p:nvSpPr>
            <p:spPr>
              <a:xfrm>
                <a:off x="8252971"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203" name="组合 2202">
              <a:extLst>
                <a:ext uri="{FF2B5EF4-FFF2-40B4-BE49-F238E27FC236}">
                  <a16:creationId xmlns:a16="http://schemas.microsoft.com/office/drawing/2014/main" id="{D173D587-F239-6090-3BB5-3FD3512DB4C5}"/>
                </a:ext>
              </a:extLst>
            </p:cNvPr>
            <p:cNvGrpSpPr/>
            <p:nvPr/>
          </p:nvGrpSpPr>
          <p:grpSpPr>
            <a:xfrm>
              <a:off x="5756277" y="3667993"/>
              <a:ext cx="1049169" cy="51782"/>
              <a:chOff x="7142854" y="3452768"/>
              <a:chExt cx="1049169" cy="51782"/>
            </a:xfrm>
          </p:grpSpPr>
          <p:sp>
            <p:nvSpPr>
              <p:cNvPr id="2197" name="椭圆 2196">
                <a:extLst>
                  <a:ext uri="{FF2B5EF4-FFF2-40B4-BE49-F238E27FC236}">
                    <a16:creationId xmlns:a16="http://schemas.microsoft.com/office/drawing/2014/main" id="{8ABCF628-3AF5-004E-C79D-36DC0313349F}"/>
                  </a:ext>
                </a:extLst>
              </p:cNvPr>
              <p:cNvSpPr/>
              <p:nvPr/>
            </p:nvSpPr>
            <p:spPr>
              <a:xfrm>
                <a:off x="7142854"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98" name="椭圆 2197">
                <a:extLst>
                  <a:ext uri="{FF2B5EF4-FFF2-40B4-BE49-F238E27FC236}">
                    <a16:creationId xmlns:a16="http://schemas.microsoft.com/office/drawing/2014/main" id="{4602E9E2-13BE-B2DE-BE32-81AD1B8D9C35}"/>
                  </a:ext>
                </a:extLst>
              </p:cNvPr>
              <p:cNvSpPr/>
              <p:nvPr/>
            </p:nvSpPr>
            <p:spPr>
              <a:xfrm>
                <a:off x="8140241"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99" name="椭圆 2198">
                <a:extLst>
                  <a:ext uri="{FF2B5EF4-FFF2-40B4-BE49-F238E27FC236}">
                    <a16:creationId xmlns:a16="http://schemas.microsoft.com/office/drawing/2014/main" id="{C35EC5BA-E3D0-A6BF-8B4D-32CD24E466FE}"/>
                  </a:ext>
                </a:extLst>
              </p:cNvPr>
              <p:cNvSpPr/>
              <p:nvPr/>
            </p:nvSpPr>
            <p:spPr>
              <a:xfrm>
                <a:off x="7342331"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00" name="椭圆 2199">
                <a:extLst>
                  <a:ext uri="{FF2B5EF4-FFF2-40B4-BE49-F238E27FC236}">
                    <a16:creationId xmlns:a16="http://schemas.microsoft.com/office/drawing/2014/main" id="{86899C8A-820B-5595-CF80-7635EFF3B8FB}"/>
                  </a:ext>
                </a:extLst>
              </p:cNvPr>
              <p:cNvSpPr/>
              <p:nvPr/>
            </p:nvSpPr>
            <p:spPr>
              <a:xfrm>
                <a:off x="7741285"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01" name="椭圆 2200">
                <a:extLst>
                  <a:ext uri="{FF2B5EF4-FFF2-40B4-BE49-F238E27FC236}">
                    <a16:creationId xmlns:a16="http://schemas.microsoft.com/office/drawing/2014/main" id="{FB518041-1704-7B53-FAC9-036F2F9391CB}"/>
                  </a:ext>
                </a:extLst>
              </p:cNvPr>
              <p:cNvSpPr/>
              <p:nvPr/>
            </p:nvSpPr>
            <p:spPr>
              <a:xfrm>
                <a:off x="7541808"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02" name="椭圆 2201">
                <a:extLst>
                  <a:ext uri="{FF2B5EF4-FFF2-40B4-BE49-F238E27FC236}">
                    <a16:creationId xmlns:a16="http://schemas.microsoft.com/office/drawing/2014/main" id="{910145BF-E1E5-1AA7-6FD0-D639FBFCFC9F}"/>
                  </a:ext>
                </a:extLst>
              </p:cNvPr>
              <p:cNvSpPr/>
              <p:nvPr/>
            </p:nvSpPr>
            <p:spPr>
              <a:xfrm>
                <a:off x="7940762"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38" name="文本框 1037">
              <a:extLst>
                <a:ext uri="{FF2B5EF4-FFF2-40B4-BE49-F238E27FC236}">
                  <a16:creationId xmlns:a16="http://schemas.microsoft.com/office/drawing/2014/main" id="{1938A181-D8E7-F0C8-3BBF-FF91B86C52D1}"/>
                </a:ext>
              </a:extLst>
            </p:cNvPr>
            <p:cNvSpPr txBox="1"/>
            <p:nvPr/>
          </p:nvSpPr>
          <p:spPr>
            <a:xfrm>
              <a:off x="6282008" y="2105163"/>
              <a:ext cx="4473575" cy="431368"/>
            </a:xfrm>
            <a:prstGeom prst="rect">
              <a:avLst/>
            </a:prstGeom>
            <a:ln w="6350">
              <a:noFill/>
              <a:miter lim="800000"/>
            </a:ln>
          </p:spPr>
          <p:txBody>
            <a:bodyPr vert="horz" wrap="square" lIns="0" tIns="0" rIns="0" bIns="0" rtlCol="0" anchor="ctr">
              <a:noAutofit/>
            </a:bodyPr>
            <a:lstStyle/>
            <a:p>
              <a:pPr algn="l">
                <a:spcBef>
                  <a:spcPts val="300"/>
                </a:spcBef>
                <a:spcAft>
                  <a:spcPts val="300"/>
                </a:spcAft>
              </a:pPr>
              <a:r>
                <a:rPr kumimoji="1" lang="zh-CN" altLang="en-US" sz="1400" b="1" dirty="0">
                  <a:solidFill>
                    <a:schemeClr val="accent6">
                      <a:lumMod val="10000"/>
                    </a:schemeClr>
                  </a:solidFill>
                  <a:cs typeface="+mn-ea"/>
                  <a:sym typeface="+mn-lt"/>
                </a:rPr>
                <a:t>侧面</a:t>
              </a:r>
              <a:endParaRPr kumimoji="1" lang="en-US" altLang="zh-CN" sz="1400" dirty="0">
                <a:solidFill>
                  <a:schemeClr val="accent6">
                    <a:lumMod val="10000"/>
                  </a:schemeClr>
                </a:solidFill>
                <a:cs typeface="+mn-ea"/>
                <a:sym typeface="+mn-lt"/>
              </a:endParaRPr>
            </a:p>
          </p:txBody>
        </p:sp>
        <p:sp>
          <p:nvSpPr>
            <p:cNvPr id="33" name="CPO技术：通过将OE放置在距离主芯片（ASIC）足够近的地方，大幅度降低传输代价、复用ASIC能力，实现降成本、降功耗、降延迟！">
              <a:extLst>
                <a:ext uri="{FF2B5EF4-FFF2-40B4-BE49-F238E27FC236}">
                  <a16:creationId xmlns:a16="http://schemas.microsoft.com/office/drawing/2014/main" id="{B3DB5D86-7298-E069-2C2F-CEA180A43E86}"/>
                </a:ext>
              </a:extLst>
            </p:cNvPr>
            <p:cNvSpPr txBox="1"/>
            <p:nvPr/>
          </p:nvSpPr>
          <p:spPr>
            <a:xfrm>
              <a:off x="5360854" y="3738417"/>
              <a:ext cx="901373"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defTabSz="457200">
                <a:defRPr b="1">
                  <a:solidFill>
                    <a:srgbClr val="2151CF"/>
                  </a:solidFill>
                  <a:latin typeface="Times Roman"/>
                  <a:ea typeface="Times Roman"/>
                  <a:cs typeface="Times Roman"/>
                  <a:sym typeface="Times Roman"/>
                </a:defRPr>
              </a:lvl1pPr>
            </a:lstStyle>
            <a:p>
              <a:r>
                <a:rPr lang="en-US" sz="1400" dirty="0">
                  <a:solidFill>
                    <a:schemeClr val="accent6">
                      <a:lumMod val="10000"/>
                    </a:schemeClr>
                  </a:solidFill>
                  <a:latin typeface="+mn-lt"/>
                  <a:ea typeface="+mn-ea"/>
                  <a:cs typeface="+mn-ea"/>
                  <a:sym typeface="+mn-lt"/>
                </a:rPr>
                <a:t>PCB</a:t>
              </a:r>
              <a:endParaRPr sz="1400" dirty="0">
                <a:solidFill>
                  <a:schemeClr val="accent6">
                    <a:lumMod val="10000"/>
                  </a:schemeClr>
                </a:solidFill>
                <a:latin typeface="+mn-lt"/>
                <a:ea typeface="+mn-ea"/>
                <a:cs typeface="+mn-ea"/>
                <a:sym typeface="+mn-lt"/>
              </a:endParaRPr>
            </a:p>
          </p:txBody>
        </p:sp>
        <p:sp>
          <p:nvSpPr>
            <p:cNvPr id="2196" name="矩形: 圆角 2195">
              <a:extLst>
                <a:ext uri="{FF2B5EF4-FFF2-40B4-BE49-F238E27FC236}">
                  <a16:creationId xmlns:a16="http://schemas.microsoft.com/office/drawing/2014/main" id="{A9689017-7DD6-76F0-78D5-C96A6E551E36}"/>
                </a:ext>
              </a:extLst>
            </p:cNvPr>
            <p:cNvSpPr/>
            <p:nvPr/>
          </p:nvSpPr>
          <p:spPr>
            <a:xfrm>
              <a:off x="5560302" y="3472402"/>
              <a:ext cx="1441121" cy="196072"/>
            </a:xfrm>
            <a:prstGeom prst="roundRect">
              <a:avLst>
                <a:gd name="adj" fmla="val 2414"/>
              </a:avLst>
            </a:prstGeom>
            <a:solidFill>
              <a:srgbClr val="0052D9"/>
            </a:solidFill>
            <a:ln>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04" name="CPO技术：通过将OE放置在距离主芯片（ASIC）足够近的地方，大幅度降低传输代价、复用ASIC能力，实现降成本、降功耗、降延迟！">
              <a:extLst>
                <a:ext uri="{FF2B5EF4-FFF2-40B4-BE49-F238E27FC236}">
                  <a16:creationId xmlns:a16="http://schemas.microsoft.com/office/drawing/2014/main" id="{A3BFFFB6-29D2-A4FF-FB48-E365C59291FE}"/>
                </a:ext>
              </a:extLst>
            </p:cNvPr>
            <p:cNvSpPr txBox="1"/>
            <p:nvPr/>
          </p:nvSpPr>
          <p:spPr>
            <a:xfrm>
              <a:off x="5557540" y="3451363"/>
              <a:ext cx="1080498"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defTabSz="457200">
                <a:defRPr b="1">
                  <a:solidFill>
                    <a:srgbClr val="2151CF"/>
                  </a:solidFill>
                  <a:latin typeface="Times Roman"/>
                  <a:ea typeface="Times Roman"/>
                  <a:cs typeface="Times Roman"/>
                  <a:sym typeface="Times Roman"/>
                </a:defRPr>
              </a:lvl1pPr>
            </a:lstStyle>
            <a:p>
              <a:r>
                <a:rPr lang="en-US" altLang="zh-CN" sz="1000" dirty="0">
                  <a:solidFill>
                    <a:schemeClr val="bg1"/>
                  </a:solidFill>
                  <a:latin typeface="+mn-lt"/>
                  <a:ea typeface="+mn-ea"/>
                  <a:cs typeface="+mn-ea"/>
                  <a:sym typeface="+mn-lt"/>
                </a:rPr>
                <a:t>Substrate</a:t>
              </a:r>
              <a:endParaRPr sz="1000" dirty="0">
                <a:solidFill>
                  <a:schemeClr val="bg1"/>
                </a:solidFill>
                <a:latin typeface="+mn-lt"/>
                <a:ea typeface="+mn-ea"/>
                <a:cs typeface="+mn-ea"/>
                <a:sym typeface="+mn-lt"/>
              </a:endParaRPr>
            </a:p>
          </p:txBody>
        </p:sp>
        <p:sp>
          <p:nvSpPr>
            <p:cNvPr id="2205" name="矩形: 圆角 2204">
              <a:extLst>
                <a:ext uri="{FF2B5EF4-FFF2-40B4-BE49-F238E27FC236}">
                  <a16:creationId xmlns:a16="http://schemas.microsoft.com/office/drawing/2014/main" id="{FC3D11DF-B48F-22F8-3A54-3F120F0497FF}"/>
                </a:ext>
              </a:extLst>
            </p:cNvPr>
            <p:cNvSpPr/>
            <p:nvPr/>
          </p:nvSpPr>
          <p:spPr>
            <a:xfrm>
              <a:off x="5762833" y="3278061"/>
              <a:ext cx="626083" cy="156973"/>
            </a:xfrm>
            <a:prstGeom prst="roundRect">
              <a:avLst>
                <a:gd name="adj" fmla="val 2414"/>
              </a:avLst>
            </a:prstGeom>
            <a:solidFill>
              <a:schemeClr val="accent6">
                <a:lumMod val="10000"/>
              </a:schemeClr>
            </a:solidFill>
            <a:ln>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06" name="CPO技术：通过将OE放置在距离主芯片（ASIC）足够近的地方，大幅度降低传输代价、复用ASIC能力，实现降成本、降功耗、降延迟！">
              <a:extLst>
                <a:ext uri="{FF2B5EF4-FFF2-40B4-BE49-F238E27FC236}">
                  <a16:creationId xmlns:a16="http://schemas.microsoft.com/office/drawing/2014/main" id="{0172ECF7-A8D8-FF33-A5CD-62523203A418}"/>
                </a:ext>
              </a:extLst>
            </p:cNvPr>
            <p:cNvSpPr txBox="1"/>
            <p:nvPr/>
          </p:nvSpPr>
          <p:spPr>
            <a:xfrm>
              <a:off x="5874015" y="3233436"/>
              <a:ext cx="1080498"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defTabSz="457200">
                <a:defRPr b="1">
                  <a:solidFill>
                    <a:srgbClr val="2151CF"/>
                  </a:solidFill>
                  <a:latin typeface="Times Roman"/>
                  <a:ea typeface="Times Roman"/>
                  <a:cs typeface="Times Roman"/>
                  <a:sym typeface="Times Roman"/>
                </a:defRPr>
              </a:lvl1pPr>
            </a:lstStyle>
            <a:p>
              <a:r>
                <a:rPr lang="en-US" altLang="zh-CN" sz="1000" dirty="0">
                  <a:solidFill>
                    <a:schemeClr val="bg1"/>
                  </a:solidFill>
                  <a:latin typeface="+mn-lt"/>
                  <a:ea typeface="+mn-ea"/>
                  <a:cs typeface="+mn-ea"/>
                  <a:sym typeface="+mn-lt"/>
                </a:rPr>
                <a:t>ASIC</a:t>
              </a:r>
              <a:endParaRPr sz="1000" dirty="0">
                <a:solidFill>
                  <a:schemeClr val="bg1"/>
                </a:solidFill>
                <a:latin typeface="+mn-lt"/>
                <a:ea typeface="+mn-ea"/>
                <a:cs typeface="+mn-ea"/>
                <a:sym typeface="+mn-lt"/>
              </a:endParaRPr>
            </a:p>
          </p:txBody>
        </p:sp>
        <p:sp>
          <p:nvSpPr>
            <p:cNvPr id="2208" name="矩形 2207">
              <a:extLst>
                <a:ext uri="{FF2B5EF4-FFF2-40B4-BE49-F238E27FC236}">
                  <a16:creationId xmlns:a16="http://schemas.microsoft.com/office/drawing/2014/main" id="{5729BD6E-BD70-026D-D0A9-18CBAA9331F4}"/>
                </a:ext>
              </a:extLst>
            </p:cNvPr>
            <p:cNvSpPr/>
            <p:nvPr/>
          </p:nvSpPr>
          <p:spPr>
            <a:xfrm>
              <a:off x="8180455" y="3552471"/>
              <a:ext cx="196913" cy="1242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224" name="直接连接符 2223">
              <a:extLst>
                <a:ext uri="{FF2B5EF4-FFF2-40B4-BE49-F238E27FC236}">
                  <a16:creationId xmlns:a16="http://schemas.microsoft.com/office/drawing/2014/main" id="{62AA3A83-4266-4CAE-BBFD-2A54070AF530}"/>
                </a:ext>
              </a:extLst>
            </p:cNvPr>
            <p:cNvCxnSpPr>
              <a:cxnSpLocks/>
              <a:stCxn id="2208" idx="3"/>
            </p:cNvCxnSpPr>
            <p:nvPr/>
          </p:nvCxnSpPr>
          <p:spPr>
            <a:xfrm>
              <a:off x="8377368" y="3614581"/>
              <a:ext cx="687160" cy="2331"/>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sp>
          <p:nvSpPr>
            <p:cNvPr id="2225" name="椭圆 2224">
              <a:extLst>
                <a:ext uri="{FF2B5EF4-FFF2-40B4-BE49-F238E27FC236}">
                  <a16:creationId xmlns:a16="http://schemas.microsoft.com/office/drawing/2014/main" id="{C7061CA2-8A37-562B-4D0B-B6D8EB4B0A9B}"/>
                </a:ext>
              </a:extLst>
            </p:cNvPr>
            <p:cNvSpPr/>
            <p:nvPr/>
          </p:nvSpPr>
          <p:spPr>
            <a:xfrm>
              <a:off x="8594229" y="3524066"/>
              <a:ext cx="149225" cy="88931"/>
            </a:xfrm>
            <a:prstGeom prst="ellipse">
              <a:avLst/>
            </a:prstGeom>
            <a:no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26" name="文本框 2225">
              <a:extLst>
                <a:ext uri="{FF2B5EF4-FFF2-40B4-BE49-F238E27FC236}">
                  <a16:creationId xmlns:a16="http://schemas.microsoft.com/office/drawing/2014/main" id="{455C7CC0-F6B0-B45C-7FA1-54946414C3CC}"/>
                </a:ext>
              </a:extLst>
            </p:cNvPr>
            <p:cNvSpPr txBox="1"/>
            <p:nvPr/>
          </p:nvSpPr>
          <p:spPr>
            <a:xfrm>
              <a:off x="5634495" y="2927195"/>
              <a:ext cx="922865" cy="431368"/>
            </a:xfrm>
            <a:prstGeom prst="rect">
              <a:avLst/>
            </a:prstGeom>
            <a:ln w="6350">
              <a:noFill/>
              <a:miter lim="800000"/>
            </a:ln>
          </p:spPr>
          <p:txBody>
            <a:bodyPr vert="horz" wrap="square" lIns="0" tIns="0" rIns="0" bIns="0" rtlCol="0" anchor="ctr">
              <a:noAutofit/>
            </a:bodyPr>
            <a:lstStyle/>
            <a:p>
              <a:pPr algn="ctr">
                <a:spcBef>
                  <a:spcPts val="300"/>
                </a:spcBef>
                <a:spcAft>
                  <a:spcPts val="300"/>
                </a:spcAft>
              </a:pPr>
              <a:r>
                <a:rPr kumimoji="1" lang="zh-CN" altLang="en-US" sz="1400" dirty="0">
                  <a:solidFill>
                    <a:schemeClr val="accent6">
                      <a:lumMod val="10000"/>
                    </a:schemeClr>
                  </a:solidFill>
                  <a:cs typeface="+mn-ea"/>
                  <a:sym typeface="+mn-lt"/>
                </a:rPr>
                <a:t>交换机芯片</a:t>
              </a:r>
              <a:endParaRPr kumimoji="1" lang="en-US" altLang="zh-CN" sz="1400" dirty="0">
                <a:solidFill>
                  <a:schemeClr val="accent6">
                    <a:lumMod val="10000"/>
                  </a:schemeClr>
                </a:solidFill>
                <a:cs typeface="+mn-ea"/>
                <a:sym typeface="+mn-lt"/>
              </a:endParaRPr>
            </a:p>
          </p:txBody>
        </p:sp>
        <p:sp>
          <p:nvSpPr>
            <p:cNvPr id="2227" name="文本框 2226">
              <a:extLst>
                <a:ext uri="{FF2B5EF4-FFF2-40B4-BE49-F238E27FC236}">
                  <a16:creationId xmlns:a16="http://schemas.microsoft.com/office/drawing/2014/main" id="{65F1A0DD-FDE9-FF90-E031-F979EAB49F85}"/>
                </a:ext>
              </a:extLst>
            </p:cNvPr>
            <p:cNvSpPr txBox="1"/>
            <p:nvPr/>
          </p:nvSpPr>
          <p:spPr>
            <a:xfrm>
              <a:off x="6669921" y="2972902"/>
              <a:ext cx="3227870" cy="431368"/>
            </a:xfrm>
            <a:prstGeom prst="rect">
              <a:avLst/>
            </a:prstGeom>
            <a:ln w="6350">
              <a:noFill/>
              <a:miter lim="800000"/>
            </a:ln>
          </p:spPr>
          <p:txBody>
            <a:bodyPr vert="horz" wrap="square" lIns="0" tIns="0" rIns="0" bIns="0" rtlCol="0" anchor="ctr">
              <a:noAutofit/>
            </a:bodyPr>
            <a:lstStyle/>
            <a:p>
              <a:pPr algn="ctr">
                <a:spcBef>
                  <a:spcPts val="300"/>
                </a:spcBef>
                <a:spcAft>
                  <a:spcPts val="300"/>
                </a:spcAft>
              </a:pPr>
              <a:r>
                <a:rPr kumimoji="1" lang="zh-CN" altLang="en-US" sz="1400" dirty="0">
                  <a:solidFill>
                    <a:schemeClr val="accent6">
                      <a:lumMod val="10000"/>
                    </a:schemeClr>
                  </a:solidFill>
                  <a:cs typeface="+mn-ea"/>
                  <a:sym typeface="+mn-lt"/>
                </a:rPr>
                <a:t>光模块：</a:t>
              </a:r>
              <a:r>
                <a:rPr kumimoji="1" lang="en-US" altLang="zh-CN" sz="1400" b="1" dirty="0">
                  <a:solidFill>
                    <a:srgbClr val="0052D9"/>
                  </a:solidFill>
                  <a:cs typeface="+mn-ea"/>
                  <a:sym typeface="+mn-lt"/>
                </a:rPr>
                <a:t>30W</a:t>
              </a:r>
              <a:r>
                <a:rPr kumimoji="1" lang="en-US" altLang="zh-CN" sz="1400" baseline="30000" dirty="0">
                  <a:solidFill>
                    <a:srgbClr val="0052D9"/>
                  </a:solidFill>
                  <a:cs typeface="+mn-ea"/>
                  <a:sym typeface="+mn-lt"/>
                </a:rPr>
                <a:t>1</a:t>
              </a:r>
              <a:endParaRPr kumimoji="1" lang="en-US" altLang="zh-CN" sz="1400" dirty="0">
                <a:solidFill>
                  <a:srgbClr val="0052D9"/>
                </a:solidFill>
                <a:cs typeface="+mn-ea"/>
                <a:sym typeface="+mn-lt"/>
              </a:endParaRPr>
            </a:p>
            <a:p>
              <a:pPr algn="ctr">
                <a:spcBef>
                  <a:spcPts val="300"/>
                </a:spcBef>
                <a:spcAft>
                  <a:spcPts val="300"/>
                </a:spcAft>
              </a:pPr>
              <a:r>
                <a:rPr kumimoji="1" lang="en-US" altLang="zh-CN" sz="1200" dirty="0">
                  <a:solidFill>
                    <a:schemeClr val="accent6">
                      <a:lumMod val="10000"/>
                    </a:schemeClr>
                  </a:solidFill>
                  <a:cs typeface="+mn-ea"/>
                  <a:sym typeface="+mn-lt"/>
                </a:rPr>
                <a:t>20W (</a:t>
              </a:r>
              <a:r>
                <a:rPr kumimoji="1" lang="zh-CN" altLang="en-US" sz="1200" dirty="0">
                  <a:solidFill>
                    <a:schemeClr val="accent6">
                      <a:lumMod val="10000"/>
                    </a:schemeClr>
                  </a:solidFill>
                  <a:cs typeface="+mn-ea"/>
                  <a:sym typeface="+mn-lt"/>
                </a:rPr>
                <a:t>数字信号处理器</a:t>
              </a:r>
              <a:r>
                <a:rPr kumimoji="1" lang="en-US" altLang="zh-CN" sz="1200" dirty="0">
                  <a:solidFill>
                    <a:schemeClr val="accent6">
                      <a:lumMod val="10000"/>
                    </a:schemeClr>
                  </a:solidFill>
                  <a:cs typeface="+mn-ea"/>
                  <a:sym typeface="+mn-lt"/>
                </a:rPr>
                <a:t>) + 10W (</a:t>
              </a:r>
              <a:r>
                <a:rPr kumimoji="1" lang="zh-CN" altLang="en-US" sz="1200" dirty="0">
                  <a:solidFill>
                    <a:schemeClr val="accent6">
                      <a:lumMod val="10000"/>
                    </a:schemeClr>
                  </a:solidFill>
                  <a:cs typeface="+mn-ea"/>
                  <a:sym typeface="+mn-lt"/>
                </a:rPr>
                <a:t>光引擎，含光源</a:t>
              </a:r>
              <a:r>
                <a:rPr kumimoji="1" lang="en-US" altLang="zh-CN" sz="1200" dirty="0">
                  <a:solidFill>
                    <a:schemeClr val="accent6">
                      <a:lumMod val="10000"/>
                    </a:schemeClr>
                  </a:solidFill>
                  <a:cs typeface="+mn-ea"/>
                  <a:sym typeface="+mn-lt"/>
                </a:rPr>
                <a:t>)</a:t>
              </a:r>
            </a:p>
          </p:txBody>
        </p:sp>
        <p:cxnSp>
          <p:nvCxnSpPr>
            <p:cNvPr id="2229" name="直接连接符 2228">
              <a:extLst>
                <a:ext uri="{FF2B5EF4-FFF2-40B4-BE49-F238E27FC236}">
                  <a16:creationId xmlns:a16="http://schemas.microsoft.com/office/drawing/2014/main" id="{9557C8EE-3643-9A2D-2E7A-141A75053537}"/>
                </a:ext>
              </a:extLst>
            </p:cNvPr>
            <p:cNvCxnSpPr>
              <a:cxnSpLocks/>
            </p:cNvCxnSpPr>
            <p:nvPr/>
          </p:nvCxnSpPr>
          <p:spPr>
            <a:xfrm>
              <a:off x="6333353" y="3443396"/>
              <a:ext cx="0" cy="72522"/>
            </a:xfrm>
            <a:prstGeom prst="line">
              <a:avLst/>
            </a:prstGeom>
            <a:ln w="63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36" name="直接连接符 2235">
              <a:extLst>
                <a:ext uri="{FF2B5EF4-FFF2-40B4-BE49-F238E27FC236}">
                  <a16:creationId xmlns:a16="http://schemas.microsoft.com/office/drawing/2014/main" id="{0EB20CDE-E882-220D-0F19-FED55ADB4629}"/>
                </a:ext>
              </a:extLst>
            </p:cNvPr>
            <p:cNvCxnSpPr>
              <a:cxnSpLocks/>
            </p:cNvCxnSpPr>
            <p:nvPr/>
          </p:nvCxnSpPr>
          <p:spPr>
            <a:xfrm>
              <a:off x="6331419" y="3512978"/>
              <a:ext cx="246441" cy="0"/>
            </a:xfrm>
            <a:prstGeom prst="line">
              <a:avLst/>
            </a:prstGeom>
            <a:ln w="63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39" name="直接连接符 2238">
              <a:extLst>
                <a:ext uri="{FF2B5EF4-FFF2-40B4-BE49-F238E27FC236}">
                  <a16:creationId xmlns:a16="http://schemas.microsoft.com/office/drawing/2014/main" id="{3BB8C5A6-EF61-9080-E5D5-A159AE033667}"/>
                </a:ext>
              </a:extLst>
            </p:cNvPr>
            <p:cNvCxnSpPr>
              <a:cxnSpLocks/>
            </p:cNvCxnSpPr>
            <p:nvPr/>
          </p:nvCxnSpPr>
          <p:spPr>
            <a:xfrm>
              <a:off x="6576272" y="3509774"/>
              <a:ext cx="0" cy="246105"/>
            </a:xfrm>
            <a:prstGeom prst="line">
              <a:avLst/>
            </a:prstGeom>
            <a:ln w="63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41" name="直接连接符 2240">
              <a:extLst>
                <a:ext uri="{FF2B5EF4-FFF2-40B4-BE49-F238E27FC236}">
                  <a16:creationId xmlns:a16="http://schemas.microsoft.com/office/drawing/2014/main" id="{8DA9BE6F-0C56-E310-3B45-5ECC625C7DBF}"/>
                </a:ext>
              </a:extLst>
            </p:cNvPr>
            <p:cNvCxnSpPr>
              <a:cxnSpLocks/>
            </p:cNvCxnSpPr>
            <p:nvPr/>
          </p:nvCxnSpPr>
          <p:spPr>
            <a:xfrm>
              <a:off x="6574684" y="3754291"/>
              <a:ext cx="1469679" cy="0"/>
            </a:xfrm>
            <a:prstGeom prst="line">
              <a:avLst/>
            </a:prstGeom>
            <a:ln w="63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44" name="直接连接符 2243">
              <a:extLst>
                <a:ext uri="{FF2B5EF4-FFF2-40B4-BE49-F238E27FC236}">
                  <a16:creationId xmlns:a16="http://schemas.microsoft.com/office/drawing/2014/main" id="{58C058FE-4759-2C16-CE42-2F324A539B69}"/>
                </a:ext>
              </a:extLst>
            </p:cNvPr>
            <p:cNvCxnSpPr>
              <a:cxnSpLocks/>
            </p:cNvCxnSpPr>
            <p:nvPr/>
          </p:nvCxnSpPr>
          <p:spPr>
            <a:xfrm>
              <a:off x="8044363" y="3682672"/>
              <a:ext cx="0" cy="71254"/>
            </a:xfrm>
            <a:prstGeom prst="line">
              <a:avLst/>
            </a:prstGeom>
            <a:ln w="63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250" name="组合 2249">
              <a:extLst>
                <a:ext uri="{FF2B5EF4-FFF2-40B4-BE49-F238E27FC236}">
                  <a16:creationId xmlns:a16="http://schemas.microsoft.com/office/drawing/2014/main" id="{FA361268-33C5-5237-7382-702CAA895B30}"/>
                </a:ext>
              </a:extLst>
            </p:cNvPr>
            <p:cNvGrpSpPr/>
            <p:nvPr/>
          </p:nvGrpSpPr>
          <p:grpSpPr>
            <a:xfrm>
              <a:off x="5792113" y="5359855"/>
              <a:ext cx="565185" cy="51782"/>
              <a:chOff x="7867918" y="2835520"/>
              <a:chExt cx="565185" cy="51782"/>
            </a:xfrm>
          </p:grpSpPr>
          <p:sp>
            <p:nvSpPr>
              <p:cNvPr id="2251" name="椭圆 2250">
                <a:extLst>
                  <a:ext uri="{FF2B5EF4-FFF2-40B4-BE49-F238E27FC236}">
                    <a16:creationId xmlns:a16="http://schemas.microsoft.com/office/drawing/2014/main" id="{CE867EE8-784B-7EA0-2AE4-38FB744C7858}"/>
                  </a:ext>
                </a:extLst>
              </p:cNvPr>
              <p:cNvSpPr/>
              <p:nvPr/>
            </p:nvSpPr>
            <p:spPr>
              <a:xfrm>
                <a:off x="7867918"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52" name="椭圆 2251">
                <a:extLst>
                  <a:ext uri="{FF2B5EF4-FFF2-40B4-BE49-F238E27FC236}">
                    <a16:creationId xmlns:a16="http://schemas.microsoft.com/office/drawing/2014/main" id="{512F357D-5791-B114-77F8-EDDD352ACB31}"/>
                  </a:ext>
                </a:extLst>
              </p:cNvPr>
              <p:cNvSpPr/>
              <p:nvPr/>
            </p:nvSpPr>
            <p:spPr>
              <a:xfrm>
                <a:off x="7996269"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53" name="椭圆 2252">
                <a:extLst>
                  <a:ext uri="{FF2B5EF4-FFF2-40B4-BE49-F238E27FC236}">
                    <a16:creationId xmlns:a16="http://schemas.microsoft.com/office/drawing/2014/main" id="{B1450D27-52E0-8897-595C-4491F2883DC7}"/>
                  </a:ext>
                </a:extLst>
              </p:cNvPr>
              <p:cNvSpPr/>
              <p:nvPr/>
            </p:nvSpPr>
            <p:spPr>
              <a:xfrm>
                <a:off x="8381321"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54" name="椭圆 2253">
                <a:extLst>
                  <a:ext uri="{FF2B5EF4-FFF2-40B4-BE49-F238E27FC236}">
                    <a16:creationId xmlns:a16="http://schemas.microsoft.com/office/drawing/2014/main" id="{4AB83A58-3FB7-570C-5F2F-2E10CEE141AA}"/>
                  </a:ext>
                </a:extLst>
              </p:cNvPr>
              <p:cNvSpPr/>
              <p:nvPr/>
            </p:nvSpPr>
            <p:spPr>
              <a:xfrm>
                <a:off x="8124620"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55" name="椭圆 2254">
                <a:extLst>
                  <a:ext uri="{FF2B5EF4-FFF2-40B4-BE49-F238E27FC236}">
                    <a16:creationId xmlns:a16="http://schemas.microsoft.com/office/drawing/2014/main" id="{237EA7FA-0F9D-03AD-06B3-F3C688B2BE6E}"/>
                  </a:ext>
                </a:extLst>
              </p:cNvPr>
              <p:cNvSpPr/>
              <p:nvPr/>
            </p:nvSpPr>
            <p:spPr>
              <a:xfrm>
                <a:off x="8252971" y="2835520"/>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256" name="组合 2255">
              <a:extLst>
                <a:ext uri="{FF2B5EF4-FFF2-40B4-BE49-F238E27FC236}">
                  <a16:creationId xmlns:a16="http://schemas.microsoft.com/office/drawing/2014/main" id="{104F4237-0ECE-FAC8-C76A-5C74B430FDEE}"/>
                </a:ext>
              </a:extLst>
            </p:cNvPr>
            <p:cNvGrpSpPr/>
            <p:nvPr/>
          </p:nvGrpSpPr>
          <p:grpSpPr>
            <a:xfrm>
              <a:off x="5756277" y="5600213"/>
              <a:ext cx="1049169" cy="51782"/>
              <a:chOff x="7142854" y="3452768"/>
              <a:chExt cx="1049169" cy="51782"/>
            </a:xfrm>
          </p:grpSpPr>
          <p:sp>
            <p:nvSpPr>
              <p:cNvPr id="2257" name="椭圆 2256">
                <a:extLst>
                  <a:ext uri="{FF2B5EF4-FFF2-40B4-BE49-F238E27FC236}">
                    <a16:creationId xmlns:a16="http://schemas.microsoft.com/office/drawing/2014/main" id="{71E17CA2-D1CB-90B1-1378-AAFEF7CAB994}"/>
                  </a:ext>
                </a:extLst>
              </p:cNvPr>
              <p:cNvSpPr/>
              <p:nvPr/>
            </p:nvSpPr>
            <p:spPr>
              <a:xfrm>
                <a:off x="7142854"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58" name="椭圆 2257">
                <a:extLst>
                  <a:ext uri="{FF2B5EF4-FFF2-40B4-BE49-F238E27FC236}">
                    <a16:creationId xmlns:a16="http://schemas.microsoft.com/office/drawing/2014/main" id="{AD8B3459-9F75-972C-5BD1-0FA76EEE997C}"/>
                  </a:ext>
                </a:extLst>
              </p:cNvPr>
              <p:cNvSpPr/>
              <p:nvPr/>
            </p:nvSpPr>
            <p:spPr>
              <a:xfrm>
                <a:off x="8140241"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59" name="椭圆 2258">
                <a:extLst>
                  <a:ext uri="{FF2B5EF4-FFF2-40B4-BE49-F238E27FC236}">
                    <a16:creationId xmlns:a16="http://schemas.microsoft.com/office/drawing/2014/main" id="{19AB80E7-AAE6-1430-0645-C6228172DB21}"/>
                  </a:ext>
                </a:extLst>
              </p:cNvPr>
              <p:cNvSpPr/>
              <p:nvPr/>
            </p:nvSpPr>
            <p:spPr>
              <a:xfrm>
                <a:off x="7342331"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60" name="椭圆 2259">
                <a:extLst>
                  <a:ext uri="{FF2B5EF4-FFF2-40B4-BE49-F238E27FC236}">
                    <a16:creationId xmlns:a16="http://schemas.microsoft.com/office/drawing/2014/main" id="{B1574E16-4F59-CDE9-8941-ADCF0B47ED1D}"/>
                  </a:ext>
                </a:extLst>
              </p:cNvPr>
              <p:cNvSpPr/>
              <p:nvPr/>
            </p:nvSpPr>
            <p:spPr>
              <a:xfrm>
                <a:off x="7741285"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61" name="椭圆 2260">
                <a:extLst>
                  <a:ext uri="{FF2B5EF4-FFF2-40B4-BE49-F238E27FC236}">
                    <a16:creationId xmlns:a16="http://schemas.microsoft.com/office/drawing/2014/main" id="{51082EBD-8CE3-8786-8F1B-69B0D0FF5F46}"/>
                  </a:ext>
                </a:extLst>
              </p:cNvPr>
              <p:cNvSpPr/>
              <p:nvPr/>
            </p:nvSpPr>
            <p:spPr>
              <a:xfrm>
                <a:off x="7541808"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62" name="椭圆 2261">
                <a:extLst>
                  <a:ext uri="{FF2B5EF4-FFF2-40B4-BE49-F238E27FC236}">
                    <a16:creationId xmlns:a16="http://schemas.microsoft.com/office/drawing/2014/main" id="{8DB8E0BF-6BD1-1DCE-7734-AB525E2B7614}"/>
                  </a:ext>
                </a:extLst>
              </p:cNvPr>
              <p:cNvSpPr/>
              <p:nvPr/>
            </p:nvSpPr>
            <p:spPr>
              <a:xfrm>
                <a:off x="7940762" y="3452768"/>
                <a:ext cx="51782" cy="5178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264" name="矩形: 圆角 2263">
              <a:extLst>
                <a:ext uri="{FF2B5EF4-FFF2-40B4-BE49-F238E27FC236}">
                  <a16:creationId xmlns:a16="http://schemas.microsoft.com/office/drawing/2014/main" id="{FA1199EA-B4C2-CF1A-6C6B-5DFDEBA7396A}"/>
                </a:ext>
              </a:extLst>
            </p:cNvPr>
            <p:cNvSpPr/>
            <p:nvPr/>
          </p:nvSpPr>
          <p:spPr>
            <a:xfrm>
              <a:off x="5330856" y="5651995"/>
              <a:ext cx="3048997" cy="338554"/>
            </a:xfrm>
            <a:prstGeom prst="roundRect">
              <a:avLst>
                <a:gd name="adj" fmla="val 2414"/>
              </a:avLst>
            </a:prstGeom>
            <a:solidFill>
              <a:schemeClr val="accent2">
                <a:lumMod val="20000"/>
                <a:lumOff val="80000"/>
              </a:schemeClr>
            </a:solidFill>
            <a:ln>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65" name="CPO技术：通过将OE放置在距离主芯片（ASIC）足够近的地方，大幅度降低传输代价、复用ASIC能力，实现降成本、降功耗、降延迟！">
              <a:extLst>
                <a:ext uri="{FF2B5EF4-FFF2-40B4-BE49-F238E27FC236}">
                  <a16:creationId xmlns:a16="http://schemas.microsoft.com/office/drawing/2014/main" id="{9FD425D7-822D-9513-9EAD-EBC21FB6314B}"/>
                </a:ext>
              </a:extLst>
            </p:cNvPr>
            <p:cNvSpPr txBox="1"/>
            <p:nvPr/>
          </p:nvSpPr>
          <p:spPr>
            <a:xfrm>
              <a:off x="5360854" y="5670637"/>
              <a:ext cx="901373"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defTabSz="457200">
                <a:defRPr b="1">
                  <a:solidFill>
                    <a:srgbClr val="2151CF"/>
                  </a:solidFill>
                  <a:latin typeface="Times Roman"/>
                  <a:ea typeface="Times Roman"/>
                  <a:cs typeface="Times Roman"/>
                  <a:sym typeface="Times Roman"/>
                </a:defRPr>
              </a:lvl1pPr>
            </a:lstStyle>
            <a:p>
              <a:r>
                <a:rPr lang="en-US" sz="1400" dirty="0">
                  <a:solidFill>
                    <a:schemeClr val="accent6">
                      <a:lumMod val="10000"/>
                    </a:schemeClr>
                  </a:solidFill>
                  <a:latin typeface="+mn-lt"/>
                  <a:ea typeface="+mn-ea"/>
                  <a:cs typeface="+mn-ea"/>
                  <a:sym typeface="+mn-lt"/>
                </a:rPr>
                <a:t>PCB</a:t>
              </a:r>
              <a:endParaRPr sz="1400" dirty="0">
                <a:solidFill>
                  <a:schemeClr val="accent6">
                    <a:lumMod val="10000"/>
                  </a:schemeClr>
                </a:solidFill>
                <a:latin typeface="+mn-lt"/>
                <a:ea typeface="+mn-ea"/>
                <a:cs typeface="+mn-ea"/>
                <a:sym typeface="+mn-lt"/>
              </a:endParaRPr>
            </a:p>
          </p:txBody>
        </p:sp>
        <p:sp>
          <p:nvSpPr>
            <p:cNvPr id="2266" name="矩形: 圆角 2265">
              <a:extLst>
                <a:ext uri="{FF2B5EF4-FFF2-40B4-BE49-F238E27FC236}">
                  <a16:creationId xmlns:a16="http://schemas.microsoft.com/office/drawing/2014/main" id="{FE22F93E-1D6A-3B68-0211-EC2A88AE0634}"/>
                </a:ext>
              </a:extLst>
            </p:cNvPr>
            <p:cNvSpPr/>
            <p:nvPr/>
          </p:nvSpPr>
          <p:spPr>
            <a:xfrm>
              <a:off x="5560302" y="5404622"/>
              <a:ext cx="1441121" cy="196072"/>
            </a:xfrm>
            <a:prstGeom prst="roundRect">
              <a:avLst>
                <a:gd name="adj" fmla="val 2414"/>
              </a:avLst>
            </a:prstGeom>
            <a:solidFill>
              <a:srgbClr val="0052D9"/>
            </a:solidFill>
            <a:ln>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67" name="CPO技术：通过将OE放置在距离主芯片（ASIC）足够近的地方，大幅度降低传输代价、复用ASIC能力，实现降成本、降功耗、降延迟！">
              <a:extLst>
                <a:ext uri="{FF2B5EF4-FFF2-40B4-BE49-F238E27FC236}">
                  <a16:creationId xmlns:a16="http://schemas.microsoft.com/office/drawing/2014/main" id="{C02EEDB5-3528-FAE8-0B9A-EF98C6094930}"/>
                </a:ext>
              </a:extLst>
            </p:cNvPr>
            <p:cNvSpPr txBox="1"/>
            <p:nvPr/>
          </p:nvSpPr>
          <p:spPr>
            <a:xfrm>
              <a:off x="5557540" y="5383583"/>
              <a:ext cx="1080498"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defTabSz="457200">
                <a:defRPr b="1">
                  <a:solidFill>
                    <a:srgbClr val="2151CF"/>
                  </a:solidFill>
                  <a:latin typeface="Times Roman"/>
                  <a:ea typeface="Times Roman"/>
                  <a:cs typeface="Times Roman"/>
                  <a:sym typeface="Times Roman"/>
                </a:defRPr>
              </a:lvl1pPr>
            </a:lstStyle>
            <a:p>
              <a:r>
                <a:rPr lang="en-US" altLang="zh-CN" sz="1000" dirty="0">
                  <a:solidFill>
                    <a:schemeClr val="bg1"/>
                  </a:solidFill>
                  <a:latin typeface="+mn-lt"/>
                  <a:ea typeface="+mn-ea"/>
                  <a:cs typeface="+mn-ea"/>
                  <a:sym typeface="+mn-lt"/>
                </a:rPr>
                <a:t>Substrate</a:t>
              </a:r>
              <a:endParaRPr sz="1000" dirty="0">
                <a:solidFill>
                  <a:schemeClr val="bg1"/>
                </a:solidFill>
                <a:latin typeface="+mn-lt"/>
                <a:ea typeface="+mn-ea"/>
                <a:cs typeface="+mn-ea"/>
                <a:sym typeface="+mn-lt"/>
              </a:endParaRPr>
            </a:p>
          </p:txBody>
        </p:sp>
        <p:sp>
          <p:nvSpPr>
            <p:cNvPr id="2268" name="矩形: 圆角 2267">
              <a:extLst>
                <a:ext uri="{FF2B5EF4-FFF2-40B4-BE49-F238E27FC236}">
                  <a16:creationId xmlns:a16="http://schemas.microsoft.com/office/drawing/2014/main" id="{C85569D9-DA69-AA91-EE22-A97E96711DB2}"/>
                </a:ext>
              </a:extLst>
            </p:cNvPr>
            <p:cNvSpPr/>
            <p:nvPr/>
          </p:nvSpPr>
          <p:spPr>
            <a:xfrm>
              <a:off x="5762833" y="5210281"/>
              <a:ext cx="626083" cy="156973"/>
            </a:xfrm>
            <a:prstGeom prst="roundRect">
              <a:avLst>
                <a:gd name="adj" fmla="val 2414"/>
              </a:avLst>
            </a:prstGeom>
            <a:solidFill>
              <a:schemeClr val="accent6">
                <a:lumMod val="10000"/>
              </a:schemeClr>
            </a:solidFill>
            <a:ln>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69" name="CPO技术：通过将OE放置在距离主芯片（ASIC）足够近的地方，大幅度降低传输代价、复用ASIC能力，实现降成本、降功耗、降延迟！">
              <a:extLst>
                <a:ext uri="{FF2B5EF4-FFF2-40B4-BE49-F238E27FC236}">
                  <a16:creationId xmlns:a16="http://schemas.microsoft.com/office/drawing/2014/main" id="{8EBBBC45-249E-1216-FBF3-27F624E7F983}"/>
                </a:ext>
              </a:extLst>
            </p:cNvPr>
            <p:cNvSpPr txBox="1"/>
            <p:nvPr/>
          </p:nvSpPr>
          <p:spPr>
            <a:xfrm>
              <a:off x="5874015" y="5165656"/>
              <a:ext cx="1080498"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defTabSz="457200">
                <a:defRPr b="1">
                  <a:solidFill>
                    <a:srgbClr val="2151CF"/>
                  </a:solidFill>
                  <a:latin typeface="Times Roman"/>
                  <a:ea typeface="Times Roman"/>
                  <a:cs typeface="Times Roman"/>
                  <a:sym typeface="Times Roman"/>
                </a:defRPr>
              </a:lvl1pPr>
            </a:lstStyle>
            <a:p>
              <a:r>
                <a:rPr lang="en-US" altLang="zh-CN" sz="1000" dirty="0">
                  <a:solidFill>
                    <a:schemeClr val="bg1"/>
                  </a:solidFill>
                  <a:latin typeface="+mn-lt"/>
                  <a:ea typeface="+mn-ea"/>
                  <a:cs typeface="+mn-ea"/>
                  <a:sym typeface="+mn-lt"/>
                </a:rPr>
                <a:t>ASIC</a:t>
              </a:r>
              <a:endParaRPr sz="1000" dirty="0">
                <a:solidFill>
                  <a:schemeClr val="bg1"/>
                </a:solidFill>
                <a:latin typeface="+mn-lt"/>
                <a:ea typeface="+mn-ea"/>
                <a:cs typeface="+mn-ea"/>
                <a:sym typeface="+mn-lt"/>
              </a:endParaRPr>
            </a:p>
          </p:txBody>
        </p:sp>
        <p:sp>
          <p:nvSpPr>
            <p:cNvPr id="2270" name="矩形 2269">
              <a:extLst>
                <a:ext uri="{FF2B5EF4-FFF2-40B4-BE49-F238E27FC236}">
                  <a16:creationId xmlns:a16="http://schemas.microsoft.com/office/drawing/2014/main" id="{F8D7BD25-F9C1-3DA6-3512-B4DB765C4A05}"/>
                </a:ext>
              </a:extLst>
            </p:cNvPr>
            <p:cNvSpPr/>
            <p:nvPr/>
          </p:nvSpPr>
          <p:spPr>
            <a:xfrm>
              <a:off x="8199553" y="5468340"/>
              <a:ext cx="160995" cy="178299"/>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272" name="直接连接符 2271">
              <a:extLst>
                <a:ext uri="{FF2B5EF4-FFF2-40B4-BE49-F238E27FC236}">
                  <a16:creationId xmlns:a16="http://schemas.microsoft.com/office/drawing/2014/main" id="{E100FBD0-82FA-926D-1539-9BF437657691}"/>
                </a:ext>
              </a:extLst>
            </p:cNvPr>
            <p:cNvCxnSpPr>
              <a:cxnSpLocks/>
            </p:cNvCxnSpPr>
            <p:nvPr/>
          </p:nvCxnSpPr>
          <p:spPr>
            <a:xfrm>
              <a:off x="7317333" y="5549131"/>
              <a:ext cx="1658150" cy="0"/>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sp>
          <p:nvSpPr>
            <p:cNvPr id="2273" name="椭圆 2272">
              <a:extLst>
                <a:ext uri="{FF2B5EF4-FFF2-40B4-BE49-F238E27FC236}">
                  <a16:creationId xmlns:a16="http://schemas.microsoft.com/office/drawing/2014/main" id="{D0FB83C0-5D0D-82B6-CBCD-A5DE0610F40A}"/>
                </a:ext>
              </a:extLst>
            </p:cNvPr>
            <p:cNvSpPr/>
            <p:nvPr/>
          </p:nvSpPr>
          <p:spPr>
            <a:xfrm>
              <a:off x="8594229" y="5456286"/>
              <a:ext cx="149225" cy="88931"/>
            </a:xfrm>
            <a:prstGeom prst="ellipse">
              <a:avLst/>
            </a:prstGeom>
            <a:no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74" name="文本框 2273">
              <a:extLst>
                <a:ext uri="{FF2B5EF4-FFF2-40B4-BE49-F238E27FC236}">
                  <a16:creationId xmlns:a16="http://schemas.microsoft.com/office/drawing/2014/main" id="{4CEBBF05-9ED7-45E3-F1CD-E8E480E1E2C2}"/>
                </a:ext>
              </a:extLst>
            </p:cNvPr>
            <p:cNvSpPr txBox="1"/>
            <p:nvPr/>
          </p:nvSpPr>
          <p:spPr>
            <a:xfrm>
              <a:off x="5587594" y="4868277"/>
              <a:ext cx="954142" cy="431368"/>
            </a:xfrm>
            <a:prstGeom prst="rect">
              <a:avLst/>
            </a:prstGeom>
            <a:ln w="6350">
              <a:noFill/>
              <a:miter lim="800000"/>
            </a:ln>
          </p:spPr>
          <p:txBody>
            <a:bodyPr vert="horz" wrap="square" lIns="0" tIns="0" rIns="0" bIns="0" rtlCol="0" anchor="ctr">
              <a:noAutofit/>
            </a:bodyPr>
            <a:lstStyle/>
            <a:p>
              <a:pPr algn="ctr">
                <a:spcBef>
                  <a:spcPts val="300"/>
                </a:spcBef>
                <a:spcAft>
                  <a:spcPts val="300"/>
                </a:spcAft>
              </a:pPr>
              <a:r>
                <a:rPr kumimoji="1" lang="zh-CN" altLang="en-US" sz="1400" dirty="0">
                  <a:solidFill>
                    <a:schemeClr val="accent6">
                      <a:lumMod val="10000"/>
                    </a:schemeClr>
                  </a:solidFill>
                  <a:cs typeface="+mn-ea"/>
                  <a:sym typeface="+mn-lt"/>
                </a:rPr>
                <a:t>交换机芯片</a:t>
              </a:r>
              <a:endParaRPr kumimoji="1" lang="en-US" altLang="zh-CN" sz="1400" dirty="0">
                <a:solidFill>
                  <a:schemeClr val="accent6">
                    <a:lumMod val="10000"/>
                  </a:schemeClr>
                </a:solidFill>
                <a:cs typeface="+mn-ea"/>
                <a:sym typeface="+mn-lt"/>
              </a:endParaRPr>
            </a:p>
          </p:txBody>
        </p:sp>
        <p:sp>
          <p:nvSpPr>
            <p:cNvPr id="2275" name="文本框 2274">
              <a:extLst>
                <a:ext uri="{FF2B5EF4-FFF2-40B4-BE49-F238E27FC236}">
                  <a16:creationId xmlns:a16="http://schemas.microsoft.com/office/drawing/2014/main" id="{6391F045-3E0C-4C11-BE09-1E81CE2F8190}"/>
                </a:ext>
              </a:extLst>
            </p:cNvPr>
            <p:cNvSpPr txBox="1"/>
            <p:nvPr/>
          </p:nvSpPr>
          <p:spPr>
            <a:xfrm>
              <a:off x="7644385" y="5092875"/>
              <a:ext cx="1346973" cy="431368"/>
            </a:xfrm>
            <a:prstGeom prst="rect">
              <a:avLst/>
            </a:prstGeom>
            <a:ln w="6350">
              <a:noFill/>
              <a:miter lim="800000"/>
            </a:ln>
          </p:spPr>
          <p:txBody>
            <a:bodyPr vert="horz" wrap="square" lIns="0" tIns="0" rIns="0" bIns="0" rtlCol="0" anchor="ctr">
              <a:noAutofit/>
            </a:bodyPr>
            <a:lstStyle/>
            <a:p>
              <a:pPr algn="ctr">
                <a:spcBef>
                  <a:spcPts val="300"/>
                </a:spcBef>
                <a:spcAft>
                  <a:spcPts val="300"/>
                </a:spcAft>
              </a:pPr>
              <a:r>
                <a:rPr kumimoji="1" lang="zh-CN" altLang="en-US" sz="1400" dirty="0">
                  <a:solidFill>
                    <a:schemeClr val="accent6">
                      <a:lumMod val="10000"/>
                    </a:schemeClr>
                  </a:solidFill>
                  <a:cs typeface="+mn-ea"/>
                  <a:sym typeface="+mn-lt"/>
                </a:rPr>
                <a:t>外置光源：</a:t>
              </a:r>
              <a:r>
                <a:rPr kumimoji="1" lang="en-US" altLang="zh-CN" sz="1400" dirty="0">
                  <a:solidFill>
                    <a:schemeClr val="accent6">
                      <a:lumMod val="10000"/>
                    </a:schemeClr>
                  </a:solidFill>
                  <a:cs typeface="+mn-ea"/>
                  <a:sym typeface="+mn-lt"/>
                </a:rPr>
                <a:t>2W</a:t>
              </a:r>
            </a:p>
          </p:txBody>
        </p:sp>
        <p:cxnSp>
          <p:nvCxnSpPr>
            <p:cNvPr id="2276" name="直接连接符 2275">
              <a:extLst>
                <a:ext uri="{FF2B5EF4-FFF2-40B4-BE49-F238E27FC236}">
                  <a16:creationId xmlns:a16="http://schemas.microsoft.com/office/drawing/2014/main" id="{285E3344-6D39-AA0B-6F38-F5AC3941F282}"/>
                </a:ext>
              </a:extLst>
            </p:cNvPr>
            <p:cNvCxnSpPr>
              <a:cxnSpLocks/>
            </p:cNvCxnSpPr>
            <p:nvPr/>
          </p:nvCxnSpPr>
          <p:spPr>
            <a:xfrm>
              <a:off x="6333353" y="5375616"/>
              <a:ext cx="0" cy="72522"/>
            </a:xfrm>
            <a:prstGeom prst="line">
              <a:avLst/>
            </a:prstGeom>
            <a:ln w="63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77" name="直接连接符 2276">
              <a:extLst>
                <a:ext uri="{FF2B5EF4-FFF2-40B4-BE49-F238E27FC236}">
                  <a16:creationId xmlns:a16="http://schemas.microsoft.com/office/drawing/2014/main" id="{1F0623B0-B366-3726-28B5-EC3405D1B9BF}"/>
                </a:ext>
              </a:extLst>
            </p:cNvPr>
            <p:cNvCxnSpPr>
              <a:cxnSpLocks/>
            </p:cNvCxnSpPr>
            <p:nvPr/>
          </p:nvCxnSpPr>
          <p:spPr>
            <a:xfrm>
              <a:off x="6331419" y="5445198"/>
              <a:ext cx="476327" cy="0"/>
            </a:xfrm>
            <a:prstGeom prst="line">
              <a:avLst/>
            </a:prstGeom>
            <a:ln w="63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80" name="直接连接符 2279">
              <a:extLst>
                <a:ext uri="{FF2B5EF4-FFF2-40B4-BE49-F238E27FC236}">
                  <a16:creationId xmlns:a16="http://schemas.microsoft.com/office/drawing/2014/main" id="{3CA154A8-D81D-3F84-BD29-5F4C81D1B490}"/>
                </a:ext>
              </a:extLst>
            </p:cNvPr>
            <p:cNvCxnSpPr>
              <a:cxnSpLocks/>
            </p:cNvCxnSpPr>
            <p:nvPr/>
          </p:nvCxnSpPr>
          <p:spPr>
            <a:xfrm>
              <a:off x="6804873" y="5356800"/>
              <a:ext cx="0" cy="89316"/>
            </a:xfrm>
            <a:prstGeom prst="line">
              <a:avLst/>
            </a:prstGeom>
            <a:ln w="6350">
              <a:solidFill>
                <a:srgbClr val="FFC000"/>
              </a:solidFill>
            </a:ln>
          </p:spPr>
          <p:style>
            <a:lnRef idx="1">
              <a:schemeClr val="accent1"/>
            </a:lnRef>
            <a:fillRef idx="0">
              <a:schemeClr val="accent1"/>
            </a:fillRef>
            <a:effectRef idx="0">
              <a:schemeClr val="accent1"/>
            </a:effectRef>
            <a:fontRef idx="minor">
              <a:schemeClr val="tx1"/>
            </a:fontRef>
          </p:style>
        </p:cxnSp>
        <p:sp>
          <p:nvSpPr>
            <p:cNvPr id="2282" name="矩形 2281">
              <a:extLst>
                <a:ext uri="{FF2B5EF4-FFF2-40B4-BE49-F238E27FC236}">
                  <a16:creationId xmlns:a16="http://schemas.microsoft.com/office/drawing/2014/main" id="{C4CB0141-DC23-7B97-F507-DDBF687B0693}"/>
                </a:ext>
              </a:extLst>
            </p:cNvPr>
            <p:cNvSpPr/>
            <p:nvPr/>
          </p:nvSpPr>
          <p:spPr>
            <a:xfrm>
              <a:off x="6769328" y="5237672"/>
              <a:ext cx="196913" cy="119558"/>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86" name="文本框 2285">
              <a:extLst>
                <a:ext uri="{FF2B5EF4-FFF2-40B4-BE49-F238E27FC236}">
                  <a16:creationId xmlns:a16="http://schemas.microsoft.com/office/drawing/2014/main" id="{C4F3FA20-ED2F-D8A3-57F6-9D5CAF9BE563}"/>
                </a:ext>
              </a:extLst>
            </p:cNvPr>
            <p:cNvSpPr txBox="1"/>
            <p:nvPr/>
          </p:nvSpPr>
          <p:spPr>
            <a:xfrm>
              <a:off x="6635783" y="4858874"/>
              <a:ext cx="1048633" cy="431368"/>
            </a:xfrm>
            <a:prstGeom prst="rect">
              <a:avLst/>
            </a:prstGeom>
            <a:ln w="6350">
              <a:noFill/>
              <a:miter lim="800000"/>
            </a:ln>
          </p:spPr>
          <p:txBody>
            <a:bodyPr vert="horz" wrap="square" lIns="0" tIns="0" rIns="0" bIns="0" rtlCol="0" anchor="ctr">
              <a:noAutofit/>
            </a:bodyPr>
            <a:lstStyle/>
            <a:p>
              <a:pPr algn="ctr">
                <a:spcBef>
                  <a:spcPts val="300"/>
                </a:spcBef>
                <a:spcAft>
                  <a:spcPts val="300"/>
                </a:spcAft>
              </a:pPr>
              <a:r>
                <a:rPr kumimoji="1" lang="zh-CN" altLang="en-US" sz="1400" dirty="0">
                  <a:solidFill>
                    <a:schemeClr val="accent6">
                      <a:lumMod val="10000"/>
                    </a:schemeClr>
                  </a:solidFill>
                  <a:cs typeface="+mn-ea"/>
                  <a:sym typeface="+mn-lt"/>
                </a:rPr>
                <a:t>光引擎：</a:t>
              </a:r>
              <a:r>
                <a:rPr kumimoji="1" lang="en-US" altLang="zh-CN" sz="1400" dirty="0">
                  <a:solidFill>
                    <a:schemeClr val="accent6">
                      <a:lumMod val="10000"/>
                    </a:schemeClr>
                  </a:solidFill>
                  <a:cs typeface="+mn-ea"/>
                  <a:sym typeface="+mn-lt"/>
                </a:rPr>
                <a:t>7W</a:t>
              </a:r>
            </a:p>
          </p:txBody>
        </p:sp>
        <p:cxnSp>
          <p:nvCxnSpPr>
            <p:cNvPr id="2293" name="直接连接符 2292">
              <a:extLst>
                <a:ext uri="{FF2B5EF4-FFF2-40B4-BE49-F238E27FC236}">
                  <a16:creationId xmlns:a16="http://schemas.microsoft.com/office/drawing/2014/main" id="{9A251054-255C-BF2D-077F-658927E18F9F}"/>
                </a:ext>
              </a:extLst>
            </p:cNvPr>
            <p:cNvCxnSpPr>
              <a:cxnSpLocks/>
            </p:cNvCxnSpPr>
            <p:nvPr/>
          </p:nvCxnSpPr>
          <p:spPr>
            <a:xfrm>
              <a:off x="6964908" y="5304656"/>
              <a:ext cx="358775" cy="0"/>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95" name="直接连接符 2294">
              <a:extLst>
                <a:ext uri="{FF2B5EF4-FFF2-40B4-BE49-F238E27FC236}">
                  <a16:creationId xmlns:a16="http://schemas.microsoft.com/office/drawing/2014/main" id="{AEA847F6-D574-A430-6A5E-507518DBE31D}"/>
                </a:ext>
              </a:extLst>
            </p:cNvPr>
            <p:cNvCxnSpPr>
              <a:cxnSpLocks/>
            </p:cNvCxnSpPr>
            <p:nvPr/>
          </p:nvCxnSpPr>
          <p:spPr>
            <a:xfrm>
              <a:off x="7320508" y="5297530"/>
              <a:ext cx="0" cy="252240"/>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sp>
          <p:nvSpPr>
            <p:cNvPr id="2297" name="矩形 2296">
              <a:extLst>
                <a:ext uri="{FF2B5EF4-FFF2-40B4-BE49-F238E27FC236}">
                  <a16:creationId xmlns:a16="http://schemas.microsoft.com/office/drawing/2014/main" id="{BDDD23E1-A576-068D-5EFB-FB8F2DF60D2E}"/>
                </a:ext>
              </a:extLst>
            </p:cNvPr>
            <p:cNvSpPr/>
            <p:nvPr/>
          </p:nvSpPr>
          <p:spPr>
            <a:xfrm>
              <a:off x="8166810" y="5521456"/>
              <a:ext cx="238490" cy="49612"/>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 name="连接符: 肘形 3">
              <a:extLst>
                <a:ext uri="{FF2B5EF4-FFF2-40B4-BE49-F238E27FC236}">
                  <a16:creationId xmlns:a16="http://schemas.microsoft.com/office/drawing/2014/main" id="{39F46A2D-EB35-B179-00C5-9AC49FE23C20}"/>
                </a:ext>
              </a:extLst>
            </p:cNvPr>
            <p:cNvCxnSpPr>
              <a:cxnSpLocks/>
              <a:stCxn id="2208" idx="2"/>
              <a:endCxn id="2282" idx="0"/>
            </p:cNvCxnSpPr>
            <p:nvPr/>
          </p:nvCxnSpPr>
          <p:spPr>
            <a:xfrm rot="5400000">
              <a:off x="6792859" y="3751618"/>
              <a:ext cx="1560981" cy="1411127"/>
            </a:xfrm>
            <a:prstGeom prst="bentConnector3">
              <a:avLst>
                <a:gd name="adj1" fmla="val 50000"/>
              </a:avLst>
            </a:prstGeom>
            <a:ln w="9525">
              <a:solidFill>
                <a:srgbClr val="0052D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FEE17CA1-B873-58C8-C886-BEDAF753562F}"/>
                </a:ext>
              </a:extLst>
            </p:cNvPr>
            <p:cNvSpPr/>
            <p:nvPr/>
          </p:nvSpPr>
          <p:spPr>
            <a:xfrm>
              <a:off x="8004102" y="3553862"/>
              <a:ext cx="163588" cy="1228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45" name="椭圆 2244">
              <a:extLst>
                <a:ext uri="{FF2B5EF4-FFF2-40B4-BE49-F238E27FC236}">
                  <a16:creationId xmlns:a16="http://schemas.microsoft.com/office/drawing/2014/main" id="{493B989A-0BAA-46CC-573B-65C09D39CF00}"/>
                </a:ext>
              </a:extLst>
            </p:cNvPr>
            <p:cNvSpPr/>
            <p:nvPr/>
          </p:nvSpPr>
          <p:spPr>
            <a:xfrm>
              <a:off x="8286097" y="3675867"/>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46" name="椭圆 2245">
              <a:extLst>
                <a:ext uri="{FF2B5EF4-FFF2-40B4-BE49-F238E27FC236}">
                  <a16:creationId xmlns:a16="http://schemas.microsoft.com/office/drawing/2014/main" id="{8E212FC6-BB78-F14B-0660-4327A0CDE51F}"/>
                </a:ext>
              </a:extLst>
            </p:cNvPr>
            <p:cNvSpPr/>
            <p:nvPr/>
          </p:nvSpPr>
          <p:spPr>
            <a:xfrm>
              <a:off x="8204368" y="3676691"/>
              <a:ext cx="51782" cy="51782"/>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247" name="直接连接符 2246">
              <a:extLst>
                <a:ext uri="{FF2B5EF4-FFF2-40B4-BE49-F238E27FC236}">
                  <a16:creationId xmlns:a16="http://schemas.microsoft.com/office/drawing/2014/main" id="{4BEC45EB-6ECD-9D67-10A7-2909C80F2BCA}"/>
                </a:ext>
              </a:extLst>
            </p:cNvPr>
            <p:cNvCxnSpPr>
              <a:cxnSpLocks/>
            </p:cNvCxnSpPr>
            <p:nvPr/>
          </p:nvCxnSpPr>
          <p:spPr>
            <a:xfrm>
              <a:off x="8123238" y="3752339"/>
              <a:ext cx="110037" cy="0"/>
            </a:xfrm>
            <a:prstGeom prst="line">
              <a:avLst/>
            </a:prstGeom>
            <a:ln w="63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71" name="直接连接符 2270">
              <a:extLst>
                <a:ext uri="{FF2B5EF4-FFF2-40B4-BE49-F238E27FC236}">
                  <a16:creationId xmlns:a16="http://schemas.microsoft.com/office/drawing/2014/main" id="{7F730EB3-8D5A-9C97-39B7-82D20ADC53BE}"/>
                </a:ext>
              </a:extLst>
            </p:cNvPr>
            <p:cNvCxnSpPr>
              <a:cxnSpLocks/>
            </p:cNvCxnSpPr>
            <p:nvPr/>
          </p:nvCxnSpPr>
          <p:spPr>
            <a:xfrm>
              <a:off x="8233275" y="3680720"/>
              <a:ext cx="0" cy="71254"/>
            </a:xfrm>
            <a:prstGeom prst="line">
              <a:avLst/>
            </a:prstGeom>
            <a:ln w="63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87" name="直接连接符 2286">
              <a:extLst>
                <a:ext uri="{FF2B5EF4-FFF2-40B4-BE49-F238E27FC236}">
                  <a16:creationId xmlns:a16="http://schemas.microsoft.com/office/drawing/2014/main" id="{69F62410-1C97-AD9E-0107-EDC00361AFA5}"/>
                </a:ext>
              </a:extLst>
            </p:cNvPr>
            <p:cNvCxnSpPr>
              <a:cxnSpLocks/>
            </p:cNvCxnSpPr>
            <p:nvPr/>
          </p:nvCxnSpPr>
          <p:spPr>
            <a:xfrm>
              <a:off x="8126913" y="3681969"/>
              <a:ext cx="0" cy="71254"/>
            </a:xfrm>
            <a:prstGeom prst="line">
              <a:avLst/>
            </a:prstGeom>
            <a:ln w="63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303" name="直接箭头连接符 2302">
              <a:extLst>
                <a:ext uri="{FF2B5EF4-FFF2-40B4-BE49-F238E27FC236}">
                  <a16:creationId xmlns:a16="http://schemas.microsoft.com/office/drawing/2014/main" id="{BC55CDD2-E772-C35E-78E6-6D89D2399390}"/>
                </a:ext>
              </a:extLst>
            </p:cNvPr>
            <p:cNvCxnSpPr>
              <a:cxnSpLocks/>
            </p:cNvCxnSpPr>
            <p:nvPr/>
          </p:nvCxnSpPr>
          <p:spPr>
            <a:xfrm>
              <a:off x="8275502" y="4453404"/>
              <a:ext cx="0" cy="1014936"/>
            </a:xfrm>
            <a:prstGeom prst="straightConnector1">
              <a:avLst/>
            </a:prstGeom>
            <a:ln w="9525">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D834DDFF-3CD2-B224-D30A-9AAF270E7E99}"/>
              </a:ext>
            </a:extLst>
          </p:cNvPr>
          <p:cNvGrpSpPr/>
          <p:nvPr/>
        </p:nvGrpSpPr>
        <p:grpSpPr>
          <a:xfrm>
            <a:off x="3021878" y="2264950"/>
            <a:ext cx="4498799" cy="3469687"/>
            <a:chOff x="9988296" y="2105163"/>
            <a:chExt cx="4498799" cy="3469687"/>
          </a:xfrm>
        </p:grpSpPr>
        <p:sp>
          <p:nvSpPr>
            <p:cNvPr id="2309" name="文本框 2308">
              <a:extLst>
                <a:ext uri="{FF2B5EF4-FFF2-40B4-BE49-F238E27FC236}">
                  <a16:creationId xmlns:a16="http://schemas.microsoft.com/office/drawing/2014/main" id="{9BFF16ED-879E-1FC6-ED92-D21BE2559398}"/>
                </a:ext>
              </a:extLst>
            </p:cNvPr>
            <p:cNvSpPr txBox="1"/>
            <p:nvPr/>
          </p:nvSpPr>
          <p:spPr>
            <a:xfrm>
              <a:off x="9995556" y="3406643"/>
              <a:ext cx="2787650" cy="307777"/>
            </a:xfrm>
            <a:prstGeom prst="rect">
              <a:avLst/>
            </a:prstGeom>
            <a:noFill/>
          </p:spPr>
          <p:txBody>
            <a:bodyPr wrap="square" rtlCol="0" anchor="ctr">
              <a:spAutoFit/>
            </a:bodyPr>
            <a:lstStyle/>
            <a:p>
              <a:r>
                <a:rPr lang="en-US" altLang="zh-CN" sz="1400" b="1" dirty="0">
                  <a:solidFill>
                    <a:srgbClr val="0052D9"/>
                  </a:solidFill>
                  <a:cs typeface="+mn-ea"/>
                  <a:sym typeface="+mn-lt"/>
                </a:rPr>
                <a:t>1.6T</a:t>
              </a:r>
              <a:r>
                <a:rPr lang="en-US" altLang="zh-CN" sz="1400" dirty="0">
                  <a:solidFill>
                    <a:srgbClr val="0052D9"/>
                  </a:solidFill>
                  <a:cs typeface="+mn-ea"/>
                  <a:sym typeface="+mn-lt"/>
                </a:rPr>
                <a:t>bps</a:t>
              </a:r>
              <a:endParaRPr lang="zh-CN" altLang="zh-CN" sz="1400" dirty="0">
                <a:solidFill>
                  <a:srgbClr val="0052D9"/>
                </a:solidFill>
                <a:cs typeface="+mn-ea"/>
                <a:sym typeface="+mn-lt"/>
              </a:endParaRPr>
            </a:p>
          </p:txBody>
        </p:sp>
        <p:sp>
          <p:nvSpPr>
            <p:cNvPr id="2311" name="文本框 2310">
              <a:extLst>
                <a:ext uri="{FF2B5EF4-FFF2-40B4-BE49-F238E27FC236}">
                  <a16:creationId xmlns:a16="http://schemas.microsoft.com/office/drawing/2014/main" id="{2EEC16A6-73A6-E0A5-1CE1-A674984BCEDC}"/>
                </a:ext>
              </a:extLst>
            </p:cNvPr>
            <p:cNvSpPr txBox="1"/>
            <p:nvPr/>
          </p:nvSpPr>
          <p:spPr>
            <a:xfrm>
              <a:off x="10013520" y="2105163"/>
              <a:ext cx="4473575" cy="431368"/>
            </a:xfrm>
            <a:prstGeom prst="rect">
              <a:avLst/>
            </a:prstGeom>
            <a:ln w="6350">
              <a:noFill/>
              <a:miter lim="800000"/>
            </a:ln>
          </p:spPr>
          <p:txBody>
            <a:bodyPr vert="horz" wrap="square" lIns="0" tIns="0" rIns="0" bIns="0" rtlCol="0" anchor="ctr">
              <a:noAutofit/>
            </a:bodyPr>
            <a:lstStyle/>
            <a:p>
              <a:pPr algn="l">
                <a:spcBef>
                  <a:spcPts val="300"/>
                </a:spcBef>
                <a:spcAft>
                  <a:spcPts val="300"/>
                </a:spcAft>
              </a:pPr>
              <a:r>
                <a:rPr kumimoji="1" lang="zh-CN" altLang="en-US" sz="1400" b="1" dirty="0">
                  <a:solidFill>
                    <a:schemeClr val="accent6">
                      <a:lumMod val="10000"/>
                    </a:schemeClr>
                  </a:solidFill>
                  <a:cs typeface="+mn-ea"/>
                  <a:sym typeface="+mn-lt"/>
                </a:rPr>
                <a:t>速率上限</a:t>
              </a:r>
              <a:endParaRPr kumimoji="1" lang="en-US" altLang="zh-CN" sz="1400" dirty="0">
                <a:solidFill>
                  <a:schemeClr val="accent6">
                    <a:lumMod val="10000"/>
                  </a:schemeClr>
                </a:solidFill>
                <a:cs typeface="+mn-ea"/>
                <a:sym typeface="+mn-lt"/>
              </a:endParaRPr>
            </a:p>
          </p:txBody>
        </p:sp>
        <p:sp>
          <p:nvSpPr>
            <p:cNvPr id="2312" name="文本框 2311">
              <a:extLst>
                <a:ext uri="{FF2B5EF4-FFF2-40B4-BE49-F238E27FC236}">
                  <a16:creationId xmlns:a16="http://schemas.microsoft.com/office/drawing/2014/main" id="{B0B135FA-6390-57F1-3CDF-853F2745AFFE}"/>
                </a:ext>
              </a:extLst>
            </p:cNvPr>
            <p:cNvSpPr txBox="1"/>
            <p:nvPr/>
          </p:nvSpPr>
          <p:spPr>
            <a:xfrm>
              <a:off x="9988296" y="5267073"/>
              <a:ext cx="2787650" cy="307777"/>
            </a:xfrm>
            <a:prstGeom prst="rect">
              <a:avLst/>
            </a:prstGeom>
            <a:noFill/>
          </p:spPr>
          <p:txBody>
            <a:bodyPr wrap="square" rtlCol="0">
              <a:spAutoFit/>
            </a:bodyPr>
            <a:lstStyle/>
            <a:p>
              <a:r>
                <a:rPr lang="en-US" altLang="zh-CN" sz="1400" b="1" dirty="0">
                  <a:solidFill>
                    <a:srgbClr val="0052D9"/>
                  </a:solidFill>
                  <a:cs typeface="+mn-ea"/>
                  <a:sym typeface="+mn-lt"/>
                </a:rPr>
                <a:t>6.4T</a:t>
              </a:r>
              <a:r>
                <a:rPr lang="en-US" altLang="zh-CN" sz="1400" dirty="0">
                  <a:solidFill>
                    <a:srgbClr val="0052D9"/>
                  </a:solidFill>
                  <a:cs typeface="+mn-ea"/>
                  <a:sym typeface="+mn-lt"/>
                </a:rPr>
                <a:t>bps</a:t>
              </a:r>
              <a:endParaRPr lang="zh-CN" altLang="zh-CN" sz="1400" dirty="0">
                <a:solidFill>
                  <a:srgbClr val="0052D9"/>
                </a:solidFill>
                <a:cs typeface="+mn-ea"/>
                <a:sym typeface="+mn-lt"/>
              </a:endParaRPr>
            </a:p>
          </p:txBody>
        </p:sp>
      </p:grpSp>
      <p:grpSp>
        <p:nvGrpSpPr>
          <p:cNvPr id="7" name="组合 6">
            <a:extLst>
              <a:ext uri="{FF2B5EF4-FFF2-40B4-BE49-F238E27FC236}">
                <a16:creationId xmlns:a16="http://schemas.microsoft.com/office/drawing/2014/main" id="{A74FC330-9EC7-3610-2E02-3B7500EC9A6B}"/>
              </a:ext>
            </a:extLst>
          </p:cNvPr>
          <p:cNvGrpSpPr/>
          <p:nvPr/>
        </p:nvGrpSpPr>
        <p:grpSpPr>
          <a:xfrm>
            <a:off x="1904153" y="2264950"/>
            <a:ext cx="4498799" cy="3469687"/>
            <a:chOff x="9988296" y="2105163"/>
            <a:chExt cx="4498799" cy="3469687"/>
          </a:xfrm>
        </p:grpSpPr>
        <p:sp>
          <p:nvSpPr>
            <p:cNvPr id="8" name="文本框 7">
              <a:extLst>
                <a:ext uri="{FF2B5EF4-FFF2-40B4-BE49-F238E27FC236}">
                  <a16:creationId xmlns:a16="http://schemas.microsoft.com/office/drawing/2014/main" id="{369FE1A6-9A83-C9EE-0A19-B32C608D75C8}"/>
                </a:ext>
              </a:extLst>
            </p:cNvPr>
            <p:cNvSpPr txBox="1"/>
            <p:nvPr/>
          </p:nvSpPr>
          <p:spPr>
            <a:xfrm>
              <a:off x="9995556" y="3406643"/>
              <a:ext cx="2787650" cy="307777"/>
            </a:xfrm>
            <a:prstGeom prst="rect">
              <a:avLst/>
            </a:prstGeom>
            <a:noFill/>
          </p:spPr>
          <p:txBody>
            <a:bodyPr wrap="square" rtlCol="0" anchor="ctr">
              <a:spAutoFit/>
            </a:bodyPr>
            <a:lstStyle/>
            <a:p>
              <a:r>
                <a:rPr lang="en-US" altLang="zh-CN" sz="1400" b="1" dirty="0">
                  <a:solidFill>
                    <a:srgbClr val="0052D9"/>
                  </a:solidFill>
                  <a:cs typeface="+mn-ea"/>
                  <a:sym typeface="+mn-lt"/>
                </a:rPr>
                <a:t>22db</a:t>
              </a:r>
              <a:endParaRPr lang="zh-CN" altLang="zh-CN" sz="1400" dirty="0">
                <a:solidFill>
                  <a:srgbClr val="0052D9"/>
                </a:solidFill>
                <a:cs typeface="+mn-ea"/>
                <a:sym typeface="+mn-lt"/>
              </a:endParaRPr>
            </a:p>
          </p:txBody>
        </p:sp>
        <p:sp>
          <p:nvSpPr>
            <p:cNvPr id="9" name="文本框 8">
              <a:extLst>
                <a:ext uri="{FF2B5EF4-FFF2-40B4-BE49-F238E27FC236}">
                  <a16:creationId xmlns:a16="http://schemas.microsoft.com/office/drawing/2014/main" id="{3CD45E0C-5835-16E7-8E9C-4B9E7B8184C7}"/>
                </a:ext>
              </a:extLst>
            </p:cNvPr>
            <p:cNvSpPr txBox="1"/>
            <p:nvPr/>
          </p:nvSpPr>
          <p:spPr>
            <a:xfrm>
              <a:off x="10013520" y="2105163"/>
              <a:ext cx="4473575" cy="431368"/>
            </a:xfrm>
            <a:prstGeom prst="rect">
              <a:avLst/>
            </a:prstGeom>
            <a:ln w="6350">
              <a:noFill/>
              <a:miter lim="800000"/>
            </a:ln>
          </p:spPr>
          <p:txBody>
            <a:bodyPr vert="horz" wrap="square" lIns="0" tIns="0" rIns="0" bIns="0" rtlCol="0" anchor="ctr">
              <a:noAutofit/>
            </a:bodyPr>
            <a:lstStyle/>
            <a:p>
              <a:pPr algn="l">
                <a:spcBef>
                  <a:spcPts val="300"/>
                </a:spcBef>
                <a:spcAft>
                  <a:spcPts val="300"/>
                </a:spcAft>
              </a:pPr>
              <a:r>
                <a:rPr kumimoji="1" lang="zh-CN" altLang="en-US" sz="1400" b="1" dirty="0">
                  <a:solidFill>
                    <a:schemeClr val="accent6">
                      <a:lumMod val="10000"/>
                    </a:schemeClr>
                  </a:solidFill>
                  <a:cs typeface="+mn-ea"/>
                  <a:sym typeface="+mn-lt"/>
                </a:rPr>
                <a:t>信息损耗</a:t>
              </a:r>
              <a:endParaRPr kumimoji="1" lang="en-US" altLang="zh-CN" sz="1400" dirty="0">
                <a:solidFill>
                  <a:schemeClr val="accent6">
                    <a:lumMod val="10000"/>
                  </a:schemeClr>
                </a:solidFill>
                <a:cs typeface="+mn-ea"/>
                <a:sym typeface="+mn-lt"/>
              </a:endParaRPr>
            </a:p>
          </p:txBody>
        </p:sp>
        <p:sp>
          <p:nvSpPr>
            <p:cNvPr id="10" name="文本框 9">
              <a:extLst>
                <a:ext uri="{FF2B5EF4-FFF2-40B4-BE49-F238E27FC236}">
                  <a16:creationId xmlns:a16="http://schemas.microsoft.com/office/drawing/2014/main" id="{0E13A0C2-8BD5-F282-EBFF-1DC4047516D9}"/>
                </a:ext>
              </a:extLst>
            </p:cNvPr>
            <p:cNvSpPr txBox="1"/>
            <p:nvPr/>
          </p:nvSpPr>
          <p:spPr>
            <a:xfrm>
              <a:off x="9988296" y="5267073"/>
              <a:ext cx="2787650" cy="307777"/>
            </a:xfrm>
            <a:prstGeom prst="rect">
              <a:avLst/>
            </a:prstGeom>
            <a:noFill/>
          </p:spPr>
          <p:txBody>
            <a:bodyPr wrap="square" rtlCol="0">
              <a:spAutoFit/>
            </a:bodyPr>
            <a:lstStyle/>
            <a:p>
              <a:r>
                <a:rPr lang="en-US" altLang="zh-CN" sz="1400" b="1" dirty="0">
                  <a:solidFill>
                    <a:srgbClr val="0052D9"/>
                  </a:solidFill>
                  <a:cs typeface="+mn-ea"/>
                  <a:sym typeface="+mn-lt"/>
                </a:rPr>
                <a:t>4db</a:t>
              </a:r>
              <a:endParaRPr lang="zh-CN" altLang="zh-CN" sz="1400" dirty="0">
                <a:solidFill>
                  <a:srgbClr val="0052D9"/>
                </a:solidFill>
                <a:cs typeface="+mn-ea"/>
                <a:sym typeface="+mn-lt"/>
              </a:endParaRPr>
            </a:p>
          </p:txBody>
        </p:sp>
      </p:grpSp>
      <p:sp>
        <p:nvSpPr>
          <p:cNvPr id="2298" name="文本框 2297">
            <a:extLst>
              <a:ext uri="{FF2B5EF4-FFF2-40B4-BE49-F238E27FC236}">
                <a16:creationId xmlns:a16="http://schemas.microsoft.com/office/drawing/2014/main" id="{8B14412C-8E71-205E-8FA7-B63D453D35BB}"/>
              </a:ext>
            </a:extLst>
          </p:cNvPr>
          <p:cNvSpPr txBox="1"/>
          <p:nvPr/>
        </p:nvSpPr>
        <p:spPr>
          <a:xfrm>
            <a:off x="9121267" y="3557251"/>
            <a:ext cx="4473575" cy="431368"/>
          </a:xfrm>
          <a:prstGeom prst="rect">
            <a:avLst/>
          </a:prstGeom>
          <a:ln w="6350">
            <a:noFill/>
            <a:miter lim="800000"/>
          </a:ln>
        </p:spPr>
        <p:txBody>
          <a:bodyPr vert="horz" wrap="square" lIns="0" tIns="0" rIns="0" bIns="0" rtlCol="0" anchor="ctr">
            <a:noAutofit/>
          </a:bodyPr>
          <a:lstStyle/>
          <a:p>
            <a:pPr algn="l">
              <a:spcBef>
                <a:spcPts val="300"/>
              </a:spcBef>
              <a:spcAft>
                <a:spcPts val="300"/>
              </a:spcAft>
            </a:pPr>
            <a:r>
              <a:rPr kumimoji="1" lang="en-US" altLang="zh-CN" sz="1400" b="1" dirty="0">
                <a:solidFill>
                  <a:srgbClr val="0052D9"/>
                </a:solidFill>
                <a:cs typeface="+mn-ea"/>
                <a:sym typeface="+mn-lt"/>
              </a:rPr>
              <a:t>6-8cm</a:t>
            </a:r>
            <a:endParaRPr kumimoji="1" lang="en-US" altLang="zh-CN" sz="1400" dirty="0">
              <a:solidFill>
                <a:srgbClr val="0052D9"/>
              </a:solidFill>
              <a:cs typeface="+mn-ea"/>
              <a:sym typeface="+mn-lt"/>
            </a:endParaRPr>
          </a:p>
        </p:txBody>
      </p:sp>
      <p:sp>
        <p:nvSpPr>
          <p:cNvPr id="2299" name="文本框 2298">
            <a:extLst>
              <a:ext uri="{FF2B5EF4-FFF2-40B4-BE49-F238E27FC236}">
                <a16:creationId xmlns:a16="http://schemas.microsoft.com/office/drawing/2014/main" id="{C86EDA3F-A26D-6D57-4D34-AC56A675EC72}"/>
              </a:ext>
            </a:extLst>
          </p:cNvPr>
          <p:cNvSpPr txBox="1"/>
          <p:nvPr/>
        </p:nvSpPr>
        <p:spPr>
          <a:xfrm>
            <a:off x="8253802" y="5468218"/>
            <a:ext cx="4473575" cy="431368"/>
          </a:xfrm>
          <a:prstGeom prst="rect">
            <a:avLst/>
          </a:prstGeom>
          <a:ln w="6350">
            <a:noFill/>
            <a:miter lim="800000"/>
          </a:ln>
        </p:spPr>
        <p:txBody>
          <a:bodyPr vert="horz" wrap="square" lIns="0" tIns="0" rIns="0" bIns="0" rtlCol="0" anchor="ctr">
            <a:noAutofit/>
          </a:bodyPr>
          <a:lstStyle/>
          <a:p>
            <a:pPr algn="l">
              <a:spcBef>
                <a:spcPts val="300"/>
              </a:spcBef>
              <a:spcAft>
                <a:spcPts val="300"/>
              </a:spcAft>
            </a:pPr>
            <a:r>
              <a:rPr kumimoji="1" lang="en-US" altLang="zh-CN" sz="1050" b="1" dirty="0">
                <a:solidFill>
                  <a:schemeClr val="bg1"/>
                </a:solidFill>
                <a:cs typeface="+mn-ea"/>
                <a:sym typeface="+mn-lt"/>
              </a:rPr>
              <a:t> &lt;1mm</a:t>
            </a:r>
            <a:endParaRPr kumimoji="1" lang="en-US" altLang="zh-CN" sz="1050" dirty="0">
              <a:solidFill>
                <a:schemeClr val="bg1"/>
              </a:solidFill>
              <a:cs typeface="+mn-ea"/>
              <a:sym typeface="+mn-lt"/>
            </a:endParaRPr>
          </a:p>
        </p:txBody>
      </p:sp>
    </p:spTree>
    <p:extLst>
      <p:ext uri="{BB962C8B-B14F-4D97-AF65-F5344CB8AC3E}">
        <p14:creationId xmlns:p14="http://schemas.microsoft.com/office/powerpoint/2010/main" val="1487205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 name="think-cell data - do not delete" hidden="1">
            <a:extLst>
              <a:ext uri="{FF2B5EF4-FFF2-40B4-BE49-F238E27FC236}">
                <a16:creationId xmlns:a16="http://schemas.microsoft.com/office/drawing/2014/main" id="{9626425B-D7C9-EE32-8B7E-F896A973C6F5}"/>
              </a:ext>
            </a:extLst>
          </p:cNvPr>
          <p:cNvGraphicFramePr>
            <a:graphicFrameLocks noChangeAspect="1"/>
          </p:cNvGraphicFramePr>
          <p:nvPr>
            <p:custDataLst>
              <p:tags r:id="rId1"/>
            </p:custDataLst>
            <p:extLst>
              <p:ext uri="{D42A27DB-BD31-4B8C-83A1-F6EECF244321}">
                <p14:modId xmlns:p14="http://schemas.microsoft.com/office/powerpoint/2010/main" val="26611083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8" imgW="401" imgH="401" progId="TCLayout.ActiveDocument.1">
                  <p:embed/>
                </p:oleObj>
              </mc:Choice>
              <mc:Fallback>
                <p:oleObj name="think-cell 幻灯片" r:id="rId8" imgW="401" imgH="401" progId="TCLayout.ActiveDocument.1">
                  <p:embed/>
                  <p:pic>
                    <p:nvPicPr>
                      <p:cNvPr id="0" name=""/>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04" name="文本框 203">
            <a:extLst>
              <a:ext uri="{FF2B5EF4-FFF2-40B4-BE49-F238E27FC236}">
                <a16:creationId xmlns:a16="http://schemas.microsoft.com/office/drawing/2014/main" id="{41918CB3-DEB4-5CEB-E499-F3AD8D4AE173}"/>
              </a:ext>
            </a:extLst>
          </p:cNvPr>
          <p:cNvSpPr txBox="1"/>
          <p:nvPr/>
        </p:nvSpPr>
        <p:spPr>
          <a:xfrm>
            <a:off x="6346824" y="3080458"/>
            <a:ext cx="4257675" cy="269709"/>
          </a:xfrm>
          <a:prstGeom prst="rect">
            <a:avLst/>
          </a:prstGeom>
          <a:ln w="6350">
            <a:noFill/>
            <a:miter lim="800000"/>
          </a:ln>
        </p:spPr>
        <p:txBody>
          <a:bodyPr vert="horz" wrap="square" lIns="0" tIns="0" rIns="0" bIns="0" rtlCol="0">
            <a:noAutofit/>
          </a:bodyPr>
          <a:lstStyle/>
          <a:p>
            <a:pPr algn="l">
              <a:spcBef>
                <a:spcPts val="300"/>
              </a:spcBef>
              <a:spcAft>
                <a:spcPts val="300"/>
              </a:spcAft>
            </a:pPr>
            <a:r>
              <a:rPr kumimoji="1" lang="zh-CN" altLang="en-US" sz="1400" b="1" dirty="0">
                <a:solidFill>
                  <a:schemeClr val="tx1">
                    <a:lumMod val="50000"/>
                  </a:schemeClr>
                </a:solidFill>
                <a:cs typeface="+mn-ea"/>
                <a:sym typeface="+mn-lt"/>
              </a:rPr>
              <a:t>巨头大力布局：</a:t>
            </a:r>
            <a:r>
              <a:rPr kumimoji="1" lang="en-US" altLang="zh-CN" sz="1400" dirty="0">
                <a:solidFill>
                  <a:schemeClr val="tx1">
                    <a:lumMod val="50000"/>
                  </a:schemeClr>
                </a:solidFill>
                <a:cs typeface="+mn-ea"/>
                <a:sym typeface="+mn-lt"/>
              </a:rPr>
              <a:t>CPO</a:t>
            </a:r>
            <a:r>
              <a:rPr kumimoji="1" lang="zh-CN" altLang="en-US" sz="1400" dirty="0">
                <a:solidFill>
                  <a:schemeClr val="tx1">
                    <a:lumMod val="50000"/>
                  </a:schemeClr>
                </a:solidFill>
                <a:cs typeface="+mn-ea"/>
                <a:sym typeface="+mn-lt"/>
              </a:rPr>
              <a:t>为新一代互连技术中</a:t>
            </a:r>
            <a:r>
              <a:rPr kumimoji="1" lang="zh-CN" altLang="en-US" sz="1400" u="sng" dirty="0">
                <a:solidFill>
                  <a:schemeClr val="tx1">
                    <a:lumMod val="50000"/>
                  </a:schemeClr>
                </a:solidFill>
                <a:cs typeface="+mn-ea"/>
                <a:sym typeface="+mn-lt"/>
              </a:rPr>
              <a:t>最易商业化落地</a:t>
            </a:r>
            <a:r>
              <a:rPr kumimoji="1" lang="zh-CN" altLang="en-US" sz="1400" dirty="0">
                <a:solidFill>
                  <a:schemeClr val="tx1">
                    <a:lumMod val="50000"/>
                  </a:schemeClr>
                </a:solidFill>
                <a:cs typeface="+mn-ea"/>
                <a:sym typeface="+mn-lt"/>
              </a:rPr>
              <a:t>的路径</a:t>
            </a:r>
            <a:endParaRPr kumimoji="1" lang="en-US" altLang="zh-CN" sz="1400" dirty="0">
              <a:solidFill>
                <a:schemeClr val="tx1">
                  <a:lumMod val="50000"/>
                </a:schemeClr>
              </a:solidFill>
              <a:cs typeface="+mn-ea"/>
              <a:sym typeface="+mn-lt"/>
            </a:endParaRPr>
          </a:p>
          <a:p>
            <a:pPr marL="182563" indent="-182563" algn="l">
              <a:spcBef>
                <a:spcPts val="300"/>
              </a:spcBef>
              <a:spcAft>
                <a:spcPts val="300"/>
              </a:spcAft>
              <a:buFont typeface="Arial" panose="020B0604020202020204" pitchFamily="34" charset="0"/>
              <a:buChar char="•"/>
            </a:pPr>
            <a:endParaRPr kumimoji="1" lang="en-US" altLang="zh-CN" sz="1400" dirty="0">
              <a:solidFill>
                <a:schemeClr val="tx1">
                  <a:lumMod val="50000"/>
                </a:schemeClr>
              </a:solidFill>
              <a:cs typeface="+mn-ea"/>
              <a:sym typeface="+mn-lt"/>
            </a:endParaRPr>
          </a:p>
        </p:txBody>
      </p:sp>
      <p:sp>
        <p:nvSpPr>
          <p:cNvPr id="2" name="标题 1">
            <a:extLst>
              <a:ext uri="{FF2B5EF4-FFF2-40B4-BE49-F238E27FC236}">
                <a16:creationId xmlns:a16="http://schemas.microsoft.com/office/drawing/2014/main" id="{572F8DDA-EA12-3D19-91E3-EB0B2B9B9A8C}"/>
              </a:ext>
            </a:extLst>
          </p:cNvPr>
          <p:cNvSpPr>
            <a:spLocks noGrp="1"/>
          </p:cNvSpPr>
          <p:nvPr>
            <p:ph type="title"/>
          </p:nvPr>
        </p:nvSpPr>
        <p:spPr>
          <a:xfrm>
            <a:off x="263545" y="89860"/>
            <a:ext cx="10071100" cy="731520"/>
          </a:xfrm>
        </p:spPr>
        <p:txBody>
          <a:bodyPr vert="horz"/>
          <a:lstStyle/>
          <a:p>
            <a:r>
              <a:rPr lang="zh-CN" altLang="en-US" dirty="0">
                <a:latin typeface="+mn-lt"/>
                <a:ea typeface="+mn-ea"/>
                <a:cs typeface="+mn-ea"/>
                <a:sym typeface="+mn-lt"/>
              </a:rPr>
              <a:t>可插拔仍为主流，</a:t>
            </a:r>
            <a:r>
              <a:rPr lang="en-US" altLang="zh-CN" dirty="0">
                <a:latin typeface="+mn-lt"/>
                <a:ea typeface="+mn-ea"/>
                <a:cs typeface="+mn-ea"/>
                <a:sym typeface="+mn-lt"/>
              </a:rPr>
              <a:t>CPO</a:t>
            </a:r>
            <a:r>
              <a:rPr lang="zh-CN" altLang="en-US" dirty="0">
                <a:latin typeface="+mn-lt"/>
                <a:ea typeface="+mn-ea"/>
                <a:cs typeface="+mn-ea"/>
              </a:rPr>
              <a:t>成</a:t>
            </a:r>
            <a:r>
              <a:rPr lang="zh-CN" altLang="en-US" dirty="0">
                <a:latin typeface="+mn-lt"/>
                <a:ea typeface="+mn-ea"/>
                <a:cs typeface="+mn-ea"/>
                <a:sym typeface="+mn-lt"/>
              </a:rPr>
              <a:t>巨头</a:t>
            </a:r>
            <a:r>
              <a:rPr lang="zh-CN" altLang="en-US" dirty="0">
                <a:latin typeface="+mn-lt"/>
                <a:ea typeface="+mn-ea"/>
                <a:cs typeface="+mn-ea"/>
              </a:rPr>
              <a:t>前瞻布局焦点</a:t>
            </a:r>
            <a:endParaRPr lang="zh-CN" altLang="en-US" dirty="0">
              <a:latin typeface="+mn-lt"/>
              <a:ea typeface="+mn-ea"/>
              <a:cs typeface="+mn-ea"/>
              <a:sym typeface="+mn-lt"/>
            </a:endParaRPr>
          </a:p>
        </p:txBody>
      </p:sp>
      <p:sp>
        <p:nvSpPr>
          <p:cNvPr id="4" name="文本框 3">
            <a:extLst>
              <a:ext uri="{FF2B5EF4-FFF2-40B4-BE49-F238E27FC236}">
                <a16:creationId xmlns:a16="http://schemas.microsoft.com/office/drawing/2014/main" id="{579D3A06-0ACF-F28E-498D-9892DB459C5F}"/>
              </a:ext>
            </a:extLst>
          </p:cNvPr>
          <p:cNvSpPr txBox="1"/>
          <p:nvPr/>
        </p:nvSpPr>
        <p:spPr>
          <a:xfrm>
            <a:off x="645018" y="3098880"/>
            <a:ext cx="994569" cy="1402000"/>
          </a:xfrm>
          <a:prstGeom prst="rect">
            <a:avLst/>
          </a:prstGeom>
          <a:solidFill>
            <a:schemeClr val="tx2">
              <a:lumMod val="95000"/>
            </a:schemeClr>
          </a:solidFill>
          <a:ln w="6350">
            <a:noFill/>
            <a:miter lim="800000"/>
          </a:ln>
        </p:spPr>
        <p:txBody>
          <a:bodyPr vert="horz" wrap="square" lIns="0" tIns="0" rIns="0" bIns="0" rtlCol="0" anchor="ctr">
            <a:noAutofit/>
          </a:bodyPr>
          <a:lstStyle/>
          <a:p>
            <a:pPr algn="ctr">
              <a:buNone/>
            </a:pPr>
            <a:r>
              <a:rPr kumimoji="1" lang="zh-CN" altLang="en-US" sz="1400" b="1" dirty="0">
                <a:solidFill>
                  <a:schemeClr val="tx1">
                    <a:lumMod val="50000"/>
                  </a:schemeClr>
                </a:solidFill>
                <a:cs typeface="+mn-ea"/>
                <a:sym typeface="+mn-lt"/>
              </a:rPr>
              <a:t>代表厂商</a:t>
            </a:r>
            <a:r>
              <a:rPr kumimoji="1" lang="en-US" altLang="zh-CN" sz="1400" b="1" baseline="30000" dirty="0">
                <a:solidFill>
                  <a:schemeClr val="tx1">
                    <a:lumMod val="50000"/>
                  </a:schemeClr>
                </a:solidFill>
                <a:cs typeface="+mn-ea"/>
                <a:sym typeface="+mn-lt"/>
              </a:rPr>
              <a:t>2</a:t>
            </a:r>
          </a:p>
        </p:txBody>
      </p:sp>
      <p:cxnSp>
        <p:nvCxnSpPr>
          <p:cNvPr id="34" name="直线连接符 8">
            <a:extLst>
              <a:ext uri="{FF2B5EF4-FFF2-40B4-BE49-F238E27FC236}">
                <a16:creationId xmlns:a16="http://schemas.microsoft.com/office/drawing/2014/main" id="{92D521B5-6713-18DC-5E72-62681B8FE3A0}"/>
              </a:ext>
            </a:extLst>
          </p:cNvPr>
          <p:cNvCxnSpPr>
            <a:cxnSpLocks/>
          </p:cNvCxnSpPr>
          <p:nvPr/>
        </p:nvCxnSpPr>
        <p:spPr>
          <a:xfrm>
            <a:off x="1771776" y="2956049"/>
            <a:ext cx="9289032" cy="0"/>
          </a:xfrm>
          <a:prstGeom prst="line">
            <a:avLst/>
          </a:prstGeom>
          <a:ln w="6350" cap="flat">
            <a:solidFill>
              <a:schemeClr val="tx1"/>
            </a:solidFill>
            <a:prstDash val="lgDash"/>
            <a:miter lim="800000"/>
            <a:tailEnd type="none"/>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EBBC2B9E-B668-8E6A-1BD4-C77FE175657E}"/>
              </a:ext>
            </a:extLst>
          </p:cNvPr>
          <p:cNvGrpSpPr/>
          <p:nvPr/>
        </p:nvGrpSpPr>
        <p:grpSpPr>
          <a:xfrm>
            <a:off x="6432550" y="752031"/>
            <a:ext cx="4628258" cy="443738"/>
            <a:chOff x="3873011" y="995866"/>
            <a:chExt cx="2534139" cy="443738"/>
          </a:xfrm>
        </p:grpSpPr>
        <p:cxnSp>
          <p:nvCxnSpPr>
            <p:cNvPr id="42" name="直线连接符 34">
              <a:extLst>
                <a:ext uri="{FF2B5EF4-FFF2-40B4-BE49-F238E27FC236}">
                  <a16:creationId xmlns:a16="http://schemas.microsoft.com/office/drawing/2014/main" id="{92AE7B20-0E62-6537-08C9-4B4B44AD472D}"/>
                </a:ext>
              </a:extLst>
            </p:cNvPr>
            <p:cNvCxnSpPr>
              <a:cxnSpLocks/>
            </p:cNvCxnSpPr>
            <p:nvPr/>
          </p:nvCxnSpPr>
          <p:spPr>
            <a:xfrm>
              <a:off x="3873011" y="1439604"/>
              <a:ext cx="2534138"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60F05AC7-7CFD-0E60-3FDD-2CCEFB3069E8}"/>
                </a:ext>
              </a:extLst>
            </p:cNvPr>
            <p:cNvSpPr txBox="1"/>
            <p:nvPr/>
          </p:nvSpPr>
          <p:spPr>
            <a:xfrm>
              <a:off x="3873012" y="995866"/>
              <a:ext cx="2534138" cy="431368"/>
            </a:xfrm>
            <a:prstGeom prst="rect">
              <a:avLst/>
            </a:prstGeom>
            <a:ln w="6350">
              <a:noFill/>
              <a:miter lim="800000"/>
            </a:ln>
          </p:spPr>
          <p:txBody>
            <a:bodyPr vert="horz" wrap="square" lIns="0" tIns="0" rIns="0" bIns="0" rtlCol="0" anchor="ctr">
              <a:noAutofit/>
            </a:bodyPr>
            <a:lstStyle/>
            <a:p>
              <a:pPr algn="l">
                <a:spcBef>
                  <a:spcPts val="300"/>
                </a:spcBef>
                <a:spcAft>
                  <a:spcPts val="300"/>
                </a:spcAft>
              </a:pPr>
              <a:r>
                <a:rPr kumimoji="1" lang="en-US" altLang="zh-CN" sz="1400" b="1" dirty="0">
                  <a:solidFill>
                    <a:schemeClr val="accent6">
                      <a:lumMod val="10000"/>
                    </a:schemeClr>
                  </a:solidFill>
                  <a:cs typeface="+mn-ea"/>
                  <a:sym typeface="+mn-lt"/>
                </a:rPr>
                <a:t>CPO (Co-Packaged Optics)</a:t>
              </a:r>
            </a:p>
          </p:txBody>
        </p:sp>
      </p:grpSp>
      <p:sp>
        <p:nvSpPr>
          <p:cNvPr id="13" name="文本框 12">
            <a:extLst>
              <a:ext uri="{FF2B5EF4-FFF2-40B4-BE49-F238E27FC236}">
                <a16:creationId xmlns:a16="http://schemas.microsoft.com/office/drawing/2014/main" id="{67FCE8F0-C0FA-ED7F-35BA-13284730F1B9}"/>
              </a:ext>
            </a:extLst>
          </p:cNvPr>
          <p:cNvSpPr txBox="1"/>
          <p:nvPr/>
        </p:nvSpPr>
        <p:spPr>
          <a:xfrm>
            <a:off x="641350" y="1778000"/>
            <a:ext cx="994569" cy="393700"/>
          </a:xfrm>
          <a:prstGeom prst="rect">
            <a:avLst/>
          </a:prstGeom>
          <a:solidFill>
            <a:schemeClr val="tx2">
              <a:lumMod val="95000"/>
            </a:schemeClr>
          </a:solidFill>
          <a:ln w="6350">
            <a:noFill/>
            <a:miter lim="800000"/>
          </a:ln>
        </p:spPr>
        <p:txBody>
          <a:bodyPr vert="horz" wrap="square" lIns="0" tIns="0" rIns="0" bIns="0" rtlCol="0" anchor="ctr">
            <a:noAutofit/>
          </a:bodyPr>
          <a:lstStyle/>
          <a:p>
            <a:pPr algn="ctr">
              <a:buNone/>
            </a:pPr>
            <a:r>
              <a:rPr kumimoji="1" lang="zh-CN" altLang="en-US" sz="1400" b="1" dirty="0">
                <a:solidFill>
                  <a:schemeClr val="tx1">
                    <a:lumMod val="50000"/>
                  </a:schemeClr>
                </a:solidFill>
                <a:cs typeface="+mn-ea"/>
                <a:sym typeface="+mn-lt"/>
              </a:rPr>
              <a:t>速率</a:t>
            </a:r>
          </a:p>
        </p:txBody>
      </p:sp>
      <p:grpSp>
        <p:nvGrpSpPr>
          <p:cNvPr id="28" name="组合 27">
            <a:extLst>
              <a:ext uri="{FF2B5EF4-FFF2-40B4-BE49-F238E27FC236}">
                <a16:creationId xmlns:a16="http://schemas.microsoft.com/office/drawing/2014/main" id="{EE681432-B156-18D5-9791-25EED3A08238}"/>
              </a:ext>
            </a:extLst>
          </p:cNvPr>
          <p:cNvGrpSpPr/>
          <p:nvPr/>
        </p:nvGrpSpPr>
        <p:grpSpPr>
          <a:xfrm>
            <a:off x="1801815" y="754741"/>
            <a:ext cx="4294185" cy="443738"/>
            <a:chOff x="460392" y="999954"/>
            <a:chExt cx="3180162" cy="443738"/>
          </a:xfrm>
        </p:grpSpPr>
        <p:cxnSp>
          <p:nvCxnSpPr>
            <p:cNvPr id="21" name="直线连接符 30">
              <a:extLst>
                <a:ext uri="{FF2B5EF4-FFF2-40B4-BE49-F238E27FC236}">
                  <a16:creationId xmlns:a16="http://schemas.microsoft.com/office/drawing/2014/main" id="{B94178F3-BFE6-A703-1A8A-61441D44CFC8}"/>
                </a:ext>
              </a:extLst>
            </p:cNvPr>
            <p:cNvCxnSpPr>
              <a:cxnSpLocks/>
            </p:cNvCxnSpPr>
            <p:nvPr/>
          </p:nvCxnSpPr>
          <p:spPr>
            <a:xfrm>
              <a:off x="460392" y="1443692"/>
              <a:ext cx="3179997"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6106B15-6C9C-84DA-206F-D5D5E3E5D02F}"/>
                </a:ext>
              </a:extLst>
            </p:cNvPr>
            <p:cNvSpPr txBox="1"/>
            <p:nvPr/>
          </p:nvSpPr>
          <p:spPr>
            <a:xfrm>
              <a:off x="460963" y="999954"/>
              <a:ext cx="3179591" cy="431368"/>
            </a:xfrm>
            <a:prstGeom prst="rect">
              <a:avLst/>
            </a:prstGeom>
            <a:ln w="6350">
              <a:noFill/>
              <a:miter lim="800000"/>
            </a:ln>
          </p:spPr>
          <p:txBody>
            <a:bodyPr vert="horz" wrap="square" lIns="0" tIns="0" rIns="0" bIns="0" rtlCol="0" anchor="ctr">
              <a:noAutofit/>
            </a:bodyPr>
            <a:lstStyle/>
            <a:p>
              <a:pPr>
                <a:spcBef>
                  <a:spcPts val="300"/>
                </a:spcBef>
                <a:spcAft>
                  <a:spcPts val="300"/>
                </a:spcAft>
              </a:pPr>
              <a:r>
                <a:rPr kumimoji="1" lang="en-US" altLang="zh-CN" sz="1400" b="1" dirty="0">
                  <a:solidFill>
                    <a:schemeClr val="accent6">
                      <a:lumMod val="10000"/>
                    </a:schemeClr>
                  </a:solidFill>
                  <a:cs typeface="+mn-ea"/>
                  <a:sym typeface="+mn-lt"/>
                </a:rPr>
                <a:t>PO</a:t>
              </a:r>
              <a:r>
                <a:rPr kumimoji="1" lang="en-US" altLang="zh-CN" sz="1400" b="1" dirty="0">
                  <a:solidFill>
                    <a:srgbClr val="0052D9"/>
                  </a:solidFill>
                  <a:cs typeface="+mn-ea"/>
                  <a:sym typeface="+mn-lt"/>
                </a:rPr>
                <a:t> </a:t>
              </a:r>
              <a:r>
                <a:rPr kumimoji="1" lang="en-US" altLang="zh-CN" sz="1400" b="1" dirty="0">
                  <a:solidFill>
                    <a:schemeClr val="accent6">
                      <a:lumMod val="10000"/>
                    </a:schemeClr>
                  </a:solidFill>
                  <a:cs typeface="+mn-ea"/>
                  <a:sym typeface="+mn-lt"/>
                </a:rPr>
                <a:t>(</a:t>
              </a:r>
              <a:r>
                <a:rPr lang="en-US" altLang="zh-CN" sz="1400" b="1" dirty="0">
                  <a:solidFill>
                    <a:schemeClr val="accent6">
                      <a:lumMod val="10000"/>
                    </a:schemeClr>
                  </a:solidFill>
                  <a:cs typeface="+mn-ea"/>
                  <a:sym typeface="+mn-lt"/>
                </a:rPr>
                <a:t>Pluggable Optics)</a:t>
              </a:r>
              <a:endParaRPr kumimoji="1" lang="en-US" altLang="zh-CN" sz="1400" b="1" dirty="0">
                <a:solidFill>
                  <a:schemeClr val="tx1">
                    <a:lumMod val="50000"/>
                  </a:schemeClr>
                </a:solidFill>
                <a:cs typeface="+mn-ea"/>
                <a:sym typeface="+mn-lt"/>
              </a:endParaRPr>
            </a:p>
          </p:txBody>
        </p:sp>
      </p:grpSp>
      <p:sp>
        <p:nvSpPr>
          <p:cNvPr id="32" name="文本框 31">
            <a:extLst>
              <a:ext uri="{FF2B5EF4-FFF2-40B4-BE49-F238E27FC236}">
                <a16:creationId xmlns:a16="http://schemas.microsoft.com/office/drawing/2014/main" id="{5B542C07-6CD8-95C9-8173-DEEE32527E6E}"/>
              </a:ext>
            </a:extLst>
          </p:cNvPr>
          <p:cNvSpPr txBox="1"/>
          <p:nvPr/>
        </p:nvSpPr>
        <p:spPr>
          <a:xfrm>
            <a:off x="2195513" y="1833563"/>
            <a:ext cx="2787650" cy="306388"/>
          </a:xfrm>
          <a:prstGeom prst="rect">
            <a:avLst/>
          </a:prstGeom>
          <a:noFill/>
        </p:spPr>
        <p:txBody>
          <a:bodyPr wrap="square" rtlCol="0" anchor="ctr">
            <a:spAutoFit/>
          </a:bodyPr>
          <a:lstStyle/>
          <a:p>
            <a:r>
              <a:rPr lang="zh-CN" altLang="en-US" sz="1400" dirty="0">
                <a:solidFill>
                  <a:schemeClr val="accent6">
                    <a:lumMod val="10000"/>
                  </a:schemeClr>
                </a:solidFill>
                <a:cs typeface="+mn-ea"/>
                <a:sym typeface="+mn-lt"/>
              </a:rPr>
              <a:t>中：</a:t>
            </a:r>
            <a:r>
              <a:rPr lang="en-US" altLang="zh-CN" sz="1400" b="1" dirty="0">
                <a:solidFill>
                  <a:srgbClr val="0052D9"/>
                </a:solidFill>
                <a:cs typeface="+mn-ea"/>
                <a:sym typeface="+mn-lt"/>
              </a:rPr>
              <a:t>1.6T</a:t>
            </a:r>
            <a:r>
              <a:rPr lang="en-US" altLang="zh-CN" sz="1400" dirty="0">
                <a:solidFill>
                  <a:srgbClr val="0052D9"/>
                </a:solidFill>
                <a:cs typeface="+mn-ea"/>
                <a:sym typeface="+mn-lt"/>
              </a:rPr>
              <a:t>bps</a:t>
            </a:r>
            <a:r>
              <a:rPr lang="zh-CN" altLang="en-US" sz="1400" dirty="0">
                <a:solidFill>
                  <a:srgbClr val="0052D9"/>
                </a:solidFill>
                <a:cs typeface="+mn-ea"/>
                <a:sym typeface="+mn-lt"/>
              </a:rPr>
              <a:t> </a:t>
            </a:r>
            <a:r>
              <a:rPr lang="en-US" altLang="zh-CN" sz="1400" dirty="0">
                <a:solidFill>
                  <a:srgbClr val="0052D9"/>
                </a:solidFill>
                <a:cs typeface="+mn-ea"/>
                <a:sym typeface="+mn-lt"/>
              </a:rPr>
              <a:t>(2025)</a:t>
            </a:r>
            <a:endParaRPr lang="zh-CN" altLang="zh-CN" sz="1400" dirty="0">
              <a:solidFill>
                <a:srgbClr val="0052D9"/>
              </a:solidFill>
              <a:cs typeface="+mn-ea"/>
              <a:sym typeface="+mn-lt"/>
            </a:endParaRPr>
          </a:p>
        </p:txBody>
      </p:sp>
      <p:sp>
        <p:nvSpPr>
          <p:cNvPr id="63" name="椭圆 62">
            <a:extLst>
              <a:ext uri="{FF2B5EF4-FFF2-40B4-BE49-F238E27FC236}">
                <a16:creationId xmlns:a16="http://schemas.microsoft.com/office/drawing/2014/main" id="{B12BFE29-888F-9E49-4EC1-44B14D6925BA}"/>
              </a:ext>
            </a:extLst>
          </p:cNvPr>
          <p:cNvSpPr/>
          <p:nvPr>
            <p:custDataLst>
              <p:tags r:id="rId2"/>
            </p:custDataLst>
          </p:nvPr>
        </p:nvSpPr>
        <p:spPr bwMode="auto">
          <a:xfrm>
            <a:off x="1917701" y="1873250"/>
            <a:ext cx="187325" cy="187325"/>
          </a:xfrm>
          <a:prstGeom prst="ellipse">
            <a:avLst/>
          </a:prstGeom>
          <a:solidFill>
            <a:schemeClr val="bg1"/>
          </a:solidFill>
          <a:ln w="9525" cap="sq" cmpd="sng">
            <a:solidFill>
              <a:srgbClr val="4D4D4D"/>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300"/>
              </a:spcBef>
              <a:spcAft>
                <a:spcPts val="300"/>
              </a:spcAft>
            </a:pPr>
            <a:endParaRPr kumimoji="1" lang="zh-CN" altLang="en-US" sz="1600" dirty="0" err="1">
              <a:solidFill>
                <a:schemeClr val="bg1"/>
              </a:solidFill>
              <a:cs typeface="+mn-ea"/>
              <a:sym typeface="+mn-lt"/>
            </a:endParaRPr>
          </a:p>
        </p:txBody>
      </p:sp>
      <p:sp>
        <p:nvSpPr>
          <p:cNvPr id="64" name="弧 155">
            <a:extLst>
              <a:ext uri="{FF2B5EF4-FFF2-40B4-BE49-F238E27FC236}">
                <a16:creationId xmlns:a16="http://schemas.microsoft.com/office/drawing/2014/main" id="{2951776E-1A62-A9CD-5D1E-9DF41ED6A0AA}"/>
              </a:ext>
            </a:extLst>
          </p:cNvPr>
          <p:cNvSpPr/>
          <p:nvPr>
            <p:custDataLst>
              <p:tags r:id="rId3"/>
            </p:custDataLst>
          </p:nvPr>
        </p:nvSpPr>
        <p:spPr bwMode="gray">
          <a:xfrm>
            <a:off x="1917701" y="1873250"/>
            <a:ext cx="187324" cy="187324"/>
          </a:xfrm>
          <a:prstGeom prst="arc">
            <a:avLst>
              <a:gd name="adj1" fmla="val 16200000"/>
              <a:gd name="adj2" fmla="val 5400000"/>
            </a:avLst>
          </a:prstGeom>
          <a:solidFill>
            <a:schemeClr val="accent1"/>
          </a:solidFill>
          <a:ln w="9525" cap="flat" cmpd="sng" algn="ctr">
            <a:solidFill>
              <a:srgbClr val="4D4D4D"/>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cs typeface="+mn-ea"/>
              <a:sym typeface="+mn-lt"/>
            </a:endParaRPr>
          </a:p>
        </p:txBody>
      </p:sp>
      <p:sp>
        <p:nvSpPr>
          <p:cNvPr id="65" name="文本框 64">
            <a:extLst>
              <a:ext uri="{FF2B5EF4-FFF2-40B4-BE49-F238E27FC236}">
                <a16:creationId xmlns:a16="http://schemas.microsoft.com/office/drawing/2014/main" id="{0693F763-3501-ECBC-5DAA-878A02914201}"/>
              </a:ext>
            </a:extLst>
          </p:cNvPr>
          <p:cNvSpPr txBox="1"/>
          <p:nvPr/>
        </p:nvSpPr>
        <p:spPr>
          <a:xfrm>
            <a:off x="6710363" y="1814513"/>
            <a:ext cx="2787650" cy="307975"/>
          </a:xfrm>
          <a:prstGeom prst="rect">
            <a:avLst/>
          </a:prstGeom>
          <a:noFill/>
        </p:spPr>
        <p:txBody>
          <a:bodyPr wrap="square" rtlCol="0">
            <a:spAutoFit/>
          </a:bodyPr>
          <a:lstStyle/>
          <a:p>
            <a:r>
              <a:rPr lang="zh-CN" altLang="en-US" sz="1400" dirty="0">
                <a:solidFill>
                  <a:schemeClr val="accent6">
                    <a:lumMod val="10000"/>
                  </a:schemeClr>
                </a:solidFill>
                <a:cs typeface="+mn-ea"/>
                <a:sym typeface="+mn-lt"/>
              </a:rPr>
              <a:t>高：</a:t>
            </a:r>
            <a:r>
              <a:rPr lang="en-US" altLang="zh-CN" sz="1400" b="1" dirty="0">
                <a:solidFill>
                  <a:srgbClr val="0052D9"/>
                </a:solidFill>
                <a:cs typeface="+mn-ea"/>
                <a:sym typeface="+mn-lt"/>
              </a:rPr>
              <a:t>6.4T</a:t>
            </a:r>
            <a:r>
              <a:rPr lang="en-US" altLang="zh-CN" sz="1400" dirty="0">
                <a:solidFill>
                  <a:srgbClr val="0052D9"/>
                </a:solidFill>
                <a:cs typeface="+mn-ea"/>
                <a:sym typeface="+mn-lt"/>
              </a:rPr>
              <a:t>bps (2026)</a:t>
            </a:r>
            <a:endParaRPr lang="zh-CN" altLang="zh-CN" sz="1400" dirty="0">
              <a:solidFill>
                <a:srgbClr val="0052D9"/>
              </a:solidFill>
              <a:cs typeface="+mn-ea"/>
              <a:sym typeface="+mn-lt"/>
            </a:endParaRPr>
          </a:p>
        </p:txBody>
      </p:sp>
      <p:sp>
        <p:nvSpPr>
          <p:cNvPr id="66" name="椭圆 65">
            <a:extLst>
              <a:ext uri="{FF2B5EF4-FFF2-40B4-BE49-F238E27FC236}">
                <a16:creationId xmlns:a16="http://schemas.microsoft.com/office/drawing/2014/main" id="{4F0B813F-32EE-EB79-187C-85AF6F62ABF9}"/>
              </a:ext>
            </a:extLst>
          </p:cNvPr>
          <p:cNvSpPr/>
          <p:nvPr>
            <p:custDataLst>
              <p:tags r:id="rId4"/>
            </p:custDataLst>
          </p:nvPr>
        </p:nvSpPr>
        <p:spPr bwMode="auto">
          <a:xfrm>
            <a:off x="6432550" y="1885950"/>
            <a:ext cx="187325" cy="187325"/>
          </a:xfrm>
          <a:prstGeom prst="ellipse">
            <a:avLst/>
          </a:prstGeom>
          <a:solidFill>
            <a:schemeClr val="bg1"/>
          </a:solidFill>
          <a:ln w="9525" cap="sq" cmpd="sng">
            <a:solidFill>
              <a:srgbClr val="4D4D4D"/>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300"/>
              </a:spcBef>
              <a:spcAft>
                <a:spcPts val="300"/>
              </a:spcAft>
            </a:pPr>
            <a:endParaRPr kumimoji="1" lang="zh-CN" altLang="en-US" sz="1600" dirty="0" err="1">
              <a:solidFill>
                <a:schemeClr val="bg1"/>
              </a:solidFill>
              <a:cs typeface="+mn-ea"/>
              <a:sym typeface="+mn-lt"/>
            </a:endParaRPr>
          </a:p>
        </p:txBody>
      </p:sp>
      <p:sp>
        <p:nvSpPr>
          <p:cNvPr id="78" name="弧 155">
            <a:extLst>
              <a:ext uri="{FF2B5EF4-FFF2-40B4-BE49-F238E27FC236}">
                <a16:creationId xmlns:a16="http://schemas.microsoft.com/office/drawing/2014/main" id="{8979A53B-A0DE-2250-D385-2828F07FC3CF}"/>
              </a:ext>
            </a:extLst>
          </p:cNvPr>
          <p:cNvSpPr/>
          <p:nvPr>
            <p:custDataLst>
              <p:tags r:id="rId5"/>
            </p:custDataLst>
          </p:nvPr>
        </p:nvSpPr>
        <p:spPr bwMode="gray">
          <a:xfrm>
            <a:off x="6432550" y="1885950"/>
            <a:ext cx="187324" cy="187325"/>
          </a:xfrm>
          <a:prstGeom prst="arc">
            <a:avLst>
              <a:gd name="adj1" fmla="val 16200000"/>
              <a:gd name="adj2" fmla="val 5400000"/>
            </a:avLst>
          </a:prstGeom>
          <a:solidFill>
            <a:schemeClr val="accent1"/>
          </a:solidFill>
          <a:ln w="9525" cap="flat" cmpd="sng" algn="ctr">
            <a:solidFill>
              <a:srgbClr val="4D4D4D"/>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cs typeface="+mn-ea"/>
              <a:sym typeface="+mn-lt"/>
            </a:endParaRPr>
          </a:p>
        </p:txBody>
      </p:sp>
      <p:sp>
        <p:nvSpPr>
          <p:cNvPr id="90" name="文本框 89">
            <a:extLst>
              <a:ext uri="{FF2B5EF4-FFF2-40B4-BE49-F238E27FC236}">
                <a16:creationId xmlns:a16="http://schemas.microsoft.com/office/drawing/2014/main" id="{250D9217-0F5D-90E5-5E10-7CC583563E0D}"/>
              </a:ext>
            </a:extLst>
          </p:cNvPr>
          <p:cNvSpPr txBox="1"/>
          <p:nvPr/>
        </p:nvSpPr>
        <p:spPr>
          <a:xfrm>
            <a:off x="641349" y="2355851"/>
            <a:ext cx="994569" cy="485775"/>
          </a:xfrm>
          <a:prstGeom prst="rect">
            <a:avLst/>
          </a:prstGeom>
          <a:solidFill>
            <a:schemeClr val="tx2">
              <a:lumMod val="95000"/>
            </a:schemeClr>
          </a:solidFill>
          <a:ln w="6350">
            <a:noFill/>
            <a:miter lim="800000"/>
          </a:ln>
        </p:spPr>
        <p:txBody>
          <a:bodyPr vert="horz" wrap="square" lIns="0" tIns="0" rIns="0" bIns="0" rtlCol="0" anchor="ctr">
            <a:noAutofit/>
          </a:bodyPr>
          <a:lstStyle/>
          <a:p>
            <a:pPr algn="ctr">
              <a:buNone/>
            </a:pPr>
            <a:r>
              <a:rPr kumimoji="1" lang="zh-CN" altLang="en-US" sz="1400" b="1" dirty="0">
                <a:solidFill>
                  <a:schemeClr val="tx1">
                    <a:lumMod val="50000"/>
                  </a:schemeClr>
                </a:solidFill>
                <a:cs typeface="+mn-ea"/>
                <a:sym typeface="+mn-lt"/>
              </a:rPr>
              <a:t>市场规模</a:t>
            </a:r>
            <a:r>
              <a:rPr kumimoji="1" lang="en-US" altLang="zh-CN" sz="1400" b="1" baseline="30000" dirty="0">
                <a:solidFill>
                  <a:schemeClr val="tx1">
                    <a:lumMod val="50000"/>
                  </a:schemeClr>
                </a:solidFill>
                <a:cs typeface="+mn-ea"/>
                <a:sym typeface="+mn-lt"/>
              </a:rPr>
              <a:t>1</a:t>
            </a:r>
            <a:endParaRPr kumimoji="1" lang="en-US" altLang="zh-CN" sz="1400" b="1" dirty="0">
              <a:solidFill>
                <a:schemeClr val="tx1">
                  <a:lumMod val="50000"/>
                </a:schemeClr>
              </a:solidFill>
              <a:cs typeface="+mn-ea"/>
              <a:sym typeface="+mn-lt"/>
            </a:endParaRPr>
          </a:p>
          <a:p>
            <a:pPr algn="ctr">
              <a:buNone/>
            </a:pPr>
            <a:r>
              <a:rPr kumimoji="1" lang="en-US" altLang="zh-CN" sz="1400" b="1" dirty="0">
                <a:solidFill>
                  <a:schemeClr val="tx1">
                    <a:lumMod val="50000"/>
                  </a:schemeClr>
                </a:solidFill>
                <a:cs typeface="+mn-ea"/>
                <a:sym typeface="+mn-lt"/>
              </a:rPr>
              <a:t>2025E</a:t>
            </a:r>
            <a:endParaRPr kumimoji="1" lang="zh-CN" altLang="en-US" sz="1400" b="1" dirty="0">
              <a:solidFill>
                <a:schemeClr val="tx1">
                  <a:lumMod val="50000"/>
                </a:schemeClr>
              </a:solidFill>
              <a:cs typeface="+mn-ea"/>
              <a:sym typeface="+mn-lt"/>
            </a:endParaRPr>
          </a:p>
        </p:txBody>
      </p:sp>
      <p:sp>
        <p:nvSpPr>
          <p:cNvPr id="91" name="椭圆 90">
            <a:extLst>
              <a:ext uri="{FF2B5EF4-FFF2-40B4-BE49-F238E27FC236}">
                <a16:creationId xmlns:a16="http://schemas.microsoft.com/office/drawing/2014/main" id="{D9609890-EC78-519E-A870-70859BE2F8E7}"/>
              </a:ext>
            </a:extLst>
          </p:cNvPr>
          <p:cNvSpPr/>
          <p:nvPr/>
        </p:nvSpPr>
        <p:spPr>
          <a:xfrm>
            <a:off x="1862260" y="2325688"/>
            <a:ext cx="489413" cy="488950"/>
          </a:xfrm>
          <a:prstGeom prst="ellipse">
            <a:avLst/>
          </a:prstGeom>
          <a:solidFill>
            <a:srgbClr val="0052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cs typeface="+mn-ea"/>
              <a:sym typeface="+mn-lt"/>
            </a:endParaRPr>
          </a:p>
        </p:txBody>
      </p:sp>
      <p:sp>
        <p:nvSpPr>
          <p:cNvPr id="92" name="文本框 91">
            <a:extLst>
              <a:ext uri="{FF2B5EF4-FFF2-40B4-BE49-F238E27FC236}">
                <a16:creationId xmlns:a16="http://schemas.microsoft.com/office/drawing/2014/main" id="{DC51F2BC-C34D-AC29-3F22-0C78B9A2B981}"/>
              </a:ext>
            </a:extLst>
          </p:cNvPr>
          <p:cNvSpPr txBox="1"/>
          <p:nvPr/>
        </p:nvSpPr>
        <p:spPr>
          <a:xfrm>
            <a:off x="2398893" y="2435225"/>
            <a:ext cx="2787650" cy="307975"/>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$10bn</a:t>
            </a:r>
            <a:endParaRPr lang="zh-CN" altLang="zh-CN" sz="1400" dirty="0">
              <a:solidFill>
                <a:srgbClr val="0052D9"/>
              </a:solidFill>
              <a:cs typeface="+mn-ea"/>
              <a:sym typeface="+mn-lt"/>
            </a:endParaRPr>
          </a:p>
        </p:txBody>
      </p:sp>
      <p:grpSp>
        <p:nvGrpSpPr>
          <p:cNvPr id="96" name="组合 95">
            <a:extLst>
              <a:ext uri="{FF2B5EF4-FFF2-40B4-BE49-F238E27FC236}">
                <a16:creationId xmlns:a16="http://schemas.microsoft.com/office/drawing/2014/main" id="{DCF9ED99-140F-0C08-740C-0D6F2007712D}"/>
              </a:ext>
            </a:extLst>
          </p:cNvPr>
          <p:cNvGrpSpPr/>
          <p:nvPr/>
        </p:nvGrpSpPr>
        <p:grpSpPr>
          <a:xfrm>
            <a:off x="6497638" y="2409825"/>
            <a:ext cx="2971800" cy="307975"/>
            <a:chOff x="5410439" y="2582719"/>
            <a:chExt cx="2970624" cy="307777"/>
          </a:xfrm>
        </p:grpSpPr>
        <p:sp>
          <p:nvSpPr>
            <p:cNvPr id="93" name="椭圆 92">
              <a:extLst>
                <a:ext uri="{FF2B5EF4-FFF2-40B4-BE49-F238E27FC236}">
                  <a16:creationId xmlns:a16="http://schemas.microsoft.com/office/drawing/2014/main" id="{176DC493-6BA9-C9D8-1CDB-AB108B52E3F6}"/>
                </a:ext>
              </a:extLst>
            </p:cNvPr>
            <p:cNvSpPr/>
            <p:nvPr/>
          </p:nvSpPr>
          <p:spPr>
            <a:xfrm>
              <a:off x="5410439" y="2702157"/>
              <a:ext cx="100683" cy="100683"/>
            </a:xfrm>
            <a:prstGeom prst="ellipse">
              <a:avLst/>
            </a:prstGeom>
            <a:solidFill>
              <a:srgbClr val="0052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cs typeface="+mn-ea"/>
                <a:sym typeface="+mn-lt"/>
              </a:endParaRPr>
            </a:p>
          </p:txBody>
        </p:sp>
        <p:sp>
          <p:nvSpPr>
            <p:cNvPr id="94" name="文本框 93">
              <a:extLst>
                <a:ext uri="{FF2B5EF4-FFF2-40B4-BE49-F238E27FC236}">
                  <a16:creationId xmlns:a16="http://schemas.microsoft.com/office/drawing/2014/main" id="{9B844F1B-C95E-1A69-4E59-4E369A0B197F}"/>
                </a:ext>
              </a:extLst>
            </p:cNvPr>
            <p:cNvSpPr txBox="1"/>
            <p:nvPr/>
          </p:nvSpPr>
          <p:spPr>
            <a:xfrm>
              <a:off x="5593413" y="2582719"/>
              <a:ext cx="2787650"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$10mn</a:t>
              </a:r>
              <a:r>
                <a:rPr lang="zh-CN" altLang="en-US" sz="1400" dirty="0">
                  <a:solidFill>
                    <a:schemeClr val="accent6">
                      <a:lumMod val="10000"/>
                    </a:schemeClr>
                  </a:solidFill>
                  <a:cs typeface="+mn-ea"/>
                  <a:sym typeface="+mn-lt"/>
                </a:rPr>
                <a:t>级</a:t>
              </a:r>
              <a:endParaRPr lang="zh-CN" altLang="zh-CN" sz="1400" dirty="0">
                <a:solidFill>
                  <a:schemeClr val="accent6">
                    <a:lumMod val="10000"/>
                  </a:schemeClr>
                </a:solidFill>
                <a:cs typeface="+mn-ea"/>
                <a:sym typeface="+mn-lt"/>
              </a:endParaRPr>
            </a:p>
          </p:txBody>
        </p:sp>
      </p:grpSp>
      <p:sp>
        <p:nvSpPr>
          <p:cNvPr id="121" name="文本框 120">
            <a:extLst>
              <a:ext uri="{FF2B5EF4-FFF2-40B4-BE49-F238E27FC236}">
                <a16:creationId xmlns:a16="http://schemas.microsoft.com/office/drawing/2014/main" id="{DCEE26B6-06D0-7BAB-E150-BD9FBA69AC82}"/>
              </a:ext>
            </a:extLst>
          </p:cNvPr>
          <p:cNvSpPr txBox="1"/>
          <p:nvPr/>
        </p:nvSpPr>
        <p:spPr>
          <a:xfrm>
            <a:off x="341334" y="6067152"/>
            <a:ext cx="7396141"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200" i="1" dirty="0">
                <a:solidFill>
                  <a:schemeClr val="tx1">
                    <a:lumMod val="50000"/>
                  </a:schemeClr>
                </a:solidFill>
                <a:cs typeface="+mn-ea"/>
                <a:sym typeface="+mn-lt"/>
              </a:rPr>
              <a:t>Source:</a:t>
            </a:r>
            <a:r>
              <a:rPr kumimoji="1" lang="zh-CN" altLang="en-US" sz="1200" i="1" dirty="0">
                <a:solidFill>
                  <a:schemeClr val="tx1">
                    <a:lumMod val="50000"/>
                  </a:schemeClr>
                </a:solidFill>
                <a:cs typeface="+mn-ea"/>
                <a:sym typeface="+mn-lt"/>
              </a:rPr>
              <a:t> </a:t>
            </a:r>
            <a:r>
              <a:rPr kumimoji="1" lang="en-US" altLang="zh-CN" sz="1200" i="1" dirty="0">
                <a:solidFill>
                  <a:schemeClr val="tx1">
                    <a:lumMod val="50000"/>
                  </a:schemeClr>
                </a:solidFill>
                <a:cs typeface="+mn-ea"/>
                <a:sym typeface="+mn-lt"/>
              </a:rPr>
              <a:t>TSMC</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Insight Partners</a:t>
            </a:r>
            <a:r>
              <a:rPr kumimoji="1" lang="zh-CN" altLang="en-US" sz="1200" i="1" dirty="0">
                <a:solidFill>
                  <a:schemeClr val="tx1">
                    <a:lumMod val="50000"/>
                  </a:schemeClr>
                </a:solidFill>
                <a:cs typeface="+mn-ea"/>
                <a:sym typeface="+mn-lt"/>
              </a:rPr>
              <a:t>、</a:t>
            </a:r>
            <a:r>
              <a:rPr kumimoji="1" lang="en-US" altLang="zh-CN" sz="1200" i="1" dirty="0" err="1">
                <a:solidFill>
                  <a:schemeClr val="tx1">
                    <a:lumMod val="50000"/>
                  </a:schemeClr>
                </a:solidFill>
                <a:cs typeface="+mn-ea"/>
                <a:sym typeface="+mn-lt"/>
              </a:rPr>
              <a:t>QYResearch</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Morgan Stanly</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 </a:t>
            </a:r>
            <a:r>
              <a:rPr kumimoji="1" lang="en-US" altLang="zh-CN" sz="1200" i="1" dirty="0" err="1">
                <a:solidFill>
                  <a:schemeClr val="tx1">
                    <a:lumMod val="50000"/>
                  </a:schemeClr>
                </a:solidFill>
                <a:cs typeface="+mn-ea"/>
                <a:sym typeface="+mn-lt"/>
              </a:rPr>
              <a:t>LightCounting</a:t>
            </a:r>
            <a:endParaRPr kumimoji="1" lang="en-US" altLang="zh-CN" sz="1200" i="1" dirty="0">
              <a:solidFill>
                <a:schemeClr val="tx1">
                  <a:lumMod val="50000"/>
                </a:schemeClr>
              </a:solidFill>
              <a:cs typeface="+mn-ea"/>
              <a:sym typeface="+mn-lt"/>
            </a:endParaRPr>
          </a:p>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PO</a:t>
            </a:r>
            <a:r>
              <a:rPr kumimoji="1" lang="zh-CN" altLang="en-US" sz="1200" i="1" dirty="0">
                <a:solidFill>
                  <a:schemeClr val="tx1">
                    <a:lumMod val="50000"/>
                  </a:schemeClr>
                </a:solidFill>
                <a:cs typeface="+mn-ea"/>
                <a:sym typeface="+mn-lt"/>
              </a:rPr>
              <a:t>规模来自</a:t>
            </a:r>
            <a:r>
              <a:rPr kumimoji="1" lang="en-US" altLang="zh-CN" sz="1200" i="1" dirty="0" err="1">
                <a:solidFill>
                  <a:schemeClr val="tx1">
                    <a:lumMod val="50000"/>
                  </a:schemeClr>
                </a:solidFill>
                <a:cs typeface="+mn-ea"/>
                <a:sym typeface="+mn-lt"/>
              </a:rPr>
              <a:t>LightCounting</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CPO</a:t>
            </a:r>
            <a:r>
              <a:rPr kumimoji="1" lang="zh-CN" altLang="en-US" sz="1200" i="1" dirty="0">
                <a:solidFill>
                  <a:schemeClr val="tx1">
                    <a:lumMod val="50000"/>
                  </a:schemeClr>
                </a:solidFill>
                <a:cs typeface="+mn-ea"/>
                <a:sym typeface="+mn-lt"/>
              </a:rPr>
              <a:t>规模来自</a:t>
            </a:r>
            <a:r>
              <a:rPr kumimoji="1" lang="en-US" altLang="zh-CN" sz="1200" i="1" dirty="0">
                <a:solidFill>
                  <a:schemeClr val="tx1">
                    <a:lumMod val="50000"/>
                  </a:schemeClr>
                </a:solidFill>
                <a:cs typeface="+mn-ea"/>
                <a:sym typeface="+mn-lt"/>
              </a:rPr>
              <a:t>Insight Partners</a:t>
            </a:r>
          </a:p>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2</a:t>
            </a:r>
            <a:r>
              <a:rPr kumimoji="1" lang="zh-CN" altLang="en-US" sz="1200" i="1" dirty="0">
                <a:solidFill>
                  <a:schemeClr val="tx1">
                    <a:lumMod val="50000"/>
                  </a:schemeClr>
                </a:solidFill>
                <a:cs typeface="+mn-ea"/>
                <a:sym typeface="+mn-lt"/>
              </a:rPr>
              <a:t>：仅展示赛道中份额最大的公司</a:t>
            </a:r>
          </a:p>
        </p:txBody>
      </p:sp>
      <p:sp>
        <p:nvSpPr>
          <p:cNvPr id="1038" name="文本框 1037">
            <a:extLst>
              <a:ext uri="{FF2B5EF4-FFF2-40B4-BE49-F238E27FC236}">
                <a16:creationId xmlns:a16="http://schemas.microsoft.com/office/drawing/2014/main" id="{BBB42BAE-20BE-6C89-F6AF-EA383B4D26CD}"/>
              </a:ext>
            </a:extLst>
          </p:cNvPr>
          <p:cNvSpPr txBox="1"/>
          <p:nvPr/>
        </p:nvSpPr>
        <p:spPr>
          <a:xfrm>
            <a:off x="1812683" y="3091746"/>
            <a:ext cx="4194417" cy="269709"/>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zh-CN" altLang="en-US" sz="1400" b="1" dirty="0">
                <a:solidFill>
                  <a:schemeClr val="tx1">
                    <a:lumMod val="50000"/>
                  </a:schemeClr>
                </a:solidFill>
                <a:cs typeface="+mn-ea"/>
                <a:sym typeface="+mn-lt"/>
              </a:rPr>
              <a:t>国产优势：</a:t>
            </a:r>
            <a:r>
              <a:rPr kumimoji="1" lang="zh-CN" altLang="en-US" sz="1400" dirty="0">
                <a:solidFill>
                  <a:schemeClr val="tx1">
                    <a:lumMod val="50000"/>
                  </a:schemeClr>
                </a:solidFill>
                <a:cs typeface="+mn-ea"/>
                <a:sym typeface="+mn-lt"/>
              </a:rPr>
              <a:t>高速率产品率先实现技术突破，</a:t>
            </a:r>
            <a:r>
              <a:rPr kumimoji="1" lang="zh-CN" altLang="en-US" sz="1400" u="sng" dirty="0">
                <a:solidFill>
                  <a:schemeClr val="tx1">
                    <a:lumMod val="50000"/>
                  </a:schemeClr>
                </a:solidFill>
                <a:cs typeface="+mn-ea"/>
                <a:sym typeface="+mn-lt"/>
              </a:rPr>
              <a:t>全球前</a:t>
            </a:r>
            <a:r>
              <a:rPr kumimoji="1" lang="en-US" altLang="zh-CN" sz="1400" u="sng" dirty="0">
                <a:solidFill>
                  <a:schemeClr val="tx1">
                    <a:lumMod val="50000"/>
                  </a:schemeClr>
                </a:solidFill>
                <a:cs typeface="+mn-ea"/>
                <a:sym typeface="+mn-lt"/>
              </a:rPr>
              <a:t>10</a:t>
            </a:r>
            <a:r>
              <a:rPr kumimoji="1" lang="zh-CN" altLang="en-US" sz="1400" u="sng" dirty="0">
                <a:solidFill>
                  <a:schemeClr val="tx1">
                    <a:lumMod val="50000"/>
                  </a:schemeClr>
                </a:solidFill>
                <a:cs typeface="+mn-ea"/>
                <a:sym typeface="+mn-lt"/>
              </a:rPr>
              <a:t>大厂商中国占</a:t>
            </a:r>
            <a:r>
              <a:rPr kumimoji="1" lang="en-US" altLang="zh-CN" sz="1400" u="sng" dirty="0">
                <a:solidFill>
                  <a:schemeClr val="tx1">
                    <a:lumMod val="50000"/>
                  </a:schemeClr>
                </a:solidFill>
                <a:cs typeface="+mn-ea"/>
                <a:sym typeface="+mn-lt"/>
              </a:rPr>
              <a:t>7</a:t>
            </a:r>
            <a:r>
              <a:rPr kumimoji="1" lang="zh-CN" altLang="en-US" sz="1400" u="sng" dirty="0">
                <a:solidFill>
                  <a:schemeClr val="tx1">
                    <a:lumMod val="50000"/>
                  </a:schemeClr>
                </a:solidFill>
                <a:cs typeface="+mn-ea"/>
                <a:sym typeface="+mn-lt"/>
              </a:rPr>
              <a:t>成</a:t>
            </a:r>
            <a:endParaRPr kumimoji="1" lang="en-US" altLang="zh-CN" sz="1400" u="sng" dirty="0">
              <a:solidFill>
                <a:schemeClr val="tx1">
                  <a:lumMod val="50000"/>
                </a:schemeClr>
              </a:solidFill>
              <a:cs typeface="+mn-ea"/>
              <a:sym typeface="+mn-lt"/>
            </a:endParaRPr>
          </a:p>
          <a:p>
            <a:pPr marL="182563" indent="-182563" algn="l">
              <a:spcBef>
                <a:spcPts val="300"/>
              </a:spcBef>
              <a:spcAft>
                <a:spcPts val="300"/>
              </a:spcAft>
              <a:buFont typeface="Arial" panose="020B0604020202020204" pitchFamily="34" charset="0"/>
              <a:buChar char="•"/>
            </a:pPr>
            <a:endParaRPr kumimoji="1" lang="en-US" altLang="zh-CN" sz="1400" dirty="0">
              <a:solidFill>
                <a:schemeClr val="tx1">
                  <a:lumMod val="50000"/>
                </a:schemeClr>
              </a:solidFill>
              <a:cs typeface="+mn-ea"/>
              <a:sym typeface="+mn-lt"/>
            </a:endParaRPr>
          </a:p>
        </p:txBody>
      </p:sp>
      <p:sp>
        <p:nvSpPr>
          <p:cNvPr id="1040" name="文本框 1039">
            <a:extLst>
              <a:ext uri="{FF2B5EF4-FFF2-40B4-BE49-F238E27FC236}">
                <a16:creationId xmlns:a16="http://schemas.microsoft.com/office/drawing/2014/main" id="{F0CB0FFF-4911-498F-02C9-998CD487C915}"/>
              </a:ext>
            </a:extLst>
          </p:cNvPr>
          <p:cNvSpPr txBox="1"/>
          <p:nvPr/>
        </p:nvSpPr>
        <p:spPr>
          <a:xfrm>
            <a:off x="641349" y="4830173"/>
            <a:ext cx="994569" cy="1042307"/>
          </a:xfrm>
          <a:prstGeom prst="rect">
            <a:avLst/>
          </a:prstGeom>
          <a:solidFill>
            <a:schemeClr val="tx2">
              <a:lumMod val="95000"/>
            </a:schemeClr>
          </a:solidFill>
          <a:ln w="6350">
            <a:noFill/>
            <a:miter lim="800000"/>
          </a:ln>
        </p:spPr>
        <p:txBody>
          <a:bodyPr vert="horz" wrap="square" lIns="0" tIns="0" rIns="0" bIns="0" rtlCol="0" anchor="ctr">
            <a:noAutofit/>
          </a:bodyPr>
          <a:lstStyle/>
          <a:p>
            <a:pPr algn="ctr">
              <a:buNone/>
            </a:pPr>
            <a:r>
              <a:rPr kumimoji="1" lang="zh-CN" altLang="en-US" sz="1400" b="1" dirty="0">
                <a:solidFill>
                  <a:schemeClr val="tx1">
                    <a:lumMod val="50000"/>
                  </a:schemeClr>
                </a:solidFill>
                <a:cs typeface="+mn-ea"/>
                <a:sym typeface="+mn-lt"/>
              </a:rPr>
              <a:t>代表厂商</a:t>
            </a:r>
            <a:endParaRPr kumimoji="1" lang="en-US" altLang="zh-CN" sz="1400" b="1" dirty="0">
              <a:solidFill>
                <a:schemeClr val="tx1">
                  <a:lumMod val="50000"/>
                </a:schemeClr>
              </a:solidFill>
              <a:cs typeface="+mn-ea"/>
              <a:sym typeface="+mn-lt"/>
            </a:endParaRPr>
          </a:p>
          <a:p>
            <a:pPr algn="ctr">
              <a:buNone/>
            </a:pPr>
            <a:r>
              <a:rPr kumimoji="1" lang="zh-CN" altLang="en-US" sz="1400" b="1" dirty="0">
                <a:solidFill>
                  <a:schemeClr val="tx1">
                    <a:lumMod val="50000"/>
                  </a:schemeClr>
                </a:solidFill>
                <a:cs typeface="+mn-ea"/>
                <a:sym typeface="+mn-lt"/>
              </a:rPr>
              <a:t>最新动向</a:t>
            </a:r>
            <a:endParaRPr kumimoji="1" lang="en-US" altLang="zh-CN" sz="1400" b="1" dirty="0">
              <a:solidFill>
                <a:schemeClr val="tx1">
                  <a:lumMod val="50000"/>
                </a:schemeClr>
              </a:solidFill>
              <a:cs typeface="+mn-ea"/>
              <a:sym typeface="+mn-lt"/>
            </a:endParaRPr>
          </a:p>
        </p:txBody>
      </p:sp>
      <p:pic>
        <p:nvPicPr>
          <p:cNvPr id="1032" name="图片 1031">
            <a:extLst>
              <a:ext uri="{FF2B5EF4-FFF2-40B4-BE49-F238E27FC236}">
                <a16:creationId xmlns:a16="http://schemas.microsoft.com/office/drawing/2014/main" id="{E80FC4DC-6301-6CCA-6ED4-E5673DC32005}"/>
              </a:ext>
            </a:extLst>
          </p:cNvPr>
          <p:cNvPicPr>
            <a:picLocks noChangeAspect="1"/>
          </p:cNvPicPr>
          <p:nvPr/>
        </p:nvPicPr>
        <p:blipFill>
          <a:blip r:embed="rId10"/>
          <a:stretch>
            <a:fillRect/>
          </a:stretch>
        </p:blipFill>
        <p:spPr>
          <a:xfrm>
            <a:off x="5123157" y="3632771"/>
            <a:ext cx="602198" cy="216791"/>
          </a:xfrm>
          <a:prstGeom prst="rect">
            <a:avLst/>
          </a:prstGeom>
        </p:spPr>
      </p:pic>
      <p:pic>
        <p:nvPicPr>
          <p:cNvPr id="1034" name="图片 1033">
            <a:extLst>
              <a:ext uri="{FF2B5EF4-FFF2-40B4-BE49-F238E27FC236}">
                <a16:creationId xmlns:a16="http://schemas.microsoft.com/office/drawing/2014/main" id="{A6A80C89-7F65-CF6B-2A38-CBB3E60D2FFC}"/>
              </a:ext>
            </a:extLst>
          </p:cNvPr>
          <p:cNvPicPr>
            <a:picLocks noChangeAspect="1"/>
          </p:cNvPicPr>
          <p:nvPr/>
        </p:nvPicPr>
        <p:blipFill>
          <a:blip r:embed="rId11"/>
          <a:stretch>
            <a:fillRect/>
          </a:stretch>
        </p:blipFill>
        <p:spPr>
          <a:xfrm>
            <a:off x="1800414" y="3547358"/>
            <a:ext cx="1016581" cy="387617"/>
          </a:xfrm>
          <a:prstGeom prst="rect">
            <a:avLst/>
          </a:prstGeom>
        </p:spPr>
      </p:pic>
      <p:pic>
        <p:nvPicPr>
          <p:cNvPr id="1036" name="图片 1035">
            <a:extLst>
              <a:ext uri="{FF2B5EF4-FFF2-40B4-BE49-F238E27FC236}">
                <a16:creationId xmlns:a16="http://schemas.microsoft.com/office/drawing/2014/main" id="{9C681C13-0730-27E7-2273-5A5FF9D075BC}"/>
              </a:ext>
            </a:extLst>
          </p:cNvPr>
          <p:cNvPicPr>
            <a:picLocks noChangeAspect="1"/>
          </p:cNvPicPr>
          <p:nvPr/>
        </p:nvPicPr>
        <p:blipFill>
          <a:blip r:embed="rId12"/>
          <a:stretch>
            <a:fillRect/>
          </a:stretch>
        </p:blipFill>
        <p:spPr>
          <a:xfrm>
            <a:off x="3487252" y="3624063"/>
            <a:ext cx="965649" cy="234206"/>
          </a:xfrm>
          <a:prstGeom prst="rect">
            <a:avLst/>
          </a:prstGeom>
        </p:spPr>
      </p:pic>
      <p:sp>
        <p:nvSpPr>
          <p:cNvPr id="1042" name="文本框 1041">
            <a:extLst>
              <a:ext uri="{FF2B5EF4-FFF2-40B4-BE49-F238E27FC236}">
                <a16:creationId xmlns:a16="http://schemas.microsoft.com/office/drawing/2014/main" id="{A160CDC6-AB41-4571-C60F-17C58F524AA0}"/>
              </a:ext>
            </a:extLst>
          </p:cNvPr>
          <p:cNvSpPr txBox="1"/>
          <p:nvPr/>
        </p:nvSpPr>
        <p:spPr>
          <a:xfrm>
            <a:off x="3483414" y="4247684"/>
            <a:ext cx="994569" cy="307777"/>
          </a:xfrm>
          <a:prstGeom prst="rect">
            <a:avLst/>
          </a:prstGeom>
          <a:noFill/>
        </p:spPr>
        <p:txBody>
          <a:bodyPr wrap="square" rtlCol="0" anchor="ctr">
            <a:spAutoFit/>
          </a:bodyPr>
          <a:lstStyle/>
          <a:p>
            <a:pPr algn="ctr"/>
            <a:r>
              <a:rPr lang="en-US" altLang="zh-CN" sz="1400" dirty="0">
                <a:solidFill>
                  <a:schemeClr val="accent6">
                    <a:lumMod val="10000"/>
                  </a:schemeClr>
                </a:solidFill>
                <a:cs typeface="+mn-ea"/>
                <a:sym typeface="+mn-lt"/>
              </a:rPr>
              <a:t>CR3: 50%</a:t>
            </a:r>
            <a:endParaRPr lang="zh-CN" altLang="zh-CN" sz="1400" dirty="0">
              <a:solidFill>
                <a:srgbClr val="0052D9"/>
              </a:solidFill>
              <a:cs typeface="+mn-ea"/>
              <a:sym typeface="+mn-lt"/>
            </a:endParaRPr>
          </a:p>
        </p:txBody>
      </p:sp>
      <p:grpSp>
        <p:nvGrpSpPr>
          <p:cNvPr id="97" name="组合 96">
            <a:extLst>
              <a:ext uri="{FF2B5EF4-FFF2-40B4-BE49-F238E27FC236}">
                <a16:creationId xmlns:a16="http://schemas.microsoft.com/office/drawing/2014/main" id="{47A4D54C-0042-9C28-3A00-5E086A865180}"/>
              </a:ext>
            </a:extLst>
          </p:cNvPr>
          <p:cNvGrpSpPr/>
          <p:nvPr/>
        </p:nvGrpSpPr>
        <p:grpSpPr>
          <a:xfrm>
            <a:off x="9182098" y="3610138"/>
            <a:ext cx="712788" cy="257609"/>
            <a:chOff x="5019885" y="4088857"/>
            <a:chExt cx="969121" cy="350678"/>
          </a:xfrm>
        </p:grpSpPr>
        <p:pic>
          <p:nvPicPr>
            <p:cNvPr id="58" name="图片 57">
              <a:extLst>
                <a:ext uri="{FF2B5EF4-FFF2-40B4-BE49-F238E27FC236}">
                  <a16:creationId xmlns:a16="http://schemas.microsoft.com/office/drawing/2014/main" id="{88FB5E51-9ECE-7368-8C10-FDA37AC7642A}"/>
                </a:ext>
              </a:extLst>
            </p:cNvPr>
            <p:cNvPicPr>
              <a:picLocks noChangeAspect="1"/>
            </p:cNvPicPr>
            <p:nvPr/>
          </p:nvPicPr>
          <p:blipFill>
            <a:blip r:embed="rId13"/>
            <a:stretch>
              <a:fillRect/>
            </a:stretch>
          </p:blipFill>
          <p:spPr>
            <a:xfrm>
              <a:off x="5019885" y="4088857"/>
              <a:ext cx="355624" cy="350678"/>
            </a:xfrm>
            <a:prstGeom prst="rect">
              <a:avLst/>
            </a:prstGeom>
          </p:spPr>
        </p:pic>
        <p:pic>
          <p:nvPicPr>
            <p:cNvPr id="59" name="图片 58">
              <a:extLst>
                <a:ext uri="{FF2B5EF4-FFF2-40B4-BE49-F238E27FC236}">
                  <a16:creationId xmlns:a16="http://schemas.microsoft.com/office/drawing/2014/main" id="{448C6786-1751-A660-4813-8EE9706460CE}"/>
                </a:ext>
              </a:extLst>
            </p:cNvPr>
            <p:cNvPicPr>
              <a:picLocks noChangeAspect="1"/>
            </p:cNvPicPr>
            <p:nvPr/>
          </p:nvPicPr>
          <p:blipFill>
            <a:blip r:embed="rId14"/>
            <a:stretch>
              <a:fillRect/>
            </a:stretch>
          </p:blipFill>
          <p:spPr>
            <a:xfrm>
              <a:off x="5395503" y="4154387"/>
              <a:ext cx="593503" cy="219617"/>
            </a:xfrm>
            <a:prstGeom prst="rect">
              <a:avLst/>
            </a:prstGeom>
          </p:spPr>
        </p:pic>
      </p:grpSp>
      <p:pic>
        <p:nvPicPr>
          <p:cNvPr id="60" name="图像" descr="图像">
            <a:extLst>
              <a:ext uri="{FF2B5EF4-FFF2-40B4-BE49-F238E27FC236}">
                <a16:creationId xmlns:a16="http://schemas.microsoft.com/office/drawing/2014/main" id="{E137054D-360E-C5A4-E853-C39432BC959E}"/>
              </a:ext>
            </a:extLst>
          </p:cNvPr>
          <p:cNvPicPr>
            <a:picLocks noChangeAspect="1"/>
          </p:cNvPicPr>
          <p:nvPr/>
        </p:nvPicPr>
        <p:blipFill>
          <a:blip r:embed="rId15"/>
          <a:stretch>
            <a:fillRect/>
          </a:stretch>
        </p:blipFill>
        <p:spPr>
          <a:xfrm>
            <a:off x="7382106" y="3628251"/>
            <a:ext cx="371281" cy="245335"/>
          </a:xfrm>
          <a:prstGeom prst="rect">
            <a:avLst/>
          </a:prstGeom>
          <a:ln w="12700">
            <a:miter lim="400000"/>
          </a:ln>
        </p:spPr>
      </p:pic>
      <p:sp>
        <p:nvSpPr>
          <p:cNvPr id="1045" name="文本框 1044">
            <a:extLst>
              <a:ext uri="{FF2B5EF4-FFF2-40B4-BE49-F238E27FC236}">
                <a16:creationId xmlns:a16="http://schemas.microsoft.com/office/drawing/2014/main" id="{837901F7-98DA-4D36-37A5-D43D99AB0EF4}"/>
              </a:ext>
            </a:extLst>
          </p:cNvPr>
          <p:cNvSpPr txBox="1"/>
          <p:nvPr/>
        </p:nvSpPr>
        <p:spPr>
          <a:xfrm>
            <a:off x="8111138" y="4247684"/>
            <a:ext cx="995363" cy="307777"/>
          </a:xfrm>
          <a:prstGeom prst="rect">
            <a:avLst/>
          </a:prstGeom>
          <a:noFill/>
        </p:spPr>
        <p:txBody>
          <a:bodyPr wrap="square" rtlCol="0" anchor="ctr">
            <a:spAutoFit/>
          </a:bodyPr>
          <a:lstStyle/>
          <a:p>
            <a:pPr algn="ctr"/>
            <a:r>
              <a:rPr lang="en-US" altLang="zh-CN" sz="1400" dirty="0">
                <a:solidFill>
                  <a:schemeClr val="accent6">
                    <a:lumMod val="10000"/>
                  </a:schemeClr>
                </a:solidFill>
                <a:cs typeface="+mn-ea"/>
                <a:sym typeface="+mn-lt"/>
              </a:rPr>
              <a:t>100%</a:t>
            </a:r>
            <a:endParaRPr lang="zh-CN" altLang="zh-CN" sz="1400" dirty="0">
              <a:solidFill>
                <a:srgbClr val="0052D9"/>
              </a:solidFill>
              <a:cs typeface="+mn-ea"/>
              <a:sym typeface="+mn-lt"/>
            </a:endParaRPr>
          </a:p>
        </p:txBody>
      </p:sp>
      <p:pic>
        <p:nvPicPr>
          <p:cNvPr id="1067" name="图片 1066">
            <a:extLst>
              <a:ext uri="{FF2B5EF4-FFF2-40B4-BE49-F238E27FC236}">
                <a16:creationId xmlns:a16="http://schemas.microsoft.com/office/drawing/2014/main" id="{3C3E3C86-1D14-079A-F916-19AD852F2C52}"/>
              </a:ext>
            </a:extLst>
          </p:cNvPr>
          <p:cNvPicPr>
            <a:picLocks noChangeAspect="1"/>
          </p:cNvPicPr>
          <p:nvPr/>
        </p:nvPicPr>
        <p:blipFill>
          <a:blip r:embed="rId11"/>
          <a:stretch>
            <a:fillRect/>
          </a:stretch>
        </p:blipFill>
        <p:spPr>
          <a:xfrm>
            <a:off x="1776479" y="5202891"/>
            <a:ext cx="773879" cy="295076"/>
          </a:xfrm>
          <a:prstGeom prst="rect">
            <a:avLst/>
          </a:prstGeom>
        </p:spPr>
      </p:pic>
      <p:sp>
        <p:nvSpPr>
          <p:cNvPr id="1068" name="文本框 1067">
            <a:extLst>
              <a:ext uri="{FF2B5EF4-FFF2-40B4-BE49-F238E27FC236}">
                <a16:creationId xmlns:a16="http://schemas.microsoft.com/office/drawing/2014/main" id="{EE528FDD-5319-4889-9CBB-E6E295812618}"/>
              </a:ext>
            </a:extLst>
          </p:cNvPr>
          <p:cNvSpPr txBox="1"/>
          <p:nvPr/>
        </p:nvSpPr>
        <p:spPr>
          <a:xfrm>
            <a:off x="2579683" y="5202891"/>
            <a:ext cx="3516093" cy="257338"/>
          </a:xfrm>
          <a:prstGeom prst="rect">
            <a:avLst/>
          </a:prstGeom>
          <a:ln w="6350">
            <a:noFill/>
            <a:miter lim="800000"/>
          </a:ln>
        </p:spPr>
        <p:txBody>
          <a:bodyPr vert="horz" wrap="square" lIns="0" tIns="0" rIns="0" bIns="0" rtlCol="0">
            <a:noAutofit/>
          </a:bodyPr>
          <a:lstStyle/>
          <a:p>
            <a:pPr marL="171450" indent="-171450">
              <a:spcBef>
                <a:spcPts val="300"/>
              </a:spcBef>
              <a:spcAft>
                <a:spcPts val="300"/>
              </a:spcAft>
              <a:buFont typeface="Arial" panose="020B0604020202020204" pitchFamily="34" charset="0"/>
              <a:buChar char="•"/>
            </a:pPr>
            <a:r>
              <a:rPr kumimoji="1" lang="en-US" altLang="zh-CN" sz="1400" dirty="0">
                <a:solidFill>
                  <a:schemeClr val="tx1">
                    <a:lumMod val="50000"/>
                  </a:schemeClr>
                </a:solidFill>
                <a:cs typeface="+mn-ea"/>
                <a:sym typeface="+mn-lt"/>
              </a:rPr>
              <a:t>24A</a:t>
            </a:r>
            <a:r>
              <a:rPr kumimoji="1" lang="zh-CN" altLang="en-US" sz="1400" dirty="0">
                <a:solidFill>
                  <a:schemeClr val="tx1">
                    <a:lumMod val="50000"/>
                  </a:schemeClr>
                </a:solidFill>
                <a:cs typeface="+mn-ea"/>
                <a:sym typeface="+mn-lt"/>
              </a:rPr>
              <a:t>，</a:t>
            </a:r>
            <a:r>
              <a:rPr kumimoji="1" lang="en-US" altLang="zh-CN" sz="1400" u="sng" dirty="0">
                <a:solidFill>
                  <a:schemeClr val="tx1">
                    <a:lumMod val="50000"/>
                  </a:schemeClr>
                </a:solidFill>
                <a:cs typeface="+mn-ea"/>
                <a:sym typeface="+mn-lt"/>
              </a:rPr>
              <a:t>800G</a:t>
            </a:r>
            <a:r>
              <a:rPr kumimoji="1" lang="zh-CN" altLang="en-US" sz="1400" u="sng" dirty="0">
                <a:solidFill>
                  <a:schemeClr val="tx1">
                    <a:lumMod val="50000"/>
                  </a:schemeClr>
                </a:solidFill>
                <a:cs typeface="+mn-ea"/>
                <a:sym typeface="+mn-lt"/>
              </a:rPr>
              <a:t>出货量 </a:t>
            </a:r>
            <a:r>
              <a:rPr kumimoji="1" lang="en-US" altLang="zh-CN" sz="1400" u="sng" dirty="0">
                <a:solidFill>
                  <a:schemeClr val="tx1">
                    <a:lumMod val="50000"/>
                  </a:schemeClr>
                </a:solidFill>
                <a:cs typeface="+mn-ea"/>
                <a:sym typeface="+mn-lt"/>
              </a:rPr>
              <a:t>&gt;200w</a:t>
            </a:r>
            <a:r>
              <a:rPr kumimoji="1" lang="zh-CN" altLang="en-US" sz="1400" dirty="0">
                <a:solidFill>
                  <a:schemeClr val="tx1">
                    <a:lumMod val="50000"/>
                  </a:schemeClr>
                </a:solidFill>
                <a:cs typeface="+mn-ea"/>
                <a:sym typeface="+mn-lt"/>
              </a:rPr>
              <a:t>，全球份额</a:t>
            </a:r>
            <a:r>
              <a:rPr kumimoji="1" lang="en-US" altLang="zh-CN" sz="1400" dirty="0">
                <a:solidFill>
                  <a:schemeClr val="tx1">
                    <a:lumMod val="50000"/>
                  </a:schemeClr>
                </a:solidFill>
                <a:cs typeface="+mn-ea"/>
                <a:sym typeface="+mn-lt"/>
              </a:rPr>
              <a:t>40%</a:t>
            </a:r>
          </a:p>
          <a:p>
            <a:pPr marL="171450" indent="-171450">
              <a:spcBef>
                <a:spcPts val="300"/>
              </a:spcBef>
              <a:spcAft>
                <a:spcPts val="300"/>
              </a:spcAft>
              <a:buFont typeface="Arial" panose="020B0604020202020204" pitchFamily="34" charset="0"/>
              <a:buChar char="•"/>
            </a:pPr>
            <a:r>
              <a:rPr kumimoji="1" lang="en-US" altLang="zh-CN" sz="1400" dirty="0">
                <a:solidFill>
                  <a:schemeClr val="tx1">
                    <a:lumMod val="50000"/>
                  </a:schemeClr>
                </a:solidFill>
                <a:cs typeface="+mn-ea"/>
                <a:sym typeface="+mn-lt"/>
              </a:rPr>
              <a:t>24Q4</a:t>
            </a:r>
            <a:r>
              <a:rPr kumimoji="1" lang="zh-CN" altLang="en-US" sz="1400" dirty="0">
                <a:solidFill>
                  <a:schemeClr val="tx1">
                    <a:lumMod val="50000"/>
                  </a:schemeClr>
                </a:solidFill>
                <a:cs typeface="+mn-ea"/>
                <a:sym typeface="+mn-lt"/>
              </a:rPr>
              <a:t>，</a:t>
            </a:r>
            <a:r>
              <a:rPr kumimoji="1" lang="en-US" altLang="zh-CN" sz="1400" dirty="0">
                <a:solidFill>
                  <a:schemeClr val="tx1">
                    <a:lumMod val="50000"/>
                  </a:schemeClr>
                </a:solidFill>
                <a:cs typeface="+mn-ea"/>
                <a:sym typeface="+mn-lt"/>
              </a:rPr>
              <a:t>1.6T</a:t>
            </a:r>
            <a:r>
              <a:rPr kumimoji="1" lang="zh-CN" altLang="en-US" sz="1400" dirty="0">
                <a:solidFill>
                  <a:schemeClr val="tx1">
                    <a:lumMod val="50000"/>
                  </a:schemeClr>
                </a:solidFill>
                <a:cs typeface="+mn-ea"/>
                <a:sym typeface="+mn-lt"/>
              </a:rPr>
              <a:t>率先认证并出货</a:t>
            </a:r>
            <a:endParaRPr lang="zh-CN" altLang="en-US" sz="1400" dirty="0">
              <a:cs typeface="+mn-ea"/>
              <a:sym typeface="+mn-lt"/>
            </a:endParaRPr>
          </a:p>
          <a:p>
            <a:pPr algn="l">
              <a:spcBef>
                <a:spcPts val="300"/>
              </a:spcBef>
              <a:spcAft>
                <a:spcPts val="300"/>
              </a:spcAft>
            </a:pPr>
            <a:endParaRPr kumimoji="1" lang="zh-CN" altLang="en-US" sz="1400" dirty="0">
              <a:solidFill>
                <a:schemeClr val="tx1">
                  <a:lumMod val="50000"/>
                </a:schemeClr>
              </a:solidFill>
              <a:cs typeface="+mn-ea"/>
              <a:sym typeface="+mn-lt"/>
            </a:endParaRPr>
          </a:p>
        </p:txBody>
      </p:sp>
      <p:sp>
        <p:nvSpPr>
          <p:cNvPr id="1074" name="文本框 1073">
            <a:extLst>
              <a:ext uri="{FF2B5EF4-FFF2-40B4-BE49-F238E27FC236}">
                <a16:creationId xmlns:a16="http://schemas.microsoft.com/office/drawing/2014/main" id="{AA4B8E98-2E4E-FE0D-4F0F-F51B2599332E}"/>
              </a:ext>
            </a:extLst>
          </p:cNvPr>
          <p:cNvSpPr txBox="1"/>
          <p:nvPr/>
        </p:nvSpPr>
        <p:spPr>
          <a:xfrm>
            <a:off x="7151494" y="5202891"/>
            <a:ext cx="3700655" cy="257338"/>
          </a:xfrm>
          <a:prstGeom prst="rect">
            <a:avLst/>
          </a:prstGeom>
          <a:ln w="6350">
            <a:noFill/>
            <a:miter lim="800000"/>
          </a:ln>
        </p:spPr>
        <p:txBody>
          <a:bodyPr vert="horz" wrap="square" lIns="0" tIns="0" rIns="0" bIns="0" rtlCol="0">
            <a:noAutofit/>
          </a:bodyPr>
          <a:lstStyle/>
          <a:p>
            <a:pPr marL="171450" indent="-171450">
              <a:spcBef>
                <a:spcPts val="300"/>
              </a:spcBef>
              <a:spcAft>
                <a:spcPts val="300"/>
              </a:spcAft>
              <a:buFont typeface="Arial" panose="020B0604020202020204" pitchFamily="34" charset="0"/>
              <a:buChar char="•"/>
            </a:pPr>
            <a:r>
              <a:rPr kumimoji="1" lang="en-US" altLang="zh-CN" sz="1400" dirty="0">
                <a:solidFill>
                  <a:schemeClr val="accent6">
                    <a:lumMod val="10000"/>
                  </a:schemeClr>
                </a:solidFill>
                <a:cs typeface="+mn-ea"/>
                <a:sym typeface="+mn-lt"/>
              </a:rPr>
              <a:t>25Q2 </a:t>
            </a:r>
            <a:r>
              <a:rPr kumimoji="1" lang="zh-CN" altLang="en-US" sz="1400" dirty="0">
                <a:solidFill>
                  <a:schemeClr val="tx1">
                    <a:lumMod val="50000"/>
                  </a:schemeClr>
                </a:solidFill>
                <a:cs typeface="+mn-ea"/>
                <a:sym typeface="+mn-lt"/>
              </a:rPr>
              <a:t>，</a:t>
            </a:r>
            <a:r>
              <a:rPr kumimoji="1" lang="en-US" altLang="zh-CN" sz="1400" dirty="0">
                <a:solidFill>
                  <a:schemeClr val="accent6">
                    <a:lumMod val="10000"/>
                  </a:schemeClr>
                </a:solidFill>
                <a:cs typeface="+mn-ea"/>
                <a:sym typeface="+mn-lt"/>
              </a:rPr>
              <a:t>Spectrum-X CPO</a:t>
            </a:r>
            <a:r>
              <a:rPr kumimoji="1" lang="zh-CN" altLang="en-US" sz="1400" dirty="0">
                <a:solidFill>
                  <a:schemeClr val="accent6">
                    <a:lumMod val="10000"/>
                  </a:schemeClr>
                </a:solidFill>
                <a:cs typeface="+mn-ea"/>
                <a:sym typeface="+mn-lt"/>
              </a:rPr>
              <a:t>交换机交付</a:t>
            </a:r>
            <a:endParaRPr kumimoji="1" lang="en-US" altLang="zh-CN" sz="1400" dirty="0">
              <a:solidFill>
                <a:schemeClr val="accent6">
                  <a:lumMod val="10000"/>
                </a:schemeClr>
              </a:solidFill>
              <a:cs typeface="+mn-ea"/>
              <a:sym typeface="+mn-lt"/>
            </a:endParaRPr>
          </a:p>
          <a:p>
            <a:pPr marL="171450" indent="-171450">
              <a:spcBef>
                <a:spcPts val="300"/>
              </a:spcBef>
              <a:spcAft>
                <a:spcPts val="300"/>
              </a:spcAft>
              <a:buFont typeface="Arial" panose="020B0604020202020204" pitchFamily="34" charset="0"/>
              <a:buChar char="•"/>
            </a:pPr>
            <a:r>
              <a:rPr kumimoji="1" lang="zh-CN" altLang="en-US" sz="1400" dirty="0">
                <a:solidFill>
                  <a:schemeClr val="accent6">
                    <a:lumMod val="10000"/>
                  </a:schemeClr>
                </a:solidFill>
                <a:cs typeface="+mn-ea"/>
                <a:sym typeface="+mn-lt"/>
              </a:rPr>
              <a:t>预计</a:t>
            </a:r>
            <a:r>
              <a:rPr kumimoji="1" lang="en-US" altLang="zh-CN" sz="1400" dirty="0">
                <a:solidFill>
                  <a:schemeClr val="accent6">
                    <a:lumMod val="10000"/>
                  </a:schemeClr>
                </a:solidFill>
                <a:cs typeface="+mn-ea"/>
                <a:sym typeface="+mn-lt"/>
              </a:rPr>
              <a:t>26Q2 </a:t>
            </a:r>
            <a:r>
              <a:rPr kumimoji="1" lang="zh-CN" altLang="en-US" sz="1400" dirty="0">
                <a:solidFill>
                  <a:schemeClr val="tx1">
                    <a:lumMod val="50000"/>
                  </a:schemeClr>
                </a:solidFill>
                <a:cs typeface="+mn-ea"/>
                <a:sym typeface="+mn-lt"/>
              </a:rPr>
              <a:t>，</a:t>
            </a:r>
            <a:r>
              <a:rPr kumimoji="1" lang="en-US" altLang="zh-CN" sz="1400" dirty="0">
                <a:solidFill>
                  <a:schemeClr val="tx1">
                    <a:lumMod val="50000"/>
                  </a:schemeClr>
                </a:solidFill>
                <a:cs typeface="+mn-ea"/>
                <a:sym typeface="+mn-lt"/>
              </a:rPr>
              <a:t>Quantum-X </a:t>
            </a:r>
            <a:r>
              <a:rPr kumimoji="1" lang="en-US" altLang="zh-CN" sz="1400" dirty="0">
                <a:solidFill>
                  <a:schemeClr val="accent6">
                    <a:lumMod val="10000"/>
                  </a:schemeClr>
                </a:solidFill>
                <a:cs typeface="+mn-ea"/>
                <a:sym typeface="+mn-lt"/>
              </a:rPr>
              <a:t>CPO</a:t>
            </a:r>
            <a:r>
              <a:rPr kumimoji="1" lang="zh-CN" altLang="en-US" sz="1400" dirty="0">
                <a:solidFill>
                  <a:schemeClr val="accent6">
                    <a:lumMod val="10000"/>
                  </a:schemeClr>
                </a:solidFill>
                <a:cs typeface="+mn-ea"/>
                <a:sym typeface="+mn-lt"/>
              </a:rPr>
              <a:t>交换机交付</a:t>
            </a:r>
            <a:endParaRPr kumimoji="1" lang="en-US" altLang="zh-CN" sz="1400" dirty="0">
              <a:solidFill>
                <a:schemeClr val="tx1">
                  <a:lumMod val="50000"/>
                </a:schemeClr>
              </a:solidFill>
              <a:cs typeface="+mn-ea"/>
              <a:sym typeface="+mn-lt"/>
            </a:endParaRPr>
          </a:p>
          <a:p>
            <a:pPr>
              <a:spcBef>
                <a:spcPts val="300"/>
              </a:spcBef>
              <a:spcAft>
                <a:spcPts val="300"/>
              </a:spcAft>
            </a:pPr>
            <a:endParaRPr lang="zh-CN" altLang="en-US" sz="1400" dirty="0">
              <a:cs typeface="+mn-ea"/>
              <a:sym typeface="+mn-lt"/>
            </a:endParaRPr>
          </a:p>
          <a:p>
            <a:pPr algn="l">
              <a:spcBef>
                <a:spcPts val="300"/>
              </a:spcBef>
              <a:spcAft>
                <a:spcPts val="300"/>
              </a:spcAft>
            </a:pPr>
            <a:endParaRPr kumimoji="1" lang="zh-CN" altLang="en-US" sz="1400" dirty="0">
              <a:solidFill>
                <a:schemeClr val="tx1">
                  <a:lumMod val="50000"/>
                </a:schemeClr>
              </a:solidFill>
              <a:cs typeface="+mn-ea"/>
              <a:sym typeface="+mn-lt"/>
            </a:endParaRPr>
          </a:p>
        </p:txBody>
      </p:sp>
      <p:pic>
        <p:nvPicPr>
          <p:cNvPr id="1075" name="图片 1074">
            <a:extLst>
              <a:ext uri="{FF2B5EF4-FFF2-40B4-BE49-F238E27FC236}">
                <a16:creationId xmlns:a16="http://schemas.microsoft.com/office/drawing/2014/main" id="{F3EB3747-D6D5-4403-99FE-A4CB35494212}"/>
              </a:ext>
            </a:extLst>
          </p:cNvPr>
          <p:cNvPicPr>
            <a:picLocks noChangeAspect="1"/>
          </p:cNvPicPr>
          <p:nvPr/>
        </p:nvPicPr>
        <p:blipFill>
          <a:blip r:embed="rId13"/>
          <a:stretch>
            <a:fillRect/>
          </a:stretch>
        </p:blipFill>
        <p:spPr>
          <a:xfrm>
            <a:off x="6346825" y="5202891"/>
            <a:ext cx="261938" cy="258295"/>
          </a:xfrm>
          <a:prstGeom prst="rect">
            <a:avLst/>
          </a:prstGeom>
        </p:spPr>
      </p:pic>
      <p:pic>
        <p:nvPicPr>
          <p:cNvPr id="1076" name="图片 1075">
            <a:extLst>
              <a:ext uri="{FF2B5EF4-FFF2-40B4-BE49-F238E27FC236}">
                <a16:creationId xmlns:a16="http://schemas.microsoft.com/office/drawing/2014/main" id="{86C281A5-2F71-019A-61A4-00B0F3F827E2}"/>
              </a:ext>
            </a:extLst>
          </p:cNvPr>
          <p:cNvPicPr>
            <a:picLocks noChangeAspect="1"/>
          </p:cNvPicPr>
          <p:nvPr/>
        </p:nvPicPr>
        <p:blipFill>
          <a:blip r:embed="rId14"/>
          <a:stretch>
            <a:fillRect/>
          </a:stretch>
        </p:blipFill>
        <p:spPr>
          <a:xfrm>
            <a:off x="6661847" y="5252817"/>
            <a:ext cx="436563" cy="161543"/>
          </a:xfrm>
          <a:prstGeom prst="rect">
            <a:avLst/>
          </a:prstGeom>
        </p:spPr>
      </p:pic>
      <p:cxnSp>
        <p:nvCxnSpPr>
          <p:cNvPr id="1083" name="直线连接符 8">
            <a:extLst>
              <a:ext uri="{FF2B5EF4-FFF2-40B4-BE49-F238E27FC236}">
                <a16:creationId xmlns:a16="http://schemas.microsoft.com/office/drawing/2014/main" id="{B9FC0685-FA4A-FE26-816D-2B1F2CF7B34F}"/>
              </a:ext>
            </a:extLst>
          </p:cNvPr>
          <p:cNvCxnSpPr>
            <a:cxnSpLocks/>
          </p:cNvCxnSpPr>
          <p:nvPr/>
        </p:nvCxnSpPr>
        <p:spPr>
          <a:xfrm>
            <a:off x="1806129" y="4674667"/>
            <a:ext cx="9289032" cy="0"/>
          </a:xfrm>
          <a:prstGeom prst="line">
            <a:avLst/>
          </a:prstGeom>
          <a:ln w="6350" cap="flat">
            <a:solidFill>
              <a:schemeClr val="tx1"/>
            </a:solidFill>
            <a:prstDash val="lgDash"/>
            <a:miter lim="800000"/>
            <a:tailEnd type="none"/>
          </a:ln>
        </p:spPr>
        <p:style>
          <a:lnRef idx="1">
            <a:schemeClr val="accent1"/>
          </a:lnRef>
          <a:fillRef idx="0">
            <a:schemeClr val="accent1"/>
          </a:fillRef>
          <a:effectRef idx="0">
            <a:schemeClr val="accent1"/>
          </a:effectRef>
          <a:fontRef idx="minor">
            <a:schemeClr val="tx1"/>
          </a:fontRef>
        </p:style>
      </p:cxnSp>
      <p:sp>
        <p:nvSpPr>
          <p:cNvPr id="1084" name="文本框 1083">
            <a:extLst>
              <a:ext uri="{FF2B5EF4-FFF2-40B4-BE49-F238E27FC236}">
                <a16:creationId xmlns:a16="http://schemas.microsoft.com/office/drawing/2014/main" id="{7D1A73FF-FE74-E4CE-8756-CD7EBAF67DA9}"/>
              </a:ext>
            </a:extLst>
          </p:cNvPr>
          <p:cNvSpPr txBox="1"/>
          <p:nvPr/>
        </p:nvSpPr>
        <p:spPr>
          <a:xfrm>
            <a:off x="1806129" y="4836256"/>
            <a:ext cx="3076236" cy="257338"/>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zh-CN" altLang="en-US" sz="1400" dirty="0">
                <a:solidFill>
                  <a:schemeClr val="accent6">
                    <a:lumMod val="10000"/>
                  </a:schemeClr>
                </a:solidFill>
                <a:cs typeface="+mn-ea"/>
                <a:sym typeface="+mn-lt"/>
              </a:rPr>
              <a:t>已全面应用于</a:t>
            </a:r>
            <a:r>
              <a:rPr kumimoji="1" lang="en-US" altLang="zh-CN" sz="1400" dirty="0">
                <a:solidFill>
                  <a:schemeClr val="accent6">
                    <a:lumMod val="10000"/>
                  </a:schemeClr>
                </a:solidFill>
                <a:cs typeface="+mn-ea"/>
                <a:sym typeface="+mn-lt"/>
              </a:rPr>
              <a:t>AIDC</a:t>
            </a:r>
            <a:r>
              <a:rPr kumimoji="1" lang="zh-CN" altLang="en-US" sz="1400" dirty="0">
                <a:solidFill>
                  <a:schemeClr val="accent6">
                    <a:lumMod val="10000"/>
                  </a:schemeClr>
                </a:solidFill>
                <a:cs typeface="+mn-ea"/>
                <a:sym typeface="+mn-lt"/>
              </a:rPr>
              <a:t>，</a:t>
            </a:r>
            <a:r>
              <a:rPr kumimoji="1" lang="zh-CN" altLang="en-US" sz="1400" b="1" dirty="0">
                <a:solidFill>
                  <a:srgbClr val="0052D9"/>
                </a:solidFill>
                <a:cs typeface="+mn-ea"/>
                <a:sym typeface="+mn-lt"/>
              </a:rPr>
              <a:t>大规模商业落地</a:t>
            </a:r>
            <a:endParaRPr kumimoji="1" lang="zh-CN" altLang="en-US" sz="1400" dirty="0">
              <a:solidFill>
                <a:srgbClr val="0052D9"/>
              </a:solidFill>
              <a:cs typeface="+mn-ea"/>
              <a:sym typeface="+mn-lt"/>
            </a:endParaRPr>
          </a:p>
        </p:txBody>
      </p:sp>
      <p:sp>
        <p:nvSpPr>
          <p:cNvPr id="1085" name="文本框 1084">
            <a:extLst>
              <a:ext uri="{FF2B5EF4-FFF2-40B4-BE49-F238E27FC236}">
                <a16:creationId xmlns:a16="http://schemas.microsoft.com/office/drawing/2014/main" id="{13C27EC4-0F72-90E1-EA8E-6659BF2C8AEF}"/>
              </a:ext>
            </a:extLst>
          </p:cNvPr>
          <p:cNvSpPr txBox="1"/>
          <p:nvPr/>
        </p:nvSpPr>
        <p:spPr>
          <a:xfrm>
            <a:off x="6346825" y="4830173"/>
            <a:ext cx="3074988" cy="257338"/>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400" dirty="0">
                <a:solidFill>
                  <a:schemeClr val="accent6">
                    <a:lumMod val="10000"/>
                  </a:schemeClr>
                </a:solidFill>
                <a:cs typeface="+mn-ea"/>
                <a:sym typeface="+mn-lt"/>
              </a:rPr>
              <a:t>25-26</a:t>
            </a:r>
            <a:r>
              <a:rPr kumimoji="1" lang="zh-CN" altLang="en-US" sz="1400" dirty="0">
                <a:solidFill>
                  <a:schemeClr val="accent6">
                    <a:lumMod val="10000"/>
                  </a:schemeClr>
                </a:solidFill>
                <a:cs typeface="+mn-ea"/>
                <a:sym typeface="+mn-lt"/>
              </a:rPr>
              <a:t>年将商业化，</a:t>
            </a:r>
            <a:r>
              <a:rPr kumimoji="1" lang="zh-CN" altLang="en-US" sz="1400" b="1" dirty="0">
                <a:solidFill>
                  <a:srgbClr val="0052D9"/>
                </a:solidFill>
                <a:cs typeface="+mn-ea"/>
                <a:sym typeface="+mn-lt"/>
              </a:rPr>
              <a:t>技术较成熟</a:t>
            </a:r>
            <a:endParaRPr kumimoji="1" lang="zh-CN" altLang="en-US" sz="1400" dirty="0">
              <a:solidFill>
                <a:srgbClr val="0052D9"/>
              </a:solidFill>
              <a:cs typeface="+mn-ea"/>
              <a:sym typeface="+mn-lt"/>
            </a:endParaRPr>
          </a:p>
        </p:txBody>
      </p:sp>
      <p:sp>
        <p:nvSpPr>
          <p:cNvPr id="3" name="等腰三角形 2">
            <a:extLst>
              <a:ext uri="{FF2B5EF4-FFF2-40B4-BE49-F238E27FC236}">
                <a16:creationId xmlns:a16="http://schemas.microsoft.com/office/drawing/2014/main" id="{05DAED3E-611C-0A98-0C70-3B6098267E26}"/>
              </a:ext>
            </a:extLst>
          </p:cNvPr>
          <p:cNvSpPr/>
          <p:nvPr/>
        </p:nvSpPr>
        <p:spPr>
          <a:xfrm rot="10800000">
            <a:off x="3139721" y="4088045"/>
            <a:ext cx="1691096" cy="91163"/>
          </a:xfrm>
          <a:prstGeom prst="triangle">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8" name="等腰三角形 7">
            <a:extLst>
              <a:ext uri="{FF2B5EF4-FFF2-40B4-BE49-F238E27FC236}">
                <a16:creationId xmlns:a16="http://schemas.microsoft.com/office/drawing/2014/main" id="{229821F5-C4E2-6784-9CD6-0979EBDD566A}"/>
              </a:ext>
            </a:extLst>
          </p:cNvPr>
          <p:cNvSpPr/>
          <p:nvPr/>
        </p:nvSpPr>
        <p:spPr>
          <a:xfrm rot="10800000">
            <a:off x="7774588" y="4088046"/>
            <a:ext cx="1690688" cy="91163"/>
          </a:xfrm>
          <a:prstGeom prst="triangle">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5" name="矩形: 圆角 4">
            <a:extLst>
              <a:ext uri="{FF2B5EF4-FFF2-40B4-BE49-F238E27FC236}">
                <a16:creationId xmlns:a16="http://schemas.microsoft.com/office/drawing/2014/main" id="{EF08E8E2-6EA8-7595-7D35-C7F12B36ED29}"/>
              </a:ext>
            </a:extLst>
          </p:cNvPr>
          <p:cNvSpPr/>
          <p:nvPr/>
        </p:nvSpPr>
        <p:spPr>
          <a:xfrm>
            <a:off x="1913979" y="1512070"/>
            <a:ext cx="2588124" cy="66209"/>
          </a:xfrm>
          <a:prstGeom prst="roundRect">
            <a:avLst>
              <a:gd name="adj" fmla="val 2414"/>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圆角 6">
            <a:extLst>
              <a:ext uri="{FF2B5EF4-FFF2-40B4-BE49-F238E27FC236}">
                <a16:creationId xmlns:a16="http://schemas.microsoft.com/office/drawing/2014/main" id="{C40A7358-3A58-EAA4-9FCB-7961732207B9}"/>
              </a:ext>
            </a:extLst>
          </p:cNvPr>
          <p:cNvSpPr/>
          <p:nvPr/>
        </p:nvSpPr>
        <p:spPr>
          <a:xfrm>
            <a:off x="1972322" y="1343099"/>
            <a:ext cx="626083" cy="119558"/>
          </a:xfrm>
          <a:prstGeom prst="roundRect">
            <a:avLst>
              <a:gd name="adj" fmla="val 2414"/>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a:extLst>
              <a:ext uri="{FF2B5EF4-FFF2-40B4-BE49-F238E27FC236}">
                <a16:creationId xmlns:a16="http://schemas.microsoft.com/office/drawing/2014/main" id="{C0B77634-6E73-3575-1DF3-E44087F13340}"/>
              </a:ext>
            </a:extLst>
          </p:cNvPr>
          <p:cNvSpPr/>
          <p:nvPr/>
        </p:nvSpPr>
        <p:spPr>
          <a:xfrm>
            <a:off x="4329566" y="1397313"/>
            <a:ext cx="196913" cy="119558"/>
          </a:xfrm>
          <a:prstGeom prst="rect">
            <a:avLst/>
          </a:prstGeom>
          <a:solidFill>
            <a:schemeClr val="accent2">
              <a:lumMod val="60000"/>
              <a:lumOff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矩形: 圆角 14">
            <a:extLst>
              <a:ext uri="{FF2B5EF4-FFF2-40B4-BE49-F238E27FC236}">
                <a16:creationId xmlns:a16="http://schemas.microsoft.com/office/drawing/2014/main" id="{7464DC18-2AC5-C164-EE15-711F93094C75}"/>
              </a:ext>
            </a:extLst>
          </p:cNvPr>
          <p:cNvSpPr/>
          <p:nvPr/>
        </p:nvSpPr>
        <p:spPr>
          <a:xfrm>
            <a:off x="6497638" y="1357776"/>
            <a:ext cx="625475" cy="119558"/>
          </a:xfrm>
          <a:prstGeom prst="roundRect">
            <a:avLst>
              <a:gd name="adj" fmla="val 2414"/>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a:extLst>
              <a:ext uri="{FF2B5EF4-FFF2-40B4-BE49-F238E27FC236}">
                <a16:creationId xmlns:a16="http://schemas.microsoft.com/office/drawing/2014/main" id="{339FDA30-2F1E-F0B7-BDF0-35D93A14AD15}"/>
              </a:ext>
            </a:extLst>
          </p:cNvPr>
          <p:cNvSpPr/>
          <p:nvPr/>
        </p:nvSpPr>
        <p:spPr>
          <a:xfrm>
            <a:off x="7159625" y="1363997"/>
            <a:ext cx="196850" cy="119558"/>
          </a:xfrm>
          <a:prstGeom prst="rect">
            <a:avLst/>
          </a:prstGeom>
          <a:solidFill>
            <a:schemeClr val="accent2">
              <a:lumMod val="60000"/>
              <a:lumOff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圆角 28">
            <a:extLst>
              <a:ext uri="{FF2B5EF4-FFF2-40B4-BE49-F238E27FC236}">
                <a16:creationId xmlns:a16="http://schemas.microsoft.com/office/drawing/2014/main" id="{AA8B52A9-D8D3-CAAB-F636-AE4BAC34A4AA}"/>
              </a:ext>
            </a:extLst>
          </p:cNvPr>
          <p:cNvSpPr/>
          <p:nvPr/>
        </p:nvSpPr>
        <p:spPr>
          <a:xfrm>
            <a:off x="1928263" y="1464784"/>
            <a:ext cx="1441121" cy="45719"/>
          </a:xfrm>
          <a:prstGeom prst="roundRect">
            <a:avLst>
              <a:gd name="adj" fmla="val 2414"/>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圆角 29">
            <a:extLst>
              <a:ext uri="{FF2B5EF4-FFF2-40B4-BE49-F238E27FC236}">
                <a16:creationId xmlns:a16="http://schemas.microsoft.com/office/drawing/2014/main" id="{5735AB34-1E3B-0D3E-54B4-9C753D9E9C2C}"/>
              </a:ext>
            </a:extLst>
          </p:cNvPr>
          <p:cNvSpPr/>
          <p:nvPr/>
        </p:nvSpPr>
        <p:spPr>
          <a:xfrm>
            <a:off x="6443663" y="1523054"/>
            <a:ext cx="2587625" cy="66209"/>
          </a:xfrm>
          <a:prstGeom prst="roundRect">
            <a:avLst>
              <a:gd name="adj" fmla="val 2414"/>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圆角 30">
            <a:extLst>
              <a:ext uri="{FF2B5EF4-FFF2-40B4-BE49-F238E27FC236}">
                <a16:creationId xmlns:a16="http://schemas.microsoft.com/office/drawing/2014/main" id="{42371F24-8612-A02E-DAF4-2F6CA161C71A}"/>
              </a:ext>
            </a:extLst>
          </p:cNvPr>
          <p:cNvSpPr/>
          <p:nvPr/>
        </p:nvSpPr>
        <p:spPr>
          <a:xfrm>
            <a:off x="6461125" y="1480417"/>
            <a:ext cx="1441450" cy="45719"/>
          </a:xfrm>
          <a:prstGeom prst="roundRect">
            <a:avLst>
              <a:gd name="adj" fmla="val 2414"/>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3" name="连接符: 肘形 42">
            <a:extLst>
              <a:ext uri="{FF2B5EF4-FFF2-40B4-BE49-F238E27FC236}">
                <a16:creationId xmlns:a16="http://schemas.microsoft.com/office/drawing/2014/main" id="{9887032B-5E53-9EE5-83A0-72F538BF4A70}"/>
              </a:ext>
            </a:extLst>
          </p:cNvPr>
          <p:cNvCxnSpPr>
            <a:cxnSpLocks/>
            <a:stCxn id="7" idx="2"/>
            <a:endCxn id="10" idx="2"/>
          </p:cNvCxnSpPr>
          <p:nvPr/>
        </p:nvCxnSpPr>
        <p:spPr>
          <a:xfrm rot="16200000" flipH="1">
            <a:off x="3329586" y="418434"/>
            <a:ext cx="54214" cy="2142659"/>
          </a:xfrm>
          <a:prstGeom prst="bentConnector3">
            <a:avLst>
              <a:gd name="adj1" fmla="val 150756"/>
            </a:avLst>
          </a:prstGeom>
          <a:ln>
            <a:solidFill>
              <a:schemeClr val="bg1"/>
            </a:solidFill>
          </a:ln>
          <a:effectLst/>
        </p:spPr>
        <p:style>
          <a:lnRef idx="1">
            <a:schemeClr val="accent1"/>
          </a:lnRef>
          <a:fillRef idx="0">
            <a:schemeClr val="accent1"/>
          </a:fillRef>
          <a:effectRef idx="0">
            <a:schemeClr val="accent1"/>
          </a:effectRef>
          <a:fontRef idx="minor">
            <a:schemeClr val="tx1"/>
          </a:fontRef>
        </p:style>
      </p:cxnSp>
      <p:cxnSp>
        <p:nvCxnSpPr>
          <p:cNvPr id="51" name="连接符: 肘形 50">
            <a:extLst>
              <a:ext uri="{FF2B5EF4-FFF2-40B4-BE49-F238E27FC236}">
                <a16:creationId xmlns:a16="http://schemas.microsoft.com/office/drawing/2014/main" id="{518E038F-B31E-937D-E340-AA31A690FC8B}"/>
              </a:ext>
            </a:extLst>
          </p:cNvPr>
          <p:cNvCxnSpPr>
            <a:cxnSpLocks/>
            <a:stCxn id="15" idx="2"/>
            <a:endCxn id="16" idx="2"/>
          </p:cNvCxnSpPr>
          <p:nvPr/>
        </p:nvCxnSpPr>
        <p:spPr>
          <a:xfrm rot="16200000" flipH="1">
            <a:off x="7031103" y="1256607"/>
            <a:ext cx="6221" cy="447674"/>
          </a:xfrm>
          <a:prstGeom prst="bentConnector3">
            <a:avLst>
              <a:gd name="adj1" fmla="val 1171741"/>
            </a:avLst>
          </a:prstGeom>
          <a:ln>
            <a:solidFill>
              <a:schemeClr val="bg1"/>
            </a:solidFill>
          </a:ln>
          <a:effectLst/>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D4C39E1B-7EB9-ED06-B5B7-5C17F23B0F71}"/>
              </a:ext>
            </a:extLst>
          </p:cNvPr>
          <p:cNvSpPr txBox="1"/>
          <p:nvPr/>
        </p:nvSpPr>
        <p:spPr>
          <a:xfrm>
            <a:off x="2998405" y="1537514"/>
            <a:ext cx="1385936" cy="276999"/>
          </a:xfrm>
          <a:prstGeom prst="rect">
            <a:avLst/>
          </a:prstGeom>
          <a:noFill/>
        </p:spPr>
        <p:txBody>
          <a:bodyPr wrap="square" rtlCol="0" anchor="ctr">
            <a:spAutoFit/>
          </a:bodyPr>
          <a:lstStyle/>
          <a:p>
            <a:r>
              <a:rPr lang="zh-CN" altLang="en-US" sz="1200" dirty="0">
                <a:solidFill>
                  <a:schemeClr val="accent6">
                    <a:lumMod val="10000"/>
                  </a:schemeClr>
                </a:solidFill>
                <a:cs typeface="+mn-ea"/>
                <a:sym typeface="+mn-lt"/>
              </a:rPr>
              <a:t>电信号</a:t>
            </a:r>
            <a:endParaRPr lang="zh-CN" altLang="zh-CN" sz="1200" dirty="0">
              <a:solidFill>
                <a:srgbClr val="0052D9"/>
              </a:solidFill>
              <a:cs typeface="+mn-ea"/>
              <a:sym typeface="+mn-lt"/>
            </a:endParaRPr>
          </a:p>
        </p:txBody>
      </p:sp>
      <p:sp>
        <p:nvSpPr>
          <p:cNvPr id="73" name="文本框 72">
            <a:extLst>
              <a:ext uri="{FF2B5EF4-FFF2-40B4-BE49-F238E27FC236}">
                <a16:creationId xmlns:a16="http://schemas.microsoft.com/office/drawing/2014/main" id="{F2461C33-8A9C-4EC5-8A21-6FE5802EFF04}"/>
              </a:ext>
            </a:extLst>
          </p:cNvPr>
          <p:cNvSpPr txBox="1"/>
          <p:nvPr/>
        </p:nvSpPr>
        <p:spPr>
          <a:xfrm>
            <a:off x="2543867" y="1194217"/>
            <a:ext cx="1385936" cy="276999"/>
          </a:xfrm>
          <a:prstGeom prst="rect">
            <a:avLst/>
          </a:prstGeom>
          <a:noFill/>
        </p:spPr>
        <p:txBody>
          <a:bodyPr wrap="square" rtlCol="0" anchor="ctr">
            <a:spAutoFit/>
          </a:bodyPr>
          <a:lstStyle/>
          <a:p>
            <a:r>
              <a:rPr lang="zh-CN" altLang="en-US" sz="1200" dirty="0">
                <a:solidFill>
                  <a:schemeClr val="accent6">
                    <a:lumMod val="10000"/>
                  </a:schemeClr>
                </a:solidFill>
                <a:cs typeface="+mn-ea"/>
                <a:sym typeface="+mn-lt"/>
              </a:rPr>
              <a:t>交换机芯片</a:t>
            </a:r>
            <a:endParaRPr lang="zh-CN" altLang="zh-CN" sz="1200" dirty="0">
              <a:solidFill>
                <a:srgbClr val="0052D9"/>
              </a:solidFill>
              <a:cs typeface="+mn-ea"/>
              <a:sym typeface="+mn-lt"/>
            </a:endParaRPr>
          </a:p>
        </p:txBody>
      </p:sp>
      <p:sp>
        <p:nvSpPr>
          <p:cNvPr id="75" name="文本框 74">
            <a:extLst>
              <a:ext uri="{FF2B5EF4-FFF2-40B4-BE49-F238E27FC236}">
                <a16:creationId xmlns:a16="http://schemas.microsoft.com/office/drawing/2014/main" id="{6223F204-F625-0B14-E727-B05199BB37BA}"/>
              </a:ext>
            </a:extLst>
          </p:cNvPr>
          <p:cNvSpPr txBox="1"/>
          <p:nvPr/>
        </p:nvSpPr>
        <p:spPr>
          <a:xfrm>
            <a:off x="3737221" y="1199748"/>
            <a:ext cx="1385936" cy="276999"/>
          </a:xfrm>
          <a:prstGeom prst="rect">
            <a:avLst/>
          </a:prstGeom>
          <a:noFill/>
        </p:spPr>
        <p:txBody>
          <a:bodyPr wrap="square" rtlCol="0" anchor="ctr">
            <a:spAutoFit/>
          </a:bodyPr>
          <a:lstStyle/>
          <a:p>
            <a:r>
              <a:rPr lang="zh-CN" altLang="en-US" sz="1200" dirty="0">
                <a:solidFill>
                  <a:schemeClr val="accent6">
                    <a:lumMod val="10000"/>
                  </a:schemeClr>
                </a:solidFill>
                <a:cs typeface="+mn-ea"/>
                <a:sym typeface="+mn-lt"/>
              </a:rPr>
              <a:t>光引擎</a:t>
            </a:r>
            <a:endParaRPr lang="zh-CN" altLang="zh-CN" sz="1200" dirty="0">
              <a:solidFill>
                <a:srgbClr val="0052D9"/>
              </a:solidFill>
              <a:cs typeface="+mn-ea"/>
              <a:sym typeface="+mn-lt"/>
            </a:endParaRPr>
          </a:p>
        </p:txBody>
      </p:sp>
      <p:sp>
        <p:nvSpPr>
          <p:cNvPr id="84" name="文本框 83">
            <a:extLst>
              <a:ext uri="{FF2B5EF4-FFF2-40B4-BE49-F238E27FC236}">
                <a16:creationId xmlns:a16="http://schemas.microsoft.com/office/drawing/2014/main" id="{AA684037-5C7B-B76C-54AF-9B0D0C2216CC}"/>
              </a:ext>
            </a:extLst>
          </p:cNvPr>
          <p:cNvSpPr txBox="1"/>
          <p:nvPr/>
        </p:nvSpPr>
        <p:spPr>
          <a:xfrm>
            <a:off x="6710363" y="1529219"/>
            <a:ext cx="1385888" cy="276999"/>
          </a:xfrm>
          <a:prstGeom prst="rect">
            <a:avLst/>
          </a:prstGeom>
          <a:noFill/>
        </p:spPr>
        <p:txBody>
          <a:bodyPr wrap="square" rtlCol="0" anchor="ctr">
            <a:spAutoFit/>
          </a:bodyPr>
          <a:lstStyle/>
          <a:p>
            <a:r>
              <a:rPr lang="zh-CN" altLang="en-US" sz="1200" dirty="0">
                <a:solidFill>
                  <a:schemeClr val="accent6">
                    <a:lumMod val="10000"/>
                  </a:schemeClr>
                </a:solidFill>
                <a:cs typeface="+mn-ea"/>
                <a:sym typeface="+mn-lt"/>
              </a:rPr>
              <a:t>电信号</a:t>
            </a:r>
            <a:endParaRPr lang="zh-CN" altLang="zh-CN" sz="1200" dirty="0">
              <a:solidFill>
                <a:srgbClr val="0052D9"/>
              </a:solidFill>
              <a:cs typeface="+mn-ea"/>
              <a:sym typeface="+mn-lt"/>
            </a:endParaRPr>
          </a:p>
        </p:txBody>
      </p:sp>
    </p:spTree>
    <p:extLst>
      <p:ext uri="{BB962C8B-B14F-4D97-AF65-F5344CB8AC3E}">
        <p14:creationId xmlns:p14="http://schemas.microsoft.com/office/powerpoint/2010/main" val="1494746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C2142-6504-B9B4-CBED-3D265AAB727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C1FC24B-9E23-FCA0-83AB-7138FD1C3D55}"/>
              </a:ext>
            </a:extLst>
          </p:cNvPr>
          <p:cNvGraphicFramePr>
            <a:graphicFrameLocks noChangeAspect="1"/>
          </p:cNvGraphicFramePr>
          <p:nvPr>
            <p:custDataLst>
              <p:tags r:id="rId1"/>
            </p:custDataLst>
            <p:extLst>
              <p:ext uri="{D42A27DB-BD31-4B8C-83A1-F6EECF244321}">
                <p14:modId xmlns:p14="http://schemas.microsoft.com/office/powerpoint/2010/main" val="969082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4" imgH="405" progId="TCLayout.ActiveDocument.1">
                  <p:embed/>
                </p:oleObj>
              </mc:Choice>
              <mc:Fallback>
                <p:oleObj name="think-cell 幻灯片" r:id="rId4" imgW="404" imgH="405" progId="TCLayout.ActiveDocument.1">
                  <p:embed/>
                  <p:pic>
                    <p:nvPicPr>
                      <p:cNvPr id="5" name="think-cell data - do not delete" hidden="1">
                        <a:extLst>
                          <a:ext uri="{FF2B5EF4-FFF2-40B4-BE49-F238E27FC236}">
                            <a16:creationId xmlns:a16="http://schemas.microsoft.com/office/drawing/2014/main" id="{DC1FC24B-9E23-FCA0-83AB-7138FD1C3D5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标题 1">
            <a:extLst>
              <a:ext uri="{FF2B5EF4-FFF2-40B4-BE49-F238E27FC236}">
                <a16:creationId xmlns:a16="http://schemas.microsoft.com/office/drawing/2014/main" id="{511AF1C5-56F9-9940-02AA-B60CF2F357D4}"/>
              </a:ext>
            </a:extLst>
          </p:cNvPr>
          <p:cNvSpPr>
            <a:spLocks noGrp="1"/>
          </p:cNvSpPr>
          <p:nvPr>
            <p:ph type="title"/>
          </p:nvPr>
        </p:nvSpPr>
        <p:spPr>
          <a:xfrm>
            <a:off x="245110" y="156742"/>
            <a:ext cx="10433050" cy="731520"/>
          </a:xfrm>
        </p:spPr>
        <p:txBody>
          <a:bodyPr vert="horz"/>
          <a:lstStyle/>
          <a:p>
            <a:r>
              <a:rPr lang="en-US" altLang="zh-CN" dirty="0">
                <a:latin typeface="+mn-lt"/>
                <a:ea typeface="+mn-ea"/>
                <a:cs typeface="+mn-ea"/>
                <a:sym typeface="+mn-lt"/>
              </a:rPr>
              <a:t>IDC</a:t>
            </a:r>
            <a:r>
              <a:rPr lang="zh-CN" altLang="en-US" dirty="0">
                <a:latin typeface="+mn-lt"/>
                <a:ea typeface="+mn-ea"/>
                <a:cs typeface="+mn-ea"/>
                <a:sym typeface="+mn-lt"/>
              </a:rPr>
              <a:t>互连按照距离可分为 </a:t>
            </a:r>
            <a:r>
              <a:rPr lang="en-US" altLang="zh-CN" dirty="0">
                <a:latin typeface="+mn-lt"/>
                <a:ea typeface="+mn-ea"/>
                <a:cs typeface="+mn-ea"/>
                <a:sym typeface="+mn-lt"/>
              </a:rPr>
              <a:t>Scale Up</a:t>
            </a:r>
            <a:r>
              <a:rPr lang="zh-CN" altLang="en-US" dirty="0">
                <a:latin typeface="+mn-lt"/>
                <a:ea typeface="+mn-ea"/>
                <a:cs typeface="+mn-ea"/>
                <a:sym typeface="+mn-lt"/>
              </a:rPr>
              <a:t>与 </a:t>
            </a:r>
            <a:r>
              <a:rPr lang="en-US" altLang="zh-CN" dirty="0">
                <a:latin typeface="+mn-lt"/>
                <a:ea typeface="+mn-ea"/>
                <a:cs typeface="+mn-ea"/>
                <a:sym typeface="+mn-lt"/>
              </a:rPr>
              <a:t>Scale Out</a:t>
            </a:r>
            <a:endParaRPr lang="zh-CN" altLang="en-US" dirty="0">
              <a:latin typeface="+mn-lt"/>
              <a:ea typeface="+mn-ea"/>
              <a:cs typeface="+mn-ea"/>
              <a:sym typeface="+mn-lt"/>
            </a:endParaRPr>
          </a:p>
        </p:txBody>
      </p:sp>
      <p:grpSp>
        <p:nvGrpSpPr>
          <p:cNvPr id="50" name="组合 49">
            <a:extLst>
              <a:ext uri="{FF2B5EF4-FFF2-40B4-BE49-F238E27FC236}">
                <a16:creationId xmlns:a16="http://schemas.microsoft.com/office/drawing/2014/main" id="{EEAD20BA-E111-872C-9310-5D089E478DB0}"/>
              </a:ext>
            </a:extLst>
          </p:cNvPr>
          <p:cNvGrpSpPr/>
          <p:nvPr/>
        </p:nvGrpSpPr>
        <p:grpSpPr>
          <a:xfrm>
            <a:off x="982515" y="2978100"/>
            <a:ext cx="1588079" cy="1550052"/>
            <a:chOff x="2573606" y="2277426"/>
            <a:chExt cx="1580596" cy="1542748"/>
          </a:xfrm>
        </p:grpSpPr>
        <p:sp>
          <p:nvSpPr>
            <p:cNvPr id="51" name="矩形: 圆角 50">
              <a:extLst>
                <a:ext uri="{FF2B5EF4-FFF2-40B4-BE49-F238E27FC236}">
                  <a16:creationId xmlns:a16="http://schemas.microsoft.com/office/drawing/2014/main" id="{965E25FB-042E-752B-1B21-8045D7BD7AF2}"/>
                </a:ext>
              </a:extLst>
            </p:cNvPr>
            <p:cNvSpPr/>
            <p:nvPr/>
          </p:nvSpPr>
          <p:spPr>
            <a:xfrm>
              <a:off x="2573606" y="2277426"/>
              <a:ext cx="1580596" cy="1542748"/>
            </a:xfrm>
            <a:prstGeom prst="roundRect">
              <a:avLst>
                <a:gd name="adj" fmla="val 10158"/>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52" name="矩形: 圆角 51">
              <a:extLst>
                <a:ext uri="{FF2B5EF4-FFF2-40B4-BE49-F238E27FC236}">
                  <a16:creationId xmlns:a16="http://schemas.microsoft.com/office/drawing/2014/main" id="{BDECE4D8-2D7C-33C6-66F8-D8587EC9F1EB}"/>
                </a:ext>
              </a:extLst>
            </p:cNvPr>
            <p:cNvSpPr/>
            <p:nvPr/>
          </p:nvSpPr>
          <p:spPr>
            <a:xfrm>
              <a:off x="2722868" y="3439221"/>
              <a:ext cx="765981" cy="216536"/>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cs typeface="+mn-ea"/>
                  <a:sym typeface="+mn-lt"/>
                </a:rPr>
                <a:t>GPU</a:t>
              </a:r>
              <a:endParaRPr lang="zh-CN" altLang="en-US" sz="1600" dirty="0">
                <a:solidFill>
                  <a:schemeClr val="bg1"/>
                </a:solidFill>
                <a:cs typeface="+mn-ea"/>
                <a:sym typeface="+mn-lt"/>
              </a:endParaRPr>
            </a:p>
          </p:txBody>
        </p:sp>
        <p:sp>
          <p:nvSpPr>
            <p:cNvPr id="53" name="矩形: 圆角 52">
              <a:extLst>
                <a:ext uri="{FF2B5EF4-FFF2-40B4-BE49-F238E27FC236}">
                  <a16:creationId xmlns:a16="http://schemas.microsoft.com/office/drawing/2014/main" id="{B31EB4A6-2F41-A510-ECA3-FA1D4314AB5D}"/>
                </a:ext>
              </a:extLst>
            </p:cNvPr>
            <p:cNvSpPr/>
            <p:nvPr/>
          </p:nvSpPr>
          <p:spPr>
            <a:xfrm>
              <a:off x="2722868" y="3106781"/>
              <a:ext cx="765981" cy="216536"/>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cs typeface="+mn-ea"/>
                  <a:sym typeface="+mn-lt"/>
                </a:rPr>
                <a:t>GPU</a:t>
              </a:r>
              <a:endParaRPr lang="zh-CN" altLang="en-US" sz="1600" dirty="0">
                <a:solidFill>
                  <a:schemeClr val="bg1"/>
                </a:solidFill>
                <a:cs typeface="+mn-ea"/>
                <a:sym typeface="+mn-lt"/>
              </a:endParaRPr>
            </a:p>
          </p:txBody>
        </p:sp>
      </p:grpSp>
      <p:sp>
        <p:nvSpPr>
          <p:cNvPr id="57" name="三角形 53">
            <a:extLst>
              <a:ext uri="{FF2B5EF4-FFF2-40B4-BE49-F238E27FC236}">
                <a16:creationId xmlns:a16="http://schemas.microsoft.com/office/drawing/2014/main" id="{F9201A86-A9F8-C928-1199-A1C8317A7B06}"/>
              </a:ext>
            </a:extLst>
          </p:cNvPr>
          <p:cNvSpPr/>
          <p:nvPr/>
        </p:nvSpPr>
        <p:spPr>
          <a:xfrm rot="5400000">
            <a:off x="2885555" y="3680441"/>
            <a:ext cx="396001" cy="144021"/>
          </a:xfrm>
          <a:prstGeom prst="triangle">
            <a:avLst/>
          </a:prstGeom>
          <a:solidFill>
            <a:srgbClr val="0052D9"/>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300"/>
              </a:spcBef>
              <a:spcAft>
                <a:spcPts val="300"/>
              </a:spcAft>
            </a:pPr>
            <a:endParaRPr kumimoji="1" lang="zh-CN" altLang="en-US" sz="1600" dirty="0" err="1">
              <a:solidFill>
                <a:schemeClr val="bg1"/>
              </a:solidFill>
              <a:cs typeface="+mn-ea"/>
              <a:sym typeface="+mn-lt"/>
            </a:endParaRPr>
          </a:p>
        </p:txBody>
      </p:sp>
      <p:sp>
        <p:nvSpPr>
          <p:cNvPr id="3096" name="三角形 53">
            <a:extLst>
              <a:ext uri="{FF2B5EF4-FFF2-40B4-BE49-F238E27FC236}">
                <a16:creationId xmlns:a16="http://schemas.microsoft.com/office/drawing/2014/main" id="{27AFADDE-684D-76FF-ED5E-BB0883027CDE}"/>
              </a:ext>
            </a:extLst>
          </p:cNvPr>
          <p:cNvSpPr/>
          <p:nvPr/>
        </p:nvSpPr>
        <p:spPr>
          <a:xfrm rot="5400000">
            <a:off x="8720634" y="3543901"/>
            <a:ext cx="396001" cy="144021"/>
          </a:xfrm>
          <a:prstGeom prst="triangle">
            <a:avLst/>
          </a:prstGeom>
          <a:solidFill>
            <a:schemeClr val="accent6">
              <a:lumMod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300"/>
              </a:spcBef>
              <a:spcAft>
                <a:spcPts val="300"/>
              </a:spcAft>
            </a:pPr>
            <a:endParaRPr kumimoji="1" lang="zh-CN" altLang="en-US" sz="1600" dirty="0" err="1">
              <a:solidFill>
                <a:schemeClr val="bg1"/>
              </a:solidFill>
              <a:cs typeface="+mn-ea"/>
              <a:sym typeface="+mn-lt"/>
            </a:endParaRPr>
          </a:p>
        </p:txBody>
      </p:sp>
      <p:grpSp>
        <p:nvGrpSpPr>
          <p:cNvPr id="3271" name="组合 3270">
            <a:extLst>
              <a:ext uri="{FF2B5EF4-FFF2-40B4-BE49-F238E27FC236}">
                <a16:creationId xmlns:a16="http://schemas.microsoft.com/office/drawing/2014/main" id="{B0F04F1F-B7C6-EBF5-08EF-77EE958C1F26}"/>
              </a:ext>
            </a:extLst>
          </p:cNvPr>
          <p:cNvGrpSpPr/>
          <p:nvPr/>
        </p:nvGrpSpPr>
        <p:grpSpPr>
          <a:xfrm>
            <a:off x="670434" y="2128352"/>
            <a:ext cx="3322825" cy="328255"/>
            <a:chOff x="1177467" y="2702667"/>
            <a:chExt cx="3322825" cy="328255"/>
          </a:xfrm>
        </p:grpSpPr>
        <p:sp>
          <p:nvSpPr>
            <p:cNvPr id="3267" name="文本框 3266">
              <a:extLst>
                <a:ext uri="{FF2B5EF4-FFF2-40B4-BE49-F238E27FC236}">
                  <a16:creationId xmlns:a16="http://schemas.microsoft.com/office/drawing/2014/main" id="{E64EF022-78BB-6895-24DA-DEE29289F0BE}"/>
                </a:ext>
              </a:extLst>
            </p:cNvPr>
            <p:cNvSpPr txBox="1"/>
            <p:nvPr/>
          </p:nvSpPr>
          <p:spPr>
            <a:xfrm>
              <a:off x="1613598" y="2702667"/>
              <a:ext cx="2886694" cy="328255"/>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lang="en-US" altLang="zh-CN" sz="1400" b="1" dirty="0">
                  <a:cs typeface="+mn-ea"/>
                  <a:sym typeface="+mn-lt"/>
                </a:rPr>
                <a:t>Copper interconnection  </a:t>
              </a:r>
              <a:endParaRPr kumimoji="1" lang="en-US" altLang="zh-CN" sz="1400" dirty="0">
                <a:solidFill>
                  <a:srgbClr val="0052D9"/>
                </a:solidFill>
                <a:cs typeface="+mn-ea"/>
                <a:sym typeface="+mn-lt"/>
              </a:endParaRPr>
            </a:p>
          </p:txBody>
        </p:sp>
        <p:cxnSp>
          <p:nvCxnSpPr>
            <p:cNvPr id="3269" name="直接连接符 3268">
              <a:extLst>
                <a:ext uri="{FF2B5EF4-FFF2-40B4-BE49-F238E27FC236}">
                  <a16:creationId xmlns:a16="http://schemas.microsoft.com/office/drawing/2014/main" id="{F8E81B31-E2A9-5192-E979-77F1F630CD3C}"/>
                </a:ext>
              </a:extLst>
            </p:cNvPr>
            <p:cNvCxnSpPr/>
            <p:nvPr/>
          </p:nvCxnSpPr>
          <p:spPr>
            <a:xfrm>
              <a:off x="1177467" y="2886260"/>
              <a:ext cx="553272" cy="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3344" name="组合 3343">
            <a:extLst>
              <a:ext uri="{FF2B5EF4-FFF2-40B4-BE49-F238E27FC236}">
                <a16:creationId xmlns:a16="http://schemas.microsoft.com/office/drawing/2014/main" id="{03132B9D-4854-895A-CFFE-662665B22780}"/>
              </a:ext>
            </a:extLst>
          </p:cNvPr>
          <p:cNvGrpSpPr/>
          <p:nvPr/>
        </p:nvGrpSpPr>
        <p:grpSpPr>
          <a:xfrm>
            <a:off x="6514322" y="2117012"/>
            <a:ext cx="3070238" cy="646361"/>
            <a:chOff x="944683" y="5439665"/>
            <a:chExt cx="3070238" cy="646361"/>
          </a:xfrm>
        </p:grpSpPr>
        <p:grpSp>
          <p:nvGrpSpPr>
            <p:cNvPr id="3272" name="组合 3271">
              <a:extLst>
                <a:ext uri="{FF2B5EF4-FFF2-40B4-BE49-F238E27FC236}">
                  <a16:creationId xmlns:a16="http://schemas.microsoft.com/office/drawing/2014/main" id="{D1D101FE-4DF0-899A-BF1B-00AA5B7DBCDB}"/>
                </a:ext>
              </a:extLst>
            </p:cNvPr>
            <p:cNvGrpSpPr/>
            <p:nvPr/>
          </p:nvGrpSpPr>
          <p:grpSpPr>
            <a:xfrm>
              <a:off x="944683" y="5439665"/>
              <a:ext cx="3070238" cy="328255"/>
              <a:chOff x="1177467" y="2702232"/>
              <a:chExt cx="3070238" cy="328255"/>
            </a:xfrm>
          </p:grpSpPr>
          <p:sp>
            <p:nvSpPr>
              <p:cNvPr id="3273" name="文本框 3272">
                <a:extLst>
                  <a:ext uri="{FF2B5EF4-FFF2-40B4-BE49-F238E27FC236}">
                    <a16:creationId xmlns:a16="http://schemas.microsoft.com/office/drawing/2014/main" id="{BB3DF70E-2952-0F11-3BB1-B6048D3DAC35}"/>
                  </a:ext>
                </a:extLst>
              </p:cNvPr>
              <p:cNvSpPr txBox="1"/>
              <p:nvPr/>
            </p:nvSpPr>
            <p:spPr>
              <a:xfrm>
                <a:off x="1698265" y="2702232"/>
                <a:ext cx="2549440" cy="328255"/>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lang="en-US" altLang="zh-CN" sz="1400" b="1" dirty="0">
                    <a:cs typeface="+mn-ea"/>
                    <a:sym typeface="+mn-lt"/>
                  </a:rPr>
                  <a:t>Optical interconnection  </a:t>
                </a:r>
                <a:endParaRPr kumimoji="1" lang="en-US" altLang="zh-CN" sz="1400" dirty="0">
                  <a:solidFill>
                    <a:srgbClr val="0052D9"/>
                  </a:solidFill>
                  <a:cs typeface="+mn-ea"/>
                  <a:sym typeface="+mn-lt"/>
                </a:endParaRPr>
              </a:p>
            </p:txBody>
          </p:sp>
          <p:cxnSp>
            <p:nvCxnSpPr>
              <p:cNvPr id="3274" name="直接连接符 3273">
                <a:extLst>
                  <a:ext uri="{FF2B5EF4-FFF2-40B4-BE49-F238E27FC236}">
                    <a16:creationId xmlns:a16="http://schemas.microsoft.com/office/drawing/2014/main" id="{99AB7532-9D35-5CCE-C6E2-6DB4D5569C12}"/>
                  </a:ext>
                </a:extLst>
              </p:cNvPr>
              <p:cNvCxnSpPr/>
              <p:nvPr/>
            </p:nvCxnSpPr>
            <p:spPr>
              <a:xfrm>
                <a:off x="1177467" y="2886260"/>
                <a:ext cx="553272"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3342" name="椭圆 3341">
              <a:extLst>
                <a:ext uri="{FF2B5EF4-FFF2-40B4-BE49-F238E27FC236}">
                  <a16:creationId xmlns:a16="http://schemas.microsoft.com/office/drawing/2014/main" id="{3B54F34A-CE0E-8936-6DAA-45B09663BDFF}"/>
                </a:ext>
              </a:extLst>
            </p:cNvPr>
            <p:cNvSpPr/>
            <p:nvPr/>
          </p:nvSpPr>
          <p:spPr>
            <a:xfrm>
              <a:off x="1179356" y="5877079"/>
              <a:ext cx="92491" cy="92491"/>
            </a:xfrm>
            <a:prstGeom prst="ellipse">
              <a:avLst/>
            </a:prstGeom>
            <a:solidFill>
              <a:srgbClr val="FF720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3343" name="文本框 3342">
              <a:extLst>
                <a:ext uri="{FF2B5EF4-FFF2-40B4-BE49-F238E27FC236}">
                  <a16:creationId xmlns:a16="http://schemas.microsoft.com/office/drawing/2014/main" id="{E1D1FEBA-938A-3562-0934-FBCBECD015E8}"/>
                </a:ext>
              </a:extLst>
            </p:cNvPr>
            <p:cNvSpPr txBox="1"/>
            <p:nvPr/>
          </p:nvSpPr>
          <p:spPr>
            <a:xfrm>
              <a:off x="1380814" y="5757771"/>
              <a:ext cx="1984153" cy="328255"/>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lang="en-US" altLang="zh-CN" sz="1400" b="1" dirty="0">
                  <a:cs typeface="+mn-ea"/>
                  <a:sym typeface="+mn-lt"/>
                </a:rPr>
                <a:t>Optical module </a:t>
              </a:r>
              <a:endParaRPr kumimoji="1" lang="en-US" altLang="zh-CN" sz="1400" dirty="0">
                <a:solidFill>
                  <a:srgbClr val="0052D9"/>
                </a:solidFill>
                <a:cs typeface="+mn-ea"/>
                <a:sym typeface="+mn-lt"/>
              </a:endParaRPr>
            </a:p>
          </p:txBody>
        </p:sp>
      </p:grpSp>
      <p:grpSp>
        <p:nvGrpSpPr>
          <p:cNvPr id="3376" name="组合 3375">
            <a:extLst>
              <a:ext uri="{FF2B5EF4-FFF2-40B4-BE49-F238E27FC236}">
                <a16:creationId xmlns:a16="http://schemas.microsoft.com/office/drawing/2014/main" id="{A311E22A-3B40-1112-F2C1-F4B0E00EDFF7}"/>
              </a:ext>
            </a:extLst>
          </p:cNvPr>
          <p:cNvGrpSpPr/>
          <p:nvPr/>
        </p:nvGrpSpPr>
        <p:grpSpPr>
          <a:xfrm>
            <a:off x="504186" y="971862"/>
            <a:ext cx="11708217" cy="503758"/>
            <a:chOff x="504186" y="971862"/>
            <a:chExt cx="11708217" cy="503758"/>
          </a:xfrm>
        </p:grpSpPr>
        <p:sp>
          <p:nvSpPr>
            <p:cNvPr id="3377" name="文本框 3376">
              <a:extLst>
                <a:ext uri="{FF2B5EF4-FFF2-40B4-BE49-F238E27FC236}">
                  <a16:creationId xmlns:a16="http://schemas.microsoft.com/office/drawing/2014/main" id="{EDB8D8EE-B5EC-896A-E165-6347DDADEE1B}"/>
                </a:ext>
              </a:extLst>
            </p:cNvPr>
            <p:cNvSpPr txBox="1"/>
            <p:nvPr/>
          </p:nvSpPr>
          <p:spPr>
            <a:xfrm>
              <a:off x="6326494" y="976464"/>
              <a:ext cx="5885909" cy="30162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b="1" dirty="0">
                  <a:solidFill>
                    <a:schemeClr val="tx1">
                      <a:lumMod val="50000"/>
                    </a:schemeClr>
                  </a:solidFill>
                  <a:cs typeface="+mn-ea"/>
                  <a:sym typeface="+mn-lt"/>
                </a:rPr>
                <a:t>Scale Out</a:t>
              </a:r>
              <a:endParaRPr kumimoji="1" lang="zh-CN" altLang="en-US" b="1" dirty="0">
                <a:solidFill>
                  <a:schemeClr val="accent6">
                    <a:lumMod val="10000"/>
                  </a:schemeClr>
                </a:solidFill>
                <a:cs typeface="+mn-ea"/>
                <a:sym typeface="+mn-lt"/>
              </a:endParaRPr>
            </a:p>
          </p:txBody>
        </p:sp>
        <p:sp>
          <p:nvSpPr>
            <p:cNvPr id="3378" name="文本框 3377">
              <a:extLst>
                <a:ext uri="{FF2B5EF4-FFF2-40B4-BE49-F238E27FC236}">
                  <a16:creationId xmlns:a16="http://schemas.microsoft.com/office/drawing/2014/main" id="{7C8E51CD-9FC5-0898-3D72-0D16A7E1D2FB}"/>
                </a:ext>
              </a:extLst>
            </p:cNvPr>
            <p:cNvSpPr txBox="1"/>
            <p:nvPr/>
          </p:nvSpPr>
          <p:spPr>
            <a:xfrm>
              <a:off x="6172421" y="1173995"/>
              <a:ext cx="5130761" cy="301625"/>
            </a:xfrm>
            <a:prstGeom prst="rect">
              <a:avLst/>
            </a:prstGeom>
            <a:ln w="6350">
              <a:noFill/>
              <a:miter lim="800000"/>
            </a:ln>
          </p:spPr>
          <p:txBody>
            <a:bodyPr vert="horz" wrap="square" lIns="0" tIns="0" rIns="0" bIns="0" rtlCol="0">
              <a:noAutofit/>
            </a:bodyPr>
            <a:lstStyle/>
            <a:p>
              <a:pPr marL="285750" indent="-285750" algn="l">
                <a:spcBef>
                  <a:spcPts val="300"/>
                </a:spcBef>
                <a:spcAft>
                  <a:spcPts val="300"/>
                </a:spcAft>
                <a:buFont typeface="Arial" panose="020B0604020202020204" pitchFamily="34" charset="0"/>
                <a:buChar char="•"/>
              </a:pPr>
              <a:endParaRPr kumimoji="1" lang="zh-CN" altLang="en-US" sz="1600" dirty="0">
                <a:solidFill>
                  <a:schemeClr val="tx1">
                    <a:lumMod val="50000"/>
                  </a:schemeClr>
                </a:solidFill>
                <a:cs typeface="+mn-ea"/>
                <a:sym typeface="+mn-lt"/>
              </a:endParaRPr>
            </a:p>
          </p:txBody>
        </p:sp>
        <p:cxnSp>
          <p:nvCxnSpPr>
            <p:cNvPr id="3379" name="直线连接符 38">
              <a:extLst>
                <a:ext uri="{FF2B5EF4-FFF2-40B4-BE49-F238E27FC236}">
                  <a16:creationId xmlns:a16="http://schemas.microsoft.com/office/drawing/2014/main" id="{57D7DE24-6456-1C24-9923-82A8F9BEC91A}"/>
                </a:ext>
              </a:extLst>
            </p:cNvPr>
            <p:cNvCxnSpPr>
              <a:cxnSpLocks/>
            </p:cNvCxnSpPr>
            <p:nvPr/>
          </p:nvCxnSpPr>
          <p:spPr>
            <a:xfrm>
              <a:off x="6326494" y="1307289"/>
              <a:ext cx="5269570"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380" name="文本框 3379">
              <a:extLst>
                <a:ext uri="{FF2B5EF4-FFF2-40B4-BE49-F238E27FC236}">
                  <a16:creationId xmlns:a16="http://schemas.microsoft.com/office/drawing/2014/main" id="{2D7AAA23-5836-338E-E67C-FA2C90B0F5E0}"/>
                </a:ext>
              </a:extLst>
            </p:cNvPr>
            <p:cNvSpPr txBox="1"/>
            <p:nvPr/>
          </p:nvSpPr>
          <p:spPr>
            <a:xfrm>
              <a:off x="504186" y="971862"/>
              <a:ext cx="3873873" cy="327025"/>
            </a:xfrm>
            <a:prstGeom prst="rect">
              <a:avLst/>
            </a:prstGeom>
            <a:ln w="6350">
              <a:noFill/>
              <a:miter lim="800000"/>
            </a:ln>
          </p:spPr>
          <p:txBody>
            <a:bodyPr vert="horz" wrap="square" lIns="0" tIns="0" rIns="0" bIns="0" rtlCol="0" anchor="ctr">
              <a:noAutofit/>
            </a:bodyPr>
            <a:lstStyle/>
            <a:p>
              <a:pPr>
                <a:spcBef>
                  <a:spcPts val="600"/>
                </a:spcBef>
                <a:spcAft>
                  <a:spcPts val="600"/>
                </a:spcAft>
              </a:pPr>
              <a:r>
                <a:rPr kumimoji="1" lang="en-US" altLang="zh-CN" b="1" dirty="0">
                  <a:solidFill>
                    <a:schemeClr val="tx1">
                      <a:lumMod val="50000"/>
                    </a:schemeClr>
                  </a:solidFill>
                  <a:cs typeface="+mn-ea"/>
                  <a:sym typeface="+mn-lt"/>
                </a:rPr>
                <a:t>Scale Up</a:t>
              </a:r>
              <a:endParaRPr kumimoji="1" lang="en-US" altLang="zh-CN" dirty="0">
                <a:solidFill>
                  <a:schemeClr val="tx1">
                    <a:lumMod val="50000"/>
                  </a:schemeClr>
                </a:solidFill>
                <a:cs typeface="+mn-ea"/>
                <a:sym typeface="+mn-lt"/>
              </a:endParaRPr>
            </a:p>
          </p:txBody>
        </p:sp>
        <p:cxnSp>
          <p:nvCxnSpPr>
            <p:cNvPr id="3381" name="直线连接符 38">
              <a:extLst>
                <a:ext uri="{FF2B5EF4-FFF2-40B4-BE49-F238E27FC236}">
                  <a16:creationId xmlns:a16="http://schemas.microsoft.com/office/drawing/2014/main" id="{C572C1AD-F592-8A21-7F93-208F08C8D2A8}"/>
                </a:ext>
              </a:extLst>
            </p:cNvPr>
            <p:cNvCxnSpPr>
              <a:cxnSpLocks/>
            </p:cNvCxnSpPr>
            <p:nvPr/>
          </p:nvCxnSpPr>
          <p:spPr>
            <a:xfrm>
              <a:off x="504186" y="1316624"/>
              <a:ext cx="5356341"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3382" name="文本框 3381">
            <a:extLst>
              <a:ext uri="{FF2B5EF4-FFF2-40B4-BE49-F238E27FC236}">
                <a16:creationId xmlns:a16="http://schemas.microsoft.com/office/drawing/2014/main" id="{D08737EF-333E-660C-4B94-ABCA3B720A04}"/>
              </a:ext>
            </a:extLst>
          </p:cNvPr>
          <p:cNvSpPr txBox="1"/>
          <p:nvPr/>
        </p:nvSpPr>
        <p:spPr>
          <a:xfrm>
            <a:off x="598141" y="1560262"/>
            <a:ext cx="5503863" cy="327025"/>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zh-CN" altLang="en-US" dirty="0">
                <a:solidFill>
                  <a:schemeClr val="tx1">
                    <a:lumMod val="50000"/>
                  </a:schemeClr>
                </a:solidFill>
                <a:cs typeface="+mn-ea"/>
                <a:sym typeface="+mn-lt"/>
              </a:rPr>
              <a:t>单机柜叠加</a:t>
            </a:r>
            <a:r>
              <a:rPr kumimoji="1" lang="en-US" altLang="zh-CN" dirty="0">
                <a:solidFill>
                  <a:schemeClr val="tx1">
                    <a:lumMod val="50000"/>
                  </a:schemeClr>
                </a:solidFill>
                <a:cs typeface="+mn-ea"/>
                <a:sym typeface="+mn-lt"/>
              </a:rPr>
              <a:t>GPU</a:t>
            </a:r>
            <a:r>
              <a:rPr kumimoji="1" lang="zh-CN" altLang="en-US" b="1" dirty="0">
                <a:solidFill>
                  <a:srgbClr val="0052D9"/>
                </a:solidFill>
                <a:cs typeface="+mn-ea"/>
                <a:sym typeface="+mn-lt"/>
              </a:rPr>
              <a:t>直连、全连</a:t>
            </a:r>
            <a:r>
              <a:rPr kumimoji="1" lang="zh-CN" altLang="en-US" dirty="0">
                <a:solidFill>
                  <a:schemeClr val="tx1">
                    <a:lumMod val="50000"/>
                  </a:schemeClr>
                </a:solidFill>
                <a:cs typeface="+mn-ea"/>
                <a:sym typeface="+mn-lt"/>
              </a:rPr>
              <a:t>，距离</a:t>
            </a:r>
            <a:r>
              <a:rPr kumimoji="1" lang="en-US" altLang="zh-CN" dirty="0">
                <a:solidFill>
                  <a:schemeClr val="tx1">
                    <a:lumMod val="50000"/>
                  </a:schemeClr>
                </a:solidFill>
                <a:cs typeface="+mn-ea"/>
                <a:sym typeface="+mn-lt"/>
              </a:rPr>
              <a:t>&lt;5m</a:t>
            </a:r>
            <a:r>
              <a:rPr kumimoji="1" lang="zh-CN" altLang="en-US" dirty="0">
                <a:solidFill>
                  <a:schemeClr val="tx1">
                    <a:lumMod val="50000"/>
                  </a:schemeClr>
                </a:solidFill>
                <a:cs typeface="+mn-ea"/>
                <a:sym typeface="+mn-lt"/>
              </a:rPr>
              <a:t>，</a:t>
            </a:r>
            <a:r>
              <a:rPr kumimoji="1" lang="zh-CN" altLang="en-US" dirty="0">
                <a:solidFill>
                  <a:schemeClr val="accent6">
                    <a:lumMod val="10000"/>
                  </a:schemeClr>
                </a:solidFill>
                <a:cs typeface="+mn-ea"/>
                <a:sym typeface="+mn-lt"/>
              </a:rPr>
              <a:t>高频</a:t>
            </a:r>
            <a:r>
              <a:rPr kumimoji="1" lang="zh-CN" altLang="en-US" dirty="0">
                <a:solidFill>
                  <a:schemeClr val="tx1">
                    <a:lumMod val="50000"/>
                  </a:schemeClr>
                </a:solidFill>
                <a:cs typeface="+mn-ea"/>
                <a:sym typeface="+mn-lt"/>
              </a:rPr>
              <a:t>交互强调</a:t>
            </a:r>
            <a:r>
              <a:rPr kumimoji="1" lang="zh-CN" altLang="en-US" b="1" dirty="0">
                <a:solidFill>
                  <a:srgbClr val="0052D9"/>
                </a:solidFill>
                <a:cs typeface="+mn-ea"/>
                <a:sym typeface="+mn-lt"/>
              </a:rPr>
              <a:t>低延时</a:t>
            </a:r>
            <a:r>
              <a:rPr kumimoji="1" lang="zh-CN" altLang="en-US" dirty="0">
                <a:solidFill>
                  <a:schemeClr val="tx1">
                    <a:lumMod val="50000"/>
                  </a:schemeClr>
                </a:solidFill>
                <a:cs typeface="+mn-ea"/>
                <a:sym typeface="+mn-lt"/>
              </a:rPr>
              <a:t>，</a:t>
            </a:r>
            <a:r>
              <a:rPr kumimoji="1" lang="zh-CN" altLang="en-US" b="1" dirty="0">
                <a:solidFill>
                  <a:srgbClr val="0052D9"/>
                </a:solidFill>
                <a:cs typeface="+mn-ea"/>
                <a:sym typeface="+mn-lt"/>
              </a:rPr>
              <a:t>铜</a:t>
            </a:r>
            <a:r>
              <a:rPr kumimoji="1" lang="zh-CN" altLang="en-US" dirty="0">
                <a:solidFill>
                  <a:schemeClr val="tx1">
                    <a:lumMod val="50000"/>
                  </a:schemeClr>
                </a:solidFill>
                <a:cs typeface="+mn-ea"/>
                <a:sym typeface="+mn-lt"/>
              </a:rPr>
              <a:t>互连为主</a:t>
            </a:r>
            <a:endParaRPr kumimoji="1" lang="en-US" altLang="zh-CN" dirty="0">
              <a:solidFill>
                <a:schemeClr val="tx1">
                  <a:lumMod val="50000"/>
                </a:schemeClr>
              </a:solidFill>
              <a:cs typeface="+mn-ea"/>
              <a:sym typeface="+mn-lt"/>
            </a:endParaRPr>
          </a:p>
        </p:txBody>
      </p:sp>
      <p:sp>
        <p:nvSpPr>
          <p:cNvPr id="3383" name="文本框 3382">
            <a:extLst>
              <a:ext uri="{FF2B5EF4-FFF2-40B4-BE49-F238E27FC236}">
                <a16:creationId xmlns:a16="http://schemas.microsoft.com/office/drawing/2014/main" id="{544432B3-3B8D-2084-AA66-7E7EB77D20F9}"/>
              </a:ext>
            </a:extLst>
          </p:cNvPr>
          <p:cNvSpPr txBox="1"/>
          <p:nvPr/>
        </p:nvSpPr>
        <p:spPr>
          <a:xfrm>
            <a:off x="6397159" y="1552454"/>
            <a:ext cx="5196700" cy="328613"/>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zh-CN" altLang="en-US" dirty="0">
                <a:solidFill>
                  <a:schemeClr val="tx1">
                    <a:lumMod val="50000"/>
                  </a:schemeClr>
                </a:solidFill>
                <a:cs typeface="+mn-ea"/>
                <a:sym typeface="+mn-lt"/>
              </a:rPr>
              <a:t>算力节点横向互连，距离</a:t>
            </a:r>
            <a:r>
              <a:rPr kumimoji="1" lang="en-US" altLang="zh-CN" dirty="0">
                <a:solidFill>
                  <a:schemeClr val="tx1">
                    <a:lumMod val="50000"/>
                  </a:schemeClr>
                </a:solidFill>
                <a:cs typeface="+mn-ea"/>
                <a:sym typeface="+mn-lt"/>
              </a:rPr>
              <a:t>&gt;5m</a:t>
            </a:r>
            <a:r>
              <a:rPr kumimoji="1" lang="zh-CN" altLang="en-US" dirty="0">
                <a:solidFill>
                  <a:schemeClr val="tx1">
                    <a:lumMod val="50000"/>
                  </a:schemeClr>
                </a:solidFill>
                <a:cs typeface="+mn-ea"/>
                <a:sym typeface="+mn-lt"/>
              </a:rPr>
              <a:t>，强调</a:t>
            </a:r>
            <a:r>
              <a:rPr kumimoji="1" lang="zh-CN" altLang="en-US" b="1" dirty="0">
                <a:solidFill>
                  <a:srgbClr val="0052D9"/>
                </a:solidFill>
                <a:cs typeface="+mn-ea"/>
                <a:sym typeface="+mn-lt"/>
              </a:rPr>
              <a:t>可扩展性</a:t>
            </a:r>
            <a:r>
              <a:rPr kumimoji="1" lang="zh-CN" altLang="en-US" dirty="0">
                <a:solidFill>
                  <a:schemeClr val="tx1">
                    <a:lumMod val="50000"/>
                  </a:schemeClr>
                </a:solidFill>
                <a:cs typeface="+mn-ea"/>
                <a:sym typeface="+mn-lt"/>
              </a:rPr>
              <a:t>，</a:t>
            </a:r>
            <a:r>
              <a:rPr kumimoji="1" lang="zh-CN" altLang="en-US" b="1" dirty="0">
                <a:solidFill>
                  <a:srgbClr val="0052D9"/>
                </a:solidFill>
                <a:cs typeface="+mn-ea"/>
                <a:sym typeface="+mn-lt"/>
              </a:rPr>
              <a:t>光</a:t>
            </a:r>
            <a:r>
              <a:rPr kumimoji="1" lang="zh-CN" altLang="en-US" dirty="0">
                <a:solidFill>
                  <a:schemeClr val="tx1">
                    <a:lumMod val="50000"/>
                  </a:schemeClr>
                </a:solidFill>
                <a:cs typeface="+mn-ea"/>
                <a:sym typeface="+mn-lt"/>
              </a:rPr>
              <a:t>互连为主</a:t>
            </a:r>
            <a:endParaRPr kumimoji="1" lang="en-US" altLang="zh-CN" dirty="0">
              <a:solidFill>
                <a:schemeClr val="tx1">
                  <a:lumMod val="50000"/>
                </a:schemeClr>
              </a:solidFill>
              <a:cs typeface="+mn-ea"/>
              <a:sym typeface="+mn-lt"/>
            </a:endParaRPr>
          </a:p>
        </p:txBody>
      </p:sp>
      <p:pic>
        <p:nvPicPr>
          <p:cNvPr id="3389" name="Picture 4" descr="Nvidia's DGX GB200 NVL72 is a rack scale system that uses NVLink to mesh 72 Blackwell accelerators into one big GPU.">
            <a:extLst>
              <a:ext uri="{FF2B5EF4-FFF2-40B4-BE49-F238E27FC236}">
                <a16:creationId xmlns:a16="http://schemas.microsoft.com/office/drawing/2014/main" id="{81268441-0430-A466-8932-5295D85194F8}"/>
              </a:ext>
            </a:extLst>
          </p:cNvPr>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ackgroundRemoval t="5330" b="99492" l="9831" r="89492">
                        <a14:foregroundMark x1="33642" y1="19792" x2="33786" y2="6079"/>
                        <a14:foregroundMark x1="34958" y1="5128" x2="45370" y2="5440"/>
                        <a14:foregroundMark x1="56249" y1="5440" x2="59414" y2="5440"/>
                        <a14:foregroundMark x1="50434" y1="5440" x2="52410" y2="5440"/>
                        <a14:foregroundMark x1="45370" y1="5440" x2="45804" y2="5440"/>
                        <a14:foregroundMark x1="59414" y1="5440" x2="65895" y2="12153"/>
                        <a14:foregroundMark x1="65895" y1="12153" x2="65741" y2="13310"/>
                        <a14:foregroundMark x1="34722" y1="88773" x2="45525" y2="94444"/>
                        <a14:foregroundMark x1="45525" y1="94444" x2="57407" y2="94444"/>
                        <a14:foregroundMark x1="57407" y1="94444" x2="63426" y2="89120"/>
                        <a14:foregroundMark x1="63426" y1="89120" x2="63889" y2="87153"/>
                        <a14:foregroundMark x1="33506" y1="30560" x2="33517" y2="32017"/>
                        <a14:foregroundMark x1="32562" y1="7060" x2="33179" y2="13542"/>
                        <a14:foregroundMark x1="33642" y1="33218" x2="34105" y2="35301"/>
                        <a14:foregroundMark x1="33951" y1="36690" x2="33951" y2="38426"/>
                        <a14:foregroundMark x1="33796" y1="39699" x2="34105" y2="41435"/>
                        <a14:foregroundMark x1="33642" y1="42477" x2="34105" y2="43981"/>
                        <a14:foregroundMark x1="58644" y1="95939" x2="62034" y2="91371"/>
                        <a14:foregroundMark x1="62034" y1="96447" x2="36949" y2="98477"/>
                        <a14:foregroundMark x1="61356" y1="95685" x2="64068" y2="99492"/>
                        <a14:foregroundMark x1="60339" y1="39340" x2="47119" y2="84010"/>
                        <a14:foregroundMark x1="61017" y1="42132" x2="61017" y2="56345"/>
                        <a14:backgroundMark x1="54630" y1="3125" x2="58025" y2="3588"/>
                        <a14:backgroundMark x1="47377" y1="3588" x2="52006" y2="3588"/>
                        <a14:backgroundMark x1="11728" y1="17940" x2="24383" y2="28704"/>
                        <a14:backgroundMark x1="19599" y1="28704" x2="21914" y2="59144"/>
                        <a14:backgroundMark x1="25926" y1="31597" x2="29630" y2="61111"/>
                        <a14:backgroundMark x1="34568" y1="3588" x2="36265" y2="3588"/>
                        <a14:backgroundMark x1="31950" y1="44348" x2="32099" y2="48264"/>
                        <a14:backgroundMark x1="31847" y1="41659" x2="31890" y2="42775"/>
                        <a14:backgroundMark x1="31724" y1="38426" x2="31780" y2="39899"/>
                        <a14:backgroundMark x1="31616" y1="35609" x2="31657" y2="36690"/>
                        <a14:backgroundMark x1="31481" y1="32060" x2="31535" y2="33479"/>
                        <a14:backgroundMark x1="29153" y1="21827" x2="28814" y2="30457"/>
                        <a14:backgroundMark x1="70847" y1="27665" x2="78983" y2="40863"/>
                      </a14:backgroundRemoval>
                    </a14:imgEffect>
                  </a14:imgLayer>
                </a14:imgProps>
              </a:ext>
              <a:ext uri="{28A0092B-C50C-407E-A947-70E740481C1C}">
                <a14:useLocalDpi xmlns:a14="http://schemas.microsoft.com/office/drawing/2010/main" val="0"/>
              </a:ext>
            </a:extLst>
          </a:blip>
          <a:srcRect l="29529" r="31937"/>
          <a:stretch/>
        </p:blipFill>
        <p:spPr bwMode="auto">
          <a:xfrm>
            <a:off x="732871" y="5093464"/>
            <a:ext cx="298369" cy="1032407"/>
          </a:xfrm>
          <a:prstGeom prst="rect">
            <a:avLst/>
          </a:prstGeom>
          <a:noFill/>
          <a:extLst>
            <a:ext uri="{909E8E84-426E-40DD-AFC4-6F175D3DCCD1}">
              <a14:hiddenFill xmlns:a14="http://schemas.microsoft.com/office/drawing/2010/main">
                <a:solidFill>
                  <a:srgbClr val="FFFFFF"/>
                </a:solidFill>
              </a14:hiddenFill>
            </a:ext>
          </a:extLst>
        </p:spPr>
      </p:pic>
      <p:pic>
        <p:nvPicPr>
          <p:cNvPr id="3390" name="Picture 6">
            <a:extLst>
              <a:ext uri="{FF2B5EF4-FFF2-40B4-BE49-F238E27FC236}">
                <a16:creationId xmlns:a16="http://schemas.microsoft.com/office/drawing/2014/main" id="{E5706736-8514-F8DF-864E-A96B7C7568DC}"/>
              </a:ext>
            </a:extLst>
          </p:cNvPr>
          <p:cNvPicPr>
            <a:picLocks noChangeAspect="1" noChangeArrowheads="1"/>
          </p:cNvPicPr>
          <p:nvPr/>
        </p:nvPicPr>
        <p:blipFill rotWithShape="1">
          <a:blip r:embed="rId8" cstate="print">
            <a:extLst>
              <a:ext uri="{BEBA8EAE-BF5A-486C-A8C5-ECC9F3942E4B}">
                <a14:imgProps xmlns:a14="http://schemas.microsoft.com/office/drawing/2010/main">
                  <a14:imgLayer r:embed="rId9">
                    <a14:imgEffect>
                      <a14:backgroundRemoval t="5067" b="93200" l="10000" r="90000">
                        <a14:foregroundMark x1="19417" y1="10000" x2="42583" y2="5067"/>
                        <a14:foregroundMark x1="42583" y1="5067" x2="76583" y2="9467"/>
                        <a14:foregroundMark x1="20500" y1="86000" x2="37930" y2="92845"/>
                        <a14:foregroundMark x1="51040" y1="91247" x2="68108" y2="88516"/>
                        <a14:foregroundMark x1="19833" y1="87067" x2="18250" y2="89067"/>
                        <a14:backgroundMark x1="36000" y1="95867" x2="50000" y2="94000"/>
                        <a14:backgroundMark x1="43333" y1="94533" x2="47417" y2="94533"/>
                        <a14:backgroundMark x1="47667" y1="93867" x2="44667" y2="94267"/>
                        <a14:backgroundMark x1="36333" y1="95600" x2="38917" y2="95200"/>
                        <a14:backgroundMark x1="67083" y1="91333" x2="69333" y2="90800"/>
                      </a14:backgroundRemoval>
                    </a14:imgEffect>
                  </a14:imgLayer>
                </a14:imgProps>
              </a:ext>
              <a:ext uri="{28A0092B-C50C-407E-A947-70E740481C1C}">
                <a14:useLocalDpi xmlns:a14="http://schemas.microsoft.com/office/drawing/2010/main" val="0"/>
              </a:ext>
            </a:extLst>
          </a:blip>
          <a:srcRect l="15814" t="2184" r="20049" b="3520"/>
          <a:stretch/>
        </p:blipFill>
        <p:spPr bwMode="auto">
          <a:xfrm>
            <a:off x="3129199" y="5070664"/>
            <a:ext cx="1313370" cy="1206845"/>
          </a:xfrm>
          <a:prstGeom prst="rect">
            <a:avLst/>
          </a:prstGeom>
          <a:noFill/>
          <a:extLst>
            <a:ext uri="{909E8E84-426E-40DD-AFC4-6F175D3DCCD1}">
              <a14:hiddenFill xmlns:a14="http://schemas.microsoft.com/office/drawing/2010/main">
                <a:solidFill>
                  <a:srgbClr val="FFFFFF"/>
                </a:solidFill>
              </a14:hiddenFill>
            </a:ext>
          </a:extLst>
        </p:spPr>
      </p:pic>
      <p:grpSp>
        <p:nvGrpSpPr>
          <p:cNvPr id="3393" name="组合 3392">
            <a:extLst>
              <a:ext uri="{FF2B5EF4-FFF2-40B4-BE49-F238E27FC236}">
                <a16:creationId xmlns:a16="http://schemas.microsoft.com/office/drawing/2014/main" id="{F6BA629C-C41D-CF31-17B4-AFA2941DDBBB}"/>
              </a:ext>
            </a:extLst>
          </p:cNvPr>
          <p:cNvGrpSpPr/>
          <p:nvPr/>
        </p:nvGrpSpPr>
        <p:grpSpPr>
          <a:xfrm>
            <a:off x="1752921" y="3094459"/>
            <a:ext cx="978034" cy="1114469"/>
            <a:chOff x="1966449" y="2822041"/>
            <a:chExt cx="978034" cy="1114469"/>
          </a:xfrm>
        </p:grpSpPr>
        <p:grpSp>
          <p:nvGrpSpPr>
            <p:cNvPr id="3117" name="组合 3116">
              <a:extLst>
                <a:ext uri="{FF2B5EF4-FFF2-40B4-BE49-F238E27FC236}">
                  <a16:creationId xmlns:a16="http://schemas.microsoft.com/office/drawing/2014/main" id="{5AFA96AA-26BF-B317-BCE6-13DE6EC24C32}"/>
                </a:ext>
              </a:extLst>
            </p:cNvPr>
            <p:cNvGrpSpPr/>
            <p:nvPr/>
          </p:nvGrpSpPr>
          <p:grpSpPr>
            <a:xfrm>
              <a:off x="1966449" y="2822041"/>
              <a:ext cx="978034" cy="1114469"/>
              <a:chOff x="2195088" y="3024517"/>
              <a:chExt cx="1256271" cy="1431520"/>
            </a:xfrm>
          </p:grpSpPr>
          <p:sp>
            <p:nvSpPr>
              <p:cNvPr id="3115" name="矩形: 圆角 3114">
                <a:extLst>
                  <a:ext uri="{FF2B5EF4-FFF2-40B4-BE49-F238E27FC236}">
                    <a16:creationId xmlns:a16="http://schemas.microsoft.com/office/drawing/2014/main" id="{5612C2CA-7487-B790-747F-CF07F79EB1DD}"/>
                  </a:ext>
                </a:extLst>
              </p:cNvPr>
              <p:cNvSpPr/>
              <p:nvPr/>
            </p:nvSpPr>
            <p:spPr>
              <a:xfrm>
                <a:off x="2840583" y="3385373"/>
                <a:ext cx="86614" cy="1070664"/>
              </a:xfrm>
              <a:prstGeom prst="round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
            <p:nvSpPr>
              <p:cNvPr id="3116" name="文本框 3115">
                <a:extLst>
                  <a:ext uri="{FF2B5EF4-FFF2-40B4-BE49-F238E27FC236}">
                    <a16:creationId xmlns:a16="http://schemas.microsoft.com/office/drawing/2014/main" id="{D080EB64-9D40-F836-B215-251AE7B1A239}"/>
                  </a:ext>
                </a:extLst>
              </p:cNvPr>
              <p:cNvSpPr txBox="1"/>
              <p:nvPr/>
            </p:nvSpPr>
            <p:spPr>
              <a:xfrm>
                <a:off x="2195088" y="3024517"/>
                <a:ext cx="1256271" cy="328256"/>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err="1">
                    <a:solidFill>
                      <a:schemeClr val="accent5"/>
                    </a:solidFill>
                    <a:cs typeface="+mn-ea"/>
                    <a:sym typeface="+mn-lt"/>
                  </a:rPr>
                  <a:t>NVLink</a:t>
                </a:r>
                <a:endParaRPr kumimoji="1" lang="en-US" altLang="zh-CN" sz="1400" dirty="0">
                  <a:solidFill>
                    <a:schemeClr val="accent5"/>
                  </a:solidFill>
                  <a:cs typeface="+mn-ea"/>
                  <a:sym typeface="+mn-lt"/>
                </a:endParaRPr>
              </a:p>
            </p:txBody>
          </p:sp>
        </p:grpSp>
        <p:sp>
          <p:nvSpPr>
            <p:cNvPr id="3391" name="椭圆 3390">
              <a:extLst>
                <a:ext uri="{FF2B5EF4-FFF2-40B4-BE49-F238E27FC236}">
                  <a16:creationId xmlns:a16="http://schemas.microsoft.com/office/drawing/2014/main" id="{CF04F415-983A-C0FE-6810-67D81A7395A0}"/>
                </a:ext>
              </a:extLst>
            </p:cNvPr>
            <p:cNvSpPr/>
            <p:nvPr/>
          </p:nvSpPr>
          <p:spPr>
            <a:xfrm>
              <a:off x="2455467" y="3717568"/>
              <a:ext cx="92491" cy="9249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3392" name="椭圆 3391">
              <a:extLst>
                <a:ext uri="{FF2B5EF4-FFF2-40B4-BE49-F238E27FC236}">
                  <a16:creationId xmlns:a16="http://schemas.microsoft.com/office/drawing/2014/main" id="{AD038174-A9A3-46F6-4D3E-975DCC2F9B84}"/>
                </a:ext>
              </a:extLst>
            </p:cNvPr>
            <p:cNvSpPr/>
            <p:nvPr/>
          </p:nvSpPr>
          <p:spPr>
            <a:xfrm>
              <a:off x="2455466" y="3232072"/>
              <a:ext cx="92491" cy="9249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grpSp>
      <p:cxnSp>
        <p:nvCxnSpPr>
          <p:cNvPr id="3394" name="直接连接符 3393">
            <a:extLst>
              <a:ext uri="{FF2B5EF4-FFF2-40B4-BE49-F238E27FC236}">
                <a16:creationId xmlns:a16="http://schemas.microsoft.com/office/drawing/2014/main" id="{7B333325-F1FE-A9FF-0B8C-4E3EA375A269}"/>
              </a:ext>
            </a:extLst>
          </p:cNvPr>
          <p:cNvCxnSpPr>
            <a:cxnSpLocks/>
            <a:stCxn id="52" idx="3"/>
            <a:endCxn id="3391" idx="2"/>
          </p:cNvCxnSpPr>
          <p:nvPr/>
        </p:nvCxnSpPr>
        <p:spPr>
          <a:xfrm flipV="1">
            <a:off x="1902091" y="4036232"/>
            <a:ext cx="339848" cy="217944"/>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97" name="直接连接符 3396">
            <a:extLst>
              <a:ext uri="{FF2B5EF4-FFF2-40B4-BE49-F238E27FC236}">
                <a16:creationId xmlns:a16="http://schemas.microsoft.com/office/drawing/2014/main" id="{E0B5F15D-B0FF-4052-0BD0-F1B82BAAD438}"/>
              </a:ext>
            </a:extLst>
          </p:cNvPr>
          <p:cNvCxnSpPr>
            <a:cxnSpLocks/>
            <a:stCxn id="53" idx="3"/>
            <a:endCxn id="3391" idx="2"/>
          </p:cNvCxnSpPr>
          <p:nvPr/>
        </p:nvCxnSpPr>
        <p:spPr>
          <a:xfrm>
            <a:off x="1902091" y="3920163"/>
            <a:ext cx="339848" cy="116069"/>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00" name="直接连接符 3399">
            <a:extLst>
              <a:ext uri="{FF2B5EF4-FFF2-40B4-BE49-F238E27FC236}">
                <a16:creationId xmlns:a16="http://schemas.microsoft.com/office/drawing/2014/main" id="{552E5129-15D6-B1FF-5B0D-10FF80B6902D}"/>
              </a:ext>
            </a:extLst>
          </p:cNvPr>
          <p:cNvCxnSpPr>
            <a:cxnSpLocks/>
            <a:stCxn id="52" idx="3"/>
            <a:endCxn id="3392" idx="2"/>
          </p:cNvCxnSpPr>
          <p:nvPr/>
        </p:nvCxnSpPr>
        <p:spPr>
          <a:xfrm flipV="1">
            <a:off x="1902091" y="3550736"/>
            <a:ext cx="339847" cy="70344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03" name="直接连接符 3402">
            <a:extLst>
              <a:ext uri="{FF2B5EF4-FFF2-40B4-BE49-F238E27FC236}">
                <a16:creationId xmlns:a16="http://schemas.microsoft.com/office/drawing/2014/main" id="{EFE94D55-56D8-2DC5-66FD-E678A6663757}"/>
              </a:ext>
            </a:extLst>
          </p:cNvPr>
          <p:cNvCxnSpPr>
            <a:cxnSpLocks/>
            <a:stCxn id="53" idx="3"/>
            <a:endCxn id="3392" idx="2"/>
          </p:cNvCxnSpPr>
          <p:nvPr/>
        </p:nvCxnSpPr>
        <p:spPr>
          <a:xfrm flipV="1">
            <a:off x="1902091" y="3550736"/>
            <a:ext cx="339847" cy="369427"/>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407" name="组合 3406">
            <a:extLst>
              <a:ext uri="{FF2B5EF4-FFF2-40B4-BE49-F238E27FC236}">
                <a16:creationId xmlns:a16="http://schemas.microsoft.com/office/drawing/2014/main" id="{391F9969-E92A-6BFD-05EB-2803777ADC73}"/>
              </a:ext>
            </a:extLst>
          </p:cNvPr>
          <p:cNvGrpSpPr/>
          <p:nvPr/>
        </p:nvGrpSpPr>
        <p:grpSpPr>
          <a:xfrm>
            <a:off x="3564779" y="2978969"/>
            <a:ext cx="1641306" cy="1550052"/>
            <a:chOff x="2573607" y="2277426"/>
            <a:chExt cx="1633572" cy="1542748"/>
          </a:xfrm>
        </p:grpSpPr>
        <p:sp>
          <p:nvSpPr>
            <p:cNvPr id="3408" name="矩形: 圆角 3407">
              <a:extLst>
                <a:ext uri="{FF2B5EF4-FFF2-40B4-BE49-F238E27FC236}">
                  <a16:creationId xmlns:a16="http://schemas.microsoft.com/office/drawing/2014/main" id="{28072606-BBCC-B39B-69AC-F5203562D82A}"/>
                </a:ext>
              </a:extLst>
            </p:cNvPr>
            <p:cNvSpPr/>
            <p:nvPr/>
          </p:nvSpPr>
          <p:spPr>
            <a:xfrm>
              <a:off x="2573607" y="2277426"/>
              <a:ext cx="1633572" cy="1542748"/>
            </a:xfrm>
            <a:prstGeom prst="roundRect">
              <a:avLst>
                <a:gd name="adj" fmla="val 10158"/>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409" name="矩形: 圆角 3408">
              <a:extLst>
                <a:ext uri="{FF2B5EF4-FFF2-40B4-BE49-F238E27FC236}">
                  <a16:creationId xmlns:a16="http://schemas.microsoft.com/office/drawing/2014/main" id="{F37021CA-7328-4561-1AFB-584637DE2BBB}"/>
                </a:ext>
              </a:extLst>
            </p:cNvPr>
            <p:cNvSpPr/>
            <p:nvPr/>
          </p:nvSpPr>
          <p:spPr>
            <a:xfrm>
              <a:off x="2722868" y="3439221"/>
              <a:ext cx="765981" cy="216536"/>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cs typeface="+mn-ea"/>
                  <a:sym typeface="+mn-lt"/>
                </a:rPr>
                <a:t>GPU</a:t>
              </a:r>
              <a:endParaRPr lang="zh-CN" altLang="en-US" sz="1600" dirty="0">
                <a:solidFill>
                  <a:schemeClr val="bg1"/>
                </a:solidFill>
                <a:cs typeface="+mn-ea"/>
                <a:sym typeface="+mn-lt"/>
              </a:endParaRPr>
            </a:p>
          </p:txBody>
        </p:sp>
        <p:sp>
          <p:nvSpPr>
            <p:cNvPr id="3411" name="矩形: 圆角 3410">
              <a:extLst>
                <a:ext uri="{FF2B5EF4-FFF2-40B4-BE49-F238E27FC236}">
                  <a16:creationId xmlns:a16="http://schemas.microsoft.com/office/drawing/2014/main" id="{7BF33DDC-236E-6CAC-2690-BBDA7816AEFF}"/>
                </a:ext>
              </a:extLst>
            </p:cNvPr>
            <p:cNvSpPr/>
            <p:nvPr/>
          </p:nvSpPr>
          <p:spPr>
            <a:xfrm>
              <a:off x="2722868" y="3106781"/>
              <a:ext cx="765981" cy="216536"/>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cs typeface="+mn-ea"/>
                  <a:sym typeface="+mn-lt"/>
                </a:rPr>
                <a:t>GPU</a:t>
              </a:r>
              <a:endParaRPr lang="zh-CN" altLang="en-US" sz="1600" dirty="0">
                <a:solidFill>
                  <a:schemeClr val="bg1"/>
                </a:solidFill>
                <a:cs typeface="+mn-ea"/>
                <a:sym typeface="+mn-lt"/>
              </a:endParaRPr>
            </a:p>
          </p:txBody>
        </p:sp>
      </p:grpSp>
      <p:grpSp>
        <p:nvGrpSpPr>
          <p:cNvPr id="3412" name="组合 3411">
            <a:extLst>
              <a:ext uri="{FF2B5EF4-FFF2-40B4-BE49-F238E27FC236}">
                <a16:creationId xmlns:a16="http://schemas.microsoft.com/office/drawing/2014/main" id="{3A9A8C5D-4B35-6B6D-42B5-3A90106399FE}"/>
              </a:ext>
            </a:extLst>
          </p:cNvPr>
          <p:cNvGrpSpPr/>
          <p:nvPr/>
        </p:nvGrpSpPr>
        <p:grpSpPr>
          <a:xfrm>
            <a:off x="4837774" y="3387575"/>
            <a:ext cx="92492" cy="833534"/>
            <a:chOff x="2455466" y="3102975"/>
            <a:chExt cx="92492" cy="833534"/>
          </a:xfrm>
        </p:grpSpPr>
        <p:sp>
          <p:nvSpPr>
            <p:cNvPr id="3416" name="矩形: 圆角 3415">
              <a:extLst>
                <a:ext uri="{FF2B5EF4-FFF2-40B4-BE49-F238E27FC236}">
                  <a16:creationId xmlns:a16="http://schemas.microsoft.com/office/drawing/2014/main" id="{FB09705E-11B9-A3E4-03C7-DF4DD8CEA4A0}"/>
                </a:ext>
              </a:extLst>
            </p:cNvPr>
            <p:cNvSpPr/>
            <p:nvPr/>
          </p:nvSpPr>
          <p:spPr>
            <a:xfrm>
              <a:off x="2468981" y="3102975"/>
              <a:ext cx="67431" cy="833534"/>
            </a:xfrm>
            <a:prstGeom prst="round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
          <p:nvSpPr>
            <p:cNvPr id="3414" name="椭圆 3413">
              <a:extLst>
                <a:ext uri="{FF2B5EF4-FFF2-40B4-BE49-F238E27FC236}">
                  <a16:creationId xmlns:a16="http://schemas.microsoft.com/office/drawing/2014/main" id="{D84399B7-4E9B-E308-A3E1-04EAE063B5E0}"/>
                </a:ext>
              </a:extLst>
            </p:cNvPr>
            <p:cNvSpPr/>
            <p:nvPr/>
          </p:nvSpPr>
          <p:spPr>
            <a:xfrm>
              <a:off x="2455467" y="3717568"/>
              <a:ext cx="92491" cy="9249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3415" name="椭圆 3414">
              <a:extLst>
                <a:ext uri="{FF2B5EF4-FFF2-40B4-BE49-F238E27FC236}">
                  <a16:creationId xmlns:a16="http://schemas.microsoft.com/office/drawing/2014/main" id="{7659C2B1-5849-EAC7-75E1-ECD7441CB33E}"/>
                </a:ext>
              </a:extLst>
            </p:cNvPr>
            <p:cNvSpPr/>
            <p:nvPr/>
          </p:nvSpPr>
          <p:spPr>
            <a:xfrm>
              <a:off x="2455466" y="3232072"/>
              <a:ext cx="92491" cy="9249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grpSp>
      <p:cxnSp>
        <p:nvCxnSpPr>
          <p:cNvPr id="3423" name="直接连接符 3422">
            <a:extLst>
              <a:ext uri="{FF2B5EF4-FFF2-40B4-BE49-F238E27FC236}">
                <a16:creationId xmlns:a16="http://schemas.microsoft.com/office/drawing/2014/main" id="{963164C7-C9CA-EA7D-634D-46FF9E912599}"/>
              </a:ext>
            </a:extLst>
          </p:cNvPr>
          <p:cNvCxnSpPr>
            <a:cxnSpLocks/>
            <a:stCxn id="3409" idx="3"/>
            <a:endCxn id="3414" idx="2"/>
          </p:cNvCxnSpPr>
          <p:nvPr/>
        </p:nvCxnSpPr>
        <p:spPr>
          <a:xfrm flipV="1">
            <a:off x="4484354" y="4048414"/>
            <a:ext cx="353421" cy="206631"/>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24" name="直接连接符 3423">
            <a:extLst>
              <a:ext uri="{FF2B5EF4-FFF2-40B4-BE49-F238E27FC236}">
                <a16:creationId xmlns:a16="http://schemas.microsoft.com/office/drawing/2014/main" id="{CD3C8A83-A366-0A91-483C-A54370A82348}"/>
              </a:ext>
            </a:extLst>
          </p:cNvPr>
          <p:cNvCxnSpPr>
            <a:cxnSpLocks/>
            <a:stCxn id="3411" idx="3"/>
            <a:endCxn id="3414" idx="2"/>
          </p:cNvCxnSpPr>
          <p:nvPr/>
        </p:nvCxnSpPr>
        <p:spPr>
          <a:xfrm>
            <a:off x="4484354" y="3921032"/>
            <a:ext cx="353421" cy="127382"/>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25" name="直接连接符 3424">
            <a:extLst>
              <a:ext uri="{FF2B5EF4-FFF2-40B4-BE49-F238E27FC236}">
                <a16:creationId xmlns:a16="http://schemas.microsoft.com/office/drawing/2014/main" id="{FCAB4C00-EF0D-45C2-C864-B4D6C97125AD}"/>
              </a:ext>
            </a:extLst>
          </p:cNvPr>
          <p:cNvCxnSpPr>
            <a:cxnSpLocks/>
            <a:stCxn id="3409" idx="3"/>
            <a:endCxn id="3415" idx="2"/>
          </p:cNvCxnSpPr>
          <p:nvPr/>
        </p:nvCxnSpPr>
        <p:spPr>
          <a:xfrm flipV="1">
            <a:off x="4484354" y="3562918"/>
            <a:ext cx="353420" cy="692127"/>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26" name="直接连接符 3425">
            <a:extLst>
              <a:ext uri="{FF2B5EF4-FFF2-40B4-BE49-F238E27FC236}">
                <a16:creationId xmlns:a16="http://schemas.microsoft.com/office/drawing/2014/main" id="{B2DD250C-7B49-06E2-2BAB-AC75539F4DF8}"/>
              </a:ext>
            </a:extLst>
          </p:cNvPr>
          <p:cNvCxnSpPr>
            <a:cxnSpLocks/>
            <a:stCxn id="3411" idx="3"/>
            <a:endCxn id="3415" idx="2"/>
          </p:cNvCxnSpPr>
          <p:nvPr/>
        </p:nvCxnSpPr>
        <p:spPr>
          <a:xfrm flipV="1">
            <a:off x="4484354" y="3562918"/>
            <a:ext cx="353420" cy="358114"/>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428" name="矩形: 圆角 3427">
            <a:extLst>
              <a:ext uri="{FF2B5EF4-FFF2-40B4-BE49-F238E27FC236}">
                <a16:creationId xmlns:a16="http://schemas.microsoft.com/office/drawing/2014/main" id="{CE124CB6-AA6C-AD8C-5E1B-E7947546F062}"/>
              </a:ext>
            </a:extLst>
          </p:cNvPr>
          <p:cNvSpPr/>
          <p:nvPr/>
        </p:nvSpPr>
        <p:spPr>
          <a:xfrm>
            <a:off x="3711772" y="3480032"/>
            <a:ext cx="769607" cy="217561"/>
          </a:xfrm>
          <a:prstGeom prst="roundRect">
            <a:avLst>
              <a:gd name="adj" fmla="val 12268"/>
            </a:avLst>
          </a:prstGeom>
          <a:noFill/>
          <a:ln>
            <a:solidFill>
              <a:srgbClr val="0052D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0052D9"/>
                </a:solidFill>
                <a:cs typeface="+mn-ea"/>
                <a:sym typeface="+mn-lt"/>
              </a:rPr>
              <a:t>GPU</a:t>
            </a:r>
            <a:endParaRPr lang="zh-CN" altLang="en-US" sz="1600" dirty="0">
              <a:solidFill>
                <a:srgbClr val="0052D9"/>
              </a:solidFill>
              <a:cs typeface="+mn-ea"/>
              <a:sym typeface="+mn-lt"/>
            </a:endParaRPr>
          </a:p>
        </p:txBody>
      </p:sp>
      <p:sp>
        <p:nvSpPr>
          <p:cNvPr id="3429" name="矩形: 圆角 3428">
            <a:extLst>
              <a:ext uri="{FF2B5EF4-FFF2-40B4-BE49-F238E27FC236}">
                <a16:creationId xmlns:a16="http://schemas.microsoft.com/office/drawing/2014/main" id="{E16227F0-6213-F22F-9506-89632EB94746}"/>
              </a:ext>
            </a:extLst>
          </p:cNvPr>
          <p:cNvSpPr/>
          <p:nvPr/>
        </p:nvSpPr>
        <p:spPr>
          <a:xfrm>
            <a:off x="3711772" y="3155362"/>
            <a:ext cx="769607" cy="217561"/>
          </a:xfrm>
          <a:prstGeom prst="roundRect">
            <a:avLst>
              <a:gd name="adj" fmla="val 12268"/>
            </a:avLst>
          </a:prstGeom>
          <a:noFill/>
          <a:ln>
            <a:solidFill>
              <a:srgbClr val="0052D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0052D9"/>
                </a:solidFill>
                <a:cs typeface="+mn-ea"/>
                <a:sym typeface="+mn-lt"/>
              </a:rPr>
              <a:t>GPU</a:t>
            </a:r>
            <a:endParaRPr lang="zh-CN" altLang="en-US" sz="1600" dirty="0">
              <a:solidFill>
                <a:srgbClr val="0052D9"/>
              </a:solidFill>
              <a:cs typeface="+mn-ea"/>
              <a:sym typeface="+mn-lt"/>
            </a:endParaRPr>
          </a:p>
        </p:txBody>
      </p:sp>
      <p:cxnSp>
        <p:nvCxnSpPr>
          <p:cNvPr id="3430" name="直接连接符 3429">
            <a:extLst>
              <a:ext uri="{FF2B5EF4-FFF2-40B4-BE49-F238E27FC236}">
                <a16:creationId xmlns:a16="http://schemas.microsoft.com/office/drawing/2014/main" id="{82084147-875B-58C5-3677-DCE62B11F212}"/>
              </a:ext>
            </a:extLst>
          </p:cNvPr>
          <p:cNvCxnSpPr>
            <a:cxnSpLocks/>
            <a:stCxn id="3428" idx="3"/>
            <a:endCxn id="3414" idx="2"/>
          </p:cNvCxnSpPr>
          <p:nvPr/>
        </p:nvCxnSpPr>
        <p:spPr>
          <a:xfrm>
            <a:off x="4481379" y="3588813"/>
            <a:ext cx="356396" cy="459601"/>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33" name="直接连接符 3432">
            <a:extLst>
              <a:ext uri="{FF2B5EF4-FFF2-40B4-BE49-F238E27FC236}">
                <a16:creationId xmlns:a16="http://schemas.microsoft.com/office/drawing/2014/main" id="{307D8FDE-4C39-110D-E132-BE91F988A233}"/>
              </a:ext>
            </a:extLst>
          </p:cNvPr>
          <p:cNvCxnSpPr>
            <a:cxnSpLocks/>
            <a:stCxn id="3428" idx="3"/>
            <a:endCxn id="3415" idx="2"/>
          </p:cNvCxnSpPr>
          <p:nvPr/>
        </p:nvCxnSpPr>
        <p:spPr>
          <a:xfrm flipV="1">
            <a:off x="4481379" y="3562918"/>
            <a:ext cx="356395" cy="25895"/>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36" name="直接连接符 3435">
            <a:extLst>
              <a:ext uri="{FF2B5EF4-FFF2-40B4-BE49-F238E27FC236}">
                <a16:creationId xmlns:a16="http://schemas.microsoft.com/office/drawing/2014/main" id="{91E7EB49-86B4-FE97-A1DF-730BC01B133B}"/>
              </a:ext>
            </a:extLst>
          </p:cNvPr>
          <p:cNvCxnSpPr>
            <a:cxnSpLocks/>
            <a:stCxn id="3429" idx="3"/>
            <a:endCxn id="3415" idx="2"/>
          </p:cNvCxnSpPr>
          <p:nvPr/>
        </p:nvCxnSpPr>
        <p:spPr>
          <a:xfrm>
            <a:off x="4481379" y="3264143"/>
            <a:ext cx="356395" cy="298775"/>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39" name="直接连接符 3438">
            <a:extLst>
              <a:ext uri="{FF2B5EF4-FFF2-40B4-BE49-F238E27FC236}">
                <a16:creationId xmlns:a16="http://schemas.microsoft.com/office/drawing/2014/main" id="{F8D9D600-3C63-4698-519E-3BB80DFAB0F5}"/>
              </a:ext>
            </a:extLst>
          </p:cNvPr>
          <p:cNvCxnSpPr>
            <a:cxnSpLocks/>
            <a:stCxn id="3429" idx="3"/>
            <a:endCxn id="3414" idx="2"/>
          </p:cNvCxnSpPr>
          <p:nvPr/>
        </p:nvCxnSpPr>
        <p:spPr>
          <a:xfrm>
            <a:off x="4481379" y="3264143"/>
            <a:ext cx="356396" cy="784271"/>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445" name="文本框 3444">
            <a:extLst>
              <a:ext uri="{FF2B5EF4-FFF2-40B4-BE49-F238E27FC236}">
                <a16:creationId xmlns:a16="http://schemas.microsoft.com/office/drawing/2014/main" id="{5AB648A0-C9A6-86DC-0F05-35A6C4324378}"/>
              </a:ext>
            </a:extLst>
          </p:cNvPr>
          <p:cNvSpPr txBox="1"/>
          <p:nvPr/>
        </p:nvSpPr>
        <p:spPr>
          <a:xfrm>
            <a:off x="955831" y="5292027"/>
            <a:ext cx="1892520" cy="255554"/>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a:solidFill>
                  <a:schemeClr val="tx1">
                    <a:lumMod val="50000"/>
                  </a:schemeClr>
                </a:solidFill>
                <a:cs typeface="+mn-ea"/>
                <a:sym typeface="+mn-lt"/>
              </a:rPr>
              <a:t>GB200 NVL72</a:t>
            </a:r>
            <a:endParaRPr kumimoji="1" lang="en-US" altLang="zh-CN" sz="1400" dirty="0">
              <a:solidFill>
                <a:srgbClr val="0052D9"/>
              </a:solidFill>
              <a:cs typeface="+mn-ea"/>
              <a:sym typeface="+mn-lt"/>
            </a:endParaRPr>
          </a:p>
        </p:txBody>
      </p:sp>
      <p:sp>
        <p:nvSpPr>
          <p:cNvPr id="3446" name="文本框 3445">
            <a:extLst>
              <a:ext uri="{FF2B5EF4-FFF2-40B4-BE49-F238E27FC236}">
                <a16:creationId xmlns:a16="http://schemas.microsoft.com/office/drawing/2014/main" id="{F7E74B25-9972-961F-9C93-14B857F195DA}"/>
              </a:ext>
            </a:extLst>
          </p:cNvPr>
          <p:cNvSpPr txBox="1"/>
          <p:nvPr/>
        </p:nvSpPr>
        <p:spPr>
          <a:xfrm>
            <a:off x="969794" y="5700916"/>
            <a:ext cx="1892520" cy="255554"/>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a:solidFill>
                  <a:schemeClr val="tx1">
                    <a:lumMod val="50000"/>
                  </a:schemeClr>
                </a:solidFill>
                <a:cs typeface="+mn-ea"/>
                <a:sym typeface="+mn-lt"/>
              </a:rPr>
              <a:t>B200 × </a:t>
            </a:r>
            <a:r>
              <a:rPr lang="en-US" altLang="zh-CN" b="1" dirty="0">
                <a:solidFill>
                  <a:srgbClr val="0052D9"/>
                </a:solidFill>
                <a:cs typeface="+mn-ea"/>
                <a:sym typeface="+mn-lt"/>
              </a:rPr>
              <a:t>72 / rack</a:t>
            </a:r>
          </a:p>
        </p:txBody>
      </p:sp>
      <p:sp>
        <p:nvSpPr>
          <p:cNvPr id="3448" name="文本框 3447">
            <a:extLst>
              <a:ext uri="{FF2B5EF4-FFF2-40B4-BE49-F238E27FC236}">
                <a16:creationId xmlns:a16="http://schemas.microsoft.com/office/drawing/2014/main" id="{36315F0B-BB47-1E9C-18F7-E527D0C174A7}"/>
              </a:ext>
            </a:extLst>
          </p:cNvPr>
          <p:cNvSpPr txBox="1"/>
          <p:nvPr/>
        </p:nvSpPr>
        <p:spPr>
          <a:xfrm>
            <a:off x="4481379" y="5276279"/>
            <a:ext cx="1892520" cy="255554"/>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a:solidFill>
                  <a:schemeClr val="tx1">
                    <a:lumMod val="50000"/>
                  </a:schemeClr>
                </a:solidFill>
                <a:cs typeface="+mn-ea"/>
                <a:sym typeface="+mn-lt"/>
              </a:rPr>
              <a:t>Rubin NVL288</a:t>
            </a:r>
            <a:endParaRPr kumimoji="1" lang="en-US" altLang="zh-CN" sz="1400" dirty="0">
              <a:solidFill>
                <a:srgbClr val="0052D9"/>
              </a:solidFill>
              <a:cs typeface="+mn-ea"/>
              <a:sym typeface="+mn-lt"/>
            </a:endParaRPr>
          </a:p>
        </p:txBody>
      </p:sp>
      <p:sp>
        <p:nvSpPr>
          <p:cNvPr id="3449" name="文本框 3448">
            <a:extLst>
              <a:ext uri="{FF2B5EF4-FFF2-40B4-BE49-F238E27FC236}">
                <a16:creationId xmlns:a16="http://schemas.microsoft.com/office/drawing/2014/main" id="{E2ADC65E-017D-3DB4-50DD-1FF45A14E953}"/>
              </a:ext>
            </a:extLst>
          </p:cNvPr>
          <p:cNvSpPr txBox="1"/>
          <p:nvPr/>
        </p:nvSpPr>
        <p:spPr>
          <a:xfrm>
            <a:off x="4504639" y="5726956"/>
            <a:ext cx="1892520" cy="255554"/>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a:solidFill>
                  <a:schemeClr val="tx1">
                    <a:lumMod val="50000"/>
                  </a:schemeClr>
                </a:solidFill>
                <a:cs typeface="+mn-ea"/>
                <a:sym typeface="+mn-lt"/>
              </a:rPr>
              <a:t>Rubin </a:t>
            </a:r>
            <a:r>
              <a:rPr kumimoji="1" lang="en-US" altLang="zh-CN" dirty="0">
                <a:solidFill>
                  <a:schemeClr val="tx1">
                    <a:lumMod val="50000"/>
                  </a:schemeClr>
                </a:solidFill>
                <a:cs typeface="+mn-ea"/>
                <a:sym typeface="+mn-lt"/>
              </a:rPr>
              <a:t>× </a:t>
            </a:r>
            <a:r>
              <a:rPr lang="en-US" altLang="zh-CN" b="1" dirty="0">
                <a:solidFill>
                  <a:srgbClr val="0052D9"/>
                </a:solidFill>
                <a:cs typeface="+mn-ea"/>
                <a:sym typeface="+mn-lt"/>
              </a:rPr>
              <a:t>288 / rack </a:t>
            </a:r>
          </a:p>
        </p:txBody>
      </p:sp>
      <p:sp>
        <p:nvSpPr>
          <p:cNvPr id="3451" name="文本框 3450">
            <a:extLst>
              <a:ext uri="{FF2B5EF4-FFF2-40B4-BE49-F238E27FC236}">
                <a16:creationId xmlns:a16="http://schemas.microsoft.com/office/drawing/2014/main" id="{2B851CDC-5F65-1568-5E1B-F56677B7DCF7}"/>
              </a:ext>
            </a:extLst>
          </p:cNvPr>
          <p:cNvSpPr txBox="1"/>
          <p:nvPr/>
        </p:nvSpPr>
        <p:spPr>
          <a:xfrm>
            <a:off x="4403771" y="3094458"/>
            <a:ext cx="978034" cy="255554"/>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err="1">
                <a:solidFill>
                  <a:schemeClr val="accent5"/>
                </a:solidFill>
                <a:cs typeface="+mn-ea"/>
                <a:sym typeface="+mn-lt"/>
              </a:rPr>
              <a:t>NVLink</a:t>
            </a:r>
            <a:endParaRPr kumimoji="1" lang="en-US" altLang="zh-CN" sz="1400" dirty="0">
              <a:solidFill>
                <a:schemeClr val="accent5"/>
              </a:solidFill>
              <a:cs typeface="+mn-ea"/>
              <a:sym typeface="+mn-lt"/>
            </a:endParaRPr>
          </a:p>
        </p:txBody>
      </p:sp>
      <p:grpSp>
        <p:nvGrpSpPr>
          <p:cNvPr id="3470" name="组合 3469">
            <a:extLst>
              <a:ext uri="{FF2B5EF4-FFF2-40B4-BE49-F238E27FC236}">
                <a16:creationId xmlns:a16="http://schemas.microsoft.com/office/drawing/2014/main" id="{14A599D8-D430-AD37-1E3E-C3B9ED956E30}"/>
              </a:ext>
            </a:extLst>
          </p:cNvPr>
          <p:cNvGrpSpPr/>
          <p:nvPr/>
        </p:nvGrpSpPr>
        <p:grpSpPr>
          <a:xfrm>
            <a:off x="6762943" y="3137754"/>
            <a:ext cx="1588079" cy="1089889"/>
            <a:chOff x="6616348" y="4646527"/>
            <a:chExt cx="1588079" cy="1089889"/>
          </a:xfrm>
        </p:grpSpPr>
        <p:grpSp>
          <p:nvGrpSpPr>
            <p:cNvPr id="3452" name="组合 3451">
              <a:extLst>
                <a:ext uri="{FF2B5EF4-FFF2-40B4-BE49-F238E27FC236}">
                  <a16:creationId xmlns:a16="http://schemas.microsoft.com/office/drawing/2014/main" id="{AA871210-F008-BAE3-ED93-6F0D476DC6FD}"/>
                </a:ext>
              </a:extLst>
            </p:cNvPr>
            <p:cNvGrpSpPr/>
            <p:nvPr/>
          </p:nvGrpSpPr>
          <p:grpSpPr>
            <a:xfrm>
              <a:off x="6616348" y="4646527"/>
              <a:ext cx="1588079" cy="1089889"/>
              <a:chOff x="2573606" y="2472321"/>
              <a:chExt cx="1580596" cy="1084754"/>
            </a:xfrm>
          </p:grpSpPr>
          <p:sp>
            <p:nvSpPr>
              <p:cNvPr id="3453" name="矩形: 圆角 3452">
                <a:extLst>
                  <a:ext uri="{FF2B5EF4-FFF2-40B4-BE49-F238E27FC236}">
                    <a16:creationId xmlns:a16="http://schemas.microsoft.com/office/drawing/2014/main" id="{0B6B8096-B177-2A84-68D3-076CBD52C7A2}"/>
                  </a:ext>
                </a:extLst>
              </p:cNvPr>
              <p:cNvSpPr/>
              <p:nvPr/>
            </p:nvSpPr>
            <p:spPr>
              <a:xfrm>
                <a:off x="2573606" y="2472321"/>
                <a:ext cx="1580596" cy="1084754"/>
              </a:xfrm>
              <a:prstGeom prst="roundRect">
                <a:avLst>
                  <a:gd name="adj" fmla="val 10158"/>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454" name="矩形: 圆角 3453">
                <a:extLst>
                  <a:ext uri="{FF2B5EF4-FFF2-40B4-BE49-F238E27FC236}">
                    <a16:creationId xmlns:a16="http://schemas.microsoft.com/office/drawing/2014/main" id="{36B06501-8AA9-6F67-3D48-8B4DD08026EB}"/>
                  </a:ext>
                </a:extLst>
              </p:cNvPr>
              <p:cNvSpPr/>
              <p:nvPr/>
            </p:nvSpPr>
            <p:spPr>
              <a:xfrm>
                <a:off x="2773429" y="3176554"/>
                <a:ext cx="765981" cy="216536"/>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cs typeface="+mn-ea"/>
                    <a:sym typeface="+mn-lt"/>
                  </a:rPr>
                  <a:t>GPU</a:t>
                </a:r>
                <a:endParaRPr lang="zh-CN" altLang="en-US" sz="1600" dirty="0">
                  <a:solidFill>
                    <a:schemeClr val="bg1"/>
                  </a:solidFill>
                  <a:cs typeface="+mn-ea"/>
                  <a:sym typeface="+mn-lt"/>
                </a:endParaRPr>
              </a:p>
            </p:txBody>
          </p:sp>
          <p:sp>
            <p:nvSpPr>
              <p:cNvPr id="3455" name="矩形: 圆角 3454">
                <a:extLst>
                  <a:ext uri="{FF2B5EF4-FFF2-40B4-BE49-F238E27FC236}">
                    <a16:creationId xmlns:a16="http://schemas.microsoft.com/office/drawing/2014/main" id="{F192DF0C-3298-8A65-E4D3-8D6B071D1731}"/>
                  </a:ext>
                </a:extLst>
              </p:cNvPr>
              <p:cNvSpPr/>
              <p:nvPr/>
            </p:nvSpPr>
            <p:spPr>
              <a:xfrm>
                <a:off x="2773429" y="2844115"/>
                <a:ext cx="765981" cy="216536"/>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cs typeface="+mn-ea"/>
                    <a:sym typeface="+mn-lt"/>
                  </a:rPr>
                  <a:t>GPU</a:t>
                </a:r>
                <a:endParaRPr lang="zh-CN" altLang="en-US" sz="1600" dirty="0">
                  <a:solidFill>
                    <a:schemeClr val="bg1"/>
                  </a:solidFill>
                  <a:cs typeface="+mn-ea"/>
                  <a:sym typeface="+mn-lt"/>
                </a:endParaRPr>
              </a:p>
            </p:txBody>
          </p:sp>
        </p:grpSp>
        <p:grpSp>
          <p:nvGrpSpPr>
            <p:cNvPr id="3456" name="组合 3455">
              <a:extLst>
                <a:ext uri="{FF2B5EF4-FFF2-40B4-BE49-F238E27FC236}">
                  <a16:creationId xmlns:a16="http://schemas.microsoft.com/office/drawing/2014/main" id="{1D81A472-F073-EA88-12CC-BEED40840FC8}"/>
                </a:ext>
              </a:extLst>
            </p:cNvPr>
            <p:cNvGrpSpPr/>
            <p:nvPr/>
          </p:nvGrpSpPr>
          <p:grpSpPr>
            <a:xfrm>
              <a:off x="7051474" y="4681821"/>
              <a:ext cx="978034" cy="999716"/>
              <a:chOff x="1631169" y="2936792"/>
              <a:chExt cx="978034" cy="999716"/>
            </a:xfrm>
          </p:grpSpPr>
          <p:grpSp>
            <p:nvGrpSpPr>
              <p:cNvPr id="3457" name="组合 3456">
                <a:extLst>
                  <a:ext uri="{FF2B5EF4-FFF2-40B4-BE49-F238E27FC236}">
                    <a16:creationId xmlns:a16="http://schemas.microsoft.com/office/drawing/2014/main" id="{925FFEDE-BED2-2837-4722-216729C550C9}"/>
                  </a:ext>
                </a:extLst>
              </p:cNvPr>
              <p:cNvGrpSpPr/>
              <p:nvPr/>
            </p:nvGrpSpPr>
            <p:grpSpPr>
              <a:xfrm>
                <a:off x="1631169" y="2936792"/>
                <a:ext cx="978034" cy="999716"/>
                <a:chOff x="1764426" y="3171915"/>
                <a:chExt cx="1256271" cy="1284122"/>
              </a:xfrm>
            </p:grpSpPr>
            <p:sp>
              <p:nvSpPr>
                <p:cNvPr id="3460" name="矩形: 圆角 3459">
                  <a:extLst>
                    <a:ext uri="{FF2B5EF4-FFF2-40B4-BE49-F238E27FC236}">
                      <a16:creationId xmlns:a16="http://schemas.microsoft.com/office/drawing/2014/main" id="{B7AFC3C2-B228-B181-2DDE-A792C8761AE5}"/>
                    </a:ext>
                  </a:extLst>
                </p:cNvPr>
                <p:cNvSpPr/>
                <p:nvPr/>
              </p:nvSpPr>
              <p:spPr>
                <a:xfrm>
                  <a:off x="2840583" y="3385373"/>
                  <a:ext cx="86614" cy="1070664"/>
                </a:xfrm>
                <a:prstGeom prst="round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
              <p:nvSpPr>
                <p:cNvPr id="3461" name="文本框 3460">
                  <a:extLst>
                    <a:ext uri="{FF2B5EF4-FFF2-40B4-BE49-F238E27FC236}">
                      <a16:creationId xmlns:a16="http://schemas.microsoft.com/office/drawing/2014/main" id="{184F703F-E80B-F629-A207-104B925B50D2}"/>
                    </a:ext>
                  </a:extLst>
                </p:cNvPr>
                <p:cNvSpPr txBox="1"/>
                <p:nvPr/>
              </p:nvSpPr>
              <p:spPr>
                <a:xfrm>
                  <a:off x="1764426" y="3171915"/>
                  <a:ext cx="1256271" cy="328256"/>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err="1">
                      <a:solidFill>
                        <a:schemeClr val="accent5"/>
                      </a:solidFill>
                      <a:cs typeface="+mn-ea"/>
                      <a:sym typeface="+mn-lt"/>
                    </a:rPr>
                    <a:t>NVLink</a:t>
                  </a:r>
                  <a:endParaRPr kumimoji="1" lang="en-US" altLang="zh-CN" sz="1400" dirty="0">
                    <a:solidFill>
                      <a:schemeClr val="accent5"/>
                    </a:solidFill>
                    <a:cs typeface="+mn-ea"/>
                    <a:sym typeface="+mn-lt"/>
                  </a:endParaRPr>
                </a:p>
              </p:txBody>
            </p:sp>
          </p:grpSp>
          <p:sp>
            <p:nvSpPr>
              <p:cNvPr id="3458" name="椭圆 3457">
                <a:extLst>
                  <a:ext uri="{FF2B5EF4-FFF2-40B4-BE49-F238E27FC236}">
                    <a16:creationId xmlns:a16="http://schemas.microsoft.com/office/drawing/2014/main" id="{DDF02565-73A4-39F1-F71E-60723FAA5771}"/>
                  </a:ext>
                </a:extLst>
              </p:cNvPr>
              <p:cNvSpPr/>
              <p:nvPr/>
            </p:nvSpPr>
            <p:spPr>
              <a:xfrm>
                <a:off x="2455467" y="3717568"/>
                <a:ext cx="92491" cy="9249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3459" name="椭圆 3458">
                <a:extLst>
                  <a:ext uri="{FF2B5EF4-FFF2-40B4-BE49-F238E27FC236}">
                    <a16:creationId xmlns:a16="http://schemas.microsoft.com/office/drawing/2014/main" id="{F8D163FF-E192-A995-FE7E-EF39369258F1}"/>
                  </a:ext>
                </a:extLst>
              </p:cNvPr>
              <p:cNvSpPr/>
              <p:nvPr/>
            </p:nvSpPr>
            <p:spPr>
              <a:xfrm>
                <a:off x="2455466" y="3232072"/>
                <a:ext cx="92491" cy="9249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grpSp>
        <p:cxnSp>
          <p:nvCxnSpPr>
            <p:cNvPr id="3462" name="直接连接符 3461">
              <a:extLst>
                <a:ext uri="{FF2B5EF4-FFF2-40B4-BE49-F238E27FC236}">
                  <a16:creationId xmlns:a16="http://schemas.microsoft.com/office/drawing/2014/main" id="{24A0859A-04C0-1AB1-C409-C4E8B4CC2D28}"/>
                </a:ext>
              </a:extLst>
            </p:cNvPr>
            <p:cNvCxnSpPr>
              <a:cxnSpLocks/>
              <a:stCxn id="3454" idx="3"/>
              <a:endCxn id="3458" idx="2"/>
            </p:cNvCxnSpPr>
            <p:nvPr/>
          </p:nvCxnSpPr>
          <p:spPr>
            <a:xfrm>
              <a:off x="7586724" y="5462877"/>
              <a:ext cx="289048" cy="45966"/>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63" name="直接连接符 3462">
              <a:extLst>
                <a:ext uri="{FF2B5EF4-FFF2-40B4-BE49-F238E27FC236}">
                  <a16:creationId xmlns:a16="http://schemas.microsoft.com/office/drawing/2014/main" id="{600B027F-AE4F-0EFD-65F4-4D3A560EB70B}"/>
                </a:ext>
              </a:extLst>
            </p:cNvPr>
            <p:cNvCxnSpPr>
              <a:cxnSpLocks/>
              <a:stCxn id="3455" idx="3"/>
              <a:endCxn id="3458" idx="2"/>
            </p:cNvCxnSpPr>
            <p:nvPr/>
          </p:nvCxnSpPr>
          <p:spPr>
            <a:xfrm>
              <a:off x="7586724" y="5128864"/>
              <a:ext cx="289048" cy="379979"/>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64" name="直接连接符 3463">
              <a:extLst>
                <a:ext uri="{FF2B5EF4-FFF2-40B4-BE49-F238E27FC236}">
                  <a16:creationId xmlns:a16="http://schemas.microsoft.com/office/drawing/2014/main" id="{E027670F-41CF-D14D-30E5-D815C05679F7}"/>
                </a:ext>
              </a:extLst>
            </p:cNvPr>
            <p:cNvCxnSpPr>
              <a:cxnSpLocks/>
              <a:stCxn id="3454" idx="3"/>
              <a:endCxn id="3459" idx="2"/>
            </p:cNvCxnSpPr>
            <p:nvPr/>
          </p:nvCxnSpPr>
          <p:spPr>
            <a:xfrm flipV="1">
              <a:off x="7586724" y="5023347"/>
              <a:ext cx="289047" cy="43953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65" name="直接连接符 3464">
              <a:extLst>
                <a:ext uri="{FF2B5EF4-FFF2-40B4-BE49-F238E27FC236}">
                  <a16:creationId xmlns:a16="http://schemas.microsoft.com/office/drawing/2014/main" id="{AA840891-62FC-CCA4-AC8A-CBB02330C94E}"/>
                </a:ext>
              </a:extLst>
            </p:cNvPr>
            <p:cNvCxnSpPr>
              <a:cxnSpLocks/>
              <a:stCxn id="3455" idx="3"/>
              <a:endCxn id="3459" idx="2"/>
            </p:cNvCxnSpPr>
            <p:nvPr/>
          </p:nvCxnSpPr>
          <p:spPr>
            <a:xfrm flipV="1">
              <a:off x="7586724" y="5023347"/>
              <a:ext cx="289047" cy="105517"/>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3474" name="组合 3473">
            <a:extLst>
              <a:ext uri="{FF2B5EF4-FFF2-40B4-BE49-F238E27FC236}">
                <a16:creationId xmlns:a16="http://schemas.microsoft.com/office/drawing/2014/main" id="{34E9D85A-C0A6-6B16-6F83-4F36802A0E32}"/>
              </a:ext>
            </a:extLst>
          </p:cNvPr>
          <p:cNvGrpSpPr/>
          <p:nvPr/>
        </p:nvGrpSpPr>
        <p:grpSpPr>
          <a:xfrm>
            <a:off x="859851" y="2451949"/>
            <a:ext cx="2215113" cy="328255"/>
            <a:chOff x="917705" y="2569182"/>
            <a:chExt cx="2215113" cy="328255"/>
          </a:xfrm>
        </p:grpSpPr>
        <p:sp>
          <p:nvSpPr>
            <p:cNvPr id="3472" name="椭圆 3471">
              <a:extLst>
                <a:ext uri="{FF2B5EF4-FFF2-40B4-BE49-F238E27FC236}">
                  <a16:creationId xmlns:a16="http://schemas.microsoft.com/office/drawing/2014/main" id="{03D5B286-D7E8-6A8E-CAA8-5CAF424B3D1B}"/>
                </a:ext>
              </a:extLst>
            </p:cNvPr>
            <p:cNvSpPr/>
            <p:nvPr/>
          </p:nvSpPr>
          <p:spPr>
            <a:xfrm>
              <a:off x="917705" y="2692953"/>
              <a:ext cx="92491" cy="92491"/>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3473" name="文本框 3472">
              <a:extLst>
                <a:ext uri="{FF2B5EF4-FFF2-40B4-BE49-F238E27FC236}">
                  <a16:creationId xmlns:a16="http://schemas.microsoft.com/office/drawing/2014/main" id="{A76703C2-FA27-3AB5-5AFB-2B592A7E8E8A}"/>
                </a:ext>
              </a:extLst>
            </p:cNvPr>
            <p:cNvSpPr txBox="1"/>
            <p:nvPr/>
          </p:nvSpPr>
          <p:spPr>
            <a:xfrm>
              <a:off x="1148665" y="2569182"/>
              <a:ext cx="1984153" cy="328255"/>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lang="en-US" altLang="zh-CN" sz="1400" b="1" dirty="0">
                  <a:cs typeface="+mn-ea"/>
                  <a:sym typeface="+mn-lt"/>
                </a:rPr>
                <a:t>Port</a:t>
              </a:r>
              <a:r>
                <a:rPr lang="zh-CN" altLang="en-US" sz="1400" b="1" dirty="0">
                  <a:cs typeface="+mn-ea"/>
                  <a:sym typeface="+mn-lt"/>
                </a:rPr>
                <a:t> </a:t>
              </a:r>
              <a:r>
                <a:rPr lang="en-US" altLang="zh-CN" sz="1400" b="1" dirty="0">
                  <a:cs typeface="+mn-ea"/>
                  <a:sym typeface="+mn-lt"/>
                </a:rPr>
                <a:t>(copper)</a:t>
              </a:r>
              <a:endParaRPr kumimoji="1" lang="en-US" altLang="zh-CN" sz="1400" dirty="0">
                <a:solidFill>
                  <a:srgbClr val="0052D9"/>
                </a:solidFill>
                <a:cs typeface="+mn-ea"/>
                <a:sym typeface="+mn-lt"/>
              </a:endParaRPr>
            </a:p>
          </p:txBody>
        </p:sp>
      </p:grpSp>
      <p:grpSp>
        <p:nvGrpSpPr>
          <p:cNvPr id="3091" name="组合 3090">
            <a:extLst>
              <a:ext uri="{FF2B5EF4-FFF2-40B4-BE49-F238E27FC236}">
                <a16:creationId xmlns:a16="http://schemas.microsoft.com/office/drawing/2014/main" id="{029DA4D0-CEC5-87F4-5678-EF03322AAF6C}"/>
              </a:ext>
            </a:extLst>
          </p:cNvPr>
          <p:cNvGrpSpPr/>
          <p:nvPr/>
        </p:nvGrpSpPr>
        <p:grpSpPr>
          <a:xfrm>
            <a:off x="9470744" y="2398752"/>
            <a:ext cx="1588079" cy="1089889"/>
            <a:chOff x="9471437" y="2407667"/>
            <a:chExt cx="1588079" cy="1089889"/>
          </a:xfrm>
        </p:grpSpPr>
        <p:grpSp>
          <p:nvGrpSpPr>
            <p:cNvPr id="3475" name="组合 3474">
              <a:extLst>
                <a:ext uri="{FF2B5EF4-FFF2-40B4-BE49-F238E27FC236}">
                  <a16:creationId xmlns:a16="http://schemas.microsoft.com/office/drawing/2014/main" id="{2C16EB5C-BD24-530C-2975-9C0901D644A3}"/>
                </a:ext>
              </a:extLst>
            </p:cNvPr>
            <p:cNvGrpSpPr/>
            <p:nvPr/>
          </p:nvGrpSpPr>
          <p:grpSpPr>
            <a:xfrm>
              <a:off x="9471437" y="2407667"/>
              <a:ext cx="1588079" cy="1089889"/>
              <a:chOff x="6616348" y="4646527"/>
              <a:chExt cx="1588079" cy="1089889"/>
            </a:xfrm>
          </p:grpSpPr>
          <p:grpSp>
            <p:nvGrpSpPr>
              <p:cNvPr id="3476" name="组合 3475">
                <a:extLst>
                  <a:ext uri="{FF2B5EF4-FFF2-40B4-BE49-F238E27FC236}">
                    <a16:creationId xmlns:a16="http://schemas.microsoft.com/office/drawing/2014/main" id="{07192AF5-D36C-4DB7-B9B7-B9E33D871F65}"/>
                  </a:ext>
                </a:extLst>
              </p:cNvPr>
              <p:cNvGrpSpPr/>
              <p:nvPr/>
            </p:nvGrpSpPr>
            <p:grpSpPr>
              <a:xfrm>
                <a:off x="6616348" y="4646527"/>
                <a:ext cx="1588079" cy="1089889"/>
                <a:chOff x="2573606" y="2472321"/>
                <a:chExt cx="1580596" cy="1084754"/>
              </a:xfrm>
            </p:grpSpPr>
            <p:sp>
              <p:nvSpPr>
                <p:cNvPr id="3487" name="矩形: 圆角 3486">
                  <a:extLst>
                    <a:ext uri="{FF2B5EF4-FFF2-40B4-BE49-F238E27FC236}">
                      <a16:creationId xmlns:a16="http://schemas.microsoft.com/office/drawing/2014/main" id="{39D21823-4E9A-4471-0949-58D4DFDB897C}"/>
                    </a:ext>
                  </a:extLst>
                </p:cNvPr>
                <p:cNvSpPr/>
                <p:nvPr/>
              </p:nvSpPr>
              <p:spPr>
                <a:xfrm>
                  <a:off x="2573606" y="2472321"/>
                  <a:ext cx="1580596" cy="1084754"/>
                </a:xfrm>
                <a:prstGeom prst="roundRect">
                  <a:avLst>
                    <a:gd name="adj" fmla="val 10158"/>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488" name="矩形: 圆角 3487">
                  <a:extLst>
                    <a:ext uri="{FF2B5EF4-FFF2-40B4-BE49-F238E27FC236}">
                      <a16:creationId xmlns:a16="http://schemas.microsoft.com/office/drawing/2014/main" id="{0A07AD35-F067-9B49-07B5-F276A1D7ECC0}"/>
                    </a:ext>
                  </a:extLst>
                </p:cNvPr>
                <p:cNvSpPr/>
                <p:nvPr/>
              </p:nvSpPr>
              <p:spPr>
                <a:xfrm>
                  <a:off x="2773429" y="3176554"/>
                  <a:ext cx="765981" cy="216536"/>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cs typeface="+mn-ea"/>
                      <a:sym typeface="+mn-lt"/>
                    </a:rPr>
                    <a:t>GPU</a:t>
                  </a:r>
                  <a:endParaRPr lang="zh-CN" altLang="en-US" sz="1600" dirty="0">
                    <a:solidFill>
                      <a:schemeClr val="bg1"/>
                    </a:solidFill>
                    <a:cs typeface="+mn-ea"/>
                    <a:sym typeface="+mn-lt"/>
                  </a:endParaRPr>
                </a:p>
              </p:txBody>
            </p:sp>
            <p:sp>
              <p:nvSpPr>
                <p:cNvPr id="3489" name="矩形: 圆角 3488">
                  <a:extLst>
                    <a:ext uri="{FF2B5EF4-FFF2-40B4-BE49-F238E27FC236}">
                      <a16:creationId xmlns:a16="http://schemas.microsoft.com/office/drawing/2014/main" id="{2B53CD05-B7FC-442F-3A1C-4D4D247D9E3A}"/>
                    </a:ext>
                  </a:extLst>
                </p:cNvPr>
                <p:cNvSpPr/>
                <p:nvPr/>
              </p:nvSpPr>
              <p:spPr>
                <a:xfrm>
                  <a:off x="2773429" y="2844115"/>
                  <a:ext cx="765981" cy="216536"/>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cs typeface="+mn-ea"/>
                      <a:sym typeface="+mn-lt"/>
                    </a:rPr>
                    <a:t>GPU</a:t>
                  </a:r>
                  <a:endParaRPr lang="zh-CN" altLang="en-US" sz="1600" dirty="0">
                    <a:solidFill>
                      <a:schemeClr val="bg1"/>
                    </a:solidFill>
                    <a:cs typeface="+mn-ea"/>
                    <a:sym typeface="+mn-lt"/>
                  </a:endParaRPr>
                </a:p>
              </p:txBody>
            </p:sp>
          </p:grpSp>
          <p:grpSp>
            <p:nvGrpSpPr>
              <p:cNvPr id="3477" name="组合 3476">
                <a:extLst>
                  <a:ext uri="{FF2B5EF4-FFF2-40B4-BE49-F238E27FC236}">
                    <a16:creationId xmlns:a16="http://schemas.microsoft.com/office/drawing/2014/main" id="{85D1D0D6-D25B-B737-4901-9B3E57E56144}"/>
                  </a:ext>
                </a:extLst>
              </p:cNvPr>
              <p:cNvGrpSpPr/>
              <p:nvPr/>
            </p:nvGrpSpPr>
            <p:grpSpPr>
              <a:xfrm>
                <a:off x="7051474" y="4681821"/>
                <a:ext cx="978034" cy="999716"/>
                <a:chOff x="1631169" y="2936792"/>
                <a:chExt cx="978034" cy="999716"/>
              </a:xfrm>
            </p:grpSpPr>
            <p:grpSp>
              <p:nvGrpSpPr>
                <p:cNvPr id="3482" name="组合 3481">
                  <a:extLst>
                    <a:ext uri="{FF2B5EF4-FFF2-40B4-BE49-F238E27FC236}">
                      <a16:creationId xmlns:a16="http://schemas.microsoft.com/office/drawing/2014/main" id="{069BFE75-DB40-1014-53D5-BC80A2920AF6}"/>
                    </a:ext>
                  </a:extLst>
                </p:cNvPr>
                <p:cNvGrpSpPr/>
                <p:nvPr/>
              </p:nvGrpSpPr>
              <p:grpSpPr>
                <a:xfrm>
                  <a:off x="1631169" y="2936792"/>
                  <a:ext cx="978034" cy="999716"/>
                  <a:chOff x="1764426" y="3171915"/>
                  <a:chExt cx="1256271" cy="1284122"/>
                </a:xfrm>
              </p:grpSpPr>
              <p:sp>
                <p:nvSpPr>
                  <p:cNvPr id="3485" name="矩形: 圆角 3484">
                    <a:extLst>
                      <a:ext uri="{FF2B5EF4-FFF2-40B4-BE49-F238E27FC236}">
                        <a16:creationId xmlns:a16="http://schemas.microsoft.com/office/drawing/2014/main" id="{233FD13A-7823-3D11-E4E7-6DDCA7D70950}"/>
                      </a:ext>
                    </a:extLst>
                  </p:cNvPr>
                  <p:cNvSpPr/>
                  <p:nvPr/>
                </p:nvSpPr>
                <p:spPr>
                  <a:xfrm>
                    <a:off x="2840583" y="3385373"/>
                    <a:ext cx="86614" cy="1070664"/>
                  </a:xfrm>
                  <a:prstGeom prst="round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
                <p:nvSpPr>
                  <p:cNvPr id="3486" name="文本框 3485">
                    <a:extLst>
                      <a:ext uri="{FF2B5EF4-FFF2-40B4-BE49-F238E27FC236}">
                        <a16:creationId xmlns:a16="http://schemas.microsoft.com/office/drawing/2014/main" id="{A94038F6-182A-9E45-A245-F77E6EEAC22C}"/>
                      </a:ext>
                    </a:extLst>
                  </p:cNvPr>
                  <p:cNvSpPr txBox="1"/>
                  <p:nvPr/>
                </p:nvSpPr>
                <p:spPr>
                  <a:xfrm>
                    <a:off x="1764426" y="3171915"/>
                    <a:ext cx="1256271" cy="328256"/>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err="1">
                        <a:solidFill>
                          <a:schemeClr val="accent5"/>
                        </a:solidFill>
                        <a:cs typeface="+mn-ea"/>
                        <a:sym typeface="+mn-lt"/>
                      </a:rPr>
                      <a:t>NVLink</a:t>
                    </a:r>
                    <a:endParaRPr kumimoji="1" lang="en-US" altLang="zh-CN" sz="1400" dirty="0">
                      <a:solidFill>
                        <a:schemeClr val="accent5"/>
                      </a:solidFill>
                      <a:cs typeface="+mn-ea"/>
                      <a:sym typeface="+mn-lt"/>
                    </a:endParaRPr>
                  </a:p>
                </p:txBody>
              </p:sp>
            </p:grpSp>
            <p:sp>
              <p:nvSpPr>
                <p:cNvPr id="3483" name="椭圆 3482">
                  <a:extLst>
                    <a:ext uri="{FF2B5EF4-FFF2-40B4-BE49-F238E27FC236}">
                      <a16:creationId xmlns:a16="http://schemas.microsoft.com/office/drawing/2014/main" id="{DAF172DA-3AFD-74E3-8FC2-471F981BB256}"/>
                    </a:ext>
                  </a:extLst>
                </p:cNvPr>
                <p:cNvSpPr/>
                <p:nvPr/>
              </p:nvSpPr>
              <p:spPr>
                <a:xfrm>
                  <a:off x="2455467" y="3717568"/>
                  <a:ext cx="92491" cy="9249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3484" name="椭圆 3483">
                  <a:extLst>
                    <a:ext uri="{FF2B5EF4-FFF2-40B4-BE49-F238E27FC236}">
                      <a16:creationId xmlns:a16="http://schemas.microsoft.com/office/drawing/2014/main" id="{625586D0-527A-E620-5603-C93E82C99949}"/>
                    </a:ext>
                  </a:extLst>
                </p:cNvPr>
                <p:cNvSpPr/>
                <p:nvPr/>
              </p:nvSpPr>
              <p:spPr>
                <a:xfrm>
                  <a:off x="2455466" y="3232072"/>
                  <a:ext cx="92491" cy="9249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grpSp>
          <p:cxnSp>
            <p:nvCxnSpPr>
              <p:cNvPr id="3478" name="直接连接符 3477">
                <a:extLst>
                  <a:ext uri="{FF2B5EF4-FFF2-40B4-BE49-F238E27FC236}">
                    <a16:creationId xmlns:a16="http://schemas.microsoft.com/office/drawing/2014/main" id="{F4535F0F-272E-EB9F-F316-D1600905082A}"/>
                  </a:ext>
                </a:extLst>
              </p:cNvPr>
              <p:cNvCxnSpPr>
                <a:cxnSpLocks/>
                <a:stCxn id="3488" idx="3"/>
                <a:endCxn id="3483" idx="2"/>
              </p:cNvCxnSpPr>
              <p:nvPr/>
            </p:nvCxnSpPr>
            <p:spPr>
              <a:xfrm>
                <a:off x="7586724" y="5462877"/>
                <a:ext cx="289048" cy="45966"/>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79" name="直接连接符 3478">
                <a:extLst>
                  <a:ext uri="{FF2B5EF4-FFF2-40B4-BE49-F238E27FC236}">
                    <a16:creationId xmlns:a16="http://schemas.microsoft.com/office/drawing/2014/main" id="{3CD2625B-4377-5C13-8D4B-50D3BF016E34}"/>
                  </a:ext>
                </a:extLst>
              </p:cNvPr>
              <p:cNvCxnSpPr>
                <a:cxnSpLocks/>
                <a:stCxn id="3489" idx="3"/>
                <a:endCxn id="3483" idx="2"/>
              </p:cNvCxnSpPr>
              <p:nvPr/>
            </p:nvCxnSpPr>
            <p:spPr>
              <a:xfrm>
                <a:off x="7586724" y="5128864"/>
                <a:ext cx="289048" cy="379979"/>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80" name="直接连接符 3479">
                <a:extLst>
                  <a:ext uri="{FF2B5EF4-FFF2-40B4-BE49-F238E27FC236}">
                    <a16:creationId xmlns:a16="http://schemas.microsoft.com/office/drawing/2014/main" id="{67C42228-EDFD-54E7-D8D2-E6902615D528}"/>
                  </a:ext>
                </a:extLst>
              </p:cNvPr>
              <p:cNvCxnSpPr>
                <a:cxnSpLocks/>
                <a:stCxn id="3488" idx="3"/>
                <a:endCxn id="3484" idx="2"/>
              </p:cNvCxnSpPr>
              <p:nvPr/>
            </p:nvCxnSpPr>
            <p:spPr>
              <a:xfrm flipV="1">
                <a:off x="7586724" y="5023347"/>
                <a:ext cx="289047" cy="43953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81" name="直接连接符 3480">
                <a:extLst>
                  <a:ext uri="{FF2B5EF4-FFF2-40B4-BE49-F238E27FC236}">
                    <a16:creationId xmlns:a16="http://schemas.microsoft.com/office/drawing/2014/main" id="{6296F15B-6101-6C3A-5C28-9E8C894348A4}"/>
                  </a:ext>
                </a:extLst>
              </p:cNvPr>
              <p:cNvCxnSpPr>
                <a:cxnSpLocks/>
                <a:stCxn id="3489" idx="3"/>
                <a:endCxn id="3484" idx="2"/>
              </p:cNvCxnSpPr>
              <p:nvPr/>
            </p:nvCxnSpPr>
            <p:spPr>
              <a:xfrm flipV="1">
                <a:off x="7586724" y="5023347"/>
                <a:ext cx="289047" cy="105517"/>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3471" name="椭圆 3470">
              <a:extLst>
                <a:ext uri="{FF2B5EF4-FFF2-40B4-BE49-F238E27FC236}">
                  <a16:creationId xmlns:a16="http://schemas.microsoft.com/office/drawing/2014/main" id="{DD60FAA0-2FFC-3607-C70F-2D25DF6CA719}"/>
                </a:ext>
              </a:extLst>
            </p:cNvPr>
            <p:cNvSpPr/>
            <p:nvPr/>
          </p:nvSpPr>
          <p:spPr>
            <a:xfrm>
              <a:off x="10731277" y="2989367"/>
              <a:ext cx="92491" cy="92491"/>
            </a:xfrm>
            <a:prstGeom prst="ellipse">
              <a:avLst/>
            </a:prstGeom>
            <a:solidFill>
              <a:srgbClr val="FF720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grpSp>
      <p:grpSp>
        <p:nvGrpSpPr>
          <p:cNvPr id="3092" name="组合 3091">
            <a:extLst>
              <a:ext uri="{FF2B5EF4-FFF2-40B4-BE49-F238E27FC236}">
                <a16:creationId xmlns:a16="http://schemas.microsoft.com/office/drawing/2014/main" id="{B551C8D1-7088-EA17-5591-785D4A6BB140}"/>
              </a:ext>
            </a:extLst>
          </p:cNvPr>
          <p:cNvGrpSpPr/>
          <p:nvPr/>
        </p:nvGrpSpPr>
        <p:grpSpPr>
          <a:xfrm>
            <a:off x="9470744" y="3757556"/>
            <a:ext cx="1588079" cy="1089889"/>
            <a:chOff x="9470744" y="3681356"/>
            <a:chExt cx="1588079" cy="1089889"/>
          </a:xfrm>
        </p:grpSpPr>
        <p:grpSp>
          <p:nvGrpSpPr>
            <p:cNvPr id="3490" name="组合 3489">
              <a:extLst>
                <a:ext uri="{FF2B5EF4-FFF2-40B4-BE49-F238E27FC236}">
                  <a16:creationId xmlns:a16="http://schemas.microsoft.com/office/drawing/2014/main" id="{D3CDF684-13B3-72CC-FCF2-B5F2108AA0C4}"/>
                </a:ext>
              </a:extLst>
            </p:cNvPr>
            <p:cNvGrpSpPr/>
            <p:nvPr/>
          </p:nvGrpSpPr>
          <p:grpSpPr>
            <a:xfrm>
              <a:off x="9470744" y="3681356"/>
              <a:ext cx="1588079" cy="1089889"/>
              <a:chOff x="6616348" y="4646527"/>
              <a:chExt cx="1588079" cy="1089889"/>
            </a:xfrm>
          </p:grpSpPr>
          <p:grpSp>
            <p:nvGrpSpPr>
              <p:cNvPr id="3491" name="组合 3490">
                <a:extLst>
                  <a:ext uri="{FF2B5EF4-FFF2-40B4-BE49-F238E27FC236}">
                    <a16:creationId xmlns:a16="http://schemas.microsoft.com/office/drawing/2014/main" id="{5519C2D0-D30C-4FAA-59A1-DE07A341C930}"/>
                  </a:ext>
                </a:extLst>
              </p:cNvPr>
              <p:cNvGrpSpPr/>
              <p:nvPr/>
            </p:nvGrpSpPr>
            <p:grpSpPr>
              <a:xfrm>
                <a:off x="6616348" y="4646527"/>
                <a:ext cx="1588079" cy="1089889"/>
                <a:chOff x="2573606" y="2472321"/>
                <a:chExt cx="1580596" cy="1084754"/>
              </a:xfrm>
            </p:grpSpPr>
            <p:sp>
              <p:nvSpPr>
                <p:cNvPr id="3503" name="矩形: 圆角 3502">
                  <a:extLst>
                    <a:ext uri="{FF2B5EF4-FFF2-40B4-BE49-F238E27FC236}">
                      <a16:creationId xmlns:a16="http://schemas.microsoft.com/office/drawing/2014/main" id="{ABEE0D30-1F1A-D365-B07C-D8F5BD67C3BE}"/>
                    </a:ext>
                  </a:extLst>
                </p:cNvPr>
                <p:cNvSpPr/>
                <p:nvPr/>
              </p:nvSpPr>
              <p:spPr>
                <a:xfrm>
                  <a:off x="2573606" y="2472321"/>
                  <a:ext cx="1580596" cy="1084754"/>
                </a:xfrm>
                <a:prstGeom prst="roundRect">
                  <a:avLst>
                    <a:gd name="adj" fmla="val 10158"/>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507" name="矩形: 圆角 3506">
                  <a:extLst>
                    <a:ext uri="{FF2B5EF4-FFF2-40B4-BE49-F238E27FC236}">
                      <a16:creationId xmlns:a16="http://schemas.microsoft.com/office/drawing/2014/main" id="{10130EC9-5E74-D7C0-260C-DB8B9F4682E8}"/>
                    </a:ext>
                  </a:extLst>
                </p:cNvPr>
                <p:cNvSpPr/>
                <p:nvPr/>
              </p:nvSpPr>
              <p:spPr>
                <a:xfrm>
                  <a:off x="2773429" y="3176554"/>
                  <a:ext cx="765981" cy="216536"/>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cs typeface="+mn-ea"/>
                      <a:sym typeface="+mn-lt"/>
                    </a:rPr>
                    <a:t>GPU</a:t>
                  </a:r>
                  <a:endParaRPr lang="zh-CN" altLang="en-US" sz="1600" dirty="0">
                    <a:solidFill>
                      <a:schemeClr val="bg1"/>
                    </a:solidFill>
                    <a:cs typeface="+mn-ea"/>
                    <a:sym typeface="+mn-lt"/>
                  </a:endParaRPr>
                </a:p>
              </p:txBody>
            </p:sp>
            <p:sp>
              <p:nvSpPr>
                <p:cNvPr id="3509" name="矩形: 圆角 3508">
                  <a:extLst>
                    <a:ext uri="{FF2B5EF4-FFF2-40B4-BE49-F238E27FC236}">
                      <a16:creationId xmlns:a16="http://schemas.microsoft.com/office/drawing/2014/main" id="{AC446673-1082-C15B-9C1D-50B3101FF03A}"/>
                    </a:ext>
                  </a:extLst>
                </p:cNvPr>
                <p:cNvSpPr/>
                <p:nvPr/>
              </p:nvSpPr>
              <p:spPr>
                <a:xfrm>
                  <a:off x="2773429" y="2844115"/>
                  <a:ext cx="765981" cy="216536"/>
                </a:xfrm>
                <a:prstGeom prst="roundRect">
                  <a:avLst>
                    <a:gd name="adj" fmla="val 12268"/>
                  </a:avLst>
                </a:prstGeom>
                <a:solidFill>
                  <a:srgbClr val="0052D9"/>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cs typeface="+mn-ea"/>
                      <a:sym typeface="+mn-lt"/>
                    </a:rPr>
                    <a:t>GPU</a:t>
                  </a:r>
                  <a:endParaRPr lang="zh-CN" altLang="en-US" sz="1600" dirty="0">
                    <a:solidFill>
                      <a:schemeClr val="bg1"/>
                    </a:solidFill>
                    <a:cs typeface="+mn-ea"/>
                    <a:sym typeface="+mn-lt"/>
                  </a:endParaRPr>
                </a:p>
              </p:txBody>
            </p:sp>
          </p:grpSp>
          <p:grpSp>
            <p:nvGrpSpPr>
              <p:cNvPr id="3492" name="组合 3491">
                <a:extLst>
                  <a:ext uri="{FF2B5EF4-FFF2-40B4-BE49-F238E27FC236}">
                    <a16:creationId xmlns:a16="http://schemas.microsoft.com/office/drawing/2014/main" id="{AB362256-262D-A0A6-3EE6-52B99D66B06A}"/>
                  </a:ext>
                </a:extLst>
              </p:cNvPr>
              <p:cNvGrpSpPr/>
              <p:nvPr/>
            </p:nvGrpSpPr>
            <p:grpSpPr>
              <a:xfrm>
                <a:off x="7051474" y="4681821"/>
                <a:ext cx="978034" cy="999716"/>
                <a:chOff x="1631169" y="2936792"/>
                <a:chExt cx="978034" cy="999716"/>
              </a:xfrm>
            </p:grpSpPr>
            <p:grpSp>
              <p:nvGrpSpPr>
                <p:cNvPr id="3498" name="组合 3497">
                  <a:extLst>
                    <a:ext uri="{FF2B5EF4-FFF2-40B4-BE49-F238E27FC236}">
                      <a16:creationId xmlns:a16="http://schemas.microsoft.com/office/drawing/2014/main" id="{EC55BE38-A859-9B5C-A99E-6C8BA5685ABB}"/>
                    </a:ext>
                  </a:extLst>
                </p:cNvPr>
                <p:cNvGrpSpPr/>
                <p:nvPr/>
              </p:nvGrpSpPr>
              <p:grpSpPr>
                <a:xfrm>
                  <a:off x="1631169" y="2936792"/>
                  <a:ext cx="978034" cy="999716"/>
                  <a:chOff x="1764426" y="3171915"/>
                  <a:chExt cx="1256271" cy="1284122"/>
                </a:xfrm>
              </p:grpSpPr>
              <p:sp>
                <p:nvSpPr>
                  <p:cNvPr id="3501" name="矩形: 圆角 3500">
                    <a:extLst>
                      <a:ext uri="{FF2B5EF4-FFF2-40B4-BE49-F238E27FC236}">
                        <a16:creationId xmlns:a16="http://schemas.microsoft.com/office/drawing/2014/main" id="{EE7C1BCA-F5DE-6EAA-9469-08BDF0DFBA5F}"/>
                      </a:ext>
                    </a:extLst>
                  </p:cNvPr>
                  <p:cNvSpPr/>
                  <p:nvPr/>
                </p:nvSpPr>
                <p:spPr>
                  <a:xfrm>
                    <a:off x="2840583" y="3385373"/>
                    <a:ext cx="86614" cy="1070664"/>
                  </a:xfrm>
                  <a:prstGeom prst="round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
                <p:nvSpPr>
                  <p:cNvPr id="3502" name="文本框 3501">
                    <a:extLst>
                      <a:ext uri="{FF2B5EF4-FFF2-40B4-BE49-F238E27FC236}">
                        <a16:creationId xmlns:a16="http://schemas.microsoft.com/office/drawing/2014/main" id="{E1A00E15-8882-FC75-C156-7DE4FE801D9E}"/>
                      </a:ext>
                    </a:extLst>
                  </p:cNvPr>
                  <p:cNvSpPr txBox="1"/>
                  <p:nvPr/>
                </p:nvSpPr>
                <p:spPr>
                  <a:xfrm>
                    <a:off x="1764426" y="3171915"/>
                    <a:ext cx="1256271" cy="328256"/>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err="1">
                        <a:solidFill>
                          <a:schemeClr val="accent5"/>
                        </a:solidFill>
                        <a:cs typeface="+mn-ea"/>
                        <a:sym typeface="+mn-lt"/>
                      </a:rPr>
                      <a:t>NVLink</a:t>
                    </a:r>
                    <a:endParaRPr kumimoji="1" lang="en-US" altLang="zh-CN" sz="1400" dirty="0">
                      <a:solidFill>
                        <a:schemeClr val="accent5"/>
                      </a:solidFill>
                      <a:cs typeface="+mn-ea"/>
                      <a:sym typeface="+mn-lt"/>
                    </a:endParaRPr>
                  </a:p>
                </p:txBody>
              </p:sp>
            </p:grpSp>
            <p:sp>
              <p:nvSpPr>
                <p:cNvPr id="3499" name="椭圆 3498">
                  <a:extLst>
                    <a:ext uri="{FF2B5EF4-FFF2-40B4-BE49-F238E27FC236}">
                      <a16:creationId xmlns:a16="http://schemas.microsoft.com/office/drawing/2014/main" id="{127D37CC-7C21-2349-F234-3552526C7274}"/>
                    </a:ext>
                  </a:extLst>
                </p:cNvPr>
                <p:cNvSpPr/>
                <p:nvPr/>
              </p:nvSpPr>
              <p:spPr>
                <a:xfrm>
                  <a:off x="2455467" y="3717568"/>
                  <a:ext cx="92491" cy="9249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3500" name="椭圆 3499">
                  <a:extLst>
                    <a:ext uri="{FF2B5EF4-FFF2-40B4-BE49-F238E27FC236}">
                      <a16:creationId xmlns:a16="http://schemas.microsoft.com/office/drawing/2014/main" id="{48761E0C-94EB-3B01-AE40-AE3011AF5A1B}"/>
                    </a:ext>
                  </a:extLst>
                </p:cNvPr>
                <p:cNvSpPr/>
                <p:nvPr/>
              </p:nvSpPr>
              <p:spPr>
                <a:xfrm>
                  <a:off x="2455466" y="3232072"/>
                  <a:ext cx="92491" cy="9249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grpSp>
          <p:cxnSp>
            <p:nvCxnSpPr>
              <p:cNvPr id="3493" name="直接连接符 3492">
                <a:extLst>
                  <a:ext uri="{FF2B5EF4-FFF2-40B4-BE49-F238E27FC236}">
                    <a16:creationId xmlns:a16="http://schemas.microsoft.com/office/drawing/2014/main" id="{FF7762E2-A283-96C3-DF4D-8646C66B8B07}"/>
                  </a:ext>
                </a:extLst>
              </p:cNvPr>
              <p:cNvCxnSpPr>
                <a:cxnSpLocks/>
                <a:stCxn id="3507" idx="3"/>
                <a:endCxn id="3499" idx="2"/>
              </p:cNvCxnSpPr>
              <p:nvPr/>
            </p:nvCxnSpPr>
            <p:spPr>
              <a:xfrm>
                <a:off x="7586724" y="5462877"/>
                <a:ext cx="289048" cy="45966"/>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94" name="直接连接符 3493">
                <a:extLst>
                  <a:ext uri="{FF2B5EF4-FFF2-40B4-BE49-F238E27FC236}">
                    <a16:creationId xmlns:a16="http://schemas.microsoft.com/office/drawing/2014/main" id="{1D5C805B-FAEB-B6F0-BF50-5AFFEF0D0675}"/>
                  </a:ext>
                </a:extLst>
              </p:cNvPr>
              <p:cNvCxnSpPr>
                <a:cxnSpLocks/>
                <a:stCxn id="3509" idx="3"/>
                <a:endCxn id="3499" idx="2"/>
              </p:cNvCxnSpPr>
              <p:nvPr/>
            </p:nvCxnSpPr>
            <p:spPr>
              <a:xfrm>
                <a:off x="7586724" y="5128864"/>
                <a:ext cx="289048" cy="379979"/>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95" name="直接连接符 3494">
                <a:extLst>
                  <a:ext uri="{FF2B5EF4-FFF2-40B4-BE49-F238E27FC236}">
                    <a16:creationId xmlns:a16="http://schemas.microsoft.com/office/drawing/2014/main" id="{F6611276-8E09-2551-EF01-0382E8B00EEA}"/>
                  </a:ext>
                </a:extLst>
              </p:cNvPr>
              <p:cNvCxnSpPr>
                <a:cxnSpLocks/>
                <a:stCxn id="3507" idx="3"/>
                <a:endCxn id="3500" idx="2"/>
              </p:cNvCxnSpPr>
              <p:nvPr/>
            </p:nvCxnSpPr>
            <p:spPr>
              <a:xfrm flipV="1">
                <a:off x="7586724" y="5023347"/>
                <a:ext cx="289047" cy="43953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96" name="直接连接符 3495">
                <a:extLst>
                  <a:ext uri="{FF2B5EF4-FFF2-40B4-BE49-F238E27FC236}">
                    <a16:creationId xmlns:a16="http://schemas.microsoft.com/office/drawing/2014/main" id="{B50BCF7C-0F6A-1369-F0C0-D51FA490A9C0}"/>
                  </a:ext>
                </a:extLst>
              </p:cNvPr>
              <p:cNvCxnSpPr>
                <a:cxnSpLocks/>
                <a:stCxn id="3509" idx="3"/>
                <a:endCxn id="3500" idx="2"/>
              </p:cNvCxnSpPr>
              <p:nvPr/>
            </p:nvCxnSpPr>
            <p:spPr>
              <a:xfrm flipV="1">
                <a:off x="7586724" y="5023347"/>
                <a:ext cx="289047" cy="105517"/>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3510" name="椭圆 3509">
              <a:extLst>
                <a:ext uri="{FF2B5EF4-FFF2-40B4-BE49-F238E27FC236}">
                  <a16:creationId xmlns:a16="http://schemas.microsoft.com/office/drawing/2014/main" id="{39A6A9F3-D4A6-94A0-375A-DEA75A340B9F}"/>
                </a:ext>
              </a:extLst>
            </p:cNvPr>
            <p:cNvSpPr/>
            <p:nvPr/>
          </p:nvSpPr>
          <p:spPr>
            <a:xfrm>
              <a:off x="10731277" y="4268361"/>
              <a:ext cx="92491" cy="92491"/>
            </a:xfrm>
            <a:prstGeom prst="ellipse">
              <a:avLst/>
            </a:prstGeom>
            <a:solidFill>
              <a:srgbClr val="FF720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grpSp>
      <p:sp>
        <p:nvSpPr>
          <p:cNvPr id="3512" name="文本框 3511">
            <a:extLst>
              <a:ext uri="{FF2B5EF4-FFF2-40B4-BE49-F238E27FC236}">
                <a16:creationId xmlns:a16="http://schemas.microsoft.com/office/drawing/2014/main" id="{21D4E1C6-A7AD-0B1B-3DA7-3603D84666F2}"/>
              </a:ext>
            </a:extLst>
          </p:cNvPr>
          <p:cNvSpPr txBox="1"/>
          <p:nvPr/>
        </p:nvSpPr>
        <p:spPr>
          <a:xfrm rot="5400000">
            <a:off x="11187136" y="3548068"/>
            <a:ext cx="978034" cy="255554"/>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a:solidFill>
                  <a:schemeClr val="accent5"/>
                </a:solidFill>
                <a:cs typeface="+mn-ea"/>
                <a:sym typeface="+mn-lt"/>
              </a:rPr>
              <a:t>CPO </a:t>
            </a:r>
            <a:r>
              <a:rPr kumimoji="1" lang="en-US" altLang="zh-CN" sz="1400" dirty="0" err="1">
                <a:solidFill>
                  <a:schemeClr val="accent5"/>
                </a:solidFill>
                <a:cs typeface="+mn-ea"/>
                <a:sym typeface="+mn-lt"/>
              </a:rPr>
              <a:t>Swtich</a:t>
            </a:r>
            <a:endParaRPr kumimoji="1" lang="en-US" altLang="zh-CN" sz="1400" dirty="0">
              <a:solidFill>
                <a:schemeClr val="accent5"/>
              </a:solidFill>
              <a:cs typeface="+mn-ea"/>
              <a:sym typeface="+mn-lt"/>
            </a:endParaRPr>
          </a:p>
        </p:txBody>
      </p:sp>
      <p:grpSp>
        <p:nvGrpSpPr>
          <p:cNvPr id="3078" name="组合 3077">
            <a:extLst>
              <a:ext uri="{FF2B5EF4-FFF2-40B4-BE49-F238E27FC236}">
                <a16:creationId xmlns:a16="http://schemas.microsoft.com/office/drawing/2014/main" id="{55CDC5CC-EB14-38DB-D29A-6C909D1C4E36}"/>
              </a:ext>
            </a:extLst>
          </p:cNvPr>
          <p:cNvGrpSpPr/>
          <p:nvPr/>
        </p:nvGrpSpPr>
        <p:grpSpPr>
          <a:xfrm>
            <a:off x="11293879" y="3304567"/>
            <a:ext cx="93877" cy="833534"/>
            <a:chOff x="11556461" y="3241372"/>
            <a:chExt cx="93877" cy="833534"/>
          </a:xfrm>
        </p:grpSpPr>
        <p:sp>
          <p:nvSpPr>
            <p:cNvPr id="3511" name="矩形: 圆角 3510">
              <a:extLst>
                <a:ext uri="{FF2B5EF4-FFF2-40B4-BE49-F238E27FC236}">
                  <a16:creationId xmlns:a16="http://schemas.microsoft.com/office/drawing/2014/main" id="{EDBBC228-752E-ECEB-B395-B84A2961D72F}"/>
                </a:ext>
              </a:extLst>
            </p:cNvPr>
            <p:cNvSpPr/>
            <p:nvPr/>
          </p:nvSpPr>
          <p:spPr>
            <a:xfrm rot="10800000">
              <a:off x="11568992" y="3241372"/>
              <a:ext cx="67431" cy="833534"/>
            </a:xfrm>
            <a:prstGeom prst="round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
          <p:nvSpPr>
            <p:cNvPr id="3513" name="椭圆 3512">
              <a:extLst>
                <a:ext uri="{FF2B5EF4-FFF2-40B4-BE49-F238E27FC236}">
                  <a16:creationId xmlns:a16="http://schemas.microsoft.com/office/drawing/2014/main" id="{F68758A1-EE41-C2FC-C77B-2ACA85279F2F}"/>
                </a:ext>
              </a:extLst>
            </p:cNvPr>
            <p:cNvSpPr/>
            <p:nvPr/>
          </p:nvSpPr>
          <p:spPr>
            <a:xfrm>
              <a:off x="11557847" y="3459733"/>
              <a:ext cx="92491" cy="92491"/>
            </a:xfrm>
            <a:prstGeom prst="ellipse">
              <a:avLst/>
            </a:prstGeom>
            <a:solidFill>
              <a:srgbClr val="FF720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3514" name="椭圆 3513">
              <a:extLst>
                <a:ext uri="{FF2B5EF4-FFF2-40B4-BE49-F238E27FC236}">
                  <a16:creationId xmlns:a16="http://schemas.microsoft.com/office/drawing/2014/main" id="{BC54A4FD-0FE7-F700-06CE-B3AD24A7090B}"/>
                </a:ext>
              </a:extLst>
            </p:cNvPr>
            <p:cNvSpPr/>
            <p:nvPr/>
          </p:nvSpPr>
          <p:spPr>
            <a:xfrm>
              <a:off x="11556461" y="3762794"/>
              <a:ext cx="92491" cy="92491"/>
            </a:xfrm>
            <a:prstGeom prst="ellipse">
              <a:avLst/>
            </a:prstGeom>
            <a:solidFill>
              <a:srgbClr val="FF720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grpSp>
      <p:cxnSp>
        <p:nvCxnSpPr>
          <p:cNvPr id="3516" name="连接符: 肘形 3515">
            <a:extLst>
              <a:ext uri="{FF2B5EF4-FFF2-40B4-BE49-F238E27FC236}">
                <a16:creationId xmlns:a16="http://schemas.microsoft.com/office/drawing/2014/main" id="{4E796503-7735-7FCD-3914-0A0953BCFF90}"/>
              </a:ext>
            </a:extLst>
          </p:cNvPr>
          <p:cNvCxnSpPr>
            <a:cxnSpLocks/>
            <a:stCxn id="3471" idx="6"/>
            <a:endCxn id="3513" idx="2"/>
          </p:cNvCxnSpPr>
          <p:nvPr/>
        </p:nvCxnSpPr>
        <p:spPr>
          <a:xfrm>
            <a:off x="10823075" y="3026698"/>
            <a:ext cx="472190" cy="542476"/>
          </a:xfrm>
          <a:prstGeom prst="bentConnector3">
            <a:avLst>
              <a:gd name="adj1" fmla="val 71517"/>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519" name="连接符: 肘形 3518">
            <a:extLst>
              <a:ext uri="{FF2B5EF4-FFF2-40B4-BE49-F238E27FC236}">
                <a16:creationId xmlns:a16="http://schemas.microsoft.com/office/drawing/2014/main" id="{516761EB-0393-E5FA-8357-B7741A7B37D5}"/>
              </a:ext>
            </a:extLst>
          </p:cNvPr>
          <p:cNvCxnSpPr>
            <a:cxnSpLocks/>
            <a:stCxn id="3510" idx="6"/>
            <a:endCxn id="3514" idx="2"/>
          </p:cNvCxnSpPr>
          <p:nvPr/>
        </p:nvCxnSpPr>
        <p:spPr>
          <a:xfrm flipV="1">
            <a:off x="10823768" y="3872235"/>
            <a:ext cx="470111" cy="518572"/>
          </a:xfrm>
          <a:prstGeom prst="bentConnector3">
            <a:avLst>
              <a:gd name="adj1" fmla="val 71612"/>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086" name="图片 3085" descr="图形用户界面&#10;&#10;AI 生成的内容可能不正确。">
            <a:extLst>
              <a:ext uri="{FF2B5EF4-FFF2-40B4-BE49-F238E27FC236}">
                <a16:creationId xmlns:a16="http://schemas.microsoft.com/office/drawing/2014/main" id="{AB869D2F-8EA5-F1E7-E09D-7FFE5491EFBF}"/>
              </a:ext>
            </a:extLst>
          </p:cNvPr>
          <p:cNvPicPr>
            <a:picLocks noChangeAspect="1"/>
          </p:cNvPicPr>
          <p:nvPr/>
        </p:nvPicPr>
        <p:blipFill>
          <a:blip r:embed="rId10" cstate="print">
            <a:extLst>
              <a:ext uri="{BEBA8EAE-BF5A-486C-A8C5-ECC9F3942E4B}">
                <a14:imgProps xmlns:a14="http://schemas.microsoft.com/office/drawing/2010/main">
                  <a14:imgLayer r:embed="rId11">
                    <a14:imgEffect>
                      <a14:backgroundRemoval t="9209" b="95159" l="78" r="94264">
                        <a14:foregroundMark x1="7674" y1="38961" x2="7132" y2="60567"/>
                        <a14:foregroundMark x1="4651" y1="39551" x2="4419" y2="59976"/>
                        <a14:foregroundMark x1="155" y1="65525" x2="5194" y2="63636"/>
                        <a14:foregroundMark x1="10672" y1="85600" x2="10698" y2="86423"/>
                        <a14:foregroundMark x1="10620" y1="83943" x2="10672" y2="85600"/>
                        <a14:foregroundMark x1="543" y1="87249" x2="543" y2="87249"/>
                        <a14:foregroundMark x1="155" y1="86659" x2="155" y2="87013"/>
                        <a14:foregroundMark x1="9443" y1="84531" x2="9922" y2="84416"/>
                        <a14:foregroundMark x1="31842" y1="90916" x2="33876" y2="91972"/>
                        <a14:foregroundMark x1="20465" y1="85006" x2="27617" y2="88721"/>
                        <a14:foregroundMark x1="33876" y1="91972" x2="41628" y2="90083"/>
                        <a14:foregroundMark x1="41628" y1="90083" x2="42558" y2="89374"/>
                        <a14:foregroundMark x1="27545" y1="88521" x2="24806" y2="88076"/>
                        <a14:foregroundMark x1="32791" y1="89374" x2="31197" y2="89115"/>
                        <a14:foregroundMark x1="24806" y1="88076" x2="22713" y2="84179"/>
                        <a14:foregroundMark x1="16405" y1="89333" x2="16434" y2="89965"/>
                        <a14:foregroundMark x1="16345" y1="88000" x2="16405" y2="89333"/>
                        <a14:foregroundMark x1="16279" y1="86541" x2="16345" y2="88000"/>
                        <a14:foregroundMark x1="12359" y1="83476" x2="15426" y2="82999"/>
                        <a14:foregroundMark x1="11628" y1="83589" x2="11901" y2="83547"/>
                        <a14:foregroundMark x1="47236" y1="80829" x2="50000" y2="85596"/>
                        <a14:foregroundMark x1="43566" y1="74498" x2="44825" y2="76670"/>
                        <a14:foregroundMark x1="51850" y1="79309" x2="52326" y2="80047"/>
                        <a14:foregroundMark x1="48140" y1="73554" x2="48592" y2="74255"/>
                        <a14:foregroundMark x1="90465" y1="65171" x2="88140" y2="72609"/>
                        <a14:foregroundMark x1="88140" y1="72609" x2="86899" y2="73436"/>
                        <a14:foregroundMark x1="59073" y1="70145" x2="58450" y2="68713"/>
                        <a14:foregroundMark x1="62403" y1="77804" x2="61257" y2="75169"/>
                        <a14:foregroundMark x1="66822" y1="80992" x2="66822" y2="82645"/>
                        <a14:foregroundMark x1="77519" y1="78512" x2="77519" y2="78512"/>
                        <a14:foregroundMark x1="89767" y1="74498" x2="89767" y2="74498"/>
                        <a14:foregroundMark x1="94341" y1="70366" x2="94341" y2="70366"/>
                        <a14:foregroundMark x1="38915" y1="92326" x2="38915" y2="92326"/>
                        <a14:foregroundMark x1="32093" y1="95159" x2="32093" y2="95159"/>
                        <a14:foregroundMark x1="48527" y1="89256" x2="48527" y2="89256"/>
                        <a14:foregroundMark x1="38527" y1="93388" x2="38527" y2="93388"/>
                        <a14:foregroundMark x1="22248" y1="92562" x2="22248" y2="92562"/>
                        <a14:foregroundMark x1="5604" y1="84267" x2="350" y2="85067"/>
                        <a14:foregroundMark x1="51138" y1="74133" x2="51138" y2="74133"/>
                        <a14:foregroundMark x1="59194" y1="72533" x2="59194" y2="72533"/>
                        <a14:foregroundMark x1="45884" y1="78933" x2="45884" y2="78933"/>
                        <a14:backgroundMark x1="30078" y1="63518" x2="32713" y2="70366"/>
                        <a14:backgroundMark x1="24651" y1="56553" x2="29922" y2="63754"/>
                        <a14:backgroundMark x1="29922" y1="63754" x2="30078" y2="64227"/>
                        <a14:backgroundMark x1="28062" y1="89020" x2="30000" y2="89256"/>
                        <a14:backgroundMark x1="34186" y1="87249" x2="34031" y2="86068"/>
                        <a14:backgroundMark x1="31163" y1="89020" x2="27132" y2="87367"/>
                        <a14:backgroundMark x1="47013" y1="78933" x2="47752" y2="80283"/>
                        <a14:backgroundMark x1="45426" y1="76033" x2="47013" y2="78933"/>
                        <a14:backgroundMark x1="49799" y1="78933" x2="50155" y2="79457"/>
                        <a14:backgroundMark x1="47829" y1="76033" x2="49799" y2="78933"/>
                        <a14:backgroundMark x1="51318" y1="75443" x2="52713" y2="78512"/>
                        <a14:backgroundMark x1="48372" y1="74498" x2="50775" y2="78630"/>
                        <a14:backgroundMark x1="9380" y1="68241" x2="9767" y2="72019"/>
                        <a14:backgroundMark x1="52014" y1="80800" x2="52014" y2="80800"/>
                        <a14:backgroundMark x1="60595" y1="73867" x2="60595" y2="73867"/>
                        <a14:backgroundMark x1="61296" y1="74400" x2="61296" y2="74400"/>
                        <a14:backgroundMark x1="59720" y1="72267" x2="59720" y2="72267"/>
                        <a14:backgroundMark x1="60058" y1="72533" x2="61646" y2="74667"/>
                        <a14:backgroundMark x1="58669" y1="70667" x2="60058" y2="72533"/>
                        <a14:backgroundMark x1="9282" y1="85600" x2="9282" y2="85600"/>
                        <a14:backgroundMark x1="9807" y1="85333" x2="7005" y2="85867"/>
                        <a14:backgroundMark x1="7180" y1="85600" x2="6236" y2="85682"/>
                        <a14:backgroundMark x1="9457" y1="85600" x2="9982" y2="85600"/>
                        <a14:backgroundMark x1="11559" y1="84533" x2="12084" y2="84267"/>
                        <a14:backgroundMark x1="16637" y1="89333" x2="16637" y2="89333"/>
                        <a14:backgroundMark x1="15762" y1="88000" x2="15762" y2="88000"/>
                      </a14:backgroundRemoval>
                    </a14:imgEffect>
                  </a14:imgLayer>
                </a14:imgProps>
              </a:ext>
              <a:ext uri="{28A0092B-C50C-407E-A947-70E740481C1C}">
                <a14:useLocalDpi xmlns:a14="http://schemas.microsoft.com/office/drawing/2010/main" val="0"/>
              </a:ext>
            </a:extLst>
          </a:blip>
          <a:stretch>
            <a:fillRect/>
          </a:stretch>
        </p:blipFill>
        <p:spPr>
          <a:xfrm>
            <a:off x="6903382" y="4750137"/>
            <a:ext cx="2371347" cy="1557001"/>
          </a:xfrm>
          <a:prstGeom prst="rect">
            <a:avLst/>
          </a:prstGeom>
        </p:spPr>
      </p:pic>
      <p:sp>
        <p:nvSpPr>
          <p:cNvPr id="3087" name="文本框 3086">
            <a:extLst>
              <a:ext uri="{FF2B5EF4-FFF2-40B4-BE49-F238E27FC236}">
                <a16:creationId xmlns:a16="http://schemas.microsoft.com/office/drawing/2014/main" id="{F6E28845-37FF-8EC5-B366-64A323F417F9}"/>
              </a:ext>
            </a:extLst>
          </p:cNvPr>
          <p:cNvSpPr txBox="1"/>
          <p:nvPr/>
        </p:nvSpPr>
        <p:spPr>
          <a:xfrm>
            <a:off x="9205085" y="5231693"/>
            <a:ext cx="2254044" cy="255554"/>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a:solidFill>
                  <a:schemeClr val="tx1">
                    <a:lumMod val="50000"/>
                  </a:schemeClr>
                </a:solidFill>
                <a:cs typeface="+mn-ea"/>
                <a:sym typeface="+mn-lt"/>
              </a:rPr>
              <a:t>GB200 </a:t>
            </a:r>
            <a:r>
              <a:rPr kumimoji="1" lang="en-US" altLang="zh-CN" sz="1400" dirty="0" err="1">
                <a:solidFill>
                  <a:schemeClr val="tx1">
                    <a:lumMod val="50000"/>
                  </a:schemeClr>
                </a:solidFill>
                <a:cs typeface="+mn-ea"/>
                <a:sym typeface="+mn-lt"/>
              </a:rPr>
              <a:t>SuperPod</a:t>
            </a:r>
            <a:r>
              <a:rPr kumimoji="1" lang="en-US" altLang="zh-CN" sz="1400" dirty="0">
                <a:solidFill>
                  <a:schemeClr val="tx1">
                    <a:lumMod val="50000"/>
                  </a:schemeClr>
                </a:solidFill>
                <a:cs typeface="+mn-ea"/>
                <a:sym typeface="+mn-lt"/>
              </a:rPr>
              <a:t> NVL 576</a:t>
            </a:r>
            <a:endParaRPr kumimoji="1" lang="en-US" altLang="zh-CN" sz="1400" dirty="0">
              <a:solidFill>
                <a:srgbClr val="0052D9"/>
              </a:solidFill>
              <a:cs typeface="+mn-ea"/>
              <a:sym typeface="+mn-lt"/>
            </a:endParaRPr>
          </a:p>
        </p:txBody>
      </p:sp>
      <p:sp>
        <p:nvSpPr>
          <p:cNvPr id="3089" name="文本框 3088">
            <a:extLst>
              <a:ext uri="{FF2B5EF4-FFF2-40B4-BE49-F238E27FC236}">
                <a16:creationId xmlns:a16="http://schemas.microsoft.com/office/drawing/2014/main" id="{7460BAC1-6691-7D84-177E-0F4F7CB50DDD}"/>
              </a:ext>
            </a:extLst>
          </p:cNvPr>
          <p:cNvSpPr txBox="1"/>
          <p:nvPr/>
        </p:nvSpPr>
        <p:spPr>
          <a:xfrm>
            <a:off x="9385847" y="5691414"/>
            <a:ext cx="1892520" cy="255554"/>
          </a:xfrm>
          <a:prstGeom prst="rect">
            <a:avLst/>
          </a:prstGeom>
          <a:ln w="6350">
            <a:noFill/>
            <a:miter lim="800000"/>
          </a:ln>
        </p:spPr>
        <p:txBody>
          <a:bodyPr vert="horz" wrap="square" lIns="0" tIns="0" rIns="0" bIns="0" rtlCol="0" anchor="ctr">
            <a:noAutofit/>
          </a:bodyPr>
          <a:lstStyle/>
          <a:p>
            <a:pPr algn="ctr">
              <a:spcBef>
                <a:spcPts val="600"/>
              </a:spcBef>
              <a:spcAft>
                <a:spcPts val="600"/>
              </a:spcAft>
            </a:pPr>
            <a:r>
              <a:rPr kumimoji="1" lang="en-US" altLang="zh-CN" sz="1400" dirty="0">
                <a:solidFill>
                  <a:schemeClr val="tx1">
                    <a:lumMod val="50000"/>
                  </a:schemeClr>
                </a:solidFill>
                <a:cs typeface="+mn-ea"/>
                <a:sym typeface="+mn-lt"/>
              </a:rPr>
              <a:t>GB200 NVL72 × </a:t>
            </a:r>
            <a:r>
              <a:rPr lang="en-US" altLang="zh-CN" b="1" dirty="0">
                <a:solidFill>
                  <a:srgbClr val="0052D9"/>
                </a:solidFill>
                <a:cs typeface="+mn-ea"/>
                <a:sym typeface="+mn-lt"/>
              </a:rPr>
              <a:t>8</a:t>
            </a:r>
          </a:p>
        </p:txBody>
      </p:sp>
      <p:sp>
        <p:nvSpPr>
          <p:cNvPr id="3090" name="文本框 3089">
            <a:extLst>
              <a:ext uri="{FF2B5EF4-FFF2-40B4-BE49-F238E27FC236}">
                <a16:creationId xmlns:a16="http://schemas.microsoft.com/office/drawing/2014/main" id="{E592F033-6F69-A940-A2A5-C49D8F7A1808}"/>
              </a:ext>
            </a:extLst>
          </p:cNvPr>
          <p:cNvSpPr txBox="1"/>
          <p:nvPr/>
        </p:nvSpPr>
        <p:spPr>
          <a:xfrm>
            <a:off x="298577" y="6334673"/>
            <a:ext cx="6536586" cy="281243"/>
          </a:xfrm>
          <a:prstGeom prst="rect">
            <a:avLst/>
          </a:prstGeom>
          <a:ln w="6350">
            <a:noFill/>
            <a:miter lim="800000"/>
          </a:ln>
        </p:spPr>
        <p:txBody>
          <a:bodyPr vert="horz" wrap="square" lIns="0" tIns="0" rIns="0" bIns="0" rtlCol="0" anchor="ctr">
            <a:noAutofit/>
          </a:bodyPr>
          <a:lstStyle/>
          <a:p>
            <a:pPr>
              <a:spcBef>
                <a:spcPts val="300"/>
              </a:spcBef>
              <a:spcAft>
                <a:spcPts val="300"/>
              </a:spcAft>
            </a:pPr>
            <a:r>
              <a:rPr kumimoji="1" lang="en-US" altLang="zh-CN" sz="1200" i="1" dirty="0">
                <a:solidFill>
                  <a:schemeClr val="tx1">
                    <a:lumMod val="50000"/>
                  </a:schemeClr>
                </a:solidFill>
                <a:cs typeface="+mn-ea"/>
                <a:sym typeface="+mn-lt"/>
              </a:rPr>
              <a:t>Source:</a:t>
            </a:r>
            <a:r>
              <a:rPr kumimoji="1" lang="zh-CN" altLang="en-US" sz="1200" i="1" dirty="0">
                <a:solidFill>
                  <a:schemeClr val="tx1">
                    <a:lumMod val="50000"/>
                  </a:schemeClr>
                </a:solidFill>
                <a:cs typeface="+mn-ea"/>
                <a:sym typeface="+mn-lt"/>
              </a:rPr>
              <a:t> </a:t>
            </a:r>
            <a:r>
              <a:rPr kumimoji="1" lang="en-US" altLang="zh-CN" sz="1200" i="1" dirty="0">
                <a:solidFill>
                  <a:schemeClr val="tx1">
                    <a:lumMod val="50000"/>
                  </a:schemeClr>
                </a:solidFill>
                <a:cs typeface="+mn-ea"/>
                <a:sym typeface="+mn-lt"/>
              </a:rPr>
              <a:t>Nvidia</a:t>
            </a:r>
          </a:p>
        </p:txBody>
      </p:sp>
    </p:spTree>
    <p:extLst>
      <p:ext uri="{BB962C8B-B14F-4D97-AF65-F5344CB8AC3E}">
        <p14:creationId xmlns:p14="http://schemas.microsoft.com/office/powerpoint/2010/main" val="947821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1E8A3-F513-E80A-2CF3-89F157D3B2E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DC55812-9CB6-EA95-7068-A340A4C2A3FE}"/>
              </a:ext>
            </a:extLst>
          </p:cNvPr>
          <p:cNvGraphicFramePr>
            <a:graphicFrameLocks noChangeAspect="1"/>
          </p:cNvGraphicFramePr>
          <p:nvPr>
            <p:custDataLst>
              <p:tags r:id="rId1"/>
            </p:custDataLst>
            <p:extLst>
              <p:ext uri="{D42A27DB-BD31-4B8C-83A1-F6EECF244321}">
                <p14:modId xmlns:p14="http://schemas.microsoft.com/office/powerpoint/2010/main" val="32582840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 imgW="404" imgH="405" progId="TCLayout.ActiveDocument.1">
                  <p:embed/>
                </p:oleObj>
              </mc:Choice>
              <mc:Fallback>
                <p:oleObj name="think-cell 幻灯片" r:id="rId3" imgW="404" imgH="405" progId="TCLayout.ActiveDocument.1">
                  <p:embed/>
                  <p:pic>
                    <p:nvPicPr>
                      <p:cNvPr id="5" name="think-cell data - do not delete" hidden="1">
                        <a:extLst>
                          <a:ext uri="{FF2B5EF4-FFF2-40B4-BE49-F238E27FC236}">
                            <a16:creationId xmlns:a16="http://schemas.microsoft.com/office/drawing/2014/main" id="{4FC8A3E0-0CA0-C767-446E-C6D3AE926F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标题 1">
            <a:extLst>
              <a:ext uri="{FF2B5EF4-FFF2-40B4-BE49-F238E27FC236}">
                <a16:creationId xmlns:a16="http://schemas.microsoft.com/office/drawing/2014/main" id="{235A3A5E-53B1-BB1F-17FD-2FB400D90493}"/>
              </a:ext>
            </a:extLst>
          </p:cNvPr>
          <p:cNvSpPr>
            <a:spLocks noGrp="1"/>
          </p:cNvSpPr>
          <p:nvPr>
            <p:ph type="title"/>
          </p:nvPr>
        </p:nvSpPr>
        <p:spPr>
          <a:xfrm>
            <a:off x="158750" y="172212"/>
            <a:ext cx="10287402" cy="731520"/>
          </a:xfrm>
        </p:spPr>
        <p:txBody>
          <a:bodyPr vert="horz"/>
          <a:lstStyle/>
          <a:p>
            <a:r>
              <a:rPr lang="en-US" altLang="zh-CN" dirty="0">
                <a:latin typeface="+mn-lt"/>
                <a:cs typeface="+mn-ea"/>
              </a:rPr>
              <a:t>​Overseas: CPO for Scale Out first; Domestic: CPO for Scale Up first</a:t>
            </a:r>
            <a:endParaRPr lang="zh-CN" altLang="en-US" dirty="0">
              <a:latin typeface="+mn-lt"/>
              <a:ea typeface="+mn-ea"/>
              <a:cs typeface="+mn-ea"/>
              <a:sym typeface="+mn-lt"/>
            </a:endParaRPr>
          </a:p>
        </p:txBody>
      </p:sp>
      <p:sp>
        <p:nvSpPr>
          <p:cNvPr id="43" name="文本框 42">
            <a:extLst>
              <a:ext uri="{FF2B5EF4-FFF2-40B4-BE49-F238E27FC236}">
                <a16:creationId xmlns:a16="http://schemas.microsoft.com/office/drawing/2014/main" id="{A3732B22-A2E7-7704-E64B-75C5CB506E4D}"/>
              </a:ext>
            </a:extLst>
          </p:cNvPr>
          <p:cNvSpPr txBox="1"/>
          <p:nvPr/>
        </p:nvSpPr>
        <p:spPr>
          <a:xfrm>
            <a:off x="652531" y="5006458"/>
            <a:ext cx="1340313" cy="755421"/>
          </a:xfrm>
          <a:prstGeom prst="rect">
            <a:avLst/>
          </a:prstGeom>
          <a:solidFill>
            <a:schemeClr val="tx2">
              <a:lumMod val="95000"/>
            </a:schemeClr>
          </a:solidFill>
          <a:ln w="6350">
            <a:noFill/>
            <a:miter lim="800000"/>
          </a:ln>
        </p:spPr>
        <p:txBody>
          <a:bodyPr vert="horz" wrap="square" lIns="0" tIns="0" rIns="0" bIns="0" rtlCol="0" anchor="ctr">
            <a:noAutofit/>
          </a:bodyPr>
          <a:lstStyle>
            <a:defPPr>
              <a:defRPr lang="zh-CN"/>
            </a:defPPr>
            <a:lvl1pPr algn="ctr">
              <a:buNone/>
              <a:defRPr kumimoji="1" sz="1600" b="1">
                <a:solidFill>
                  <a:schemeClr val="accent6">
                    <a:lumMod val="10000"/>
                  </a:schemeClr>
                </a:solidFill>
                <a:cs typeface="+mn-ea"/>
              </a:defRPr>
            </a:lvl1pPr>
          </a:lstStyle>
          <a:p>
            <a:r>
              <a:rPr lang="en-US" altLang="zh-CN" dirty="0"/>
              <a:t>​CPO Initial Adoption</a:t>
            </a:r>
            <a:endParaRPr lang="en-US" altLang="zh-CN" dirty="0">
              <a:sym typeface="+mn-lt"/>
            </a:endParaRPr>
          </a:p>
        </p:txBody>
      </p:sp>
      <p:sp>
        <p:nvSpPr>
          <p:cNvPr id="47" name="文本框 46">
            <a:extLst>
              <a:ext uri="{FF2B5EF4-FFF2-40B4-BE49-F238E27FC236}">
                <a16:creationId xmlns:a16="http://schemas.microsoft.com/office/drawing/2014/main" id="{AD3EC4C4-E0A3-D829-BC85-520DD664B0B9}"/>
              </a:ext>
            </a:extLst>
          </p:cNvPr>
          <p:cNvSpPr txBox="1"/>
          <p:nvPr/>
        </p:nvSpPr>
        <p:spPr>
          <a:xfrm>
            <a:off x="6836027" y="1465330"/>
            <a:ext cx="2433271" cy="251806"/>
          </a:xfrm>
          <a:prstGeom prst="rect">
            <a:avLst/>
          </a:prstGeom>
          <a:ln w="6350">
            <a:noFill/>
            <a:miter lim="800000"/>
          </a:ln>
        </p:spPr>
        <p:txBody>
          <a:bodyPr vert="horz" wrap="square" lIns="0" tIns="0" rIns="0" bIns="0" rtlCol="0">
            <a:noAutofit/>
          </a:bodyPr>
          <a:lstStyle/>
          <a:p>
            <a:pPr algn="l">
              <a:spcBef>
                <a:spcPts val="300"/>
              </a:spcBef>
              <a:spcAft>
                <a:spcPts val="300"/>
              </a:spcAft>
            </a:pPr>
            <a:endParaRPr kumimoji="1" lang="zh-CN" altLang="en-US" sz="1400" i="1" dirty="0">
              <a:solidFill>
                <a:schemeClr val="tx1">
                  <a:lumMod val="50000"/>
                </a:schemeClr>
              </a:solidFill>
              <a:cs typeface="+mn-ea"/>
              <a:sym typeface="+mn-lt"/>
            </a:endParaRPr>
          </a:p>
        </p:txBody>
      </p:sp>
      <p:cxnSp>
        <p:nvCxnSpPr>
          <p:cNvPr id="52" name="直线连接符 34">
            <a:extLst>
              <a:ext uri="{FF2B5EF4-FFF2-40B4-BE49-F238E27FC236}">
                <a16:creationId xmlns:a16="http://schemas.microsoft.com/office/drawing/2014/main" id="{856C6999-A57E-E9F1-705B-8AC9D023EC18}"/>
              </a:ext>
            </a:extLst>
          </p:cNvPr>
          <p:cNvCxnSpPr>
            <a:cxnSpLocks/>
          </p:cNvCxnSpPr>
          <p:nvPr/>
        </p:nvCxnSpPr>
        <p:spPr>
          <a:xfrm>
            <a:off x="2105234" y="1386409"/>
            <a:ext cx="3981449"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83A8A535-9407-885E-6F71-00F9C228C4C7}"/>
              </a:ext>
            </a:extLst>
          </p:cNvPr>
          <p:cNvSpPr txBox="1"/>
          <p:nvPr/>
        </p:nvSpPr>
        <p:spPr>
          <a:xfrm>
            <a:off x="1916400" y="997411"/>
            <a:ext cx="4154305" cy="223688"/>
          </a:xfrm>
          <a:prstGeom prst="rect">
            <a:avLst/>
          </a:prstGeom>
          <a:ln w="6350">
            <a:noFill/>
            <a:miter lim="800000"/>
          </a:ln>
        </p:spPr>
        <p:txBody>
          <a:bodyPr vert="horz" wrap="square" lIns="0" tIns="0" rIns="0" bIns="0" rtlCol="0">
            <a:noAutofit/>
          </a:bodyPr>
          <a:lstStyle/>
          <a:p>
            <a:pPr algn="ctr">
              <a:spcBef>
                <a:spcPts val="300"/>
              </a:spcBef>
              <a:spcAft>
                <a:spcPts val="300"/>
              </a:spcAft>
            </a:pPr>
            <a:r>
              <a:rPr kumimoji="1" lang="en-US" altLang="zh-CN" b="1" dirty="0">
                <a:solidFill>
                  <a:schemeClr val="accent6">
                    <a:lumMod val="10000"/>
                  </a:schemeClr>
                </a:solidFill>
                <a:cs typeface="+mn-ea"/>
                <a:sym typeface="+mn-lt"/>
              </a:rPr>
              <a:t>Overseas: Scale Out</a:t>
            </a:r>
          </a:p>
        </p:txBody>
      </p:sp>
      <p:sp>
        <p:nvSpPr>
          <p:cNvPr id="7" name="文本框 6">
            <a:extLst>
              <a:ext uri="{FF2B5EF4-FFF2-40B4-BE49-F238E27FC236}">
                <a16:creationId xmlns:a16="http://schemas.microsoft.com/office/drawing/2014/main" id="{E6DD5760-DDC4-F7FD-057C-6D69C8782304}"/>
              </a:ext>
            </a:extLst>
          </p:cNvPr>
          <p:cNvSpPr txBox="1"/>
          <p:nvPr/>
        </p:nvSpPr>
        <p:spPr>
          <a:xfrm>
            <a:off x="6763299" y="997411"/>
            <a:ext cx="4154305" cy="223688"/>
          </a:xfrm>
          <a:prstGeom prst="rect">
            <a:avLst/>
          </a:prstGeom>
          <a:ln w="6350">
            <a:noFill/>
            <a:miter lim="800000"/>
          </a:ln>
        </p:spPr>
        <p:txBody>
          <a:bodyPr vert="horz" wrap="square" lIns="0" tIns="0" rIns="0" bIns="0" rtlCol="0">
            <a:noAutofit/>
          </a:bodyPr>
          <a:lstStyle/>
          <a:p>
            <a:pPr algn="ctr">
              <a:spcBef>
                <a:spcPts val="300"/>
              </a:spcBef>
              <a:spcAft>
                <a:spcPts val="300"/>
              </a:spcAft>
            </a:pPr>
            <a:r>
              <a:rPr kumimoji="1" lang="en-US" altLang="zh-CN" b="1" dirty="0">
                <a:solidFill>
                  <a:schemeClr val="accent6">
                    <a:lumMod val="10000"/>
                  </a:schemeClr>
                </a:solidFill>
                <a:cs typeface="+mn-ea"/>
                <a:sym typeface="+mn-lt"/>
              </a:rPr>
              <a:t>Domestic: Scale Up</a:t>
            </a:r>
          </a:p>
        </p:txBody>
      </p:sp>
      <p:sp>
        <p:nvSpPr>
          <p:cNvPr id="13" name="iconfont-1043-169336">
            <a:extLst>
              <a:ext uri="{FF2B5EF4-FFF2-40B4-BE49-F238E27FC236}">
                <a16:creationId xmlns:a16="http://schemas.microsoft.com/office/drawing/2014/main" id="{8757D3CF-95B9-3335-5960-EBA31BB9CE49}"/>
              </a:ext>
            </a:extLst>
          </p:cNvPr>
          <p:cNvSpPr/>
          <p:nvPr/>
        </p:nvSpPr>
        <p:spPr>
          <a:xfrm>
            <a:off x="2350668" y="1796695"/>
            <a:ext cx="341255" cy="340531"/>
          </a:xfrm>
          <a:custGeom>
            <a:avLst/>
            <a:gdLst>
              <a:gd name="T0" fmla="*/ 12436 w 12765"/>
              <a:gd name="T1" fmla="*/ 0 h 12739"/>
              <a:gd name="T2" fmla="*/ 4469 w 12765"/>
              <a:gd name="T3" fmla="*/ 7970 h 12739"/>
              <a:gd name="T4" fmla="*/ 1369 w 12765"/>
              <a:gd name="T5" fmla="*/ 5163 h 12739"/>
              <a:gd name="T6" fmla="*/ 0 w 12765"/>
              <a:gd name="T7" fmla="*/ 6438 h 12739"/>
              <a:gd name="T8" fmla="*/ 5357 w 12765"/>
              <a:gd name="T9" fmla="*/ 12739 h 12739"/>
              <a:gd name="T10" fmla="*/ 12765 w 12765"/>
              <a:gd name="T11" fmla="*/ 877 h 12739"/>
              <a:gd name="T12" fmla="*/ 12436 w 12765"/>
              <a:gd name="T13" fmla="*/ 0 h 12739"/>
            </a:gdLst>
            <a:ahLst/>
            <a:cxnLst>
              <a:cxn ang="0">
                <a:pos x="T0" y="T1"/>
              </a:cxn>
              <a:cxn ang="0">
                <a:pos x="T2" y="T3"/>
              </a:cxn>
              <a:cxn ang="0">
                <a:pos x="T4" y="T5"/>
              </a:cxn>
              <a:cxn ang="0">
                <a:pos x="T6" y="T7"/>
              </a:cxn>
              <a:cxn ang="0">
                <a:pos x="T8" y="T9"/>
              </a:cxn>
              <a:cxn ang="0">
                <a:pos x="T10" y="T11"/>
              </a:cxn>
              <a:cxn ang="0">
                <a:pos x="T12" y="T13"/>
              </a:cxn>
            </a:cxnLst>
            <a:rect l="0" t="0" r="r" b="b"/>
            <a:pathLst>
              <a:path w="12765" h="12739">
                <a:moveTo>
                  <a:pt x="12436" y="0"/>
                </a:moveTo>
                <a:cubicBezTo>
                  <a:pt x="8552" y="2754"/>
                  <a:pt x="5734" y="6228"/>
                  <a:pt x="4469" y="7970"/>
                </a:cubicBezTo>
                <a:lnTo>
                  <a:pt x="1369" y="5163"/>
                </a:lnTo>
                <a:lnTo>
                  <a:pt x="0" y="6438"/>
                </a:lnTo>
                <a:lnTo>
                  <a:pt x="5357" y="12739"/>
                </a:lnTo>
                <a:cubicBezTo>
                  <a:pt x="6278" y="10010"/>
                  <a:pt x="9199" y="4669"/>
                  <a:pt x="12765" y="877"/>
                </a:cubicBezTo>
                <a:lnTo>
                  <a:pt x="12436" y="0"/>
                </a:lnTo>
                <a:close/>
              </a:path>
            </a:pathLst>
          </a:cu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iconfont-11592-5504295">
            <a:extLst>
              <a:ext uri="{FF2B5EF4-FFF2-40B4-BE49-F238E27FC236}">
                <a16:creationId xmlns:a16="http://schemas.microsoft.com/office/drawing/2014/main" id="{73FC5A1B-D36A-9924-2AFE-26EB8B1C5DC3}"/>
              </a:ext>
            </a:extLst>
          </p:cNvPr>
          <p:cNvSpPr/>
          <p:nvPr/>
        </p:nvSpPr>
        <p:spPr>
          <a:xfrm>
            <a:off x="7039471" y="1841055"/>
            <a:ext cx="274503" cy="274503"/>
          </a:xfrm>
          <a:custGeom>
            <a:avLst/>
            <a:gdLst>
              <a:gd name="T0" fmla="*/ 5928 w 11841"/>
              <a:gd name="T1" fmla="*/ 5174 h 11841"/>
              <a:gd name="T2" fmla="*/ 972 w 11841"/>
              <a:gd name="T3" fmla="*/ 218 h 11841"/>
              <a:gd name="T4" fmla="*/ 211 w 11841"/>
              <a:gd name="T5" fmla="*/ 211 h 11841"/>
              <a:gd name="T6" fmla="*/ 218 w 11841"/>
              <a:gd name="T7" fmla="*/ 972 h 11841"/>
              <a:gd name="T8" fmla="*/ 5174 w 11841"/>
              <a:gd name="T9" fmla="*/ 5928 h 11841"/>
              <a:gd name="T10" fmla="*/ 218 w 11841"/>
              <a:gd name="T11" fmla="*/ 10884 h 11841"/>
              <a:gd name="T12" fmla="*/ 224 w 11841"/>
              <a:gd name="T13" fmla="*/ 11632 h 11841"/>
              <a:gd name="T14" fmla="*/ 972 w 11841"/>
              <a:gd name="T15" fmla="*/ 11638 h 11841"/>
              <a:gd name="T16" fmla="*/ 5928 w 11841"/>
              <a:gd name="T17" fmla="*/ 6682 h 11841"/>
              <a:gd name="T18" fmla="*/ 10884 w 11841"/>
              <a:gd name="T19" fmla="*/ 11638 h 11841"/>
              <a:gd name="T20" fmla="*/ 11632 w 11841"/>
              <a:gd name="T21" fmla="*/ 11632 h 11841"/>
              <a:gd name="T22" fmla="*/ 11638 w 11841"/>
              <a:gd name="T23" fmla="*/ 10884 h 11841"/>
              <a:gd name="T24" fmla="*/ 6682 w 11841"/>
              <a:gd name="T25" fmla="*/ 5928 h 11841"/>
              <a:gd name="T26" fmla="*/ 11638 w 11841"/>
              <a:gd name="T27" fmla="*/ 972 h 11841"/>
              <a:gd name="T28" fmla="*/ 11632 w 11841"/>
              <a:gd name="T29" fmla="*/ 224 h 11841"/>
              <a:gd name="T30" fmla="*/ 10884 w 11841"/>
              <a:gd name="T31" fmla="*/ 218 h 11841"/>
              <a:gd name="T32" fmla="*/ 5928 w 11841"/>
              <a:gd name="T33" fmla="*/ 5174 h 11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841" h="11841">
                <a:moveTo>
                  <a:pt x="5928" y="5174"/>
                </a:moveTo>
                <a:lnTo>
                  <a:pt x="972" y="218"/>
                </a:lnTo>
                <a:cubicBezTo>
                  <a:pt x="765" y="3"/>
                  <a:pt x="422" y="0"/>
                  <a:pt x="211" y="211"/>
                </a:cubicBezTo>
                <a:cubicBezTo>
                  <a:pt x="0" y="422"/>
                  <a:pt x="3" y="765"/>
                  <a:pt x="218" y="972"/>
                </a:cubicBezTo>
                <a:lnTo>
                  <a:pt x="5174" y="5928"/>
                </a:lnTo>
                <a:lnTo>
                  <a:pt x="218" y="10884"/>
                </a:lnTo>
                <a:cubicBezTo>
                  <a:pt x="15" y="11094"/>
                  <a:pt x="18" y="11426"/>
                  <a:pt x="224" y="11632"/>
                </a:cubicBezTo>
                <a:cubicBezTo>
                  <a:pt x="430" y="11838"/>
                  <a:pt x="762" y="11841"/>
                  <a:pt x="972" y="11638"/>
                </a:cubicBezTo>
                <a:lnTo>
                  <a:pt x="5928" y="6682"/>
                </a:lnTo>
                <a:lnTo>
                  <a:pt x="10884" y="11638"/>
                </a:lnTo>
                <a:cubicBezTo>
                  <a:pt x="11094" y="11841"/>
                  <a:pt x="11426" y="11838"/>
                  <a:pt x="11632" y="11632"/>
                </a:cubicBezTo>
                <a:cubicBezTo>
                  <a:pt x="11838" y="11426"/>
                  <a:pt x="11841" y="11094"/>
                  <a:pt x="11638" y="10884"/>
                </a:cubicBezTo>
                <a:lnTo>
                  <a:pt x="6682" y="5928"/>
                </a:lnTo>
                <a:lnTo>
                  <a:pt x="11638" y="972"/>
                </a:lnTo>
                <a:cubicBezTo>
                  <a:pt x="11841" y="762"/>
                  <a:pt x="11838" y="430"/>
                  <a:pt x="11632" y="224"/>
                </a:cubicBezTo>
                <a:cubicBezTo>
                  <a:pt x="11426" y="18"/>
                  <a:pt x="11094" y="15"/>
                  <a:pt x="10884" y="218"/>
                </a:cubicBezTo>
                <a:lnTo>
                  <a:pt x="5928" y="5174"/>
                </a:lnTo>
                <a:close/>
              </a:path>
            </a:pathLst>
          </a:custGeom>
          <a:solidFill>
            <a:schemeClr val="accent1"/>
          </a:solidFill>
          <a:ln w="9525">
            <a:solidFill>
              <a:srgbClr val="0052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
            <a:extLst>
              <a:ext uri="{FF2B5EF4-FFF2-40B4-BE49-F238E27FC236}">
                <a16:creationId xmlns:a16="http://schemas.microsoft.com/office/drawing/2014/main" id="{D9CE70A2-F5EA-493D-7568-20FBF83A883F}"/>
              </a:ext>
            </a:extLst>
          </p:cNvPr>
          <p:cNvSpPr>
            <a:spLocks noChangeArrowheads="1"/>
          </p:cNvSpPr>
          <p:nvPr/>
        </p:nvSpPr>
        <p:spPr bwMode="auto">
          <a:xfrm>
            <a:off x="2835058" y="1792554"/>
            <a:ext cx="33660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rPr>
              <a:t>No process constraints.​</a:t>
            </a:r>
            <a:r>
              <a:rPr kumimoji="0" lang="zh-CN" altLang="zh-CN" sz="1800" b="0" i="0" u="none" strike="noStrike" cap="none" normalizeH="0" baseline="0" dirty="0">
                <a:ln>
                  <a:noFill/>
                </a:ln>
                <a:solidFill>
                  <a:schemeClr val="tx1"/>
                </a:solidFill>
                <a:effectLst/>
              </a:rPr>
              <a:t>​ </a:t>
            </a:r>
            <a:endParaRPr kumimoji="0" lang="en-US" altLang="zh-CN" sz="1800" b="0" i="0" u="none" strike="noStrike" cap="none" normalizeH="0" baseline="0" dirty="0">
              <a:ln>
                <a:noFill/>
              </a:ln>
              <a:solidFill>
                <a:schemeClr val="tx1"/>
              </a:solidFill>
              <a:effectLst/>
            </a:endParaRPr>
          </a:p>
        </p:txBody>
      </p:sp>
      <p:sp>
        <p:nvSpPr>
          <p:cNvPr id="19" name="文本框 18">
            <a:extLst>
              <a:ext uri="{FF2B5EF4-FFF2-40B4-BE49-F238E27FC236}">
                <a16:creationId xmlns:a16="http://schemas.microsoft.com/office/drawing/2014/main" id="{851F9A8B-F1FB-9C7C-E4C2-16DE3C42FDA4}"/>
              </a:ext>
            </a:extLst>
          </p:cNvPr>
          <p:cNvSpPr txBox="1"/>
          <p:nvPr/>
        </p:nvSpPr>
        <p:spPr>
          <a:xfrm>
            <a:off x="2853432" y="3175275"/>
            <a:ext cx="30044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zh-CN"/>
            </a:defPPr>
            <a:lvl1pPr marR="0" lvl="0" indent="0" eaLnBrk="0" fontAlgn="base" hangingPunct="0">
              <a:lnSpc>
                <a:spcPct val="100000"/>
              </a:lnSpc>
              <a:spcBef>
                <a:spcPct val="0"/>
              </a:spcBef>
              <a:spcAft>
                <a:spcPct val="0"/>
              </a:spcAft>
              <a:buClrTx/>
              <a:buSzTx/>
              <a:buFontTx/>
              <a:buNone/>
              <a:tabLst/>
              <a:defRPr kumimoji="0" b="1" i="0" u="none" strike="noStrike" cap="none" normalizeH="0" baseline="0">
                <a:ln>
                  <a:noFill/>
                </a:ln>
                <a:effectLst/>
                <a:latin typeface="Arial" panose="020B0604020202020204" pitchFamily="34" charset="0"/>
              </a:defRPr>
            </a:lvl1pPr>
          </a:lstStyle>
          <a:p>
            <a:r>
              <a:rPr lang="en-US" altLang="zh-CN" dirty="0">
                <a:latin typeface="+mn-lt"/>
              </a:rPr>
              <a:t>Strong electronics</a:t>
            </a:r>
          </a:p>
        </p:txBody>
      </p:sp>
      <p:sp>
        <p:nvSpPr>
          <p:cNvPr id="20" name="文本框 19">
            <a:extLst>
              <a:ext uri="{FF2B5EF4-FFF2-40B4-BE49-F238E27FC236}">
                <a16:creationId xmlns:a16="http://schemas.microsoft.com/office/drawing/2014/main" id="{2DEA6A49-3436-45CE-8A28-49F0C87992A5}"/>
              </a:ext>
            </a:extLst>
          </p:cNvPr>
          <p:cNvSpPr txBox="1"/>
          <p:nvPr/>
        </p:nvSpPr>
        <p:spPr>
          <a:xfrm>
            <a:off x="646528" y="1744180"/>
            <a:ext cx="1352317" cy="595046"/>
          </a:xfrm>
          <a:prstGeom prst="rect">
            <a:avLst/>
          </a:prstGeom>
          <a:solidFill>
            <a:schemeClr val="tx2">
              <a:lumMod val="95000"/>
            </a:schemeClr>
          </a:solidFill>
          <a:ln w="6350">
            <a:noFill/>
            <a:miter lim="800000"/>
          </a:ln>
        </p:spPr>
        <p:txBody>
          <a:bodyPr vert="horz" wrap="square" lIns="0" tIns="0" rIns="0" bIns="0" rtlCol="0" anchor="ctr">
            <a:noAutofit/>
          </a:bodyPr>
          <a:lstStyle/>
          <a:p>
            <a:pPr algn="ctr">
              <a:buNone/>
            </a:pPr>
            <a:r>
              <a:rPr kumimoji="1" lang="en-US" altLang="zh-CN" sz="1600" b="1" dirty="0">
                <a:solidFill>
                  <a:schemeClr val="accent6">
                    <a:lumMod val="10000"/>
                  </a:schemeClr>
                </a:solidFill>
                <a:cs typeface="+mn-ea"/>
                <a:sym typeface="+mn-lt"/>
              </a:rPr>
              <a:t>Restrictions</a:t>
            </a:r>
            <a:endParaRPr kumimoji="1" lang="zh-CN" altLang="en-US" sz="1600" b="1" dirty="0">
              <a:solidFill>
                <a:schemeClr val="accent6">
                  <a:lumMod val="10000"/>
                </a:schemeClr>
              </a:solidFill>
              <a:cs typeface="+mn-ea"/>
              <a:sym typeface="+mn-lt"/>
            </a:endParaRPr>
          </a:p>
        </p:txBody>
      </p:sp>
      <p:sp>
        <p:nvSpPr>
          <p:cNvPr id="21" name="文本框 20">
            <a:extLst>
              <a:ext uri="{FF2B5EF4-FFF2-40B4-BE49-F238E27FC236}">
                <a16:creationId xmlns:a16="http://schemas.microsoft.com/office/drawing/2014/main" id="{E3730EC1-9D33-CB54-2CFC-74E7E487599E}"/>
              </a:ext>
            </a:extLst>
          </p:cNvPr>
          <p:cNvSpPr txBox="1"/>
          <p:nvPr/>
        </p:nvSpPr>
        <p:spPr>
          <a:xfrm>
            <a:off x="654100" y="3198627"/>
            <a:ext cx="1340313" cy="1277034"/>
          </a:xfrm>
          <a:prstGeom prst="rect">
            <a:avLst/>
          </a:prstGeom>
          <a:solidFill>
            <a:schemeClr val="tx2">
              <a:lumMod val="95000"/>
            </a:schemeClr>
          </a:solidFill>
          <a:ln w="6350">
            <a:noFill/>
            <a:miter lim="800000"/>
          </a:ln>
        </p:spPr>
        <p:txBody>
          <a:bodyPr vert="horz" wrap="square" lIns="0" tIns="0" rIns="0" bIns="0" rtlCol="0" anchor="ctr">
            <a:noAutofit/>
          </a:bodyPr>
          <a:lstStyle/>
          <a:p>
            <a:pPr algn="ctr">
              <a:buNone/>
            </a:pPr>
            <a:r>
              <a:rPr kumimoji="1" lang="en-US" altLang="zh-CN" sz="1600" b="1" dirty="0">
                <a:solidFill>
                  <a:schemeClr val="accent6">
                    <a:lumMod val="10000"/>
                  </a:schemeClr>
                </a:solidFill>
                <a:cs typeface="+mn-ea"/>
                <a:sym typeface="+mn-lt"/>
              </a:rPr>
              <a:t>Industry</a:t>
            </a:r>
          </a:p>
          <a:p>
            <a:pPr algn="ctr">
              <a:buNone/>
            </a:pPr>
            <a:r>
              <a:rPr kumimoji="1" lang="en-US" altLang="zh-CN" sz="1600" b="1" dirty="0">
                <a:solidFill>
                  <a:schemeClr val="accent6">
                    <a:lumMod val="10000"/>
                  </a:schemeClr>
                </a:solidFill>
                <a:cs typeface="+mn-ea"/>
                <a:sym typeface="+mn-lt"/>
              </a:rPr>
              <a:t>Advantages</a:t>
            </a:r>
            <a:endParaRPr kumimoji="1" lang="zh-CN" altLang="en-US" sz="1600" b="1" dirty="0">
              <a:solidFill>
                <a:schemeClr val="accent6">
                  <a:lumMod val="10000"/>
                </a:schemeClr>
              </a:solidFill>
              <a:cs typeface="+mn-ea"/>
              <a:sym typeface="+mn-lt"/>
            </a:endParaRPr>
          </a:p>
        </p:txBody>
      </p:sp>
      <p:sp>
        <p:nvSpPr>
          <p:cNvPr id="23" name="Rectangle 1">
            <a:extLst>
              <a:ext uri="{FF2B5EF4-FFF2-40B4-BE49-F238E27FC236}">
                <a16:creationId xmlns:a16="http://schemas.microsoft.com/office/drawing/2014/main" id="{F13A8519-64BB-8C23-9E38-BC2497BD6469}"/>
              </a:ext>
            </a:extLst>
          </p:cNvPr>
          <p:cNvSpPr>
            <a:spLocks noChangeArrowheads="1"/>
          </p:cNvSpPr>
          <p:nvPr/>
        </p:nvSpPr>
        <p:spPr bwMode="auto">
          <a:xfrm>
            <a:off x="7498479" y="1778327"/>
            <a:ext cx="41478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zh-CN" sz="1800" b="1" i="0" u="none" strike="noStrike" cap="none" normalizeH="0" baseline="0" dirty="0">
                <a:ln>
                  <a:noFill/>
                </a:ln>
                <a:solidFill>
                  <a:schemeClr val="tx1"/>
                </a:solidFill>
                <a:effectLst/>
              </a:rPr>
              <a:t>14nm &amp; </a:t>
            </a:r>
            <a:r>
              <a:rPr lang="en-US" altLang="zh-CN" b="1" dirty="0"/>
              <a:t>chip </a:t>
            </a:r>
            <a:r>
              <a:rPr kumimoji="0" lang="en-US" altLang="zh-CN" sz="1800" b="1" i="0" u="none" strike="noStrike" cap="none" normalizeH="0" baseline="0" dirty="0">
                <a:ln>
                  <a:noFill/>
                </a:ln>
                <a:solidFill>
                  <a:schemeClr val="tx1"/>
                </a:solidFill>
                <a:effectLst/>
              </a:rPr>
              <a:t>import ban</a:t>
            </a:r>
            <a:r>
              <a:rPr kumimoji="0" lang="en-US" altLang="zh-CN" sz="1800" b="1" i="0" u="none" strike="noStrike" cap="none" normalizeH="0" baseline="30000" dirty="0">
                <a:ln>
                  <a:noFill/>
                </a:ln>
                <a:solidFill>
                  <a:schemeClr val="tx1"/>
                </a:solidFill>
                <a:effectLst/>
              </a:rPr>
              <a:t>1</a:t>
            </a:r>
            <a:endParaRPr kumimoji="0" lang="en-US" altLang="zh-CN" sz="1800" b="0" i="0" u="none" strike="noStrike" cap="none" normalizeH="0" baseline="0" dirty="0">
              <a:ln>
                <a:noFill/>
              </a:ln>
              <a:solidFill>
                <a:schemeClr val="tx1"/>
              </a:solidFill>
              <a:effectLst/>
            </a:endParaRPr>
          </a:p>
        </p:txBody>
      </p:sp>
      <p:sp>
        <p:nvSpPr>
          <p:cNvPr id="27" name="文本框 26">
            <a:extLst>
              <a:ext uri="{FF2B5EF4-FFF2-40B4-BE49-F238E27FC236}">
                <a16:creationId xmlns:a16="http://schemas.microsoft.com/office/drawing/2014/main" id="{5F3577D0-AB27-3230-1098-129EC4A3C5DE}"/>
              </a:ext>
            </a:extLst>
          </p:cNvPr>
          <p:cNvSpPr txBox="1"/>
          <p:nvPr/>
        </p:nvSpPr>
        <p:spPr>
          <a:xfrm>
            <a:off x="7987935" y="3175275"/>
            <a:ext cx="23658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zh-CN"/>
            </a:defPPr>
            <a:lvl1pPr marR="0" lvl="0" indent="0" eaLnBrk="0" fontAlgn="base" hangingPunct="0">
              <a:lnSpc>
                <a:spcPct val="100000"/>
              </a:lnSpc>
              <a:spcBef>
                <a:spcPct val="0"/>
              </a:spcBef>
              <a:spcAft>
                <a:spcPct val="0"/>
              </a:spcAft>
              <a:buClrTx/>
              <a:buSzTx/>
              <a:buFontTx/>
              <a:buNone/>
              <a:tabLst/>
              <a:defRPr kumimoji="0" b="1" i="0" u="none" strike="noStrike" cap="none" normalizeH="0" baseline="0">
                <a:ln>
                  <a:noFill/>
                </a:ln>
                <a:effectLst/>
                <a:latin typeface="Arial" panose="020B0604020202020204" pitchFamily="34" charset="0"/>
              </a:defRPr>
            </a:lvl1pPr>
          </a:lstStyle>
          <a:p>
            <a:r>
              <a:rPr lang="en-US" altLang="zh-CN" dirty="0">
                <a:latin typeface="+mn-lt"/>
              </a:rPr>
              <a:t>Strong optics</a:t>
            </a:r>
          </a:p>
        </p:txBody>
      </p:sp>
      <p:sp>
        <p:nvSpPr>
          <p:cNvPr id="29" name="等腰三角形 28">
            <a:extLst>
              <a:ext uri="{FF2B5EF4-FFF2-40B4-BE49-F238E27FC236}">
                <a16:creationId xmlns:a16="http://schemas.microsoft.com/office/drawing/2014/main" id="{FA09F23E-B6CE-E640-247C-D1170D40F5BD}"/>
              </a:ext>
            </a:extLst>
          </p:cNvPr>
          <p:cNvSpPr/>
          <p:nvPr/>
        </p:nvSpPr>
        <p:spPr>
          <a:xfrm rot="10800000">
            <a:off x="3120436" y="2659634"/>
            <a:ext cx="1691096" cy="147942"/>
          </a:xfrm>
          <a:prstGeom prst="triangle">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30" name="等腰三角形 29">
            <a:extLst>
              <a:ext uri="{FF2B5EF4-FFF2-40B4-BE49-F238E27FC236}">
                <a16:creationId xmlns:a16="http://schemas.microsoft.com/office/drawing/2014/main" id="{1809A83B-AD48-958C-BFB3-EB2646F08B44}"/>
              </a:ext>
            </a:extLst>
          </p:cNvPr>
          <p:cNvSpPr/>
          <p:nvPr/>
        </p:nvSpPr>
        <p:spPr>
          <a:xfrm rot="10800000">
            <a:off x="7941744" y="2659634"/>
            <a:ext cx="1691096" cy="147942"/>
          </a:xfrm>
          <a:prstGeom prst="triangle">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31" name="文本框 30">
            <a:extLst>
              <a:ext uri="{FF2B5EF4-FFF2-40B4-BE49-F238E27FC236}">
                <a16:creationId xmlns:a16="http://schemas.microsoft.com/office/drawing/2014/main" id="{2136EF2B-2878-A168-E54D-7FAF9FD498E8}"/>
              </a:ext>
            </a:extLst>
          </p:cNvPr>
          <p:cNvSpPr txBox="1"/>
          <p:nvPr/>
        </p:nvSpPr>
        <p:spPr>
          <a:xfrm>
            <a:off x="2200445" y="4984059"/>
            <a:ext cx="3984992" cy="800219"/>
          </a:xfrm>
          <a:prstGeom prst="rect">
            <a:avLst/>
          </a:prstGeom>
          <a:noFill/>
        </p:spPr>
        <p:txBody>
          <a:bodyPr wrap="square">
            <a:spAutoFit/>
          </a:bodyPr>
          <a:lstStyle/>
          <a:p>
            <a:pPr lvl="0" eaLnBrk="0" fontAlgn="base" hangingPunct="0">
              <a:spcBef>
                <a:spcPct val="0"/>
              </a:spcBef>
              <a:spcAft>
                <a:spcPct val="0"/>
              </a:spcAft>
            </a:pPr>
            <a:r>
              <a:rPr lang="en-US" altLang="zh-CN" b="1" dirty="0"/>
              <a:t>Scale Out: </a:t>
            </a:r>
            <a:r>
              <a:rPr lang="en-US" altLang="zh-CN" b="1" dirty="0">
                <a:solidFill>
                  <a:srgbClr val="0052D9"/>
                </a:solidFill>
              </a:rPr>
              <a:t>2025-2026</a:t>
            </a:r>
            <a:endParaRPr lang="en-US" altLang="zh-CN" dirty="0">
              <a:solidFill>
                <a:srgbClr val="0052D9"/>
              </a:solidFill>
            </a:endParaRPr>
          </a:p>
          <a:p>
            <a:pPr marL="285750" lvl="0" indent="-285750" eaLnBrk="0" fontAlgn="base" hangingPunct="0">
              <a:spcBef>
                <a:spcPct val="0"/>
              </a:spcBef>
              <a:spcAft>
                <a:spcPct val="0"/>
              </a:spcAft>
              <a:buFont typeface="Arial" panose="020B0604020202020204" pitchFamily="34" charset="0"/>
              <a:buChar char="•"/>
            </a:pPr>
            <a:r>
              <a:rPr lang="en-US" altLang="zh-CN" sz="1400" dirty="0"/>
              <a:t>Faster path to </a:t>
            </a:r>
            <a:r>
              <a:rPr lang="en-US" altLang="zh-CN" sz="1400" b="1" dirty="0">
                <a:solidFill>
                  <a:srgbClr val="0052D9"/>
                </a:solidFill>
              </a:rPr>
              <a:t>commercialization</a:t>
            </a:r>
            <a:r>
              <a:rPr lang="en-US" altLang="zh-CN" sz="1400" dirty="0"/>
              <a:t>.</a:t>
            </a:r>
          </a:p>
          <a:p>
            <a:pPr marL="285750" lvl="0" indent="-285750" eaLnBrk="0" fontAlgn="base" hangingPunct="0">
              <a:spcBef>
                <a:spcPct val="0"/>
              </a:spcBef>
              <a:spcAft>
                <a:spcPct val="0"/>
              </a:spcAft>
              <a:buFont typeface="Arial" panose="020B0604020202020204" pitchFamily="34" charset="0"/>
              <a:buChar char="•"/>
            </a:pPr>
            <a:r>
              <a:rPr kumimoji="0" lang="en-US" altLang="zh-CN" sz="1400" b="0" i="0" u="none" strike="noStrike" cap="none" normalizeH="0" baseline="0" dirty="0">
                <a:ln>
                  <a:noFill/>
                </a:ln>
                <a:solidFill>
                  <a:schemeClr val="tx1"/>
                </a:solidFill>
                <a:effectLst/>
              </a:rPr>
              <a:t>Scale Up mass production: 2027-2028</a:t>
            </a:r>
            <a:endParaRPr kumimoji="0" lang="zh-CN" altLang="zh-CN" sz="1400" b="0" i="0" u="none" strike="noStrike" cap="none" normalizeH="0" baseline="0" dirty="0">
              <a:ln>
                <a:noFill/>
              </a:ln>
              <a:solidFill>
                <a:schemeClr val="tx1"/>
              </a:solidFill>
              <a:effectLst/>
            </a:endParaRPr>
          </a:p>
        </p:txBody>
      </p:sp>
      <p:sp>
        <p:nvSpPr>
          <p:cNvPr id="34" name="文本框 33">
            <a:extLst>
              <a:ext uri="{FF2B5EF4-FFF2-40B4-BE49-F238E27FC236}">
                <a16:creationId xmlns:a16="http://schemas.microsoft.com/office/drawing/2014/main" id="{3307A929-2347-2DDF-A5F9-9B50E18519CC}"/>
              </a:ext>
            </a:extLst>
          </p:cNvPr>
          <p:cNvSpPr txBox="1"/>
          <p:nvPr/>
        </p:nvSpPr>
        <p:spPr>
          <a:xfrm>
            <a:off x="4056451" y="3805047"/>
            <a:ext cx="2604524" cy="584775"/>
          </a:xfrm>
          <a:prstGeom prst="rect">
            <a:avLst/>
          </a:prstGeom>
          <a:noFill/>
        </p:spPr>
        <p:txBody>
          <a:bodyPr wrap="square">
            <a:spAutoFit/>
          </a:bodyPr>
          <a:lstStyle/>
          <a:p>
            <a:r>
              <a:rPr lang="en-US" altLang="zh-CN" b="1" i="0" dirty="0">
                <a:solidFill>
                  <a:srgbClr val="0052D9"/>
                </a:solidFill>
                <a:effectLst/>
              </a:rPr>
              <a:t>80%+</a:t>
            </a:r>
          </a:p>
          <a:p>
            <a:r>
              <a:rPr lang="en-US" altLang="zh-CN" sz="1400" i="0" dirty="0">
                <a:effectLst/>
              </a:rPr>
              <a:t>Switch</a:t>
            </a:r>
            <a:r>
              <a:rPr lang="en-US" altLang="zh-CN" sz="1400" dirty="0"/>
              <a:t>/DSP chip</a:t>
            </a:r>
            <a:r>
              <a:rPr lang="en-US" altLang="zh-CN" sz="1400" i="0" dirty="0">
                <a:effectLst/>
              </a:rPr>
              <a:t> market</a:t>
            </a:r>
            <a:endParaRPr lang="zh-CN" altLang="en-US" sz="1400" dirty="0"/>
          </a:p>
        </p:txBody>
      </p:sp>
      <p:pic>
        <p:nvPicPr>
          <p:cNvPr id="44" name="图片 43">
            <a:extLst>
              <a:ext uri="{FF2B5EF4-FFF2-40B4-BE49-F238E27FC236}">
                <a16:creationId xmlns:a16="http://schemas.microsoft.com/office/drawing/2014/main" id="{32B1AA71-8DBA-436A-A1BD-27AAF8AD6EB1}"/>
              </a:ext>
            </a:extLst>
          </p:cNvPr>
          <p:cNvPicPr>
            <a:picLocks noChangeAspect="1"/>
          </p:cNvPicPr>
          <p:nvPr/>
        </p:nvPicPr>
        <p:blipFill>
          <a:blip r:embed="rId5"/>
          <a:stretch>
            <a:fillRect/>
          </a:stretch>
        </p:blipFill>
        <p:spPr>
          <a:xfrm>
            <a:off x="2295196" y="3791143"/>
            <a:ext cx="325584" cy="312561"/>
          </a:xfrm>
          <a:prstGeom prst="rect">
            <a:avLst/>
          </a:prstGeom>
        </p:spPr>
      </p:pic>
      <p:pic>
        <p:nvPicPr>
          <p:cNvPr id="49" name="图片 48">
            <a:extLst>
              <a:ext uri="{FF2B5EF4-FFF2-40B4-BE49-F238E27FC236}">
                <a16:creationId xmlns:a16="http://schemas.microsoft.com/office/drawing/2014/main" id="{A48E1699-6FD9-4CC1-CD64-6F077D9E313C}"/>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9644" b="94969" l="4716" r="93685">
                        <a14:foregroundMark x1="13909" y1="24319" x2="13909" y2="24319"/>
                        <a14:foregroundMark x1="13030" y1="75681" x2="13030" y2="75681"/>
                        <a14:foregroundMark x1="4956" y1="28721" x2="4956" y2="28721"/>
                        <a14:foregroundMark x1="8633" y1="95178" x2="8633" y2="95178"/>
                        <a14:foregroundMark x1="27978" y1="91824" x2="27978" y2="91824"/>
                        <a14:foregroundMark x1="29257" y1="30608" x2="29257" y2="30608"/>
                        <a14:foregroundMark x1="39408" y1="53669" x2="39408" y2="53669"/>
                        <a14:foregroundMark x1="45484" y1="53669" x2="45484" y2="53669"/>
                        <a14:foregroundMark x1="56914" y1="40671" x2="56914" y2="40671"/>
                        <a14:foregroundMark x1="62110" y1="40042" x2="62110" y2="40042"/>
                        <a14:foregroundMark x1="63389" y1="48008" x2="63389" y2="48008"/>
                        <a14:foregroundMark x1="59313" y1="62055" x2="59313" y2="62055"/>
                        <a14:foregroundMark x1="65388" y1="57023" x2="65388" y2="57023"/>
                        <a14:foregroundMark x1="69305" y1="49057" x2="69305" y2="49057"/>
                        <a14:foregroundMark x1="75140" y1="44444" x2="75140" y2="44444"/>
                        <a14:foregroundMark x1="83133" y1="42767" x2="83133" y2="42767"/>
                        <a14:foregroundMark x1="91287" y1="46960" x2="91287" y2="46960"/>
                        <a14:foregroundMark x1="93685" y1="44025" x2="93685" y2="44025"/>
                        <a14:foregroundMark x1="40288" y1="80503" x2="40288" y2="80503"/>
                        <a14:foregroundMark x1="45004" y1="80922" x2="45004" y2="80922"/>
                        <a14:foregroundMark x1="47162" y1="77568" x2="47162" y2="77568"/>
                        <a14:foregroundMark x1="53477" y1="83229" x2="53477" y2="83229"/>
                        <a14:foregroundMark x1="54756" y1="81971" x2="54756" y2="81971"/>
                        <a14:foregroundMark x1="60592" y1="81342" x2="60592" y2="81342"/>
                        <a14:foregroundMark x1="62270" y1="79874" x2="62270" y2="79874"/>
                        <a14:foregroundMark x1="64908" y1="84277" x2="64908" y2="84277"/>
                        <a14:foregroundMark x1="66906" y1="80922" x2="66906" y2="80922"/>
                        <a14:foregroundMark x1="71223" y1="79874" x2="71223" y2="79874"/>
                        <a14:foregroundMark x1="74820" y1="80922" x2="74820" y2="80922"/>
                        <a14:foregroundMark x1="79217" y1="81551" x2="79217" y2="81551"/>
                        <a14:foregroundMark x1="82414" y1="81342" x2="82414" y2="81342"/>
                        <a14:foregroundMark x1="83933" y1="80922" x2="83933" y2="80922"/>
                        <a14:foregroundMark x1="89369" y1="80922" x2="89369" y2="80922"/>
                        <a14:foregroundMark x1="92646" y1="77358" x2="92646" y2="77358"/>
                        <a14:foregroundMark x1="20783" y1="29350" x2="20783" y2="29350"/>
                      </a14:backgroundRemoval>
                    </a14:imgEffect>
                  </a14:imgLayer>
                </a14:imgProps>
              </a:ext>
            </a:extLst>
          </a:blip>
          <a:stretch>
            <a:fillRect/>
          </a:stretch>
        </p:blipFill>
        <p:spPr>
          <a:xfrm>
            <a:off x="6984761" y="3796944"/>
            <a:ext cx="642530" cy="244993"/>
          </a:xfrm>
          <a:prstGeom prst="rect">
            <a:avLst/>
          </a:prstGeom>
        </p:spPr>
      </p:pic>
      <p:pic>
        <p:nvPicPr>
          <p:cNvPr id="50" name="Picture 2" descr="新易盛公司简介,成都新易盛通信技术股份有限公司企业概况_赢家财富网">
            <a:extLst>
              <a:ext uri="{FF2B5EF4-FFF2-40B4-BE49-F238E27FC236}">
                <a16:creationId xmlns:a16="http://schemas.microsoft.com/office/drawing/2014/main" id="{872CFBC6-B8AA-ABA9-2C27-7E708B446596}"/>
              </a:ext>
            </a:extLst>
          </p:cNvPr>
          <p:cNvPicPr>
            <a:picLocks noChangeAspect="1" noChangeArrowheads="1"/>
          </p:cNvPicPr>
          <p:nvPr/>
        </p:nvPicPr>
        <p:blipFill rotWithShape="1">
          <a:blip r:embed="rId8" cstate="print">
            <a:extLst>
              <a:ext uri="{BEBA8EAE-BF5A-486C-A8C5-ECC9F3942E4B}">
                <a14:imgProps xmlns:a14="http://schemas.microsoft.com/office/drawing/2010/main">
                  <a14:imgLayer r:embed="rId9">
                    <a14:imgEffect>
                      <a14:backgroundRemoval t="10000" b="90000" l="10000" r="90000">
                        <a14:foregroundMark x1="46000" y1="56522" x2="46000" y2="56522"/>
                        <a14:foregroundMark x1="54000" y1="56522" x2="54000" y2="56522"/>
                        <a14:foregroundMark x1="59000" y1="54348" x2="59000" y2="54348"/>
                        <a14:foregroundMark x1="67500" y1="51087" x2="67500" y2="51087"/>
                        <a14:foregroundMark x1="72000" y1="51087" x2="72000" y2="51087"/>
                        <a14:foregroundMark x1="73000" y1="36957" x2="73000" y2="36957"/>
                        <a14:foregroundMark x1="76000" y1="52174" x2="76000" y2="52174"/>
                        <a14:foregroundMark x1="86000" y1="51087" x2="86000" y2="51087"/>
                        <a14:foregroundMark x1="28000" y1="51087" x2="28000" y2="51087"/>
                        <a14:foregroundMark x1="82014" y1="51563" x2="82014" y2="51563"/>
                      </a14:backgroundRemoval>
                    </a14:imgEffect>
                  </a14:imgLayer>
                </a14:imgProps>
              </a:ext>
              <a:ext uri="{28A0092B-C50C-407E-A947-70E740481C1C}">
                <a14:useLocalDpi xmlns:a14="http://schemas.microsoft.com/office/drawing/2010/main" val="0"/>
              </a:ext>
            </a:extLst>
          </a:blip>
          <a:srcRect l="18256" t="17821" b="20152"/>
          <a:stretch/>
        </p:blipFill>
        <p:spPr bwMode="auto">
          <a:xfrm>
            <a:off x="6961660" y="4135455"/>
            <a:ext cx="795476" cy="277654"/>
          </a:xfrm>
          <a:prstGeom prst="rect">
            <a:avLst/>
          </a:prstGeom>
          <a:noFill/>
          <a:extLst>
            <a:ext uri="{909E8E84-426E-40DD-AFC4-6F175D3DCCD1}">
              <a14:hiddenFill xmlns:a14="http://schemas.microsoft.com/office/drawing/2010/main">
                <a:solidFill>
                  <a:srgbClr val="FFFFFF"/>
                </a:solidFill>
              </a14:hiddenFill>
            </a:ext>
          </a:extLst>
        </p:spPr>
      </p:pic>
      <p:pic>
        <p:nvPicPr>
          <p:cNvPr id="58" name="图像" descr="图像">
            <a:extLst>
              <a:ext uri="{FF2B5EF4-FFF2-40B4-BE49-F238E27FC236}">
                <a16:creationId xmlns:a16="http://schemas.microsoft.com/office/drawing/2014/main" id="{DC6A92A6-AC30-3119-2689-5CFB930D7D52}"/>
              </a:ext>
            </a:extLst>
          </p:cNvPr>
          <p:cNvPicPr>
            <a:picLocks noChangeAspect="1"/>
          </p:cNvPicPr>
          <p:nvPr/>
        </p:nvPicPr>
        <p:blipFill>
          <a:blip r:embed="rId10"/>
          <a:stretch>
            <a:fillRect/>
          </a:stretch>
        </p:blipFill>
        <p:spPr>
          <a:xfrm>
            <a:off x="2316860" y="4148474"/>
            <a:ext cx="965100" cy="285957"/>
          </a:xfrm>
          <a:prstGeom prst="rect">
            <a:avLst/>
          </a:prstGeom>
          <a:ln w="12700">
            <a:miter lim="400000"/>
          </a:ln>
        </p:spPr>
      </p:pic>
      <p:sp>
        <p:nvSpPr>
          <p:cNvPr id="61" name="文本框 60">
            <a:extLst>
              <a:ext uri="{FF2B5EF4-FFF2-40B4-BE49-F238E27FC236}">
                <a16:creationId xmlns:a16="http://schemas.microsoft.com/office/drawing/2014/main" id="{94F60CFD-2FE1-9F9B-60A7-F36F84D74E05}"/>
              </a:ext>
            </a:extLst>
          </p:cNvPr>
          <p:cNvSpPr txBox="1"/>
          <p:nvPr/>
        </p:nvSpPr>
        <p:spPr>
          <a:xfrm>
            <a:off x="206948" y="6429072"/>
            <a:ext cx="6536586" cy="281243"/>
          </a:xfrm>
          <a:prstGeom prst="rect">
            <a:avLst/>
          </a:prstGeom>
          <a:ln w="6350">
            <a:noFill/>
            <a:miter lim="800000"/>
          </a:ln>
        </p:spPr>
        <p:txBody>
          <a:bodyPr vert="horz" wrap="square" lIns="0" tIns="0" rIns="0" bIns="0" rtlCol="0" anchor="ctr">
            <a:noAutofit/>
          </a:bodyPr>
          <a:lstStyle/>
          <a:p>
            <a:pPr>
              <a:spcBef>
                <a:spcPts val="300"/>
              </a:spcBef>
              <a:spcAft>
                <a:spcPts val="300"/>
              </a:spcAft>
            </a:pPr>
            <a:r>
              <a:rPr kumimoji="1" lang="en-US" altLang="zh-CN" sz="1200" i="1" dirty="0">
                <a:solidFill>
                  <a:schemeClr val="tx1">
                    <a:lumMod val="50000"/>
                  </a:schemeClr>
                </a:solidFill>
                <a:cs typeface="+mn-ea"/>
                <a:sym typeface="+mn-lt"/>
              </a:rPr>
              <a:t>Source: </a:t>
            </a:r>
            <a:r>
              <a:rPr kumimoji="1" lang="en-US" altLang="zh-CN" sz="1200" i="1" dirty="0">
                <a:solidFill>
                  <a:schemeClr val="tx1">
                    <a:lumMod val="50000"/>
                  </a:schemeClr>
                </a:solidFill>
                <a:cs typeface="+mn-ea"/>
              </a:rPr>
              <a:t>Changjiang Securities / </a:t>
            </a:r>
            <a:r>
              <a:rPr kumimoji="1" lang="en-US" altLang="zh-CN" sz="1200" i="1" dirty="0" err="1">
                <a:solidFill>
                  <a:schemeClr val="tx1">
                    <a:lumMod val="50000"/>
                  </a:schemeClr>
                </a:solidFill>
                <a:cs typeface="+mn-ea"/>
              </a:rPr>
              <a:t>Centec</a:t>
            </a:r>
            <a:r>
              <a:rPr kumimoji="1" lang="en-US" altLang="zh-CN" sz="1200" i="1" dirty="0">
                <a:solidFill>
                  <a:schemeClr val="tx1">
                    <a:lumMod val="50000"/>
                  </a:schemeClr>
                </a:solidFill>
                <a:cs typeface="+mn-ea"/>
              </a:rPr>
              <a:t> Communications IPO Prospectus</a:t>
            </a:r>
            <a:endParaRPr kumimoji="1" lang="en-US" altLang="zh-CN" sz="1200" i="1" dirty="0">
              <a:solidFill>
                <a:schemeClr val="tx1">
                  <a:lumMod val="50000"/>
                </a:schemeClr>
              </a:solidFill>
              <a:cs typeface="+mn-ea"/>
              <a:sym typeface="+mn-lt"/>
            </a:endParaRPr>
          </a:p>
        </p:txBody>
      </p:sp>
      <p:sp>
        <p:nvSpPr>
          <p:cNvPr id="64" name="斜纹 63">
            <a:extLst>
              <a:ext uri="{FF2B5EF4-FFF2-40B4-BE49-F238E27FC236}">
                <a16:creationId xmlns:a16="http://schemas.microsoft.com/office/drawing/2014/main" id="{85360E8A-B9A9-AAE8-7EF8-99A9459067C8}"/>
              </a:ext>
            </a:extLst>
          </p:cNvPr>
          <p:cNvSpPr/>
          <p:nvPr/>
        </p:nvSpPr>
        <p:spPr>
          <a:xfrm rot="8052760">
            <a:off x="3598753" y="3972084"/>
            <a:ext cx="329220" cy="322016"/>
          </a:xfrm>
          <a:prstGeom prst="diagStripe">
            <a:avLst>
              <a:gd name="adj" fmla="val 67633"/>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66" name="图片 65">
            <a:extLst>
              <a:ext uri="{FF2B5EF4-FFF2-40B4-BE49-F238E27FC236}">
                <a16:creationId xmlns:a16="http://schemas.microsoft.com/office/drawing/2014/main" id="{0754605A-E031-7BC5-E6F4-C816BEB88AD5}"/>
              </a:ext>
            </a:extLst>
          </p:cNvPr>
          <p:cNvPicPr>
            <a:picLocks noChangeAspect="1"/>
          </p:cNvPicPr>
          <p:nvPr/>
        </p:nvPicPr>
        <p:blipFill>
          <a:blip r:embed="rId11"/>
          <a:stretch>
            <a:fillRect/>
          </a:stretch>
        </p:blipFill>
        <p:spPr>
          <a:xfrm>
            <a:off x="2642687" y="3886316"/>
            <a:ext cx="845672" cy="123188"/>
          </a:xfrm>
          <a:prstGeom prst="rect">
            <a:avLst/>
          </a:prstGeom>
        </p:spPr>
      </p:pic>
      <p:sp>
        <p:nvSpPr>
          <p:cNvPr id="68" name="文本框 67">
            <a:extLst>
              <a:ext uri="{FF2B5EF4-FFF2-40B4-BE49-F238E27FC236}">
                <a16:creationId xmlns:a16="http://schemas.microsoft.com/office/drawing/2014/main" id="{20CB60E0-6AF3-001D-2A8A-2EA27EF3EF50}"/>
              </a:ext>
            </a:extLst>
          </p:cNvPr>
          <p:cNvSpPr txBox="1"/>
          <p:nvPr/>
        </p:nvSpPr>
        <p:spPr>
          <a:xfrm>
            <a:off x="8281023" y="3786726"/>
            <a:ext cx="2604524" cy="584775"/>
          </a:xfrm>
          <a:prstGeom prst="rect">
            <a:avLst/>
          </a:prstGeom>
          <a:noFill/>
        </p:spPr>
        <p:txBody>
          <a:bodyPr wrap="square">
            <a:spAutoFit/>
          </a:bodyPr>
          <a:lstStyle/>
          <a:p>
            <a:r>
              <a:rPr lang="en-US" altLang="zh-CN" b="1" dirty="0">
                <a:solidFill>
                  <a:srgbClr val="0052D9"/>
                </a:solidFill>
              </a:rPr>
              <a:t>6</a:t>
            </a:r>
            <a:r>
              <a:rPr lang="en-US" altLang="zh-CN" b="1" i="0" dirty="0">
                <a:solidFill>
                  <a:srgbClr val="0052D9"/>
                </a:solidFill>
                <a:effectLst/>
              </a:rPr>
              <a:t>0%</a:t>
            </a:r>
          </a:p>
          <a:p>
            <a:r>
              <a:rPr lang="en-US" altLang="zh-CN" sz="1400" i="0" dirty="0">
                <a:effectLst/>
              </a:rPr>
              <a:t>800G optical module market</a:t>
            </a:r>
            <a:endParaRPr lang="zh-CN" altLang="en-US" sz="1400" dirty="0"/>
          </a:p>
        </p:txBody>
      </p:sp>
      <p:sp>
        <p:nvSpPr>
          <p:cNvPr id="70" name="斜纹 69">
            <a:extLst>
              <a:ext uri="{FF2B5EF4-FFF2-40B4-BE49-F238E27FC236}">
                <a16:creationId xmlns:a16="http://schemas.microsoft.com/office/drawing/2014/main" id="{5547D551-141D-C5A6-C50E-4CFEF1ED258F}"/>
              </a:ext>
            </a:extLst>
          </p:cNvPr>
          <p:cNvSpPr/>
          <p:nvPr/>
        </p:nvSpPr>
        <p:spPr>
          <a:xfrm rot="8052760">
            <a:off x="7823325" y="3953763"/>
            <a:ext cx="329220" cy="322016"/>
          </a:xfrm>
          <a:prstGeom prst="diagStripe">
            <a:avLst>
              <a:gd name="adj" fmla="val 67633"/>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1" name="文本框 70">
            <a:extLst>
              <a:ext uri="{FF2B5EF4-FFF2-40B4-BE49-F238E27FC236}">
                <a16:creationId xmlns:a16="http://schemas.microsoft.com/office/drawing/2014/main" id="{DDF85592-3DD9-BFF2-A290-8918CD11A5AD}"/>
              </a:ext>
            </a:extLst>
          </p:cNvPr>
          <p:cNvSpPr txBox="1"/>
          <p:nvPr/>
        </p:nvSpPr>
        <p:spPr>
          <a:xfrm>
            <a:off x="6907846" y="4984059"/>
            <a:ext cx="3984992" cy="800219"/>
          </a:xfrm>
          <a:prstGeom prst="rect">
            <a:avLst/>
          </a:prstGeom>
          <a:noFill/>
        </p:spPr>
        <p:txBody>
          <a:bodyPr wrap="square">
            <a:spAutoFit/>
          </a:bodyPr>
          <a:lstStyle/>
          <a:p>
            <a:pPr lvl="0" eaLnBrk="0" fontAlgn="base" hangingPunct="0">
              <a:spcBef>
                <a:spcPct val="0"/>
              </a:spcBef>
              <a:spcAft>
                <a:spcPct val="0"/>
              </a:spcAft>
            </a:pPr>
            <a:r>
              <a:rPr lang="en-US" altLang="zh-CN" b="1" dirty="0"/>
              <a:t>Scale Up: </a:t>
            </a:r>
            <a:r>
              <a:rPr lang="en-US" altLang="zh-CN" b="1" dirty="0">
                <a:solidFill>
                  <a:srgbClr val="0052D9"/>
                </a:solidFill>
              </a:rPr>
              <a:t>2026-2027</a:t>
            </a:r>
            <a:endParaRPr lang="en-US" altLang="zh-CN" dirty="0">
              <a:solidFill>
                <a:srgbClr val="0052D9"/>
              </a:solidFill>
            </a:endParaRPr>
          </a:p>
          <a:p>
            <a:pPr marL="285750" lvl="0" indent="-285750" eaLnBrk="0" fontAlgn="base" hangingPunct="0">
              <a:spcBef>
                <a:spcPct val="0"/>
              </a:spcBef>
              <a:spcAft>
                <a:spcPct val="0"/>
              </a:spcAft>
              <a:buFont typeface="Arial" panose="020B0604020202020204" pitchFamily="34" charset="0"/>
              <a:buChar char="•"/>
            </a:pPr>
            <a:r>
              <a:rPr lang="en-US" altLang="zh-CN" sz="1400" b="1" dirty="0">
                <a:solidFill>
                  <a:srgbClr val="0052D9"/>
                </a:solidFill>
              </a:rPr>
              <a:t>Compensate</a:t>
            </a:r>
            <a:r>
              <a:rPr lang="en-US" altLang="zh-CN" sz="1400" dirty="0"/>
              <a:t> for electrical weaknesses.</a:t>
            </a:r>
          </a:p>
          <a:p>
            <a:pPr marL="285750" indent="-285750" eaLnBrk="0" fontAlgn="base" hangingPunct="0">
              <a:spcBef>
                <a:spcPct val="0"/>
              </a:spcBef>
              <a:spcAft>
                <a:spcPct val="0"/>
              </a:spcAft>
              <a:buFont typeface="Arial" panose="020B0604020202020204" pitchFamily="34" charset="0"/>
              <a:buChar char="•"/>
            </a:pPr>
            <a:r>
              <a:rPr lang="en-US" altLang="zh-CN" sz="1400" dirty="0"/>
              <a:t>Amplify optical strengths</a:t>
            </a:r>
          </a:p>
        </p:txBody>
      </p:sp>
      <p:cxnSp>
        <p:nvCxnSpPr>
          <p:cNvPr id="76" name="直线连接符 34">
            <a:extLst>
              <a:ext uri="{FF2B5EF4-FFF2-40B4-BE49-F238E27FC236}">
                <a16:creationId xmlns:a16="http://schemas.microsoft.com/office/drawing/2014/main" id="{7BCBF591-831F-1A23-EFCF-1369DEDB04DA}"/>
              </a:ext>
            </a:extLst>
          </p:cNvPr>
          <p:cNvCxnSpPr>
            <a:cxnSpLocks/>
          </p:cNvCxnSpPr>
          <p:nvPr/>
        </p:nvCxnSpPr>
        <p:spPr>
          <a:xfrm>
            <a:off x="6849728" y="1386409"/>
            <a:ext cx="3981449"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4" name="直线连接符 34">
            <a:extLst>
              <a:ext uri="{FF2B5EF4-FFF2-40B4-BE49-F238E27FC236}">
                <a16:creationId xmlns:a16="http://schemas.microsoft.com/office/drawing/2014/main" id="{FBBD434B-CD1E-5F61-CAAB-31E011343DA4}"/>
              </a:ext>
            </a:extLst>
          </p:cNvPr>
          <p:cNvCxnSpPr>
            <a:cxnSpLocks/>
          </p:cNvCxnSpPr>
          <p:nvPr/>
        </p:nvCxnSpPr>
        <p:spPr>
          <a:xfrm>
            <a:off x="654100" y="4770959"/>
            <a:ext cx="10177077" cy="0"/>
          </a:xfrm>
          <a:prstGeom prst="line">
            <a:avLst/>
          </a:prstGeom>
          <a:ln w="1270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875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F6C40-2E68-1E93-CF1C-750C7D846E1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FC8A3E0-0CA0-C767-446E-C6D3AE926F50}"/>
              </a:ext>
            </a:extLst>
          </p:cNvPr>
          <p:cNvGraphicFramePr>
            <a:graphicFrameLocks noChangeAspect="1"/>
          </p:cNvGraphicFramePr>
          <p:nvPr>
            <p:custDataLst>
              <p:tags r:id="rId1"/>
            </p:custDataLst>
            <p:extLst>
              <p:ext uri="{D42A27DB-BD31-4B8C-83A1-F6EECF244321}">
                <p14:modId xmlns:p14="http://schemas.microsoft.com/office/powerpoint/2010/main" val="3739405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 imgW="404" imgH="405" progId="TCLayout.ActiveDocument.1">
                  <p:embed/>
                </p:oleObj>
              </mc:Choice>
              <mc:Fallback>
                <p:oleObj name="think-cell 幻灯片" r:id="rId3" imgW="404" imgH="405" progId="TCLayout.ActiveDocument.1">
                  <p:embed/>
                  <p:pic>
                    <p:nvPicPr>
                      <p:cNvPr id="5" name="think-cell data - do not delete" hidden="1">
                        <a:extLst>
                          <a:ext uri="{FF2B5EF4-FFF2-40B4-BE49-F238E27FC236}">
                            <a16:creationId xmlns:a16="http://schemas.microsoft.com/office/drawing/2014/main" id="{DBC957F2-C96F-B8BD-0407-49505FC2A9B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0" name="矩形 109">
            <a:extLst>
              <a:ext uri="{FF2B5EF4-FFF2-40B4-BE49-F238E27FC236}">
                <a16:creationId xmlns:a16="http://schemas.microsoft.com/office/drawing/2014/main" id="{3208FF9C-68D9-51D7-D13F-47B026856424}"/>
              </a:ext>
            </a:extLst>
          </p:cNvPr>
          <p:cNvSpPr/>
          <p:nvPr/>
        </p:nvSpPr>
        <p:spPr>
          <a:xfrm>
            <a:off x="1653998" y="4897753"/>
            <a:ext cx="9719937" cy="1022203"/>
          </a:xfrm>
          <a:prstGeom prst="rect">
            <a:avLst/>
          </a:prstGeom>
          <a:noFill/>
          <a:ln>
            <a:solidFill>
              <a:srgbClr val="0052D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标题 1">
            <a:extLst>
              <a:ext uri="{FF2B5EF4-FFF2-40B4-BE49-F238E27FC236}">
                <a16:creationId xmlns:a16="http://schemas.microsoft.com/office/drawing/2014/main" id="{07C7B16E-048E-6EFA-F314-B428F2289F79}"/>
              </a:ext>
            </a:extLst>
          </p:cNvPr>
          <p:cNvSpPr>
            <a:spLocks noGrp="1"/>
          </p:cNvSpPr>
          <p:nvPr>
            <p:ph type="title"/>
          </p:nvPr>
        </p:nvSpPr>
        <p:spPr>
          <a:xfrm>
            <a:off x="158750" y="172212"/>
            <a:ext cx="10287402" cy="731520"/>
          </a:xfrm>
        </p:spPr>
        <p:txBody>
          <a:bodyPr vert="horz"/>
          <a:lstStyle/>
          <a:p>
            <a:r>
              <a:rPr lang="zh-CN" altLang="en-US" dirty="0">
                <a:latin typeface="+mn-lt"/>
                <a:ea typeface="+mn-ea"/>
                <a:cs typeface="+mn-ea"/>
                <a:sym typeface="+mn-lt"/>
              </a:rPr>
              <a:t>海外巨头并行布局 </a:t>
            </a:r>
            <a:r>
              <a:rPr lang="en-US" altLang="zh-CN" dirty="0">
                <a:latin typeface="+mn-lt"/>
                <a:ea typeface="+mn-ea"/>
                <a:cs typeface="+mn-ea"/>
                <a:sym typeface="+mn-lt"/>
              </a:rPr>
              <a:t>Scale Out</a:t>
            </a:r>
            <a:r>
              <a:rPr lang="zh-CN" altLang="en-US" dirty="0">
                <a:latin typeface="+mn-lt"/>
                <a:ea typeface="+mn-ea"/>
                <a:cs typeface="+mn-ea"/>
                <a:sym typeface="+mn-lt"/>
              </a:rPr>
              <a:t>与 </a:t>
            </a:r>
            <a:r>
              <a:rPr lang="en-US" altLang="zh-CN" dirty="0">
                <a:latin typeface="+mn-lt"/>
                <a:ea typeface="+mn-ea"/>
                <a:cs typeface="+mn-ea"/>
                <a:sym typeface="+mn-lt"/>
              </a:rPr>
              <a:t>Scale Up</a:t>
            </a:r>
            <a:r>
              <a:rPr lang="zh-CN" altLang="en-US" dirty="0">
                <a:latin typeface="+mn-lt"/>
                <a:ea typeface="+mn-ea"/>
                <a:cs typeface="+mn-ea"/>
                <a:sym typeface="+mn-lt"/>
              </a:rPr>
              <a:t>，</a:t>
            </a:r>
            <a:r>
              <a:rPr lang="en-US" altLang="zh-CN" dirty="0">
                <a:latin typeface="+mn-lt"/>
                <a:ea typeface="+mn-ea"/>
                <a:cs typeface="+mn-ea"/>
                <a:sym typeface="+mn-lt"/>
              </a:rPr>
              <a:t>CPO</a:t>
            </a:r>
            <a:r>
              <a:rPr lang="zh-CN" altLang="en-US" dirty="0">
                <a:latin typeface="+mn-lt"/>
                <a:ea typeface="+mn-ea"/>
                <a:cs typeface="+mn-ea"/>
                <a:sym typeface="+mn-lt"/>
              </a:rPr>
              <a:t>落地</a:t>
            </a:r>
            <a:r>
              <a:rPr lang="en-US" altLang="zh-CN" dirty="0">
                <a:latin typeface="+mn-lt"/>
                <a:ea typeface="+mn-ea"/>
                <a:cs typeface="+mn-ea"/>
                <a:sym typeface="+mn-lt"/>
              </a:rPr>
              <a:t>1-2</a:t>
            </a:r>
            <a:r>
              <a:rPr lang="zh-CN" altLang="en-US" dirty="0">
                <a:latin typeface="+mn-lt"/>
                <a:ea typeface="+mn-ea"/>
                <a:cs typeface="+mn-ea"/>
                <a:sym typeface="+mn-lt"/>
              </a:rPr>
              <a:t>年内看</a:t>
            </a:r>
            <a:r>
              <a:rPr lang="en-US" altLang="zh-CN" dirty="0">
                <a:latin typeface="+mn-lt"/>
                <a:ea typeface="+mn-ea"/>
                <a:cs typeface="+mn-ea"/>
                <a:sym typeface="+mn-lt"/>
              </a:rPr>
              <a:t>Scale Out</a:t>
            </a:r>
            <a:endParaRPr lang="zh-CN" altLang="en-US" dirty="0">
              <a:latin typeface="+mn-lt"/>
              <a:ea typeface="+mn-ea"/>
              <a:cs typeface="+mn-ea"/>
              <a:sym typeface="+mn-lt"/>
            </a:endParaRPr>
          </a:p>
        </p:txBody>
      </p:sp>
      <p:sp>
        <p:nvSpPr>
          <p:cNvPr id="42" name="文本框 41">
            <a:extLst>
              <a:ext uri="{FF2B5EF4-FFF2-40B4-BE49-F238E27FC236}">
                <a16:creationId xmlns:a16="http://schemas.microsoft.com/office/drawing/2014/main" id="{6CBD7E81-A494-6AAD-5CAB-C52B7178334D}"/>
              </a:ext>
            </a:extLst>
          </p:cNvPr>
          <p:cNvSpPr txBox="1"/>
          <p:nvPr/>
        </p:nvSpPr>
        <p:spPr>
          <a:xfrm>
            <a:off x="425161" y="1413385"/>
            <a:ext cx="936104" cy="1879214"/>
          </a:xfrm>
          <a:prstGeom prst="rect">
            <a:avLst/>
          </a:prstGeom>
          <a:solidFill>
            <a:schemeClr val="tx2">
              <a:lumMod val="95000"/>
            </a:schemeClr>
          </a:solidFill>
          <a:ln w="6350">
            <a:noFill/>
            <a:miter lim="800000"/>
          </a:ln>
        </p:spPr>
        <p:txBody>
          <a:bodyPr vert="horz" wrap="square" lIns="0" tIns="0" rIns="0" bIns="0" rtlCol="0" anchor="ctr">
            <a:noAutofit/>
          </a:bodyPr>
          <a:lstStyle/>
          <a:p>
            <a:pPr algn="ctr">
              <a:buNone/>
            </a:pPr>
            <a:r>
              <a:rPr kumimoji="1" lang="zh-CN" altLang="en-US" sz="1400" b="1" dirty="0">
                <a:solidFill>
                  <a:schemeClr val="accent6">
                    <a:lumMod val="10000"/>
                  </a:schemeClr>
                </a:solidFill>
                <a:cs typeface="+mn-ea"/>
                <a:sym typeface="+mn-lt"/>
              </a:rPr>
              <a:t>战略定位</a:t>
            </a:r>
          </a:p>
        </p:txBody>
      </p:sp>
      <p:sp>
        <p:nvSpPr>
          <p:cNvPr id="43" name="文本框 42">
            <a:extLst>
              <a:ext uri="{FF2B5EF4-FFF2-40B4-BE49-F238E27FC236}">
                <a16:creationId xmlns:a16="http://schemas.microsoft.com/office/drawing/2014/main" id="{D928BE40-AAC7-2266-E2D1-DBE481179513}"/>
              </a:ext>
            </a:extLst>
          </p:cNvPr>
          <p:cNvSpPr txBox="1"/>
          <p:nvPr/>
        </p:nvSpPr>
        <p:spPr>
          <a:xfrm>
            <a:off x="417686" y="3953258"/>
            <a:ext cx="936104" cy="821294"/>
          </a:xfrm>
          <a:prstGeom prst="rect">
            <a:avLst/>
          </a:prstGeom>
          <a:solidFill>
            <a:schemeClr val="tx2">
              <a:lumMod val="95000"/>
            </a:schemeClr>
          </a:solidFill>
          <a:ln w="6350">
            <a:noFill/>
            <a:miter lim="800000"/>
          </a:ln>
        </p:spPr>
        <p:txBody>
          <a:bodyPr vert="horz" wrap="square" lIns="0" tIns="0" rIns="0" bIns="0" rtlCol="0" anchor="ctr">
            <a:noAutofit/>
          </a:bodyPr>
          <a:lstStyle/>
          <a:p>
            <a:pPr algn="ctr">
              <a:buNone/>
            </a:pPr>
            <a:r>
              <a:rPr kumimoji="1" lang="en-US" altLang="zh-CN" sz="1400" b="1" dirty="0">
                <a:solidFill>
                  <a:schemeClr val="accent6">
                    <a:lumMod val="10000"/>
                  </a:schemeClr>
                </a:solidFill>
                <a:cs typeface="+mn-ea"/>
                <a:sym typeface="+mn-lt"/>
              </a:rPr>
              <a:t>Scale Up</a:t>
            </a:r>
          </a:p>
          <a:p>
            <a:pPr algn="ctr">
              <a:buNone/>
            </a:pPr>
            <a:r>
              <a:rPr kumimoji="1" lang="zh-CN" altLang="en-US" sz="1400" b="1" dirty="0">
                <a:solidFill>
                  <a:schemeClr val="accent6">
                    <a:lumMod val="10000"/>
                  </a:schemeClr>
                </a:solidFill>
                <a:cs typeface="+mn-ea"/>
                <a:sym typeface="+mn-lt"/>
              </a:rPr>
              <a:t>产品布局</a:t>
            </a:r>
          </a:p>
        </p:txBody>
      </p:sp>
      <p:cxnSp>
        <p:nvCxnSpPr>
          <p:cNvPr id="45" name="直线连接符 8">
            <a:extLst>
              <a:ext uri="{FF2B5EF4-FFF2-40B4-BE49-F238E27FC236}">
                <a16:creationId xmlns:a16="http://schemas.microsoft.com/office/drawing/2014/main" id="{322F88D2-71EE-E0EC-7ABF-1C47DF926C22}"/>
              </a:ext>
            </a:extLst>
          </p:cNvPr>
          <p:cNvCxnSpPr>
            <a:cxnSpLocks/>
          </p:cNvCxnSpPr>
          <p:nvPr/>
        </p:nvCxnSpPr>
        <p:spPr>
          <a:xfrm>
            <a:off x="1722234" y="3454405"/>
            <a:ext cx="9651701" cy="0"/>
          </a:xfrm>
          <a:prstGeom prst="line">
            <a:avLst/>
          </a:prstGeom>
          <a:ln w="6350" cap="flat">
            <a:solidFill>
              <a:schemeClr val="tx1"/>
            </a:solidFill>
            <a:prstDash val="lgDash"/>
            <a:miter lim="800000"/>
            <a:tailEnd type="none"/>
          </a:ln>
        </p:spPr>
        <p:style>
          <a:lnRef idx="1">
            <a:schemeClr val="accent1"/>
          </a:lnRef>
          <a:fillRef idx="0">
            <a:schemeClr val="accent1"/>
          </a:fillRef>
          <a:effectRef idx="0">
            <a:schemeClr val="accent1"/>
          </a:effectRef>
          <a:fontRef idx="minor">
            <a:schemeClr val="tx1"/>
          </a:fontRef>
        </p:style>
      </p:cxnSp>
      <p:cxnSp>
        <p:nvCxnSpPr>
          <p:cNvPr id="46" name="直线连接符 30">
            <a:extLst>
              <a:ext uri="{FF2B5EF4-FFF2-40B4-BE49-F238E27FC236}">
                <a16:creationId xmlns:a16="http://schemas.microsoft.com/office/drawing/2014/main" id="{C932ED26-1282-C5B1-BD34-D6C92E8AA917}"/>
              </a:ext>
            </a:extLst>
          </p:cNvPr>
          <p:cNvCxnSpPr>
            <a:cxnSpLocks/>
          </p:cNvCxnSpPr>
          <p:nvPr/>
        </p:nvCxnSpPr>
        <p:spPr>
          <a:xfrm>
            <a:off x="6550109" y="1267864"/>
            <a:ext cx="4735207" cy="16945"/>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D91B4777-F700-A999-A441-5B04853892C8}"/>
              </a:ext>
            </a:extLst>
          </p:cNvPr>
          <p:cNvSpPr txBox="1"/>
          <p:nvPr/>
        </p:nvSpPr>
        <p:spPr>
          <a:xfrm>
            <a:off x="6550277" y="1363730"/>
            <a:ext cx="2433271" cy="251806"/>
          </a:xfrm>
          <a:prstGeom prst="rect">
            <a:avLst/>
          </a:prstGeom>
          <a:ln w="6350">
            <a:noFill/>
            <a:miter lim="800000"/>
          </a:ln>
        </p:spPr>
        <p:txBody>
          <a:bodyPr vert="horz" wrap="square" lIns="0" tIns="0" rIns="0" bIns="0" rtlCol="0">
            <a:noAutofit/>
          </a:bodyPr>
          <a:lstStyle/>
          <a:p>
            <a:pPr algn="l">
              <a:spcBef>
                <a:spcPts val="300"/>
              </a:spcBef>
              <a:spcAft>
                <a:spcPts val="300"/>
              </a:spcAft>
            </a:pPr>
            <a:endParaRPr kumimoji="1" lang="zh-CN" altLang="en-US" sz="1400" i="1" dirty="0">
              <a:solidFill>
                <a:schemeClr val="tx1">
                  <a:lumMod val="50000"/>
                </a:schemeClr>
              </a:solidFill>
              <a:cs typeface="+mn-ea"/>
              <a:sym typeface="+mn-lt"/>
            </a:endParaRPr>
          </a:p>
        </p:txBody>
      </p:sp>
      <p:cxnSp>
        <p:nvCxnSpPr>
          <p:cNvPr id="52" name="直线连接符 34">
            <a:extLst>
              <a:ext uri="{FF2B5EF4-FFF2-40B4-BE49-F238E27FC236}">
                <a16:creationId xmlns:a16="http://schemas.microsoft.com/office/drawing/2014/main" id="{6DD553CC-7B98-C852-D6FA-8EC2FB7529E2}"/>
              </a:ext>
            </a:extLst>
          </p:cNvPr>
          <p:cNvCxnSpPr>
            <a:cxnSpLocks/>
          </p:cNvCxnSpPr>
          <p:nvPr/>
        </p:nvCxnSpPr>
        <p:spPr>
          <a:xfrm>
            <a:off x="1845240" y="1284809"/>
            <a:ext cx="3981449"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8495683D-ACD8-6EC3-BE9F-61E2A87DD8FB}"/>
              </a:ext>
            </a:extLst>
          </p:cNvPr>
          <p:cNvSpPr txBox="1"/>
          <p:nvPr/>
        </p:nvSpPr>
        <p:spPr>
          <a:xfrm>
            <a:off x="1802912" y="2740945"/>
            <a:ext cx="4154305" cy="792406"/>
          </a:xfrm>
          <a:prstGeom prst="rect">
            <a:avLst/>
          </a:prstGeom>
          <a:ln w="6350">
            <a:noFill/>
            <a:miter lim="800000"/>
          </a:ln>
        </p:spPr>
        <p:txBody>
          <a:bodyPr vert="horz" wrap="square" lIns="0" tIns="0" rIns="0" bIns="0" rtlCol="0">
            <a:noAutofit/>
          </a:bodyPr>
          <a:lstStyle/>
          <a:p>
            <a:pPr marL="182563" indent="-182563">
              <a:spcBef>
                <a:spcPts val="300"/>
              </a:spcBef>
              <a:spcAft>
                <a:spcPts val="300"/>
              </a:spcAft>
              <a:buFont typeface="Arial" panose="020B0604020202020204" pitchFamily="34" charset="0"/>
              <a:buChar char="•"/>
            </a:pPr>
            <a:r>
              <a:rPr kumimoji="1" lang="en-US" altLang="zh-CN" sz="1400" dirty="0">
                <a:solidFill>
                  <a:schemeClr val="tx1">
                    <a:lumMod val="50000"/>
                  </a:schemeClr>
                </a:solidFill>
                <a:cs typeface="+mn-ea"/>
                <a:sym typeface="+mn-lt"/>
              </a:rPr>
              <a:t>GTC 2025</a:t>
            </a:r>
            <a:r>
              <a:rPr kumimoji="1" lang="zh-CN" altLang="en-US" sz="1400" dirty="0">
                <a:solidFill>
                  <a:schemeClr val="tx1">
                    <a:lumMod val="50000"/>
                  </a:schemeClr>
                </a:solidFill>
                <a:cs typeface="+mn-ea"/>
                <a:sym typeface="+mn-lt"/>
              </a:rPr>
              <a:t>：</a:t>
            </a:r>
            <a:r>
              <a:rPr kumimoji="1" lang="zh-CN" altLang="zh-CN" sz="1400" dirty="0">
                <a:solidFill>
                  <a:schemeClr val="tx1">
                    <a:lumMod val="50000"/>
                  </a:schemeClr>
                </a:solidFill>
                <a:cs typeface="+mn-ea"/>
                <a:sym typeface="+mn-lt"/>
              </a:rPr>
              <a:t>着重介绍了其与台积电等合作伙伴开发的首款基于1.6T硅光引擎的CPO交换机系列</a:t>
            </a:r>
          </a:p>
          <a:p>
            <a:pPr marL="182563" indent="-182563">
              <a:spcBef>
                <a:spcPts val="300"/>
              </a:spcBef>
              <a:spcAft>
                <a:spcPts val="300"/>
              </a:spcAft>
              <a:buFont typeface="Arial" panose="020B0604020202020204" pitchFamily="34" charset="0"/>
              <a:buChar char="•"/>
            </a:pPr>
            <a:endParaRPr kumimoji="1" lang="zh-CN" altLang="zh-CN" sz="1400" dirty="0">
              <a:solidFill>
                <a:schemeClr val="tx1">
                  <a:lumMod val="50000"/>
                </a:schemeClr>
              </a:solidFill>
              <a:cs typeface="+mn-ea"/>
              <a:sym typeface="+mn-lt"/>
            </a:endParaRPr>
          </a:p>
          <a:p>
            <a:pPr marL="182563" indent="-182563" algn="l">
              <a:spcBef>
                <a:spcPts val="300"/>
              </a:spcBef>
              <a:spcAft>
                <a:spcPts val="300"/>
              </a:spcAft>
              <a:buFont typeface="Arial" panose="020B0604020202020204" pitchFamily="34" charset="0"/>
              <a:buChar char="•"/>
            </a:pPr>
            <a:endParaRPr kumimoji="1" lang="en-US" altLang="zh-CN" sz="1400" dirty="0">
              <a:solidFill>
                <a:schemeClr val="tx1">
                  <a:lumMod val="50000"/>
                </a:schemeClr>
              </a:solidFill>
              <a:cs typeface="+mn-ea"/>
              <a:sym typeface="+mn-lt"/>
            </a:endParaRPr>
          </a:p>
        </p:txBody>
      </p:sp>
      <p:sp>
        <p:nvSpPr>
          <p:cNvPr id="56" name="文本框 55">
            <a:extLst>
              <a:ext uri="{FF2B5EF4-FFF2-40B4-BE49-F238E27FC236}">
                <a16:creationId xmlns:a16="http://schemas.microsoft.com/office/drawing/2014/main" id="{75791427-A387-F439-75A5-EE91C05AF97C}"/>
              </a:ext>
            </a:extLst>
          </p:cNvPr>
          <p:cNvSpPr txBox="1"/>
          <p:nvPr/>
        </p:nvSpPr>
        <p:spPr>
          <a:xfrm>
            <a:off x="1237543" y="4580647"/>
            <a:ext cx="3189810" cy="572571"/>
          </a:xfrm>
          <a:prstGeom prst="rect">
            <a:avLst/>
          </a:prstGeom>
          <a:ln w="6350">
            <a:noFill/>
            <a:miter lim="800000"/>
          </a:ln>
        </p:spPr>
        <p:txBody>
          <a:bodyPr vert="horz" wrap="square" lIns="0" tIns="0" rIns="0" bIns="0" rtlCol="0">
            <a:noAutofit/>
          </a:bodyPr>
          <a:lstStyle/>
          <a:p>
            <a:pPr algn="ctr">
              <a:spcBef>
                <a:spcPts val="300"/>
              </a:spcBef>
              <a:spcAft>
                <a:spcPts val="300"/>
              </a:spcAft>
            </a:pPr>
            <a:endParaRPr kumimoji="1" lang="en-US" altLang="zh-CN" sz="1400" i="1" dirty="0">
              <a:solidFill>
                <a:srgbClr val="0052D9"/>
              </a:solidFill>
              <a:cs typeface="+mn-ea"/>
              <a:sym typeface="+mn-lt"/>
            </a:endParaRPr>
          </a:p>
        </p:txBody>
      </p:sp>
      <p:pic>
        <p:nvPicPr>
          <p:cNvPr id="63" name="图片 62">
            <a:extLst>
              <a:ext uri="{FF2B5EF4-FFF2-40B4-BE49-F238E27FC236}">
                <a16:creationId xmlns:a16="http://schemas.microsoft.com/office/drawing/2014/main" id="{E10AEF8E-3571-0E3B-85EC-71C1CB66EF84}"/>
              </a:ext>
            </a:extLst>
          </p:cNvPr>
          <p:cNvPicPr>
            <a:picLocks noChangeAspect="1"/>
          </p:cNvPicPr>
          <p:nvPr/>
        </p:nvPicPr>
        <p:blipFill>
          <a:blip r:embed="rId5"/>
          <a:stretch>
            <a:fillRect/>
          </a:stretch>
        </p:blipFill>
        <p:spPr>
          <a:xfrm>
            <a:off x="1844487" y="938044"/>
            <a:ext cx="443699" cy="319247"/>
          </a:xfrm>
          <a:prstGeom prst="rect">
            <a:avLst/>
          </a:prstGeom>
        </p:spPr>
      </p:pic>
      <p:pic>
        <p:nvPicPr>
          <p:cNvPr id="65" name="图片 64">
            <a:extLst>
              <a:ext uri="{FF2B5EF4-FFF2-40B4-BE49-F238E27FC236}">
                <a16:creationId xmlns:a16="http://schemas.microsoft.com/office/drawing/2014/main" id="{748A04B3-2207-3AFC-831B-3AE97C714D07}"/>
              </a:ext>
            </a:extLst>
          </p:cNvPr>
          <p:cNvPicPr>
            <a:picLocks noChangeAspect="1"/>
          </p:cNvPicPr>
          <p:nvPr/>
        </p:nvPicPr>
        <p:blipFill>
          <a:blip r:embed="rId6"/>
          <a:stretch>
            <a:fillRect/>
          </a:stretch>
        </p:blipFill>
        <p:spPr>
          <a:xfrm>
            <a:off x="2288186" y="991534"/>
            <a:ext cx="740492" cy="199933"/>
          </a:xfrm>
          <a:prstGeom prst="rect">
            <a:avLst/>
          </a:prstGeom>
        </p:spPr>
      </p:pic>
      <p:pic>
        <p:nvPicPr>
          <p:cNvPr id="67" name="图片 66">
            <a:extLst>
              <a:ext uri="{FF2B5EF4-FFF2-40B4-BE49-F238E27FC236}">
                <a16:creationId xmlns:a16="http://schemas.microsoft.com/office/drawing/2014/main" id="{22A9EC61-E86A-883B-A8E2-273880975120}"/>
              </a:ext>
            </a:extLst>
          </p:cNvPr>
          <p:cNvPicPr>
            <a:picLocks noChangeAspect="1"/>
          </p:cNvPicPr>
          <p:nvPr/>
        </p:nvPicPr>
        <p:blipFill>
          <a:blip r:embed="rId7"/>
          <a:stretch>
            <a:fillRect/>
          </a:stretch>
        </p:blipFill>
        <p:spPr>
          <a:xfrm>
            <a:off x="6550109" y="930790"/>
            <a:ext cx="339635" cy="326050"/>
          </a:xfrm>
          <a:prstGeom prst="rect">
            <a:avLst/>
          </a:prstGeom>
        </p:spPr>
      </p:pic>
      <p:pic>
        <p:nvPicPr>
          <p:cNvPr id="69" name="图片 68">
            <a:extLst>
              <a:ext uri="{FF2B5EF4-FFF2-40B4-BE49-F238E27FC236}">
                <a16:creationId xmlns:a16="http://schemas.microsoft.com/office/drawing/2014/main" id="{763E55EF-68B0-BF58-5961-DC83355B5A6C}"/>
              </a:ext>
            </a:extLst>
          </p:cNvPr>
          <p:cNvPicPr>
            <a:picLocks noChangeAspect="1"/>
          </p:cNvPicPr>
          <p:nvPr/>
        </p:nvPicPr>
        <p:blipFill>
          <a:blip r:embed="rId8"/>
          <a:stretch>
            <a:fillRect/>
          </a:stretch>
        </p:blipFill>
        <p:spPr>
          <a:xfrm>
            <a:off x="6939806" y="1015680"/>
            <a:ext cx="1072772" cy="156270"/>
          </a:xfrm>
          <a:prstGeom prst="rect">
            <a:avLst/>
          </a:prstGeom>
        </p:spPr>
      </p:pic>
      <p:pic>
        <p:nvPicPr>
          <p:cNvPr id="4102" name="Picture 6">
            <a:extLst>
              <a:ext uri="{FF2B5EF4-FFF2-40B4-BE49-F238E27FC236}">
                <a16:creationId xmlns:a16="http://schemas.microsoft.com/office/drawing/2014/main" id="{B96B9A1B-1518-781A-49DE-12799E207905}"/>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20637" t="13248" r="15583" b="17177"/>
          <a:stretch/>
        </p:blipFill>
        <p:spPr bwMode="auto">
          <a:xfrm>
            <a:off x="1780516" y="5169271"/>
            <a:ext cx="460324" cy="282802"/>
          </a:xfrm>
          <a:prstGeom prst="rect">
            <a:avLst/>
          </a:prstGeom>
          <a:noFill/>
          <a:extLst>
            <a:ext uri="{909E8E84-426E-40DD-AFC4-6F175D3DCCD1}">
              <a14:hiddenFill xmlns:a14="http://schemas.microsoft.com/office/drawing/2010/main">
                <a:solidFill>
                  <a:srgbClr val="FFFFFF"/>
                </a:solidFill>
              </a14:hiddenFill>
            </a:ext>
          </a:extLst>
        </p:spPr>
      </p:pic>
      <p:sp>
        <p:nvSpPr>
          <p:cNvPr id="92" name="文本框 91">
            <a:extLst>
              <a:ext uri="{FF2B5EF4-FFF2-40B4-BE49-F238E27FC236}">
                <a16:creationId xmlns:a16="http://schemas.microsoft.com/office/drawing/2014/main" id="{0F67BECB-F069-2C4B-A71D-0831D86D9C32}"/>
              </a:ext>
            </a:extLst>
          </p:cNvPr>
          <p:cNvSpPr txBox="1"/>
          <p:nvPr/>
        </p:nvSpPr>
        <p:spPr>
          <a:xfrm>
            <a:off x="2288186" y="5054603"/>
            <a:ext cx="1911665" cy="507831"/>
          </a:xfrm>
          <a:prstGeom prst="rect">
            <a:avLst/>
          </a:prstGeom>
          <a:noFill/>
        </p:spPr>
        <p:txBody>
          <a:bodyPr wrap="square">
            <a:spAutoFit/>
          </a:bodyPr>
          <a:lstStyle/>
          <a:p>
            <a:pPr>
              <a:spcBef>
                <a:spcPts val="300"/>
              </a:spcBef>
              <a:spcAft>
                <a:spcPts val="300"/>
              </a:spcAft>
            </a:pPr>
            <a:r>
              <a:rPr kumimoji="1" lang="en-US" altLang="zh-CN" sz="1100" dirty="0">
                <a:solidFill>
                  <a:schemeClr val="bg2"/>
                </a:solidFill>
                <a:highlight>
                  <a:srgbClr val="0052D9"/>
                </a:highlight>
                <a:cs typeface="+mn-ea"/>
                <a:sym typeface="+mn-lt"/>
              </a:rPr>
              <a:t>Spectrum-X</a:t>
            </a:r>
          </a:p>
          <a:p>
            <a:pPr>
              <a:spcBef>
                <a:spcPts val="300"/>
              </a:spcBef>
              <a:spcAft>
                <a:spcPts val="300"/>
              </a:spcAft>
            </a:pPr>
            <a:r>
              <a:rPr kumimoji="1" lang="zh-CN" altLang="en-US" sz="1100" dirty="0">
                <a:solidFill>
                  <a:schemeClr val="tx1">
                    <a:lumMod val="50000"/>
                  </a:schemeClr>
                </a:solidFill>
                <a:cs typeface="+mn-ea"/>
                <a:sym typeface="+mn-lt"/>
              </a:rPr>
              <a:t>以太网 </a:t>
            </a:r>
            <a:r>
              <a:rPr kumimoji="1" lang="en-US" altLang="zh-CN" sz="1100" dirty="0">
                <a:solidFill>
                  <a:schemeClr val="tx1">
                    <a:lumMod val="50000"/>
                  </a:schemeClr>
                </a:solidFill>
                <a:cs typeface="+mn-ea"/>
                <a:sym typeface="+mn-lt"/>
              </a:rPr>
              <a:t>CPO </a:t>
            </a:r>
            <a:r>
              <a:rPr kumimoji="1" lang="zh-CN" altLang="en-US" sz="1100" dirty="0">
                <a:solidFill>
                  <a:schemeClr val="tx1">
                    <a:lumMod val="50000"/>
                  </a:schemeClr>
                </a:solidFill>
                <a:cs typeface="+mn-ea"/>
                <a:sym typeface="+mn-lt"/>
              </a:rPr>
              <a:t>交换机</a:t>
            </a:r>
            <a:endParaRPr kumimoji="1" lang="en-US" altLang="zh-CN" sz="1100" dirty="0">
              <a:solidFill>
                <a:schemeClr val="tx1">
                  <a:lumMod val="50000"/>
                </a:schemeClr>
              </a:solidFill>
              <a:cs typeface="+mn-ea"/>
              <a:sym typeface="+mn-lt"/>
            </a:endParaRPr>
          </a:p>
        </p:txBody>
      </p:sp>
      <p:sp>
        <p:nvSpPr>
          <p:cNvPr id="118" name="文本框 117">
            <a:extLst>
              <a:ext uri="{FF2B5EF4-FFF2-40B4-BE49-F238E27FC236}">
                <a16:creationId xmlns:a16="http://schemas.microsoft.com/office/drawing/2014/main" id="{72F4FE6E-086B-8A12-8254-545B59AA8384}"/>
              </a:ext>
            </a:extLst>
          </p:cNvPr>
          <p:cNvSpPr txBox="1"/>
          <p:nvPr/>
        </p:nvSpPr>
        <p:spPr>
          <a:xfrm>
            <a:off x="4718447" y="5053921"/>
            <a:ext cx="1584495" cy="507831"/>
          </a:xfrm>
          <a:prstGeom prst="rect">
            <a:avLst/>
          </a:prstGeom>
          <a:noFill/>
        </p:spPr>
        <p:txBody>
          <a:bodyPr wrap="square">
            <a:spAutoFit/>
          </a:bodyPr>
          <a:lstStyle/>
          <a:p>
            <a:pPr>
              <a:spcBef>
                <a:spcPts val="300"/>
              </a:spcBef>
              <a:spcAft>
                <a:spcPts val="300"/>
              </a:spcAft>
            </a:pPr>
            <a:r>
              <a:rPr kumimoji="1" lang="en-US" altLang="zh-CN" sz="1100" dirty="0">
                <a:solidFill>
                  <a:schemeClr val="bg2"/>
                </a:solidFill>
                <a:highlight>
                  <a:srgbClr val="0052D9"/>
                </a:highlight>
                <a:cs typeface="+mn-ea"/>
                <a:sym typeface="+mn-lt"/>
              </a:rPr>
              <a:t>Quantum-X</a:t>
            </a:r>
          </a:p>
          <a:p>
            <a:pPr>
              <a:spcBef>
                <a:spcPts val="300"/>
              </a:spcBef>
              <a:spcAft>
                <a:spcPts val="300"/>
              </a:spcAft>
            </a:pPr>
            <a:r>
              <a:rPr kumimoji="1" lang="en-US" altLang="zh-CN" sz="1100" dirty="0">
                <a:solidFill>
                  <a:schemeClr val="tx1">
                    <a:lumMod val="50000"/>
                  </a:schemeClr>
                </a:solidFill>
                <a:cs typeface="+mn-ea"/>
                <a:sym typeface="+mn-lt"/>
              </a:rPr>
              <a:t>InfiniBand</a:t>
            </a:r>
            <a:r>
              <a:rPr kumimoji="1" lang="zh-CN" altLang="en-US" sz="1100" dirty="0">
                <a:solidFill>
                  <a:schemeClr val="tx1">
                    <a:lumMod val="50000"/>
                  </a:schemeClr>
                </a:solidFill>
                <a:cs typeface="+mn-ea"/>
                <a:sym typeface="+mn-lt"/>
              </a:rPr>
              <a:t> </a:t>
            </a:r>
            <a:r>
              <a:rPr kumimoji="1" lang="en-US" altLang="zh-CN" sz="1100" dirty="0">
                <a:solidFill>
                  <a:schemeClr val="tx1">
                    <a:lumMod val="50000"/>
                  </a:schemeClr>
                </a:solidFill>
                <a:cs typeface="+mn-ea"/>
                <a:sym typeface="+mn-lt"/>
              </a:rPr>
              <a:t>CPO</a:t>
            </a:r>
            <a:r>
              <a:rPr kumimoji="1" lang="zh-CN" altLang="en-US" sz="1100" dirty="0">
                <a:solidFill>
                  <a:schemeClr val="tx1">
                    <a:lumMod val="50000"/>
                  </a:schemeClr>
                </a:solidFill>
                <a:cs typeface="+mn-ea"/>
                <a:sym typeface="+mn-lt"/>
              </a:rPr>
              <a:t>交换机</a:t>
            </a:r>
            <a:endParaRPr kumimoji="1" lang="en-US" altLang="zh-CN" sz="1100" dirty="0">
              <a:solidFill>
                <a:schemeClr val="tx1">
                  <a:lumMod val="50000"/>
                </a:schemeClr>
              </a:solidFill>
              <a:cs typeface="+mn-ea"/>
              <a:sym typeface="+mn-lt"/>
            </a:endParaRPr>
          </a:p>
        </p:txBody>
      </p:sp>
      <p:sp>
        <p:nvSpPr>
          <p:cNvPr id="121" name="文本框 120">
            <a:extLst>
              <a:ext uri="{FF2B5EF4-FFF2-40B4-BE49-F238E27FC236}">
                <a16:creationId xmlns:a16="http://schemas.microsoft.com/office/drawing/2014/main" id="{A3568096-9799-95DE-48DD-CED2F091BF03}"/>
              </a:ext>
            </a:extLst>
          </p:cNvPr>
          <p:cNvSpPr txBox="1"/>
          <p:nvPr/>
        </p:nvSpPr>
        <p:spPr>
          <a:xfrm>
            <a:off x="402684" y="5059629"/>
            <a:ext cx="936104" cy="720978"/>
          </a:xfrm>
          <a:prstGeom prst="rect">
            <a:avLst/>
          </a:prstGeom>
          <a:solidFill>
            <a:schemeClr val="tx2">
              <a:lumMod val="95000"/>
            </a:schemeClr>
          </a:solidFill>
          <a:ln w="6350">
            <a:noFill/>
            <a:miter lim="800000"/>
          </a:ln>
        </p:spPr>
        <p:txBody>
          <a:bodyPr vert="horz" wrap="square" lIns="0" tIns="0" rIns="0" bIns="0" rtlCol="0" anchor="ctr">
            <a:noAutofit/>
          </a:bodyPr>
          <a:lstStyle/>
          <a:p>
            <a:pPr algn="ctr">
              <a:buNone/>
            </a:pPr>
            <a:r>
              <a:rPr kumimoji="1" lang="en-US" altLang="zh-CN" sz="1400" b="1" dirty="0">
                <a:solidFill>
                  <a:schemeClr val="accent6">
                    <a:lumMod val="10000"/>
                  </a:schemeClr>
                </a:solidFill>
                <a:cs typeface="+mn-ea"/>
                <a:sym typeface="+mn-lt"/>
              </a:rPr>
              <a:t>Scale Out</a:t>
            </a:r>
          </a:p>
          <a:p>
            <a:pPr algn="ctr">
              <a:buNone/>
            </a:pPr>
            <a:r>
              <a:rPr kumimoji="1" lang="zh-CN" altLang="en-US" sz="1400" b="1" dirty="0">
                <a:solidFill>
                  <a:schemeClr val="accent6">
                    <a:lumMod val="10000"/>
                  </a:schemeClr>
                </a:solidFill>
                <a:cs typeface="+mn-ea"/>
                <a:sym typeface="+mn-lt"/>
              </a:rPr>
              <a:t>产品布局</a:t>
            </a:r>
          </a:p>
        </p:txBody>
      </p:sp>
      <p:sp>
        <p:nvSpPr>
          <p:cNvPr id="33" name="文本框 32">
            <a:extLst>
              <a:ext uri="{FF2B5EF4-FFF2-40B4-BE49-F238E27FC236}">
                <a16:creationId xmlns:a16="http://schemas.microsoft.com/office/drawing/2014/main" id="{54EA42EC-757B-6882-31DD-52DEBF9DC4E6}"/>
              </a:ext>
            </a:extLst>
          </p:cNvPr>
          <p:cNvSpPr txBox="1"/>
          <p:nvPr/>
        </p:nvSpPr>
        <p:spPr>
          <a:xfrm>
            <a:off x="1722234" y="1461225"/>
            <a:ext cx="3821866" cy="257338"/>
          </a:xfrm>
          <a:prstGeom prst="rect">
            <a:avLst/>
          </a:prstGeom>
          <a:ln w="6350">
            <a:noFill/>
            <a:miter lim="800000"/>
          </a:ln>
        </p:spPr>
        <p:txBody>
          <a:bodyPr vert="horz" wrap="square" lIns="0" tIns="0" rIns="0" bIns="0" rtlCol="0">
            <a:noAutofit/>
          </a:bodyPr>
          <a:lstStyle/>
          <a:p>
            <a:pPr algn="l">
              <a:spcBef>
                <a:spcPts val="300"/>
              </a:spcBef>
              <a:spcAft>
                <a:spcPts val="300"/>
              </a:spcAft>
            </a:pPr>
            <a:r>
              <a:rPr kumimoji="1" lang="en-US" altLang="zh-CN" sz="1400" i="1" dirty="0">
                <a:solidFill>
                  <a:schemeClr val="tx1">
                    <a:lumMod val="50000"/>
                  </a:schemeClr>
                </a:solidFill>
                <a:cs typeface="+mn-ea"/>
                <a:sym typeface="+mn-lt"/>
              </a:rPr>
              <a:t>Scale Up</a:t>
            </a:r>
            <a:r>
              <a:rPr kumimoji="1" lang="zh-CN" altLang="en-US" sz="1400" i="1" dirty="0">
                <a:solidFill>
                  <a:schemeClr val="tx1">
                    <a:lumMod val="50000"/>
                  </a:schemeClr>
                </a:solidFill>
                <a:cs typeface="+mn-ea"/>
                <a:sym typeface="+mn-lt"/>
              </a:rPr>
              <a:t>统治地位，强推铜到强推</a:t>
            </a:r>
            <a:r>
              <a:rPr kumimoji="1" lang="en-US" altLang="zh-CN" sz="1400" i="1" dirty="0">
                <a:solidFill>
                  <a:schemeClr val="tx1">
                    <a:lumMod val="50000"/>
                  </a:schemeClr>
                </a:solidFill>
                <a:cs typeface="+mn-ea"/>
                <a:sym typeface="+mn-lt"/>
              </a:rPr>
              <a:t>CPO</a:t>
            </a:r>
            <a:endParaRPr kumimoji="1" lang="zh-CN" altLang="en-US" sz="1400" i="1" dirty="0">
              <a:solidFill>
                <a:schemeClr val="tx1">
                  <a:lumMod val="50000"/>
                </a:schemeClr>
              </a:solidFill>
              <a:cs typeface="+mn-ea"/>
              <a:sym typeface="+mn-lt"/>
            </a:endParaRPr>
          </a:p>
        </p:txBody>
      </p:sp>
      <p:sp>
        <p:nvSpPr>
          <p:cNvPr id="35" name="文本框 34">
            <a:extLst>
              <a:ext uri="{FF2B5EF4-FFF2-40B4-BE49-F238E27FC236}">
                <a16:creationId xmlns:a16="http://schemas.microsoft.com/office/drawing/2014/main" id="{CD805C44-CD00-8C32-92FD-175EA9AA71D2}"/>
              </a:ext>
            </a:extLst>
          </p:cNvPr>
          <p:cNvSpPr txBox="1"/>
          <p:nvPr/>
        </p:nvSpPr>
        <p:spPr>
          <a:xfrm>
            <a:off x="1957829" y="5571116"/>
            <a:ext cx="1410665" cy="276999"/>
          </a:xfrm>
          <a:prstGeom prst="rect">
            <a:avLst/>
          </a:prstGeom>
          <a:noFill/>
        </p:spPr>
        <p:txBody>
          <a:bodyPr wrap="square">
            <a:spAutoFit/>
          </a:bodyPr>
          <a:lstStyle/>
          <a:p>
            <a:pPr algn="ctr">
              <a:spcBef>
                <a:spcPts val="300"/>
              </a:spcBef>
              <a:spcAft>
                <a:spcPts val="300"/>
              </a:spcAft>
            </a:pPr>
            <a:r>
              <a:rPr kumimoji="1" lang="en-US" altLang="zh-CN" sz="1200" i="1" dirty="0">
                <a:solidFill>
                  <a:schemeClr val="accent6">
                    <a:lumMod val="10000"/>
                  </a:schemeClr>
                </a:solidFill>
                <a:cs typeface="+mn-ea"/>
                <a:sym typeface="+mn-lt"/>
              </a:rPr>
              <a:t>25Q2</a:t>
            </a:r>
            <a:r>
              <a:rPr kumimoji="1" lang="zh-CN" altLang="en-US" sz="1200" i="1" dirty="0">
                <a:solidFill>
                  <a:schemeClr val="accent6">
                    <a:lumMod val="10000"/>
                  </a:schemeClr>
                </a:solidFill>
                <a:cs typeface="+mn-ea"/>
                <a:sym typeface="+mn-lt"/>
              </a:rPr>
              <a:t>交付</a:t>
            </a:r>
            <a:endParaRPr kumimoji="1" lang="en-US" altLang="zh-CN" sz="1200" i="1" dirty="0">
              <a:solidFill>
                <a:schemeClr val="accent6">
                  <a:lumMod val="10000"/>
                </a:schemeClr>
              </a:solidFill>
              <a:cs typeface="+mn-ea"/>
              <a:sym typeface="+mn-lt"/>
            </a:endParaRPr>
          </a:p>
        </p:txBody>
      </p:sp>
      <p:pic>
        <p:nvPicPr>
          <p:cNvPr id="4098" name="Picture 2">
            <a:extLst>
              <a:ext uri="{FF2B5EF4-FFF2-40B4-BE49-F238E27FC236}">
                <a16:creationId xmlns:a16="http://schemas.microsoft.com/office/drawing/2014/main" id="{6D42F1F0-94F0-7A4C-A5EE-5B1D888F4B4B}"/>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b="4979"/>
          <a:stretch/>
        </p:blipFill>
        <p:spPr bwMode="auto">
          <a:xfrm>
            <a:off x="1802912" y="4008939"/>
            <a:ext cx="415531" cy="511766"/>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D036EFDF-1ADD-801A-C48B-0E4BD7D73D22}"/>
              </a:ext>
            </a:extLst>
          </p:cNvPr>
          <p:cNvSpPr txBox="1"/>
          <p:nvPr/>
        </p:nvSpPr>
        <p:spPr>
          <a:xfrm>
            <a:off x="2292916" y="4041562"/>
            <a:ext cx="1911665" cy="507831"/>
          </a:xfrm>
          <a:prstGeom prst="rect">
            <a:avLst/>
          </a:prstGeom>
          <a:noFill/>
        </p:spPr>
        <p:txBody>
          <a:bodyPr wrap="square">
            <a:spAutoFit/>
          </a:bodyPr>
          <a:lstStyle/>
          <a:p>
            <a:pPr>
              <a:spcBef>
                <a:spcPts val="300"/>
              </a:spcBef>
              <a:spcAft>
                <a:spcPts val="300"/>
              </a:spcAft>
            </a:pPr>
            <a:r>
              <a:rPr kumimoji="1" lang="en-US" altLang="zh-CN" sz="1100" dirty="0">
                <a:solidFill>
                  <a:schemeClr val="bg2"/>
                </a:solidFill>
                <a:highlight>
                  <a:srgbClr val="008000"/>
                </a:highlight>
                <a:cs typeface="+mn-ea"/>
                <a:sym typeface="+mn-lt"/>
              </a:rPr>
              <a:t>NVL 72 GB300</a:t>
            </a:r>
          </a:p>
          <a:p>
            <a:pPr>
              <a:spcBef>
                <a:spcPts val="300"/>
              </a:spcBef>
              <a:spcAft>
                <a:spcPts val="300"/>
              </a:spcAft>
            </a:pPr>
            <a:r>
              <a:rPr kumimoji="1" lang="zh-CN" altLang="en-US" sz="1100" dirty="0">
                <a:solidFill>
                  <a:schemeClr val="tx1">
                    <a:lumMod val="50000"/>
                  </a:schemeClr>
                </a:solidFill>
                <a:cs typeface="+mn-ea"/>
                <a:sym typeface="+mn-lt"/>
              </a:rPr>
              <a:t>整机柜服务器</a:t>
            </a:r>
            <a:endParaRPr kumimoji="1" lang="en-US" altLang="zh-CN" sz="1100" dirty="0">
              <a:solidFill>
                <a:schemeClr val="tx1">
                  <a:lumMod val="50000"/>
                </a:schemeClr>
              </a:solidFill>
              <a:cs typeface="+mn-ea"/>
              <a:sym typeface="+mn-lt"/>
            </a:endParaRPr>
          </a:p>
        </p:txBody>
      </p:sp>
      <p:sp>
        <p:nvSpPr>
          <p:cNvPr id="37" name="文本框 36">
            <a:extLst>
              <a:ext uri="{FF2B5EF4-FFF2-40B4-BE49-F238E27FC236}">
                <a16:creationId xmlns:a16="http://schemas.microsoft.com/office/drawing/2014/main" id="{74C1CCC6-343B-484D-317A-2DFE494B1636}"/>
              </a:ext>
            </a:extLst>
          </p:cNvPr>
          <p:cNvSpPr txBox="1"/>
          <p:nvPr/>
        </p:nvSpPr>
        <p:spPr>
          <a:xfrm>
            <a:off x="1957829" y="4597390"/>
            <a:ext cx="1410665" cy="276999"/>
          </a:xfrm>
          <a:prstGeom prst="rect">
            <a:avLst/>
          </a:prstGeom>
          <a:noFill/>
        </p:spPr>
        <p:txBody>
          <a:bodyPr wrap="square">
            <a:spAutoFit/>
          </a:bodyPr>
          <a:lstStyle/>
          <a:p>
            <a:pPr algn="ctr">
              <a:spcBef>
                <a:spcPts val="300"/>
              </a:spcBef>
              <a:spcAft>
                <a:spcPts val="300"/>
              </a:spcAft>
            </a:pPr>
            <a:r>
              <a:rPr kumimoji="1" lang="en-US" altLang="zh-CN" sz="1200" i="1" dirty="0">
                <a:solidFill>
                  <a:schemeClr val="accent6">
                    <a:lumMod val="10000"/>
                  </a:schemeClr>
                </a:solidFill>
                <a:cs typeface="+mn-ea"/>
                <a:sym typeface="+mn-lt"/>
              </a:rPr>
              <a:t>25.07</a:t>
            </a:r>
            <a:r>
              <a:rPr kumimoji="1" lang="zh-CN" altLang="en-US" sz="1200" i="1" dirty="0">
                <a:solidFill>
                  <a:schemeClr val="accent6">
                    <a:lumMod val="10000"/>
                  </a:schemeClr>
                </a:solidFill>
                <a:cs typeface="+mn-ea"/>
                <a:sym typeface="+mn-lt"/>
              </a:rPr>
              <a:t>交付</a:t>
            </a:r>
            <a:endParaRPr kumimoji="1" lang="en-US" altLang="zh-CN" sz="1200" i="1" dirty="0">
              <a:solidFill>
                <a:schemeClr val="accent6">
                  <a:lumMod val="10000"/>
                </a:schemeClr>
              </a:solidFill>
              <a:cs typeface="+mn-ea"/>
              <a:sym typeface="+mn-lt"/>
            </a:endParaRPr>
          </a:p>
        </p:txBody>
      </p:sp>
      <p:sp>
        <p:nvSpPr>
          <p:cNvPr id="38" name="文本框 37">
            <a:extLst>
              <a:ext uri="{FF2B5EF4-FFF2-40B4-BE49-F238E27FC236}">
                <a16:creationId xmlns:a16="http://schemas.microsoft.com/office/drawing/2014/main" id="{FD9C8D31-DE2C-38D5-325C-E5E0875B0FCC}"/>
              </a:ext>
            </a:extLst>
          </p:cNvPr>
          <p:cNvSpPr txBox="1"/>
          <p:nvPr/>
        </p:nvSpPr>
        <p:spPr>
          <a:xfrm>
            <a:off x="4728013" y="4017639"/>
            <a:ext cx="1584495" cy="507831"/>
          </a:xfrm>
          <a:prstGeom prst="rect">
            <a:avLst/>
          </a:prstGeom>
          <a:noFill/>
        </p:spPr>
        <p:txBody>
          <a:bodyPr wrap="square">
            <a:spAutoFit/>
          </a:bodyPr>
          <a:lstStyle/>
          <a:p>
            <a:pPr>
              <a:spcBef>
                <a:spcPts val="300"/>
              </a:spcBef>
              <a:spcAft>
                <a:spcPts val="300"/>
              </a:spcAft>
            </a:pPr>
            <a:r>
              <a:rPr kumimoji="1" lang="en-US" altLang="zh-CN" sz="1100" dirty="0">
                <a:solidFill>
                  <a:schemeClr val="bg2"/>
                </a:solidFill>
                <a:highlight>
                  <a:srgbClr val="008000"/>
                </a:highlight>
                <a:cs typeface="+mn-ea"/>
                <a:sym typeface="+mn-lt"/>
              </a:rPr>
              <a:t>Rubin 288</a:t>
            </a:r>
          </a:p>
          <a:p>
            <a:pPr>
              <a:spcBef>
                <a:spcPts val="300"/>
              </a:spcBef>
              <a:spcAft>
                <a:spcPts val="300"/>
              </a:spcAft>
            </a:pPr>
            <a:r>
              <a:rPr kumimoji="1" lang="zh-CN" altLang="en-US" sz="1100" dirty="0">
                <a:solidFill>
                  <a:schemeClr val="tx1">
                    <a:lumMod val="50000"/>
                  </a:schemeClr>
                </a:solidFill>
                <a:cs typeface="+mn-ea"/>
                <a:sym typeface="+mn-lt"/>
              </a:rPr>
              <a:t>整机柜服务器</a:t>
            </a:r>
            <a:endParaRPr kumimoji="1" lang="en-US" altLang="zh-CN" sz="1100" dirty="0">
              <a:solidFill>
                <a:schemeClr val="tx1">
                  <a:lumMod val="50000"/>
                </a:schemeClr>
              </a:solidFill>
              <a:cs typeface="+mn-ea"/>
              <a:sym typeface="+mn-lt"/>
            </a:endParaRPr>
          </a:p>
        </p:txBody>
      </p:sp>
      <p:sp>
        <p:nvSpPr>
          <p:cNvPr id="39" name="文本框 38">
            <a:extLst>
              <a:ext uri="{FF2B5EF4-FFF2-40B4-BE49-F238E27FC236}">
                <a16:creationId xmlns:a16="http://schemas.microsoft.com/office/drawing/2014/main" id="{F47C8A2E-DBCC-6B31-BF8D-8BB0DCB054EA}"/>
              </a:ext>
            </a:extLst>
          </p:cNvPr>
          <p:cNvSpPr txBox="1"/>
          <p:nvPr/>
        </p:nvSpPr>
        <p:spPr>
          <a:xfrm>
            <a:off x="4321656" y="4565820"/>
            <a:ext cx="1410665" cy="276999"/>
          </a:xfrm>
          <a:prstGeom prst="rect">
            <a:avLst/>
          </a:prstGeom>
          <a:noFill/>
        </p:spPr>
        <p:txBody>
          <a:bodyPr wrap="square">
            <a:spAutoFit/>
          </a:bodyPr>
          <a:lstStyle/>
          <a:p>
            <a:pPr algn="ctr">
              <a:spcBef>
                <a:spcPts val="300"/>
              </a:spcBef>
              <a:spcAft>
                <a:spcPts val="300"/>
              </a:spcAft>
            </a:pPr>
            <a:r>
              <a:rPr kumimoji="1" lang="en-US" altLang="zh-CN" sz="1200" i="1" dirty="0">
                <a:solidFill>
                  <a:schemeClr val="accent6">
                    <a:lumMod val="10000"/>
                  </a:schemeClr>
                </a:solidFill>
                <a:cs typeface="+mn-ea"/>
                <a:sym typeface="+mn-lt"/>
              </a:rPr>
              <a:t>26Q2</a:t>
            </a:r>
            <a:r>
              <a:rPr kumimoji="1" lang="zh-CN" altLang="en-US" sz="1200" i="1" dirty="0">
                <a:solidFill>
                  <a:schemeClr val="accent6">
                    <a:lumMod val="10000"/>
                  </a:schemeClr>
                </a:solidFill>
                <a:cs typeface="+mn-ea"/>
                <a:sym typeface="+mn-lt"/>
              </a:rPr>
              <a:t>交付</a:t>
            </a:r>
            <a:endParaRPr kumimoji="1" lang="en-US" altLang="zh-CN" sz="1200" i="1" dirty="0">
              <a:solidFill>
                <a:schemeClr val="accent6">
                  <a:lumMod val="10000"/>
                </a:schemeClr>
              </a:solidFill>
              <a:cs typeface="+mn-ea"/>
              <a:sym typeface="+mn-lt"/>
            </a:endParaRPr>
          </a:p>
        </p:txBody>
      </p:sp>
      <p:sp>
        <p:nvSpPr>
          <p:cNvPr id="40" name="文本框 39">
            <a:extLst>
              <a:ext uri="{FF2B5EF4-FFF2-40B4-BE49-F238E27FC236}">
                <a16:creationId xmlns:a16="http://schemas.microsoft.com/office/drawing/2014/main" id="{58C53818-2416-3643-E53B-F9132A2B7732}"/>
              </a:ext>
            </a:extLst>
          </p:cNvPr>
          <p:cNvSpPr txBox="1"/>
          <p:nvPr/>
        </p:nvSpPr>
        <p:spPr>
          <a:xfrm>
            <a:off x="4321656" y="5571115"/>
            <a:ext cx="1410665" cy="276999"/>
          </a:xfrm>
          <a:prstGeom prst="rect">
            <a:avLst/>
          </a:prstGeom>
          <a:noFill/>
        </p:spPr>
        <p:txBody>
          <a:bodyPr wrap="square">
            <a:spAutoFit/>
          </a:bodyPr>
          <a:lstStyle/>
          <a:p>
            <a:pPr algn="ctr">
              <a:spcBef>
                <a:spcPts val="300"/>
              </a:spcBef>
              <a:spcAft>
                <a:spcPts val="300"/>
              </a:spcAft>
            </a:pPr>
            <a:r>
              <a:rPr kumimoji="1" lang="en-US" altLang="zh-CN" sz="1200" i="1" dirty="0">
                <a:solidFill>
                  <a:schemeClr val="accent6">
                    <a:lumMod val="10000"/>
                  </a:schemeClr>
                </a:solidFill>
                <a:cs typeface="+mn-ea"/>
                <a:sym typeface="+mn-lt"/>
              </a:rPr>
              <a:t>26Q2</a:t>
            </a:r>
            <a:r>
              <a:rPr kumimoji="1" lang="zh-CN" altLang="en-US" sz="1200" i="1" dirty="0">
                <a:solidFill>
                  <a:schemeClr val="accent6">
                    <a:lumMod val="10000"/>
                  </a:schemeClr>
                </a:solidFill>
                <a:cs typeface="+mn-ea"/>
                <a:sym typeface="+mn-lt"/>
              </a:rPr>
              <a:t>交付</a:t>
            </a:r>
            <a:endParaRPr kumimoji="1" lang="en-US" altLang="zh-CN" sz="1200" i="1" dirty="0">
              <a:solidFill>
                <a:schemeClr val="accent6">
                  <a:lumMod val="10000"/>
                </a:schemeClr>
              </a:solidFill>
              <a:cs typeface="+mn-ea"/>
              <a:sym typeface="+mn-lt"/>
            </a:endParaRPr>
          </a:p>
        </p:txBody>
      </p:sp>
      <p:pic>
        <p:nvPicPr>
          <p:cNvPr id="4100" name="Picture 4">
            <a:extLst>
              <a:ext uri="{FF2B5EF4-FFF2-40B4-BE49-F238E27FC236}">
                <a16:creationId xmlns:a16="http://schemas.microsoft.com/office/drawing/2014/main" id="{49BF8719-9148-8540-80FE-BC193E92F4CC}"/>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8439" t="-2" r="13487" b="68005"/>
          <a:stretch/>
        </p:blipFill>
        <p:spPr bwMode="auto">
          <a:xfrm>
            <a:off x="4115801" y="4084673"/>
            <a:ext cx="623104" cy="405867"/>
          </a:xfrm>
          <a:prstGeom prst="rect">
            <a:avLst/>
          </a:prstGeom>
          <a:noFill/>
          <a:extLst>
            <a:ext uri="{909E8E84-426E-40DD-AFC4-6F175D3DCCD1}">
              <a14:hiddenFill xmlns:a14="http://schemas.microsoft.com/office/drawing/2010/main">
                <a:solidFill>
                  <a:srgbClr val="FFFFFF"/>
                </a:solidFill>
              </a14:hiddenFill>
            </a:ext>
          </a:extLst>
        </p:spPr>
      </p:pic>
      <p:pic>
        <p:nvPicPr>
          <p:cNvPr id="48" name="图片 47" descr="电脑屏幕截图&#10;&#10;AI 生成的内容可能不正确。">
            <a:extLst>
              <a:ext uri="{FF2B5EF4-FFF2-40B4-BE49-F238E27FC236}">
                <a16:creationId xmlns:a16="http://schemas.microsoft.com/office/drawing/2014/main" id="{661BD6DC-F80B-A7A2-91FF-7C5EBDC5BA4E}"/>
              </a:ext>
            </a:extLst>
          </p:cNvPr>
          <p:cNvPicPr>
            <a:picLocks noChangeAspect="1"/>
          </p:cNvPicPr>
          <p:nvPr/>
        </p:nvPicPr>
        <p:blipFill>
          <a:blip r:embed="rId12" cstate="print">
            <a:extLst>
              <a:ext uri="{28A0092B-C50C-407E-A947-70E740481C1C}">
                <a14:useLocalDpi xmlns:a14="http://schemas.microsoft.com/office/drawing/2010/main" val="0"/>
              </a:ext>
            </a:extLst>
          </a:blip>
          <a:srcRect l="63573" t="50628" r="12722" b="20213"/>
          <a:stretch/>
        </p:blipFill>
        <p:spPr>
          <a:xfrm>
            <a:off x="4115801" y="5118208"/>
            <a:ext cx="637526" cy="412191"/>
          </a:xfrm>
          <a:prstGeom prst="rect">
            <a:avLst/>
          </a:prstGeom>
        </p:spPr>
      </p:pic>
      <p:sp>
        <p:nvSpPr>
          <p:cNvPr id="51" name="矩形 50">
            <a:extLst>
              <a:ext uri="{FF2B5EF4-FFF2-40B4-BE49-F238E27FC236}">
                <a16:creationId xmlns:a16="http://schemas.microsoft.com/office/drawing/2014/main" id="{BAB9E579-637A-802B-F8A2-94C6E0CEEFBC}"/>
              </a:ext>
            </a:extLst>
          </p:cNvPr>
          <p:cNvSpPr/>
          <p:nvPr/>
        </p:nvSpPr>
        <p:spPr>
          <a:xfrm>
            <a:off x="411970" y="6096017"/>
            <a:ext cx="587842" cy="21920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cs typeface="+mn-ea"/>
                <a:sym typeface="+mn-lt"/>
              </a:rPr>
              <a:t>xx</a:t>
            </a:r>
            <a:endParaRPr lang="zh-CN" altLang="en-US" sz="1000" dirty="0">
              <a:cs typeface="+mn-ea"/>
              <a:sym typeface="+mn-lt"/>
            </a:endParaRPr>
          </a:p>
        </p:txBody>
      </p:sp>
      <p:sp>
        <p:nvSpPr>
          <p:cNvPr id="53" name="矩形 52">
            <a:extLst>
              <a:ext uri="{FF2B5EF4-FFF2-40B4-BE49-F238E27FC236}">
                <a16:creationId xmlns:a16="http://schemas.microsoft.com/office/drawing/2014/main" id="{72EE96E3-1D2C-8BFF-8AC1-22DBC33714F2}"/>
              </a:ext>
            </a:extLst>
          </p:cNvPr>
          <p:cNvSpPr/>
          <p:nvPr/>
        </p:nvSpPr>
        <p:spPr>
          <a:xfrm>
            <a:off x="2525250" y="6096017"/>
            <a:ext cx="587842" cy="219206"/>
          </a:xfrm>
          <a:prstGeom prst="rect">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cs typeface="+mn-ea"/>
                <a:sym typeface="+mn-lt"/>
              </a:rPr>
              <a:t>xx</a:t>
            </a:r>
            <a:endParaRPr lang="zh-CN" altLang="en-US" sz="1000" dirty="0">
              <a:cs typeface="+mn-ea"/>
              <a:sym typeface="+mn-lt"/>
            </a:endParaRPr>
          </a:p>
        </p:txBody>
      </p:sp>
      <p:sp>
        <p:nvSpPr>
          <p:cNvPr id="54" name="文本框 53">
            <a:extLst>
              <a:ext uri="{FF2B5EF4-FFF2-40B4-BE49-F238E27FC236}">
                <a16:creationId xmlns:a16="http://schemas.microsoft.com/office/drawing/2014/main" id="{14E63B84-481E-70AD-816D-7D069233E2A1}"/>
              </a:ext>
            </a:extLst>
          </p:cNvPr>
          <p:cNvSpPr txBox="1"/>
          <p:nvPr/>
        </p:nvSpPr>
        <p:spPr>
          <a:xfrm>
            <a:off x="807778" y="6067121"/>
            <a:ext cx="1410665" cy="276999"/>
          </a:xfrm>
          <a:prstGeom prst="rect">
            <a:avLst/>
          </a:prstGeom>
          <a:noFill/>
        </p:spPr>
        <p:txBody>
          <a:bodyPr wrap="square">
            <a:spAutoFit/>
          </a:bodyPr>
          <a:lstStyle/>
          <a:p>
            <a:pPr algn="ctr">
              <a:spcBef>
                <a:spcPts val="300"/>
              </a:spcBef>
              <a:spcAft>
                <a:spcPts val="300"/>
              </a:spcAft>
            </a:pPr>
            <a:r>
              <a:rPr kumimoji="1" lang="zh-CN" altLang="en-US" sz="1200" dirty="0">
                <a:solidFill>
                  <a:schemeClr val="accent6">
                    <a:lumMod val="10000"/>
                  </a:schemeClr>
                </a:solidFill>
                <a:cs typeface="+mn-ea"/>
                <a:sym typeface="+mn-lt"/>
              </a:rPr>
              <a:t>基于铜互连</a:t>
            </a:r>
            <a:endParaRPr kumimoji="1" lang="en-US" altLang="zh-CN" sz="1200" dirty="0">
              <a:solidFill>
                <a:schemeClr val="accent6">
                  <a:lumMod val="10000"/>
                </a:schemeClr>
              </a:solidFill>
              <a:cs typeface="+mn-ea"/>
              <a:sym typeface="+mn-lt"/>
            </a:endParaRPr>
          </a:p>
        </p:txBody>
      </p:sp>
      <p:sp>
        <p:nvSpPr>
          <p:cNvPr id="57" name="文本框 56">
            <a:extLst>
              <a:ext uri="{FF2B5EF4-FFF2-40B4-BE49-F238E27FC236}">
                <a16:creationId xmlns:a16="http://schemas.microsoft.com/office/drawing/2014/main" id="{E03D25C1-BFC1-CB0B-5B92-76A8D5AB2E4C}"/>
              </a:ext>
            </a:extLst>
          </p:cNvPr>
          <p:cNvSpPr txBox="1"/>
          <p:nvPr/>
        </p:nvSpPr>
        <p:spPr>
          <a:xfrm>
            <a:off x="2915624" y="6067121"/>
            <a:ext cx="1410665" cy="276999"/>
          </a:xfrm>
          <a:prstGeom prst="rect">
            <a:avLst/>
          </a:prstGeom>
          <a:noFill/>
        </p:spPr>
        <p:txBody>
          <a:bodyPr wrap="square">
            <a:spAutoFit/>
          </a:bodyPr>
          <a:lstStyle/>
          <a:p>
            <a:pPr algn="ctr">
              <a:spcBef>
                <a:spcPts val="300"/>
              </a:spcBef>
              <a:spcAft>
                <a:spcPts val="300"/>
              </a:spcAft>
            </a:pPr>
            <a:r>
              <a:rPr kumimoji="1" lang="zh-CN" altLang="en-US" sz="1200" dirty="0">
                <a:solidFill>
                  <a:schemeClr val="accent6">
                    <a:lumMod val="10000"/>
                  </a:schemeClr>
                </a:solidFill>
                <a:cs typeface="+mn-ea"/>
                <a:sym typeface="+mn-lt"/>
              </a:rPr>
              <a:t>基于</a:t>
            </a:r>
            <a:r>
              <a:rPr kumimoji="1" lang="en-US" altLang="zh-CN" sz="1200" dirty="0">
                <a:solidFill>
                  <a:schemeClr val="accent6">
                    <a:lumMod val="10000"/>
                  </a:schemeClr>
                </a:solidFill>
                <a:cs typeface="+mn-ea"/>
                <a:sym typeface="+mn-lt"/>
              </a:rPr>
              <a:t>CPO</a:t>
            </a:r>
          </a:p>
        </p:txBody>
      </p:sp>
      <p:sp>
        <p:nvSpPr>
          <p:cNvPr id="60" name="文本框 59">
            <a:extLst>
              <a:ext uri="{FF2B5EF4-FFF2-40B4-BE49-F238E27FC236}">
                <a16:creationId xmlns:a16="http://schemas.microsoft.com/office/drawing/2014/main" id="{2FB27E28-9F4A-8FA7-BCFE-9AE1CE01AF6A}"/>
              </a:ext>
            </a:extLst>
          </p:cNvPr>
          <p:cNvSpPr txBox="1"/>
          <p:nvPr/>
        </p:nvSpPr>
        <p:spPr>
          <a:xfrm>
            <a:off x="6550108" y="1413384"/>
            <a:ext cx="5013241" cy="257338"/>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400" i="1" dirty="0">
                <a:solidFill>
                  <a:schemeClr val="tx1">
                    <a:lumMod val="50000"/>
                  </a:schemeClr>
                </a:solidFill>
                <a:cs typeface="+mn-ea"/>
                <a:sym typeface="+mn-lt"/>
              </a:rPr>
              <a:t>Scale Out</a:t>
            </a:r>
            <a:r>
              <a:rPr kumimoji="1" lang="zh-CN" altLang="en-US" sz="1400" i="1" dirty="0">
                <a:solidFill>
                  <a:schemeClr val="tx1">
                    <a:lumMod val="50000"/>
                  </a:schemeClr>
                </a:solidFill>
                <a:cs typeface="+mn-ea"/>
                <a:sym typeface="+mn-lt"/>
              </a:rPr>
              <a:t>统治地位，</a:t>
            </a:r>
            <a:r>
              <a:rPr kumimoji="1" lang="zh-CN" altLang="zh-CN" sz="1400" i="1" dirty="0">
                <a:solidFill>
                  <a:schemeClr val="tx1">
                    <a:lumMod val="50000"/>
                  </a:schemeClr>
                </a:solidFill>
                <a:cs typeface="+mn-ea"/>
                <a:sym typeface="+mn-lt"/>
              </a:rPr>
              <a:t>未来5年押注</a:t>
            </a:r>
            <a:r>
              <a:rPr kumimoji="1" lang="en-US" altLang="zh-CN" sz="1400" i="1" dirty="0">
                <a:solidFill>
                  <a:schemeClr val="tx1">
                    <a:lumMod val="50000"/>
                  </a:schemeClr>
                </a:solidFill>
                <a:cs typeface="+mn-ea"/>
                <a:sym typeface="+mn-lt"/>
              </a:rPr>
              <a:t>CPO</a:t>
            </a:r>
            <a:r>
              <a:rPr kumimoji="1" lang="zh-CN" altLang="en-US" sz="1400" i="1" dirty="0">
                <a:solidFill>
                  <a:schemeClr val="tx1">
                    <a:lumMod val="50000"/>
                  </a:schemeClr>
                </a:solidFill>
                <a:cs typeface="+mn-ea"/>
                <a:sym typeface="+mn-lt"/>
              </a:rPr>
              <a:t>实现</a:t>
            </a:r>
            <a:r>
              <a:rPr kumimoji="1" lang="en-US" altLang="zh-CN" sz="1400" i="1" dirty="0">
                <a:solidFill>
                  <a:schemeClr val="tx1">
                    <a:lumMod val="50000"/>
                  </a:schemeClr>
                </a:solidFill>
                <a:cs typeface="+mn-ea"/>
                <a:sym typeface="+mn-lt"/>
              </a:rPr>
              <a:t>Out</a:t>
            </a:r>
            <a:r>
              <a:rPr kumimoji="1" lang="zh-CN" altLang="en-US" sz="1400" i="1" dirty="0">
                <a:solidFill>
                  <a:schemeClr val="tx1">
                    <a:lumMod val="50000"/>
                  </a:schemeClr>
                </a:solidFill>
                <a:cs typeface="+mn-ea"/>
                <a:sym typeface="+mn-lt"/>
              </a:rPr>
              <a:t>到</a:t>
            </a:r>
            <a:r>
              <a:rPr kumimoji="1" lang="en-US" altLang="zh-CN" sz="1400" i="1" dirty="0">
                <a:solidFill>
                  <a:schemeClr val="tx1">
                    <a:lumMod val="50000"/>
                  </a:schemeClr>
                </a:solidFill>
                <a:cs typeface="+mn-ea"/>
                <a:sym typeface="+mn-lt"/>
              </a:rPr>
              <a:t>Up</a:t>
            </a:r>
            <a:r>
              <a:rPr kumimoji="1" lang="zh-CN" altLang="en-US" sz="1400" i="1" dirty="0">
                <a:solidFill>
                  <a:schemeClr val="tx1">
                    <a:lumMod val="50000"/>
                  </a:schemeClr>
                </a:solidFill>
                <a:cs typeface="+mn-ea"/>
                <a:sym typeface="+mn-lt"/>
              </a:rPr>
              <a:t>的渗透</a:t>
            </a:r>
            <a:endParaRPr kumimoji="1" lang="zh-CN" altLang="zh-CN" sz="1400" i="1" dirty="0">
              <a:solidFill>
                <a:schemeClr val="tx1">
                  <a:lumMod val="50000"/>
                </a:schemeClr>
              </a:solidFill>
              <a:cs typeface="+mn-ea"/>
              <a:sym typeface="+mn-lt"/>
            </a:endParaRPr>
          </a:p>
          <a:p>
            <a:pPr algn="l">
              <a:spcBef>
                <a:spcPts val="300"/>
              </a:spcBef>
              <a:spcAft>
                <a:spcPts val="300"/>
              </a:spcAft>
            </a:pPr>
            <a:endParaRPr kumimoji="1" lang="zh-CN" altLang="en-US" sz="1400" i="1" dirty="0">
              <a:solidFill>
                <a:schemeClr val="tx1">
                  <a:lumMod val="50000"/>
                </a:schemeClr>
              </a:solidFill>
              <a:cs typeface="+mn-ea"/>
              <a:sym typeface="+mn-lt"/>
            </a:endParaRPr>
          </a:p>
        </p:txBody>
      </p:sp>
      <p:sp>
        <p:nvSpPr>
          <p:cNvPr id="85" name="文本框 84">
            <a:extLst>
              <a:ext uri="{FF2B5EF4-FFF2-40B4-BE49-F238E27FC236}">
                <a16:creationId xmlns:a16="http://schemas.microsoft.com/office/drawing/2014/main" id="{936DE709-FEFC-64A4-3B75-B2BB3A7693D6}"/>
              </a:ext>
            </a:extLst>
          </p:cNvPr>
          <p:cNvSpPr txBox="1"/>
          <p:nvPr/>
        </p:nvSpPr>
        <p:spPr>
          <a:xfrm>
            <a:off x="6548084" y="2736706"/>
            <a:ext cx="4926088" cy="792406"/>
          </a:xfrm>
          <a:prstGeom prst="rect">
            <a:avLst/>
          </a:prstGeom>
          <a:ln w="6350">
            <a:noFill/>
            <a:miter lim="800000"/>
          </a:ln>
        </p:spPr>
        <p:txBody>
          <a:bodyPr vert="horz" wrap="square" lIns="0" tIns="0" rIns="0" bIns="0" rtlCol="0">
            <a:noAutofit/>
          </a:bodyPr>
          <a:lstStyle/>
          <a:p>
            <a:pPr marL="285750" lvl="0" indent="-285750" eaLnBrk="0" fontAlgn="base" hangingPunct="0">
              <a:spcBef>
                <a:spcPct val="0"/>
              </a:spcBef>
              <a:spcAft>
                <a:spcPct val="0"/>
              </a:spcAft>
              <a:buFont typeface="Arial" panose="020B0604020202020204" pitchFamily="34" charset="0"/>
              <a:buChar char="•"/>
            </a:pPr>
            <a:r>
              <a:rPr kumimoji="1" lang="zh-CN" altLang="zh-CN" sz="1400" dirty="0">
                <a:solidFill>
                  <a:schemeClr val="tx1">
                    <a:lumMod val="50000"/>
                  </a:schemeClr>
                </a:solidFill>
                <a:cs typeface="+mn-ea"/>
                <a:sym typeface="+mn-lt"/>
              </a:rPr>
              <a:t>于23年开始联合产业伙伴推动</a:t>
            </a:r>
            <a:r>
              <a:rPr kumimoji="1" lang="en-US" altLang="zh-CN" sz="1400" dirty="0">
                <a:solidFill>
                  <a:schemeClr val="tx1">
                    <a:lumMod val="50000"/>
                  </a:schemeClr>
                </a:solidFill>
                <a:cs typeface="+mn-ea"/>
                <a:sym typeface="+mn-lt"/>
              </a:rPr>
              <a:t>CPO</a:t>
            </a:r>
            <a:r>
              <a:rPr kumimoji="1" lang="zh-CN" altLang="zh-CN" sz="1400" dirty="0">
                <a:solidFill>
                  <a:schemeClr val="tx1">
                    <a:lumMod val="50000"/>
                  </a:schemeClr>
                </a:solidFill>
                <a:cs typeface="+mn-ea"/>
                <a:sym typeface="+mn-lt"/>
              </a:rPr>
              <a:t>方案，目前已在各环节实现单环节测试可靠性，但</a:t>
            </a:r>
            <a:r>
              <a:rPr kumimoji="1" lang="zh-CN" altLang="en-US" sz="1400" dirty="0">
                <a:solidFill>
                  <a:schemeClr val="tx1">
                    <a:lumMod val="50000"/>
                  </a:schemeClr>
                </a:solidFill>
                <a:cs typeface="+mn-ea"/>
                <a:sym typeface="+mn-lt"/>
              </a:rPr>
              <a:t>未</a:t>
            </a:r>
            <a:r>
              <a:rPr kumimoji="1" lang="zh-CN" altLang="zh-CN" sz="1400" dirty="0">
                <a:solidFill>
                  <a:schemeClr val="tx1">
                    <a:lumMod val="50000"/>
                  </a:schemeClr>
                </a:solidFill>
                <a:cs typeface="+mn-ea"/>
                <a:sym typeface="+mn-lt"/>
              </a:rPr>
              <a:t>完整部署并获得运营数据</a:t>
            </a:r>
          </a:p>
        </p:txBody>
      </p:sp>
      <p:sp>
        <p:nvSpPr>
          <p:cNvPr id="87" name="文本框 86">
            <a:extLst>
              <a:ext uri="{FF2B5EF4-FFF2-40B4-BE49-F238E27FC236}">
                <a16:creationId xmlns:a16="http://schemas.microsoft.com/office/drawing/2014/main" id="{6FF20BF8-457E-1902-C171-AE4383E4637B}"/>
              </a:ext>
            </a:extLst>
          </p:cNvPr>
          <p:cNvSpPr txBox="1"/>
          <p:nvPr/>
        </p:nvSpPr>
        <p:spPr>
          <a:xfrm>
            <a:off x="8323716" y="5118208"/>
            <a:ext cx="1732629" cy="600164"/>
          </a:xfrm>
          <a:prstGeom prst="rect">
            <a:avLst/>
          </a:prstGeom>
          <a:noFill/>
        </p:spPr>
        <p:txBody>
          <a:bodyPr wrap="square">
            <a:spAutoFit/>
          </a:bodyPr>
          <a:lstStyle/>
          <a:p>
            <a:pPr>
              <a:spcBef>
                <a:spcPts val="300"/>
              </a:spcBef>
              <a:spcAft>
                <a:spcPts val="300"/>
              </a:spcAft>
            </a:pPr>
            <a:r>
              <a:rPr kumimoji="1" lang="en-US" altLang="zh-CN" sz="1400" dirty="0">
                <a:solidFill>
                  <a:schemeClr val="bg2"/>
                </a:solidFill>
                <a:highlight>
                  <a:srgbClr val="0052D9"/>
                </a:highlight>
                <a:cs typeface="+mn-ea"/>
                <a:sym typeface="+mn-lt"/>
              </a:rPr>
              <a:t>Tomahawk 5 </a:t>
            </a:r>
          </a:p>
          <a:p>
            <a:pPr>
              <a:spcBef>
                <a:spcPts val="300"/>
              </a:spcBef>
              <a:spcAft>
                <a:spcPts val="300"/>
              </a:spcAft>
            </a:pPr>
            <a:r>
              <a:rPr kumimoji="1" lang="zh-CN" altLang="en-US" sz="1400" dirty="0">
                <a:solidFill>
                  <a:schemeClr val="tx1">
                    <a:lumMod val="50000"/>
                  </a:schemeClr>
                </a:solidFill>
                <a:cs typeface="+mn-ea"/>
                <a:sym typeface="+mn-lt"/>
              </a:rPr>
              <a:t>以太网 </a:t>
            </a:r>
            <a:r>
              <a:rPr kumimoji="1" lang="en-US" altLang="zh-CN" sz="1400" dirty="0">
                <a:solidFill>
                  <a:schemeClr val="tx1">
                    <a:lumMod val="50000"/>
                  </a:schemeClr>
                </a:solidFill>
                <a:cs typeface="+mn-ea"/>
                <a:sym typeface="+mn-lt"/>
              </a:rPr>
              <a:t>CPO</a:t>
            </a:r>
            <a:r>
              <a:rPr kumimoji="1" lang="zh-CN" altLang="en-US" sz="1400" dirty="0">
                <a:solidFill>
                  <a:schemeClr val="tx1">
                    <a:lumMod val="50000"/>
                  </a:schemeClr>
                </a:solidFill>
                <a:cs typeface="+mn-ea"/>
                <a:sym typeface="+mn-lt"/>
              </a:rPr>
              <a:t>交换机</a:t>
            </a:r>
            <a:endParaRPr kumimoji="1" lang="en-US" altLang="zh-CN" sz="1400" dirty="0">
              <a:solidFill>
                <a:schemeClr val="tx1">
                  <a:lumMod val="50000"/>
                </a:schemeClr>
              </a:solidFill>
              <a:cs typeface="+mn-ea"/>
              <a:sym typeface="+mn-lt"/>
            </a:endParaRPr>
          </a:p>
        </p:txBody>
      </p:sp>
      <p:sp>
        <p:nvSpPr>
          <p:cNvPr id="88" name="文本框 87">
            <a:extLst>
              <a:ext uri="{FF2B5EF4-FFF2-40B4-BE49-F238E27FC236}">
                <a16:creationId xmlns:a16="http://schemas.microsoft.com/office/drawing/2014/main" id="{F9E1C816-0DC4-FDCB-9F3E-63A7285C0C61}"/>
              </a:ext>
            </a:extLst>
          </p:cNvPr>
          <p:cNvSpPr txBox="1"/>
          <p:nvPr/>
        </p:nvSpPr>
        <p:spPr>
          <a:xfrm>
            <a:off x="9696641" y="5223797"/>
            <a:ext cx="1410665" cy="307777"/>
          </a:xfrm>
          <a:prstGeom prst="rect">
            <a:avLst/>
          </a:prstGeom>
          <a:noFill/>
        </p:spPr>
        <p:txBody>
          <a:bodyPr wrap="square">
            <a:spAutoFit/>
          </a:bodyPr>
          <a:lstStyle/>
          <a:p>
            <a:pPr algn="ctr">
              <a:spcBef>
                <a:spcPts val="300"/>
              </a:spcBef>
              <a:spcAft>
                <a:spcPts val="300"/>
              </a:spcAft>
            </a:pPr>
            <a:r>
              <a:rPr kumimoji="1" lang="en-US" altLang="zh-CN" sz="1400" i="1" dirty="0">
                <a:solidFill>
                  <a:schemeClr val="accent6">
                    <a:lumMod val="10000"/>
                  </a:schemeClr>
                </a:solidFill>
                <a:cs typeface="+mn-ea"/>
                <a:sym typeface="+mn-lt"/>
              </a:rPr>
              <a:t>26Q1</a:t>
            </a:r>
            <a:r>
              <a:rPr kumimoji="1" lang="zh-CN" altLang="en-US" sz="1400" i="1" dirty="0">
                <a:solidFill>
                  <a:schemeClr val="accent6">
                    <a:lumMod val="10000"/>
                  </a:schemeClr>
                </a:solidFill>
                <a:cs typeface="+mn-ea"/>
                <a:sym typeface="+mn-lt"/>
              </a:rPr>
              <a:t>交付</a:t>
            </a:r>
            <a:endParaRPr kumimoji="1" lang="en-US" altLang="zh-CN" sz="1400" i="1" dirty="0">
              <a:solidFill>
                <a:schemeClr val="accent6">
                  <a:lumMod val="10000"/>
                </a:schemeClr>
              </a:solidFill>
              <a:cs typeface="+mn-ea"/>
              <a:sym typeface="+mn-lt"/>
            </a:endParaRPr>
          </a:p>
        </p:txBody>
      </p:sp>
      <p:pic>
        <p:nvPicPr>
          <p:cNvPr id="91" name="图片 90" descr="图形用户界面&#10;&#10;AI 生成的内容可能不正确。">
            <a:extLst>
              <a:ext uri="{FF2B5EF4-FFF2-40B4-BE49-F238E27FC236}">
                <a16:creationId xmlns:a16="http://schemas.microsoft.com/office/drawing/2014/main" id="{12C6F346-BF32-1098-7FA8-404964AD1B84}"/>
              </a:ext>
            </a:extLst>
          </p:cNvPr>
          <p:cNvPicPr>
            <a:picLocks noChangeAspect="1"/>
          </p:cNvPicPr>
          <p:nvPr/>
        </p:nvPicPr>
        <p:blipFill>
          <a:blip r:embed="rId13" cstate="print">
            <a:extLst>
              <a:ext uri="{28A0092B-C50C-407E-A947-70E740481C1C}">
                <a14:useLocalDpi xmlns:a14="http://schemas.microsoft.com/office/drawing/2010/main" val="0"/>
              </a:ext>
            </a:extLst>
          </a:blip>
          <a:srcRect l="34064" t="48548" r="8679" b="13268"/>
          <a:stretch/>
        </p:blipFill>
        <p:spPr>
          <a:xfrm>
            <a:off x="7019086" y="5218125"/>
            <a:ext cx="1136898" cy="425290"/>
          </a:xfrm>
          <a:prstGeom prst="rect">
            <a:avLst/>
          </a:prstGeom>
        </p:spPr>
      </p:pic>
      <p:sp>
        <p:nvSpPr>
          <p:cNvPr id="94" name="文本框 93">
            <a:extLst>
              <a:ext uri="{FF2B5EF4-FFF2-40B4-BE49-F238E27FC236}">
                <a16:creationId xmlns:a16="http://schemas.microsoft.com/office/drawing/2014/main" id="{C40832D3-6819-A1FD-019B-87031ADA38BB}"/>
              </a:ext>
            </a:extLst>
          </p:cNvPr>
          <p:cNvSpPr txBox="1"/>
          <p:nvPr/>
        </p:nvSpPr>
        <p:spPr>
          <a:xfrm>
            <a:off x="1697097" y="3565386"/>
            <a:ext cx="8070448" cy="307777"/>
          </a:xfrm>
          <a:prstGeom prst="rect">
            <a:avLst/>
          </a:prstGeom>
          <a:noFill/>
        </p:spPr>
        <p:txBody>
          <a:bodyPr wrap="square">
            <a:spAutoFit/>
          </a:bodyPr>
          <a:lstStyle/>
          <a:p>
            <a:r>
              <a:rPr kumimoji="1" lang="zh-CN" altLang="en-US" sz="1400" i="1" dirty="0">
                <a:solidFill>
                  <a:schemeClr val="tx1">
                    <a:lumMod val="50000"/>
                  </a:schemeClr>
                </a:solidFill>
                <a:cs typeface="+mn-ea"/>
                <a:sym typeface="+mn-lt"/>
              </a:rPr>
              <a:t>整机交付为主</a:t>
            </a:r>
            <a:endParaRPr lang="zh-CN" altLang="en-US" sz="1400" dirty="0">
              <a:cs typeface="+mn-ea"/>
              <a:sym typeface="+mn-lt"/>
            </a:endParaRPr>
          </a:p>
        </p:txBody>
      </p:sp>
      <p:sp>
        <p:nvSpPr>
          <p:cNvPr id="95" name="文本框 94">
            <a:extLst>
              <a:ext uri="{FF2B5EF4-FFF2-40B4-BE49-F238E27FC236}">
                <a16:creationId xmlns:a16="http://schemas.microsoft.com/office/drawing/2014/main" id="{2EA31D44-0FF8-EB58-409E-4D1BB627BFF2}"/>
              </a:ext>
            </a:extLst>
          </p:cNvPr>
          <p:cNvSpPr txBox="1"/>
          <p:nvPr/>
        </p:nvSpPr>
        <p:spPr>
          <a:xfrm>
            <a:off x="6366750" y="3577403"/>
            <a:ext cx="8070448" cy="307777"/>
          </a:xfrm>
          <a:prstGeom prst="rect">
            <a:avLst/>
          </a:prstGeom>
          <a:noFill/>
        </p:spPr>
        <p:txBody>
          <a:bodyPr wrap="square">
            <a:spAutoFit/>
          </a:bodyPr>
          <a:lstStyle/>
          <a:p>
            <a:r>
              <a:rPr kumimoji="1" lang="zh-CN" altLang="en-US" sz="1400" i="1" dirty="0">
                <a:solidFill>
                  <a:schemeClr val="tx1">
                    <a:lumMod val="50000"/>
                  </a:schemeClr>
                </a:solidFill>
                <a:cs typeface="+mn-ea"/>
                <a:sym typeface="+mn-lt"/>
              </a:rPr>
              <a:t>交换机核心组件为主</a:t>
            </a:r>
          </a:p>
        </p:txBody>
      </p:sp>
      <p:pic>
        <p:nvPicPr>
          <p:cNvPr id="98" name="图片 97" descr="图示&#10;&#10;AI 生成的内容可能不正确。">
            <a:extLst>
              <a:ext uri="{FF2B5EF4-FFF2-40B4-BE49-F238E27FC236}">
                <a16:creationId xmlns:a16="http://schemas.microsoft.com/office/drawing/2014/main" id="{6B483AC3-A4C4-F3FB-36BF-CA0763D30E4E}"/>
              </a:ext>
            </a:extLst>
          </p:cNvPr>
          <p:cNvPicPr>
            <a:picLocks noChangeAspect="1"/>
          </p:cNvPicPr>
          <p:nvPr/>
        </p:nvPicPr>
        <p:blipFill>
          <a:blip r:embed="rId14" cstate="print">
            <a:extLst>
              <a:ext uri="{28A0092B-C50C-407E-A947-70E740481C1C}">
                <a14:useLocalDpi xmlns:a14="http://schemas.microsoft.com/office/drawing/2010/main" val="0"/>
              </a:ext>
            </a:extLst>
          </a:blip>
          <a:srcRect l="77383" t="7282" r="5341" b="63652"/>
          <a:stretch/>
        </p:blipFill>
        <p:spPr>
          <a:xfrm>
            <a:off x="7185906" y="4103035"/>
            <a:ext cx="801515" cy="636436"/>
          </a:xfrm>
          <a:prstGeom prst="rect">
            <a:avLst/>
          </a:prstGeom>
        </p:spPr>
      </p:pic>
      <p:sp>
        <p:nvSpPr>
          <p:cNvPr id="99" name="文本框 98">
            <a:extLst>
              <a:ext uri="{FF2B5EF4-FFF2-40B4-BE49-F238E27FC236}">
                <a16:creationId xmlns:a16="http://schemas.microsoft.com/office/drawing/2014/main" id="{48751070-806F-BD3A-9A65-E465675B12CD}"/>
              </a:ext>
            </a:extLst>
          </p:cNvPr>
          <p:cNvSpPr txBox="1"/>
          <p:nvPr/>
        </p:nvSpPr>
        <p:spPr>
          <a:xfrm>
            <a:off x="8329100" y="4133120"/>
            <a:ext cx="1584495" cy="600164"/>
          </a:xfrm>
          <a:prstGeom prst="rect">
            <a:avLst/>
          </a:prstGeom>
          <a:noFill/>
        </p:spPr>
        <p:txBody>
          <a:bodyPr wrap="square">
            <a:spAutoFit/>
          </a:bodyPr>
          <a:lstStyle/>
          <a:p>
            <a:pPr>
              <a:spcBef>
                <a:spcPts val="300"/>
              </a:spcBef>
              <a:spcAft>
                <a:spcPts val="300"/>
              </a:spcAft>
            </a:pPr>
            <a:r>
              <a:rPr kumimoji="1" lang="en-US" altLang="zh-CN" sz="1400" dirty="0">
                <a:solidFill>
                  <a:schemeClr val="bg2"/>
                </a:solidFill>
                <a:highlight>
                  <a:srgbClr val="0052D9"/>
                </a:highlight>
                <a:cs typeface="+mn-ea"/>
                <a:sym typeface="+mn-lt"/>
              </a:rPr>
              <a:t>Tomahawk 6 </a:t>
            </a:r>
          </a:p>
          <a:p>
            <a:pPr>
              <a:spcBef>
                <a:spcPts val="300"/>
              </a:spcBef>
              <a:spcAft>
                <a:spcPts val="300"/>
              </a:spcAft>
            </a:pPr>
            <a:r>
              <a:rPr kumimoji="1" lang="zh-CN" altLang="en-US" sz="1400" dirty="0">
                <a:solidFill>
                  <a:schemeClr val="tx1">
                    <a:lumMod val="50000"/>
                  </a:schemeClr>
                </a:solidFill>
                <a:cs typeface="+mn-ea"/>
                <a:sym typeface="+mn-lt"/>
              </a:rPr>
              <a:t>以太网</a:t>
            </a:r>
            <a:r>
              <a:rPr kumimoji="1" lang="en-US" altLang="zh-CN" sz="1400" dirty="0">
                <a:solidFill>
                  <a:schemeClr val="tx1">
                    <a:lumMod val="50000"/>
                  </a:schemeClr>
                </a:solidFill>
                <a:cs typeface="+mn-ea"/>
                <a:sym typeface="+mn-lt"/>
              </a:rPr>
              <a:t>CPO</a:t>
            </a:r>
            <a:r>
              <a:rPr kumimoji="1" lang="zh-CN" altLang="en-US" sz="1400" dirty="0">
                <a:solidFill>
                  <a:schemeClr val="tx1">
                    <a:lumMod val="50000"/>
                  </a:schemeClr>
                </a:solidFill>
                <a:cs typeface="+mn-ea"/>
                <a:sym typeface="+mn-lt"/>
              </a:rPr>
              <a:t>芯片</a:t>
            </a:r>
            <a:endParaRPr kumimoji="1" lang="en-US" altLang="zh-CN" sz="1400" dirty="0">
              <a:solidFill>
                <a:schemeClr val="tx1">
                  <a:lumMod val="50000"/>
                </a:schemeClr>
              </a:solidFill>
              <a:cs typeface="+mn-ea"/>
              <a:sym typeface="+mn-lt"/>
            </a:endParaRPr>
          </a:p>
        </p:txBody>
      </p:sp>
      <p:sp>
        <p:nvSpPr>
          <p:cNvPr id="100" name="文本框 99">
            <a:extLst>
              <a:ext uri="{FF2B5EF4-FFF2-40B4-BE49-F238E27FC236}">
                <a16:creationId xmlns:a16="http://schemas.microsoft.com/office/drawing/2014/main" id="{108EC22A-7453-8CCE-88B3-8D46BB600215}"/>
              </a:ext>
            </a:extLst>
          </p:cNvPr>
          <p:cNvSpPr txBox="1"/>
          <p:nvPr/>
        </p:nvSpPr>
        <p:spPr>
          <a:xfrm>
            <a:off x="9683755" y="4257281"/>
            <a:ext cx="1410665" cy="307777"/>
          </a:xfrm>
          <a:prstGeom prst="rect">
            <a:avLst/>
          </a:prstGeom>
          <a:noFill/>
        </p:spPr>
        <p:txBody>
          <a:bodyPr wrap="square">
            <a:spAutoFit/>
          </a:bodyPr>
          <a:lstStyle/>
          <a:p>
            <a:pPr algn="ctr">
              <a:spcBef>
                <a:spcPts val="300"/>
              </a:spcBef>
              <a:spcAft>
                <a:spcPts val="300"/>
              </a:spcAft>
            </a:pPr>
            <a:r>
              <a:rPr kumimoji="1" lang="en-US" altLang="zh-CN" sz="1400" i="1" dirty="0">
                <a:solidFill>
                  <a:schemeClr val="accent6">
                    <a:lumMod val="10000"/>
                  </a:schemeClr>
                </a:solidFill>
                <a:cs typeface="+mn-ea"/>
                <a:sym typeface="+mn-lt"/>
              </a:rPr>
              <a:t>25.06</a:t>
            </a:r>
            <a:r>
              <a:rPr kumimoji="1" lang="zh-CN" altLang="en-US" sz="1400" i="1" dirty="0">
                <a:solidFill>
                  <a:schemeClr val="accent6">
                    <a:lumMod val="10000"/>
                  </a:schemeClr>
                </a:solidFill>
                <a:cs typeface="+mn-ea"/>
                <a:sym typeface="+mn-lt"/>
              </a:rPr>
              <a:t>交付</a:t>
            </a:r>
            <a:endParaRPr kumimoji="1" lang="en-US" altLang="zh-CN" sz="1400" i="1" dirty="0">
              <a:solidFill>
                <a:schemeClr val="accent6">
                  <a:lumMod val="10000"/>
                </a:schemeClr>
              </a:solidFill>
              <a:cs typeface="+mn-ea"/>
              <a:sym typeface="+mn-lt"/>
            </a:endParaRPr>
          </a:p>
        </p:txBody>
      </p:sp>
      <p:sp>
        <p:nvSpPr>
          <p:cNvPr id="109" name="文本框 108">
            <a:extLst>
              <a:ext uri="{FF2B5EF4-FFF2-40B4-BE49-F238E27FC236}">
                <a16:creationId xmlns:a16="http://schemas.microsoft.com/office/drawing/2014/main" id="{3F5B50A7-8BDA-4E90-DAE8-3BB88D0D34B0}"/>
              </a:ext>
            </a:extLst>
          </p:cNvPr>
          <p:cNvSpPr txBox="1"/>
          <p:nvPr/>
        </p:nvSpPr>
        <p:spPr>
          <a:xfrm>
            <a:off x="403220" y="6444539"/>
            <a:ext cx="6536586"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200" i="1" dirty="0">
                <a:solidFill>
                  <a:schemeClr val="tx1">
                    <a:lumMod val="50000"/>
                  </a:schemeClr>
                </a:solidFill>
                <a:cs typeface="+mn-ea"/>
                <a:sym typeface="+mn-lt"/>
              </a:rPr>
              <a:t>Source:</a:t>
            </a:r>
            <a:r>
              <a:rPr kumimoji="1" lang="zh-CN" altLang="en-US" sz="1200" i="1" dirty="0">
                <a:solidFill>
                  <a:schemeClr val="tx1">
                    <a:lumMod val="50000"/>
                  </a:schemeClr>
                </a:solidFill>
                <a:cs typeface="+mn-ea"/>
                <a:sym typeface="+mn-lt"/>
              </a:rPr>
              <a:t> </a:t>
            </a:r>
            <a:r>
              <a:rPr kumimoji="1" lang="en-US" altLang="zh-CN" sz="1200" i="1" dirty="0">
                <a:solidFill>
                  <a:schemeClr val="tx1">
                    <a:lumMod val="50000"/>
                  </a:schemeClr>
                </a:solidFill>
                <a:cs typeface="+mn-ea"/>
                <a:sym typeface="+mn-lt"/>
              </a:rPr>
              <a:t>Nvidia</a:t>
            </a:r>
            <a:r>
              <a:rPr kumimoji="1" lang="zh-CN" altLang="en-US" sz="1200" i="1" dirty="0">
                <a:solidFill>
                  <a:schemeClr val="tx1">
                    <a:lumMod val="50000"/>
                  </a:schemeClr>
                </a:solidFill>
                <a:cs typeface="+mn-ea"/>
                <a:sym typeface="+mn-lt"/>
              </a:rPr>
              <a:t>、</a:t>
            </a:r>
            <a:r>
              <a:rPr kumimoji="1" lang="en-US" altLang="zh-CN" sz="1200" dirty="0">
                <a:solidFill>
                  <a:schemeClr val="tx1">
                    <a:lumMod val="50000"/>
                  </a:schemeClr>
                </a:solidFill>
                <a:cs typeface="+mn-ea"/>
                <a:sym typeface="+mn-lt"/>
              </a:rPr>
              <a:t>Broadcom</a:t>
            </a:r>
          </a:p>
        </p:txBody>
      </p:sp>
      <p:sp>
        <p:nvSpPr>
          <p:cNvPr id="114" name="文本框 113">
            <a:extLst>
              <a:ext uri="{FF2B5EF4-FFF2-40B4-BE49-F238E27FC236}">
                <a16:creationId xmlns:a16="http://schemas.microsoft.com/office/drawing/2014/main" id="{577DA440-306B-0311-62FF-B124E91D6FF4}"/>
              </a:ext>
            </a:extLst>
          </p:cNvPr>
          <p:cNvSpPr txBox="1"/>
          <p:nvPr/>
        </p:nvSpPr>
        <p:spPr>
          <a:xfrm>
            <a:off x="4496423" y="5993956"/>
            <a:ext cx="4641366" cy="661720"/>
          </a:xfrm>
          <a:prstGeom prst="rect">
            <a:avLst/>
          </a:prstGeom>
          <a:noFill/>
        </p:spPr>
        <p:txBody>
          <a:bodyPr wrap="square">
            <a:spAutoFit/>
          </a:bodyPr>
          <a:lstStyle/>
          <a:p>
            <a:pPr>
              <a:spcBef>
                <a:spcPts val="300"/>
              </a:spcBef>
              <a:spcAft>
                <a:spcPts val="300"/>
              </a:spcAft>
            </a:pPr>
            <a:r>
              <a:rPr kumimoji="1" lang="en-US" altLang="zh-CN" sz="1600" b="1" dirty="0">
                <a:solidFill>
                  <a:srgbClr val="0052D9"/>
                </a:solidFill>
                <a:cs typeface="+mn-ea"/>
                <a:sym typeface="+mn-lt"/>
              </a:rPr>
              <a:t>25-26</a:t>
            </a:r>
            <a:r>
              <a:rPr kumimoji="1" lang="zh-CN" altLang="en-US" sz="1600" b="1" dirty="0">
                <a:solidFill>
                  <a:srgbClr val="0052D9"/>
                </a:solidFill>
                <a:cs typeface="+mn-ea"/>
                <a:sym typeface="+mn-lt"/>
              </a:rPr>
              <a:t>年</a:t>
            </a:r>
            <a:r>
              <a:rPr kumimoji="1" lang="en-US" altLang="zh-CN" sz="1600" b="1" dirty="0">
                <a:solidFill>
                  <a:srgbClr val="0052D9"/>
                </a:solidFill>
                <a:cs typeface="+mn-ea"/>
                <a:sym typeface="+mn-lt"/>
              </a:rPr>
              <a:t>CPO</a:t>
            </a:r>
            <a:r>
              <a:rPr kumimoji="1" lang="zh-CN" altLang="en-US" sz="1600" b="1" dirty="0">
                <a:solidFill>
                  <a:srgbClr val="0052D9"/>
                </a:solidFill>
                <a:cs typeface="+mn-ea"/>
                <a:sym typeface="+mn-lt"/>
              </a:rPr>
              <a:t>密集落地于</a:t>
            </a:r>
            <a:r>
              <a:rPr kumimoji="1" lang="en-US" altLang="zh-CN" sz="1600" b="1" dirty="0">
                <a:solidFill>
                  <a:srgbClr val="0052D9"/>
                </a:solidFill>
                <a:cs typeface="+mn-ea"/>
                <a:sym typeface="+mn-lt"/>
              </a:rPr>
              <a:t>Scale Out</a:t>
            </a:r>
          </a:p>
          <a:p>
            <a:pPr>
              <a:spcBef>
                <a:spcPts val="300"/>
              </a:spcBef>
              <a:spcAft>
                <a:spcPts val="300"/>
              </a:spcAft>
            </a:pPr>
            <a:r>
              <a:rPr kumimoji="1" lang="en-US" altLang="zh-CN" sz="1600" b="1" dirty="0">
                <a:solidFill>
                  <a:srgbClr val="0052D9"/>
                </a:solidFill>
                <a:cs typeface="+mn-ea"/>
                <a:sym typeface="+mn-lt"/>
              </a:rPr>
              <a:t>28-29</a:t>
            </a:r>
            <a:r>
              <a:rPr kumimoji="1" lang="zh-CN" altLang="en-US" sz="1600" b="1" dirty="0">
                <a:solidFill>
                  <a:srgbClr val="0052D9"/>
                </a:solidFill>
                <a:cs typeface="+mn-ea"/>
                <a:sym typeface="+mn-lt"/>
              </a:rPr>
              <a:t>年密集落地于</a:t>
            </a:r>
            <a:r>
              <a:rPr kumimoji="1" lang="en-US" altLang="zh-CN" sz="1600" b="1" dirty="0">
                <a:solidFill>
                  <a:srgbClr val="0052D9"/>
                </a:solidFill>
                <a:cs typeface="+mn-ea"/>
                <a:sym typeface="+mn-lt"/>
              </a:rPr>
              <a:t>Scale Up</a:t>
            </a:r>
            <a:r>
              <a:rPr kumimoji="1" lang="zh-CN" altLang="en-US" sz="1600" b="1" dirty="0">
                <a:solidFill>
                  <a:srgbClr val="0052D9"/>
                </a:solidFill>
                <a:cs typeface="+mn-ea"/>
                <a:sym typeface="+mn-lt"/>
              </a:rPr>
              <a:t>（博通预测）</a:t>
            </a:r>
            <a:endParaRPr kumimoji="1" lang="en-US" altLang="zh-CN" sz="1600" b="1" dirty="0">
              <a:solidFill>
                <a:srgbClr val="0052D9"/>
              </a:solidFill>
              <a:cs typeface="+mn-ea"/>
              <a:sym typeface="+mn-lt"/>
            </a:endParaRPr>
          </a:p>
        </p:txBody>
      </p:sp>
      <p:sp>
        <p:nvSpPr>
          <p:cNvPr id="3" name="文本框 2">
            <a:extLst>
              <a:ext uri="{FF2B5EF4-FFF2-40B4-BE49-F238E27FC236}">
                <a16:creationId xmlns:a16="http://schemas.microsoft.com/office/drawing/2014/main" id="{80D90454-D509-3AB6-28A1-08C458F79969}"/>
              </a:ext>
            </a:extLst>
          </p:cNvPr>
          <p:cNvSpPr txBox="1"/>
          <p:nvPr/>
        </p:nvSpPr>
        <p:spPr>
          <a:xfrm>
            <a:off x="1780516" y="1926564"/>
            <a:ext cx="4154305" cy="792406"/>
          </a:xfrm>
          <a:prstGeom prst="rect">
            <a:avLst/>
          </a:prstGeom>
          <a:ln w="6350">
            <a:noFill/>
            <a:miter lim="800000"/>
          </a:ln>
        </p:spPr>
        <p:txBody>
          <a:bodyPr vert="horz" wrap="square" lIns="0" tIns="0" rIns="0" bIns="0" rtlCol="0">
            <a:noAutofit/>
          </a:bodyPr>
          <a:lstStyle/>
          <a:p>
            <a:pPr marL="182563" indent="-182563">
              <a:spcBef>
                <a:spcPts val="300"/>
              </a:spcBef>
              <a:spcAft>
                <a:spcPts val="300"/>
              </a:spcAft>
              <a:buFont typeface="Arial" panose="020B0604020202020204" pitchFamily="34" charset="0"/>
              <a:buChar char="•"/>
            </a:pPr>
            <a:r>
              <a:rPr lang="en-US" altLang="zh-CN" sz="1400" dirty="0">
                <a:solidFill>
                  <a:schemeClr val="tx1">
                    <a:lumMod val="50000"/>
                  </a:schemeClr>
                </a:solidFill>
                <a:cs typeface="+mn-ea"/>
                <a:sym typeface="+mn-lt"/>
              </a:rPr>
              <a:t>GTC 2024</a:t>
            </a:r>
            <a:r>
              <a:rPr lang="zh-CN" altLang="en-US" sz="1400" dirty="0">
                <a:solidFill>
                  <a:schemeClr val="tx1">
                    <a:lumMod val="50000"/>
                  </a:schemeClr>
                </a:solidFill>
                <a:cs typeface="+mn-ea"/>
                <a:sym typeface="+mn-lt"/>
              </a:rPr>
              <a:t>：“</a:t>
            </a:r>
            <a:r>
              <a:rPr kumimoji="1" lang="zh-CN" altLang="zh-CN" sz="1400" dirty="0">
                <a:solidFill>
                  <a:schemeClr val="tx1">
                    <a:lumMod val="50000"/>
                  </a:schemeClr>
                </a:solidFill>
                <a:cs typeface="+mn-ea"/>
                <a:sym typeface="+mn-lt"/>
              </a:rPr>
              <a:t>NVL72使用铜缆互连较光模块大幅节省了成本，铜缆高速连接的成本仅为光模块的20%</a:t>
            </a:r>
            <a:r>
              <a:rPr lang="zh-CN" altLang="en-US" sz="1400" dirty="0">
                <a:solidFill>
                  <a:schemeClr val="tx1">
                    <a:lumMod val="50000"/>
                  </a:schemeClr>
                </a:solidFill>
                <a:cs typeface="+mn-ea"/>
                <a:sym typeface="+mn-lt"/>
              </a:rPr>
              <a:t>”</a:t>
            </a:r>
            <a:endParaRPr kumimoji="1" lang="en-US" altLang="zh-CN" sz="1400" dirty="0">
              <a:solidFill>
                <a:schemeClr val="tx1">
                  <a:lumMod val="50000"/>
                </a:schemeClr>
              </a:solidFill>
              <a:cs typeface="+mn-ea"/>
              <a:sym typeface="+mn-lt"/>
            </a:endParaRPr>
          </a:p>
        </p:txBody>
      </p:sp>
      <p:sp>
        <p:nvSpPr>
          <p:cNvPr id="7" name="文本框 6">
            <a:extLst>
              <a:ext uri="{FF2B5EF4-FFF2-40B4-BE49-F238E27FC236}">
                <a16:creationId xmlns:a16="http://schemas.microsoft.com/office/drawing/2014/main" id="{650D049F-E443-4832-BF91-404554461A8A}"/>
              </a:ext>
            </a:extLst>
          </p:cNvPr>
          <p:cNvSpPr txBox="1"/>
          <p:nvPr/>
        </p:nvSpPr>
        <p:spPr>
          <a:xfrm>
            <a:off x="6593684" y="1942736"/>
            <a:ext cx="4926088" cy="792406"/>
          </a:xfrm>
          <a:prstGeom prst="rect">
            <a:avLst/>
          </a:prstGeom>
          <a:ln w="6350">
            <a:noFill/>
            <a:miter lim="800000"/>
          </a:ln>
        </p:spPr>
        <p:txBody>
          <a:bodyPr vert="horz" wrap="square" lIns="0" tIns="0" rIns="0" bIns="0" rtlCol="0">
            <a:noAutofit/>
          </a:bodyPr>
          <a:lstStyle/>
          <a:p>
            <a:r>
              <a:rPr kumimoji="1" lang="zh-CN" altLang="en-US" sz="1400" dirty="0">
                <a:solidFill>
                  <a:schemeClr val="tx1">
                    <a:lumMod val="50000"/>
                  </a:schemeClr>
                </a:solidFill>
                <a:cs typeface="+mn-ea"/>
                <a:sym typeface="+mn-lt"/>
              </a:rPr>
              <a:t>“</a:t>
            </a:r>
            <a:r>
              <a:rPr kumimoji="1" lang="en-US" altLang="zh-CN" sz="1400" dirty="0">
                <a:solidFill>
                  <a:schemeClr val="tx1">
                    <a:lumMod val="50000"/>
                  </a:schemeClr>
                </a:solidFill>
                <a:cs typeface="+mn-ea"/>
                <a:sym typeface="+mn-lt"/>
              </a:rPr>
              <a:t>CPO </a:t>
            </a:r>
            <a:r>
              <a:rPr kumimoji="1" lang="zh-CN" altLang="en-US" sz="1400" dirty="0">
                <a:solidFill>
                  <a:schemeClr val="tx1">
                    <a:lumMod val="50000"/>
                  </a:schemeClr>
                </a:solidFill>
                <a:cs typeface="+mn-ea"/>
                <a:sym typeface="+mn-lt"/>
              </a:rPr>
              <a:t>是应对 </a:t>
            </a:r>
            <a:r>
              <a:rPr kumimoji="1" lang="en-US" altLang="zh-CN" sz="1400" dirty="0">
                <a:solidFill>
                  <a:schemeClr val="tx1">
                    <a:lumMod val="50000"/>
                  </a:schemeClr>
                </a:solidFill>
                <a:cs typeface="+mn-ea"/>
                <a:sym typeface="+mn-lt"/>
              </a:rPr>
              <a:t>AI </a:t>
            </a:r>
            <a:r>
              <a:rPr kumimoji="1" lang="zh-CN" altLang="en-US" sz="1400" dirty="0">
                <a:solidFill>
                  <a:schemeClr val="tx1">
                    <a:lumMod val="50000"/>
                  </a:schemeClr>
                </a:solidFill>
                <a:cs typeface="+mn-ea"/>
                <a:sym typeface="+mn-lt"/>
              </a:rPr>
              <a:t>集群带宽需求的关键技术，其集成化设计可显著提升系统能效”     </a:t>
            </a:r>
            <a:r>
              <a:rPr lang="en-US" altLang="zh-CN" sz="1400" dirty="0">
                <a:solidFill>
                  <a:schemeClr val="tx1">
                    <a:lumMod val="50000"/>
                  </a:schemeClr>
                </a:solidFill>
                <a:cs typeface="+mn-ea"/>
                <a:sym typeface="+mn-lt"/>
              </a:rPr>
              <a:t>—</a:t>
            </a:r>
            <a:r>
              <a:rPr lang="en-US" altLang="zh-CN" sz="1400" dirty="0">
                <a:cs typeface="+mn-ea"/>
                <a:sym typeface="+mn-lt"/>
              </a:rPr>
              <a:t>Hock Tan</a:t>
            </a:r>
            <a:r>
              <a:rPr lang="zh-CN" altLang="en-US" sz="1400" dirty="0">
                <a:solidFill>
                  <a:schemeClr val="tx1">
                    <a:lumMod val="50000"/>
                  </a:schemeClr>
                </a:solidFill>
                <a:cs typeface="+mn-ea"/>
                <a:sym typeface="+mn-lt"/>
              </a:rPr>
              <a:t>，</a:t>
            </a:r>
            <a:r>
              <a:rPr lang="en-US" altLang="zh-CN" sz="1400" dirty="0">
                <a:solidFill>
                  <a:schemeClr val="tx1">
                    <a:lumMod val="50000"/>
                  </a:schemeClr>
                </a:solidFill>
                <a:cs typeface="+mn-ea"/>
                <a:sym typeface="+mn-lt"/>
              </a:rPr>
              <a:t>25Q2 Conference Call</a:t>
            </a:r>
          </a:p>
        </p:txBody>
      </p:sp>
    </p:spTree>
    <p:extLst>
      <p:ext uri="{BB962C8B-B14F-4D97-AF65-F5344CB8AC3E}">
        <p14:creationId xmlns:p14="http://schemas.microsoft.com/office/powerpoint/2010/main" val="489451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CF0E5-D6CE-D071-AAB5-F3DE0CE66F7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018FFAE-5A4A-E52C-2BCF-98BD75C6F946}"/>
              </a:ext>
            </a:extLst>
          </p:cNvPr>
          <p:cNvGraphicFramePr>
            <a:graphicFrameLocks noChangeAspect="1"/>
          </p:cNvGraphicFramePr>
          <p:nvPr>
            <p:custDataLst>
              <p:tags r:id="rId1"/>
            </p:custDataLst>
            <p:extLst>
              <p:ext uri="{D42A27DB-BD31-4B8C-83A1-F6EECF244321}">
                <p14:modId xmlns:p14="http://schemas.microsoft.com/office/powerpoint/2010/main" val="34675269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0" imgW="404" imgH="405" progId="TCLayout.ActiveDocument.1">
                  <p:embed/>
                </p:oleObj>
              </mc:Choice>
              <mc:Fallback>
                <p:oleObj name="think-cell 幻灯片" r:id="rId40" imgW="404" imgH="405" progId="TCLayout.ActiveDocument.1">
                  <p:embed/>
                  <p:pic>
                    <p:nvPicPr>
                      <p:cNvPr id="5" name="think-cell data - do not delete" hidden="1">
                        <a:extLst>
                          <a:ext uri="{FF2B5EF4-FFF2-40B4-BE49-F238E27FC236}">
                            <a16:creationId xmlns:a16="http://schemas.microsoft.com/office/drawing/2014/main" id="{2355E215-8BAB-2E41-0118-7D65F37E2953}"/>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3640" name="文本框 3639">
            <a:extLst>
              <a:ext uri="{FF2B5EF4-FFF2-40B4-BE49-F238E27FC236}">
                <a16:creationId xmlns:a16="http://schemas.microsoft.com/office/drawing/2014/main" id="{EDE98CB0-944C-D5FD-B486-A1C62BB06C30}"/>
              </a:ext>
            </a:extLst>
          </p:cNvPr>
          <p:cNvSpPr txBox="1"/>
          <p:nvPr/>
        </p:nvSpPr>
        <p:spPr>
          <a:xfrm>
            <a:off x="6455167" y="1440908"/>
            <a:ext cx="5196700" cy="328613"/>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en-US" altLang="zh-CN" dirty="0">
                <a:solidFill>
                  <a:schemeClr val="tx1">
                    <a:lumMod val="50000"/>
                  </a:schemeClr>
                </a:solidFill>
                <a:cs typeface="+mn-ea"/>
                <a:sym typeface="+mn-lt"/>
              </a:rPr>
              <a:t>CM384</a:t>
            </a:r>
            <a:r>
              <a:rPr kumimoji="1" lang="zh-CN" altLang="en-US" dirty="0">
                <a:solidFill>
                  <a:schemeClr val="tx1">
                    <a:lumMod val="50000"/>
                  </a:schemeClr>
                </a:solidFill>
                <a:cs typeface="+mn-ea"/>
                <a:sym typeface="+mn-lt"/>
              </a:rPr>
              <a:t>长机柜必须采用光互连，需</a:t>
            </a:r>
            <a:r>
              <a:rPr kumimoji="1" lang="en-US" altLang="zh-CN" dirty="0">
                <a:solidFill>
                  <a:schemeClr val="tx1">
                    <a:lumMod val="50000"/>
                  </a:schemeClr>
                </a:solidFill>
                <a:cs typeface="+mn-ea"/>
                <a:sym typeface="+mn-lt"/>
              </a:rPr>
              <a:t>6912</a:t>
            </a:r>
            <a:r>
              <a:rPr kumimoji="1" lang="zh-CN" altLang="en-US" dirty="0">
                <a:solidFill>
                  <a:schemeClr val="tx1">
                    <a:lumMod val="50000"/>
                  </a:schemeClr>
                </a:solidFill>
                <a:cs typeface="+mn-ea"/>
                <a:sym typeface="+mn-lt"/>
              </a:rPr>
              <a:t>个光模块，其中</a:t>
            </a:r>
            <a:r>
              <a:rPr kumimoji="1" lang="en-US" altLang="zh-CN" dirty="0">
                <a:solidFill>
                  <a:schemeClr val="tx1">
                    <a:lumMod val="50000"/>
                  </a:schemeClr>
                </a:solidFill>
                <a:cs typeface="+mn-ea"/>
                <a:sym typeface="+mn-lt"/>
              </a:rPr>
              <a:t>Scale Up</a:t>
            </a:r>
            <a:r>
              <a:rPr kumimoji="1" lang="zh-CN" altLang="en-US" dirty="0">
                <a:solidFill>
                  <a:schemeClr val="tx1">
                    <a:lumMod val="50000"/>
                  </a:schemeClr>
                </a:solidFill>
                <a:cs typeface="+mn-ea"/>
                <a:sym typeface="+mn-lt"/>
              </a:rPr>
              <a:t>占</a:t>
            </a:r>
            <a:r>
              <a:rPr kumimoji="1" lang="en-US" altLang="zh-CN" b="1" dirty="0">
                <a:solidFill>
                  <a:srgbClr val="0052D9"/>
                </a:solidFill>
                <a:cs typeface="+mn-ea"/>
                <a:sym typeface="+mn-lt"/>
              </a:rPr>
              <a:t>70+%</a:t>
            </a:r>
          </a:p>
          <a:p>
            <a:pPr marL="285750" indent="-285750">
              <a:spcBef>
                <a:spcPts val="600"/>
              </a:spcBef>
              <a:spcAft>
                <a:spcPts val="600"/>
              </a:spcAft>
              <a:buFont typeface="Arial" panose="020B0604020202020204" pitchFamily="34" charset="0"/>
              <a:buChar char="•"/>
            </a:pPr>
            <a:endParaRPr kumimoji="1" lang="en-US" altLang="zh-CN" dirty="0">
              <a:solidFill>
                <a:schemeClr val="tx1">
                  <a:lumMod val="50000"/>
                </a:schemeClr>
              </a:solidFill>
              <a:cs typeface="+mn-ea"/>
              <a:sym typeface="+mn-lt"/>
            </a:endParaRPr>
          </a:p>
        </p:txBody>
      </p:sp>
      <p:sp>
        <p:nvSpPr>
          <p:cNvPr id="2" name="标题 1">
            <a:extLst>
              <a:ext uri="{FF2B5EF4-FFF2-40B4-BE49-F238E27FC236}">
                <a16:creationId xmlns:a16="http://schemas.microsoft.com/office/drawing/2014/main" id="{2B53ED52-958D-42EB-5D68-EE7AA6A2BE5B}"/>
              </a:ext>
            </a:extLst>
          </p:cNvPr>
          <p:cNvSpPr>
            <a:spLocks noGrp="1"/>
          </p:cNvSpPr>
          <p:nvPr>
            <p:ph type="title"/>
          </p:nvPr>
        </p:nvSpPr>
        <p:spPr>
          <a:xfrm>
            <a:off x="245110" y="156742"/>
            <a:ext cx="10433050" cy="731520"/>
          </a:xfrm>
        </p:spPr>
        <p:txBody>
          <a:bodyPr vert="horz"/>
          <a:lstStyle/>
          <a:p>
            <a:r>
              <a:rPr lang="zh-CN" altLang="en-US" dirty="0">
                <a:latin typeface="+mn-lt"/>
                <a:ea typeface="+mn-ea"/>
                <a:cs typeface="+mn-ea"/>
                <a:sym typeface="+mn-lt"/>
              </a:rPr>
              <a:t>国内厂商依赖</a:t>
            </a:r>
            <a:r>
              <a:rPr lang="en-US" altLang="zh-CN" dirty="0">
                <a:latin typeface="+mn-lt"/>
                <a:ea typeface="+mn-ea"/>
                <a:cs typeface="+mn-ea"/>
                <a:sym typeface="+mn-lt"/>
              </a:rPr>
              <a:t>Scale Up</a:t>
            </a:r>
            <a:r>
              <a:rPr lang="zh-CN" altLang="en-US" dirty="0">
                <a:latin typeface="+mn-lt"/>
                <a:ea typeface="+mn-ea"/>
                <a:cs typeface="+mn-ea"/>
                <a:sym typeface="+mn-lt"/>
              </a:rPr>
              <a:t>补足性能差距，需大量光模块，代价是极高的功耗</a:t>
            </a:r>
          </a:p>
        </p:txBody>
      </p:sp>
      <p:grpSp>
        <p:nvGrpSpPr>
          <p:cNvPr id="12" name="组合 11">
            <a:extLst>
              <a:ext uri="{FF2B5EF4-FFF2-40B4-BE49-F238E27FC236}">
                <a16:creationId xmlns:a16="http://schemas.microsoft.com/office/drawing/2014/main" id="{7EAF81DE-2B96-9A87-C8B3-0A915D1472FE}"/>
              </a:ext>
            </a:extLst>
          </p:cNvPr>
          <p:cNvGrpSpPr/>
          <p:nvPr/>
        </p:nvGrpSpPr>
        <p:grpSpPr>
          <a:xfrm>
            <a:off x="504186" y="971862"/>
            <a:ext cx="11708217" cy="503758"/>
            <a:chOff x="504186" y="971862"/>
            <a:chExt cx="11708217" cy="503758"/>
          </a:xfrm>
        </p:grpSpPr>
        <p:sp>
          <p:nvSpPr>
            <p:cNvPr id="13" name="文本框 12">
              <a:extLst>
                <a:ext uri="{FF2B5EF4-FFF2-40B4-BE49-F238E27FC236}">
                  <a16:creationId xmlns:a16="http://schemas.microsoft.com/office/drawing/2014/main" id="{A5FB85F7-D6D5-1AF1-FBE3-D14ECCE5A4A5}"/>
                </a:ext>
              </a:extLst>
            </p:cNvPr>
            <p:cNvSpPr txBox="1"/>
            <p:nvPr/>
          </p:nvSpPr>
          <p:spPr>
            <a:xfrm>
              <a:off x="6326494" y="976464"/>
              <a:ext cx="5885909" cy="30162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b="1" dirty="0">
                  <a:solidFill>
                    <a:schemeClr val="tx1">
                      <a:lumMod val="50000"/>
                    </a:schemeClr>
                  </a:solidFill>
                  <a:cs typeface="+mn-ea"/>
                  <a:sym typeface="+mn-lt"/>
                </a:rPr>
                <a:t>CM384</a:t>
              </a:r>
              <a:r>
                <a:rPr kumimoji="1" lang="zh-CN" altLang="en-US" b="1" dirty="0">
                  <a:solidFill>
                    <a:schemeClr val="tx1">
                      <a:lumMod val="50000"/>
                    </a:schemeClr>
                  </a:solidFill>
                  <a:cs typeface="+mn-ea"/>
                  <a:sym typeface="+mn-lt"/>
                </a:rPr>
                <a:t> </a:t>
              </a:r>
              <a:r>
                <a:rPr kumimoji="1" lang="en-US" altLang="zh-CN" b="1" dirty="0">
                  <a:solidFill>
                    <a:schemeClr val="tx1">
                      <a:lumMod val="50000"/>
                    </a:schemeClr>
                  </a:solidFill>
                  <a:cs typeface="+mn-ea"/>
                  <a:sym typeface="+mn-lt"/>
                </a:rPr>
                <a:t>Scale Up</a:t>
              </a:r>
              <a:r>
                <a:rPr kumimoji="1" lang="zh-CN" altLang="en-US" b="1" dirty="0">
                  <a:solidFill>
                    <a:schemeClr val="tx1">
                      <a:lumMod val="50000"/>
                    </a:schemeClr>
                  </a:solidFill>
                  <a:cs typeface="+mn-ea"/>
                  <a:sym typeface="+mn-lt"/>
                </a:rPr>
                <a:t>需大量光模块，带来大量额外功耗</a:t>
              </a:r>
              <a:endParaRPr kumimoji="1" lang="zh-CN" altLang="en-US" b="1" dirty="0">
                <a:solidFill>
                  <a:schemeClr val="accent6">
                    <a:lumMod val="10000"/>
                  </a:schemeClr>
                </a:solidFill>
                <a:cs typeface="+mn-ea"/>
                <a:sym typeface="+mn-lt"/>
              </a:endParaRPr>
            </a:p>
          </p:txBody>
        </p:sp>
        <p:sp>
          <p:nvSpPr>
            <p:cNvPr id="14" name="文本框 13">
              <a:extLst>
                <a:ext uri="{FF2B5EF4-FFF2-40B4-BE49-F238E27FC236}">
                  <a16:creationId xmlns:a16="http://schemas.microsoft.com/office/drawing/2014/main" id="{34D7CD37-49C1-38E5-5D87-A6388AD869B5}"/>
                </a:ext>
              </a:extLst>
            </p:cNvPr>
            <p:cNvSpPr txBox="1"/>
            <p:nvPr/>
          </p:nvSpPr>
          <p:spPr>
            <a:xfrm>
              <a:off x="6172421" y="1173995"/>
              <a:ext cx="5130761" cy="301625"/>
            </a:xfrm>
            <a:prstGeom prst="rect">
              <a:avLst/>
            </a:prstGeom>
            <a:ln w="6350">
              <a:noFill/>
              <a:miter lim="800000"/>
            </a:ln>
          </p:spPr>
          <p:txBody>
            <a:bodyPr vert="horz" wrap="square" lIns="0" tIns="0" rIns="0" bIns="0" rtlCol="0">
              <a:noAutofit/>
            </a:bodyPr>
            <a:lstStyle/>
            <a:p>
              <a:pPr marL="285750" indent="-285750" algn="l">
                <a:spcBef>
                  <a:spcPts val="300"/>
                </a:spcBef>
                <a:spcAft>
                  <a:spcPts val="300"/>
                </a:spcAft>
                <a:buFont typeface="Arial" panose="020B0604020202020204" pitchFamily="34" charset="0"/>
                <a:buChar char="•"/>
              </a:pPr>
              <a:endParaRPr kumimoji="1" lang="zh-CN" altLang="en-US" sz="1600" dirty="0">
                <a:solidFill>
                  <a:schemeClr val="tx1">
                    <a:lumMod val="50000"/>
                  </a:schemeClr>
                </a:solidFill>
                <a:cs typeface="+mn-ea"/>
                <a:sym typeface="+mn-lt"/>
              </a:endParaRPr>
            </a:p>
          </p:txBody>
        </p:sp>
        <p:cxnSp>
          <p:nvCxnSpPr>
            <p:cNvPr id="15" name="直线连接符 38">
              <a:extLst>
                <a:ext uri="{FF2B5EF4-FFF2-40B4-BE49-F238E27FC236}">
                  <a16:creationId xmlns:a16="http://schemas.microsoft.com/office/drawing/2014/main" id="{9B1C637C-ADC2-C9D0-990A-9034BD37EB7E}"/>
                </a:ext>
              </a:extLst>
            </p:cNvPr>
            <p:cNvCxnSpPr>
              <a:cxnSpLocks/>
            </p:cNvCxnSpPr>
            <p:nvPr/>
          </p:nvCxnSpPr>
          <p:spPr>
            <a:xfrm>
              <a:off x="6326494" y="1307289"/>
              <a:ext cx="5269570"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9F85EAD6-4428-BE25-DCD7-41CE3B0639F5}"/>
                </a:ext>
              </a:extLst>
            </p:cNvPr>
            <p:cNvSpPr txBox="1"/>
            <p:nvPr/>
          </p:nvSpPr>
          <p:spPr>
            <a:xfrm>
              <a:off x="504186" y="971862"/>
              <a:ext cx="5297174" cy="327025"/>
            </a:xfrm>
            <a:prstGeom prst="rect">
              <a:avLst/>
            </a:prstGeom>
            <a:ln w="6350">
              <a:noFill/>
              <a:miter lim="800000"/>
            </a:ln>
          </p:spPr>
          <p:txBody>
            <a:bodyPr vert="horz" wrap="square" lIns="0" tIns="0" rIns="0" bIns="0" rtlCol="0" anchor="ctr">
              <a:noAutofit/>
            </a:bodyPr>
            <a:lstStyle/>
            <a:p>
              <a:pPr>
                <a:spcBef>
                  <a:spcPts val="600"/>
                </a:spcBef>
                <a:spcAft>
                  <a:spcPts val="600"/>
                </a:spcAft>
              </a:pPr>
              <a:r>
                <a:rPr kumimoji="1" lang="zh-CN" altLang="en-US" b="1" dirty="0">
                  <a:solidFill>
                    <a:schemeClr val="tx1">
                      <a:lumMod val="50000"/>
                    </a:schemeClr>
                  </a:solidFill>
                  <a:cs typeface="+mn-ea"/>
                  <a:sym typeface="+mn-lt"/>
                </a:rPr>
                <a:t>华为 </a:t>
              </a:r>
              <a:r>
                <a:rPr kumimoji="1" lang="en-US" altLang="zh-CN" b="1" dirty="0">
                  <a:solidFill>
                    <a:schemeClr val="tx1">
                      <a:lumMod val="50000"/>
                    </a:schemeClr>
                  </a:solidFill>
                  <a:cs typeface="+mn-ea"/>
                  <a:sym typeface="+mn-lt"/>
                </a:rPr>
                <a:t>vs. </a:t>
              </a:r>
              <a:r>
                <a:rPr kumimoji="1" lang="zh-CN" altLang="en-US" b="1" dirty="0">
                  <a:solidFill>
                    <a:schemeClr val="tx1">
                      <a:lumMod val="50000"/>
                    </a:schemeClr>
                  </a:solidFill>
                  <a:cs typeface="+mn-ea"/>
                  <a:sym typeface="+mn-lt"/>
                </a:rPr>
                <a:t>英伟达：</a:t>
              </a:r>
              <a:r>
                <a:rPr kumimoji="1" lang="en-US" altLang="zh-CN" b="1" dirty="0">
                  <a:solidFill>
                    <a:schemeClr val="tx1">
                      <a:lumMod val="50000"/>
                    </a:schemeClr>
                  </a:solidFill>
                  <a:cs typeface="+mn-ea"/>
                  <a:sym typeface="+mn-lt"/>
                </a:rPr>
                <a:t> CM384</a:t>
              </a:r>
              <a:r>
                <a:rPr kumimoji="1" lang="en-US" altLang="zh-CN" b="1" baseline="30000" dirty="0">
                  <a:solidFill>
                    <a:schemeClr val="tx1">
                      <a:lumMod val="50000"/>
                    </a:schemeClr>
                  </a:solidFill>
                  <a:cs typeface="+mn-ea"/>
                  <a:sym typeface="+mn-lt"/>
                </a:rPr>
                <a:t>1</a:t>
              </a:r>
              <a:r>
                <a:rPr kumimoji="1" lang="zh-CN" altLang="en-US" b="1" dirty="0">
                  <a:solidFill>
                    <a:schemeClr val="tx1">
                      <a:lumMod val="50000"/>
                    </a:schemeClr>
                  </a:solidFill>
                  <a:cs typeface="+mn-ea"/>
                  <a:sym typeface="+mn-lt"/>
                </a:rPr>
                <a:t>集群堆卡弥补单卡弱势</a:t>
              </a:r>
              <a:endParaRPr kumimoji="1" lang="en-US" altLang="zh-CN" dirty="0">
                <a:solidFill>
                  <a:schemeClr val="tx1">
                    <a:lumMod val="50000"/>
                  </a:schemeClr>
                </a:solidFill>
                <a:cs typeface="+mn-ea"/>
                <a:sym typeface="+mn-lt"/>
              </a:endParaRPr>
            </a:p>
          </p:txBody>
        </p:sp>
        <p:cxnSp>
          <p:nvCxnSpPr>
            <p:cNvPr id="17" name="直线连接符 38">
              <a:extLst>
                <a:ext uri="{FF2B5EF4-FFF2-40B4-BE49-F238E27FC236}">
                  <a16:creationId xmlns:a16="http://schemas.microsoft.com/office/drawing/2014/main" id="{7B695BF4-92BF-EB79-6A32-56036DBCE7B2}"/>
                </a:ext>
              </a:extLst>
            </p:cNvPr>
            <p:cNvCxnSpPr>
              <a:cxnSpLocks/>
            </p:cNvCxnSpPr>
            <p:nvPr/>
          </p:nvCxnSpPr>
          <p:spPr>
            <a:xfrm>
              <a:off x="504186" y="1316624"/>
              <a:ext cx="5356341"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3212" name="文本框 3211">
            <a:extLst>
              <a:ext uri="{FF2B5EF4-FFF2-40B4-BE49-F238E27FC236}">
                <a16:creationId xmlns:a16="http://schemas.microsoft.com/office/drawing/2014/main" id="{CBA0DF35-5424-7DB0-8CE3-A8701D7CF9B7}"/>
              </a:ext>
            </a:extLst>
          </p:cNvPr>
          <p:cNvSpPr txBox="1"/>
          <p:nvPr/>
        </p:nvSpPr>
        <p:spPr>
          <a:xfrm>
            <a:off x="225795" y="6287038"/>
            <a:ext cx="6536586" cy="281243"/>
          </a:xfrm>
          <a:prstGeom prst="rect">
            <a:avLst/>
          </a:prstGeom>
          <a:ln w="6350">
            <a:noFill/>
            <a:miter lim="800000"/>
          </a:ln>
        </p:spPr>
        <p:txBody>
          <a:bodyPr vert="horz" wrap="square" lIns="0" tIns="0" rIns="0" bIns="0" rtlCol="0" anchor="ctr">
            <a:noAutofit/>
          </a:bodyPr>
          <a:lstStyle/>
          <a:p>
            <a:pPr>
              <a:spcBef>
                <a:spcPts val="300"/>
              </a:spcBef>
              <a:spcAft>
                <a:spcPts val="300"/>
              </a:spcAft>
            </a:pPr>
            <a:r>
              <a:rPr kumimoji="1" lang="en-US" altLang="zh-CN" sz="1200" i="1" dirty="0">
                <a:solidFill>
                  <a:schemeClr val="tx1">
                    <a:lumMod val="50000"/>
                  </a:schemeClr>
                </a:solidFill>
                <a:cs typeface="+mn-ea"/>
                <a:sym typeface="+mn-lt"/>
              </a:rPr>
              <a:t>Source:</a:t>
            </a:r>
            <a:r>
              <a:rPr kumimoji="1" lang="zh-CN" altLang="en-US" sz="1200" i="1" dirty="0">
                <a:solidFill>
                  <a:schemeClr val="tx1">
                    <a:lumMod val="50000"/>
                  </a:schemeClr>
                </a:solidFill>
                <a:cs typeface="+mn-ea"/>
                <a:sym typeface="+mn-lt"/>
              </a:rPr>
              <a:t> </a:t>
            </a:r>
            <a:r>
              <a:rPr kumimoji="1" lang="en-US" altLang="zh-CN" sz="1200" i="1" dirty="0">
                <a:solidFill>
                  <a:schemeClr val="tx1">
                    <a:lumMod val="50000"/>
                  </a:schemeClr>
                </a:solidFill>
                <a:cs typeface="+mn-ea"/>
                <a:sym typeface="+mn-lt"/>
              </a:rPr>
              <a:t>Nvidia</a:t>
            </a:r>
            <a:r>
              <a:rPr kumimoji="1" lang="zh-CN" altLang="en-US" sz="1200" i="1" dirty="0">
                <a:solidFill>
                  <a:schemeClr val="tx1">
                    <a:lumMod val="50000"/>
                  </a:schemeClr>
                </a:solidFill>
                <a:cs typeface="+mn-ea"/>
                <a:sym typeface="+mn-lt"/>
              </a:rPr>
              <a:t>、华为、</a:t>
            </a:r>
            <a:r>
              <a:rPr kumimoji="1" lang="en-US" altLang="zh-CN" sz="1200" i="1" dirty="0" err="1">
                <a:solidFill>
                  <a:schemeClr val="tx1">
                    <a:lumMod val="50000"/>
                  </a:schemeClr>
                </a:solidFill>
                <a:cs typeface="+mn-ea"/>
                <a:sym typeface="+mn-lt"/>
              </a:rPr>
              <a:t>SemiAnalysis</a:t>
            </a:r>
            <a:endParaRPr kumimoji="1" lang="en-US" altLang="zh-CN" sz="1200" i="1" dirty="0">
              <a:solidFill>
                <a:schemeClr val="tx1">
                  <a:lumMod val="50000"/>
                </a:schemeClr>
              </a:solidFill>
              <a:cs typeface="+mn-ea"/>
              <a:sym typeface="+mn-lt"/>
            </a:endParaRPr>
          </a:p>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CM384</a:t>
            </a:r>
            <a:r>
              <a:rPr kumimoji="1" lang="zh-CN" altLang="en-US" sz="1200" i="1" dirty="0">
                <a:solidFill>
                  <a:schemeClr val="tx1">
                    <a:lumMod val="50000"/>
                  </a:schemeClr>
                </a:solidFill>
                <a:cs typeface="+mn-ea"/>
                <a:sym typeface="+mn-lt"/>
              </a:rPr>
              <a:t>全称</a:t>
            </a:r>
            <a:r>
              <a:rPr kumimoji="1" lang="en-US" altLang="zh-CN" sz="1200" i="1" dirty="0" err="1">
                <a:solidFill>
                  <a:schemeClr val="tx1">
                    <a:lumMod val="50000"/>
                  </a:schemeClr>
                </a:solidFill>
                <a:cs typeface="+mn-ea"/>
                <a:sym typeface="+mn-lt"/>
              </a:rPr>
              <a:t>CloudMatrix</a:t>
            </a:r>
            <a:r>
              <a:rPr kumimoji="1" lang="en-US" altLang="zh-CN" sz="1200" i="1" dirty="0">
                <a:solidFill>
                  <a:schemeClr val="tx1">
                    <a:lumMod val="50000"/>
                  </a:schemeClr>
                </a:solidFill>
                <a:cs typeface="+mn-ea"/>
                <a:sym typeface="+mn-lt"/>
              </a:rPr>
              <a:t> 384</a:t>
            </a:r>
            <a:r>
              <a:rPr kumimoji="1" lang="zh-CN" altLang="en-US" sz="1200" i="1" dirty="0">
                <a:solidFill>
                  <a:schemeClr val="tx1">
                    <a:lumMod val="50000"/>
                  </a:schemeClr>
                </a:solidFill>
                <a:cs typeface="+mn-ea"/>
                <a:sym typeface="+mn-lt"/>
              </a:rPr>
              <a:t>，由</a:t>
            </a:r>
            <a:r>
              <a:rPr kumimoji="1" lang="en-US" altLang="zh-CN" sz="1200" i="1" dirty="0">
                <a:solidFill>
                  <a:schemeClr val="tx1">
                    <a:lumMod val="50000"/>
                  </a:schemeClr>
                </a:solidFill>
                <a:cs typeface="+mn-ea"/>
                <a:sym typeface="+mn-lt"/>
              </a:rPr>
              <a:t>384</a:t>
            </a:r>
            <a:r>
              <a:rPr kumimoji="1" lang="zh-CN" altLang="en-US" sz="1200" i="1" dirty="0">
                <a:solidFill>
                  <a:schemeClr val="tx1">
                    <a:lumMod val="50000"/>
                  </a:schemeClr>
                </a:solidFill>
                <a:cs typeface="+mn-ea"/>
                <a:sym typeface="+mn-lt"/>
              </a:rPr>
              <a:t>张昇腾</a:t>
            </a:r>
            <a:r>
              <a:rPr kumimoji="1" lang="en-US" altLang="zh-CN" sz="1200" i="1" dirty="0">
                <a:solidFill>
                  <a:schemeClr val="tx1">
                    <a:lumMod val="50000"/>
                  </a:schemeClr>
                </a:solidFill>
                <a:cs typeface="+mn-ea"/>
                <a:sym typeface="+mn-lt"/>
              </a:rPr>
              <a:t>910C</a:t>
            </a:r>
            <a:r>
              <a:rPr kumimoji="1" lang="zh-CN" altLang="en-US" sz="1200" i="1" dirty="0">
                <a:solidFill>
                  <a:schemeClr val="tx1">
                    <a:lumMod val="50000"/>
                  </a:schemeClr>
                </a:solidFill>
                <a:cs typeface="+mn-ea"/>
                <a:sym typeface="+mn-lt"/>
              </a:rPr>
              <a:t> </a:t>
            </a:r>
            <a:r>
              <a:rPr kumimoji="1" lang="en-US" altLang="zh-CN" sz="1200" i="1" dirty="0">
                <a:solidFill>
                  <a:schemeClr val="tx1">
                    <a:lumMod val="50000"/>
                  </a:schemeClr>
                </a:solidFill>
                <a:cs typeface="+mn-ea"/>
                <a:sym typeface="+mn-lt"/>
              </a:rPr>
              <a:t>NPU</a:t>
            </a:r>
            <a:r>
              <a:rPr kumimoji="1" lang="zh-CN" altLang="en-US" sz="1200" i="1" dirty="0">
                <a:solidFill>
                  <a:schemeClr val="tx1">
                    <a:lumMod val="50000"/>
                  </a:schemeClr>
                </a:solidFill>
                <a:cs typeface="+mn-ea"/>
                <a:sym typeface="+mn-lt"/>
              </a:rPr>
              <a:t>组成单机柜，对标</a:t>
            </a:r>
            <a:r>
              <a:rPr kumimoji="1" lang="en-US" altLang="zh-CN" sz="1200" i="1" dirty="0">
                <a:solidFill>
                  <a:schemeClr val="tx1">
                    <a:lumMod val="50000"/>
                  </a:schemeClr>
                </a:solidFill>
                <a:cs typeface="+mn-ea"/>
                <a:sym typeface="+mn-lt"/>
              </a:rPr>
              <a:t>GB200 NVL72</a:t>
            </a:r>
            <a:r>
              <a:rPr kumimoji="1" lang="zh-CN" altLang="en-US" sz="1200" i="1" dirty="0">
                <a:solidFill>
                  <a:schemeClr val="tx1">
                    <a:lumMod val="50000"/>
                  </a:schemeClr>
                </a:solidFill>
                <a:cs typeface="+mn-ea"/>
                <a:sym typeface="+mn-lt"/>
              </a:rPr>
              <a:t>机柜</a:t>
            </a:r>
            <a:endParaRPr kumimoji="1" lang="en-US" altLang="zh-CN" sz="1200" i="1" dirty="0">
              <a:solidFill>
                <a:schemeClr val="tx1">
                  <a:lumMod val="50000"/>
                </a:schemeClr>
              </a:solidFill>
              <a:cs typeface="+mn-ea"/>
              <a:sym typeface="+mn-lt"/>
            </a:endParaRPr>
          </a:p>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2</a:t>
            </a:r>
            <a:r>
              <a:rPr kumimoji="1" lang="zh-CN" altLang="en-US" sz="1200" i="1" dirty="0">
                <a:solidFill>
                  <a:schemeClr val="tx1">
                    <a:lumMod val="50000"/>
                  </a:schemeClr>
                </a:solidFill>
                <a:cs typeface="+mn-ea"/>
                <a:sym typeface="+mn-lt"/>
              </a:rPr>
              <a:t>：光模块功耗采用</a:t>
            </a:r>
            <a:r>
              <a:rPr kumimoji="1" lang="en-US" altLang="zh-CN" sz="1200" i="1" dirty="0">
                <a:solidFill>
                  <a:schemeClr val="tx1">
                    <a:lumMod val="50000"/>
                  </a:schemeClr>
                </a:solidFill>
                <a:cs typeface="+mn-ea"/>
                <a:sym typeface="+mn-lt"/>
              </a:rPr>
              <a:t>400G LPO</a:t>
            </a:r>
            <a:r>
              <a:rPr kumimoji="1" lang="zh-CN" altLang="en-US" sz="1200" i="1" dirty="0">
                <a:solidFill>
                  <a:schemeClr val="tx1">
                    <a:lumMod val="50000"/>
                  </a:schemeClr>
                </a:solidFill>
                <a:cs typeface="+mn-ea"/>
                <a:sym typeface="+mn-lt"/>
              </a:rPr>
              <a:t> </a:t>
            </a:r>
            <a:r>
              <a:rPr kumimoji="1" lang="en-US" altLang="zh-CN" sz="1200" i="1" dirty="0">
                <a:solidFill>
                  <a:schemeClr val="tx1">
                    <a:lumMod val="50000"/>
                  </a:schemeClr>
                </a:solidFill>
                <a:cs typeface="+mn-ea"/>
                <a:sym typeface="+mn-lt"/>
              </a:rPr>
              <a:t>10W</a:t>
            </a:r>
            <a:r>
              <a:rPr kumimoji="1" lang="zh-CN" altLang="en-US" sz="1200" i="1" dirty="0">
                <a:solidFill>
                  <a:schemeClr val="tx1">
                    <a:lumMod val="50000"/>
                  </a:schemeClr>
                </a:solidFill>
                <a:cs typeface="+mn-ea"/>
                <a:sym typeface="+mn-lt"/>
              </a:rPr>
              <a:t>数据，昇腾</a:t>
            </a:r>
            <a:r>
              <a:rPr kumimoji="1" lang="en-US" altLang="zh-CN" sz="1200" i="1" dirty="0">
                <a:solidFill>
                  <a:schemeClr val="tx1">
                    <a:lumMod val="50000"/>
                  </a:schemeClr>
                </a:solidFill>
                <a:cs typeface="+mn-ea"/>
                <a:sym typeface="+mn-lt"/>
              </a:rPr>
              <a:t>910C</a:t>
            </a:r>
            <a:r>
              <a:rPr kumimoji="1" lang="zh-CN" altLang="en-US" sz="1200" i="1" dirty="0">
                <a:solidFill>
                  <a:schemeClr val="tx1">
                    <a:lumMod val="50000"/>
                  </a:schemeClr>
                </a:solidFill>
                <a:cs typeface="+mn-ea"/>
                <a:sym typeface="+mn-lt"/>
              </a:rPr>
              <a:t>单卡功耗约</a:t>
            </a:r>
            <a:r>
              <a:rPr kumimoji="1" lang="en-US" altLang="zh-CN" sz="1200" i="1" dirty="0">
                <a:solidFill>
                  <a:schemeClr val="tx1">
                    <a:lumMod val="50000"/>
                  </a:schemeClr>
                </a:solidFill>
                <a:cs typeface="+mn-ea"/>
                <a:sym typeface="+mn-lt"/>
              </a:rPr>
              <a:t>800W</a:t>
            </a:r>
          </a:p>
        </p:txBody>
      </p:sp>
      <p:sp>
        <p:nvSpPr>
          <p:cNvPr id="3586" name="左大括号 3585">
            <a:extLst>
              <a:ext uri="{FF2B5EF4-FFF2-40B4-BE49-F238E27FC236}">
                <a16:creationId xmlns:a16="http://schemas.microsoft.com/office/drawing/2014/main" id="{C2780E09-0CA0-FC8F-04D1-0820C1266BAE}"/>
              </a:ext>
            </a:extLst>
          </p:cNvPr>
          <p:cNvSpPr/>
          <p:nvPr/>
        </p:nvSpPr>
        <p:spPr>
          <a:xfrm rot="16200000">
            <a:off x="7729538" y="2130425"/>
            <a:ext cx="130492" cy="2330450"/>
          </a:xfrm>
          <a:prstGeom prst="leftBrace">
            <a:avLst/>
          </a:prstGeom>
          <a:ln>
            <a:solidFill>
              <a:srgbClr val="0052D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87" name="文本框 3586">
            <a:extLst>
              <a:ext uri="{FF2B5EF4-FFF2-40B4-BE49-F238E27FC236}">
                <a16:creationId xmlns:a16="http://schemas.microsoft.com/office/drawing/2014/main" id="{F4B9F0D9-6BD3-3328-B0C7-C2E2BDBCA8AA}"/>
              </a:ext>
            </a:extLst>
          </p:cNvPr>
          <p:cNvSpPr txBox="1"/>
          <p:nvPr/>
        </p:nvSpPr>
        <p:spPr>
          <a:xfrm>
            <a:off x="6720892" y="3346450"/>
            <a:ext cx="1956058" cy="307975"/>
          </a:xfrm>
          <a:prstGeom prst="rect">
            <a:avLst/>
          </a:prstGeom>
          <a:noFill/>
        </p:spPr>
        <p:txBody>
          <a:bodyPr wrap="square">
            <a:spAutoFit/>
          </a:bodyPr>
          <a:lstStyle/>
          <a:p>
            <a:pPr algn="ctr"/>
            <a:r>
              <a:rPr lang="en-US" altLang="zh-CN" sz="1400" dirty="0">
                <a:solidFill>
                  <a:schemeClr val="accent6">
                    <a:lumMod val="10000"/>
                  </a:schemeClr>
                </a:solidFill>
                <a:cs typeface="+mn-ea"/>
                <a:sym typeface="+mn-lt"/>
              </a:rPr>
              <a:t>Rack×16    </a:t>
            </a:r>
            <a:r>
              <a:rPr lang="en-US" altLang="zh-CN" sz="1400" b="1" dirty="0">
                <a:solidFill>
                  <a:srgbClr val="0052D9"/>
                </a:solidFill>
                <a:cs typeface="+mn-ea"/>
                <a:sym typeface="+mn-lt"/>
              </a:rPr>
              <a:t>&gt; 2.5m</a:t>
            </a:r>
          </a:p>
        </p:txBody>
      </p:sp>
      <p:graphicFrame>
        <p:nvGraphicFramePr>
          <p:cNvPr id="36" name="Chart 3">
            <a:extLst>
              <a:ext uri="{FF2B5EF4-FFF2-40B4-BE49-F238E27FC236}">
                <a16:creationId xmlns:a16="http://schemas.microsoft.com/office/drawing/2014/main" id="{5B8086FC-F53F-8261-E165-F0220ABEBF75}"/>
              </a:ext>
            </a:extLst>
          </p:cNvPr>
          <p:cNvGraphicFramePr/>
          <p:nvPr>
            <p:custDataLst>
              <p:tags r:id="rId2"/>
            </p:custDataLst>
            <p:extLst>
              <p:ext uri="{D42A27DB-BD31-4B8C-83A1-F6EECF244321}">
                <p14:modId xmlns:p14="http://schemas.microsoft.com/office/powerpoint/2010/main" val="3382069236"/>
              </p:ext>
            </p:extLst>
          </p:nvPr>
        </p:nvGraphicFramePr>
        <p:xfrm>
          <a:off x="236538" y="2859088"/>
          <a:ext cx="2952750" cy="2965450"/>
        </p:xfrm>
        <a:graphic>
          <a:graphicData uri="http://schemas.openxmlformats.org/drawingml/2006/chart">
            <c:chart xmlns:c="http://schemas.openxmlformats.org/drawingml/2006/chart" xmlns:r="http://schemas.openxmlformats.org/officeDocument/2006/relationships" r:id="rId42"/>
          </a:graphicData>
        </a:graphic>
      </p:graphicFrame>
      <p:cxnSp>
        <p:nvCxnSpPr>
          <p:cNvPr id="1048" name="直接连接符 1047">
            <a:extLst>
              <a:ext uri="{FF2B5EF4-FFF2-40B4-BE49-F238E27FC236}">
                <a16:creationId xmlns:a16="http://schemas.microsoft.com/office/drawing/2014/main" id="{CADB065E-B614-B7C2-A21F-DD7A962991EC}"/>
              </a:ext>
            </a:extLst>
          </p:cNvPr>
          <p:cNvCxnSpPr/>
          <p:nvPr>
            <p:custDataLst>
              <p:tags r:id="rId3"/>
            </p:custDataLst>
          </p:nvPr>
        </p:nvCxnSpPr>
        <p:spPr bwMode="auto">
          <a:xfrm flipV="1">
            <a:off x="1331913" y="2832100"/>
            <a:ext cx="0" cy="1889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49" name="直接连接符 1048">
            <a:extLst>
              <a:ext uri="{FF2B5EF4-FFF2-40B4-BE49-F238E27FC236}">
                <a16:creationId xmlns:a16="http://schemas.microsoft.com/office/drawing/2014/main" id="{6E468993-5E85-8C63-A570-17A6D2204EA0}"/>
              </a:ext>
            </a:extLst>
          </p:cNvPr>
          <p:cNvCxnSpPr/>
          <p:nvPr>
            <p:custDataLst>
              <p:tags r:id="rId4"/>
            </p:custDataLst>
          </p:nvPr>
        </p:nvCxnSpPr>
        <p:spPr bwMode="auto">
          <a:xfrm>
            <a:off x="1331913" y="2832100"/>
            <a:ext cx="762000"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51" name="直接连接符 1050">
            <a:extLst>
              <a:ext uri="{FF2B5EF4-FFF2-40B4-BE49-F238E27FC236}">
                <a16:creationId xmlns:a16="http://schemas.microsoft.com/office/drawing/2014/main" id="{2AF9B085-644A-D984-8096-BA29E9C0E44F}"/>
              </a:ext>
            </a:extLst>
          </p:cNvPr>
          <p:cNvCxnSpPr/>
          <p:nvPr>
            <p:custDataLst>
              <p:tags r:id="rId5"/>
            </p:custDataLst>
          </p:nvPr>
        </p:nvCxnSpPr>
        <p:spPr bwMode="auto">
          <a:xfrm>
            <a:off x="2093913" y="2832100"/>
            <a:ext cx="0" cy="1717675"/>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62" name="Text Placeholder 4">
            <a:extLst>
              <a:ext uri="{FF2B5EF4-FFF2-40B4-BE49-F238E27FC236}">
                <a16:creationId xmlns:a16="http://schemas.microsoft.com/office/drawing/2014/main" id="{E2E711D4-63B8-F717-60BA-4460EC8D0997}"/>
              </a:ext>
            </a:extLst>
          </p:cNvPr>
          <p:cNvSpPr>
            <a:spLocks/>
          </p:cNvSpPr>
          <p:nvPr>
            <p:custDataLst>
              <p:tags r:id="rId6"/>
            </p:custDataLst>
          </p:nvPr>
        </p:nvSpPr>
        <p:spPr bwMode="auto">
          <a:xfrm>
            <a:off x="1144588" y="5568950"/>
            <a:ext cx="1138238" cy="3651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9051534-2EE9-4BCE-AF8B-E9DE0134CC4F}" type="datetime'''单''''''''''''卡B''F1''6''计算性能''（TFL''''OP''''''S）'''''''''''">
              <a:rPr lang="zh-CN" altLang="en-US" sz="1200" smtClean="0">
                <a:cs typeface="+mn-cs"/>
              </a:rPr>
              <a:pPr/>
              <a:t>单卡BF16计算性能（TFLOPS）</a:t>
            </a:fld>
            <a:endParaRPr lang="zh-CN" altLang="en-US" sz="1200" dirty="0">
              <a:cs typeface="+mn-cs"/>
            </a:endParaRPr>
          </a:p>
        </p:txBody>
      </p:sp>
      <p:sp>
        <p:nvSpPr>
          <p:cNvPr id="1047" name="Text Placeholder 4">
            <a:extLst>
              <a:ext uri="{FF2B5EF4-FFF2-40B4-BE49-F238E27FC236}">
                <a16:creationId xmlns:a16="http://schemas.microsoft.com/office/drawing/2014/main" id="{12497AA3-DFED-0C45-9BA6-93A78D3BAA86}"/>
              </a:ext>
            </a:extLst>
          </p:cNvPr>
          <p:cNvSpPr>
            <a:spLocks/>
          </p:cNvSpPr>
          <p:nvPr>
            <p:custDataLst>
              <p:tags r:id="rId7"/>
            </p:custDataLst>
          </p:nvPr>
        </p:nvSpPr>
        <p:spPr bwMode="auto">
          <a:xfrm>
            <a:off x="1419225" y="2681288"/>
            <a:ext cx="587375" cy="301625"/>
          </a:xfrm>
          <a:prstGeom prst="ellipse">
            <a:avLst/>
          </a:prstGeom>
          <a:solidFill>
            <a:schemeClr val="bg1"/>
          </a:solidFill>
          <a:ln w="9525" cmpd="sng" algn="ctr">
            <a:solidFill>
              <a:schemeClr val="tx1"/>
            </a:solid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47B85DDC-440C-4E1D-9361-66F5FAC9158C}" type="datetime'-''''''''''''''''''''''''6''9''''''''''%'">
              <a:rPr lang="en-US" altLang="en-US" sz="1400" b="1" smtClean="0">
                <a:effectLst/>
                <a:cs typeface="+mn-cs"/>
              </a:rPr>
              <a:pPr lvl="0" algn="ctr">
                <a:spcBef>
                  <a:spcPct val="0"/>
                </a:spcBef>
                <a:spcAft>
                  <a:spcPct val="0"/>
                </a:spcAft>
              </a:pPr>
              <a:t>-69%</a:t>
            </a:fld>
            <a:endParaRPr lang="zh-CN" altLang="en-US" sz="1400" b="1" dirty="0">
              <a:cs typeface="+mn-cs"/>
            </a:endParaRPr>
          </a:p>
        </p:txBody>
      </p:sp>
      <p:graphicFrame>
        <p:nvGraphicFramePr>
          <p:cNvPr id="51" name="Chart 3">
            <a:extLst>
              <a:ext uri="{FF2B5EF4-FFF2-40B4-BE49-F238E27FC236}">
                <a16:creationId xmlns:a16="http://schemas.microsoft.com/office/drawing/2014/main" id="{AC4D266C-7437-1FA5-659B-B97914CAB426}"/>
              </a:ext>
            </a:extLst>
          </p:cNvPr>
          <p:cNvGraphicFramePr/>
          <p:nvPr>
            <p:custDataLst>
              <p:tags r:id="rId8"/>
            </p:custDataLst>
            <p:extLst>
              <p:ext uri="{D42A27DB-BD31-4B8C-83A1-F6EECF244321}">
                <p14:modId xmlns:p14="http://schemas.microsoft.com/office/powerpoint/2010/main" val="90533874"/>
              </p:ext>
            </p:extLst>
          </p:nvPr>
        </p:nvGraphicFramePr>
        <p:xfrm>
          <a:off x="3205163" y="2859088"/>
          <a:ext cx="2298700" cy="2965450"/>
        </p:xfrm>
        <a:graphic>
          <a:graphicData uri="http://schemas.openxmlformats.org/drawingml/2006/chart">
            <c:chart xmlns:c="http://schemas.openxmlformats.org/drawingml/2006/chart" xmlns:r="http://schemas.openxmlformats.org/officeDocument/2006/relationships" r:id="rId43"/>
          </a:graphicData>
        </a:graphic>
      </p:graphicFrame>
      <p:cxnSp>
        <p:nvCxnSpPr>
          <p:cNvPr id="3217" name="直接连接符 3216">
            <a:extLst>
              <a:ext uri="{FF2B5EF4-FFF2-40B4-BE49-F238E27FC236}">
                <a16:creationId xmlns:a16="http://schemas.microsoft.com/office/drawing/2014/main" id="{2612A90D-65F0-9C20-09BE-7E3A710AB655}"/>
              </a:ext>
            </a:extLst>
          </p:cNvPr>
          <p:cNvCxnSpPr/>
          <p:nvPr>
            <p:custDataLst>
              <p:tags r:id="rId9"/>
            </p:custDataLst>
          </p:nvPr>
        </p:nvCxnSpPr>
        <p:spPr bwMode="auto">
          <a:xfrm flipV="1">
            <a:off x="3973513" y="2832100"/>
            <a:ext cx="0" cy="10779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18" name="直接连接符 3217">
            <a:extLst>
              <a:ext uri="{FF2B5EF4-FFF2-40B4-BE49-F238E27FC236}">
                <a16:creationId xmlns:a16="http://schemas.microsoft.com/office/drawing/2014/main" id="{06CD80C6-A03F-7FD5-A111-CF17C0950D91}"/>
              </a:ext>
            </a:extLst>
          </p:cNvPr>
          <p:cNvCxnSpPr>
            <a:cxnSpLocks/>
          </p:cNvCxnSpPr>
          <p:nvPr>
            <p:custDataLst>
              <p:tags r:id="rId10"/>
            </p:custDataLst>
          </p:nvPr>
        </p:nvCxnSpPr>
        <p:spPr bwMode="auto">
          <a:xfrm>
            <a:off x="3973513" y="2832100"/>
            <a:ext cx="762000"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19" name="直接连接符 3218">
            <a:extLst>
              <a:ext uri="{FF2B5EF4-FFF2-40B4-BE49-F238E27FC236}">
                <a16:creationId xmlns:a16="http://schemas.microsoft.com/office/drawing/2014/main" id="{F0C1D68E-8B3A-6DC5-7947-062C8E3678D5}"/>
              </a:ext>
            </a:extLst>
          </p:cNvPr>
          <p:cNvCxnSpPr/>
          <p:nvPr>
            <p:custDataLst>
              <p:tags r:id="rId11"/>
            </p:custDataLst>
          </p:nvPr>
        </p:nvCxnSpPr>
        <p:spPr bwMode="auto">
          <a:xfrm>
            <a:off x="4735513" y="2832100"/>
            <a:ext cx="0" cy="188913"/>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3220" name="Text Placeholder 4">
            <a:extLst>
              <a:ext uri="{FF2B5EF4-FFF2-40B4-BE49-F238E27FC236}">
                <a16:creationId xmlns:a16="http://schemas.microsoft.com/office/drawing/2014/main" id="{8C0F3706-CCC0-71C5-E8EB-926841199566}"/>
              </a:ext>
            </a:extLst>
          </p:cNvPr>
          <p:cNvSpPr>
            <a:spLocks/>
          </p:cNvSpPr>
          <p:nvPr>
            <p:custDataLst>
              <p:tags r:id="rId12"/>
            </p:custDataLst>
          </p:nvPr>
        </p:nvSpPr>
        <p:spPr bwMode="auto">
          <a:xfrm>
            <a:off x="3763963" y="5568950"/>
            <a:ext cx="1181100" cy="3651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9385E9B-F47F-4ECE-ADD4-254666D3D2E6}" type="datetime'整''''''''''体BF16'''' ''计算性能（''''''P''''FLO''P''''''''''''S）'''">
              <a:rPr lang="zh-CN" altLang="en-US" sz="1200" smtClean="0">
                <a:cs typeface="+mn-cs"/>
              </a:rPr>
              <a:pPr/>
              <a:t>整体BF16 计算性能（PFLOPS）</a:t>
            </a:fld>
            <a:endParaRPr lang="zh-CN" altLang="en-US" sz="1200" dirty="0">
              <a:cs typeface="+mn-cs"/>
            </a:endParaRPr>
          </a:p>
        </p:txBody>
      </p:sp>
      <p:sp>
        <p:nvSpPr>
          <p:cNvPr id="3221" name="Text Placeholder 4">
            <a:extLst>
              <a:ext uri="{FF2B5EF4-FFF2-40B4-BE49-F238E27FC236}">
                <a16:creationId xmlns:a16="http://schemas.microsoft.com/office/drawing/2014/main" id="{72B91896-9330-31FA-F8B3-D8AFBD57F046}"/>
              </a:ext>
            </a:extLst>
          </p:cNvPr>
          <p:cNvSpPr>
            <a:spLocks/>
          </p:cNvSpPr>
          <p:nvPr>
            <p:custDataLst>
              <p:tags r:id="rId13"/>
            </p:custDataLst>
          </p:nvPr>
        </p:nvSpPr>
        <p:spPr bwMode="auto">
          <a:xfrm>
            <a:off x="4030663" y="2681288"/>
            <a:ext cx="649288" cy="301625"/>
          </a:xfrm>
          <a:prstGeom prst="ellipse">
            <a:avLst/>
          </a:prstGeom>
          <a:solidFill>
            <a:schemeClr val="bg1"/>
          </a:solidFill>
          <a:ln w="9525" cmpd="sng" algn="ctr">
            <a:solidFill>
              <a:schemeClr val="tx1"/>
            </a:solid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AD7B8FFD-E469-4577-B9AD-14C8961FCC4C}" type="datetime'''''''''''''''+''67''''%'">
              <a:rPr lang="en-US" altLang="en-US" sz="1400" b="1" smtClean="0">
                <a:effectLst/>
                <a:cs typeface="+mn-cs"/>
              </a:rPr>
              <a:pPr/>
              <a:t>+67%</a:t>
            </a:fld>
            <a:endParaRPr lang="zh-CN" altLang="en-US" sz="1400" b="1" dirty="0">
              <a:cs typeface="+mn-cs"/>
            </a:endParaRPr>
          </a:p>
        </p:txBody>
      </p:sp>
      <p:graphicFrame>
        <p:nvGraphicFramePr>
          <p:cNvPr id="1028" name="Chart 3">
            <a:extLst>
              <a:ext uri="{FF2B5EF4-FFF2-40B4-BE49-F238E27FC236}">
                <a16:creationId xmlns:a16="http://schemas.microsoft.com/office/drawing/2014/main" id="{20A5CBEA-2BF9-A716-FC27-9B746CC0C35D}"/>
              </a:ext>
            </a:extLst>
          </p:cNvPr>
          <p:cNvGraphicFramePr/>
          <p:nvPr>
            <p:custDataLst>
              <p:tags r:id="rId14"/>
            </p:custDataLst>
            <p:extLst>
              <p:ext uri="{D42A27DB-BD31-4B8C-83A1-F6EECF244321}">
                <p14:modId xmlns:p14="http://schemas.microsoft.com/office/powerpoint/2010/main" val="2576927697"/>
              </p:ext>
            </p:extLst>
          </p:nvPr>
        </p:nvGraphicFramePr>
        <p:xfrm>
          <a:off x="8926513" y="2154238"/>
          <a:ext cx="2952750" cy="1435100"/>
        </p:xfrm>
        <a:graphic>
          <a:graphicData uri="http://schemas.openxmlformats.org/drawingml/2006/chart">
            <c:chart xmlns:c="http://schemas.openxmlformats.org/drawingml/2006/chart" xmlns:r="http://schemas.openxmlformats.org/officeDocument/2006/relationships" r:id="rId44"/>
          </a:graphicData>
        </a:graphic>
      </p:graphicFrame>
      <p:sp>
        <p:nvSpPr>
          <p:cNvPr id="3609" name="Text Placeholder 4">
            <a:extLst>
              <a:ext uri="{FF2B5EF4-FFF2-40B4-BE49-F238E27FC236}">
                <a16:creationId xmlns:a16="http://schemas.microsoft.com/office/drawing/2014/main" id="{98ACC9F0-1504-BCE5-600A-73148851ECDB}"/>
              </a:ext>
            </a:extLst>
          </p:cNvPr>
          <p:cNvSpPr>
            <a:spLocks/>
          </p:cNvSpPr>
          <p:nvPr>
            <p:custDataLst>
              <p:tags r:id="rId15"/>
            </p:custDataLst>
          </p:nvPr>
        </p:nvSpPr>
        <p:spPr bwMode="auto">
          <a:xfrm>
            <a:off x="9607550" y="3341688"/>
            <a:ext cx="7921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638A2901-EC09-4A47-B5F8-BDABD53F4DB7}" type="datetime'''''''Sc''''al''''''''''''''e ''''''''''''''''O''''u''''''''t'">
              <a:rPr lang="en-US" altLang="en-US" sz="1400" smtClean="0">
                <a:cs typeface="+mn-cs"/>
              </a:rPr>
              <a:pPr/>
              <a:t>Scale Out</a:t>
            </a:fld>
            <a:endParaRPr lang="zh-CN" altLang="en-US" sz="1400" dirty="0">
              <a:cs typeface="+mn-cs"/>
            </a:endParaRPr>
          </a:p>
        </p:txBody>
      </p:sp>
      <p:sp>
        <p:nvSpPr>
          <p:cNvPr id="3612" name="Text Placeholder 4">
            <a:extLst>
              <a:ext uri="{FF2B5EF4-FFF2-40B4-BE49-F238E27FC236}">
                <a16:creationId xmlns:a16="http://schemas.microsoft.com/office/drawing/2014/main" id="{9708A781-6620-2CED-6CD2-E2E15D24A9D3}"/>
              </a:ext>
            </a:extLst>
          </p:cNvPr>
          <p:cNvSpPr>
            <a:spLocks/>
          </p:cNvSpPr>
          <p:nvPr>
            <p:custDataLst>
              <p:tags r:id="rId16"/>
            </p:custDataLst>
          </p:nvPr>
        </p:nvSpPr>
        <p:spPr bwMode="auto">
          <a:xfrm>
            <a:off x="10433050" y="3341688"/>
            <a:ext cx="733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6D1DCB6-5CB8-4A1F-9D2F-300B7B067F66}" type="datetime'''''S''''''''c''''''a''le'' U''''''''''''p'''''">
              <a:rPr lang="en-US" altLang="en-US" sz="1400" smtClean="0">
                <a:cs typeface="+mn-cs"/>
              </a:rPr>
              <a:pPr/>
              <a:t>Scale Up</a:t>
            </a:fld>
            <a:endParaRPr lang="zh-CN" altLang="en-US" sz="1400" dirty="0">
              <a:cs typeface="+mn-cs"/>
            </a:endParaRPr>
          </a:p>
        </p:txBody>
      </p:sp>
      <p:sp>
        <p:nvSpPr>
          <p:cNvPr id="3635" name="文本框 3634">
            <a:extLst>
              <a:ext uri="{FF2B5EF4-FFF2-40B4-BE49-F238E27FC236}">
                <a16:creationId xmlns:a16="http://schemas.microsoft.com/office/drawing/2014/main" id="{E860E091-4421-C38F-E785-440035FFBF3B}"/>
              </a:ext>
            </a:extLst>
          </p:cNvPr>
          <p:cNvSpPr txBox="1"/>
          <p:nvPr/>
        </p:nvSpPr>
        <p:spPr>
          <a:xfrm>
            <a:off x="9393131" y="2062163"/>
            <a:ext cx="2214563" cy="306388"/>
          </a:xfrm>
          <a:prstGeom prst="rect">
            <a:avLst/>
          </a:prstGeom>
          <a:noFill/>
        </p:spPr>
        <p:txBody>
          <a:bodyPr wrap="square">
            <a:spAutoFit/>
          </a:bodyPr>
          <a:lstStyle/>
          <a:p>
            <a:r>
              <a:rPr lang="en-US" altLang="zh-CN" sz="1400" dirty="0">
                <a:solidFill>
                  <a:schemeClr val="accent6">
                    <a:lumMod val="10000"/>
                  </a:schemeClr>
                </a:solidFill>
                <a:cs typeface="+mn-ea"/>
                <a:sym typeface="+mn-lt"/>
              </a:rPr>
              <a:t>CM384</a:t>
            </a:r>
            <a:r>
              <a:rPr lang="zh-CN" altLang="en-US" sz="1400" dirty="0">
                <a:solidFill>
                  <a:schemeClr val="accent6">
                    <a:lumMod val="10000"/>
                  </a:schemeClr>
                </a:solidFill>
                <a:cs typeface="+mn-ea"/>
                <a:sym typeface="+mn-lt"/>
              </a:rPr>
              <a:t>光模块数量分布</a:t>
            </a:r>
            <a:endParaRPr lang="en-US" altLang="zh-CN" sz="1400" dirty="0">
              <a:solidFill>
                <a:schemeClr val="accent6">
                  <a:lumMod val="10000"/>
                </a:schemeClr>
              </a:solidFill>
              <a:cs typeface="+mn-ea"/>
              <a:sym typeface="+mn-lt"/>
            </a:endParaRPr>
          </a:p>
        </p:txBody>
      </p:sp>
      <p:sp>
        <p:nvSpPr>
          <p:cNvPr id="28" name="文本框 27">
            <a:extLst>
              <a:ext uri="{FF2B5EF4-FFF2-40B4-BE49-F238E27FC236}">
                <a16:creationId xmlns:a16="http://schemas.microsoft.com/office/drawing/2014/main" id="{BDBE2FCC-515F-30FE-A3A7-B786F586F659}"/>
              </a:ext>
            </a:extLst>
          </p:cNvPr>
          <p:cNvSpPr txBox="1"/>
          <p:nvPr/>
        </p:nvSpPr>
        <p:spPr>
          <a:xfrm>
            <a:off x="554423" y="1440908"/>
            <a:ext cx="5196700" cy="328613"/>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zh-CN" altLang="en-US" dirty="0">
                <a:solidFill>
                  <a:schemeClr val="tx1">
                    <a:lumMod val="50000"/>
                  </a:schemeClr>
                </a:solidFill>
                <a:cs typeface="+mn-ea"/>
                <a:sym typeface="+mn-lt"/>
              </a:rPr>
              <a:t>华为单卡算力仅为</a:t>
            </a:r>
            <a:r>
              <a:rPr kumimoji="1" lang="en-US" altLang="zh-CN" dirty="0">
                <a:solidFill>
                  <a:schemeClr val="tx1">
                    <a:lumMod val="50000"/>
                  </a:schemeClr>
                </a:solidFill>
                <a:cs typeface="+mn-ea"/>
                <a:sym typeface="+mn-lt"/>
              </a:rPr>
              <a:t>NV</a:t>
            </a:r>
            <a:r>
              <a:rPr kumimoji="1" lang="zh-CN" altLang="en-US" dirty="0">
                <a:solidFill>
                  <a:schemeClr val="tx1">
                    <a:lumMod val="50000"/>
                  </a:schemeClr>
                </a:solidFill>
                <a:cs typeface="+mn-ea"/>
                <a:sym typeface="+mn-lt"/>
              </a:rPr>
              <a:t>约</a:t>
            </a:r>
            <a:r>
              <a:rPr kumimoji="1" lang="en-US" altLang="zh-CN" b="1" dirty="0">
                <a:solidFill>
                  <a:srgbClr val="0052D9"/>
                </a:solidFill>
                <a:cs typeface="+mn-ea"/>
                <a:sym typeface="+mn-lt"/>
              </a:rPr>
              <a:t>1/3</a:t>
            </a:r>
            <a:r>
              <a:rPr kumimoji="1" lang="zh-CN" altLang="en-US" dirty="0">
                <a:solidFill>
                  <a:schemeClr val="tx1">
                    <a:lumMod val="50000"/>
                  </a:schemeClr>
                </a:solidFill>
                <a:cs typeface="+mn-ea"/>
                <a:sym typeface="+mn-lt"/>
              </a:rPr>
              <a:t>，集群整体为</a:t>
            </a:r>
            <a:r>
              <a:rPr kumimoji="1" lang="en-US" altLang="zh-CN" dirty="0">
                <a:solidFill>
                  <a:schemeClr val="tx1">
                    <a:lumMod val="50000"/>
                  </a:schemeClr>
                </a:solidFill>
                <a:cs typeface="+mn-ea"/>
                <a:sym typeface="+mn-lt"/>
              </a:rPr>
              <a:t>NV </a:t>
            </a:r>
            <a:r>
              <a:rPr kumimoji="1" lang="en-US" altLang="zh-CN" b="1" dirty="0">
                <a:solidFill>
                  <a:srgbClr val="0052D9"/>
                </a:solidFill>
                <a:cs typeface="+mn-ea"/>
                <a:sym typeface="+mn-lt"/>
              </a:rPr>
              <a:t>~1.7x</a:t>
            </a:r>
          </a:p>
        </p:txBody>
      </p:sp>
      <p:sp>
        <p:nvSpPr>
          <p:cNvPr id="37" name="矩形 36">
            <a:extLst>
              <a:ext uri="{FF2B5EF4-FFF2-40B4-BE49-F238E27FC236}">
                <a16:creationId xmlns:a16="http://schemas.microsoft.com/office/drawing/2014/main" id="{966CC619-8FA5-F1C1-B5DD-1F1675B6664E}"/>
              </a:ext>
            </a:extLst>
          </p:cNvPr>
          <p:cNvSpPr/>
          <p:nvPr>
            <p:custDataLst>
              <p:tags r:id="rId17"/>
            </p:custDataLst>
          </p:nvPr>
        </p:nvSpPr>
        <p:spPr bwMode="auto">
          <a:xfrm>
            <a:off x="717550" y="2241550"/>
            <a:ext cx="250825" cy="187325"/>
          </a:xfrm>
          <a:prstGeom prst="rect">
            <a:avLst/>
          </a:prstGeom>
          <a:solidFill>
            <a:srgbClr val="C0C0C0"/>
          </a:solidFill>
          <a:ln w="10795" cap="flat" cmpd="sng" algn="ctr">
            <a:noFill/>
            <a:prstDash val="solid"/>
            <a:round/>
            <a:headEnd type="none" w="med" len="med"/>
            <a:tailEnd type="none" w="med" len="med"/>
          </a:ln>
          <a:effectLst/>
          <a:extLst>
            <a:ext uri="{91240B29-F687-4F45-9708-019B960494DF}">
              <a14:hiddenLine xmlns:a14="http://schemas.microsoft.com/office/drawing/2010/main" w="10795"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339046A0-61D6-DADF-FAA6-46A4D60D797E}"/>
              </a:ext>
            </a:extLst>
          </p:cNvPr>
          <p:cNvSpPr/>
          <p:nvPr>
            <p:custDataLst>
              <p:tags r:id="rId18"/>
            </p:custDataLst>
          </p:nvPr>
        </p:nvSpPr>
        <p:spPr bwMode="auto">
          <a:xfrm>
            <a:off x="2265363" y="2241550"/>
            <a:ext cx="250825" cy="187325"/>
          </a:xfrm>
          <a:prstGeom prst="rect">
            <a:avLst/>
          </a:prstGeom>
          <a:solidFill>
            <a:srgbClr val="0052D9"/>
          </a:solidFill>
          <a:ln w="10795" cap="flat" cmpd="sng" algn="ctr">
            <a:noFill/>
            <a:prstDash val="solid"/>
            <a:round/>
            <a:headEnd type="none" w="med" len="med"/>
            <a:tailEnd type="none" w="med" len="med"/>
          </a:ln>
          <a:effectLst/>
          <a:extLst>
            <a:ext uri="{91240B29-F687-4F45-9708-019B960494DF}">
              <a14:hiddenLine xmlns:a14="http://schemas.microsoft.com/office/drawing/2010/main" w="10795"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 Placeholder 4">
            <a:extLst>
              <a:ext uri="{FF2B5EF4-FFF2-40B4-BE49-F238E27FC236}">
                <a16:creationId xmlns:a16="http://schemas.microsoft.com/office/drawing/2014/main" id="{918F95EF-D9D0-DA01-BD7E-CC4B0EE8DC12}"/>
              </a:ext>
            </a:extLst>
          </p:cNvPr>
          <p:cNvSpPr>
            <a:spLocks/>
          </p:cNvSpPr>
          <p:nvPr>
            <p:custDataLst>
              <p:tags r:id="rId19"/>
            </p:custDataLst>
          </p:nvPr>
        </p:nvSpPr>
        <p:spPr bwMode="auto">
          <a:xfrm>
            <a:off x="1019175" y="2236788"/>
            <a:ext cx="11445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3E772D7F-2F10-49D5-9E18-E08E40598AEE}" type="datetime'''G''''B2''''''''''''00'' ''''N''''''''VL''''7''2'">
              <a:rPr lang="en-US" altLang="en-US" sz="1400" smtClean="0">
                <a:effectLst/>
                <a:cs typeface="+mn-cs"/>
              </a:rPr>
              <a:pPr lvl="0">
                <a:spcBef>
                  <a:spcPct val="0"/>
                </a:spcBef>
                <a:spcAft>
                  <a:spcPct val="0"/>
                </a:spcAft>
              </a:pPr>
              <a:t>GB200 NVL72</a:t>
            </a:fld>
            <a:endParaRPr lang="zh-CN" altLang="en-US" sz="1400" dirty="0">
              <a:cs typeface="+mn-cs"/>
            </a:endParaRPr>
          </a:p>
        </p:txBody>
      </p:sp>
      <p:sp>
        <p:nvSpPr>
          <p:cNvPr id="35" name="Text Placeholder 4">
            <a:extLst>
              <a:ext uri="{FF2B5EF4-FFF2-40B4-BE49-F238E27FC236}">
                <a16:creationId xmlns:a16="http://schemas.microsoft.com/office/drawing/2014/main" id="{86287392-9ECA-B352-F81A-7573F1F96FB7}"/>
              </a:ext>
            </a:extLst>
          </p:cNvPr>
          <p:cNvSpPr>
            <a:spLocks/>
          </p:cNvSpPr>
          <p:nvPr>
            <p:custDataLst>
              <p:tags r:id="rId20"/>
            </p:custDataLst>
          </p:nvPr>
        </p:nvSpPr>
        <p:spPr bwMode="auto">
          <a:xfrm>
            <a:off x="2566988" y="2236788"/>
            <a:ext cx="9271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4B0921F-1C48-49C0-986D-515724F74953}" type="datetime'华''''''''''''''''''为''''''CM''''3''''''''''''''''''8''''4'''">
              <a:rPr lang="zh-CN" altLang="en-US" sz="1400" smtClean="0">
                <a:effectLst/>
                <a:cs typeface="+mn-cs"/>
              </a:rPr>
              <a:pPr lvl="0">
                <a:spcBef>
                  <a:spcPct val="0"/>
                </a:spcBef>
                <a:spcAft>
                  <a:spcPct val="0"/>
                </a:spcAft>
              </a:pPr>
              <a:t>华为CM384</a:t>
            </a:fld>
            <a:endParaRPr lang="zh-CN" altLang="en-US" sz="1400" dirty="0">
              <a:cs typeface="+mn-cs"/>
            </a:endParaRPr>
          </a:p>
        </p:txBody>
      </p:sp>
      <p:pic>
        <p:nvPicPr>
          <p:cNvPr id="41" name="图片 40" descr="男子的脸部特写黑白照&#10;&#10;AI 生成的内容可能不正确。">
            <a:extLst>
              <a:ext uri="{FF2B5EF4-FFF2-40B4-BE49-F238E27FC236}">
                <a16:creationId xmlns:a16="http://schemas.microsoft.com/office/drawing/2014/main" id="{AEC0C5E7-357B-C173-5884-8AA371CE658A}"/>
              </a:ext>
            </a:extLst>
          </p:cNvPr>
          <p:cNvPicPr>
            <a:picLocks noChangeAspect="1"/>
          </p:cNvPicPr>
          <p:nvPr/>
        </p:nvPicPr>
        <p:blipFill>
          <a:blip r:embed="rId45" cstate="print">
            <a:extLst>
              <a:ext uri="{BEBA8EAE-BF5A-486C-A8C5-ECC9F3942E4B}">
                <a14:imgProps xmlns:a14="http://schemas.microsoft.com/office/drawing/2010/main">
                  <a14:imgLayer r:embed="rId46">
                    <a14:imgEffect>
                      <a14:backgroundRemoval t="9914" b="89871" l="4492" r="98503">
                        <a14:foregroundMark x1="77147" y1="32543" x2="77147" y2="32543"/>
                        <a14:foregroundMark x1="76359" y1="18534" x2="76359" y2="18534"/>
                        <a14:foregroundMark x1="76438" y1="20905" x2="82348" y2="65733"/>
                        <a14:foregroundMark x1="94326" y1="24569" x2="93302" y2="49138"/>
                        <a14:foregroundMark x1="93302" y1="49138" x2="94799" y2="74353"/>
                        <a14:foregroundMark x1="94799" y1="74353" x2="98582" y2="46336"/>
                        <a14:foregroundMark x1="98582" y1="46336" x2="93459" y2="27155"/>
                        <a14:foregroundMark x1="93459" y1="27155" x2="9062" y2="13362"/>
                        <a14:foregroundMark x1="9062" y1="13362" x2="3704" y2="58836"/>
                        <a14:foregroundMark x1="3704" y1="58836" x2="4492" y2="79526"/>
                        <a14:foregroundMark x1="4492" y1="79526" x2="10008" y2="87931"/>
                        <a14:foregroundMark x1="10008" y1="87931" x2="70843" y2="79957"/>
                        <a14:foregroundMark x1="89046" y1="21767" x2="94641" y2="21767"/>
                        <a14:foregroundMark x1="94641" y1="21767" x2="97715" y2="32112"/>
                        <a14:foregroundMark x1="97715" y1="32112" x2="97084" y2="77155"/>
                        <a14:foregroundMark x1="97084" y1="77155" x2="92356" y2="82112"/>
                        <a14:foregroundMark x1="92356" y1="82112" x2="88180" y2="82112"/>
                        <a14:foregroundMark x1="93538" y1="26724" x2="96848" y2="62069"/>
                        <a14:foregroundMark x1="96848" y1="62069" x2="94799" y2="84052"/>
                        <a14:foregroundMark x1="94799" y1="84052" x2="90386" y2="70043"/>
                        <a14:foregroundMark x1="90386" y1="70043" x2="94326" y2="25216"/>
                        <a14:foregroundMark x1="95981" y1="21552" x2="98030" y2="42241"/>
                        <a14:foregroundMark x1="98030" y1="42241" x2="97242" y2="73060"/>
                        <a14:foregroundMark x1="98188" y1="32328" x2="98345" y2="71121"/>
                        <a14:foregroundMark x1="98345" y1="71121" x2="95114" y2="78879"/>
                        <a14:foregroundMark x1="95114" y1="78879" x2="65091" y2="76509"/>
                        <a14:foregroundMark x1="96533" y1="82328" x2="98503" y2="79741"/>
                      </a14:backgroundRemoval>
                    </a14:imgEffect>
                  </a14:imgLayer>
                </a14:imgProps>
              </a:ext>
              <a:ext uri="{28A0092B-C50C-407E-A947-70E740481C1C}">
                <a14:useLocalDpi xmlns:a14="http://schemas.microsoft.com/office/drawing/2010/main" val="0"/>
              </a:ext>
            </a:extLst>
          </a:blip>
          <a:stretch>
            <a:fillRect/>
          </a:stretch>
        </p:blipFill>
        <p:spPr>
          <a:xfrm>
            <a:off x="6603818" y="2268538"/>
            <a:ext cx="2396605" cy="876300"/>
          </a:xfrm>
          <a:prstGeom prst="rect">
            <a:avLst/>
          </a:prstGeom>
        </p:spPr>
      </p:pic>
      <p:cxnSp>
        <p:nvCxnSpPr>
          <p:cNvPr id="3137" name="直接连接符 3136">
            <a:extLst>
              <a:ext uri="{FF2B5EF4-FFF2-40B4-BE49-F238E27FC236}">
                <a16:creationId xmlns:a16="http://schemas.microsoft.com/office/drawing/2014/main" id="{26356429-8B3A-EBBB-977F-67030E7D088B}"/>
              </a:ext>
            </a:extLst>
          </p:cNvPr>
          <p:cNvCxnSpPr/>
          <p:nvPr>
            <p:custDataLst>
              <p:tags r:id="rId21"/>
            </p:custDataLst>
          </p:nvPr>
        </p:nvCxnSpPr>
        <p:spPr bwMode="auto">
          <a:xfrm>
            <a:off x="7404101" y="5207000"/>
            <a:ext cx="4413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38" name="直接连接符 3137">
            <a:extLst>
              <a:ext uri="{FF2B5EF4-FFF2-40B4-BE49-F238E27FC236}">
                <a16:creationId xmlns:a16="http://schemas.microsoft.com/office/drawing/2014/main" id="{AB31ABEF-5E74-3BC5-F5BC-C78D4079FBB7}"/>
              </a:ext>
            </a:extLst>
          </p:cNvPr>
          <p:cNvCxnSpPr/>
          <p:nvPr>
            <p:custDataLst>
              <p:tags r:id="rId22"/>
            </p:custDataLst>
          </p:nvPr>
        </p:nvCxnSpPr>
        <p:spPr bwMode="auto">
          <a:xfrm>
            <a:off x="8399464" y="5307013"/>
            <a:ext cx="4413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50" name="直接连接符 3149">
            <a:extLst>
              <a:ext uri="{FF2B5EF4-FFF2-40B4-BE49-F238E27FC236}">
                <a16:creationId xmlns:a16="http://schemas.microsoft.com/office/drawing/2014/main" id="{CC8BBFA6-F08D-5418-CF35-07046428D73C}"/>
              </a:ext>
            </a:extLst>
          </p:cNvPr>
          <p:cNvCxnSpPr/>
          <p:nvPr>
            <p:custDataLst>
              <p:tags r:id="rId23"/>
            </p:custDataLst>
          </p:nvPr>
        </p:nvCxnSpPr>
        <p:spPr bwMode="auto">
          <a:xfrm>
            <a:off x="9394826" y="5581650"/>
            <a:ext cx="442913"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51" name="直接连接符 3150">
            <a:extLst>
              <a:ext uri="{FF2B5EF4-FFF2-40B4-BE49-F238E27FC236}">
                <a16:creationId xmlns:a16="http://schemas.microsoft.com/office/drawing/2014/main" id="{381BDE0C-6F03-BDF0-1FDC-CFDBA3ED30AA}"/>
              </a:ext>
            </a:extLst>
          </p:cNvPr>
          <p:cNvCxnSpPr/>
          <p:nvPr>
            <p:custDataLst>
              <p:tags r:id="rId24"/>
            </p:custDataLst>
          </p:nvPr>
        </p:nvCxnSpPr>
        <p:spPr bwMode="auto">
          <a:xfrm>
            <a:off x="10391776" y="5664200"/>
            <a:ext cx="4413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1027" name="Chart 3">
            <a:extLst>
              <a:ext uri="{FF2B5EF4-FFF2-40B4-BE49-F238E27FC236}">
                <a16:creationId xmlns:a16="http://schemas.microsoft.com/office/drawing/2014/main" id="{3C8C24F4-B3F7-72A6-33D1-327862FC4340}"/>
              </a:ext>
            </a:extLst>
          </p:cNvPr>
          <p:cNvGraphicFramePr/>
          <p:nvPr>
            <p:custDataLst>
              <p:tags r:id="rId25"/>
            </p:custDataLst>
            <p:extLst>
              <p:ext uri="{D42A27DB-BD31-4B8C-83A1-F6EECF244321}">
                <p14:modId xmlns:p14="http://schemas.microsoft.com/office/powerpoint/2010/main" val="1918806112"/>
              </p:ext>
            </p:extLst>
          </p:nvPr>
        </p:nvGraphicFramePr>
        <p:xfrm>
          <a:off x="6546850" y="4768850"/>
          <a:ext cx="5143500" cy="1555750"/>
        </p:xfrm>
        <a:graphic>
          <a:graphicData uri="http://schemas.openxmlformats.org/drawingml/2006/chart">
            <c:chart xmlns:c="http://schemas.openxmlformats.org/drawingml/2006/chart" xmlns:r="http://schemas.openxmlformats.org/officeDocument/2006/relationships" r:id="rId47"/>
          </a:graphicData>
        </a:graphic>
      </p:graphicFrame>
      <p:cxnSp>
        <p:nvCxnSpPr>
          <p:cNvPr id="3190" name="直接连接符 3189">
            <a:extLst>
              <a:ext uri="{FF2B5EF4-FFF2-40B4-BE49-F238E27FC236}">
                <a16:creationId xmlns:a16="http://schemas.microsoft.com/office/drawing/2014/main" id="{689DA5B8-37BB-87F6-D692-11B4F5C54EED}"/>
              </a:ext>
            </a:extLst>
          </p:cNvPr>
          <p:cNvCxnSpPr/>
          <p:nvPr>
            <p:custDataLst>
              <p:tags r:id="rId26"/>
            </p:custDataLst>
          </p:nvPr>
        </p:nvCxnSpPr>
        <p:spPr bwMode="auto">
          <a:xfrm flipV="1">
            <a:off x="7126288" y="4854575"/>
            <a:ext cx="0" cy="7620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91" name="直接连接符 3190">
            <a:extLst>
              <a:ext uri="{FF2B5EF4-FFF2-40B4-BE49-F238E27FC236}">
                <a16:creationId xmlns:a16="http://schemas.microsoft.com/office/drawing/2014/main" id="{7F4568BC-3C16-3010-3829-EF106EF0006B}"/>
              </a:ext>
            </a:extLst>
          </p:cNvPr>
          <p:cNvCxnSpPr>
            <a:cxnSpLocks/>
          </p:cNvCxnSpPr>
          <p:nvPr>
            <p:custDataLst>
              <p:tags r:id="rId27"/>
            </p:custDataLst>
          </p:nvPr>
        </p:nvCxnSpPr>
        <p:spPr bwMode="auto">
          <a:xfrm>
            <a:off x="7126288" y="4854575"/>
            <a:ext cx="39830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92" name="直接连接符 3191">
            <a:extLst>
              <a:ext uri="{FF2B5EF4-FFF2-40B4-BE49-F238E27FC236}">
                <a16:creationId xmlns:a16="http://schemas.microsoft.com/office/drawing/2014/main" id="{4F251196-A4AE-8480-04B3-DAE5C639BF2F}"/>
              </a:ext>
            </a:extLst>
          </p:cNvPr>
          <p:cNvCxnSpPr/>
          <p:nvPr>
            <p:custDataLst>
              <p:tags r:id="rId28"/>
            </p:custDataLst>
          </p:nvPr>
        </p:nvCxnSpPr>
        <p:spPr bwMode="auto">
          <a:xfrm>
            <a:off x="11109325" y="4854575"/>
            <a:ext cx="0" cy="533400"/>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3258" name="直接连接符 3257">
            <a:extLst>
              <a:ext uri="{FF2B5EF4-FFF2-40B4-BE49-F238E27FC236}">
                <a16:creationId xmlns:a16="http://schemas.microsoft.com/office/drawing/2014/main" id="{53DA2746-B94F-B60F-A55E-C858B7A9D62F}"/>
              </a:ext>
            </a:extLst>
          </p:cNvPr>
          <p:cNvCxnSpPr/>
          <p:nvPr>
            <p:custDataLst>
              <p:tags r:id="rId29"/>
            </p:custDataLst>
          </p:nvPr>
        </p:nvCxnSpPr>
        <p:spPr bwMode="auto">
          <a:xfrm flipV="1">
            <a:off x="8121650" y="5257800"/>
            <a:ext cx="0" cy="74613"/>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63" name="直接连接符 3262">
            <a:extLst>
              <a:ext uri="{FF2B5EF4-FFF2-40B4-BE49-F238E27FC236}">
                <a16:creationId xmlns:a16="http://schemas.microsoft.com/office/drawing/2014/main" id="{9ADAF9A6-8466-3FB1-4231-AE786C8C2694}"/>
              </a:ext>
            </a:extLst>
          </p:cNvPr>
          <p:cNvCxnSpPr/>
          <p:nvPr>
            <p:custDataLst>
              <p:tags r:id="rId30"/>
            </p:custDataLst>
          </p:nvPr>
        </p:nvCxnSpPr>
        <p:spPr bwMode="auto">
          <a:xfrm flipV="1">
            <a:off x="9117013" y="5505450"/>
            <a:ext cx="0" cy="101600"/>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25" name="直接连接符 1024">
            <a:extLst>
              <a:ext uri="{FF2B5EF4-FFF2-40B4-BE49-F238E27FC236}">
                <a16:creationId xmlns:a16="http://schemas.microsoft.com/office/drawing/2014/main" id="{F667CBC5-F237-B1D0-D39A-5AE0D9B01A8C}"/>
              </a:ext>
            </a:extLst>
          </p:cNvPr>
          <p:cNvCxnSpPr/>
          <p:nvPr>
            <p:custDataLst>
              <p:tags r:id="rId31"/>
            </p:custDataLst>
          </p:nvPr>
        </p:nvCxnSpPr>
        <p:spPr bwMode="auto">
          <a:xfrm flipV="1">
            <a:off x="10113963" y="5622925"/>
            <a:ext cx="0" cy="66675"/>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645" name="Text Placeholder 4">
            <a:extLst>
              <a:ext uri="{FF2B5EF4-FFF2-40B4-BE49-F238E27FC236}">
                <a16:creationId xmlns:a16="http://schemas.microsoft.com/office/drawing/2014/main" id="{A7AB9E19-E313-608F-E2C4-9954F8C26BDC}"/>
              </a:ext>
            </a:extLst>
          </p:cNvPr>
          <p:cNvSpPr>
            <a:spLocks/>
          </p:cNvSpPr>
          <p:nvPr>
            <p:custDataLst>
              <p:tags r:id="rId32"/>
            </p:custDataLst>
          </p:nvPr>
        </p:nvSpPr>
        <p:spPr bwMode="auto">
          <a:xfrm>
            <a:off x="6656388" y="6076950"/>
            <a:ext cx="9398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F984B0B9-A7F7-44E2-9F0C-C14D441B3731}" type="datetime'C''''''''''''''''''''M''''''''3''''''''84''''能''''''效'''''">
              <a:rPr lang="en-US" altLang="en-US" sz="1400" smtClean="0">
                <a:cs typeface="+mn-cs"/>
              </a:rPr>
              <a:pPr/>
              <a:t>CM384能效</a:t>
            </a:fld>
            <a:endParaRPr lang="zh-CN" altLang="en-US" sz="1400" dirty="0">
              <a:cs typeface="+mn-cs"/>
            </a:endParaRPr>
          </a:p>
        </p:txBody>
      </p:sp>
      <p:sp>
        <p:nvSpPr>
          <p:cNvPr id="3647" name="Text Placeholder 4">
            <a:extLst>
              <a:ext uri="{FF2B5EF4-FFF2-40B4-BE49-F238E27FC236}">
                <a16:creationId xmlns:a16="http://schemas.microsoft.com/office/drawing/2014/main" id="{A97C9B77-8E90-731A-0224-80BB7153A9DF}"/>
              </a:ext>
            </a:extLst>
          </p:cNvPr>
          <p:cNvSpPr>
            <a:spLocks/>
          </p:cNvSpPr>
          <p:nvPr>
            <p:custDataLst>
              <p:tags r:id="rId33"/>
            </p:custDataLst>
          </p:nvPr>
        </p:nvSpPr>
        <p:spPr bwMode="auto">
          <a:xfrm>
            <a:off x="7848600" y="6076950"/>
            <a:ext cx="54610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A479C2F1-F5D4-42DA-B4B4-C9E08DFE51E4}" type="datetime'''''''''''''光''''''模''''''块''''''''''能效''差'''''''''''''">
              <a:rPr lang="zh-CN" altLang="en-US" sz="1400" smtClean="0">
                <a:cs typeface="+mn-cs"/>
              </a:rPr>
              <a:pPr/>
              <a:t>光模块能效差</a:t>
            </a:fld>
            <a:endParaRPr lang="zh-CN" altLang="en-US" sz="1400" dirty="0">
              <a:cs typeface="+mn-cs"/>
            </a:endParaRPr>
          </a:p>
        </p:txBody>
      </p:sp>
      <p:sp>
        <p:nvSpPr>
          <p:cNvPr id="3136" name="Text Placeholder 4">
            <a:extLst>
              <a:ext uri="{FF2B5EF4-FFF2-40B4-BE49-F238E27FC236}">
                <a16:creationId xmlns:a16="http://schemas.microsoft.com/office/drawing/2014/main" id="{1F8BCA6D-31A0-A459-9B67-F11DBE3A4F11}"/>
              </a:ext>
            </a:extLst>
          </p:cNvPr>
          <p:cNvSpPr>
            <a:spLocks/>
          </p:cNvSpPr>
          <p:nvPr>
            <p:custDataLst>
              <p:tags r:id="rId34"/>
            </p:custDataLst>
          </p:nvPr>
        </p:nvSpPr>
        <p:spPr bwMode="auto">
          <a:xfrm>
            <a:off x="8666163" y="6076950"/>
            <a:ext cx="9017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F2057C7A-421B-4165-985E-216A07AFAEEA}" type="datetime'''单卡''''''能''''''''''''''''''''''''''''''''''''效差'''''''">
              <a:rPr lang="zh-CN" altLang="en-US" sz="1400" smtClean="0">
                <a:cs typeface="+mn-cs"/>
              </a:rPr>
              <a:pPr/>
              <a:t>单卡能效差</a:t>
            </a:fld>
            <a:endParaRPr lang="zh-CN" altLang="en-US" sz="1400" dirty="0">
              <a:cs typeface="+mn-cs"/>
            </a:endParaRPr>
          </a:p>
        </p:txBody>
      </p:sp>
      <p:sp>
        <p:nvSpPr>
          <p:cNvPr id="3143" name="Text Placeholder 4">
            <a:extLst>
              <a:ext uri="{FF2B5EF4-FFF2-40B4-BE49-F238E27FC236}">
                <a16:creationId xmlns:a16="http://schemas.microsoft.com/office/drawing/2014/main" id="{9438C138-D03B-A34F-19B7-2FFE2A73A841}"/>
              </a:ext>
            </a:extLst>
          </p:cNvPr>
          <p:cNvSpPr>
            <a:spLocks/>
          </p:cNvSpPr>
          <p:nvPr>
            <p:custDataLst>
              <p:tags r:id="rId35"/>
            </p:custDataLst>
          </p:nvPr>
        </p:nvSpPr>
        <p:spPr bwMode="auto">
          <a:xfrm>
            <a:off x="9752013" y="6076950"/>
            <a:ext cx="72390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8AFBAD69-E57F-47E0-856D-A67879F135C1}" type="datetime'''''''其''''''他''''''''''''''部''''''''分''''''''''''''''''''能效差'">
              <a:rPr lang="zh-CN" altLang="en-US" sz="1400" smtClean="0">
                <a:cs typeface="+mn-cs"/>
              </a:rPr>
              <a:pPr/>
              <a:t>其他部分能效差</a:t>
            </a:fld>
            <a:endParaRPr lang="zh-CN" altLang="en-US" sz="1400" dirty="0">
              <a:cs typeface="+mn-cs"/>
            </a:endParaRPr>
          </a:p>
        </p:txBody>
      </p:sp>
      <p:sp>
        <p:nvSpPr>
          <p:cNvPr id="3144" name="Text Placeholder 4">
            <a:extLst>
              <a:ext uri="{FF2B5EF4-FFF2-40B4-BE49-F238E27FC236}">
                <a16:creationId xmlns:a16="http://schemas.microsoft.com/office/drawing/2014/main" id="{2BAF0AC1-4E70-D086-57FC-B2940C9D0BFD}"/>
              </a:ext>
            </a:extLst>
          </p:cNvPr>
          <p:cNvSpPr>
            <a:spLocks/>
          </p:cNvSpPr>
          <p:nvPr>
            <p:custDataLst>
              <p:tags r:id="rId36"/>
            </p:custDataLst>
          </p:nvPr>
        </p:nvSpPr>
        <p:spPr bwMode="auto">
          <a:xfrm>
            <a:off x="10653713" y="6076950"/>
            <a:ext cx="9112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686ABBF8-76F9-423C-BA7E-7FF5B6F6DED0}" type="datetime'''''''''G''''''''B2''00 ''NV''''''L''''7''''''2''能''效'''''''''">
              <a:rPr lang="en-US" altLang="en-US" sz="1400" smtClean="0">
                <a:cs typeface="+mn-cs"/>
              </a:rPr>
              <a:pPr/>
              <a:t>GB200 NVL72能效</a:t>
            </a:fld>
            <a:endParaRPr lang="zh-CN" altLang="en-US" sz="1400" dirty="0">
              <a:cs typeface="+mn-cs"/>
            </a:endParaRPr>
          </a:p>
        </p:txBody>
      </p:sp>
      <p:sp>
        <p:nvSpPr>
          <p:cNvPr id="3187" name="Text Placeholder 4">
            <a:extLst>
              <a:ext uri="{FF2B5EF4-FFF2-40B4-BE49-F238E27FC236}">
                <a16:creationId xmlns:a16="http://schemas.microsoft.com/office/drawing/2014/main" id="{2CD000E8-9C1A-5C05-2734-2E71009A5C12}"/>
              </a:ext>
            </a:extLst>
          </p:cNvPr>
          <p:cNvSpPr>
            <a:spLocks/>
          </p:cNvSpPr>
          <p:nvPr>
            <p:custDataLst>
              <p:tags r:id="rId37"/>
            </p:custDataLst>
          </p:nvPr>
        </p:nvSpPr>
        <p:spPr bwMode="auto">
          <a:xfrm>
            <a:off x="8823325" y="4703763"/>
            <a:ext cx="587375" cy="301625"/>
          </a:xfrm>
          <a:prstGeom prst="ellipse">
            <a:avLst/>
          </a:prstGeom>
          <a:solidFill>
            <a:schemeClr val="bg1"/>
          </a:solidFill>
          <a:ln w="9525" cmpd="sng" algn="ctr">
            <a:solidFill>
              <a:schemeClr val="tx1"/>
            </a:solid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E57B1B42-F7E2-45F5-BFDB-832BED93DD43}" type="datetime'''''''''''''''''''''-''''''5''''6''''''''''''''''%'''''''''">
              <a:rPr lang="en-US" altLang="en-US" sz="1400" b="1" smtClean="0">
                <a:effectLst/>
                <a:cs typeface="+mn-cs"/>
              </a:rPr>
              <a:pPr/>
              <a:t>-56%</a:t>
            </a:fld>
            <a:endParaRPr lang="zh-CN" altLang="en-US" sz="1400" b="1" dirty="0">
              <a:cs typeface="+mn-cs"/>
            </a:endParaRPr>
          </a:p>
        </p:txBody>
      </p:sp>
      <p:sp>
        <p:nvSpPr>
          <p:cNvPr id="3243" name="文本框 3242">
            <a:extLst>
              <a:ext uri="{FF2B5EF4-FFF2-40B4-BE49-F238E27FC236}">
                <a16:creationId xmlns:a16="http://schemas.microsoft.com/office/drawing/2014/main" id="{A71C0119-D653-5A9F-81EE-166DF1275879}"/>
              </a:ext>
            </a:extLst>
          </p:cNvPr>
          <p:cNvSpPr txBox="1"/>
          <p:nvPr/>
        </p:nvSpPr>
        <p:spPr>
          <a:xfrm>
            <a:off x="6648814" y="4525169"/>
            <a:ext cx="2214563" cy="306388"/>
          </a:xfrm>
          <a:prstGeom prst="rect">
            <a:avLst/>
          </a:prstGeom>
          <a:noFill/>
        </p:spPr>
        <p:txBody>
          <a:bodyPr wrap="square">
            <a:spAutoFit/>
          </a:bodyPr>
          <a:lstStyle/>
          <a:p>
            <a:r>
              <a:rPr lang="zh-CN" altLang="en-US" sz="1400" dirty="0">
                <a:solidFill>
                  <a:schemeClr val="accent6">
                    <a:lumMod val="10000"/>
                  </a:schemeClr>
                </a:solidFill>
                <a:cs typeface="+mn-ea"/>
                <a:sym typeface="+mn-lt"/>
              </a:rPr>
              <a:t>能效比（</a:t>
            </a:r>
            <a:r>
              <a:rPr lang="en-US" altLang="zh-CN" sz="1400" dirty="0">
                <a:solidFill>
                  <a:schemeClr val="accent6">
                    <a:lumMod val="10000"/>
                  </a:schemeClr>
                </a:solidFill>
                <a:cs typeface="+mn-ea"/>
                <a:sym typeface="+mn-lt"/>
              </a:rPr>
              <a:t>W/TFLOPS</a:t>
            </a:r>
            <a:r>
              <a:rPr lang="zh-CN" altLang="en-US" sz="1400" dirty="0">
                <a:solidFill>
                  <a:schemeClr val="accent6">
                    <a:lumMod val="10000"/>
                  </a:schemeClr>
                </a:solidFill>
                <a:cs typeface="+mn-ea"/>
                <a:sym typeface="+mn-lt"/>
              </a:rPr>
              <a:t>）</a:t>
            </a:r>
            <a:endParaRPr lang="en-US" altLang="zh-CN" sz="1400" dirty="0">
              <a:solidFill>
                <a:schemeClr val="accent6">
                  <a:lumMod val="10000"/>
                </a:schemeClr>
              </a:solidFill>
              <a:cs typeface="+mn-ea"/>
              <a:sym typeface="+mn-lt"/>
            </a:endParaRPr>
          </a:p>
        </p:txBody>
      </p:sp>
      <p:sp>
        <p:nvSpPr>
          <p:cNvPr id="3244" name="文本框 3243">
            <a:extLst>
              <a:ext uri="{FF2B5EF4-FFF2-40B4-BE49-F238E27FC236}">
                <a16:creationId xmlns:a16="http://schemas.microsoft.com/office/drawing/2014/main" id="{AF74CE28-2416-6AAE-26F4-EA6F6AB28A8A}"/>
              </a:ext>
            </a:extLst>
          </p:cNvPr>
          <p:cNvSpPr txBox="1"/>
          <p:nvPr/>
        </p:nvSpPr>
        <p:spPr>
          <a:xfrm>
            <a:off x="6518661" y="3917094"/>
            <a:ext cx="5360601" cy="328613"/>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en-US" altLang="zh-CN" dirty="0">
                <a:solidFill>
                  <a:schemeClr val="tx1">
                    <a:lumMod val="50000"/>
                  </a:schemeClr>
                </a:solidFill>
                <a:cs typeface="+mn-ea"/>
                <a:sym typeface="+mn-lt"/>
              </a:rPr>
              <a:t>CM384</a:t>
            </a:r>
            <a:r>
              <a:rPr kumimoji="1" lang="zh-CN" altLang="en-US" dirty="0">
                <a:solidFill>
                  <a:schemeClr val="tx1">
                    <a:lumMod val="50000"/>
                  </a:schemeClr>
                </a:solidFill>
                <a:cs typeface="+mn-ea"/>
                <a:sym typeface="+mn-lt"/>
              </a:rPr>
              <a:t>能效比为</a:t>
            </a:r>
            <a:r>
              <a:rPr kumimoji="1" lang="en-US" altLang="zh-CN" dirty="0">
                <a:solidFill>
                  <a:schemeClr val="tx1">
                    <a:lumMod val="50000"/>
                  </a:schemeClr>
                </a:solidFill>
                <a:cs typeface="+mn-ea"/>
                <a:sym typeface="+mn-lt"/>
              </a:rPr>
              <a:t>NV 2.3x</a:t>
            </a:r>
            <a:r>
              <a:rPr kumimoji="1" lang="zh-CN" altLang="en-US" dirty="0">
                <a:solidFill>
                  <a:schemeClr val="tx1">
                    <a:lumMod val="50000"/>
                  </a:schemeClr>
                </a:solidFill>
                <a:cs typeface="+mn-ea"/>
                <a:sym typeface="+mn-lt"/>
              </a:rPr>
              <a:t>，光模块贡献</a:t>
            </a:r>
            <a:r>
              <a:rPr kumimoji="1" lang="en-US" altLang="zh-CN" b="1" dirty="0">
                <a:solidFill>
                  <a:srgbClr val="0052D9"/>
                </a:solidFill>
                <a:cs typeface="+mn-ea"/>
                <a:sym typeface="+mn-lt"/>
              </a:rPr>
              <a:t>~20%</a:t>
            </a:r>
            <a:r>
              <a:rPr kumimoji="1" lang="zh-CN" altLang="en-US" dirty="0">
                <a:solidFill>
                  <a:schemeClr val="tx1">
                    <a:lumMod val="50000"/>
                  </a:schemeClr>
                </a:solidFill>
                <a:cs typeface="+mn-ea"/>
                <a:sym typeface="+mn-lt"/>
              </a:rPr>
              <a:t>能效差</a:t>
            </a:r>
            <a:r>
              <a:rPr kumimoji="1" lang="en-US" altLang="zh-CN" baseline="30000" dirty="0">
                <a:solidFill>
                  <a:schemeClr val="tx1">
                    <a:lumMod val="50000"/>
                  </a:schemeClr>
                </a:solidFill>
                <a:cs typeface="+mn-ea"/>
                <a:sym typeface="+mn-lt"/>
              </a:rPr>
              <a:t>2</a:t>
            </a:r>
            <a:r>
              <a:rPr kumimoji="1" lang="zh-CN" altLang="en-US" dirty="0">
                <a:solidFill>
                  <a:schemeClr val="tx1">
                    <a:lumMod val="50000"/>
                  </a:schemeClr>
                </a:solidFill>
                <a:cs typeface="+mn-ea"/>
                <a:sym typeface="+mn-lt"/>
              </a:rPr>
              <a:t>，</a:t>
            </a:r>
            <a:r>
              <a:rPr kumimoji="1" lang="en-US" altLang="zh-CN" dirty="0">
                <a:solidFill>
                  <a:schemeClr val="tx1">
                    <a:lumMod val="50000"/>
                  </a:schemeClr>
                </a:solidFill>
                <a:cs typeface="+mn-ea"/>
                <a:sym typeface="+mn-lt"/>
              </a:rPr>
              <a:t>CPO</a:t>
            </a:r>
            <a:r>
              <a:rPr kumimoji="1" lang="zh-CN" altLang="en-US" dirty="0">
                <a:solidFill>
                  <a:schemeClr val="tx1">
                    <a:lumMod val="50000"/>
                  </a:schemeClr>
                </a:solidFill>
                <a:cs typeface="+mn-ea"/>
                <a:sym typeface="+mn-lt"/>
              </a:rPr>
              <a:t>节能将成为关键</a:t>
            </a:r>
            <a:endParaRPr kumimoji="1" lang="en-US" altLang="zh-CN" b="1" dirty="0">
              <a:solidFill>
                <a:srgbClr val="0052D9"/>
              </a:solidFill>
              <a:cs typeface="+mn-ea"/>
              <a:sym typeface="+mn-lt"/>
            </a:endParaRPr>
          </a:p>
        </p:txBody>
      </p:sp>
    </p:spTree>
    <p:extLst>
      <p:ext uri="{BB962C8B-B14F-4D97-AF65-F5344CB8AC3E}">
        <p14:creationId xmlns:p14="http://schemas.microsoft.com/office/powerpoint/2010/main" val="2808053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CD55-FB77-A3AC-E199-52E1D5F9C18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D664165-D337-BD98-86DD-A31B0D6CD53A}"/>
              </a:ext>
            </a:extLst>
          </p:cNvPr>
          <p:cNvGraphicFramePr>
            <a:graphicFrameLocks noChangeAspect="1"/>
          </p:cNvGraphicFramePr>
          <p:nvPr>
            <p:custDataLst>
              <p:tags r:id="rId1"/>
            </p:custDataLst>
            <p:extLst>
              <p:ext uri="{D42A27DB-BD31-4B8C-83A1-F6EECF244321}">
                <p14:modId xmlns:p14="http://schemas.microsoft.com/office/powerpoint/2010/main" val="13429668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4" imgH="405" progId="TCLayout.ActiveDocument.1">
                  <p:embed/>
                </p:oleObj>
              </mc:Choice>
              <mc:Fallback>
                <p:oleObj name="think-cell 幻灯片" r:id="rId4" imgW="404" imgH="405" progId="TCLayout.ActiveDocument.1">
                  <p:embed/>
                  <p:pic>
                    <p:nvPicPr>
                      <p:cNvPr id="5" name="think-cell data - do not delete" hidden="1">
                        <a:extLst>
                          <a:ext uri="{FF2B5EF4-FFF2-40B4-BE49-F238E27FC236}">
                            <a16:creationId xmlns:a16="http://schemas.microsoft.com/office/drawing/2014/main" id="{797B2007-B7FD-C68E-DD7F-3E2CE41FC71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46" name="文本框 245">
            <a:extLst>
              <a:ext uri="{FF2B5EF4-FFF2-40B4-BE49-F238E27FC236}">
                <a16:creationId xmlns:a16="http://schemas.microsoft.com/office/drawing/2014/main" id="{EA5C795C-C515-BC8D-C257-AFA9FF9F423B}"/>
              </a:ext>
            </a:extLst>
          </p:cNvPr>
          <p:cNvSpPr txBox="1"/>
          <p:nvPr/>
        </p:nvSpPr>
        <p:spPr>
          <a:xfrm>
            <a:off x="6585164" y="2457062"/>
            <a:ext cx="5269570" cy="328613"/>
          </a:xfrm>
          <a:prstGeom prst="rect">
            <a:avLst/>
          </a:prstGeom>
          <a:ln w="6350">
            <a:noFill/>
            <a:miter lim="800000"/>
          </a:ln>
        </p:spPr>
        <p:txBody>
          <a:bodyPr vert="horz" wrap="square" lIns="0" tIns="0" rIns="0" bIns="0" rtlCol="0">
            <a:no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1" lang="zh-CN" altLang="en-US" sz="1600" b="0" i="0" u="none" strike="noStrike" kern="1200" cap="none" spc="0" normalizeH="0" baseline="0" noProof="0" dirty="0">
                <a:ln>
                  <a:noFill/>
                </a:ln>
                <a:solidFill>
                  <a:srgbClr val="0052D9"/>
                </a:solidFill>
                <a:effectLst/>
                <a:uLnTx/>
                <a:uFillTx/>
                <a:latin typeface="Arial"/>
                <a:ea typeface="楷体"/>
                <a:cs typeface="+mn-ea"/>
                <a:sym typeface="+mn-lt"/>
              </a:rPr>
              <a:t>① </a:t>
            </a:r>
            <a:r>
              <a:rPr kumimoji="1" lang="zh-CN" altLang="en-US" sz="1600" b="1" i="0" u="none" strike="noStrike" kern="1200" cap="none" spc="0" normalizeH="0" baseline="0" noProof="0" dirty="0">
                <a:ln>
                  <a:noFill/>
                </a:ln>
                <a:solidFill>
                  <a:srgbClr val="DCDEE0">
                    <a:lumMod val="10000"/>
                  </a:srgbClr>
                </a:solidFill>
                <a:effectLst/>
                <a:uLnTx/>
                <a:uFillTx/>
                <a:latin typeface="Arial"/>
                <a:ea typeface="楷体"/>
                <a:cs typeface="+mn-ea"/>
                <a:sym typeface="+mn-lt"/>
              </a:rPr>
              <a:t>潜在</a:t>
            </a:r>
            <a:r>
              <a:rPr kumimoji="1" lang="en-US" altLang="zh-CN" sz="1600" b="1" i="0" u="none" strike="noStrike" kern="1200" cap="none" spc="0" normalizeH="0" baseline="0" noProof="0" dirty="0">
                <a:ln>
                  <a:noFill/>
                </a:ln>
                <a:solidFill>
                  <a:srgbClr val="DCDEE0">
                    <a:lumMod val="10000"/>
                  </a:srgbClr>
                </a:solidFill>
                <a:effectLst/>
                <a:uLnTx/>
                <a:uFillTx/>
                <a:latin typeface="Arial"/>
                <a:ea typeface="楷体"/>
                <a:cs typeface="+mn-ea"/>
                <a:sym typeface="+mn-lt"/>
              </a:rPr>
              <a:t>CPO</a:t>
            </a:r>
            <a:r>
              <a:rPr kumimoji="1" lang="zh-CN" altLang="en-US" sz="1600" b="1" i="0" u="none" strike="noStrike" kern="1200" cap="none" spc="0" normalizeH="0" baseline="0" noProof="0" dirty="0">
                <a:ln>
                  <a:noFill/>
                </a:ln>
                <a:solidFill>
                  <a:srgbClr val="DCDEE0">
                    <a:lumMod val="10000"/>
                  </a:srgbClr>
                </a:solidFill>
                <a:effectLst/>
                <a:uLnTx/>
                <a:uFillTx/>
                <a:latin typeface="Arial"/>
                <a:ea typeface="楷体"/>
                <a:cs typeface="+mn-ea"/>
                <a:sym typeface="+mn-lt"/>
              </a:rPr>
              <a:t>端口数：</a:t>
            </a:r>
            <a:r>
              <a:rPr kumimoji="0" lang="zh-CN" altLang="zh-CN" sz="1600" b="1" i="0" u="none" strike="noStrike" kern="1200" cap="none" spc="0" normalizeH="0" baseline="0" noProof="0" dirty="0">
                <a:ln>
                  <a:noFill/>
                </a:ln>
                <a:solidFill>
                  <a:srgbClr val="DCDEE0">
                    <a:lumMod val="10000"/>
                  </a:srgbClr>
                </a:solidFill>
                <a:effectLst/>
                <a:uLnTx/>
                <a:uFillTx/>
                <a:latin typeface="Arial"/>
                <a:ea typeface="楷体"/>
                <a:cs typeface="+mn-ea"/>
                <a:sym typeface="+mn-lt"/>
              </a:rPr>
              <a:t> </a:t>
            </a:r>
            <a:r>
              <a:rPr kumimoji="1" lang="zh-CN" altLang="zh-CN"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AI/HPC GPU＋交换机</a:t>
            </a:r>
            <a:r>
              <a:rPr kumimoji="1" lang="zh-CN" altLang="en-US"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a:t>
            </a:r>
            <a:r>
              <a:rPr kumimoji="1" lang="zh-CN" altLang="zh-CN"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需要</a:t>
            </a:r>
            <a:r>
              <a:rPr kumimoji="1" lang="zh-CN" altLang="en-US"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高速光模块</a:t>
            </a:r>
            <a:r>
              <a:rPr kumimoji="1" lang="zh-CN" altLang="zh-CN"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 800 G/</a:t>
            </a:r>
            <a:r>
              <a:rPr kumimoji="1" lang="en-US" altLang="zh-CN"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 </a:t>
            </a:r>
            <a:r>
              <a:rPr kumimoji="1" lang="zh-CN" altLang="zh-CN"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1.6 T</a:t>
            </a:r>
            <a:r>
              <a:rPr kumimoji="1" lang="en-US" altLang="zh-CN" sz="1600" dirty="0">
                <a:solidFill>
                  <a:srgbClr val="DCDEE0">
                    <a:lumMod val="10000"/>
                  </a:srgbClr>
                </a:solidFill>
                <a:latin typeface="Arial"/>
                <a:ea typeface="楷体"/>
                <a:cs typeface="+mn-ea"/>
                <a:sym typeface="+mn-lt"/>
              </a:rPr>
              <a:t>/ </a:t>
            </a:r>
            <a:r>
              <a:rPr kumimoji="1" lang="en-US" altLang="zh-CN"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3.2T</a:t>
            </a:r>
            <a:r>
              <a:rPr kumimoji="1" lang="zh-CN" altLang="zh-CN"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端口</a:t>
            </a:r>
            <a:r>
              <a:rPr kumimoji="1" lang="zh-CN" altLang="en-US"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数 </a:t>
            </a:r>
            <a:r>
              <a:rPr kumimoji="1" lang="en-US" altLang="zh-CN"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 2030E </a:t>
            </a:r>
            <a:r>
              <a:rPr kumimoji="1" lang="en-US" altLang="zh-CN" sz="1600" dirty="0">
                <a:solidFill>
                  <a:srgbClr val="DCDEE0">
                    <a:lumMod val="10000"/>
                  </a:srgbClr>
                </a:solidFill>
                <a:latin typeface="Arial"/>
                <a:ea typeface="楷体"/>
                <a:cs typeface="+mn-ea"/>
                <a:sym typeface="+mn-lt"/>
              </a:rPr>
              <a:t>1</a:t>
            </a:r>
            <a:r>
              <a:rPr kumimoji="1" lang="zh-CN" altLang="en-US" sz="1600" dirty="0">
                <a:solidFill>
                  <a:srgbClr val="DCDEE0">
                    <a:lumMod val="10000"/>
                  </a:srgbClr>
                </a:solidFill>
                <a:latin typeface="Arial"/>
                <a:ea typeface="楷体"/>
                <a:cs typeface="+mn-ea"/>
                <a:sym typeface="+mn-lt"/>
              </a:rPr>
              <a:t>亿出货量</a:t>
            </a:r>
            <a:endParaRPr kumimoji="1" lang="en-US" altLang="zh-CN"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endParaRPr>
          </a:p>
          <a:p>
            <a:pPr marL="0" marR="0" lvl="0" indent="0" algn="l" defTabSz="914400" rtl="0" eaLnBrk="1" fontAlgn="auto" latinLnBrk="0" hangingPunct="1">
              <a:lnSpc>
                <a:spcPct val="100000"/>
              </a:lnSpc>
              <a:spcBef>
                <a:spcPts val="600"/>
              </a:spcBef>
              <a:spcAft>
                <a:spcPts val="600"/>
              </a:spcAft>
              <a:buClrTx/>
              <a:buSzTx/>
              <a:buFontTx/>
              <a:buNone/>
              <a:tabLst/>
              <a:defRPr/>
            </a:pPr>
            <a:r>
              <a:rPr kumimoji="1" lang="en-US" altLang="zh-CN" sz="1600" b="0" i="0" u="none" strike="noStrike" kern="1200" cap="none" spc="0" normalizeH="0" baseline="0" noProof="0" dirty="0">
                <a:ln>
                  <a:noFill/>
                </a:ln>
                <a:solidFill>
                  <a:srgbClr val="0052D9"/>
                </a:solidFill>
                <a:effectLst/>
                <a:uLnTx/>
                <a:uFillTx/>
                <a:latin typeface="Arial"/>
                <a:ea typeface="楷体"/>
                <a:cs typeface="+mn-ea"/>
                <a:sym typeface="+mn-lt"/>
              </a:rPr>
              <a:t> </a:t>
            </a:r>
          </a:p>
        </p:txBody>
      </p:sp>
      <p:sp>
        <p:nvSpPr>
          <p:cNvPr id="3" name="文本框 2">
            <a:extLst>
              <a:ext uri="{FF2B5EF4-FFF2-40B4-BE49-F238E27FC236}">
                <a16:creationId xmlns:a16="http://schemas.microsoft.com/office/drawing/2014/main" id="{896D3086-13FE-1D29-38B8-E5C5C498FDD3}"/>
              </a:ext>
            </a:extLst>
          </p:cNvPr>
          <p:cNvSpPr txBox="1"/>
          <p:nvPr/>
        </p:nvSpPr>
        <p:spPr>
          <a:xfrm>
            <a:off x="6490102" y="2979692"/>
            <a:ext cx="536463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1" lang="zh-CN" altLang="en-US" sz="1600" b="0" i="0" u="none" strike="noStrike" kern="1200" cap="none" spc="0" normalizeH="0" baseline="0" noProof="0" dirty="0">
                <a:ln>
                  <a:noFill/>
                </a:ln>
                <a:solidFill>
                  <a:srgbClr val="0052D9"/>
                </a:solidFill>
                <a:effectLst/>
                <a:uLnTx/>
                <a:uFillTx/>
                <a:latin typeface="Arial"/>
                <a:ea typeface="楷体"/>
                <a:cs typeface="+mn-ea"/>
                <a:sym typeface="+mn-lt"/>
              </a:rPr>
              <a:t>②</a:t>
            </a:r>
            <a:r>
              <a:rPr kumimoji="1" lang="en-US" altLang="zh-CN" sz="1600" b="0" i="0" u="none" strike="noStrike" kern="1200" cap="none" spc="0" normalizeH="0" baseline="0" noProof="0" dirty="0">
                <a:ln>
                  <a:noFill/>
                </a:ln>
                <a:solidFill>
                  <a:srgbClr val="0052D9"/>
                </a:solidFill>
                <a:effectLst/>
                <a:uLnTx/>
                <a:uFillTx/>
                <a:latin typeface="Arial"/>
                <a:ea typeface="楷体"/>
                <a:cs typeface="+mn-ea"/>
                <a:sym typeface="+mn-lt"/>
              </a:rPr>
              <a:t> </a:t>
            </a:r>
            <a:r>
              <a:rPr kumimoji="1" lang="zh-CN" altLang="en-US" sz="1600" b="1" i="0" u="none" strike="noStrike" kern="1200" cap="none" spc="0" normalizeH="0" baseline="0" noProof="0" dirty="0">
                <a:ln>
                  <a:noFill/>
                </a:ln>
                <a:solidFill>
                  <a:srgbClr val="53585F">
                    <a:lumMod val="50000"/>
                  </a:srgbClr>
                </a:solidFill>
                <a:effectLst/>
                <a:uLnTx/>
                <a:uFillTx/>
                <a:latin typeface="Arial"/>
                <a:ea typeface="楷体"/>
                <a:cs typeface="+mn-ea"/>
                <a:sym typeface="+mn-lt"/>
              </a:rPr>
              <a:t>渗透率：</a:t>
            </a:r>
            <a:r>
              <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HPC</a:t>
            </a:r>
            <a:r>
              <a:rPr kumimoji="1" lang="zh-CN" altLang="en-US"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集群新建支撑高渗透，</a:t>
            </a:r>
            <a:r>
              <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2030E 40%</a:t>
            </a:r>
          </a:p>
        </p:txBody>
      </p:sp>
      <p:sp>
        <p:nvSpPr>
          <p:cNvPr id="233" name="文本框 232">
            <a:extLst>
              <a:ext uri="{FF2B5EF4-FFF2-40B4-BE49-F238E27FC236}">
                <a16:creationId xmlns:a16="http://schemas.microsoft.com/office/drawing/2014/main" id="{27F10C0B-C23E-88BE-46D2-0F936EECF229}"/>
              </a:ext>
            </a:extLst>
          </p:cNvPr>
          <p:cNvSpPr txBox="1"/>
          <p:nvPr/>
        </p:nvSpPr>
        <p:spPr>
          <a:xfrm>
            <a:off x="476056" y="6488020"/>
            <a:ext cx="10733851" cy="422275"/>
          </a:xfrm>
          <a:prstGeom prst="rect">
            <a:avLst/>
          </a:prstGeom>
          <a:ln w="6350">
            <a:noFill/>
            <a:miter lim="800000"/>
          </a:ln>
        </p:spPr>
        <p:txBody>
          <a:bodyPr vert="horz" wrap="square" lIns="0" tIns="0" rIns="0" bIns="0" rtlCol="0">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1" lang="en-US" altLang="zh-CN" sz="12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Source: Morgan Stanley Research, </a:t>
            </a:r>
            <a:r>
              <a:rPr kumimoji="1" lang="en-US" altLang="zh-CN" sz="1200" b="0" i="1" u="none" strike="noStrike" kern="1200" cap="none" spc="0" normalizeH="0" baseline="0" noProof="0" dirty="0" err="1">
                <a:ln>
                  <a:noFill/>
                </a:ln>
                <a:solidFill>
                  <a:srgbClr val="53585F">
                    <a:lumMod val="50000"/>
                  </a:srgbClr>
                </a:solidFill>
                <a:effectLst/>
                <a:uLnTx/>
                <a:uFillTx/>
                <a:latin typeface="Arial"/>
                <a:ea typeface="楷体"/>
                <a:cs typeface="+mn-ea"/>
                <a:sym typeface="+mn-lt"/>
              </a:rPr>
              <a:t>Lightcounting</a:t>
            </a:r>
            <a:r>
              <a:rPr kumimoji="1" lang="en-US" altLang="zh-CN" sz="12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 </a:t>
            </a:r>
            <a:r>
              <a:rPr kumimoji="1" lang="en-US" altLang="zh-CN" sz="1200" b="0" i="1" u="none" strike="noStrike" kern="1200" cap="none" spc="0" normalizeH="0" baseline="0" noProof="0" dirty="0" err="1">
                <a:ln>
                  <a:noFill/>
                </a:ln>
                <a:solidFill>
                  <a:srgbClr val="53585F">
                    <a:lumMod val="50000"/>
                  </a:srgbClr>
                </a:solidFill>
                <a:effectLst/>
                <a:uLnTx/>
                <a:uFillTx/>
                <a:latin typeface="Arial"/>
                <a:ea typeface="楷体"/>
                <a:cs typeface="+mn-ea"/>
                <a:sym typeface="+mn-lt"/>
              </a:rPr>
              <a:t>SemiAnalysis</a:t>
            </a:r>
            <a:r>
              <a:rPr kumimoji="1" lang="en-US" altLang="zh-CN" sz="12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 </a:t>
            </a:r>
            <a:r>
              <a:rPr kumimoji="1" lang="zh-CN" altLang="en-US" sz="12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专家访谈</a:t>
            </a:r>
            <a:endParaRPr kumimoji="1" lang="en-US" altLang="zh-CN" sz="1200" b="0" i="1"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p:txBody>
      </p:sp>
      <p:sp>
        <p:nvSpPr>
          <p:cNvPr id="14" name="标题 1">
            <a:extLst>
              <a:ext uri="{FF2B5EF4-FFF2-40B4-BE49-F238E27FC236}">
                <a16:creationId xmlns:a16="http://schemas.microsoft.com/office/drawing/2014/main" id="{00E159DE-54C8-6C37-B46D-FF12E3B08587}"/>
              </a:ext>
            </a:extLst>
          </p:cNvPr>
          <p:cNvSpPr txBox="1">
            <a:spLocks/>
          </p:cNvSpPr>
          <p:nvPr/>
        </p:nvSpPr>
        <p:spPr>
          <a:xfrm>
            <a:off x="189040" y="80875"/>
            <a:ext cx="9677146" cy="731520"/>
          </a:xfrm>
          <a:prstGeom prst="rect">
            <a:avLst/>
          </a:prstGeom>
        </p:spPr>
        <p:txBody>
          <a:bodyPr vert="horz" wrap="square" lIns="0" tIns="0" rIns="0" bIns="0" rtlCol="0" anchor="ctr" anchorCtr="0">
            <a:noAutofit/>
          </a:bodyPr>
          <a:lstStyle>
            <a:lvl1pPr algn="l" defTabSz="914400" rtl="0" eaLnBrk="1" latinLnBrk="0" hangingPunct="1">
              <a:lnSpc>
                <a:spcPct val="100000"/>
              </a:lnSpc>
              <a:spcBef>
                <a:spcPct val="1"/>
              </a:spcBef>
              <a:buNone/>
              <a:defRPr lang="en-US" sz="2500" b="0" kern="1200" spc="0" baseline="0" dirty="0">
                <a:ln w="6350" cap="flat">
                  <a:noFill/>
                  <a:miter lim="800000"/>
                </a:ln>
                <a:solidFill>
                  <a:schemeClr val="tx1"/>
                </a:solidFill>
                <a:latin typeface="+mj-lt"/>
                <a:ea typeface="+mj-ea"/>
                <a:cs typeface="+mj-cs"/>
                <a:sym typeface="微软雅黑" panose="020B0503020204020204" pitchFamily="34" charset="-122"/>
              </a:defRPr>
            </a:lvl1pPr>
          </a:lstStyle>
          <a:p>
            <a:pPr marL="0" marR="0" lvl="0" indent="0" algn="l" defTabSz="914400" rtl="0" eaLnBrk="1" fontAlgn="auto" latinLnBrk="0" hangingPunct="1">
              <a:lnSpc>
                <a:spcPct val="100000"/>
              </a:lnSpc>
              <a:spcBef>
                <a:spcPct val="1"/>
              </a:spcBef>
              <a:spcAft>
                <a:spcPts val="0"/>
              </a:spcAft>
              <a:buClrTx/>
              <a:buSzTx/>
              <a:buFontTx/>
              <a:buNone/>
              <a:tabLst/>
              <a:defRPr/>
            </a:pPr>
            <a:r>
              <a:rPr kumimoji="0" lang="zh-CN" altLang="en-US" sz="2500" b="0" i="0" u="none" strike="noStrike" kern="1200" cap="none" spc="0" normalizeH="0" baseline="0" noProof="0" dirty="0">
                <a:ln w="6350" cap="flat">
                  <a:noFill/>
                  <a:miter lim="800000"/>
                </a:ln>
                <a:solidFill>
                  <a:srgbClr val="53585F"/>
                </a:solidFill>
                <a:effectLst/>
                <a:uLnTx/>
                <a:uFillTx/>
                <a:latin typeface="Arial"/>
                <a:ea typeface="楷体"/>
                <a:cs typeface="+mn-ea"/>
                <a:sym typeface="+mn-lt"/>
              </a:rPr>
              <a:t>万卡集群扩展支撑</a:t>
            </a:r>
            <a:r>
              <a:rPr kumimoji="0" lang="en-US" altLang="zh-CN" sz="2500" b="0" i="0" u="none" strike="noStrike" kern="1200" cap="none" spc="0" normalizeH="0" baseline="0" noProof="0" dirty="0">
                <a:ln w="6350" cap="flat">
                  <a:noFill/>
                  <a:miter lim="800000"/>
                </a:ln>
                <a:solidFill>
                  <a:srgbClr val="53585F"/>
                </a:solidFill>
                <a:effectLst/>
                <a:uLnTx/>
                <a:uFillTx/>
                <a:latin typeface="Arial"/>
                <a:ea typeface="楷体"/>
                <a:cs typeface="+mn-ea"/>
                <a:sym typeface="+mn-lt"/>
              </a:rPr>
              <a:t>CPO</a:t>
            </a:r>
            <a:r>
              <a:rPr kumimoji="0" lang="zh-CN" altLang="en-US" sz="2500" b="0" i="0" u="none" strike="noStrike" kern="1200" cap="none" spc="0" normalizeH="0" baseline="0" noProof="0" dirty="0">
                <a:ln w="6350" cap="flat">
                  <a:noFill/>
                  <a:miter lim="800000"/>
                </a:ln>
                <a:solidFill>
                  <a:srgbClr val="53585F"/>
                </a:solidFill>
                <a:effectLst/>
                <a:uLnTx/>
                <a:uFillTx/>
                <a:latin typeface="Arial"/>
                <a:ea typeface="楷体"/>
                <a:cs typeface="+mn-ea"/>
                <a:sym typeface="+mn-lt"/>
              </a:rPr>
              <a:t>百亿级市场</a:t>
            </a:r>
            <a:endParaRPr kumimoji="0" lang="en-US" altLang="zh-CN" sz="2500" b="0" i="0" u="none" strike="noStrike" kern="1200" cap="none" spc="0" normalizeH="0" baseline="0" noProof="0" dirty="0">
              <a:ln w="6350" cap="flat">
                <a:noFill/>
                <a:miter lim="800000"/>
              </a:ln>
              <a:solidFill>
                <a:srgbClr val="53585F"/>
              </a:solidFill>
              <a:effectLst/>
              <a:uLnTx/>
              <a:uFillTx/>
              <a:latin typeface="Arial"/>
              <a:ea typeface="楷体"/>
              <a:cs typeface="+mn-ea"/>
              <a:sym typeface="+mn-lt"/>
            </a:endParaRPr>
          </a:p>
        </p:txBody>
      </p:sp>
      <p:grpSp>
        <p:nvGrpSpPr>
          <p:cNvPr id="1463" name="组合 1462">
            <a:extLst>
              <a:ext uri="{FF2B5EF4-FFF2-40B4-BE49-F238E27FC236}">
                <a16:creationId xmlns:a16="http://schemas.microsoft.com/office/drawing/2014/main" id="{4C8FE088-9018-7181-2F90-D0428928D736}"/>
              </a:ext>
            </a:extLst>
          </p:cNvPr>
          <p:cNvGrpSpPr/>
          <p:nvPr/>
        </p:nvGrpSpPr>
        <p:grpSpPr>
          <a:xfrm>
            <a:off x="373525" y="2787152"/>
            <a:ext cx="5430359" cy="1436985"/>
            <a:chOff x="6288045" y="906950"/>
            <a:chExt cx="5430359" cy="1436985"/>
          </a:xfrm>
        </p:grpSpPr>
        <p:sp>
          <p:nvSpPr>
            <p:cNvPr id="232" name="straight_152520">
              <a:extLst>
                <a:ext uri="{FF2B5EF4-FFF2-40B4-BE49-F238E27FC236}">
                  <a16:creationId xmlns:a16="http://schemas.microsoft.com/office/drawing/2014/main" id="{7E71F5F1-653B-B5A0-1A03-4A14140FD997}"/>
                </a:ext>
              </a:extLst>
            </p:cNvPr>
            <p:cNvSpPr/>
            <p:nvPr/>
          </p:nvSpPr>
          <p:spPr>
            <a:xfrm>
              <a:off x="6288045" y="906950"/>
              <a:ext cx="324237" cy="323781"/>
            </a:xfrm>
            <a:custGeom>
              <a:avLst/>
              <a:gdLst>
                <a:gd name="T0" fmla="*/ 228 w 457"/>
                <a:gd name="T1" fmla="*/ 0 h 457"/>
                <a:gd name="T2" fmla="*/ 0 w 457"/>
                <a:gd name="T3" fmla="*/ 228 h 457"/>
                <a:gd name="T4" fmla="*/ 228 w 457"/>
                <a:gd name="T5" fmla="*/ 457 h 457"/>
                <a:gd name="T6" fmla="*/ 457 w 457"/>
                <a:gd name="T7" fmla="*/ 228 h 457"/>
                <a:gd name="T8" fmla="*/ 228 w 457"/>
                <a:gd name="T9" fmla="*/ 0 h 457"/>
                <a:gd name="T10" fmla="*/ 144 w 457"/>
                <a:gd name="T11" fmla="*/ 152 h 457"/>
                <a:gd name="T12" fmla="*/ 177 w 457"/>
                <a:gd name="T13" fmla="*/ 185 h 457"/>
                <a:gd name="T14" fmla="*/ 144 w 457"/>
                <a:gd name="T15" fmla="*/ 218 h 457"/>
                <a:gd name="T16" fmla="*/ 111 w 457"/>
                <a:gd name="T17" fmla="*/ 185 h 457"/>
                <a:gd name="T18" fmla="*/ 144 w 457"/>
                <a:gd name="T19" fmla="*/ 152 h 457"/>
                <a:gd name="T20" fmla="*/ 324 w 457"/>
                <a:gd name="T21" fmla="*/ 359 h 457"/>
                <a:gd name="T22" fmla="*/ 133 w 457"/>
                <a:gd name="T23" fmla="*/ 359 h 457"/>
                <a:gd name="T24" fmla="*/ 113 w 457"/>
                <a:gd name="T25" fmla="*/ 339 h 457"/>
                <a:gd name="T26" fmla="*/ 133 w 457"/>
                <a:gd name="T27" fmla="*/ 319 h 457"/>
                <a:gd name="T28" fmla="*/ 324 w 457"/>
                <a:gd name="T29" fmla="*/ 319 h 457"/>
                <a:gd name="T30" fmla="*/ 344 w 457"/>
                <a:gd name="T31" fmla="*/ 339 h 457"/>
                <a:gd name="T32" fmla="*/ 324 w 457"/>
                <a:gd name="T33" fmla="*/ 359 h 457"/>
                <a:gd name="T34" fmla="*/ 313 w 457"/>
                <a:gd name="T35" fmla="*/ 218 h 457"/>
                <a:gd name="T36" fmla="*/ 280 w 457"/>
                <a:gd name="T37" fmla="*/ 185 h 457"/>
                <a:gd name="T38" fmla="*/ 313 w 457"/>
                <a:gd name="T39" fmla="*/ 152 h 457"/>
                <a:gd name="T40" fmla="*/ 345 w 457"/>
                <a:gd name="T41" fmla="*/ 185 h 457"/>
                <a:gd name="T42" fmla="*/ 313 w 457"/>
                <a:gd name="T43" fmla="*/ 218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7" h="457">
                  <a:moveTo>
                    <a:pt x="228" y="0"/>
                  </a:moveTo>
                  <a:cubicBezTo>
                    <a:pt x="102" y="0"/>
                    <a:pt x="0" y="102"/>
                    <a:pt x="0" y="228"/>
                  </a:cubicBezTo>
                  <a:cubicBezTo>
                    <a:pt x="0" y="354"/>
                    <a:pt x="102" y="457"/>
                    <a:pt x="228" y="457"/>
                  </a:cubicBezTo>
                  <a:cubicBezTo>
                    <a:pt x="354" y="457"/>
                    <a:pt x="457" y="354"/>
                    <a:pt x="457" y="228"/>
                  </a:cubicBezTo>
                  <a:cubicBezTo>
                    <a:pt x="457" y="102"/>
                    <a:pt x="354" y="0"/>
                    <a:pt x="228" y="0"/>
                  </a:cubicBezTo>
                  <a:close/>
                  <a:moveTo>
                    <a:pt x="144" y="152"/>
                  </a:moveTo>
                  <a:cubicBezTo>
                    <a:pt x="162" y="152"/>
                    <a:pt x="177" y="167"/>
                    <a:pt x="177" y="185"/>
                  </a:cubicBezTo>
                  <a:cubicBezTo>
                    <a:pt x="177" y="203"/>
                    <a:pt x="162" y="218"/>
                    <a:pt x="144" y="218"/>
                  </a:cubicBezTo>
                  <a:cubicBezTo>
                    <a:pt x="126" y="218"/>
                    <a:pt x="111" y="203"/>
                    <a:pt x="111" y="185"/>
                  </a:cubicBezTo>
                  <a:cubicBezTo>
                    <a:pt x="111" y="167"/>
                    <a:pt x="126" y="152"/>
                    <a:pt x="144" y="152"/>
                  </a:cubicBezTo>
                  <a:close/>
                  <a:moveTo>
                    <a:pt x="324" y="359"/>
                  </a:moveTo>
                  <a:lnTo>
                    <a:pt x="133" y="359"/>
                  </a:lnTo>
                  <a:cubicBezTo>
                    <a:pt x="122" y="359"/>
                    <a:pt x="113" y="350"/>
                    <a:pt x="113" y="339"/>
                  </a:cubicBezTo>
                  <a:cubicBezTo>
                    <a:pt x="113" y="328"/>
                    <a:pt x="122" y="319"/>
                    <a:pt x="133" y="319"/>
                  </a:cubicBezTo>
                  <a:lnTo>
                    <a:pt x="324" y="319"/>
                  </a:lnTo>
                  <a:cubicBezTo>
                    <a:pt x="335" y="319"/>
                    <a:pt x="344" y="328"/>
                    <a:pt x="344" y="339"/>
                  </a:cubicBezTo>
                  <a:cubicBezTo>
                    <a:pt x="344" y="350"/>
                    <a:pt x="335" y="359"/>
                    <a:pt x="324" y="359"/>
                  </a:cubicBezTo>
                  <a:close/>
                  <a:moveTo>
                    <a:pt x="313" y="218"/>
                  </a:moveTo>
                  <a:cubicBezTo>
                    <a:pt x="295" y="218"/>
                    <a:pt x="280" y="203"/>
                    <a:pt x="280" y="185"/>
                  </a:cubicBezTo>
                  <a:cubicBezTo>
                    <a:pt x="280" y="167"/>
                    <a:pt x="295" y="152"/>
                    <a:pt x="313" y="152"/>
                  </a:cubicBezTo>
                  <a:cubicBezTo>
                    <a:pt x="331" y="152"/>
                    <a:pt x="345" y="167"/>
                    <a:pt x="345" y="185"/>
                  </a:cubicBezTo>
                  <a:cubicBezTo>
                    <a:pt x="345" y="203"/>
                    <a:pt x="331" y="218"/>
                    <a:pt x="313" y="218"/>
                  </a:cubicBezTo>
                  <a:close/>
                </a:path>
              </a:pathLst>
            </a:cu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楷体"/>
                <a:cs typeface="+mn-ea"/>
                <a:sym typeface="+mn-lt"/>
              </a:endParaRPr>
            </a:p>
          </p:txBody>
        </p:sp>
        <p:sp>
          <p:nvSpPr>
            <p:cNvPr id="17" name="文本框 16">
              <a:extLst>
                <a:ext uri="{FF2B5EF4-FFF2-40B4-BE49-F238E27FC236}">
                  <a16:creationId xmlns:a16="http://schemas.microsoft.com/office/drawing/2014/main" id="{C2933873-1A82-A7F9-31CC-CC5E9A88B1F5}"/>
                </a:ext>
              </a:extLst>
            </p:cNvPr>
            <p:cNvSpPr txBox="1"/>
            <p:nvPr/>
          </p:nvSpPr>
          <p:spPr>
            <a:xfrm>
              <a:off x="6742766" y="991252"/>
              <a:ext cx="3492221" cy="244216"/>
            </a:xfrm>
            <a:prstGeom prst="rect">
              <a:avLst/>
            </a:prstGeom>
            <a:ln w="6350">
              <a:noFill/>
              <a:miter lim="800000"/>
            </a:ln>
          </p:spPr>
          <p:txBody>
            <a:bodyPr vert="horz" wrap="square" lIns="0" tIns="0" rIns="0" bIns="0" rtlCol="0">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1" lang="en-US" altLang="zh-CN" sz="1600" b="1" i="0" u="none" strike="noStrike" kern="1200" cap="none" spc="0" normalizeH="0" baseline="0" noProof="0" dirty="0">
                  <a:ln>
                    <a:noFill/>
                  </a:ln>
                  <a:solidFill>
                    <a:srgbClr val="0052D9"/>
                  </a:solidFill>
                  <a:effectLst/>
                  <a:uLnTx/>
                  <a:uFillTx/>
                  <a:latin typeface="Arial"/>
                  <a:ea typeface="楷体"/>
                  <a:cs typeface="+mn-ea"/>
                  <a:sym typeface="+mn-lt"/>
                </a:rPr>
                <a:t>Base case</a:t>
              </a:r>
              <a:endParaRPr kumimoji="1" lang="zh-CN" altLang="en-US" sz="1600" b="1" i="0" u="none" strike="noStrike" kern="1200" cap="none" spc="0" normalizeH="0" baseline="0" noProof="0" dirty="0">
                <a:ln>
                  <a:noFill/>
                </a:ln>
                <a:solidFill>
                  <a:srgbClr val="0052D9"/>
                </a:solidFill>
                <a:effectLst/>
                <a:uLnTx/>
                <a:uFillTx/>
                <a:latin typeface="Arial"/>
                <a:ea typeface="楷体"/>
                <a:cs typeface="+mn-ea"/>
                <a:sym typeface="+mn-lt"/>
              </a:endParaRPr>
            </a:p>
          </p:txBody>
        </p:sp>
        <p:grpSp>
          <p:nvGrpSpPr>
            <p:cNvPr id="18" name="组合 17">
              <a:extLst>
                <a:ext uri="{FF2B5EF4-FFF2-40B4-BE49-F238E27FC236}">
                  <a16:creationId xmlns:a16="http://schemas.microsoft.com/office/drawing/2014/main" id="{628D8599-510F-84E1-32F5-0AFC97C92A17}"/>
                </a:ext>
              </a:extLst>
            </p:cNvPr>
            <p:cNvGrpSpPr/>
            <p:nvPr/>
          </p:nvGrpSpPr>
          <p:grpSpPr>
            <a:xfrm>
              <a:off x="6306483" y="1322982"/>
              <a:ext cx="5411921" cy="1020953"/>
              <a:chOff x="341635" y="2107778"/>
              <a:chExt cx="5934382" cy="1020953"/>
            </a:xfrm>
          </p:grpSpPr>
          <p:sp>
            <p:nvSpPr>
              <p:cNvPr id="19" name="圆角矩形 130">
                <a:extLst>
                  <a:ext uri="{FF2B5EF4-FFF2-40B4-BE49-F238E27FC236}">
                    <a16:creationId xmlns:a16="http://schemas.microsoft.com/office/drawing/2014/main" id="{918C1CBB-A30C-CF11-53E9-2DE4696E1092}"/>
                  </a:ext>
                </a:extLst>
              </p:cNvPr>
              <p:cNvSpPr/>
              <p:nvPr/>
            </p:nvSpPr>
            <p:spPr>
              <a:xfrm>
                <a:off x="341635" y="2107778"/>
                <a:ext cx="5934382" cy="1020953"/>
              </a:xfrm>
              <a:prstGeom prst="roundRect">
                <a:avLst>
                  <a:gd name="adj" fmla="val 5634"/>
                </a:avLst>
              </a:prstGeom>
              <a:noFill/>
              <a:ln w="6350" cap="sq">
                <a:solidFill>
                  <a:schemeClr val="tx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1" lang="zh-CN" altLang="en-US" sz="1600" b="0" i="0" u="none" strike="noStrike" kern="1200" cap="none" spc="0" normalizeH="0" baseline="0" noProof="0" dirty="0" err="1">
                  <a:ln>
                    <a:noFill/>
                  </a:ln>
                  <a:solidFill>
                    <a:srgbClr val="FFFFFF"/>
                  </a:solidFill>
                  <a:effectLst/>
                  <a:uLnTx/>
                  <a:uFillTx/>
                  <a:latin typeface="Arial"/>
                  <a:ea typeface="楷体"/>
                  <a:cs typeface="+mn-ea"/>
                  <a:sym typeface="+mn-lt"/>
                </a:endParaRPr>
              </a:p>
            </p:txBody>
          </p:sp>
          <p:sp>
            <p:nvSpPr>
              <p:cNvPr id="20" name="文本框 19">
                <a:extLst>
                  <a:ext uri="{FF2B5EF4-FFF2-40B4-BE49-F238E27FC236}">
                    <a16:creationId xmlns:a16="http://schemas.microsoft.com/office/drawing/2014/main" id="{69813FA2-FCC4-9F84-F7C6-9552509CA901}"/>
                  </a:ext>
                </a:extLst>
              </p:cNvPr>
              <p:cNvSpPr txBox="1"/>
              <p:nvPr/>
            </p:nvSpPr>
            <p:spPr>
              <a:xfrm>
                <a:off x="488628" y="2203240"/>
                <a:ext cx="5607371" cy="251805"/>
              </a:xfrm>
              <a:prstGeom prst="rect">
                <a:avLst/>
              </a:prstGeom>
              <a:ln w="6350">
                <a:noFill/>
                <a:miter lim="800000"/>
              </a:ln>
            </p:spPr>
            <p:txBody>
              <a:bodyPr vert="horz" wrap="square" lIns="0" tIns="0" rIns="0" bIns="0" rtlCol="0">
                <a:noAutofit/>
              </a:bodyPr>
              <a:lstStyle/>
              <a:p>
                <a:pPr marL="185738" marR="0" lvl="0" indent="-185738"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CAGR 172 %，2030e 收入约 </a:t>
                </a:r>
                <a:r>
                  <a:rPr kumimoji="1" lang="zh-CN" altLang="zh-CN" sz="1600" b="1" i="0" u="none" strike="noStrike" kern="1200" cap="none" spc="0" normalizeH="0" baseline="0" noProof="0" dirty="0">
                    <a:ln>
                      <a:noFill/>
                    </a:ln>
                    <a:solidFill>
                      <a:srgbClr val="0052D9"/>
                    </a:solidFill>
                    <a:effectLst/>
                    <a:uLnTx/>
                    <a:uFillTx/>
                    <a:latin typeface="Arial"/>
                    <a:ea typeface="楷体"/>
                    <a:cs typeface="+mn-ea"/>
                    <a:sym typeface="+mn-lt"/>
                  </a:rPr>
                  <a:t>93 </a:t>
                </a:r>
                <a:r>
                  <a:rPr kumimoji="1" lang="zh-CN" altLang="zh-CN" sz="16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亿美元</a:t>
                </a:r>
                <a:endPar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a:p>
                <a:pPr marL="185738" lvl="0" indent="-185738">
                  <a:spcBef>
                    <a:spcPts val="300"/>
                  </a:spcBef>
                  <a:spcAft>
                    <a:spcPts val="300"/>
                  </a:spcAft>
                  <a:buFont typeface="Arial" panose="020B0604020202020204" pitchFamily="34" charset="0"/>
                  <a:buChar char="•"/>
                </a:pPr>
                <a:r>
                  <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NVIDIA Rubin＋Broadcom TH7 </a:t>
                </a:r>
                <a:r>
                  <a:rPr kumimoji="1" lang="zh-CN" altLang="en-US"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巨头生态引领</a:t>
                </a:r>
                <a:r>
                  <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高端可插拔模块</a:t>
                </a:r>
                <a:r>
                  <a:rPr kumimoji="1" lang="zh-CN" altLang="en-US"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的</a:t>
                </a:r>
                <a:r>
                  <a:rPr kumimoji="1" lang="zh-CN" altLang="zh-CN" sz="1600" dirty="0">
                    <a:solidFill>
                      <a:srgbClr val="53585F">
                        <a:lumMod val="50000"/>
                      </a:srgbClr>
                    </a:solidFill>
                    <a:cs typeface="+mn-ea"/>
                    <a:sym typeface="+mn-lt"/>
                  </a:rPr>
                  <a:t>全面替换</a:t>
                </a:r>
                <a:r>
                  <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，渗透率 ~</a:t>
                </a:r>
                <a:r>
                  <a:rPr kumimoji="1" lang="en-US" altLang="zh-CN" sz="1600" dirty="0">
                    <a:solidFill>
                      <a:srgbClr val="53585F">
                        <a:lumMod val="50000"/>
                      </a:srgbClr>
                    </a:solidFill>
                    <a:latin typeface="Arial"/>
                    <a:ea typeface="楷体"/>
                    <a:cs typeface="+mn-ea"/>
                    <a:sym typeface="+mn-lt"/>
                  </a:rPr>
                  <a:t>40</a:t>
                </a:r>
                <a:r>
                  <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 %</a:t>
                </a:r>
              </a:p>
            </p:txBody>
          </p:sp>
        </p:grpSp>
      </p:grpSp>
      <p:grpSp>
        <p:nvGrpSpPr>
          <p:cNvPr id="1462" name="组合 1461">
            <a:extLst>
              <a:ext uri="{FF2B5EF4-FFF2-40B4-BE49-F238E27FC236}">
                <a16:creationId xmlns:a16="http://schemas.microsoft.com/office/drawing/2014/main" id="{3014FA72-4F3E-9274-7B07-15A87AE4E15F}"/>
              </a:ext>
            </a:extLst>
          </p:cNvPr>
          <p:cNvGrpSpPr/>
          <p:nvPr/>
        </p:nvGrpSpPr>
        <p:grpSpPr>
          <a:xfrm>
            <a:off x="333768" y="885069"/>
            <a:ext cx="5475869" cy="1475032"/>
            <a:chOff x="6288045" y="2695433"/>
            <a:chExt cx="5475869" cy="1475032"/>
          </a:xfrm>
        </p:grpSpPr>
        <p:pic>
          <p:nvPicPr>
            <p:cNvPr id="212" name="图形 211" descr="实心填充的笑嘻嘻表情 纯色填充">
              <a:extLst>
                <a:ext uri="{FF2B5EF4-FFF2-40B4-BE49-F238E27FC236}">
                  <a16:creationId xmlns:a16="http://schemas.microsoft.com/office/drawing/2014/main" id="{2CC4547C-DD76-5143-213D-C0203683C5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88045" y="2695433"/>
              <a:ext cx="396000" cy="396000"/>
            </a:xfrm>
            <a:prstGeom prst="rect">
              <a:avLst/>
            </a:prstGeom>
          </p:spPr>
        </p:pic>
        <p:sp>
          <p:nvSpPr>
            <p:cNvPr id="23" name="文本框 22">
              <a:extLst>
                <a:ext uri="{FF2B5EF4-FFF2-40B4-BE49-F238E27FC236}">
                  <a16:creationId xmlns:a16="http://schemas.microsoft.com/office/drawing/2014/main" id="{36624975-0981-D3F9-F854-E1C8F0149307}"/>
                </a:ext>
              </a:extLst>
            </p:cNvPr>
            <p:cNvSpPr txBox="1"/>
            <p:nvPr/>
          </p:nvSpPr>
          <p:spPr>
            <a:xfrm>
              <a:off x="6788276" y="2817782"/>
              <a:ext cx="3492221" cy="244216"/>
            </a:xfrm>
            <a:prstGeom prst="rect">
              <a:avLst/>
            </a:prstGeom>
            <a:ln w="6350">
              <a:noFill/>
              <a:miter lim="800000"/>
            </a:ln>
          </p:spPr>
          <p:txBody>
            <a:bodyPr vert="horz" wrap="square" lIns="0" tIns="0" rIns="0" bIns="0" rtlCol="0">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1" lang="en-US" altLang="zh-CN" sz="1600" b="1" i="0" u="none" strike="noStrike" kern="1200" cap="none" spc="0" normalizeH="0" baseline="0" noProof="0" dirty="0">
                  <a:ln>
                    <a:noFill/>
                  </a:ln>
                  <a:solidFill>
                    <a:schemeClr val="accent5"/>
                  </a:solidFill>
                  <a:effectLst/>
                  <a:uLnTx/>
                  <a:uFillTx/>
                  <a:latin typeface="Arial"/>
                  <a:ea typeface="楷体"/>
                  <a:cs typeface="+mn-ea"/>
                  <a:sym typeface="+mn-lt"/>
                </a:rPr>
                <a:t>Bull case</a:t>
              </a:r>
              <a:endParaRPr kumimoji="1" lang="zh-CN" altLang="en-US" sz="1600" b="1" i="0" u="none" strike="noStrike" kern="1200" cap="none" spc="0" normalizeH="0" baseline="0" noProof="0" dirty="0">
                <a:ln>
                  <a:noFill/>
                </a:ln>
                <a:solidFill>
                  <a:schemeClr val="accent5"/>
                </a:solidFill>
                <a:effectLst/>
                <a:uLnTx/>
                <a:uFillTx/>
                <a:latin typeface="Arial"/>
                <a:ea typeface="楷体"/>
                <a:cs typeface="+mn-ea"/>
                <a:sym typeface="+mn-lt"/>
              </a:endParaRPr>
            </a:p>
          </p:txBody>
        </p:sp>
        <p:grpSp>
          <p:nvGrpSpPr>
            <p:cNvPr id="24" name="组合 23">
              <a:extLst>
                <a:ext uri="{FF2B5EF4-FFF2-40B4-BE49-F238E27FC236}">
                  <a16:creationId xmlns:a16="http://schemas.microsoft.com/office/drawing/2014/main" id="{2E27FD0E-E4FE-C07B-7940-A3C005F152C2}"/>
                </a:ext>
              </a:extLst>
            </p:cNvPr>
            <p:cNvGrpSpPr/>
            <p:nvPr/>
          </p:nvGrpSpPr>
          <p:grpSpPr>
            <a:xfrm>
              <a:off x="6351993" y="3149512"/>
              <a:ext cx="5411921" cy="1020953"/>
              <a:chOff x="341635" y="2107778"/>
              <a:chExt cx="5934382" cy="1020953"/>
            </a:xfrm>
          </p:grpSpPr>
          <p:sp>
            <p:nvSpPr>
              <p:cNvPr id="25" name="圆角矩形 130">
                <a:extLst>
                  <a:ext uri="{FF2B5EF4-FFF2-40B4-BE49-F238E27FC236}">
                    <a16:creationId xmlns:a16="http://schemas.microsoft.com/office/drawing/2014/main" id="{9E33F0B5-71D6-18C3-066D-C723F07AAE06}"/>
                  </a:ext>
                </a:extLst>
              </p:cNvPr>
              <p:cNvSpPr/>
              <p:nvPr/>
            </p:nvSpPr>
            <p:spPr>
              <a:xfrm>
                <a:off x="341635" y="2107778"/>
                <a:ext cx="5934382" cy="1020953"/>
              </a:xfrm>
              <a:prstGeom prst="roundRect">
                <a:avLst>
                  <a:gd name="adj" fmla="val 5634"/>
                </a:avLst>
              </a:prstGeom>
              <a:noFill/>
              <a:ln w="6350" cap="sq">
                <a:solidFill>
                  <a:schemeClr val="tx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300"/>
                  </a:spcBef>
                  <a:spcAft>
                    <a:spcPts val="300"/>
                  </a:spcAft>
                </a:pPr>
                <a:endParaRPr kumimoji="1" lang="zh-CN" altLang="en-US" sz="1600" dirty="0" err="1">
                  <a:solidFill>
                    <a:srgbClr val="FFFFFF"/>
                  </a:solidFill>
                  <a:latin typeface="Arial"/>
                  <a:ea typeface="楷体"/>
                  <a:cs typeface="+mn-ea"/>
                  <a:sym typeface="+mn-lt"/>
                </a:endParaRPr>
              </a:p>
            </p:txBody>
          </p:sp>
          <p:sp>
            <p:nvSpPr>
              <p:cNvPr id="26" name="文本框 25">
                <a:extLst>
                  <a:ext uri="{FF2B5EF4-FFF2-40B4-BE49-F238E27FC236}">
                    <a16:creationId xmlns:a16="http://schemas.microsoft.com/office/drawing/2014/main" id="{3E85FB7E-4715-B017-F84B-229D98780F76}"/>
                  </a:ext>
                </a:extLst>
              </p:cNvPr>
              <p:cNvSpPr txBox="1"/>
              <p:nvPr/>
            </p:nvSpPr>
            <p:spPr>
              <a:xfrm>
                <a:off x="488628" y="2203240"/>
                <a:ext cx="5607371" cy="251805"/>
              </a:xfrm>
              <a:prstGeom prst="rect">
                <a:avLst/>
              </a:prstGeom>
              <a:ln w="6350">
                <a:noFill/>
                <a:miter lim="800000"/>
              </a:ln>
            </p:spPr>
            <p:txBody>
              <a:bodyPr vert="horz" wrap="square" lIns="0" tIns="0" rIns="0" bIns="0" rtlCol="0">
                <a:noAutofit/>
              </a:bodyPr>
              <a:lstStyle/>
              <a:p>
                <a:pPr marL="185738" marR="0" lvl="0" indent="-185738"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CAGR 210 %，2030e 收入约 </a:t>
                </a:r>
                <a:r>
                  <a:rPr kumimoji="1" lang="zh-CN" altLang="zh-CN" sz="1600" b="1" i="0" u="none" strike="noStrike" kern="1200" cap="none" spc="0" normalizeH="0" baseline="0" noProof="0" dirty="0">
                    <a:ln>
                      <a:noFill/>
                    </a:ln>
                    <a:solidFill>
                      <a:schemeClr val="accent5"/>
                    </a:solidFill>
                    <a:effectLst/>
                    <a:uLnTx/>
                    <a:uFillTx/>
                    <a:latin typeface="Arial"/>
                    <a:ea typeface="楷体"/>
                    <a:cs typeface="+mn-ea"/>
                    <a:sym typeface="+mn-lt"/>
                  </a:rPr>
                  <a:t>270</a:t>
                </a:r>
                <a:r>
                  <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 亿美元</a:t>
                </a:r>
                <a:endPar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a:p>
                <a:pPr marL="185738" marR="0" lvl="0" indent="-185738"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假设 CPO 方案在 800G</a:t>
                </a:r>
                <a:r>
                  <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a:t>
                </a:r>
                <a:r>
                  <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1.6T 所有节点都成为主流，渗透率&gt;60 %，并向 400 G 量级下沉</a:t>
                </a:r>
                <a:endPar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p:txBody>
          </p:sp>
        </p:grpSp>
      </p:grpSp>
      <p:grpSp>
        <p:nvGrpSpPr>
          <p:cNvPr id="1464" name="组合 1463">
            <a:extLst>
              <a:ext uri="{FF2B5EF4-FFF2-40B4-BE49-F238E27FC236}">
                <a16:creationId xmlns:a16="http://schemas.microsoft.com/office/drawing/2014/main" id="{27311E0F-4485-4C28-38B6-7F3E77D40AD7}"/>
              </a:ext>
            </a:extLst>
          </p:cNvPr>
          <p:cNvGrpSpPr/>
          <p:nvPr/>
        </p:nvGrpSpPr>
        <p:grpSpPr>
          <a:xfrm>
            <a:off x="333768" y="4667818"/>
            <a:ext cx="5470116" cy="1470577"/>
            <a:chOff x="6229850" y="4648768"/>
            <a:chExt cx="5470116" cy="1470577"/>
          </a:xfrm>
        </p:grpSpPr>
        <p:sp>
          <p:nvSpPr>
            <p:cNvPr id="28" name="文本框 27">
              <a:extLst>
                <a:ext uri="{FF2B5EF4-FFF2-40B4-BE49-F238E27FC236}">
                  <a16:creationId xmlns:a16="http://schemas.microsoft.com/office/drawing/2014/main" id="{8BCF078E-651C-DCF7-9B47-E30DF6BA447C}"/>
                </a:ext>
              </a:extLst>
            </p:cNvPr>
            <p:cNvSpPr txBox="1"/>
            <p:nvPr/>
          </p:nvSpPr>
          <p:spPr>
            <a:xfrm>
              <a:off x="6724328" y="4766662"/>
              <a:ext cx="3492221" cy="244216"/>
            </a:xfrm>
            <a:prstGeom prst="rect">
              <a:avLst/>
            </a:prstGeom>
            <a:ln w="6350">
              <a:noFill/>
              <a:miter lim="800000"/>
            </a:ln>
          </p:spPr>
          <p:txBody>
            <a:bodyPr vert="horz" wrap="square" lIns="0" tIns="0" rIns="0" bIns="0" rtlCol="0">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1" lang="en-US" altLang="zh-CN" sz="1600" b="1" i="0" u="none" strike="noStrike" kern="1200" cap="none" spc="0" normalizeH="0" baseline="0" noProof="0" dirty="0">
                  <a:ln>
                    <a:noFill/>
                  </a:ln>
                  <a:solidFill>
                    <a:srgbClr val="C00000"/>
                  </a:solidFill>
                  <a:effectLst/>
                  <a:uLnTx/>
                  <a:uFillTx/>
                  <a:latin typeface="Arial"/>
                  <a:ea typeface="楷体"/>
                  <a:cs typeface="+mn-ea"/>
                  <a:sym typeface="+mn-lt"/>
                </a:rPr>
                <a:t>Bear case</a:t>
              </a:r>
              <a:endParaRPr kumimoji="1" lang="zh-CN" altLang="en-US" sz="1600" b="1" i="0" u="none" strike="noStrike" kern="1200" cap="none" spc="0" normalizeH="0" baseline="0" noProof="0" dirty="0">
                <a:ln>
                  <a:noFill/>
                </a:ln>
                <a:solidFill>
                  <a:srgbClr val="C00000"/>
                </a:solidFill>
                <a:effectLst/>
                <a:uLnTx/>
                <a:uFillTx/>
                <a:latin typeface="Arial"/>
                <a:ea typeface="楷体"/>
                <a:cs typeface="+mn-ea"/>
                <a:sym typeface="+mn-lt"/>
              </a:endParaRPr>
            </a:p>
          </p:txBody>
        </p:sp>
        <p:grpSp>
          <p:nvGrpSpPr>
            <p:cNvPr id="29" name="组合 28">
              <a:extLst>
                <a:ext uri="{FF2B5EF4-FFF2-40B4-BE49-F238E27FC236}">
                  <a16:creationId xmlns:a16="http://schemas.microsoft.com/office/drawing/2014/main" id="{E515180D-B682-5D59-5818-E29380D6C1B2}"/>
                </a:ext>
              </a:extLst>
            </p:cNvPr>
            <p:cNvGrpSpPr/>
            <p:nvPr/>
          </p:nvGrpSpPr>
          <p:grpSpPr>
            <a:xfrm>
              <a:off x="6288045" y="5098392"/>
              <a:ext cx="5411921" cy="1020953"/>
              <a:chOff x="341635" y="2107778"/>
              <a:chExt cx="5934382" cy="1020953"/>
            </a:xfrm>
          </p:grpSpPr>
          <p:sp>
            <p:nvSpPr>
              <p:cNvPr id="30" name="圆角矩形 130">
                <a:extLst>
                  <a:ext uri="{FF2B5EF4-FFF2-40B4-BE49-F238E27FC236}">
                    <a16:creationId xmlns:a16="http://schemas.microsoft.com/office/drawing/2014/main" id="{0698B97B-F638-0BA9-2DFD-235A76E50698}"/>
                  </a:ext>
                </a:extLst>
              </p:cNvPr>
              <p:cNvSpPr/>
              <p:nvPr/>
            </p:nvSpPr>
            <p:spPr>
              <a:xfrm>
                <a:off x="341635" y="2107778"/>
                <a:ext cx="5934382" cy="1020953"/>
              </a:xfrm>
              <a:prstGeom prst="roundRect">
                <a:avLst>
                  <a:gd name="adj" fmla="val 5634"/>
                </a:avLst>
              </a:prstGeom>
              <a:noFill/>
              <a:ln w="6350" cap="sq">
                <a:solidFill>
                  <a:schemeClr val="tx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1" lang="zh-CN" altLang="en-US" sz="1600" b="0" i="0" u="none" strike="noStrike" kern="1200" cap="none" spc="0" normalizeH="0" baseline="0" noProof="0" dirty="0" err="1">
                  <a:ln>
                    <a:noFill/>
                  </a:ln>
                  <a:solidFill>
                    <a:srgbClr val="FFFFFF"/>
                  </a:solidFill>
                  <a:effectLst/>
                  <a:uLnTx/>
                  <a:uFillTx/>
                  <a:latin typeface="Arial"/>
                  <a:ea typeface="楷体"/>
                  <a:cs typeface="+mn-ea"/>
                  <a:sym typeface="+mn-lt"/>
                </a:endParaRPr>
              </a:p>
            </p:txBody>
          </p:sp>
          <p:sp>
            <p:nvSpPr>
              <p:cNvPr id="31" name="文本框 30">
                <a:extLst>
                  <a:ext uri="{FF2B5EF4-FFF2-40B4-BE49-F238E27FC236}">
                    <a16:creationId xmlns:a16="http://schemas.microsoft.com/office/drawing/2014/main" id="{46A2E8E1-C152-F9E3-6C3B-BE5675788C2A}"/>
                  </a:ext>
                </a:extLst>
              </p:cNvPr>
              <p:cNvSpPr txBox="1"/>
              <p:nvPr/>
            </p:nvSpPr>
            <p:spPr>
              <a:xfrm>
                <a:off x="488628" y="2203240"/>
                <a:ext cx="5607371" cy="251805"/>
              </a:xfrm>
              <a:prstGeom prst="rect">
                <a:avLst/>
              </a:prstGeom>
              <a:ln w="6350">
                <a:noFill/>
                <a:miter lim="800000"/>
              </a:ln>
            </p:spPr>
            <p:txBody>
              <a:bodyPr vert="horz" wrap="square" lIns="0" tIns="0" rIns="0" bIns="0" rtlCol="0">
                <a:noAutofit/>
              </a:bodyPr>
              <a:lstStyle/>
              <a:p>
                <a:pPr marL="185738" marR="0" lvl="0" indent="-185738"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CAGR 107 %，2030e 收入约 </a:t>
                </a:r>
                <a:r>
                  <a:rPr kumimoji="1" lang="zh-CN" altLang="zh-CN" sz="1600" b="1" i="0" u="none" strike="noStrike" kern="1200" cap="none" spc="0" normalizeH="0" baseline="0" noProof="0" dirty="0">
                    <a:ln>
                      <a:noFill/>
                    </a:ln>
                    <a:solidFill>
                      <a:srgbClr val="C00000"/>
                    </a:solidFill>
                    <a:effectLst/>
                    <a:uLnTx/>
                    <a:uFillTx/>
                    <a:latin typeface="Arial"/>
                    <a:ea typeface="楷体"/>
                    <a:cs typeface="+mn-ea"/>
                    <a:sym typeface="+mn-lt"/>
                  </a:rPr>
                  <a:t>10</a:t>
                </a:r>
                <a:r>
                  <a:rPr kumimoji="1" lang="en-US" altLang="zh-CN" sz="1600" b="1" i="0" u="none" strike="noStrike" kern="1200" cap="none" spc="0" normalizeH="0" baseline="0" noProof="0" dirty="0">
                    <a:ln>
                      <a:noFill/>
                    </a:ln>
                    <a:solidFill>
                      <a:srgbClr val="C00000"/>
                    </a:solidFill>
                    <a:effectLst/>
                    <a:uLnTx/>
                    <a:uFillTx/>
                    <a:latin typeface="Arial"/>
                    <a:ea typeface="楷体"/>
                    <a:cs typeface="+mn-ea"/>
                    <a:sym typeface="+mn-lt"/>
                  </a:rPr>
                  <a:t> </a:t>
                </a:r>
                <a:r>
                  <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亿美元</a:t>
                </a:r>
                <a:endParaRPr kumimoji="1" lang="zh-CN" altLang="en-US" sz="1600" b="0" i="0" u="none" strike="noStrike" kern="1200" cap="none" spc="0" normalizeH="0" baseline="0" noProof="0" dirty="0">
                  <a:ln>
                    <a:noFill/>
                  </a:ln>
                  <a:solidFill>
                    <a:srgbClr val="00882B"/>
                  </a:solidFill>
                  <a:effectLst/>
                  <a:uLnTx/>
                  <a:uFillTx/>
                  <a:latin typeface="Arial"/>
                  <a:ea typeface="楷体"/>
                  <a:cs typeface="+mn-ea"/>
                  <a:sym typeface="+mn-lt"/>
                </a:endParaRPr>
              </a:p>
              <a:p>
                <a:pPr marL="185738" marR="0" lvl="0" indent="-185738"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1" lang="zh-CN" altLang="zh-CN" sz="1800" b="0" i="0" u="none" strike="noStrike" kern="1200" cap="none" spc="0" normalizeH="0" baseline="0" noProof="0" dirty="0">
                    <a:ln>
                      <a:noFill/>
                    </a:ln>
                    <a:solidFill>
                      <a:srgbClr val="53585F"/>
                    </a:solidFill>
                    <a:effectLst/>
                    <a:uLnTx/>
                    <a:uFillTx/>
                    <a:latin typeface="Arial"/>
                    <a:ea typeface="楷体"/>
                    <a:cs typeface="+mn-ea"/>
                    <a:sym typeface="+mn-lt"/>
                  </a:rPr>
                  <a:t>只在极高端 AI 集群试点，渗透率≤15 %</a:t>
                </a:r>
                <a:endParaRPr kumimoji="0" lang="zh-CN" altLang="zh-CN" sz="1800" b="0" i="0" u="none" strike="noStrike" kern="1200" cap="none" spc="0" normalizeH="0" baseline="0" noProof="0" dirty="0">
                  <a:ln>
                    <a:noFill/>
                  </a:ln>
                  <a:solidFill>
                    <a:srgbClr val="53585F"/>
                  </a:solidFill>
                  <a:effectLst/>
                  <a:uLnTx/>
                  <a:uFillTx/>
                  <a:latin typeface="Arial"/>
                  <a:ea typeface="楷体"/>
                  <a:cs typeface="+mn-ea"/>
                  <a:sym typeface="+mn-lt"/>
                </a:endParaRPr>
              </a:p>
            </p:txBody>
          </p:sp>
        </p:grpSp>
        <p:pic>
          <p:nvPicPr>
            <p:cNvPr id="32" name="图形 31" descr="实心填充的悲伤表情 纯色填充">
              <a:extLst>
                <a:ext uri="{FF2B5EF4-FFF2-40B4-BE49-F238E27FC236}">
                  <a16:creationId xmlns:a16="http://schemas.microsoft.com/office/drawing/2014/main" id="{4D043F2A-5C28-3691-4374-9746B8A908C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29850" y="4648768"/>
              <a:ext cx="396000" cy="396000"/>
            </a:xfrm>
            <a:prstGeom prst="rect">
              <a:avLst/>
            </a:prstGeom>
          </p:spPr>
        </p:pic>
      </p:grpSp>
      <p:sp>
        <p:nvSpPr>
          <p:cNvPr id="11" name="矩形 10">
            <a:extLst>
              <a:ext uri="{FF2B5EF4-FFF2-40B4-BE49-F238E27FC236}">
                <a16:creationId xmlns:a16="http://schemas.microsoft.com/office/drawing/2014/main" id="{98BB5DFA-0559-9049-5ED9-147EE993EB14}"/>
              </a:ext>
            </a:extLst>
          </p:cNvPr>
          <p:cNvSpPr/>
          <p:nvPr/>
        </p:nvSpPr>
        <p:spPr>
          <a:xfrm>
            <a:off x="13222653" y="613386"/>
            <a:ext cx="2163443" cy="1901794"/>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端口数确认，国内</a:t>
            </a:r>
            <a:r>
              <a:rPr kumimoji="0" lang="en-US" altLang="zh-CN" sz="18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a:t>
            </a:r>
            <a:r>
              <a:rPr kumimoji="0" lang="zh-CN" altLang="en-US" sz="18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海外</a:t>
            </a:r>
            <a:endParaRPr lang="en-US" altLang="zh-CN" dirty="0">
              <a:solidFill>
                <a:srgbClr val="DCDEE0">
                  <a:lumMod val="10000"/>
                </a:srgbClr>
              </a:solidFill>
              <a:latin typeface="Arial"/>
              <a:ea typeface="楷体"/>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从</a:t>
            </a:r>
            <a:r>
              <a:rPr kumimoji="0" lang="en-US" altLang="zh-CN" sz="18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GPU</a:t>
            </a:r>
            <a:r>
              <a:rPr kumimoji="0" lang="zh-CN" altLang="en-US" sz="18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a:t>
            </a:r>
            <a:r>
              <a:rPr kumimoji="0" lang="en-US" altLang="zh-CN" sz="18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switch</a:t>
            </a:r>
            <a:r>
              <a:rPr kumimoji="0" lang="zh-CN" altLang="en-US" sz="1800" b="0" i="0" u="none" strike="noStrike" kern="1200" cap="none" spc="0" normalizeH="0" baseline="0" noProof="0" dirty="0">
                <a:ln>
                  <a:noFill/>
                </a:ln>
                <a:solidFill>
                  <a:srgbClr val="DCDEE0">
                    <a:lumMod val="10000"/>
                  </a:srgbClr>
                </a:solidFill>
                <a:effectLst/>
                <a:uLnTx/>
                <a:uFillTx/>
                <a:latin typeface="Arial"/>
                <a:ea typeface="楷体"/>
                <a:cs typeface="+mn-ea"/>
                <a:sym typeface="+mn-lt"/>
              </a:rPr>
              <a:t>推到光模块需求量的模型</a:t>
            </a:r>
            <a:endParaRPr kumimoji="0" lang="en-US" altLang="zh-CN" sz="1800" b="0" i="0" u="none" strike="noStrike" kern="1200" cap="none" spc="0" normalizeH="0" baseline="0" noProof="0" dirty="0">
              <a:ln>
                <a:noFill/>
              </a:ln>
              <a:solidFill>
                <a:srgbClr val="DCDEE0">
                  <a:lumMod val="10000"/>
                </a:srgbClr>
              </a:solidFill>
              <a:effectLst/>
              <a:uLnTx/>
              <a:uFillTx/>
              <a:latin typeface="Arial"/>
              <a:ea typeface="楷体"/>
              <a:cs typeface="+mn-ea"/>
              <a:sym typeface="+mn-lt"/>
            </a:endParaRPr>
          </a:p>
        </p:txBody>
      </p:sp>
      <p:sp>
        <p:nvSpPr>
          <p:cNvPr id="13" name="文本框 12">
            <a:extLst>
              <a:ext uri="{FF2B5EF4-FFF2-40B4-BE49-F238E27FC236}">
                <a16:creationId xmlns:a16="http://schemas.microsoft.com/office/drawing/2014/main" id="{3EB973E8-1FEE-DB70-288F-C31A26AD01C9}"/>
              </a:ext>
            </a:extLst>
          </p:cNvPr>
          <p:cNvSpPr txBox="1"/>
          <p:nvPr/>
        </p:nvSpPr>
        <p:spPr>
          <a:xfrm>
            <a:off x="6351374" y="1461237"/>
            <a:ext cx="1232094" cy="328613"/>
          </a:xfrm>
          <a:prstGeom prst="rect">
            <a:avLst/>
          </a:prstGeom>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1" lang="en-US" altLang="zh-CN" sz="1600" b="1" i="0" u="none" strike="noStrike" kern="1200" cap="none" spc="0" normalizeH="0" baseline="0" noProof="0" dirty="0">
                <a:ln>
                  <a:noFill/>
                </a:ln>
                <a:solidFill>
                  <a:srgbClr val="53585F">
                    <a:lumMod val="50000"/>
                  </a:srgbClr>
                </a:solidFill>
                <a:effectLst/>
                <a:uLnTx/>
                <a:uFillTx/>
                <a:latin typeface="Arial"/>
                <a:ea typeface="楷体"/>
                <a:cs typeface="+mn-ea"/>
                <a:sym typeface="+mn-lt"/>
              </a:rPr>
              <a:t>CPO</a:t>
            </a:r>
            <a:r>
              <a:rPr kumimoji="1" lang="zh-CN" altLang="en-US" sz="1600" b="1" i="0" u="none" strike="noStrike" kern="1200" cap="none" spc="0" normalizeH="0" baseline="0" noProof="0" dirty="0">
                <a:ln>
                  <a:noFill/>
                </a:ln>
                <a:solidFill>
                  <a:srgbClr val="53585F">
                    <a:lumMod val="50000"/>
                  </a:srgbClr>
                </a:solidFill>
                <a:effectLst/>
                <a:uLnTx/>
                <a:uFillTx/>
                <a:latin typeface="Arial"/>
                <a:ea typeface="楷体"/>
                <a:cs typeface="+mn-ea"/>
                <a:sym typeface="+mn-lt"/>
              </a:rPr>
              <a:t>规模</a:t>
            </a:r>
            <a:endParaRPr kumimoji="1" lang="zh-CN"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p:txBody>
      </p:sp>
      <p:sp>
        <p:nvSpPr>
          <p:cNvPr id="15" name="文本框 14">
            <a:extLst>
              <a:ext uri="{FF2B5EF4-FFF2-40B4-BE49-F238E27FC236}">
                <a16:creationId xmlns:a16="http://schemas.microsoft.com/office/drawing/2014/main" id="{D16306EB-26B0-672C-CB1F-CF34879874A6}"/>
              </a:ext>
            </a:extLst>
          </p:cNvPr>
          <p:cNvSpPr txBox="1"/>
          <p:nvPr/>
        </p:nvSpPr>
        <p:spPr>
          <a:xfrm>
            <a:off x="7418928" y="1461237"/>
            <a:ext cx="505839" cy="328613"/>
          </a:xfrm>
          <a:prstGeom prst="rect">
            <a:avLst/>
          </a:prstGeom>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1" lang="en-US" altLang="zh-CN" sz="1600" b="1" i="0" u="none" strike="noStrike" kern="1200" cap="none" spc="0" normalizeH="0" baseline="0" noProof="0" dirty="0">
                <a:ln>
                  <a:noFill/>
                </a:ln>
                <a:solidFill>
                  <a:srgbClr val="0052D9"/>
                </a:solidFill>
                <a:effectLst/>
                <a:uLnTx/>
                <a:uFillTx/>
                <a:latin typeface="Arial"/>
                <a:ea typeface="楷体"/>
                <a:cs typeface="+mn-ea"/>
                <a:sym typeface="+mn-lt"/>
              </a:rPr>
              <a:t>=</a:t>
            </a:r>
            <a:endParaRPr kumimoji="1" lang="zh-CN" altLang="zh-CN" sz="1600" b="0" i="0" u="none" strike="noStrike" kern="1200" cap="none" spc="0" normalizeH="0" baseline="0" noProof="0" dirty="0">
              <a:ln>
                <a:noFill/>
              </a:ln>
              <a:solidFill>
                <a:srgbClr val="0052D9"/>
              </a:solidFill>
              <a:effectLst/>
              <a:uLnTx/>
              <a:uFillTx/>
              <a:latin typeface="Arial"/>
              <a:ea typeface="楷体"/>
              <a:cs typeface="+mn-ea"/>
              <a:sym typeface="+mn-lt"/>
            </a:endParaRPr>
          </a:p>
        </p:txBody>
      </p:sp>
      <p:sp>
        <p:nvSpPr>
          <p:cNvPr id="16" name="文本框 15">
            <a:extLst>
              <a:ext uri="{FF2B5EF4-FFF2-40B4-BE49-F238E27FC236}">
                <a16:creationId xmlns:a16="http://schemas.microsoft.com/office/drawing/2014/main" id="{30826D3C-C9F7-864C-F674-04C05058C2CB}"/>
              </a:ext>
            </a:extLst>
          </p:cNvPr>
          <p:cNvSpPr txBox="1"/>
          <p:nvPr/>
        </p:nvSpPr>
        <p:spPr>
          <a:xfrm>
            <a:off x="7865920" y="1404158"/>
            <a:ext cx="1618207" cy="328613"/>
          </a:xfrm>
          <a:prstGeom prst="rect">
            <a:avLst/>
          </a:prstGeom>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1" lang="zh-CN" altLang="en-US" sz="1600" b="1" i="0" u="none" strike="noStrike" kern="1200" cap="none" spc="0" normalizeH="0" baseline="0" noProof="0" dirty="0">
                <a:ln>
                  <a:noFill/>
                </a:ln>
                <a:solidFill>
                  <a:srgbClr val="53585F">
                    <a:lumMod val="50000"/>
                  </a:srgbClr>
                </a:solidFill>
                <a:effectLst/>
                <a:uLnTx/>
                <a:uFillTx/>
                <a:latin typeface="Arial"/>
                <a:ea typeface="楷体"/>
                <a:cs typeface="+mn-ea"/>
                <a:sym typeface="+mn-lt"/>
              </a:rPr>
              <a:t>潜在</a:t>
            </a:r>
            <a:r>
              <a:rPr kumimoji="1" lang="en-US" altLang="zh-CN" sz="1600" b="1" i="0" u="none" strike="noStrike" kern="1200" cap="none" spc="0" normalizeH="0" baseline="0" noProof="0" dirty="0">
                <a:ln>
                  <a:noFill/>
                </a:ln>
                <a:solidFill>
                  <a:srgbClr val="53585F">
                    <a:lumMod val="50000"/>
                  </a:srgbClr>
                </a:solidFill>
                <a:effectLst/>
                <a:uLnTx/>
                <a:uFillTx/>
                <a:latin typeface="Arial"/>
                <a:ea typeface="楷体"/>
                <a:cs typeface="+mn-ea"/>
                <a:sym typeface="+mn-lt"/>
              </a:rPr>
              <a:t>CPO</a:t>
            </a:r>
            <a:r>
              <a:rPr kumimoji="1" lang="zh-CN" altLang="en-US" sz="1600" b="1" i="0" u="none" strike="noStrike" kern="1200" cap="none" spc="0" normalizeH="0" baseline="0" noProof="0" dirty="0">
                <a:ln>
                  <a:noFill/>
                </a:ln>
                <a:solidFill>
                  <a:srgbClr val="53585F">
                    <a:lumMod val="50000"/>
                  </a:srgbClr>
                </a:solidFill>
                <a:effectLst/>
                <a:uLnTx/>
                <a:uFillTx/>
                <a:latin typeface="Arial"/>
                <a:ea typeface="楷体"/>
                <a:cs typeface="+mn-ea"/>
                <a:sym typeface="+mn-lt"/>
              </a:rPr>
              <a:t>端口数</a:t>
            </a:r>
            <a:endParaRPr kumimoji="1" lang="zh-CN" altLang="zh-CN" sz="1600" b="1" i="0"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p:txBody>
      </p:sp>
      <p:sp>
        <p:nvSpPr>
          <p:cNvPr id="21" name="文本框 20">
            <a:extLst>
              <a:ext uri="{FF2B5EF4-FFF2-40B4-BE49-F238E27FC236}">
                <a16:creationId xmlns:a16="http://schemas.microsoft.com/office/drawing/2014/main" id="{2A5821CD-80A0-4FCB-263B-885A20102CFC}"/>
              </a:ext>
            </a:extLst>
          </p:cNvPr>
          <p:cNvSpPr txBox="1"/>
          <p:nvPr/>
        </p:nvSpPr>
        <p:spPr>
          <a:xfrm>
            <a:off x="9383964" y="1461237"/>
            <a:ext cx="505839" cy="328613"/>
          </a:xfrm>
          <a:prstGeom prst="rect">
            <a:avLst/>
          </a:prstGeom>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1" lang="en-US" altLang="zh-CN" sz="1600" b="1" i="0" u="none" strike="noStrike" kern="1200" cap="none" spc="0" normalizeH="0" baseline="0" noProof="0" dirty="0">
                <a:ln>
                  <a:noFill/>
                </a:ln>
                <a:solidFill>
                  <a:srgbClr val="0052D9"/>
                </a:solidFill>
                <a:effectLst/>
                <a:uLnTx/>
                <a:uFillTx/>
                <a:latin typeface="Arial"/>
                <a:ea typeface="楷体"/>
                <a:cs typeface="+mn-ea"/>
                <a:sym typeface="+mn-lt"/>
              </a:rPr>
              <a:t>×</a:t>
            </a:r>
            <a:endParaRPr kumimoji="1" lang="zh-CN" altLang="zh-CN" sz="1600" b="1" i="0" u="none" strike="noStrike" kern="1200" cap="none" spc="0" normalizeH="0" baseline="0" noProof="0" dirty="0">
              <a:ln>
                <a:noFill/>
              </a:ln>
              <a:solidFill>
                <a:srgbClr val="0052D9"/>
              </a:solidFill>
              <a:effectLst/>
              <a:uLnTx/>
              <a:uFillTx/>
              <a:latin typeface="Arial"/>
              <a:ea typeface="楷体"/>
              <a:cs typeface="+mn-ea"/>
              <a:sym typeface="+mn-lt"/>
            </a:endParaRPr>
          </a:p>
        </p:txBody>
      </p:sp>
      <p:sp>
        <p:nvSpPr>
          <p:cNvPr id="22" name="文本框 21">
            <a:extLst>
              <a:ext uri="{FF2B5EF4-FFF2-40B4-BE49-F238E27FC236}">
                <a16:creationId xmlns:a16="http://schemas.microsoft.com/office/drawing/2014/main" id="{B4629C8D-0F4C-1F8A-C6AF-5658B92D4CF7}"/>
              </a:ext>
            </a:extLst>
          </p:cNvPr>
          <p:cNvSpPr txBox="1"/>
          <p:nvPr/>
        </p:nvSpPr>
        <p:spPr>
          <a:xfrm>
            <a:off x="9749265" y="1404158"/>
            <a:ext cx="1029519" cy="328613"/>
          </a:xfrm>
          <a:prstGeom prst="rect">
            <a:avLst/>
          </a:prstGeom>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1" lang="zh-CN" altLang="en-US" sz="1600" b="1" i="0" u="none" strike="noStrike" kern="1200" cap="none" spc="0" normalizeH="0" baseline="0" noProof="0" dirty="0">
                <a:ln>
                  <a:noFill/>
                </a:ln>
                <a:solidFill>
                  <a:srgbClr val="53585F">
                    <a:lumMod val="50000"/>
                  </a:srgbClr>
                </a:solidFill>
                <a:effectLst/>
                <a:uLnTx/>
                <a:uFillTx/>
                <a:latin typeface="Arial"/>
                <a:ea typeface="楷体"/>
                <a:cs typeface="+mn-ea"/>
                <a:sym typeface="+mn-lt"/>
              </a:rPr>
              <a:t>渗透率</a:t>
            </a:r>
            <a:endParaRPr kumimoji="1" lang="zh-CN" altLang="zh-CN" sz="1600" b="1" i="0"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p:txBody>
      </p:sp>
      <p:sp>
        <p:nvSpPr>
          <p:cNvPr id="27" name="文本框 26">
            <a:extLst>
              <a:ext uri="{FF2B5EF4-FFF2-40B4-BE49-F238E27FC236}">
                <a16:creationId xmlns:a16="http://schemas.microsoft.com/office/drawing/2014/main" id="{4F7548F9-0DB3-1240-3009-65902E935706}"/>
              </a:ext>
            </a:extLst>
          </p:cNvPr>
          <p:cNvSpPr txBox="1"/>
          <p:nvPr/>
        </p:nvSpPr>
        <p:spPr>
          <a:xfrm>
            <a:off x="10590242" y="1461237"/>
            <a:ext cx="505839" cy="328613"/>
          </a:xfrm>
          <a:prstGeom prst="rect">
            <a:avLst/>
          </a:prstGeom>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1" lang="en-US" altLang="zh-CN" sz="1600" b="1" i="0" u="none" strike="noStrike" kern="1200" cap="none" spc="0" normalizeH="0" baseline="0" noProof="0" dirty="0">
                <a:ln>
                  <a:noFill/>
                </a:ln>
                <a:solidFill>
                  <a:srgbClr val="0052D9"/>
                </a:solidFill>
                <a:effectLst/>
                <a:uLnTx/>
                <a:uFillTx/>
                <a:latin typeface="Arial"/>
                <a:ea typeface="楷体"/>
                <a:cs typeface="+mn-ea"/>
                <a:sym typeface="+mn-lt"/>
              </a:rPr>
              <a:t>×</a:t>
            </a:r>
            <a:endParaRPr kumimoji="1" lang="zh-CN" altLang="zh-CN" sz="1600" b="1" i="0" u="none" strike="noStrike" kern="1200" cap="none" spc="0" normalizeH="0" baseline="0" noProof="0" dirty="0">
              <a:ln>
                <a:noFill/>
              </a:ln>
              <a:solidFill>
                <a:srgbClr val="0052D9"/>
              </a:solidFill>
              <a:effectLst/>
              <a:uLnTx/>
              <a:uFillTx/>
              <a:latin typeface="Arial"/>
              <a:ea typeface="楷体"/>
              <a:cs typeface="+mn-ea"/>
              <a:sym typeface="+mn-lt"/>
            </a:endParaRPr>
          </a:p>
        </p:txBody>
      </p:sp>
      <p:sp>
        <p:nvSpPr>
          <p:cNvPr id="33" name="文本框 32">
            <a:extLst>
              <a:ext uri="{FF2B5EF4-FFF2-40B4-BE49-F238E27FC236}">
                <a16:creationId xmlns:a16="http://schemas.microsoft.com/office/drawing/2014/main" id="{20940DD8-7E7B-B743-CE39-C879F166600D}"/>
              </a:ext>
            </a:extLst>
          </p:cNvPr>
          <p:cNvSpPr txBox="1"/>
          <p:nvPr/>
        </p:nvSpPr>
        <p:spPr>
          <a:xfrm>
            <a:off x="10931540" y="1461237"/>
            <a:ext cx="801798" cy="328613"/>
          </a:xfrm>
          <a:prstGeom prst="rect">
            <a:avLst/>
          </a:prstGeom>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1" lang="zh-CN" altLang="en-US" sz="1600" b="1" i="0" u="none" strike="noStrike" kern="1200" cap="none" spc="0" normalizeH="0" baseline="0" noProof="0" dirty="0">
                <a:ln>
                  <a:noFill/>
                </a:ln>
                <a:solidFill>
                  <a:srgbClr val="53585F">
                    <a:lumMod val="50000"/>
                  </a:srgbClr>
                </a:solidFill>
                <a:effectLst/>
                <a:uLnTx/>
                <a:uFillTx/>
                <a:latin typeface="Arial"/>
                <a:ea typeface="楷体"/>
                <a:cs typeface="+mn-ea"/>
                <a:sym typeface="+mn-lt"/>
              </a:rPr>
              <a:t>单价</a:t>
            </a:r>
            <a:endParaRPr kumimoji="1" lang="zh-CN" altLang="zh-CN" sz="1600" b="1" i="0"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p:txBody>
      </p:sp>
      <p:sp>
        <p:nvSpPr>
          <p:cNvPr id="34" name="文本框 33">
            <a:extLst>
              <a:ext uri="{FF2B5EF4-FFF2-40B4-BE49-F238E27FC236}">
                <a16:creationId xmlns:a16="http://schemas.microsoft.com/office/drawing/2014/main" id="{DDEA6416-A15E-24FF-A739-2C1A7889CF85}"/>
              </a:ext>
            </a:extLst>
          </p:cNvPr>
          <p:cNvSpPr txBox="1"/>
          <p:nvPr/>
        </p:nvSpPr>
        <p:spPr>
          <a:xfrm>
            <a:off x="8422103" y="1750602"/>
            <a:ext cx="505840" cy="328613"/>
          </a:xfrm>
          <a:prstGeom prst="rect">
            <a:avLst/>
          </a:prstGeom>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1" lang="zh-CN" altLang="en-US" sz="1600" b="0" i="0" u="none" strike="noStrike" kern="1200" cap="none" spc="0" normalizeH="0" baseline="0" noProof="0" dirty="0">
                <a:ln>
                  <a:noFill/>
                </a:ln>
                <a:solidFill>
                  <a:srgbClr val="0052D9"/>
                </a:solidFill>
                <a:effectLst/>
                <a:uLnTx/>
                <a:uFillTx/>
                <a:latin typeface="Arial"/>
                <a:ea typeface="楷体"/>
                <a:cs typeface="+mn-ea"/>
                <a:sym typeface="+mn-lt"/>
              </a:rPr>
              <a:t>①</a:t>
            </a:r>
            <a:endParaRPr kumimoji="1" lang="zh-CN" altLang="zh-CN" sz="1600" b="0" i="0" u="none" strike="noStrike" kern="1200" cap="none" spc="0" normalizeH="0" baseline="0" noProof="0" dirty="0">
              <a:ln>
                <a:noFill/>
              </a:ln>
              <a:solidFill>
                <a:srgbClr val="0052D9"/>
              </a:solidFill>
              <a:effectLst/>
              <a:uLnTx/>
              <a:uFillTx/>
              <a:latin typeface="Arial"/>
              <a:ea typeface="楷体"/>
              <a:cs typeface="+mn-ea"/>
              <a:sym typeface="+mn-lt"/>
            </a:endParaRPr>
          </a:p>
        </p:txBody>
      </p:sp>
      <p:sp>
        <p:nvSpPr>
          <p:cNvPr id="35" name="文本框 34">
            <a:extLst>
              <a:ext uri="{FF2B5EF4-FFF2-40B4-BE49-F238E27FC236}">
                <a16:creationId xmlns:a16="http://schemas.microsoft.com/office/drawing/2014/main" id="{5E85336B-EB47-75C6-541C-B4372D1F89BE}"/>
              </a:ext>
            </a:extLst>
          </p:cNvPr>
          <p:cNvSpPr txBox="1"/>
          <p:nvPr/>
        </p:nvSpPr>
        <p:spPr>
          <a:xfrm>
            <a:off x="9454920" y="1750602"/>
            <a:ext cx="1618207" cy="328613"/>
          </a:xfrm>
          <a:prstGeom prst="rect">
            <a:avLst/>
          </a:prstGeom>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1" lang="zh-CN" altLang="en-US" sz="1600" b="0" i="0" u="none" strike="noStrike" kern="1200" cap="none" spc="0" normalizeH="0" baseline="0" noProof="0" dirty="0">
                <a:ln>
                  <a:noFill/>
                </a:ln>
                <a:solidFill>
                  <a:srgbClr val="0052D9"/>
                </a:solidFill>
                <a:effectLst/>
                <a:uLnTx/>
                <a:uFillTx/>
                <a:latin typeface="Arial"/>
                <a:ea typeface="楷体"/>
                <a:cs typeface="+mn-ea"/>
                <a:sym typeface="+mn-lt"/>
              </a:rPr>
              <a:t>②</a:t>
            </a:r>
            <a:endParaRPr kumimoji="1" lang="zh-CN" altLang="zh-CN" sz="1600" b="0" i="0" u="none" strike="noStrike" kern="1200" cap="none" spc="0" normalizeH="0" baseline="0" noProof="0" dirty="0">
              <a:ln>
                <a:noFill/>
              </a:ln>
              <a:solidFill>
                <a:srgbClr val="0052D9"/>
              </a:solidFill>
              <a:effectLst/>
              <a:uLnTx/>
              <a:uFillTx/>
              <a:latin typeface="Arial"/>
              <a:ea typeface="楷体"/>
              <a:cs typeface="+mn-ea"/>
              <a:sym typeface="+mn-lt"/>
            </a:endParaRPr>
          </a:p>
        </p:txBody>
      </p:sp>
      <p:sp>
        <p:nvSpPr>
          <p:cNvPr id="36" name="矩形 35">
            <a:extLst>
              <a:ext uri="{FF2B5EF4-FFF2-40B4-BE49-F238E27FC236}">
                <a16:creationId xmlns:a16="http://schemas.microsoft.com/office/drawing/2014/main" id="{4B758D26-69FF-1190-7338-40D57D987C0C}"/>
              </a:ext>
            </a:extLst>
          </p:cNvPr>
          <p:cNvSpPr/>
          <p:nvPr/>
        </p:nvSpPr>
        <p:spPr>
          <a:xfrm>
            <a:off x="7865920" y="1209512"/>
            <a:ext cx="1618207" cy="869703"/>
          </a:xfrm>
          <a:prstGeom prst="rect">
            <a:avLst/>
          </a:prstGeom>
          <a:noFill/>
          <a:ln>
            <a:solidFill>
              <a:srgbClr val="0052D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楷体"/>
              <a:cs typeface="+mn-ea"/>
              <a:sym typeface="+mn-lt"/>
            </a:endParaRPr>
          </a:p>
        </p:txBody>
      </p:sp>
      <p:sp>
        <p:nvSpPr>
          <p:cNvPr id="37" name="矩形 36">
            <a:extLst>
              <a:ext uri="{FF2B5EF4-FFF2-40B4-BE49-F238E27FC236}">
                <a16:creationId xmlns:a16="http://schemas.microsoft.com/office/drawing/2014/main" id="{E9D45858-BC08-8DBF-06F4-2536BC2DE452}"/>
              </a:ext>
            </a:extLst>
          </p:cNvPr>
          <p:cNvSpPr/>
          <p:nvPr/>
        </p:nvSpPr>
        <p:spPr>
          <a:xfrm>
            <a:off x="9823386" y="1210811"/>
            <a:ext cx="846345" cy="869703"/>
          </a:xfrm>
          <a:prstGeom prst="rect">
            <a:avLst/>
          </a:prstGeom>
          <a:noFill/>
          <a:ln>
            <a:solidFill>
              <a:srgbClr val="0052D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楷体"/>
              <a:cs typeface="+mn-ea"/>
              <a:sym typeface="+mn-lt"/>
            </a:endParaRPr>
          </a:p>
        </p:txBody>
      </p:sp>
      <p:sp>
        <p:nvSpPr>
          <p:cNvPr id="38" name="文本框 37">
            <a:extLst>
              <a:ext uri="{FF2B5EF4-FFF2-40B4-BE49-F238E27FC236}">
                <a16:creationId xmlns:a16="http://schemas.microsoft.com/office/drawing/2014/main" id="{BC47B5B7-12E5-FFB0-4B6D-B3BFC15CED54}"/>
              </a:ext>
            </a:extLst>
          </p:cNvPr>
          <p:cNvSpPr txBox="1"/>
          <p:nvPr/>
        </p:nvSpPr>
        <p:spPr>
          <a:xfrm>
            <a:off x="6585164" y="4735205"/>
            <a:ext cx="5269570" cy="328613"/>
          </a:xfrm>
          <a:prstGeom prst="rect">
            <a:avLst/>
          </a:prstGeom>
          <a:ln w="6350">
            <a:noFill/>
            <a:miter lim="800000"/>
          </a:ln>
        </p:spPr>
        <p:txBody>
          <a:bodyPr vert="horz" wrap="square" lIns="0" tIns="0" rIns="0" bIns="0" rtlCol="0">
            <a:noAutofit/>
          </a:bodyPr>
          <a:lstStyle/>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新建优先渗透：为避免重置成本，新建</a:t>
            </a:r>
            <a:r>
              <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IDC</a:t>
            </a:r>
            <a:r>
              <a:rPr kumimoji="1" lang="zh-CN" altLang="en-US"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对</a:t>
            </a:r>
            <a:r>
              <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CPO</a:t>
            </a:r>
            <a:r>
              <a:rPr kumimoji="1" lang="zh-CN" altLang="en-US"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的态度为能用则用</a:t>
            </a:r>
            <a:endPar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Amazon</a:t>
            </a:r>
            <a:r>
              <a:rPr kumimoji="1" lang="zh-CN" altLang="en-US"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a:t>
            </a:r>
            <a:r>
              <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Meta</a:t>
            </a:r>
            <a:r>
              <a:rPr kumimoji="1" lang="zh-CN" altLang="en-US"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、谷歌、</a:t>
            </a:r>
            <a:r>
              <a:rPr kumimoji="1" lang="en-US" altLang="zh-CN" sz="1600" b="0" i="0" u="none" strike="noStrike" kern="1200" cap="none" spc="0" normalizeH="0" baseline="0" noProof="0" dirty="0" err="1">
                <a:ln>
                  <a:noFill/>
                </a:ln>
                <a:solidFill>
                  <a:srgbClr val="53585F">
                    <a:lumMod val="50000"/>
                  </a:srgbClr>
                </a:solidFill>
                <a:effectLst/>
                <a:uLnTx/>
                <a:uFillTx/>
                <a:latin typeface="Arial"/>
                <a:ea typeface="楷体"/>
                <a:cs typeface="+mn-ea"/>
                <a:sym typeface="+mn-lt"/>
              </a:rPr>
              <a:t>xAI</a:t>
            </a:r>
            <a:r>
              <a:rPr kumimoji="1" lang="zh-CN" altLang="en-US"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建立十万卡集群，必须用光互连</a:t>
            </a:r>
            <a:endParaRPr kumimoji="1"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p:txBody>
      </p:sp>
      <p:sp>
        <p:nvSpPr>
          <p:cNvPr id="49" name="矩形: 圆角 48">
            <a:extLst>
              <a:ext uri="{FF2B5EF4-FFF2-40B4-BE49-F238E27FC236}">
                <a16:creationId xmlns:a16="http://schemas.microsoft.com/office/drawing/2014/main" id="{70D81AA9-A5AA-AFCB-5127-F8AC893064A6}"/>
              </a:ext>
            </a:extLst>
          </p:cNvPr>
          <p:cNvSpPr/>
          <p:nvPr/>
        </p:nvSpPr>
        <p:spPr>
          <a:xfrm>
            <a:off x="6585164" y="3444024"/>
            <a:ext cx="5269570" cy="1165403"/>
          </a:xfrm>
          <a:prstGeom prst="roundRect">
            <a:avLst>
              <a:gd name="adj" fmla="val 3687"/>
            </a:avLst>
          </a:prstGeom>
          <a:solidFill>
            <a:schemeClr val="tx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a:t>
            </a:r>
            <a:r>
              <a:rPr kumimoji="0" lang="en-US" altLang="zh-CN" sz="16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Meta</a:t>
            </a:r>
            <a:r>
              <a:rPr kumimoji="0" lang="zh-CN" altLang="zh-CN" sz="16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的</a:t>
            </a:r>
            <a:r>
              <a:rPr kumimoji="0" lang="en-US" altLang="zh-CN" sz="16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HPC</a:t>
            </a:r>
            <a:r>
              <a:rPr kumimoji="0" lang="zh-CN" altLang="zh-CN" sz="16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集群中，</a:t>
            </a:r>
            <a:r>
              <a:rPr kumimoji="0" lang="en-US" altLang="zh-CN" sz="16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35%</a:t>
            </a:r>
            <a:r>
              <a:rPr kumimoji="0" lang="zh-CN" altLang="zh-CN" sz="16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的连接方案已采用</a:t>
            </a:r>
            <a:r>
              <a:rPr kumimoji="0" lang="en-US" altLang="zh-CN" sz="16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CPO</a:t>
            </a:r>
            <a:r>
              <a:rPr kumimoji="0" lang="zh-CN" altLang="en-US" sz="1600" b="0" i="1" u="none" strike="noStrike" kern="1200" cap="none" spc="0" normalizeH="0" baseline="0" noProof="0" dirty="0">
                <a:ln>
                  <a:noFill/>
                </a:ln>
                <a:solidFill>
                  <a:srgbClr val="53585F">
                    <a:lumMod val="50000"/>
                  </a:srgbClr>
                </a:solidFill>
                <a:effectLst/>
                <a:uLnTx/>
                <a:uFillTx/>
                <a:latin typeface="Arial"/>
                <a:ea typeface="楷体"/>
                <a:cs typeface="+mn-ea"/>
                <a:sym typeface="+mn-lt"/>
              </a:rPr>
              <a:t>”</a:t>
            </a:r>
            <a:endParaRPr kumimoji="0" lang="en-US" altLang="zh-CN" sz="1600" b="0" i="1"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a:p>
            <a:pPr marL="0" marR="0" lvl="0" indent="0" algn="r" defTabSz="914400" rtl="0" eaLnBrk="1" fontAlgn="auto" latinLnBrk="0" hangingPunct="1">
              <a:lnSpc>
                <a:spcPct val="125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 </a:t>
            </a:r>
            <a:r>
              <a:rPr kumimoji="0"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a:t>
            </a:r>
            <a:r>
              <a:rPr kumimoji="0" lang="zh-CN" altLang="en-US"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rPr>
              <a:t>博通高速互联系统架构师</a:t>
            </a:r>
            <a:endParaRPr kumimoji="0" lang="en-US" altLang="zh-CN" sz="1600" b="0" i="0" u="none" strike="noStrike" kern="1200" cap="none" spc="0" normalizeH="0" baseline="0" noProof="0" dirty="0">
              <a:ln>
                <a:noFill/>
              </a:ln>
              <a:solidFill>
                <a:srgbClr val="53585F">
                  <a:lumMod val="50000"/>
                </a:srgbClr>
              </a:solidFill>
              <a:effectLst/>
              <a:uLnTx/>
              <a:uFillTx/>
              <a:latin typeface="Arial"/>
              <a:ea typeface="楷体"/>
              <a:cs typeface="+mn-ea"/>
              <a:sym typeface="+mn-lt"/>
            </a:endParaRPr>
          </a:p>
        </p:txBody>
      </p:sp>
      <p:sp>
        <p:nvSpPr>
          <p:cNvPr id="2" name="梯形 1">
            <a:extLst>
              <a:ext uri="{FF2B5EF4-FFF2-40B4-BE49-F238E27FC236}">
                <a16:creationId xmlns:a16="http://schemas.microsoft.com/office/drawing/2014/main" id="{FAB954A1-EA08-9875-CD96-4EC71B65B32B}"/>
              </a:ext>
            </a:extLst>
          </p:cNvPr>
          <p:cNvSpPr/>
          <p:nvPr/>
        </p:nvSpPr>
        <p:spPr>
          <a:xfrm rot="16200000">
            <a:off x="3691051" y="3465152"/>
            <a:ext cx="4799248" cy="370109"/>
          </a:xfrm>
          <a:prstGeom prst="trapezoid">
            <a:avLst>
              <a:gd name="adj" fmla="val 502268"/>
            </a:avLst>
          </a:prstGeom>
          <a:gradFill flip="none" rotWithShape="1">
            <a:gsLst>
              <a:gs pos="18000">
                <a:srgbClr val="BDD4FF"/>
              </a:gs>
              <a:gs pos="0">
                <a:schemeClr val="accent1">
                  <a:lumMod val="5000"/>
                  <a:lumOff val="95000"/>
                </a:schemeClr>
              </a:gs>
              <a:gs pos="100000">
                <a:srgbClr val="0052D9"/>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30">
            <a:extLst>
              <a:ext uri="{FF2B5EF4-FFF2-40B4-BE49-F238E27FC236}">
                <a16:creationId xmlns:a16="http://schemas.microsoft.com/office/drawing/2014/main" id="{4C4401D9-94DB-E122-8EEB-A71C05351D29}"/>
              </a:ext>
            </a:extLst>
          </p:cNvPr>
          <p:cNvSpPr/>
          <p:nvPr/>
        </p:nvSpPr>
        <p:spPr>
          <a:xfrm>
            <a:off x="6415288" y="1083069"/>
            <a:ext cx="5611611" cy="5101831"/>
          </a:xfrm>
          <a:prstGeom prst="roundRect">
            <a:avLst>
              <a:gd name="adj" fmla="val 5634"/>
            </a:avLst>
          </a:prstGeom>
          <a:noFill/>
          <a:ln w="6350" cap="sq">
            <a:solidFill>
              <a:schemeClr val="tx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300"/>
              </a:spcBef>
              <a:spcAft>
                <a:spcPts val="300"/>
              </a:spcAft>
            </a:pPr>
            <a:endParaRPr kumimoji="1" lang="zh-CN" altLang="en-US" sz="1600" dirty="0" err="1">
              <a:solidFill>
                <a:srgbClr val="FFFFFF"/>
              </a:solidFill>
              <a:latin typeface="Arial"/>
              <a:ea typeface="楷体"/>
              <a:cs typeface="+mn-ea"/>
              <a:sym typeface="+mn-lt"/>
            </a:endParaRPr>
          </a:p>
        </p:txBody>
      </p:sp>
    </p:spTree>
    <p:extLst>
      <p:ext uri="{BB962C8B-B14F-4D97-AF65-F5344CB8AC3E}">
        <p14:creationId xmlns:p14="http://schemas.microsoft.com/office/powerpoint/2010/main" val="1305419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E3E33-58C7-09A1-04D7-3029A624BC7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5AE1A48-D8F9-D337-3C9A-0CE7F89E9D3D}"/>
              </a:ext>
            </a:extLst>
          </p:cNvPr>
          <p:cNvGraphicFramePr>
            <a:graphicFrameLocks noChangeAspect="1"/>
          </p:cNvGraphicFramePr>
          <p:nvPr>
            <p:custDataLst>
              <p:tags r:id="rId1"/>
            </p:custDataLst>
            <p:extLst>
              <p:ext uri="{D42A27DB-BD31-4B8C-83A1-F6EECF244321}">
                <p14:modId xmlns:p14="http://schemas.microsoft.com/office/powerpoint/2010/main" val="19089889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4" imgH="405" progId="TCLayout.ActiveDocument.1">
                  <p:embed/>
                </p:oleObj>
              </mc:Choice>
              <mc:Fallback>
                <p:oleObj name="think-cell 幻灯片" r:id="rId4" imgW="404" imgH="405" progId="TCLayout.ActiveDocument.1">
                  <p:embed/>
                  <p:pic>
                    <p:nvPicPr>
                      <p:cNvPr id="5" name="think-cell data - do not delete" hidden="1">
                        <a:extLst>
                          <a:ext uri="{FF2B5EF4-FFF2-40B4-BE49-F238E27FC236}">
                            <a16:creationId xmlns:a16="http://schemas.microsoft.com/office/drawing/2014/main" id="{89A1FEA3-C30C-92F6-5C30-9DC3EE72F61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标题 1">
            <a:extLst>
              <a:ext uri="{FF2B5EF4-FFF2-40B4-BE49-F238E27FC236}">
                <a16:creationId xmlns:a16="http://schemas.microsoft.com/office/drawing/2014/main" id="{EB3C5221-71B9-57B2-CA12-5D544CA093FA}"/>
              </a:ext>
            </a:extLst>
          </p:cNvPr>
          <p:cNvSpPr>
            <a:spLocks noGrp="1"/>
          </p:cNvSpPr>
          <p:nvPr>
            <p:ph type="title"/>
          </p:nvPr>
        </p:nvSpPr>
        <p:spPr/>
        <p:txBody>
          <a:bodyPr vert="horz"/>
          <a:lstStyle/>
          <a:p>
            <a:r>
              <a:rPr lang="en-US" altLang="zh-CN" dirty="0">
                <a:latin typeface="+mn-lt"/>
                <a:ea typeface="+mn-ea"/>
                <a:cs typeface="+mn-ea"/>
                <a:sym typeface="+mn-lt"/>
              </a:rPr>
              <a:t>CPO</a:t>
            </a:r>
            <a:r>
              <a:rPr lang="zh-CN" altLang="en-US" dirty="0">
                <a:latin typeface="+mn-lt"/>
                <a:ea typeface="+mn-ea"/>
                <a:cs typeface="+mn-ea"/>
                <a:sym typeface="+mn-lt"/>
              </a:rPr>
              <a:t>关键模块：硅光芯片、电芯片、主控芯片、集成交付</a:t>
            </a:r>
          </a:p>
        </p:txBody>
      </p:sp>
      <p:sp>
        <p:nvSpPr>
          <p:cNvPr id="15" name="文本框 15">
            <a:extLst>
              <a:ext uri="{FF2B5EF4-FFF2-40B4-BE49-F238E27FC236}">
                <a16:creationId xmlns:a16="http://schemas.microsoft.com/office/drawing/2014/main" id="{94F0FB09-F514-6EA1-BC09-08785BA47F85}"/>
              </a:ext>
            </a:extLst>
          </p:cNvPr>
          <p:cNvSpPr txBox="1"/>
          <p:nvPr/>
        </p:nvSpPr>
        <p:spPr>
          <a:xfrm>
            <a:off x="617802" y="1358351"/>
            <a:ext cx="2300016"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i="1" dirty="0">
                <a:cs typeface="+mn-ea"/>
                <a:sym typeface="+mn-lt"/>
              </a:rPr>
              <a:t>光的外部传输</a:t>
            </a:r>
          </a:p>
        </p:txBody>
      </p:sp>
      <p:sp>
        <p:nvSpPr>
          <p:cNvPr id="16" name="文本框 16">
            <a:extLst>
              <a:ext uri="{FF2B5EF4-FFF2-40B4-BE49-F238E27FC236}">
                <a16:creationId xmlns:a16="http://schemas.microsoft.com/office/drawing/2014/main" id="{D4B15865-BD1B-8297-A007-A923B52173DE}"/>
              </a:ext>
            </a:extLst>
          </p:cNvPr>
          <p:cNvSpPr txBox="1"/>
          <p:nvPr/>
        </p:nvSpPr>
        <p:spPr>
          <a:xfrm>
            <a:off x="3621131" y="1362135"/>
            <a:ext cx="2778081"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i="1" dirty="0">
                <a:cs typeface="+mn-ea"/>
                <a:sym typeface="+mn-lt"/>
              </a:rPr>
              <a:t>行走通道 </a:t>
            </a:r>
            <a:r>
              <a:rPr lang="en-US" altLang="zh-CN" sz="1600" i="1" dirty="0">
                <a:cs typeface="+mn-ea"/>
                <a:sym typeface="+mn-lt"/>
              </a:rPr>
              <a:t>+ </a:t>
            </a:r>
            <a:r>
              <a:rPr lang="zh-CN" altLang="en-US" sz="1600" i="1" dirty="0">
                <a:cs typeface="+mn-ea"/>
                <a:sym typeface="+mn-lt"/>
              </a:rPr>
              <a:t>转换，光</a:t>
            </a:r>
            <a:r>
              <a:rPr lang="en-US" altLang="zh-CN" sz="1600" i="1" dirty="0">
                <a:cs typeface="+mn-ea"/>
                <a:sym typeface="Wingdings" panose="05000000000000000000" pitchFamily="2" charset="2"/>
              </a:rPr>
              <a:t></a:t>
            </a:r>
            <a:r>
              <a:rPr lang="zh-CN" altLang="en-US" sz="1600" i="1" dirty="0">
                <a:cs typeface="+mn-ea"/>
                <a:sym typeface="+mn-lt"/>
              </a:rPr>
              <a:t>电</a:t>
            </a:r>
          </a:p>
        </p:txBody>
      </p:sp>
      <p:sp>
        <p:nvSpPr>
          <p:cNvPr id="17" name="文本框 19">
            <a:extLst>
              <a:ext uri="{FF2B5EF4-FFF2-40B4-BE49-F238E27FC236}">
                <a16:creationId xmlns:a16="http://schemas.microsoft.com/office/drawing/2014/main" id="{9B069FB9-5C1E-2DB3-5143-941D14642AAE}"/>
              </a:ext>
            </a:extLst>
          </p:cNvPr>
          <p:cNvSpPr txBox="1"/>
          <p:nvPr/>
        </p:nvSpPr>
        <p:spPr>
          <a:xfrm>
            <a:off x="7036335" y="1367069"/>
            <a:ext cx="2009297"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i="1" dirty="0">
                <a:cs typeface="+mn-ea"/>
                <a:sym typeface="+mn-lt"/>
              </a:rPr>
              <a:t>放大 </a:t>
            </a:r>
            <a:r>
              <a:rPr lang="en-US" altLang="zh-CN" sz="1600" i="1" dirty="0">
                <a:cs typeface="+mn-ea"/>
                <a:sym typeface="+mn-lt"/>
              </a:rPr>
              <a:t>+ </a:t>
            </a:r>
            <a:r>
              <a:rPr lang="zh-CN" altLang="en-US" sz="1600" i="1" dirty="0">
                <a:cs typeface="+mn-ea"/>
                <a:sym typeface="+mn-lt"/>
              </a:rPr>
              <a:t>优化</a:t>
            </a:r>
          </a:p>
        </p:txBody>
      </p:sp>
      <p:sp>
        <p:nvSpPr>
          <p:cNvPr id="11" name="矩形 10">
            <a:extLst>
              <a:ext uri="{FF2B5EF4-FFF2-40B4-BE49-F238E27FC236}">
                <a16:creationId xmlns:a16="http://schemas.microsoft.com/office/drawing/2014/main" id="{C2948327-BF01-8DDC-3F68-1FAA3942C651}"/>
              </a:ext>
            </a:extLst>
          </p:cNvPr>
          <p:cNvSpPr/>
          <p:nvPr/>
        </p:nvSpPr>
        <p:spPr>
          <a:xfrm>
            <a:off x="1409857" y="2448690"/>
            <a:ext cx="9540239" cy="3448407"/>
          </a:xfrm>
          <a:prstGeom prst="rect">
            <a:avLst/>
          </a:prstGeom>
          <a:noFill/>
          <a:ln>
            <a:solidFill>
              <a:schemeClr val="accent3"/>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a:extLst>
              <a:ext uri="{FF2B5EF4-FFF2-40B4-BE49-F238E27FC236}">
                <a16:creationId xmlns:a16="http://schemas.microsoft.com/office/drawing/2014/main" id="{D3AB9DD8-1BA6-EED0-1DEC-F69E0D62279F}"/>
              </a:ext>
            </a:extLst>
          </p:cNvPr>
          <p:cNvSpPr/>
          <p:nvPr/>
        </p:nvSpPr>
        <p:spPr>
          <a:xfrm>
            <a:off x="2182085" y="3083560"/>
            <a:ext cx="3459485" cy="1213338"/>
          </a:xfrm>
          <a:prstGeom prst="rect">
            <a:avLst/>
          </a:prstGeom>
          <a:solidFill>
            <a:srgbClr val="F2F2F2"/>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10000"/>
                </a:schemeClr>
              </a:solidFill>
              <a:cs typeface="+mn-ea"/>
              <a:sym typeface="+mn-lt"/>
            </a:endParaRPr>
          </a:p>
        </p:txBody>
      </p:sp>
      <p:sp>
        <p:nvSpPr>
          <p:cNvPr id="22" name="矩形 21">
            <a:extLst>
              <a:ext uri="{FF2B5EF4-FFF2-40B4-BE49-F238E27FC236}">
                <a16:creationId xmlns:a16="http://schemas.microsoft.com/office/drawing/2014/main" id="{7FB6C53A-9695-D4C8-8827-7B9E8AF4DA96}"/>
              </a:ext>
            </a:extLst>
          </p:cNvPr>
          <p:cNvSpPr/>
          <p:nvPr/>
        </p:nvSpPr>
        <p:spPr>
          <a:xfrm>
            <a:off x="1593676" y="4993309"/>
            <a:ext cx="649525" cy="280678"/>
          </a:xfrm>
          <a:prstGeom prst="rect">
            <a:avLst/>
          </a:prstGeom>
          <a:solidFill>
            <a:srgbClr val="FFC00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0">
            <a:extLst>
              <a:ext uri="{FF2B5EF4-FFF2-40B4-BE49-F238E27FC236}">
                <a16:creationId xmlns:a16="http://schemas.microsoft.com/office/drawing/2014/main" id="{67084986-E3E2-1B36-CB83-52925B4C5234}"/>
              </a:ext>
            </a:extLst>
          </p:cNvPr>
          <p:cNvSpPr txBox="1"/>
          <p:nvPr/>
        </p:nvSpPr>
        <p:spPr>
          <a:xfrm>
            <a:off x="2243201" y="4948982"/>
            <a:ext cx="2009297"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cs typeface="+mn-ea"/>
                <a:sym typeface="+mn-lt"/>
              </a:rPr>
              <a:t>激光器</a:t>
            </a:r>
          </a:p>
        </p:txBody>
      </p:sp>
      <p:sp>
        <p:nvSpPr>
          <p:cNvPr id="24" name="矩形 23">
            <a:extLst>
              <a:ext uri="{FF2B5EF4-FFF2-40B4-BE49-F238E27FC236}">
                <a16:creationId xmlns:a16="http://schemas.microsoft.com/office/drawing/2014/main" id="{7DEDA2F7-DD0C-B6AF-FA4B-789F5380E082}"/>
              </a:ext>
            </a:extLst>
          </p:cNvPr>
          <p:cNvSpPr/>
          <p:nvPr/>
        </p:nvSpPr>
        <p:spPr>
          <a:xfrm>
            <a:off x="6432297" y="3109827"/>
            <a:ext cx="2175647" cy="1213338"/>
          </a:xfrm>
          <a:prstGeom prst="rect">
            <a:avLst/>
          </a:prstGeom>
          <a:solidFill>
            <a:srgbClr val="F2F2F2"/>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10000"/>
                </a:schemeClr>
              </a:solidFill>
              <a:cs typeface="+mn-ea"/>
              <a:sym typeface="+mn-lt"/>
            </a:endParaRPr>
          </a:p>
        </p:txBody>
      </p:sp>
      <p:sp>
        <p:nvSpPr>
          <p:cNvPr id="33" name="箭头: V 形 32">
            <a:extLst>
              <a:ext uri="{FF2B5EF4-FFF2-40B4-BE49-F238E27FC236}">
                <a16:creationId xmlns:a16="http://schemas.microsoft.com/office/drawing/2014/main" id="{0FAB6334-5ABE-7A88-A44F-64281F7BDDE0}"/>
              </a:ext>
            </a:extLst>
          </p:cNvPr>
          <p:cNvSpPr/>
          <p:nvPr/>
        </p:nvSpPr>
        <p:spPr>
          <a:xfrm>
            <a:off x="6843626" y="982651"/>
            <a:ext cx="2103733" cy="287047"/>
          </a:xfrm>
          <a:prstGeom prst="chevron">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cs typeface="+mn-ea"/>
                <a:sym typeface="+mn-lt"/>
              </a:rPr>
              <a:t>②</a:t>
            </a:r>
            <a:r>
              <a:rPr lang="zh-CN" altLang="en-US" dirty="0">
                <a:solidFill>
                  <a:schemeClr val="bg1"/>
                </a:solidFill>
                <a:cs typeface="+mn-ea"/>
                <a:sym typeface="+mn-lt"/>
              </a:rPr>
              <a:t>电信号中枢</a:t>
            </a:r>
          </a:p>
        </p:txBody>
      </p:sp>
      <p:sp>
        <p:nvSpPr>
          <p:cNvPr id="37" name="箭头: V 形 36">
            <a:extLst>
              <a:ext uri="{FF2B5EF4-FFF2-40B4-BE49-F238E27FC236}">
                <a16:creationId xmlns:a16="http://schemas.microsoft.com/office/drawing/2014/main" id="{A5DE1F38-4944-0B42-9D63-3C4E1D721242}"/>
              </a:ext>
            </a:extLst>
          </p:cNvPr>
          <p:cNvSpPr/>
          <p:nvPr/>
        </p:nvSpPr>
        <p:spPr>
          <a:xfrm>
            <a:off x="8947359" y="982651"/>
            <a:ext cx="2038857" cy="287047"/>
          </a:xfrm>
          <a:prstGeom prst="chevron">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cs typeface="+mn-ea"/>
                <a:sym typeface="+mn-lt"/>
              </a:rPr>
              <a:t>③</a:t>
            </a:r>
            <a:r>
              <a:rPr lang="zh-CN" altLang="en-US" dirty="0">
                <a:solidFill>
                  <a:schemeClr val="bg1"/>
                </a:solidFill>
                <a:cs typeface="+mn-ea"/>
                <a:sym typeface="+mn-lt"/>
              </a:rPr>
              <a:t> 交换机芯片</a:t>
            </a:r>
          </a:p>
        </p:txBody>
      </p:sp>
      <p:sp>
        <p:nvSpPr>
          <p:cNvPr id="39" name="箭头: 五边形 38">
            <a:extLst>
              <a:ext uri="{FF2B5EF4-FFF2-40B4-BE49-F238E27FC236}">
                <a16:creationId xmlns:a16="http://schemas.microsoft.com/office/drawing/2014/main" id="{7315768A-F489-4B69-3BFF-EF42D30BFF80}"/>
              </a:ext>
            </a:extLst>
          </p:cNvPr>
          <p:cNvSpPr/>
          <p:nvPr/>
        </p:nvSpPr>
        <p:spPr>
          <a:xfrm>
            <a:off x="747322" y="973707"/>
            <a:ext cx="1379386" cy="295991"/>
          </a:xfrm>
          <a:prstGeom prst="homePlat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6">
                    <a:lumMod val="10000"/>
                  </a:schemeClr>
                </a:solidFill>
                <a:cs typeface="+mn-ea"/>
                <a:sym typeface="+mn-lt"/>
              </a:rPr>
              <a:t>出入口</a:t>
            </a:r>
          </a:p>
        </p:txBody>
      </p:sp>
      <p:sp>
        <p:nvSpPr>
          <p:cNvPr id="40" name="箭头: V 形 39">
            <a:extLst>
              <a:ext uri="{FF2B5EF4-FFF2-40B4-BE49-F238E27FC236}">
                <a16:creationId xmlns:a16="http://schemas.microsoft.com/office/drawing/2014/main" id="{25CB25BC-33E8-730C-C17D-A7B74A5E8B3C}"/>
              </a:ext>
            </a:extLst>
          </p:cNvPr>
          <p:cNvSpPr/>
          <p:nvPr/>
        </p:nvSpPr>
        <p:spPr>
          <a:xfrm>
            <a:off x="2221145" y="982651"/>
            <a:ext cx="4612713" cy="287047"/>
          </a:xfrm>
          <a:prstGeom prst="chevron">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cs typeface="+mn-ea"/>
                <a:sym typeface="+mn-lt"/>
              </a:rPr>
              <a:t>①</a:t>
            </a:r>
            <a:r>
              <a:rPr lang="zh-CN" altLang="en-US" dirty="0">
                <a:solidFill>
                  <a:schemeClr val="bg1"/>
                </a:solidFill>
                <a:cs typeface="+mn-ea"/>
                <a:sym typeface="+mn-lt"/>
              </a:rPr>
              <a:t>光信号中枢</a:t>
            </a:r>
          </a:p>
        </p:txBody>
      </p:sp>
      <p:sp>
        <p:nvSpPr>
          <p:cNvPr id="42" name="文本框 19">
            <a:extLst>
              <a:ext uri="{FF2B5EF4-FFF2-40B4-BE49-F238E27FC236}">
                <a16:creationId xmlns:a16="http://schemas.microsoft.com/office/drawing/2014/main" id="{2727B565-61FE-E172-9002-76B020FA46D1}"/>
              </a:ext>
            </a:extLst>
          </p:cNvPr>
          <p:cNvSpPr txBox="1"/>
          <p:nvPr/>
        </p:nvSpPr>
        <p:spPr>
          <a:xfrm>
            <a:off x="9173143" y="1352103"/>
            <a:ext cx="2009297"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i="1" dirty="0">
                <a:cs typeface="+mn-ea"/>
                <a:sym typeface="+mn-lt"/>
              </a:rPr>
              <a:t>主控，信号处理</a:t>
            </a:r>
          </a:p>
        </p:txBody>
      </p:sp>
      <p:sp>
        <p:nvSpPr>
          <p:cNvPr id="43" name="文本框 20">
            <a:extLst>
              <a:ext uri="{FF2B5EF4-FFF2-40B4-BE49-F238E27FC236}">
                <a16:creationId xmlns:a16="http://schemas.microsoft.com/office/drawing/2014/main" id="{3DADEF1A-A333-EBD7-DBB9-800B82D091AA}"/>
              </a:ext>
            </a:extLst>
          </p:cNvPr>
          <p:cNvSpPr txBox="1"/>
          <p:nvPr/>
        </p:nvSpPr>
        <p:spPr>
          <a:xfrm>
            <a:off x="589027" y="3516325"/>
            <a:ext cx="2009297"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cs typeface="+mn-ea"/>
                <a:sym typeface="+mn-lt"/>
              </a:rPr>
              <a:t>光纤</a:t>
            </a:r>
          </a:p>
        </p:txBody>
      </p:sp>
      <p:sp>
        <p:nvSpPr>
          <p:cNvPr id="44" name="文本框 20">
            <a:extLst>
              <a:ext uri="{FF2B5EF4-FFF2-40B4-BE49-F238E27FC236}">
                <a16:creationId xmlns:a16="http://schemas.microsoft.com/office/drawing/2014/main" id="{7EB95528-BE38-31FE-D498-ED8A9AD5D0DE}"/>
              </a:ext>
            </a:extLst>
          </p:cNvPr>
          <p:cNvSpPr txBox="1"/>
          <p:nvPr/>
        </p:nvSpPr>
        <p:spPr>
          <a:xfrm>
            <a:off x="2521561" y="3500936"/>
            <a:ext cx="126659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accent6">
                    <a:lumMod val="10000"/>
                  </a:schemeClr>
                </a:solidFill>
                <a:cs typeface="+mn-ea"/>
                <a:sym typeface="+mn-lt"/>
              </a:rPr>
              <a:t>硅光芯片</a:t>
            </a:r>
          </a:p>
        </p:txBody>
      </p:sp>
      <p:sp>
        <p:nvSpPr>
          <p:cNvPr id="45" name="文本框 20">
            <a:extLst>
              <a:ext uri="{FF2B5EF4-FFF2-40B4-BE49-F238E27FC236}">
                <a16:creationId xmlns:a16="http://schemas.microsoft.com/office/drawing/2014/main" id="{37BFB15D-02A7-38D1-4534-FAD88D98D71A}"/>
              </a:ext>
            </a:extLst>
          </p:cNvPr>
          <p:cNvSpPr txBox="1"/>
          <p:nvPr/>
        </p:nvSpPr>
        <p:spPr>
          <a:xfrm>
            <a:off x="6562627" y="3486810"/>
            <a:ext cx="126659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accent6">
                    <a:lumMod val="10000"/>
                  </a:schemeClr>
                </a:solidFill>
                <a:cs typeface="+mn-ea"/>
                <a:sym typeface="+mn-lt"/>
              </a:rPr>
              <a:t>电芯片</a:t>
            </a:r>
          </a:p>
        </p:txBody>
      </p:sp>
      <p:sp>
        <p:nvSpPr>
          <p:cNvPr id="47" name="文本框 20">
            <a:extLst>
              <a:ext uri="{FF2B5EF4-FFF2-40B4-BE49-F238E27FC236}">
                <a16:creationId xmlns:a16="http://schemas.microsoft.com/office/drawing/2014/main" id="{8CE53E9B-A40C-F4EE-67D8-64D988AE13F3}"/>
              </a:ext>
            </a:extLst>
          </p:cNvPr>
          <p:cNvSpPr txBox="1"/>
          <p:nvPr/>
        </p:nvSpPr>
        <p:spPr>
          <a:xfrm>
            <a:off x="10019156" y="2522284"/>
            <a:ext cx="895124" cy="369332"/>
          </a:xfrm>
          <a:prstGeom prst="rect">
            <a:avLst/>
          </a:prstGeom>
          <a:solidFill>
            <a:schemeClr val="bg1"/>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cs typeface="+mn-ea"/>
                <a:sym typeface="+mn-lt"/>
              </a:rPr>
              <a:t>中介层</a:t>
            </a:r>
          </a:p>
        </p:txBody>
      </p:sp>
      <p:sp>
        <p:nvSpPr>
          <p:cNvPr id="48" name="矩形 47">
            <a:extLst>
              <a:ext uri="{FF2B5EF4-FFF2-40B4-BE49-F238E27FC236}">
                <a16:creationId xmlns:a16="http://schemas.microsoft.com/office/drawing/2014/main" id="{45689421-5D02-C04E-BCB5-FD5BBA142849}"/>
              </a:ext>
            </a:extLst>
          </p:cNvPr>
          <p:cNvSpPr/>
          <p:nvPr/>
        </p:nvSpPr>
        <p:spPr>
          <a:xfrm>
            <a:off x="9173143" y="3109914"/>
            <a:ext cx="1325506" cy="1213336"/>
          </a:xfrm>
          <a:prstGeom prst="rect">
            <a:avLst/>
          </a:prstGeom>
          <a:solidFill>
            <a:srgbClr val="0052D9"/>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grpSp>
        <p:nvGrpSpPr>
          <p:cNvPr id="41" name="组合 40">
            <a:extLst>
              <a:ext uri="{FF2B5EF4-FFF2-40B4-BE49-F238E27FC236}">
                <a16:creationId xmlns:a16="http://schemas.microsoft.com/office/drawing/2014/main" id="{6E750E85-5EAD-83BD-32BF-03956365F6EB}"/>
              </a:ext>
            </a:extLst>
          </p:cNvPr>
          <p:cNvGrpSpPr/>
          <p:nvPr/>
        </p:nvGrpSpPr>
        <p:grpSpPr>
          <a:xfrm>
            <a:off x="1200681" y="3552248"/>
            <a:ext cx="951597" cy="275962"/>
            <a:chOff x="1264116" y="3092270"/>
            <a:chExt cx="951597" cy="275962"/>
          </a:xfrm>
        </p:grpSpPr>
        <p:cxnSp>
          <p:nvCxnSpPr>
            <p:cNvPr id="54" name="直接箭头连接符 53">
              <a:extLst>
                <a:ext uri="{FF2B5EF4-FFF2-40B4-BE49-F238E27FC236}">
                  <a16:creationId xmlns:a16="http://schemas.microsoft.com/office/drawing/2014/main" id="{25AD28EC-69D7-E8CC-F854-B7560F73B44D}"/>
                </a:ext>
              </a:extLst>
            </p:cNvPr>
            <p:cNvCxnSpPr>
              <a:cxnSpLocks/>
            </p:cNvCxnSpPr>
            <p:nvPr/>
          </p:nvCxnSpPr>
          <p:spPr>
            <a:xfrm>
              <a:off x="1264116" y="3092270"/>
              <a:ext cx="951597" cy="0"/>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42DD8AC4-36E8-0656-6597-D0E82B632B15}"/>
                </a:ext>
              </a:extLst>
            </p:cNvPr>
            <p:cNvCxnSpPr>
              <a:cxnSpLocks/>
            </p:cNvCxnSpPr>
            <p:nvPr/>
          </p:nvCxnSpPr>
          <p:spPr>
            <a:xfrm flipH="1">
              <a:off x="1264116" y="3368232"/>
              <a:ext cx="931629" cy="0"/>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组合 48">
            <a:extLst>
              <a:ext uri="{FF2B5EF4-FFF2-40B4-BE49-F238E27FC236}">
                <a16:creationId xmlns:a16="http://schemas.microsoft.com/office/drawing/2014/main" id="{1EF942E8-363E-BB6C-8926-2CC6D54A4D13}"/>
              </a:ext>
            </a:extLst>
          </p:cNvPr>
          <p:cNvGrpSpPr/>
          <p:nvPr/>
        </p:nvGrpSpPr>
        <p:grpSpPr>
          <a:xfrm>
            <a:off x="5697698" y="3582692"/>
            <a:ext cx="701515" cy="215075"/>
            <a:chOff x="5867400" y="3121269"/>
            <a:chExt cx="470408" cy="215075"/>
          </a:xfrm>
        </p:grpSpPr>
        <p:cxnSp>
          <p:nvCxnSpPr>
            <p:cNvPr id="2055" name="直接箭头连接符 2054">
              <a:extLst>
                <a:ext uri="{FF2B5EF4-FFF2-40B4-BE49-F238E27FC236}">
                  <a16:creationId xmlns:a16="http://schemas.microsoft.com/office/drawing/2014/main" id="{7FBD8DBF-3536-067A-49D5-59958CB045AC}"/>
                </a:ext>
              </a:extLst>
            </p:cNvPr>
            <p:cNvCxnSpPr>
              <a:cxnSpLocks/>
            </p:cNvCxnSpPr>
            <p:nvPr/>
          </p:nvCxnSpPr>
          <p:spPr>
            <a:xfrm>
              <a:off x="5867400" y="3121269"/>
              <a:ext cx="470408" cy="0"/>
            </a:xfrm>
            <a:prstGeom prst="straightConnector1">
              <a:avLst/>
            </a:prstGeom>
            <a:ln>
              <a:solidFill>
                <a:srgbClr val="0052D9"/>
              </a:solidFill>
              <a:tailEnd type="triangle"/>
            </a:ln>
          </p:spPr>
          <p:style>
            <a:lnRef idx="1">
              <a:schemeClr val="accent1"/>
            </a:lnRef>
            <a:fillRef idx="0">
              <a:schemeClr val="accent1"/>
            </a:fillRef>
            <a:effectRef idx="0">
              <a:schemeClr val="accent1"/>
            </a:effectRef>
            <a:fontRef idx="minor">
              <a:schemeClr val="tx1"/>
            </a:fontRef>
          </p:style>
        </p:cxnSp>
        <p:cxnSp>
          <p:nvCxnSpPr>
            <p:cNvPr id="2058" name="直接箭头连接符 2057">
              <a:extLst>
                <a:ext uri="{FF2B5EF4-FFF2-40B4-BE49-F238E27FC236}">
                  <a16:creationId xmlns:a16="http://schemas.microsoft.com/office/drawing/2014/main" id="{1DC1302F-98F2-11EC-F648-FEF89B479F8E}"/>
                </a:ext>
              </a:extLst>
            </p:cNvPr>
            <p:cNvCxnSpPr>
              <a:cxnSpLocks/>
            </p:cNvCxnSpPr>
            <p:nvPr/>
          </p:nvCxnSpPr>
          <p:spPr>
            <a:xfrm flipH="1">
              <a:off x="5867400" y="3336344"/>
              <a:ext cx="446029" cy="0"/>
            </a:xfrm>
            <a:prstGeom prst="straightConnector1">
              <a:avLst/>
            </a:prstGeom>
            <a:ln>
              <a:solidFill>
                <a:srgbClr val="0052D9"/>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062" name="直接箭头连接符 2061">
            <a:extLst>
              <a:ext uri="{FF2B5EF4-FFF2-40B4-BE49-F238E27FC236}">
                <a16:creationId xmlns:a16="http://schemas.microsoft.com/office/drawing/2014/main" id="{AD1DD371-7967-C5F3-59FB-82B1D9CAB30E}"/>
              </a:ext>
            </a:extLst>
          </p:cNvPr>
          <p:cNvCxnSpPr>
            <a:cxnSpLocks/>
          </p:cNvCxnSpPr>
          <p:nvPr/>
        </p:nvCxnSpPr>
        <p:spPr>
          <a:xfrm>
            <a:off x="8646586" y="3709334"/>
            <a:ext cx="493473"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75" name="连接符: 肘形 2074">
            <a:extLst>
              <a:ext uri="{FF2B5EF4-FFF2-40B4-BE49-F238E27FC236}">
                <a16:creationId xmlns:a16="http://schemas.microsoft.com/office/drawing/2014/main" id="{9ED28D06-04DF-D6FD-7DDF-5A0B2275ADB3}"/>
              </a:ext>
            </a:extLst>
          </p:cNvPr>
          <p:cNvCxnSpPr>
            <a:cxnSpLocks/>
            <a:stCxn id="24" idx="2"/>
            <a:endCxn id="22" idx="2"/>
          </p:cNvCxnSpPr>
          <p:nvPr/>
        </p:nvCxnSpPr>
        <p:spPr>
          <a:xfrm rot="5400000">
            <a:off x="4243869" y="1997735"/>
            <a:ext cx="950822" cy="5601682"/>
          </a:xfrm>
          <a:prstGeom prst="bentConnector3">
            <a:avLst>
              <a:gd name="adj1" fmla="val 136865"/>
            </a:avLst>
          </a:prstGeom>
          <a:ln w="19050">
            <a:solidFill>
              <a:srgbClr val="0052D9"/>
            </a:solidFill>
            <a:tailEnd type="triangle"/>
          </a:ln>
        </p:spPr>
        <p:style>
          <a:lnRef idx="1">
            <a:schemeClr val="accent1"/>
          </a:lnRef>
          <a:fillRef idx="0">
            <a:schemeClr val="accent1"/>
          </a:fillRef>
          <a:effectRef idx="0">
            <a:schemeClr val="accent1"/>
          </a:effectRef>
          <a:fontRef idx="minor">
            <a:schemeClr val="tx1"/>
          </a:fontRef>
        </p:style>
      </p:cxnSp>
      <p:cxnSp>
        <p:nvCxnSpPr>
          <p:cNvPr id="2077" name="连接符: 肘形 2076">
            <a:extLst>
              <a:ext uri="{FF2B5EF4-FFF2-40B4-BE49-F238E27FC236}">
                <a16:creationId xmlns:a16="http://schemas.microsoft.com/office/drawing/2014/main" id="{0AF81F08-9051-FE8D-26FF-20D5E94B76FF}"/>
              </a:ext>
            </a:extLst>
          </p:cNvPr>
          <p:cNvCxnSpPr>
            <a:cxnSpLocks/>
            <a:stCxn id="22" idx="0"/>
            <a:endCxn id="21" idx="2"/>
          </p:cNvCxnSpPr>
          <p:nvPr/>
        </p:nvCxnSpPr>
        <p:spPr>
          <a:xfrm rot="5400000" flipH="1" flipV="1">
            <a:off x="2566928" y="3648410"/>
            <a:ext cx="696411" cy="1993389"/>
          </a:xfrm>
          <a:prstGeom prst="bentConnector3">
            <a:avLst>
              <a:gd name="adj1" fmla="val 50000"/>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02DB029A-34DC-7439-48BD-552FDD20957D}"/>
              </a:ext>
            </a:extLst>
          </p:cNvPr>
          <p:cNvSpPr/>
          <p:nvPr/>
        </p:nvSpPr>
        <p:spPr>
          <a:xfrm>
            <a:off x="11216587" y="564491"/>
            <a:ext cx="940862" cy="41816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6">
                    <a:lumMod val="10000"/>
                  </a:schemeClr>
                </a:solidFill>
                <a:cs typeface="+mn-ea"/>
                <a:sym typeface="+mn-lt"/>
              </a:rPr>
              <a:t>Draft</a:t>
            </a:r>
            <a:endParaRPr lang="zh-CN" altLang="en-US" dirty="0">
              <a:solidFill>
                <a:schemeClr val="accent6">
                  <a:lumMod val="10000"/>
                </a:schemeClr>
              </a:solidFill>
              <a:cs typeface="+mn-ea"/>
              <a:sym typeface="+mn-lt"/>
            </a:endParaRPr>
          </a:p>
        </p:txBody>
      </p:sp>
      <p:pic>
        <p:nvPicPr>
          <p:cNvPr id="32" name="图片 31">
            <a:extLst>
              <a:ext uri="{FF2B5EF4-FFF2-40B4-BE49-F238E27FC236}">
                <a16:creationId xmlns:a16="http://schemas.microsoft.com/office/drawing/2014/main" id="{D0BCD0E5-ED24-574E-E257-2EF66AC7E539}"/>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1262" b="90140" l="10000" r="90000"/>
                    </a14:imgEffect>
                  </a14:imgLayer>
                </a14:imgProps>
              </a:ext>
            </a:extLst>
          </a:blip>
          <a:srcRect t="37052" b="1"/>
          <a:stretch/>
        </p:blipFill>
        <p:spPr>
          <a:xfrm>
            <a:off x="3788157" y="3464728"/>
            <a:ext cx="1504067" cy="514734"/>
          </a:xfrm>
          <a:prstGeom prst="rect">
            <a:avLst/>
          </a:prstGeom>
        </p:spPr>
      </p:pic>
      <p:pic>
        <p:nvPicPr>
          <p:cNvPr id="35" name="图片 34">
            <a:extLst>
              <a:ext uri="{FF2B5EF4-FFF2-40B4-BE49-F238E27FC236}">
                <a16:creationId xmlns:a16="http://schemas.microsoft.com/office/drawing/2014/main" id="{E1F0DD3D-EF20-CE96-BADF-B90BA3408159}"/>
              </a:ext>
            </a:extLst>
          </p:cNvPr>
          <p:cNvPicPr>
            <a:picLocks noChangeAspect="1"/>
          </p:cNvPicPr>
          <p:nvPr/>
        </p:nvPicPr>
        <p:blipFill>
          <a:blip r:embed="rId8"/>
          <a:stretch>
            <a:fillRect/>
          </a:stretch>
        </p:blipFill>
        <p:spPr>
          <a:xfrm>
            <a:off x="7919401" y="3265683"/>
            <a:ext cx="515335" cy="852756"/>
          </a:xfrm>
          <a:prstGeom prst="rect">
            <a:avLst/>
          </a:prstGeom>
        </p:spPr>
      </p:pic>
      <p:pic>
        <p:nvPicPr>
          <p:cNvPr id="52" name="Picture 2">
            <a:extLst>
              <a:ext uri="{FF2B5EF4-FFF2-40B4-BE49-F238E27FC236}">
                <a16:creationId xmlns:a16="http://schemas.microsoft.com/office/drawing/2014/main" id="{5602C000-9232-4CA0-4CF1-B1F3AB9A9E0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975722" y="4761053"/>
            <a:ext cx="936105" cy="657917"/>
          </a:xfrm>
          <a:prstGeom prst="rect">
            <a:avLst/>
          </a:prstGeom>
          <a:noFill/>
          <a:extLst>
            <a:ext uri="{909E8E84-426E-40DD-AFC4-6F175D3DCCD1}">
              <a14:hiddenFill xmlns:a14="http://schemas.microsoft.com/office/drawing/2010/main">
                <a:solidFill>
                  <a:srgbClr val="FFFFFF"/>
                </a:solidFill>
              </a14:hiddenFill>
            </a:ext>
          </a:extLst>
        </p:spPr>
      </p:pic>
      <p:pic>
        <p:nvPicPr>
          <p:cNvPr id="55" name="图片 54">
            <a:extLst>
              <a:ext uri="{FF2B5EF4-FFF2-40B4-BE49-F238E27FC236}">
                <a16:creationId xmlns:a16="http://schemas.microsoft.com/office/drawing/2014/main" id="{EBD606B1-4B19-F639-D715-573EFB3F15FC}"/>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85" b="98374" l="3165" r="98418">
                        <a14:foregroundMark x1="12025" y1="22358" x2="34072" y2="16057"/>
                        <a14:foregroundMark x1="34072" y1="16057" x2="34072" y2="16057"/>
                        <a14:foregroundMark x1="33333" y1="17073" x2="64662" y2="9959"/>
                        <a14:foregroundMark x1="64662" y1="9959" x2="71941" y2="18902"/>
                        <a14:foregroundMark x1="71941" y1="18902" x2="91034" y2="68089"/>
                        <a14:foregroundMark x1="91034" y1="68089" x2="46519" y2="86179"/>
                        <a14:foregroundMark x1="46519" y1="86179" x2="32384" y2="85366"/>
                        <a14:foregroundMark x1="32384" y1="85366" x2="27321" y2="80081"/>
                        <a14:foregroundMark x1="27321" y1="80081" x2="10232" y2="29268"/>
                        <a14:foregroundMark x1="10232" y1="29268" x2="13608" y2="20935"/>
                        <a14:foregroundMark x1="13608" y1="20935" x2="13924" y2="20732"/>
                        <a14:foregroundMark x1="10021" y1="19919" x2="7122" y2="26946"/>
                        <a14:foregroundMark x1="4219" y1="21951" x2="5439" y2="27764"/>
                        <a14:foregroundMark x1="24684" y1="89634" x2="29114" y2="96545"/>
                        <a14:foregroundMark x1="49014" y1="91104" x2="92300" y2="79268"/>
                        <a14:foregroundMark x1="29114" y1="96545" x2="31385" y2="95924"/>
                        <a14:foregroundMark x1="92300" y1="79268" x2="95570" y2="69512"/>
                        <a14:foregroundMark x1="95570" y1="69512" x2="93882" y2="64837"/>
                        <a14:foregroundMark x1="23840" y1="91057" x2="31821" y2="97141"/>
                        <a14:foregroundMark x1="3165" y1="20935" x2="4642" y2="28554"/>
                        <a14:foregroundMark x1="6013" y1="18496" x2="47358" y2="9116"/>
                        <a14:foregroundMark x1="69890" y1="5829" x2="70570" y2="5894"/>
                        <a14:foregroundMark x1="70570" y1="7114" x2="97363" y2="71341"/>
                        <a14:backgroundMark x1="4536" y1="28659" x2="22890" y2="91260"/>
                        <a14:backgroundMark x1="50527" y1="95325" x2="32700" y2="99593"/>
                        <a14:backgroundMark x1="47046" y1="96341" x2="98734" y2="81504"/>
                        <a14:backgroundMark x1="47785" y1="7724" x2="70992" y2="2236"/>
                      </a14:backgroundRemoval>
                    </a14:imgEffect>
                  </a14:imgLayer>
                </a14:imgProps>
              </a:ext>
            </a:extLst>
          </a:blip>
          <a:stretch>
            <a:fillRect/>
          </a:stretch>
        </p:blipFill>
        <p:spPr>
          <a:xfrm>
            <a:off x="9445877" y="3826510"/>
            <a:ext cx="830218" cy="430873"/>
          </a:xfrm>
          <a:prstGeom prst="rect">
            <a:avLst/>
          </a:prstGeom>
        </p:spPr>
      </p:pic>
      <p:sp>
        <p:nvSpPr>
          <p:cNvPr id="57" name="文本框 20">
            <a:extLst>
              <a:ext uri="{FF2B5EF4-FFF2-40B4-BE49-F238E27FC236}">
                <a16:creationId xmlns:a16="http://schemas.microsoft.com/office/drawing/2014/main" id="{A707E005-0F5A-8BC3-6FB7-C00568D69008}"/>
              </a:ext>
            </a:extLst>
          </p:cNvPr>
          <p:cNvSpPr txBox="1"/>
          <p:nvPr/>
        </p:nvSpPr>
        <p:spPr>
          <a:xfrm>
            <a:off x="9129042" y="3193160"/>
            <a:ext cx="1463888" cy="7078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chemeClr val="bg1"/>
                </a:solidFill>
                <a:cs typeface="+mn-ea"/>
                <a:sym typeface="+mn-lt"/>
              </a:rPr>
              <a:t>交换机芯片</a:t>
            </a:r>
            <a:r>
              <a:rPr lang="en-US" altLang="zh-CN" sz="2000" dirty="0">
                <a:solidFill>
                  <a:schemeClr val="bg1"/>
                </a:solidFill>
                <a:cs typeface="+mn-ea"/>
                <a:sym typeface="+mn-lt"/>
              </a:rPr>
              <a:t>ASIC</a:t>
            </a:r>
          </a:p>
        </p:txBody>
      </p:sp>
      <p:sp>
        <p:nvSpPr>
          <p:cNvPr id="58" name="左大括号 57">
            <a:extLst>
              <a:ext uri="{FF2B5EF4-FFF2-40B4-BE49-F238E27FC236}">
                <a16:creationId xmlns:a16="http://schemas.microsoft.com/office/drawing/2014/main" id="{22734E28-4CAC-844F-BDBB-82EF12CDE189}"/>
              </a:ext>
            </a:extLst>
          </p:cNvPr>
          <p:cNvSpPr/>
          <p:nvPr/>
        </p:nvSpPr>
        <p:spPr>
          <a:xfrm rot="16200000">
            <a:off x="5578371" y="-2465666"/>
            <a:ext cx="238588" cy="8521301"/>
          </a:xfrm>
          <a:prstGeom prst="leftBrace">
            <a:avLst/>
          </a:prstGeom>
          <a:ln>
            <a:solidFill>
              <a:srgbClr val="0052D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59" name="文本框 16">
            <a:extLst>
              <a:ext uri="{FF2B5EF4-FFF2-40B4-BE49-F238E27FC236}">
                <a16:creationId xmlns:a16="http://schemas.microsoft.com/office/drawing/2014/main" id="{88423579-B8A0-659B-7469-A67344F6A24E}"/>
              </a:ext>
            </a:extLst>
          </p:cNvPr>
          <p:cNvSpPr txBox="1"/>
          <p:nvPr/>
        </p:nvSpPr>
        <p:spPr>
          <a:xfrm>
            <a:off x="3850661" y="1977046"/>
            <a:ext cx="3581817"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cs typeface="+mn-ea"/>
                <a:sym typeface="+mn-lt"/>
              </a:rPr>
              <a:t>④</a:t>
            </a:r>
            <a:r>
              <a:rPr lang="zh-CN" altLang="en-US" sz="1600" dirty="0">
                <a:cs typeface="+mn-ea"/>
                <a:sym typeface="+mn-lt"/>
              </a:rPr>
              <a:t> 集成交付</a:t>
            </a:r>
            <a:r>
              <a:rPr lang="en-US" altLang="zh-CN" sz="1600" baseline="30000" dirty="0">
                <a:cs typeface="+mn-ea"/>
                <a:sym typeface="+mn-lt"/>
              </a:rPr>
              <a:t>1</a:t>
            </a:r>
            <a:r>
              <a:rPr lang="zh-CN" altLang="en-US" sz="1600" dirty="0">
                <a:cs typeface="+mn-ea"/>
                <a:sym typeface="+mn-lt"/>
              </a:rPr>
              <a:t>：先进封装 </a:t>
            </a:r>
            <a:r>
              <a:rPr lang="en-US" altLang="zh-CN" sz="1600" dirty="0">
                <a:cs typeface="+mn-ea"/>
                <a:sym typeface="+mn-lt"/>
              </a:rPr>
              <a:t>+ </a:t>
            </a:r>
            <a:r>
              <a:rPr lang="zh-CN" altLang="en-US" sz="1600" dirty="0">
                <a:cs typeface="+mn-ea"/>
                <a:sym typeface="+mn-lt"/>
              </a:rPr>
              <a:t>整机集成</a:t>
            </a:r>
          </a:p>
        </p:txBody>
      </p:sp>
      <p:sp>
        <p:nvSpPr>
          <p:cNvPr id="3" name="文本框 2">
            <a:extLst>
              <a:ext uri="{FF2B5EF4-FFF2-40B4-BE49-F238E27FC236}">
                <a16:creationId xmlns:a16="http://schemas.microsoft.com/office/drawing/2014/main" id="{B4C8B1F2-7CEF-4519-ED3C-8D9DE918E770}"/>
              </a:ext>
            </a:extLst>
          </p:cNvPr>
          <p:cNvSpPr txBox="1"/>
          <p:nvPr/>
        </p:nvSpPr>
        <p:spPr>
          <a:xfrm>
            <a:off x="406273" y="6356103"/>
            <a:ext cx="7859218" cy="422275"/>
          </a:xfrm>
          <a:prstGeom prst="rect">
            <a:avLst/>
          </a:prstGeom>
          <a:ln w="6350">
            <a:noFill/>
            <a:miter lim="800000"/>
          </a:ln>
        </p:spPr>
        <p:txBody>
          <a:bodyPr vert="horz" wrap="square" lIns="0" tIns="0" rIns="0" bIns="0" rtlCol="0">
            <a:noAutofit/>
          </a:bodyPr>
          <a:lstStyle/>
          <a:p>
            <a:pPr>
              <a:spcBef>
                <a:spcPts val="100"/>
              </a:spcBef>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：未包含</a:t>
            </a:r>
            <a:r>
              <a:rPr kumimoji="1" lang="en-US" altLang="zh-CN" sz="1200" i="1" dirty="0">
                <a:solidFill>
                  <a:schemeClr val="tx1">
                    <a:lumMod val="50000"/>
                  </a:schemeClr>
                </a:solidFill>
                <a:cs typeface="+mn-ea"/>
                <a:sym typeface="+mn-lt"/>
              </a:rPr>
              <a:t>Foundry</a:t>
            </a:r>
            <a:endParaRPr kumimoji="1" lang="zh-CN" altLang="zh-CN" sz="1200" i="1" dirty="0">
              <a:solidFill>
                <a:schemeClr val="tx1">
                  <a:lumMod val="50000"/>
                </a:schemeClr>
              </a:solidFill>
              <a:cs typeface="+mn-ea"/>
              <a:sym typeface="+mn-lt"/>
            </a:endParaRPr>
          </a:p>
          <a:p>
            <a:pPr>
              <a:spcBef>
                <a:spcPts val="100"/>
              </a:spcBef>
            </a:pPr>
            <a:endParaRPr kumimoji="1" lang="zh-CN" altLang="en-US" sz="1200" i="1" dirty="0">
              <a:solidFill>
                <a:schemeClr val="tx1">
                  <a:lumMod val="50000"/>
                </a:schemeClr>
              </a:solidFill>
              <a:cs typeface="+mn-ea"/>
              <a:sym typeface="+mn-lt"/>
            </a:endParaRPr>
          </a:p>
        </p:txBody>
      </p:sp>
    </p:spTree>
    <p:extLst>
      <p:ext uri="{BB962C8B-B14F-4D97-AF65-F5344CB8AC3E}">
        <p14:creationId xmlns:p14="http://schemas.microsoft.com/office/powerpoint/2010/main" val="1527919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9A1FEA3-C30C-92F6-5C30-9DC3EE72F613}"/>
              </a:ext>
            </a:extLst>
          </p:cNvPr>
          <p:cNvGraphicFramePr>
            <a:graphicFrameLocks noChangeAspect="1"/>
          </p:cNvGraphicFramePr>
          <p:nvPr>
            <p:custDataLst>
              <p:tags r:id="rId1"/>
            </p:custDataLst>
            <p:extLst>
              <p:ext uri="{D42A27DB-BD31-4B8C-83A1-F6EECF244321}">
                <p14:modId xmlns:p14="http://schemas.microsoft.com/office/powerpoint/2010/main" val="37351622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4" imgH="405" progId="TCLayout.ActiveDocument.1">
                  <p:embed/>
                </p:oleObj>
              </mc:Choice>
              <mc:Fallback>
                <p:oleObj name="think-cell 幻灯片" r:id="rId4" imgW="404" imgH="40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标题 1">
            <a:extLst>
              <a:ext uri="{FF2B5EF4-FFF2-40B4-BE49-F238E27FC236}">
                <a16:creationId xmlns:a16="http://schemas.microsoft.com/office/drawing/2014/main" id="{A39AD824-CE80-33BC-3477-49D09593FCE8}"/>
              </a:ext>
            </a:extLst>
          </p:cNvPr>
          <p:cNvSpPr>
            <a:spLocks noGrp="1"/>
          </p:cNvSpPr>
          <p:nvPr>
            <p:ph type="title"/>
          </p:nvPr>
        </p:nvSpPr>
        <p:spPr>
          <a:xfrm>
            <a:off x="164350" y="94209"/>
            <a:ext cx="9677146" cy="731520"/>
          </a:xfrm>
        </p:spPr>
        <p:txBody>
          <a:bodyPr vert="horz"/>
          <a:lstStyle/>
          <a:p>
            <a:r>
              <a:rPr lang="zh-CN" altLang="en-US" dirty="0">
                <a:latin typeface="+mn-lt"/>
                <a:ea typeface="+mn-ea"/>
                <a:cs typeface="+mn-ea"/>
                <a:sym typeface="+mn-lt"/>
              </a:rPr>
              <a:t>产业链：电信号中枢、交换机芯片规模大、毛利高，研发周期长、自研难度大</a:t>
            </a:r>
          </a:p>
        </p:txBody>
      </p:sp>
      <p:sp>
        <p:nvSpPr>
          <p:cNvPr id="9" name="箭头: 五边形 8">
            <a:extLst>
              <a:ext uri="{FF2B5EF4-FFF2-40B4-BE49-F238E27FC236}">
                <a16:creationId xmlns:a16="http://schemas.microsoft.com/office/drawing/2014/main" id="{0EB94D79-6AC1-FD22-C9E1-4BCB3FAD7C4C}"/>
              </a:ext>
            </a:extLst>
          </p:cNvPr>
          <p:cNvSpPr/>
          <p:nvPr/>
        </p:nvSpPr>
        <p:spPr>
          <a:xfrm>
            <a:off x="1696543" y="916858"/>
            <a:ext cx="2478887" cy="513636"/>
          </a:xfrm>
          <a:prstGeom prst="homePlate">
            <a:avLst/>
          </a:prstGeom>
          <a:solidFill>
            <a:srgbClr val="DD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chemeClr val="accent6">
                    <a:lumMod val="10000"/>
                  </a:schemeClr>
                </a:solidFill>
                <a:cs typeface="+mn-ea"/>
                <a:sym typeface="+mn-lt"/>
              </a:rPr>
              <a:t>①</a:t>
            </a:r>
            <a:r>
              <a:rPr lang="zh-CN" altLang="en-US" dirty="0">
                <a:solidFill>
                  <a:schemeClr val="accent6">
                    <a:lumMod val="10000"/>
                  </a:schemeClr>
                </a:solidFill>
                <a:cs typeface="+mn-ea"/>
                <a:sym typeface="+mn-lt"/>
              </a:rPr>
              <a:t>光信号中枢</a:t>
            </a:r>
          </a:p>
        </p:txBody>
      </p:sp>
      <p:sp>
        <p:nvSpPr>
          <p:cNvPr id="11" name="箭头: V 形 10">
            <a:extLst>
              <a:ext uri="{FF2B5EF4-FFF2-40B4-BE49-F238E27FC236}">
                <a16:creationId xmlns:a16="http://schemas.microsoft.com/office/drawing/2014/main" id="{2095B2AB-A5E4-A263-EA60-C4F7DA4AE67C}"/>
              </a:ext>
            </a:extLst>
          </p:cNvPr>
          <p:cNvSpPr/>
          <p:nvPr/>
        </p:nvSpPr>
        <p:spPr>
          <a:xfrm>
            <a:off x="4254022" y="916858"/>
            <a:ext cx="2865219" cy="504692"/>
          </a:xfrm>
          <a:prstGeom prst="chevron">
            <a:avLst/>
          </a:prstGeom>
          <a:solidFill>
            <a:srgbClr val="DD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accent6">
                    <a:lumMod val="10000"/>
                  </a:schemeClr>
                </a:solidFill>
                <a:cs typeface="+mn-ea"/>
                <a:sym typeface="+mn-lt"/>
              </a:rPr>
              <a:t>②电信号中枢</a:t>
            </a:r>
          </a:p>
        </p:txBody>
      </p:sp>
      <p:sp>
        <p:nvSpPr>
          <p:cNvPr id="38" name="文本框 37">
            <a:extLst>
              <a:ext uri="{FF2B5EF4-FFF2-40B4-BE49-F238E27FC236}">
                <a16:creationId xmlns:a16="http://schemas.microsoft.com/office/drawing/2014/main" id="{2FBB7D99-A1DB-A738-678B-AB64E3E6FAD5}"/>
              </a:ext>
            </a:extLst>
          </p:cNvPr>
          <p:cNvSpPr txBox="1"/>
          <p:nvPr/>
        </p:nvSpPr>
        <p:spPr>
          <a:xfrm>
            <a:off x="6096000" y="940500"/>
            <a:ext cx="1002189" cy="461665"/>
          </a:xfrm>
          <a:prstGeom prst="rect">
            <a:avLst/>
          </a:prstGeom>
          <a:noFill/>
        </p:spPr>
        <p:txBody>
          <a:bodyPr wrap="square" rtlCol="0">
            <a:spAutoFit/>
          </a:bodyPr>
          <a:lstStyle/>
          <a:p>
            <a:pPr algn="ctr"/>
            <a:r>
              <a:rPr lang="en-US" altLang="zh-CN" sz="1200" dirty="0">
                <a:cs typeface="+mn-ea"/>
                <a:sym typeface="+mn-lt"/>
              </a:rPr>
              <a:t>EIC</a:t>
            </a:r>
          </a:p>
          <a:p>
            <a:pPr algn="ctr"/>
            <a:r>
              <a:rPr lang="zh-CN" altLang="en-US" sz="1200" dirty="0">
                <a:cs typeface="+mn-ea"/>
                <a:sym typeface="+mn-lt"/>
              </a:rPr>
              <a:t>电芯片</a:t>
            </a:r>
          </a:p>
        </p:txBody>
      </p:sp>
      <p:sp>
        <p:nvSpPr>
          <p:cNvPr id="7" name="箭头: V 形 6">
            <a:extLst>
              <a:ext uri="{FF2B5EF4-FFF2-40B4-BE49-F238E27FC236}">
                <a16:creationId xmlns:a16="http://schemas.microsoft.com/office/drawing/2014/main" id="{2944F56B-B007-2FEF-C46F-9CF60ECC962C}"/>
              </a:ext>
            </a:extLst>
          </p:cNvPr>
          <p:cNvSpPr/>
          <p:nvPr/>
        </p:nvSpPr>
        <p:spPr>
          <a:xfrm>
            <a:off x="7197833" y="916857"/>
            <a:ext cx="2186792" cy="502097"/>
          </a:xfrm>
          <a:prstGeom prst="chevron">
            <a:avLst/>
          </a:prstGeom>
          <a:solidFill>
            <a:srgbClr val="DD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accent6">
                    <a:lumMod val="10000"/>
                  </a:schemeClr>
                </a:solidFill>
                <a:cs typeface="+mn-ea"/>
                <a:sym typeface="+mn-lt"/>
              </a:rPr>
              <a:t>③交换机芯片</a:t>
            </a:r>
          </a:p>
        </p:txBody>
      </p:sp>
      <p:sp>
        <p:nvSpPr>
          <p:cNvPr id="22" name="文本框 21">
            <a:extLst>
              <a:ext uri="{FF2B5EF4-FFF2-40B4-BE49-F238E27FC236}">
                <a16:creationId xmlns:a16="http://schemas.microsoft.com/office/drawing/2014/main" id="{8BFDC959-369A-FFC3-D4C3-D98DA786A392}"/>
              </a:ext>
            </a:extLst>
          </p:cNvPr>
          <p:cNvSpPr txBox="1"/>
          <p:nvPr/>
        </p:nvSpPr>
        <p:spPr>
          <a:xfrm>
            <a:off x="603834" y="1668100"/>
            <a:ext cx="830680" cy="1338970"/>
          </a:xfrm>
          <a:prstGeom prst="rect">
            <a:avLst/>
          </a:prstGeom>
          <a:solidFill>
            <a:srgbClr val="F2F2F2"/>
          </a:solidFill>
          <a:ln w="6350">
            <a:noFill/>
            <a:miter lim="800000"/>
          </a:ln>
        </p:spPr>
        <p:txBody>
          <a:bodyPr vert="horz" wrap="square" lIns="0" tIns="0" rIns="0" bIns="0" rtlCol="0" anchor="ctr">
            <a:noAutofit/>
          </a:bodyPr>
          <a:lstStyle/>
          <a:p>
            <a:pPr algn="ctr"/>
            <a:r>
              <a:rPr kumimoji="1" lang="zh-CN" altLang="en-US" sz="1400" b="1" dirty="0">
                <a:solidFill>
                  <a:schemeClr val="accent6">
                    <a:lumMod val="10000"/>
                  </a:schemeClr>
                </a:solidFill>
                <a:cs typeface="+mn-ea"/>
                <a:sym typeface="+mn-lt"/>
              </a:rPr>
              <a:t>市场规模</a:t>
            </a:r>
            <a:r>
              <a:rPr kumimoji="1" lang="en-US" altLang="zh-CN" sz="1400" b="1" baseline="30000" dirty="0">
                <a:solidFill>
                  <a:schemeClr val="accent6">
                    <a:lumMod val="10000"/>
                  </a:schemeClr>
                </a:solidFill>
                <a:cs typeface="+mn-ea"/>
                <a:sym typeface="+mn-lt"/>
              </a:rPr>
              <a:t>1</a:t>
            </a:r>
            <a:r>
              <a:rPr kumimoji="1" lang="zh-CN" altLang="en-US" sz="1400" b="1" dirty="0">
                <a:solidFill>
                  <a:schemeClr val="accent6">
                    <a:lumMod val="10000"/>
                  </a:schemeClr>
                </a:solidFill>
                <a:cs typeface="+mn-ea"/>
                <a:sym typeface="+mn-lt"/>
              </a:rPr>
              <a:t>（</a:t>
            </a:r>
            <a:r>
              <a:rPr kumimoji="1" lang="en-US" altLang="zh-CN" sz="1400" b="1" dirty="0">
                <a:solidFill>
                  <a:schemeClr val="accent6">
                    <a:lumMod val="10000"/>
                  </a:schemeClr>
                </a:solidFill>
                <a:cs typeface="+mn-ea"/>
                <a:sym typeface="+mn-lt"/>
              </a:rPr>
              <a:t>2028E</a:t>
            </a:r>
            <a:r>
              <a:rPr kumimoji="1" lang="zh-CN" altLang="en-US" sz="1400" b="1" dirty="0">
                <a:solidFill>
                  <a:schemeClr val="accent6">
                    <a:lumMod val="10000"/>
                  </a:schemeClr>
                </a:solidFill>
                <a:cs typeface="+mn-ea"/>
                <a:sym typeface="+mn-lt"/>
              </a:rPr>
              <a:t>）</a:t>
            </a:r>
            <a:endParaRPr kumimoji="1" lang="en-US" altLang="zh-CN" sz="1400" b="1" dirty="0">
              <a:solidFill>
                <a:schemeClr val="accent6">
                  <a:lumMod val="10000"/>
                </a:schemeClr>
              </a:solidFill>
              <a:cs typeface="+mn-ea"/>
              <a:sym typeface="+mn-lt"/>
            </a:endParaRPr>
          </a:p>
          <a:p>
            <a:pPr algn="ctr"/>
            <a:r>
              <a:rPr kumimoji="1" lang="en-US" altLang="zh-CN" sz="1400" b="1" dirty="0">
                <a:solidFill>
                  <a:schemeClr val="accent6">
                    <a:lumMod val="10000"/>
                  </a:schemeClr>
                </a:solidFill>
                <a:cs typeface="+mn-ea"/>
                <a:sym typeface="+mn-lt"/>
              </a:rPr>
              <a:t>&amp;</a:t>
            </a:r>
          </a:p>
          <a:p>
            <a:pPr algn="ctr"/>
            <a:r>
              <a:rPr kumimoji="1" lang="zh-CN" altLang="en-US" sz="1400" b="1" dirty="0">
                <a:solidFill>
                  <a:schemeClr val="accent6">
                    <a:lumMod val="10000"/>
                  </a:schemeClr>
                </a:solidFill>
                <a:cs typeface="+mn-ea"/>
                <a:sym typeface="+mn-lt"/>
              </a:rPr>
              <a:t>价值占比</a:t>
            </a:r>
          </a:p>
        </p:txBody>
      </p:sp>
      <p:sp>
        <p:nvSpPr>
          <p:cNvPr id="55" name="文本框 54">
            <a:extLst>
              <a:ext uri="{FF2B5EF4-FFF2-40B4-BE49-F238E27FC236}">
                <a16:creationId xmlns:a16="http://schemas.microsoft.com/office/drawing/2014/main" id="{4F6405CC-72E3-D9E6-DE06-5416FB124E56}"/>
              </a:ext>
            </a:extLst>
          </p:cNvPr>
          <p:cNvSpPr txBox="1"/>
          <p:nvPr/>
        </p:nvSpPr>
        <p:spPr>
          <a:xfrm>
            <a:off x="604547" y="4674802"/>
            <a:ext cx="455540" cy="1143044"/>
          </a:xfrm>
          <a:prstGeom prst="rect">
            <a:avLst/>
          </a:prstGeom>
          <a:solidFill>
            <a:srgbClr val="F2F2F2"/>
          </a:solidFill>
          <a:ln w="6350">
            <a:noFill/>
            <a:miter lim="800000"/>
          </a:ln>
        </p:spPr>
        <p:txBody>
          <a:bodyPr vert="horz" wrap="square" lIns="0" tIns="0" rIns="0" bIns="0" rtlCol="0" anchor="ctr">
            <a:noAutofit/>
          </a:bodyPr>
          <a:lstStyle/>
          <a:p>
            <a:pPr algn="ctr">
              <a:buNone/>
            </a:pPr>
            <a:r>
              <a:rPr kumimoji="1" lang="zh-CN" altLang="en-US" sz="1400" b="1" dirty="0">
                <a:solidFill>
                  <a:schemeClr val="accent6">
                    <a:lumMod val="10000"/>
                  </a:schemeClr>
                </a:solidFill>
                <a:cs typeface="+mn-ea"/>
                <a:sym typeface="+mn-lt"/>
              </a:rPr>
              <a:t>研发周期</a:t>
            </a:r>
            <a:endParaRPr kumimoji="1" lang="en-US" altLang="zh-CN" sz="1400" b="1" dirty="0">
              <a:solidFill>
                <a:schemeClr val="accent6">
                  <a:lumMod val="10000"/>
                </a:schemeClr>
              </a:solidFill>
              <a:cs typeface="+mn-ea"/>
              <a:sym typeface="+mn-lt"/>
            </a:endParaRPr>
          </a:p>
        </p:txBody>
      </p:sp>
      <p:sp>
        <p:nvSpPr>
          <p:cNvPr id="5141" name="文本框 5140">
            <a:extLst>
              <a:ext uri="{FF2B5EF4-FFF2-40B4-BE49-F238E27FC236}">
                <a16:creationId xmlns:a16="http://schemas.microsoft.com/office/drawing/2014/main" id="{F7E6E847-3356-477B-0451-FD2FA612CFF1}"/>
              </a:ext>
            </a:extLst>
          </p:cNvPr>
          <p:cNvSpPr txBox="1"/>
          <p:nvPr/>
        </p:nvSpPr>
        <p:spPr>
          <a:xfrm>
            <a:off x="214449" y="6280554"/>
            <a:ext cx="11762016" cy="422275"/>
          </a:xfrm>
          <a:prstGeom prst="rect">
            <a:avLst/>
          </a:prstGeom>
          <a:ln w="6350">
            <a:noFill/>
            <a:miter lim="800000"/>
          </a:ln>
        </p:spPr>
        <p:txBody>
          <a:bodyPr vert="horz" wrap="square" lIns="0" tIns="0" rIns="0" bIns="0" rtlCol="0">
            <a:noAutofit/>
          </a:bodyPr>
          <a:lstStyle/>
          <a:p>
            <a:pPr>
              <a:spcBef>
                <a:spcPts val="100"/>
              </a:spcBef>
            </a:pPr>
            <a:r>
              <a:rPr kumimoji="1" lang="en-US" altLang="zh-CN" sz="1200" i="1" dirty="0">
                <a:solidFill>
                  <a:schemeClr val="tx1">
                    <a:lumMod val="50000"/>
                  </a:schemeClr>
                </a:solidFill>
                <a:cs typeface="+mn-ea"/>
                <a:sym typeface="+mn-lt"/>
              </a:rPr>
              <a:t>Source: Yole</a:t>
            </a:r>
            <a:r>
              <a:rPr kumimoji="1" lang="zh-CN" altLang="en-US" sz="1200" i="1" dirty="0">
                <a:solidFill>
                  <a:schemeClr val="tx1">
                    <a:lumMod val="50000"/>
                  </a:schemeClr>
                </a:solidFill>
                <a:cs typeface="+mn-ea"/>
                <a:sym typeface="+mn-lt"/>
              </a:rPr>
              <a:t>、</a:t>
            </a:r>
            <a:r>
              <a:rPr kumimoji="1" lang="en-US" altLang="zh-CN" sz="1200" i="1" dirty="0" err="1">
                <a:solidFill>
                  <a:schemeClr val="tx1">
                    <a:lumMod val="50000"/>
                  </a:schemeClr>
                </a:solidFill>
                <a:cs typeface="+mn-ea"/>
              </a:rPr>
              <a:t>TechNavio</a:t>
            </a:r>
            <a:r>
              <a:rPr kumimoji="1" lang="zh-CN" altLang="en-US" sz="1200" i="1" dirty="0">
                <a:solidFill>
                  <a:schemeClr val="tx1">
                    <a:lumMod val="50000"/>
                  </a:schemeClr>
                </a:solidFill>
                <a:cs typeface="+mn-ea"/>
              </a:rPr>
              <a:t>、华鑫证券、</a:t>
            </a:r>
            <a:r>
              <a:rPr kumimoji="1" lang="en-US" altLang="zh-CN" sz="1200" i="1" dirty="0">
                <a:solidFill>
                  <a:schemeClr val="tx1">
                    <a:lumMod val="50000"/>
                  </a:schemeClr>
                </a:solidFill>
                <a:cs typeface="+mn-ea"/>
              </a:rPr>
              <a:t>Broadcom</a:t>
            </a:r>
            <a:r>
              <a:rPr kumimoji="1" lang="zh-CN" altLang="en-US" sz="1200" i="1" dirty="0">
                <a:solidFill>
                  <a:schemeClr val="tx1">
                    <a:lumMod val="50000"/>
                  </a:schemeClr>
                </a:solidFill>
                <a:cs typeface="+mn-ea"/>
              </a:rPr>
              <a:t>、</a:t>
            </a:r>
            <a:r>
              <a:rPr kumimoji="1" lang="en-US" altLang="zh-CN" sz="1200" i="1" dirty="0">
                <a:solidFill>
                  <a:schemeClr val="tx1">
                    <a:lumMod val="50000"/>
                  </a:schemeClr>
                </a:solidFill>
                <a:cs typeface="+mn-ea"/>
              </a:rPr>
              <a:t>TSMC</a:t>
            </a:r>
            <a:r>
              <a:rPr kumimoji="1" lang="zh-CN" altLang="en-US" sz="1200" i="1" dirty="0">
                <a:solidFill>
                  <a:schemeClr val="tx1">
                    <a:lumMod val="50000"/>
                  </a:schemeClr>
                </a:solidFill>
                <a:cs typeface="+mn-ea"/>
              </a:rPr>
              <a:t>、</a:t>
            </a:r>
            <a:r>
              <a:rPr kumimoji="1" lang="en-US" altLang="zh-CN" sz="1200" i="1" dirty="0">
                <a:solidFill>
                  <a:schemeClr val="tx1">
                    <a:lumMod val="50000"/>
                  </a:schemeClr>
                </a:solidFill>
                <a:cs typeface="+mn-ea"/>
              </a:rPr>
              <a:t>Inphi</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ASE</a:t>
            </a:r>
            <a:r>
              <a:rPr kumimoji="1" lang="zh-CN" altLang="en-US" sz="1200" i="1" dirty="0">
                <a:solidFill>
                  <a:schemeClr val="tx1">
                    <a:lumMod val="50000"/>
                  </a:schemeClr>
                </a:solidFill>
                <a:cs typeface="+mn-ea"/>
                <a:sym typeface="+mn-lt"/>
              </a:rPr>
              <a:t>、中际旭创</a:t>
            </a:r>
            <a:endParaRPr kumimoji="1" lang="en-US" altLang="zh-CN" sz="1200" i="1" dirty="0">
              <a:solidFill>
                <a:schemeClr val="tx1">
                  <a:lumMod val="50000"/>
                </a:schemeClr>
              </a:solidFill>
              <a:cs typeface="+mn-ea"/>
              <a:sym typeface="+mn-lt"/>
            </a:endParaRPr>
          </a:p>
          <a:p>
            <a:pPr>
              <a:spcBef>
                <a:spcPts val="100"/>
              </a:spcBef>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：限定在通信市场</a:t>
            </a:r>
            <a:endParaRPr kumimoji="1" lang="en-US" altLang="zh-CN" sz="1200" i="1" dirty="0">
              <a:solidFill>
                <a:schemeClr val="tx1">
                  <a:lumMod val="50000"/>
                </a:schemeClr>
              </a:solidFill>
              <a:cs typeface="+mn-ea"/>
              <a:sym typeface="+mn-lt"/>
            </a:endParaRPr>
          </a:p>
          <a:p>
            <a:pPr>
              <a:spcBef>
                <a:spcPts val="100"/>
              </a:spcBef>
            </a:pPr>
            <a:endParaRPr kumimoji="1" lang="zh-CN" altLang="zh-CN" sz="1200" i="1" dirty="0">
              <a:solidFill>
                <a:schemeClr val="tx1">
                  <a:lumMod val="50000"/>
                </a:schemeClr>
              </a:solidFill>
              <a:cs typeface="+mn-ea"/>
              <a:sym typeface="+mn-lt"/>
            </a:endParaRPr>
          </a:p>
          <a:p>
            <a:pPr>
              <a:spcBef>
                <a:spcPts val="100"/>
              </a:spcBef>
            </a:pPr>
            <a:endParaRPr kumimoji="1" lang="zh-CN" altLang="en-US" sz="1200" i="1" dirty="0">
              <a:solidFill>
                <a:schemeClr val="tx1">
                  <a:lumMod val="50000"/>
                </a:schemeClr>
              </a:solidFill>
              <a:cs typeface="+mn-ea"/>
              <a:sym typeface="+mn-lt"/>
            </a:endParaRPr>
          </a:p>
          <a:p>
            <a:pPr>
              <a:spcBef>
                <a:spcPts val="100"/>
              </a:spcBef>
            </a:pPr>
            <a:endParaRPr kumimoji="1" lang="zh-CN" altLang="en-US" sz="1200" i="1" dirty="0">
              <a:solidFill>
                <a:schemeClr val="tx1">
                  <a:lumMod val="50000"/>
                </a:schemeClr>
              </a:solidFill>
              <a:cs typeface="+mn-ea"/>
              <a:sym typeface="+mn-lt"/>
            </a:endParaRPr>
          </a:p>
        </p:txBody>
      </p:sp>
      <p:sp>
        <p:nvSpPr>
          <p:cNvPr id="26" name="文本框 25">
            <a:extLst>
              <a:ext uri="{FF2B5EF4-FFF2-40B4-BE49-F238E27FC236}">
                <a16:creationId xmlns:a16="http://schemas.microsoft.com/office/drawing/2014/main" id="{BBA270F4-3CB0-4B5C-1C9B-E8570DB4FE6C}"/>
              </a:ext>
            </a:extLst>
          </p:cNvPr>
          <p:cNvSpPr txBox="1"/>
          <p:nvPr/>
        </p:nvSpPr>
        <p:spPr>
          <a:xfrm>
            <a:off x="2464341" y="1818144"/>
            <a:ext cx="1010262" cy="369332"/>
          </a:xfrm>
          <a:prstGeom prst="rect">
            <a:avLst/>
          </a:prstGeom>
          <a:noFill/>
        </p:spPr>
        <p:txBody>
          <a:bodyPr wrap="square" rtlCol="0">
            <a:spAutoFit/>
          </a:bodyPr>
          <a:lstStyle/>
          <a:p>
            <a:pPr algn="ctr"/>
            <a:r>
              <a:rPr lang="en-US" altLang="zh-CN" dirty="0">
                <a:solidFill>
                  <a:schemeClr val="accent6">
                    <a:lumMod val="10000"/>
                  </a:schemeClr>
                </a:solidFill>
                <a:cs typeface="+mn-ea"/>
                <a:sym typeface="+mn-lt"/>
              </a:rPr>
              <a:t>10-20%</a:t>
            </a:r>
            <a:endParaRPr lang="zh-CN" altLang="en-US" dirty="0">
              <a:solidFill>
                <a:schemeClr val="accent6">
                  <a:lumMod val="10000"/>
                </a:schemeClr>
              </a:solidFill>
              <a:cs typeface="+mn-ea"/>
              <a:sym typeface="+mn-lt"/>
            </a:endParaRPr>
          </a:p>
        </p:txBody>
      </p:sp>
      <p:grpSp>
        <p:nvGrpSpPr>
          <p:cNvPr id="5143" name="组合 5142">
            <a:extLst>
              <a:ext uri="{FF2B5EF4-FFF2-40B4-BE49-F238E27FC236}">
                <a16:creationId xmlns:a16="http://schemas.microsoft.com/office/drawing/2014/main" id="{DD841929-ADF6-484C-A8EC-6CE52010F1BB}"/>
              </a:ext>
            </a:extLst>
          </p:cNvPr>
          <p:cNvGrpSpPr/>
          <p:nvPr/>
        </p:nvGrpSpPr>
        <p:grpSpPr>
          <a:xfrm>
            <a:off x="1623895" y="1828326"/>
            <a:ext cx="524985" cy="323734"/>
            <a:chOff x="1754171" y="1821345"/>
            <a:chExt cx="524985" cy="323734"/>
          </a:xfrm>
        </p:grpSpPr>
        <p:sp>
          <p:nvSpPr>
            <p:cNvPr id="5139" name="椭圆 5138">
              <a:extLst>
                <a:ext uri="{FF2B5EF4-FFF2-40B4-BE49-F238E27FC236}">
                  <a16:creationId xmlns:a16="http://schemas.microsoft.com/office/drawing/2014/main" id="{33339ED0-034F-C0C7-4431-5A5B8CB922C4}"/>
                </a:ext>
              </a:extLst>
            </p:cNvPr>
            <p:cNvSpPr/>
            <p:nvPr/>
          </p:nvSpPr>
          <p:spPr>
            <a:xfrm>
              <a:off x="1830497" y="1825659"/>
              <a:ext cx="319723" cy="319420"/>
            </a:xfrm>
            <a:prstGeom prst="ellipse">
              <a:avLst/>
            </a:prstGeom>
            <a:solidFill>
              <a:srgbClr val="0052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400" dirty="0">
                <a:solidFill>
                  <a:schemeClr val="bg1"/>
                </a:solidFill>
                <a:cs typeface="+mn-ea"/>
                <a:sym typeface="+mn-lt"/>
              </a:endParaRPr>
            </a:p>
          </p:txBody>
        </p:sp>
        <p:sp>
          <p:nvSpPr>
            <p:cNvPr id="5140" name="文本框 5139">
              <a:extLst>
                <a:ext uri="{FF2B5EF4-FFF2-40B4-BE49-F238E27FC236}">
                  <a16:creationId xmlns:a16="http://schemas.microsoft.com/office/drawing/2014/main" id="{2E8076CA-6E11-F40A-4FC9-158485169E27}"/>
                </a:ext>
              </a:extLst>
            </p:cNvPr>
            <p:cNvSpPr txBox="1"/>
            <p:nvPr/>
          </p:nvSpPr>
          <p:spPr>
            <a:xfrm>
              <a:off x="1754171" y="1821345"/>
              <a:ext cx="524985" cy="307975"/>
            </a:xfrm>
            <a:prstGeom prst="rect">
              <a:avLst/>
            </a:prstGeom>
            <a:noFill/>
          </p:spPr>
          <p:txBody>
            <a:bodyPr wrap="square" rtlCol="0" anchor="ctr">
              <a:spAutoFit/>
            </a:bodyPr>
            <a:lstStyle/>
            <a:p>
              <a:r>
                <a:rPr lang="en-US" altLang="zh-CN" sz="1400" dirty="0">
                  <a:solidFill>
                    <a:schemeClr val="bg1"/>
                  </a:solidFill>
                  <a:cs typeface="+mn-ea"/>
                  <a:sym typeface="+mn-lt"/>
                </a:rPr>
                <a:t>$bn</a:t>
              </a:r>
              <a:endParaRPr lang="zh-CN" altLang="zh-CN" sz="1400" dirty="0">
                <a:solidFill>
                  <a:schemeClr val="bg1"/>
                </a:solidFill>
                <a:cs typeface="+mn-ea"/>
                <a:sym typeface="+mn-lt"/>
              </a:endParaRPr>
            </a:p>
          </p:txBody>
        </p:sp>
      </p:grpSp>
      <p:sp>
        <p:nvSpPr>
          <p:cNvPr id="5142" name="文本框 5141">
            <a:extLst>
              <a:ext uri="{FF2B5EF4-FFF2-40B4-BE49-F238E27FC236}">
                <a16:creationId xmlns:a16="http://schemas.microsoft.com/office/drawing/2014/main" id="{47A5F87E-0888-DD24-02FE-DEF6E7890AA7}"/>
              </a:ext>
            </a:extLst>
          </p:cNvPr>
          <p:cNvSpPr txBox="1"/>
          <p:nvPr/>
        </p:nvSpPr>
        <p:spPr>
          <a:xfrm>
            <a:off x="1623895" y="2560284"/>
            <a:ext cx="1731994"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CAGR: </a:t>
            </a:r>
            <a:r>
              <a:rPr lang="en-US" altLang="zh-CN" sz="1400" b="1" dirty="0">
                <a:solidFill>
                  <a:schemeClr val="accent6">
                    <a:lumMod val="10000"/>
                  </a:schemeClr>
                </a:solidFill>
                <a:cs typeface="+mn-ea"/>
                <a:sym typeface="+mn-lt"/>
              </a:rPr>
              <a:t>40+%</a:t>
            </a:r>
            <a:r>
              <a:rPr lang="en-US" altLang="zh-CN" sz="1400" dirty="0">
                <a:solidFill>
                  <a:schemeClr val="accent6">
                    <a:lumMod val="10000"/>
                  </a:schemeClr>
                </a:solidFill>
                <a:cs typeface="+mn-ea"/>
                <a:sym typeface="+mn-lt"/>
              </a:rPr>
              <a:t> </a:t>
            </a:r>
            <a:endParaRPr lang="zh-CN" altLang="zh-CN" sz="1400" dirty="0">
              <a:solidFill>
                <a:srgbClr val="0052D9"/>
              </a:solidFill>
              <a:cs typeface="+mn-ea"/>
              <a:sym typeface="+mn-lt"/>
            </a:endParaRPr>
          </a:p>
        </p:txBody>
      </p:sp>
      <p:sp>
        <p:nvSpPr>
          <p:cNvPr id="5147" name="文本框 5146">
            <a:extLst>
              <a:ext uri="{FF2B5EF4-FFF2-40B4-BE49-F238E27FC236}">
                <a16:creationId xmlns:a16="http://schemas.microsoft.com/office/drawing/2014/main" id="{C9501E65-C238-4BD7-A284-98361153E127}"/>
              </a:ext>
            </a:extLst>
          </p:cNvPr>
          <p:cNvSpPr txBox="1"/>
          <p:nvPr/>
        </p:nvSpPr>
        <p:spPr>
          <a:xfrm>
            <a:off x="5085195" y="1795289"/>
            <a:ext cx="1010262" cy="369332"/>
          </a:xfrm>
          <a:prstGeom prst="rect">
            <a:avLst/>
          </a:prstGeom>
          <a:noFill/>
        </p:spPr>
        <p:txBody>
          <a:bodyPr wrap="square" rtlCol="0">
            <a:spAutoFit/>
          </a:bodyPr>
          <a:lstStyle/>
          <a:p>
            <a:pPr algn="ctr"/>
            <a:r>
              <a:rPr lang="en-US" altLang="zh-CN" dirty="0">
                <a:solidFill>
                  <a:schemeClr val="accent6">
                    <a:lumMod val="10000"/>
                  </a:schemeClr>
                </a:solidFill>
                <a:cs typeface="+mn-ea"/>
                <a:sym typeface="+mn-lt"/>
              </a:rPr>
              <a:t>20-30%</a:t>
            </a:r>
            <a:endParaRPr lang="zh-CN" altLang="en-US" dirty="0">
              <a:solidFill>
                <a:schemeClr val="accent6">
                  <a:lumMod val="10000"/>
                </a:schemeClr>
              </a:solidFill>
              <a:cs typeface="+mn-ea"/>
              <a:sym typeface="+mn-lt"/>
            </a:endParaRPr>
          </a:p>
        </p:txBody>
      </p:sp>
      <p:sp>
        <p:nvSpPr>
          <p:cNvPr id="5151" name="椭圆 5150">
            <a:extLst>
              <a:ext uri="{FF2B5EF4-FFF2-40B4-BE49-F238E27FC236}">
                <a16:creationId xmlns:a16="http://schemas.microsoft.com/office/drawing/2014/main" id="{D24F4DC8-424C-C7AB-466A-449BBB478B15}"/>
              </a:ext>
            </a:extLst>
          </p:cNvPr>
          <p:cNvSpPr/>
          <p:nvPr/>
        </p:nvSpPr>
        <p:spPr>
          <a:xfrm>
            <a:off x="4297488" y="1758099"/>
            <a:ext cx="415340" cy="414947"/>
          </a:xfrm>
          <a:prstGeom prst="ellipse">
            <a:avLst/>
          </a:prstGeom>
          <a:solidFill>
            <a:srgbClr val="0052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cs typeface="+mn-ea"/>
              <a:sym typeface="+mn-lt"/>
            </a:endParaRPr>
          </a:p>
        </p:txBody>
      </p:sp>
      <p:sp>
        <p:nvSpPr>
          <p:cNvPr id="5150" name="文本框 5149">
            <a:extLst>
              <a:ext uri="{FF2B5EF4-FFF2-40B4-BE49-F238E27FC236}">
                <a16:creationId xmlns:a16="http://schemas.microsoft.com/office/drawing/2014/main" id="{B135A926-2B11-18C8-545D-3FDA4D19E725}"/>
              </a:ext>
            </a:extLst>
          </p:cNvPr>
          <p:cNvSpPr txBox="1"/>
          <p:nvPr/>
        </p:nvSpPr>
        <p:spPr>
          <a:xfrm>
            <a:off x="4297488" y="2560284"/>
            <a:ext cx="1317875"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CAGR: </a:t>
            </a:r>
            <a:r>
              <a:rPr lang="en-US" altLang="zh-CN" sz="1400" b="1" dirty="0">
                <a:solidFill>
                  <a:schemeClr val="accent6">
                    <a:lumMod val="10000"/>
                  </a:schemeClr>
                </a:solidFill>
                <a:cs typeface="+mn-ea"/>
                <a:sym typeface="+mn-lt"/>
              </a:rPr>
              <a:t>20+%</a:t>
            </a:r>
            <a:r>
              <a:rPr lang="en-US" altLang="zh-CN" sz="1400" dirty="0">
                <a:solidFill>
                  <a:schemeClr val="accent6">
                    <a:lumMod val="10000"/>
                  </a:schemeClr>
                </a:solidFill>
                <a:cs typeface="+mn-ea"/>
                <a:sym typeface="+mn-lt"/>
              </a:rPr>
              <a:t> </a:t>
            </a:r>
            <a:endParaRPr lang="zh-CN" altLang="zh-CN" sz="1400" dirty="0">
              <a:solidFill>
                <a:srgbClr val="0052D9"/>
              </a:solidFill>
              <a:cs typeface="+mn-ea"/>
              <a:sym typeface="+mn-lt"/>
            </a:endParaRPr>
          </a:p>
        </p:txBody>
      </p:sp>
      <p:sp>
        <p:nvSpPr>
          <p:cNvPr id="5167" name="文本框 5166">
            <a:extLst>
              <a:ext uri="{FF2B5EF4-FFF2-40B4-BE49-F238E27FC236}">
                <a16:creationId xmlns:a16="http://schemas.microsoft.com/office/drawing/2014/main" id="{0312E74B-0E18-11A3-90C0-CBD0F8F8F721}"/>
              </a:ext>
            </a:extLst>
          </p:cNvPr>
          <p:cNvSpPr txBox="1"/>
          <p:nvPr/>
        </p:nvSpPr>
        <p:spPr>
          <a:xfrm>
            <a:off x="603834" y="3418537"/>
            <a:ext cx="794443" cy="734751"/>
          </a:xfrm>
          <a:prstGeom prst="rect">
            <a:avLst/>
          </a:prstGeom>
          <a:solidFill>
            <a:srgbClr val="F2F2F2"/>
          </a:solidFill>
          <a:ln w="6350">
            <a:noFill/>
            <a:miter lim="800000"/>
          </a:ln>
        </p:spPr>
        <p:txBody>
          <a:bodyPr vert="horz" wrap="square" lIns="0" tIns="0" rIns="0" bIns="0" rtlCol="0" anchor="ctr">
            <a:noAutofit/>
          </a:bodyPr>
          <a:lstStyle/>
          <a:p>
            <a:pPr algn="ctr">
              <a:buNone/>
            </a:pPr>
            <a:r>
              <a:rPr kumimoji="1" lang="zh-CN" altLang="en-US" sz="1400" b="1" dirty="0">
                <a:solidFill>
                  <a:schemeClr val="accent6">
                    <a:lumMod val="10000"/>
                  </a:schemeClr>
                </a:solidFill>
                <a:cs typeface="+mn-ea"/>
                <a:sym typeface="+mn-lt"/>
              </a:rPr>
              <a:t>毛利率</a:t>
            </a:r>
          </a:p>
        </p:txBody>
      </p:sp>
      <p:sp>
        <p:nvSpPr>
          <p:cNvPr id="5175" name="文本框 5174">
            <a:extLst>
              <a:ext uri="{FF2B5EF4-FFF2-40B4-BE49-F238E27FC236}">
                <a16:creationId xmlns:a16="http://schemas.microsoft.com/office/drawing/2014/main" id="{D641C62B-0B62-EB64-0065-99C22DBEBF5A}"/>
              </a:ext>
            </a:extLst>
          </p:cNvPr>
          <p:cNvSpPr txBox="1"/>
          <p:nvPr/>
        </p:nvSpPr>
        <p:spPr>
          <a:xfrm>
            <a:off x="1623895" y="3606303"/>
            <a:ext cx="1010262"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40%</a:t>
            </a:r>
            <a:endParaRPr lang="zh-CN" altLang="en-US" dirty="0">
              <a:solidFill>
                <a:schemeClr val="accent6">
                  <a:lumMod val="10000"/>
                </a:schemeClr>
              </a:solidFill>
              <a:cs typeface="+mn-ea"/>
              <a:sym typeface="+mn-lt"/>
            </a:endParaRPr>
          </a:p>
        </p:txBody>
      </p:sp>
      <p:sp>
        <p:nvSpPr>
          <p:cNvPr id="5176" name="文本框 5175">
            <a:extLst>
              <a:ext uri="{FF2B5EF4-FFF2-40B4-BE49-F238E27FC236}">
                <a16:creationId xmlns:a16="http://schemas.microsoft.com/office/drawing/2014/main" id="{2D18F208-6F67-C687-BAD4-F1DB573B820C}"/>
              </a:ext>
            </a:extLst>
          </p:cNvPr>
          <p:cNvSpPr txBox="1"/>
          <p:nvPr/>
        </p:nvSpPr>
        <p:spPr>
          <a:xfrm>
            <a:off x="4297488" y="3606303"/>
            <a:ext cx="1010262"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50-70%</a:t>
            </a:r>
            <a:endParaRPr lang="zh-CN" altLang="en-US" dirty="0">
              <a:solidFill>
                <a:schemeClr val="accent6">
                  <a:lumMod val="10000"/>
                </a:schemeClr>
              </a:solidFill>
              <a:cs typeface="+mn-ea"/>
              <a:sym typeface="+mn-lt"/>
            </a:endParaRPr>
          </a:p>
        </p:txBody>
      </p:sp>
      <p:sp>
        <p:nvSpPr>
          <p:cNvPr id="5179" name="文本框 5178">
            <a:extLst>
              <a:ext uri="{FF2B5EF4-FFF2-40B4-BE49-F238E27FC236}">
                <a16:creationId xmlns:a16="http://schemas.microsoft.com/office/drawing/2014/main" id="{E4A184E9-3A80-ADD9-90D0-3BD2A6D536F2}"/>
              </a:ext>
            </a:extLst>
          </p:cNvPr>
          <p:cNvSpPr txBox="1"/>
          <p:nvPr/>
        </p:nvSpPr>
        <p:spPr>
          <a:xfrm>
            <a:off x="1623895" y="4750318"/>
            <a:ext cx="1010262"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5</a:t>
            </a:r>
            <a:r>
              <a:rPr lang="zh-CN" altLang="en-US" dirty="0">
                <a:solidFill>
                  <a:schemeClr val="accent6">
                    <a:lumMod val="10000"/>
                  </a:schemeClr>
                </a:solidFill>
                <a:cs typeface="+mn-ea"/>
                <a:sym typeface="+mn-lt"/>
              </a:rPr>
              <a:t>年</a:t>
            </a:r>
          </a:p>
        </p:txBody>
      </p:sp>
      <p:sp>
        <p:nvSpPr>
          <p:cNvPr id="5183" name="文本框 5182">
            <a:extLst>
              <a:ext uri="{FF2B5EF4-FFF2-40B4-BE49-F238E27FC236}">
                <a16:creationId xmlns:a16="http://schemas.microsoft.com/office/drawing/2014/main" id="{C394D483-8024-A943-E588-73ECFBF0CC3A}"/>
              </a:ext>
            </a:extLst>
          </p:cNvPr>
          <p:cNvSpPr txBox="1"/>
          <p:nvPr/>
        </p:nvSpPr>
        <p:spPr>
          <a:xfrm>
            <a:off x="4297488" y="4750318"/>
            <a:ext cx="1010262"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4</a:t>
            </a:r>
            <a:r>
              <a:rPr lang="zh-CN" altLang="en-US" dirty="0">
                <a:solidFill>
                  <a:schemeClr val="accent6">
                    <a:lumMod val="10000"/>
                  </a:schemeClr>
                </a:solidFill>
                <a:cs typeface="+mn-ea"/>
                <a:sym typeface="+mn-lt"/>
              </a:rPr>
              <a:t>年</a:t>
            </a:r>
          </a:p>
        </p:txBody>
      </p:sp>
      <p:grpSp>
        <p:nvGrpSpPr>
          <p:cNvPr id="2059" name="组合 2058">
            <a:extLst>
              <a:ext uri="{FF2B5EF4-FFF2-40B4-BE49-F238E27FC236}">
                <a16:creationId xmlns:a16="http://schemas.microsoft.com/office/drawing/2014/main" id="{1953496E-86DF-99F3-061D-E28141D81585}"/>
              </a:ext>
            </a:extLst>
          </p:cNvPr>
          <p:cNvGrpSpPr/>
          <p:nvPr/>
        </p:nvGrpSpPr>
        <p:grpSpPr>
          <a:xfrm>
            <a:off x="5069024" y="4781096"/>
            <a:ext cx="1613389" cy="307777"/>
            <a:chOff x="4993028" y="3547148"/>
            <a:chExt cx="1613389" cy="307777"/>
          </a:xfrm>
        </p:grpSpPr>
        <p:sp>
          <p:nvSpPr>
            <p:cNvPr id="2054" name="文本框 2053">
              <a:extLst>
                <a:ext uri="{FF2B5EF4-FFF2-40B4-BE49-F238E27FC236}">
                  <a16:creationId xmlns:a16="http://schemas.microsoft.com/office/drawing/2014/main" id="{4AC1A078-CA47-8C37-8826-C1F307A00B44}"/>
                </a:ext>
              </a:extLst>
            </p:cNvPr>
            <p:cNvSpPr txBox="1"/>
            <p:nvPr/>
          </p:nvSpPr>
          <p:spPr>
            <a:xfrm>
              <a:off x="5378301" y="3547148"/>
              <a:ext cx="1228116"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DSP 3</a:t>
              </a:r>
              <a:r>
                <a:rPr lang="zh-CN" altLang="en-US" sz="1400" dirty="0">
                  <a:solidFill>
                    <a:schemeClr val="accent6">
                      <a:lumMod val="10000"/>
                    </a:schemeClr>
                  </a:solidFill>
                  <a:cs typeface="+mn-ea"/>
                  <a:sym typeface="+mn-lt"/>
                </a:rPr>
                <a:t>年一代</a:t>
              </a:r>
              <a:endParaRPr lang="zh-CN" altLang="zh-CN" sz="1400" dirty="0">
                <a:solidFill>
                  <a:srgbClr val="0052D9"/>
                </a:solidFill>
                <a:cs typeface="+mn-ea"/>
                <a:sym typeface="+mn-lt"/>
              </a:endParaRPr>
            </a:p>
          </p:txBody>
        </p:sp>
        <p:pic>
          <p:nvPicPr>
            <p:cNvPr id="2055" name="图像" descr="图像">
              <a:extLst>
                <a:ext uri="{FF2B5EF4-FFF2-40B4-BE49-F238E27FC236}">
                  <a16:creationId xmlns:a16="http://schemas.microsoft.com/office/drawing/2014/main" id="{05F28215-B2B0-E495-9094-1D94168472B2}"/>
                </a:ext>
              </a:extLst>
            </p:cNvPr>
            <p:cNvPicPr>
              <a:picLocks noChangeAspect="1"/>
            </p:cNvPicPr>
            <p:nvPr/>
          </p:nvPicPr>
          <p:blipFill>
            <a:blip r:embed="rId6"/>
            <a:stretch>
              <a:fillRect/>
            </a:stretch>
          </p:blipFill>
          <p:spPr>
            <a:xfrm>
              <a:off x="4993028" y="3615129"/>
              <a:ext cx="354793" cy="171062"/>
            </a:xfrm>
            <a:prstGeom prst="rect">
              <a:avLst/>
            </a:prstGeom>
            <a:ln w="12700">
              <a:miter lim="400000"/>
            </a:ln>
          </p:spPr>
        </p:pic>
      </p:grpSp>
      <p:sp>
        <p:nvSpPr>
          <p:cNvPr id="2063" name="文本框 2062">
            <a:extLst>
              <a:ext uri="{FF2B5EF4-FFF2-40B4-BE49-F238E27FC236}">
                <a16:creationId xmlns:a16="http://schemas.microsoft.com/office/drawing/2014/main" id="{0AE37A1E-0F31-DC60-88E1-BB228C6DC267}"/>
              </a:ext>
            </a:extLst>
          </p:cNvPr>
          <p:cNvSpPr txBox="1"/>
          <p:nvPr/>
        </p:nvSpPr>
        <p:spPr>
          <a:xfrm>
            <a:off x="5454297" y="5434842"/>
            <a:ext cx="1565581"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2015-2025</a:t>
            </a:r>
            <a:endParaRPr lang="zh-CN" altLang="zh-CN" sz="1400" dirty="0">
              <a:solidFill>
                <a:srgbClr val="0052D9"/>
              </a:solidFill>
              <a:cs typeface="+mn-ea"/>
              <a:sym typeface="+mn-lt"/>
            </a:endParaRPr>
          </a:p>
        </p:txBody>
      </p:sp>
      <p:pic>
        <p:nvPicPr>
          <p:cNvPr id="2072" name="图片 2071">
            <a:extLst>
              <a:ext uri="{FF2B5EF4-FFF2-40B4-BE49-F238E27FC236}">
                <a16:creationId xmlns:a16="http://schemas.microsoft.com/office/drawing/2014/main" id="{7A11A869-01D0-BBE6-0206-EE2ACA931BE6}"/>
              </a:ext>
            </a:extLst>
          </p:cNvPr>
          <p:cNvPicPr>
            <a:picLocks noChangeAspect="1"/>
          </p:cNvPicPr>
          <p:nvPr/>
        </p:nvPicPr>
        <p:blipFill>
          <a:blip r:embed="rId7"/>
          <a:stretch>
            <a:fillRect/>
          </a:stretch>
        </p:blipFill>
        <p:spPr>
          <a:xfrm>
            <a:off x="5034576" y="5486650"/>
            <a:ext cx="423690" cy="204161"/>
          </a:xfrm>
          <a:prstGeom prst="rect">
            <a:avLst/>
          </a:prstGeom>
        </p:spPr>
      </p:pic>
      <p:pic>
        <p:nvPicPr>
          <p:cNvPr id="2092" name="图片 2091">
            <a:extLst>
              <a:ext uri="{FF2B5EF4-FFF2-40B4-BE49-F238E27FC236}">
                <a16:creationId xmlns:a16="http://schemas.microsoft.com/office/drawing/2014/main" id="{5B17527F-4E79-4C72-E9D2-EBC04614C077}"/>
              </a:ext>
            </a:extLst>
          </p:cNvPr>
          <p:cNvPicPr>
            <a:picLocks noChangeAspect="1"/>
          </p:cNvPicPr>
          <p:nvPr/>
        </p:nvPicPr>
        <p:blipFill>
          <a:blip r:embed="rId8"/>
          <a:stretch>
            <a:fillRect/>
          </a:stretch>
        </p:blipFill>
        <p:spPr>
          <a:xfrm>
            <a:off x="5198541" y="3668423"/>
            <a:ext cx="712529" cy="228150"/>
          </a:xfrm>
          <a:prstGeom prst="rect">
            <a:avLst/>
          </a:prstGeom>
        </p:spPr>
      </p:pic>
      <p:sp>
        <p:nvSpPr>
          <p:cNvPr id="2094" name="文本框 2093">
            <a:extLst>
              <a:ext uri="{FF2B5EF4-FFF2-40B4-BE49-F238E27FC236}">
                <a16:creationId xmlns:a16="http://schemas.microsoft.com/office/drawing/2014/main" id="{1230602E-C337-6B8F-6578-63BC7E423F3A}"/>
              </a:ext>
            </a:extLst>
          </p:cNvPr>
          <p:cNvSpPr txBox="1"/>
          <p:nvPr/>
        </p:nvSpPr>
        <p:spPr>
          <a:xfrm>
            <a:off x="7197165" y="3606303"/>
            <a:ext cx="1666274"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40-70%</a:t>
            </a:r>
            <a:endParaRPr lang="zh-CN" altLang="en-US" dirty="0">
              <a:solidFill>
                <a:schemeClr val="accent6">
                  <a:lumMod val="10000"/>
                </a:schemeClr>
              </a:solidFill>
              <a:cs typeface="+mn-ea"/>
              <a:sym typeface="+mn-lt"/>
            </a:endParaRPr>
          </a:p>
        </p:txBody>
      </p:sp>
      <p:pic>
        <p:nvPicPr>
          <p:cNvPr id="2095" name="图像" descr="图像">
            <a:extLst>
              <a:ext uri="{FF2B5EF4-FFF2-40B4-BE49-F238E27FC236}">
                <a16:creationId xmlns:a16="http://schemas.microsoft.com/office/drawing/2014/main" id="{61C6A25A-EB48-AE9F-683C-955E98C98B75}"/>
              </a:ext>
            </a:extLst>
          </p:cNvPr>
          <p:cNvPicPr>
            <a:picLocks noChangeAspect="1"/>
          </p:cNvPicPr>
          <p:nvPr/>
        </p:nvPicPr>
        <p:blipFill>
          <a:blip r:embed="rId6"/>
          <a:stretch>
            <a:fillRect/>
          </a:stretch>
        </p:blipFill>
        <p:spPr>
          <a:xfrm>
            <a:off x="8121199" y="3686940"/>
            <a:ext cx="354793" cy="171062"/>
          </a:xfrm>
          <a:prstGeom prst="rect">
            <a:avLst/>
          </a:prstGeom>
          <a:ln w="12700">
            <a:miter lim="400000"/>
          </a:ln>
        </p:spPr>
      </p:pic>
      <p:sp>
        <p:nvSpPr>
          <p:cNvPr id="5181" name="文本框 5180">
            <a:extLst>
              <a:ext uri="{FF2B5EF4-FFF2-40B4-BE49-F238E27FC236}">
                <a16:creationId xmlns:a16="http://schemas.microsoft.com/office/drawing/2014/main" id="{BE2B5295-66CE-BD93-A4BE-80E17EDA9F7E}"/>
              </a:ext>
            </a:extLst>
          </p:cNvPr>
          <p:cNvSpPr txBox="1"/>
          <p:nvPr/>
        </p:nvSpPr>
        <p:spPr>
          <a:xfrm>
            <a:off x="2912867" y="4781096"/>
            <a:ext cx="1228116"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2020-2025</a:t>
            </a:r>
            <a:endParaRPr lang="zh-CN" altLang="zh-CN" sz="1400" dirty="0">
              <a:solidFill>
                <a:srgbClr val="0052D9"/>
              </a:solidFill>
              <a:cs typeface="+mn-ea"/>
              <a:sym typeface="+mn-lt"/>
            </a:endParaRPr>
          </a:p>
        </p:txBody>
      </p:sp>
      <p:pic>
        <p:nvPicPr>
          <p:cNvPr id="5182" name="图像" descr="图像">
            <a:extLst>
              <a:ext uri="{FF2B5EF4-FFF2-40B4-BE49-F238E27FC236}">
                <a16:creationId xmlns:a16="http://schemas.microsoft.com/office/drawing/2014/main" id="{075D8EAF-5948-22CD-3259-0DF432B39BDF}"/>
              </a:ext>
            </a:extLst>
          </p:cNvPr>
          <p:cNvPicPr>
            <a:picLocks noChangeAspect="1"/>
          </p:cNvPicPr>
          <p:nvPr/>
        </p:nvPicPr>
        <p:blipFill>
          <a:blip r:embed="rId6"/>
          <a:stretch>
            <a:fillRect/>
          </a:stretch>
        </p:blipFill>
        <p:spPr>
          <a:xfrm>
            <a:off x="2568896" y="4849453"/>
            <a:ext cx="354793" cy="171062"/>
          </a:xfrm>
          <a:prstGeom prst="rect">
            <a:avLst/>
          </a:prstGeom>
          <a:ln w="12700">
            <a:miter lim="400000"/>
          </a:ln>
        </p:spPr>
      </p:pic>
      <p:sp>
        <p:nvSpPr>
          <p:cNvPr id="2097" name="文本框 2096">
            <a:extLst>
              <a:ext uri="{FF2B5EF4-FFF2-40B4-BE49-F238E27FC236}">
                <a16:creationId xmlns:a16="http://schemas.microsoft.com/office/drawing/2014/main" id="{C69D77A3-6EB3-7D68-2405-97A37202F61C}"/>
              </a:ext>
            </a:extLst>
          </p:cNvPr>
          <p:cNvSpPr txBox="1"/>
          <p:nvPr/>
        </p:nvSpPr>
        <p:spPr>
          <a:xfrm>
            <a:off x="2927546" y="5434842"/>
            <a:ext cx="1228116"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2017-2024</a:t>
            </a:r>
            <a:endParaRPr lang="zh-CN" altLang="zh-CN" sz="1400" dirty="0">
              <a:solidFill>
                <a:srgbClr val="0052D9"/>
              </a:solidFill>
              <a:cs typeface="+mn-ea"/>
              <a:sym typeface="+mn-lt"/>
            </a:endParaRPr>
          </a:p>
        </p:txBody>
      </p:sp>
      <p:pic>
        <p:nvPicPr>
          <p:cNvPr id="2099" name="图片 2098">
            <a:extLst>
              <a:ext uri="{FF2B5EF4-FFF2-40B4-BE49-F238E27FC236}">
                <a16:creationId xmlns:a16="http://schemas.microsoft.com/office/drawing/2014/main" id="{2257C515-19AC-C681-BBA2-67AB10FB95DC}"/>
              </a:ext>
            </a:extLst>
          </p:cNvPr>
          <p:cNvPicPr>
            <a:picLocks noChangeAspect="1"/>
          </p:cNvPicPr>
          <p:nvPr/>
        </p:nvPicPr>
        <p:blipFill>
          <a:blip r:embed="rId9"/>
          <a:stretch>
            <a:fillRect/>
          </a:stretch>
        </p:blipFill>
        <p:spPr>
          <a:xfrm>
            <a:off x="2381316" y="5474159"/>
            <a:ext cx="600961" cy="229143"/>
          </a:xfrm>
          <a:prstGeom prst="rect">
            <a:avLst/>
          </a:prstGeom>
        </p:spPr>
      </p:pic>
      <p:pic>
        <p:nvPicPr>
          <p:cNvPr id="2100" name="图片 2099">
            <a:extLst>
              <a:ext uri="{FF2B5EF4-FFF2-40B4-BE49-F238E27FC236}">
                <a16:creationId xmlns:a16="http://schemas.microsoft.com/office/drawing/2014/main" id="{F054165F-A64C-0D7A-1F84-09C9189049FF}"/>
              </a:ext>
            </a:extLst>
          </p:cNvPr>
          <p:cNvPicPr>
            <a:picLocks noChangeAspect="1"/>
          </p:cNvPicPr>
          <p:nvPr/>
        </p:nvPicPr>
        <p:blipFill>
          <a:blip r:embed="rId9"/>
          <a:stretch>
            <a:fillRect/>
          </a:stretch>
        </p:blipFill>
        <p:spPr>
          <a:xfrm>
            <a:off x="3366631" y="3667430"/>
            <a:ext cx="600961" cy="229143"/>
          </a:xfrm>
          <a:prstGeom prst="rect">
            <a:avLst/>
          </a:prstGeom>
        </p:spPr>
      </p:pic>
      <p:sp>
        <p:nvSpPr>
          <p:cNvPr id="12" name="箭头: V 形 11">
            <a:extLst>
              <a:ext uri="{FF2B5EF4-FFF2-40B4-BE49-F238E27FC236}">
                <a16:creationId xmlns:a16="http://schemas.microsoft.com/office/drawing/2014/main" id="{10CDCBAC-5CB5-077F-719C-6EFB53F66B92}"/>
              </a:ext>
            </a:extLst>
          </p:cNvPr>
          <p:cNvSpPr/>
          <p:nvPr/>
        </p:nvSpPr>
        <p:spPr>
          <a:xfrm>
            <a:off x="9470503" y="916858"/>
            <a:ext cx="2432146" cy="504691"/>
          </a:xfrm>
          <a:prstGeom prst="chevron">
            <a:avLst/>
          </a:prstGeom>
          <a:solidFill>
            <a:srgbClr val="DD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accent6">
                    <a:lumMod val="10000"/>
                  </a:schemeClr>
                </a:solidFill>
                <a:cs typeface="+mn-ea"/>
                <a:sym typeface="+mn-lt"/>
              </a:rPr>
              <a:t>④集成交付</a:t>
            </a:r>
          </a:p>
        </p:txBody>
      </p:sp>
      <p:sp>
        <p:nvSpPr>
          <p:cNvPr id="13" name="文本框 12">
            <a:extLst>
              <a:ext uri="{FF2B5EF4-FFF2-40B4-BE49-F238E27FC236}">
                <a16:creationId xmlns:a16="http://schemas.microsoft.com/office/drawing/2014/main" id="{B0B394DC-8733-D406-6358-4A4C830011D0}"/>
              </a:ext>
            </a:extLst>
          </p:cNvPr>
          <p:cNvSpPr txBox="1"/>
          <p:nvPr/>
        </p:nvSpPr>
        <p:spPr>
          <a:xfrm>
            <a:off x="10575464" y="952076"/>
            <a:ext cx="1549226" cy="461665"/>
          </a:xfrm>
          <a:prstGeom prst="rect">
            <a:avLst/>
          </a:prstGeom>
          <a:noFill/>
        </p:spPr>
        <p:txBody>
          <a:bodyPr wrap="square" rtlCol="0">
            <a:spAutoFit/>
          </a:bodyPr>
          <a:lstStyle/>
          <a:p>
            <a:pPr algn="ctr"/>
            <a:r>
              <a:rPr lang="zh-CN" altLang="en-US" sz="1200" dirty="0">
                <a:cs typeface="+mn-ea"/>
                <a:sym typeface="+mn-lt"/>
              </a:rPr>
              <a:t>先进封测</a:t>
            </a:r>
            <a:endParaRPr lang="en-US" altLang="zh-CN" sz="1200" dirty="0">
              <a:cs typeface="+mn-ea"/>
              <a:sym typeface="+mn-lt"/>
            </a:endParaRPr>
          </a:p>
          <a:p>
            <a:pPr algn="ctr"/>
            <a:r>
              <a:rPr lang="zh-CN" altLang="en-US" sz="1200" dirty="0">
                <a:cs typeface="+mn-ea"/>
                <a:sym typeface="+mn-lt"/>
              </a:rPr>
              <a:t>设备集成</a:t>
            </a:r>
          </a:p>
        </p:txBody>
      </p:sp>
      <p:sp>
        <p:nvSpPr>
          <p:cNvPr id="5161" name="文本框 5160">
            <a:extLst>
              <a:ext uri="{FF2B5EF4-FFF2-40B4-BE49-F238E27FC236}">
                <a16:creationId xmlns:a16="http://schemas.microsoft.com/office/drawing/2014/main" id="{A79B612C-73C5-619C-2AAA-028F960EFD60}"/>
              </a:ext>
            </a:extLst>
          </p:cNvPr>
          <p:cNvSpPr txBox="1"/>
          <p:nvPr/>
        </p:nvSpPr>
        <p:spPr>
          <a:xfrm>
            <a:off x="10673511" y="2272505"/>
            <a:ext cx="1010262" cy="369332"/>
          </a:xfrm>
          <a:prstGeom prst="rect">
            <a:avLst/>
          </a:prstGeom>
          <a:noFill/>
        </p:spPr>
        <p:txBody>
          <a:bodyPr wrap="square" rtlCol="0">
            <a:spAutoFit/>
          </a:bodyPr>
          <a:lstStyle/>
          <a:p>
            <a:pPr algn="ctr"/>
            <a:endParaRPr lang="zh-CN" altLang="en-US" dirty="0">
              <a:solidFill>
                <a:schemeClr val="accent6">
                  <a:lumMod val="10000"/>
                </a:schemeClr>
              </a:solidFill>
              <a:cs typeface="+mn-ea"/>
              <a:sym typeface="+mn-lt"/>
            </a:endParaRPr>
          </a:p>
        </p:txBody>
      </p:sp>
      <p:sp>
        <p:nvSpPr>
          <p:cNvPr id="5165" name="椭圆 5164">
            <a:extLst>
              <a:ext uri="{FF2B5EF4-FFF2-40B4-BE49-F238E27FC236}">
                <a16:creationId xmlns:a16="http://schemas.microsoft.com/office/drawing/2014/main" id="{033CF5C3-3CA0-A564-EA32-E84CBBD37EA2}"/>
              </a:ext>
            </a:extLst>
          </p:cNvPr>
          <p:cNvSpPr/>
          <p:nvPr/>
        </p:nvSpPr>
        <p:spPr>
          <a:xfrm>
            <a:off x="9524192" y="1787862"/>
            <a:ext cx="362009" cy="361668"/>
          </a:xfrm>
          <a:prstGeom prst="ellipse">
            <a:avLst/>
          </a:prstGeom>
          <a:solidFill>
            <a:srgbClr val="0052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cs typeface="+mn-ea"/>
              <a:sym typeface="+mn-lt"/>
            </a:endParaRPr>
          </a:p>
        </p:txBody>
      </p:sp>
      <p:sp>
        <p:nvSpPr>
          <p:cNvPr id="5164" name="文本框 5163">
            <a:extLst>
              <a:ext uri="{FF2B5EF4-FFF2-40B4-BE49-F238E27FC236}">
                <a16:creationId xmlns:a16="http://schemas.microsoft.com/office/drawing/2014/main" id="{958AC1E6-7A23-3AC9-B0A6-E7F01B5F1015}"/>
              </a:ext>
            </a:extLst>
          </p:cNvPr>
          <p:cNvSpPr txBox="1"/>
          <p:nvPr/>
        </p:nvSpPr>
        <p:spPr>
          <a:xfrm>
            <a:off x="9429169" y="2560284"/>
            <a:ext cx="1468246"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CAGR: </a:t>
            </a:r>
            <a:r>
              <a:rPr lang="en-US" altLang="zh-CN" sz="1400" b="1" dirty="0">
                <a:solidFill>
                  <a:schemeClr val="accent6">
                    <a:lumMod val="10000"/>
                  </a:schemeClr>
                </a:solidFill>
                <a:cs typeface="+mn-ea"/>
                <a:sym typeface="+mn-lt"/>
              </a:rPr>
              <a:t>15+%</a:t>
            </a:r>
            <a:r>
              <a:rPr lang="en-US" altLang="zh-CN" sz="1400" dirty="0">
                <a:solidFill>
                  <a:schemeClr val="accent6">
                    <a:lumMod val="10000"/>
                  </a:schemeClr>
                </a:solidFill>
                <a:cs typeface="+mn-ea"/>
                <a:sym typeface="+mn-lt"/>
              </a:rPr>
              <a:t> </a:t>
            </a:r>
            <a:endParaRPr lang="zh-CN" altLang="zh-CN" sz="1400" dirty="0">
              <a:solidFill>
                <a:srgbClr val="0052D9"/>
              </a:solidFill>
              <a:cs typeface="+mn-ea"/>
              <a:sym typeface="+mn-lt"/>
            </a:endParaRPr>
          </a:p>
        </p:txBody>
      </p:sp>
      <p:sp>
        <p:nvSpPr>
          <p:cNvPr id="5177" name="文本框 5176">
            <a:extLst>
              <a:ext uri="{FF2B5EF4-FFF2-40B4-BE49-F238E27FC236}">
                <a16:creationId xmlns:a16="http://schemas.microsoft.com/office/drawing/2014/main" id="{EE37D92E-39D4-DD7A-61FD-576584143C62}"/>
              </a:ext>
            </a:extLst>
          </p:cNvPr>
          <p:cNvSpPr txBox="1"/>
          <p:nvPr/>
        </p:nvSpPr>
        <p:spPr>
          <a:xfrm>
            <a:off x="9420031" y="3613134"/>
            <a:ext cx="1666274"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10-50%</a:t>
            </a:r>
            <a:endParaRPr lang="zh-CN" altLang="en-US" dirty="0">
              <a:solidFill>
                <a:schemeClr val="accent6">
                  <a:lumMod val="10000"/>
                </a:schemeClr>
              </a:solidFill>
              <a:cs typeface="+mn-ea"/>
              <a:sym typeface="+mn-lt"/>
            </a:endParaRPr>
          </a:p>
        </p:txBody>
      </p:sp>
      <p:sp>
        <p:nvSpPr>
          <p:cNvPr id="2101" name="文本框 2100">
            <a:extLst>
              <a:ext uri="{FF2B5EF4-FFF2-40B4-BE49-F238E27FC236}">
                <a16:creationId xmlns:a16="http://schemas.microsoft.com/office/drawing/2014/main" id="{E6FD4056-43C1-8C5D-644C-0CE9689C106D}"/>
              </a:ext>
            </a:extLst>
          </p:cNvPr>
          <p:cNvSpPr txBox="1"/>
          <p:nvPr/>
        </p:nvSpPr>
        <p:spPr>
          <a:xfrm>
            <a:off x="9437882" y="4750318"/>
            <a:ext cx="1666274"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5</a:t>
            </a:r>
            <a:r>
              <a:rPr lang="zh-CN" altLang="en-US" dirty="0">
                <a:solidFill>
                  <a:schemeClr val="accent6">
                    <a:lumMod val="10000"/>
                  </a:schemeClr>
                </a:solidFill>
                <a:cs typeface="+mn-ea"/>
                <a:sym typeface="+mn-lt"/>
              </a:rPr>
              <a:t>年</a:t>
            </a:r>
          </a:p>
        </p:txBody>
      </p:sp>
      <p:sp>
        <p:nvSpPr>
          <p:cNvPr id="2102" name="文本框 2101">
            <a:extLst>
              <a:ext uri="{FF2B5EF4-FFF2-40B4-BE49-F238E27FC236}">
                <a16:creationId xmlns:a16="http://schemas.microsoft.com/office/drawing/2014/main" id="{DBA9FF02-34D5-43C4-E252-A278D8CB7EC8}"/>
              </a:ext>
            </a:extLst>
          </p:cNvPr>
          <p:cNvSpPr txBox="1"/>
          <p:nvPr/>
        </p:nvSpPr>
        <p:spPr>
          <a:xfrm>
            <a:off x="7197165" y="4750318"/>
            <a:ext cx="1666274"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3</a:t>
            </a:r>
            <a:r>
              <a:rPr lang="zh-CN" altLang="en-US" dirty="0">
                <a:solidFill>
                  <a:schemeClr val="accent6">
                    <a:lumMod val="10000"/>
                  </a:schemeClr>
                </a:solidFill>
                <a:cs typeface="+mn-ea"/>
                <a:sym typeface="+mn-lt"/>
              </a:rPr>
              <a:t>年</a:t>
            </a:r>
          </a:p>
        </p:txBody>
      </p:sp>
      <p:sp>
        <p:nvSpPr>
          <p:cNvPr id="5187" name="文本框 5186">
            <a:extLst>
              <a:ext uri="{FF2B5EF4-FFF2-40B4-BE49-F238E27FC236}">
                <a16:creationId xmlns:a16="http://schemas.microsoft.com/office/drawing/2014/main" id="{8C9D95CE-B0D3-AB5D-D820-37E5DDCA2663}"/>
              </a:ext>
            </a:extLst>
          </p:cNvPr>
          <p:cNvSpPr txBox="1"/>
          <p:nvPr/>
        </p:nvSpPr>
        <p:spPr>
          <a:xfrm>
            <a:off x="8210988" y="1795289"/>
            <a:ext cx="1010262" cy="369332"/>
          </a:xfrm>
          <a:prstGeom prst="rect">
            <a:avLst/>
          </a:prstGeom>
          <a:noFill/>
        </p:spPr>
        <p:txBody>
          <a:bodyPr wrap="square" rtlCol="0">
            <a:spAutoFit/>
          </a:bodyPr>
          <a:lstStyle/>
          <a:p>
            <a:pPr algn="ctr"/>
            <a:r>
              <a:rPr lang="en-US" altLang="zh-CN" dirty="0">
                <a:solidFill>
                  <a:schemeClr val="accent6">
                    <a:lumMod val="10000"/>
                  </a:schemeClr>
                </a:solidFill>
                <a:cs typeface="+mn-ea"/>
                <a:sym typeface="+mn-lt"/>
              </a:rPr>
              <a:t>20-30%</a:t>
            </a:r>
            <a:endParaRPr lang="zh-CN" altLang="en-US" dirty="0">
              <a:solidFill>
                <a:schemeClr val="accent6">
                  <a:lumMod val="10000"/>
                </a:schemeClr>
              </a:solidFill>
              <a:cs typeface="+mn-ea"/>
              <a:sym typeface="+mn-lt"/>
            </a:endParaRPr>
          </a:p>
        </p:txBody>
      </p:sp>
      <p:sp>
        <p:nvSpPr>
          <p:cNvPr id="5191" name="椭圆 5190">
            <a:extLst>
              <a:ext uri="{FF2B5EF4-FFF2-40B4-BE49-F238E27FC236}">
                <a16:creationId xmlns:a16="http://schemas.microsoft.com/office/drawing/2014/main" id="{F92D9C8C-8F70-FCCB-434D-D374FE498C00}"/>
              </a:ext>
            </a:extLst>
          </p:cNvPr>
          <p:cNvSpPr/>
          <p:nvPr/>
        </p:nvSpPr>
        <p:spPr>
          <a:xfrm>
            <a:off x="7197165" y="1668099"/>
            <a:ext cx="530876" cy="530374"/>
          </a:xfrm>
          <a:prstGeom prst="ellipse">
            <a:avLst/>
          </a:prstGeom>
          <a:solidFill>
            <a:srgbClr val="0052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400" dirty="0">
              <a:solidFill>
                <a:schemeClr val="bg1"/>
              </a:solidFill>
              <a:cs typeface="+mn-ea"/>
              <a:sym typeface="+mn-lt"/>
            </a:endParaRPr>
          </a:p>
        </p:txBody>
      </p:sp>
      <p:sp>
        <p:nvSpPr>
          <p:cNvPr id="5190" name="文本框 5189">
            <a:extLst>
              <a:ext uri="{FF2B5EF4-FFF2-40B4-BE49-F238E27FC236}">
                <a16:creationId xmlns:a16="http://schemas.microsoft.com/office/drawing/2014/main" id="{C26E098D-8477-A171-5494-4045AB9EC7A6}"/>
              </a:ext>
            </a:extLst>
          </p:cNvPr>
          <p:cNvSpPr txBox="1"/>
          <p:nvPr/>
        </p:nvSpPr>
        <p:spPr>
          <a:xfrm>
            <a:off x="7197165" y="2560284"/>
            <a:ext cx="1317875"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CAGR: </a:t>
            </a:r>
            <a:r>
              <a:rPr lang="en-US" altLang="zh-CN" sz="1400" b="1" dirty="0">
                <a:solidFill>
                  <a:schemeClr val="accent6">
                    <a:lumMod val="10000"/>
                  </a:schemeClr>
                </a:solidFill>
                <a:cs typeface="+mn-ea"/>
                <a:sym typeface="+mn-lt"/>
              </a:rPr>
              <a:t>10+%</a:t>
            </a:r>
            <a:r>
              <a:rPr lang="en-US" altLang="zh-CN" sz="1400" dirty="0">
                <a:solidFill>
                  <a:schemeClr val="accent6">
                    <a:lumMod val="10000"/>
                  </a:schemeClr>
                </a:solidFill>
                <a:cs typeface="+mn-ea"/>
                <a:sym typeface="+mn-lt"/>
              </a:rPr>
              <a:t> </a:t>
            </a:r>
            <a:endParaRPr lang="zh-CN" altLang="zh-CN" sz="1400" dirty="0">
              <a:solidFill>
                <a:srgbClr val="0052D9"/>
              </a:solidFill>
              <a:cs typeface="+mn-ea"/>
              <a:sym typeface="+mn-lt"/>
            </a:endParaRPr>
          </a:p>
        </p:txBody>
      </p:sp>
      <p:sp>
        <p:nvSpPr>
          <p:cNvPr id="2078" name="文本框 2077">
            <a:extLst>
              <a:ext uri="{FF2B5EF4-FFF2-40B4-BE49-F238E27FC236}">
                <a16:creationId xmlns:a16="http://schemas.microsoft.com/office/drawing/2014/main" id="{F42F1B94-7078-1D0B-C4D0-7D1B755605B9}"/>
              </a:ext>
            </a:extLst>
          </p:cNvPr>
          <p:cNvSpPr txBox="1"/>
          <p:nvPr/>
        </p:nvSpPr>
        <p:spPr>
          <a:xfrm>
            <a:off x="10673511" y="5409442"/>
            <a:ext cx="2023924"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2015-2024</a:t>
            </a:r>
            <a:endParaRPr lang="zh-CN" altLang="zh-CN" sz="1400" dirty="0">
              <a:solidFill>
                <a:srgbClr val="0052D9"/>
              </a:solidFill>
              <a:cs typeface="+mn-ea"/>
              <a:sym typeface="+mn-lt"/>
            </a:endParaRPr>
          </a:p>
        </p:txBody>
      </p:sp>
      <p:pic>
        <p:nvPicPr>
          <p:cNvPr id="5196" name="图像" descr="图像">
            <a:extLst>
              <a:ext uri="{FF2B5EF4-FFF2-40B4-BE49-F238E27FC236}">
                <a16:creationId xmlns:a16="http://schemas.microsoft.com/office/drawing/2014/main" id="{3D019281-AE39-A9D0-7FFF-10274BFD535A}"/>
              </a:ext>
            </a:extLst>
          </p:cNvPr>
          <p:cNvPicPr>
            <a:picLocks noChangeAspect="1"/>
          </p:cNvPicPr>
          <p:nvPr/>
        </p:nvPicPr>
        <p:blipFill>
          <a:blip r:embed="rId10"/>
          <a:stretch>
            <a:fillRect/>
          </a:stretch>
        </p:blipFill>
        <p:spPr>
          <a:xfrm>
            <a:off x="10292296" y="4805449"/>
            <a:ext cx="328979" cy="259071"/>
          </a:xfrm>
          <a:prstGeom prst="rect">
            <a:avLst/>
          </a:prstGeom>
          <a:ln w="12700">
            <a:miter lim="400000"/>
          </a:ln>
        </p:spPr>
      </p:pic>
      <p:sp>
        <p:nvSpPr>
          <p:cNvPr id="5197" name="文本框 5196">
            <a:extLst>
              <a:ext uri="{FF2B5EF4-FFF2-40B4-BE49-F238E27FC236}">
                <a16:creationId xmlns:a16="http://schemas.microsoft.com/office/drawing/2014/main" id="{A36C9EFD-24EE-131D-AB97-58E3F3D82A09}"/>
              </a:ext>
            </a:extLst>
          </p:cNvPr>
          <p:cNvSpPr txBox="1"/>
          <p:nvPr/>
        </p:nvSpPr>
        <p:spPr>
          <a:xfrm>
            <a:off x="10674532" y="4781096"/>
            <a:ext cx="1228116"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2020-2025</a:t>
            </a:r>
            <a:endParaRPr lang="zh-CN" altLang="zh-CN" sz="1400" dirty="0">
              <a:solidFill>
                <a:srgbClr val="0052D9"/>
              </a:solidFill>
              <a:cs typeface="+mn-ea"/>
              <a:sym typeface="+mn-lt"/>
            </a:endParaRPr>
          </a:p>
        </p:txBody>
      </p:sp>
      <p:sp>
        <p:nvSpPr>
          <p:cNvPr id="5198" name="文本框 5197">
            <a:extLst>
              <a:ext uri="{FF2B5EF4-FFF2-40B4-BE49-F238E27FC236}">
                <a16:creationId xmlns:a16="http://schemas.microsoft.com/office/drawing/2014/main" id="{FC089579-6BCA-6847-F442-BEEBB3EE0096}"/>
              </a:ext>
            </a:extLst>
          </p:cNvPr>
          <p:cNvSpPr txBox="1"/>
          <p:nvPr/>
        </p:nvSpPr>
        <p:spPr>
          <a:xfrm>
            <a:off x="10755898" y="3548815"/>
            <a:ext cx="2023924" cy="523220"/>
          </a:xfrm>
          <a:prstGeom prst="rect">
            <a:avLst/>
          </a:prstGeom>
          <a:noFill/>
        </p:spPr>
        <p:txBody>
          <a:bodyPr wrap="square" rtlCol="0" anchor="ctr">
            <a:spAutoFit/>
          </a:bodyPr>
          <a:lstStyle/>
          <a:p>
            <a:r>
              <a:rPr lang="zh-CN" altLang="en-US" sz="1400" dirty="0">
                <a:solidFill>
                  <a:schemeClr val="accent6">
                    <a:lumMod val="10000"/>
                  </a:schemeClr>
                </a:solidFill>
                <a:cs typeface="+mn-ea"/>
                <a:sym typeface="+mn-lt"/>
              </a:rPr>
              <a:t>高端封装高</a:t>
            </a:r>
            <a:endParaRPr lang="en-US" altLang="zh-CN" sz="1400" dirty="0">
              <a:solidFill>
                <a:schemeClr val="accent6">
                  <a:lumMod val="10000"/>
                </a:schemeClr>
              </a:solidFill>
              <a:cs typeface="+mn-ea"/>
              <a:sym typeface="+mn-lt"/>
            </a:endParaRPr>
          </a:p>
          <a:p>
            <a:r>
              <a:rPr lang="en-US" altLang="zh-CN" sz="1400" dirty="0">
                <a:solidFill>
                  <a:schemeClr val="accent6">
                    <a:lumMod val="10000"/>
                  </a:schemeClr>
                </a:solidFill>
                <a:cs typeface="+mn-ea"/>
                <a:sym typeface="+mn-lt"/>
              </a:rPr>
              <a:t>OSAT</a:t>
            </a:r>
            <a:r>
              <a:rPr lang="zh-CN" altLang="en-US" sz="1400" dirty="0">
                <a:solidFill>
                  <a:schemeClr val="accent6">
                    <a:lumMod val="10000"/>
                  </a:schemeClr>
                </a:solidFill>
                <a:cs typeface="+mn-ea"/>
                <a:sym typeface="+mn-lt"/>
              </a:rPr>
              <a:t>低</a:t>
            </a:r>
            <a:endParaRPr lang="zh-CN" altLang="zh-CN" sz="1400" dirty="0">
              <a:solidFill>
                <a:srgbClr val="0052D9"/>
              </a:solidFill>
              <a:cs typeface="+mn-ea"/>
              <a:sym typeface="+mn-lt"/>
            </a:endParaRPr>
          </a:p>
        </p:txBody>
      </p:sp>
      <p:sp>
        <p:nvSpPr>
          <p:cNvPr id="5199" name="文本框 5198">
            <a:extLst>
              <a:ext uri="{FF2B5EF4-FFF2-40B4-BE49-F238E27FC236}">
                <a16:creationId xmlns:a16="http://schemas.microsoft.com/office/drawing/2014/main" id="{BE8031B4-B33B-8F8A-2F42-B8725C593B52}"/>
              </a:ext>
            </a:extLst>
          </p:cNvPr>
          <p:cNvSpPr txBox="1"/>
          <p:nvPr/>
        </p:nvSpPr>
        <p:spPr>
          <a:xfrm>
            <a:off x="5883635" y="3536190"/>
            <a:ext cx="1186722" cy="523220"/>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Serdes</a:t>
            </a:r>
            <a:r>
              <a:rPr lang="zh-CN" altLang="en-US" sz="1400" dirty="0">
                <a:solidFill>
                  <a:schemeClr val="accent6">
                    <a:lumMod val="10000"/>
                  </a:schemeClr>
                </a:solidFill>
                <a:cs typeface="+mn-ea"/>
                <a:sym typeface="+mn-lt"/>
              </a:rPr>
              <a:t>自研毛利高</a:t>
            </a:r>
            <a:endParaRPr lang="zh-CN" altLang="zh-CN" sz="1400" dirty="0">
              <a:solidFill>
                <a:srgbClr val="0052D9"/>
              </a:solidFill>
              <a:cs typeface="+mn-ea"/>
              <a:sym typeface="+mn-lt"/>
            </a:endParaRPr>
          </a:p>
        </p:txBody>
      </p:sp>
      <p:sp>
        <p:nvSpPr>
          <p:cNvPr id="5200" name="文本框 5199">
            <a:extLst>
              <a:ext uri="{FF2B5EF4-FFF2-40B4-BE49-F238E27FC236}">
                <a16:creationId xmlns:a16="http://schemas.microsoft.com/office/drawing/2014/main" id="{0378968C-A73A-4786-FF55-E939F9850D99}"/>
              </a:ext>
            </a:extLst>
          </p:cNvPr>
          <p:cNvSpPr txBox="1"/>
          <p:nvPr/>
        </p:nvSpPr>
        <p:spPr>
          <a:xfrm>
            <a:off x="8464134" y="3524516"/>
            <a:ext cx="1186722" cy="523220"/>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Serdes</a:t>
            </a:r>
            <a:r>
              <a:rPr lang="zh-CN" altLang="en-US" sz="1400" dirty="0">
                <a:solidFill>
                  <a:schemeClr val="accent6">
                    <a:lumMod val="10000"/>
                  </a:schemeClr>
                </a:solidFill>
                <a:cs typeface="+mn-ea"/>
                <a:sym typeface="+mn-lt"/>
              </a:rPr>
              <a:t>自研毛利高</a:t>
            </a:r>
            <a:endParaRPr lang="zh-CN" altLang="zh-CN" sz="1400" dirty="0">
              <a:solidFill>
                <a:srgbClr val="0052D9"/>
              </a:solidFill>
              <a:cs typeface="+mn-ea"/>
              <a:sym typeface="+mn-lt"/>
            </a:endParaRPr>
          </a:p>
        </p:txBody>
      </p:sp>
      <p:pic>
        <p:nvPicPr>
          <p:cNvPr id="2103" name="图像" descr="图像">
            <a:extLst>
              <a:ext uri="{FF2B5EF4-FFF2-40B4-BE49-F238E27FC236}">
                <a16:creationId xmlns:a16="http://schemas.microsoft.com/office/drawing/2014/main" id="{8FAEFA22-0830-89D5-1032-EC33C0440951}"/>
              </a:ext>
            </a:extLst>
          </p:cNvPr>
          <p:cNvPicPr>
            <a:picLocks noChangeAspect="1"/>
          </p:cNvPicPr>
          <p:nvPr/>
        </p:nvPicPr>
        <p:blipFill>
          <a:blip r:embed="rId6"/>
          <a:stretch>
            <a:fillRect/>
          </a:stretch>
        </p:blipFill>
        <p:spPr>
          <a:xfrm>
            <a:off x="7952705" y="4849453"/>
            <a:ext cx="354793" cy="171062"/>
          </a:xfrm>
          <a:prstGeom prst="rect">
            <a:avLst/>
          </a:prstGeom>
          <a:ln w="12700">
            <a:miter lim="400000"/>
          </a:ln>
        </p:spPr>
      </p:pic>
      <p:sp>
        <p:nvSpPr>
          <p:cNvPr id="2109" name="文本框 2108">
            <a:extLst>
              <a:ext uri="{FF2B5EF4-FFF2-40B4-BE49-F238E27FC236}">
                <a16:creationId xmlns:a16="http://schemas.microsoft.com/office/drawing/2014/main" id="{22A27ADB-27C6-805F-8042-C4E74C287B5C}"/>
              </a:ext>
            </a:extLst>
          </p:cNvPr>
          <p:cNvSpPr txBox="1"/>
          <p:nvPr/>
        </p:nvSpPr>
        <p:spPr>
          <a:xfrm>
            <a:off x="8365848" y="4781096"/>
            <a:ext cx="1018777"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2-3</a:t>
            </a:r>
            <a:r>
              <a:rPr lang="zh-CN" altLang="en-US" sz="1400" dirty="0">
                <a:solidFill>
                  <a:schemeClr val="accent6">
                    <a:lumMod val="10000"/>
                  </a:schemeClr>
                </a:solidFill>
                <a:cs typeface="+mn-ea"/>
                <a:sym typeface="+mn-lt"/>
              </a:rPr>
              <a:t>年一代</a:t>
            </a:r>
            <a:endParaRPr lang="zh-CN" altLang="zh-CN" sz="1400" dirty="0">
              <a:solidFill>
                <a:srgbClr val="0052D9"/>
              </a:solidFill>
              <a:cs typeface="+mn-ea"/>
              <a:sym typeface="+mn-lt"/>
            </a:endParaRPr>
          </a:p>
        </p:txBody>
      </p:sp>
      <p:pic>
        <p:nvPicPr>
          <p:cNvPr id="5202" name="图片 5201">
            <a:extLst>
              <a:ext uri="{FF2B5EF4-FFF2-40B4-BE49-F238E27FC236}">
                <a16:creationId xmlns:a16="http://schemas.microsoft.com/office/drawing/2014/main" id="{42BFC031-9D3E-2A1B-9F5C-D40FED8C8D7B}"/>
              </a:ext>
            </a:extLst>
          </p:cNvPr>
          <p:cNvPicPr>
            <a:picLocks noChangeAspect="1"/>
          </p:cNvPicPr>
          <p:nvPr/>
        </p:nvPicPr>
        <p:blipFill>
          <a:blip r:embed="rId11"/>
          <a:stretch>
            <a:fillRect/>
          </a:stretch>
        </p:blipFill>
        <p:spPr>
          <a:xfrm>
            <a:off x="7860089" y="5513485"/>
            <a:ext cx="504145" cy="150491"/>
          </a:xfrm>
          <a:prstGeom prst="rect">
            <a:avLst/>
          </a:prstGeom>
        </p:spPr>
      </p:pic>
      <p:sp>
        <p:nvSpPr>
          <p:cNvPr id="5203" name="文本框 5202">
            <a:extLst>
              <a:ext uri="{FF2B5EF4-FFF2-40B4-BE49-F238E27FC236}">
                <a16:creationId xmlns:a16="http://schemas.microsoft.com/office/drawing/2014/main" id="{A2EFEF21-2609-6BC1-9DCB-06A15BD9E0D5}"/>
              </a:ext>
            </a:extLst>
          </p:cNvPr>
          <p:cNvSpPr txBox="1"/>
          <p:nvPr/>
        </p:nvSpPr>
        <p:spPr>
          <a:xfrm>
            <a:off x="8346749" y="5434842"/>
            <a:ext cx="1059527" cy="307777"/>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2005-2012</a:t>
            </a:r>
            <a:endParaRPr lang="zh-CN" altLang="zh-CN" sz="1400" dirty="0">
              <a:solidFill>
                <a:srgbClr val="0052D9"/>
              </a:solidFill>
              <a:cs typeface="+mn-ea"/>
              <a:sym typeface="+mn-lt"/>
            </a:endParaRPr>
          </a:p>
        </p:txBody>
      </p:sp>
      <p:pic>
        <p:nvPicPr>
          <p:cNvPr id="5214" name="图片 5213">
            <a:extLst>
              <a:ext uri="{FF2B5EF4-FFF2-40B4-BE49-F238E27FC236}">
                <a16:creationId xmlns:a16="http://schemas.microsoft.com/office/drawing/2014/main" id="{3605704C-846B-2D0E-5393-6C6548167C9C}"/>
              </a:ext>
            </a:extLst>
          </p:cNvPr>
          <p:cNvPicPr>
            <a:picLocks noChangeAspect="1"/>
          </p:cNvPicPr>
          <p:nvPr/>
        </p:nvPicPr>
        <p:blipFill>
          <a:blip r:embed="rId12"/>
          <a:stretch>
            <a:fillRect/>
          </a:stretch>
        </p:blipFill>
        <p:spPr>
          <a:xfrm>
            <a:off x="10303396" y="5420231"/>
            <a:ext cx="304385" cy="336998"/>
          </a:xfrm>
          <a:prstGeom prst="rect">
            <a:avLst/>
          </a:prstGeom>
        </p:spPr>
      </p:pic>
      <p:sp>
        <p:nvSpPr>
          <p:cNvPr id="5215" name="文本框 5214">
            <a:extLst>
              <a:ext uri="{FF2B5EF4-FFF2-40B4-BE49-F238E27FC236}">
                <a16:creationId xmlns:a16="http://schemas.microsoft.com/office/drawing/2014/main" id="{7FC90DCE-C4FE-FC3A-240F-DDF51B8D890B}"/>
              </a:ext>
            </a:extLst>
          </p:cNvPr>
          <p:cNvSpPr txBox="1"/>
          <p:nvPr/>
        </p:nvSpPr>
        <p:spPr>
          <a:xfrm>
            <a:off x="1099967" y="4694271"/>
            <a:ext cx="304385" cy="495629"/>
          </a:xfrm>
          <a:prstGeom prst="rect">
            <a:avLst/>
          </a:prstGeom>
          <a:solidFill>
            <a:srgbClr val="F2F2F2"/>
          </a:solidFill>
          <a:ln w="6350">
            <a:noFill/>
            <a:miter lim="800000"/>
          </a:ln>
        </p:spPr>
        <p:txBody>
          <a:bodyPr vert="horz" wrap="square" lIns="0" tIns="0" rIns="0" bIns="0" rtlCol="0" anchor="ctr">
            <a:noAutofit/>
          </a:bodyPr>
          <a:lstStyle/>
          <a:p>
            <a:pPr algn="ctr">
              <a:buNone/>
            </a:pPr>
            <a:r>
              <a:rPr kumimoji="1" lang="zh-CN" altLang="en-US" sz="1000" b="1" dirty="0">
                <a:solidFill>
                  <a:schemeClr val="accent6">
                    <a:lumMod val="10000"/>
                  </a:schemeClr>
                </a:solidFill>
                <a:cs typeface="+mn-ea"/>
                <a:sym typeface="+mn-lt"/>
              </a:rPr>
              <a:t>海外</a:t>
            </a:r>
            <a:endParaRPr kumimoji="1" lang="en-US" altLang="zh-CN" sz="1000" b="1" dirty="0">
              <a:solidFill>
                <a:schemeClr val="accent6">
                  <a:lumMod val="10000"/>
                </a:schemeClr>
              </a:solidFill>
              <a:cs typeface="+mn-ea"/>
              <a:sym typeface="+mn-lt"/>
            </a:endParaRPr>
          </a:p>
        </p:txBody>
      </p:sp>
      <p:sp>
        <p:nvSpPr>
          <p:cNvPr id="5217" name="文本框 5216">
            <a:extLst>
              <a:ext uri="{FF2B5EF4-FFF2-40B4-BE49-F238E27FC236}">
                <a16:creationId xmlns:a16="http://schemas.microsoft.com/office/drawing/2014/main" id="{2854341A-2C5A-968D-657F-F8F71E8F078D}"/>
              </a:ext>
            </a:extLst>
          </p:cNvPr>
          <p:cNvSpPr txBox="1"/>
          <p:nvPr/>
        </p:nvSpPr>
        <p:spPr>
          <a:xfrm>
            <a:off x="1102206" y="5322603"/>
            <a:ext cx="304385" cy="495629"/>
          </a:xfrm>
          <a:prstGeom prst="rect">
            <a:avLst/>
          </a:prstGeom>
          <a:solidFill>
            <a:srgbClr val="F2F2F2"/>
          </a:solidFill>
          <a:ln w="6350">
            <a:noFill/>
            <a:miter lim="800000"/>
          </a:ln>
        </p:spPr>
        <p:txBody>
          <a:bodyPr vert="horz" wrap="square" lIns="0" tIns="0" rIns="0" bIns="0" rtlCol="0" anchor="ctr">
            <a:noAutofit/>
          </a:bodyPr>
          <a:lstStyle/>
          <a:p>
            <a:pPr algn="ctr">
              <a:buNone/>
            </a:pPr>
            <a:r>
              <a:rPr kumimoji="1" lang="zh-CN" altLang="en-US" sz="1000" b="1" dirty="0">
                <a:solidFill>
                  <a:schemeClr val="accent6">
                    <a:lumMod val="10000"/>
                  </a:schemeClr>
                </a:solidFill>
                <a:cs typeface="+mn-ea"/>
                <a:sym typeface="+mn-lt"/>
              </a:rPr>
              <a:t>国内</a:t>
            </a:r>
            <a:endParaRPr kumimoji="1" lang="en-US" altLang="zh-CN" sz="1000" b="1" dirty="0">
              <a:solidFill>
                <a:schemeClr val="accent6">
                  <a:lumMod val="10000"/>
                </a:schemeClr>
              </a:solidFill>
              <a:cs typeface="+mn-ea"/>
              <a:sym typeface="+mn-lt"/>
            </a:endParaRPr>
          </a:p>
        </p:txBody>
      </p:sp>
      <p:sp>
        <p:nvSpPr>
          <p:cNvPr id="5218" name="文本框 5217">
            <a:extLst>
              <a:ext uri="{FF2B5EF4-FFF2-40B4-BE49-F238E27FC236}">
                <a16:creationId xmlns:a16="http://schemas.microsoft.com/office/drawing/2014/main" id="{4C1EB8A8-F3ED-32C3-1B4C-CAC5276F4410}"/>
              </a:ext>
            </a:extLst>
          </p:cNvPr>
          <p:cNvSpPr txBox="1"/>
          <p:nvPr/>
        </p:nvSpPr>
        <p:spPr>
          <a:xfrm>
            <a:off x="1623895" y="5404064"/>
            <a:ext cx="1010262"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7</a:t>
            </a:r>
            <a:r>
              <a:rPr lang="zh-CN" altLang="en-US" dirty="0">
                <a:solidFill>
                  <a:schemeClr val="accent6">
                    <a:lumMod val="10000"/>
                  </a:schemeClr>
                </a:solidFill>
                <a:cs typeface="+mn-ea"/>
                <a:sym typeface="+mn-lt"/>
              </a:rPr>
              <a:t>年</a:t>
            </a:r>
          </a:p>
        </p:txBody>
      </p:sp>
      <p:sp>
        <p:nvSpPr>
          <p:cNvPr id="5219" name="文本框 5218">
            <a:extLst>
              <a:ext uri="{FF2B5EF4-FFF2-40B4-BE49-F238E27FC236}">
                <a16:creationId xmlns:a16="http://schemas.microsoft.com/office/drawing/2014/main" id="{4F9A7E07-DD5E-5903-A969-AC77CC548F8C}"/>
              </a:ext>
            </a:extLst>
          </p:cNvPr>
          <p:cNvSpPr txBox="1"/>
          <p:nvPr/>
        </p:nvSpPr>
        <p:spPr>
          <a:xfrm>
            <a:off x="4297488" y="5404064"/>
            <a:ext cx="1010262"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10</a:t>
            </a:r>
            <a:r>
              <a:rPr lang="zh-CN" altLang="en-US" dirty="0">
                <a:solidFill>
                  <a:schemeClr val="accent6">
                    <a:lumMod val="10000"/>
                  </a:schemeClr>
                </a:solidFill>
                <a:cs typeface="+mn-ea"/>
                <a:sym typeface="+mn-lt"/>
              </a:rPr>
              <a:t>年</a:t>
            </a:r>
          </a:p>
        </p:txBody>
      </p:sp>
      <p:sp>
        <p:nvSpPr>
          <p:cNvPr id="5220" name="文本框 5219">
            <a:extLst>
              <a:ext uri="{FF2B5EF4-FFF2-40B4-BE49-F238E27FC236}">
                <a16:creationId xmlns:a16="http://schemas.microsoft.com/office/drawing/2014/main" id="{B13376BB-EF7B-B812-AE85-BEE99F9CBB28}"/>
              </a:ext>
            </a:extLst>
          </p:cNvPr>
          <p:cNvSpPr txBox="1"/>
          <p:nvPr/>
        </p:nvSpPr>
        <p:spPr>
          <a:xfrm>
            <a:off x="7197165" y="5404064"/>
            <a:ext cx="675137"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7</a:t>
            </a:r>
            <a:r>
              <a:rPr lang="zh-CN" altLang="en-US" dirty="0">
                <a:solidFill>
                  <a:schemeClr val="accent6">
                    <a:lumMod val="10000"/>
                  </a:schemeClr>
                </a:solidFill>
                <a:cs typeface="+mn-ea"/>
                <a:sym typeface="+mn-lt"/>
              </a:rPr>
              <a:t>年</a:t>
            </a:r>
          </a:p>
        </p:txBody>
      </p:sp>
      <p:sp>
        <p:nvSpPr>
          <p:cNvPr id="5221" name="文本框 5220">
            <a:extLst>
              <a:ext uri="{FF2B5EF4-FFF2-40B4-BE49-F238E27FC236}">
                <a16:creationId xmlns:a16="http://schemas.microsoft.com/office/drawing/2014/main" id="{5A3B8B9F-F479-B849-C8F0-3690A588B4B8}"/>
              </a:ext>
            </a:extLst>
          </p:cNvPr>
          <p:cNvSpPr txBox="1"/>
          <p:nvPr/>
        </p:nvSpPr>
        <p:spPr>
          <a:xfrm>
            <a:off x="9436803" y="5404064"/>
            <a:ext cx="675137" cy="369332"/>
          </a:xfrm>
          <a:prstGeom prst="rect">
            <a:avLst/>
          </a:prstGeom>
          <a:noFill/>
        </p:spPr>
        <p:txBody>
          <a:bodyPr wrap="square" rtlCol="0">
            <a:spAutoFit/>
          </a:bodyPr>
          <a:lstStyle/>
          <a:p>
            <a:r>
              <a:rPr lang="en-US" altLang="zh-CN" dirty="0">
                <a:solidFill>
                  <a:schemeClr val="accent6">
                    <a:lumMod val="10000"/>
                  </a:schemeClr>
                </a:solidFill>
                <a:cs typeface="+mn-ea"/>
                <a:sym typeface="+mn-lt"/>
              </a:rPr>
              <a:t>9</a:t>
            </a:r>
            <a:r>
              <a:rPr lang="zh-CN" altLang="en-US" dirty="0">
                <a:solidFill>
                  <a:schemeClr val="accent6">
                    <a:lumMod val="10000"/>
                  </a:schemeClr>
                </a:solidFill>
                <a:cs typeface="+mn-ea"/>
                <a:sym typeface="+mn-lt"/>
              </a:rPr>
              <a:t>年</a:t>
            </a:r>
          </a:p>
        </p:txBody>
      </p:sp>
      <p:sp>
        <p:nvSpPr>
          <p:cNvPr id="5223" name="文本框 5222">
            <a:extLst>
              <a:ext uri="{FF2B5EF4-FFF2-40B4-BE49-F238E27FC236}">
                <a16:creationId xmlns:a16="http://schemas.microsoft.com/office/drawing/2014/main" id="{048C465D-6FDF-37DD-4506-56346696F0CA}"/>
              </a:ext>
            </a:extLst>
          </p:cNvPr>
          <p:cNvSpPr txBox="1"/>
          <p:nvPr/>
        </p:nvSpPr>
        <p:spPr>
          <a:xfrm>
            <a:off x="10739954" y="1790849"/>
            <a:ext cx="1010262" cy="369332"/>
          </a:xfrm>
          <a:prstGeom prst="rect">
            <a:avLst/>
          </a:prstGeom>
          <a:noFill/>
        </p:spPr>
        <p:txBody>
          <a:bodyPr wrap="square" rtlCol="0">
            <a:spAutoFit/>
          </a:bodyPr>
          <a:lstStyle/>
          <a:p>
            <a:pPr algn="ctr"/>
            <a:r>
              <a:rPr lang="en-US" altLang="zh-CN" dirty="0">
                <a:solidFill>
                  <a:schemeClr val="accent6">
                    <a:lumMod val="10000"/>
                  </a:schemeClr>
                </a:solidFill>
                <a:cs typeface="+mn-ea"/>
                <a:sym typeface="+mn-lt"/>
              </a:rPr>
              <a:t>10-20%</a:t>
            </a:r>
            <a:endParaRPr lang="zh-CN" altLang="en-US" dirty="0">
              <a:solidFill>
                <a:schemeClr val="accent6">
                  <a:lumMod val="10000"/>
                </a:schemeClr>
              </a:solidFill>
              <a:cs typeface="+mn-ea"/>
              <a:sym typeface="+mn-lt"/>
            </a:endParaRPr>
          </a:p>
        </p:txBody>
      </p:sp>
      <p:sp>
        <p:nvSpPr>
          <p:cNvPr id="3" name="文本框 2">
            <a:extLst>
              <a:ext uri="{FF2B5EF4-FFF2-40B4-BE49-F238E27FC236}">
                <a16:creationId xmlns:a16="http://schemas.microsoft.com/office/drawing/2014/main" id="{704959A5-F816-2194-2848-EC7D172B3F97}"/>
              </a:ext>
            </a:extLst>
          </p:cNvPr>
          <p:cNvSpPr txBox="1"/>
          <p:nvPr/>
        </p:nvSpPr>
        <p:spPr>
          <a:xfrm>
            <a:off x="3204353" y="940500"/>
            <a:ext cx="937384" cy="461665"/>
          </a:xfrm>
          <a:prstGeom prst="rect">
            <a:avLst/>
          </a:prstGeom>
          <a:noFill/>
        </p:spPr>
        <p:txBody>
          <a:bodyPr wrap="square" rtlCol="0">
            <a:spAutoFit/>
          </a:bodyPr>
          <a:lstStyle>
            <a:defPPr>
              <a:defRPr lang="zh-CN"/>
            </a:defPPr>
            <a:lvl1pPr algn="ctr">
              <a:defRPr sz="1400">
                <a:cs typeface="+mn-ea"/>
              </a:defRPr>
            </a:lvl1pPr>
          </a:lstStyle>
          <a:p>
            <a:r>
              <a:rPr lang="zh-CN" altLang="en-US" sz="1200" dirty="0">
                <a:sym typeface="+mn-lt"/>
              </a:rPr>
              <a:t>硅光芯片</a:t>
            </a:r>
            <a:endParaRPr lang="en-US" altLang="zh-CN" sz="1200" dirty="0">
              <a:sym typeface="+mn-lt"/>
            </a:endParaRPr>
          </a:p>
          <a:p>
            <a:r>
              <a:rPr lang="zh-CN" altLang="en-US" sz="1200" dirty="0">
                <a:sym typeface="+mn-lt"/>
              </a:rPr>
              <a:t>激光器</a:t>
            </a:r>
          </a:p>
        </p:txBody>
      </p:sp>
      <p:pic>
        <p:nvPicPr>
          <p:cNvPr id="14" name="图片 13">
            <a:extLst>
              <a:ext uri="{FF2B5EF4-FFF2-40B4-BE49-F238E27FC236}">
                <a16:creationId xmlns:a16="http://schemas.microsoft.com/office/drawing/2014/main" id="{C68D467E-5C74-C3AB-815D-8BC8491937F3}"/>
              </a:ext>
            </a:extLst>
          </p:cNvPr>
          <p:cNvPicPr>
            <a:picLocks noChangeAspect="1"/>
          </p:cNvPicPr>
          <p:nvPr/>
        </p:nvPicPr>
        <p:blipFill>
          <a:blip r:embed="rId13"/>
          <a:stretch>
            <a:fillRect/>
          </a:stretch>
        </p:blipFill>
        <p:spPr>
          <a:xfrm>
            <a:off x="2395131" y="3692134"/>
            <a:ext cx="908990" cy="187984"/>
          </a:xfrm>
          <a:prstGeom prst="rect">
            <a:avLst/>
          </a:prstGeom>
        </p:spPr>
      </p:pic>
      <p:pic>
        <p:nvPicPr>
          <p:cNvPr id="15" name="图像" descr="图像">
            <a:extLst>
              <a:ext uri="{FF2B5EF4-FFF2-40B4-BE49-F238E27FC236}">
                <a16:creationId xmlns:a16="http://schemas.microsoft.com/office/drawing/2014/main" id="{8B3A05FC-AF82-70BF-5C32-0AAA0CCA50BC}"/>
              </a:ext>
            </a:extLst>
          </p:cNvPr>
          <p:cNvPicPr>
            <a:picLocks noChangeAspect="1"/>
          </p:cNvPicPr>
          <p:nvPr/>
        </p:nvPicPr>
        <p:blipFill>
          <a:blip r:embed="rId10"/>
          <a:stretch>
            <a:fillRect/>
          </a:stretch>
        </p:blipFill>
        <p:spPr>
          <a:xfrm>
            <a:off x="10410975" y="3657191"/>
            <a:ext cx="328979" cy="259071"/>
          </a:xfrm>
          <a:prstGeom prst="rect">
            <a:avLst/>
          </a:prstGeom>
          <a:ln w="12700">
            <a:miter lim="400000"/>
          </a:ln>
        </p:spPr>
      </p:pic>
      <p:sp>
        <p:nvSpPr>
          <p:cNvPr id="20" name="文本框 19">
            <a:extLst>
              <a:ext uri="{FF2B5EF4-FFF2-40B4-BE49-F238E27FC236}">
                <a16:creationId xmlns:a16="http://schemas.microsoft.com/office/drawing/2014/main" id="{9F047EF1-D8D9-A6F9-BD72-1F857DB33227}"/>
              </a:ext>
            </a:extLst>
          </p:cNvPr>
          <p:cNvSpPr txBox="1"/>
          <p:nvPr/>
        </p:nvSpPr>
        <p:spPr>
          <a:xfrm>
            <a:off x="4256848" y="1813622"/>
            <a:ext cx="524985" cy="307975"/>
          </a:xfrm>
          <a:prstGeom prst="rect">
            <a:avLst/>
          </a:prstGeom>
          <a:noFill/>
        </p:spPr>
        <p:txBody>
          <a:bodyPr wrap="square" rtlCol="0" anchor="ctr">
            <a:spAutoFit/>
          </a:bodyPr>
          <a:lstStyle/>
          <a:p>
            <a:r>
              <a:rPr lang="en-US" altLang="zh-CN" sz="1400" dirty="0">
                <a:solidFill>
                  <a:schemeClr val="bg1"/>
                </a:solidFill>
                <a:cs typeface="+mn-ea"/>
                <a:sym typeface="+mn-lt"/>
              </a:rPr>
              <a:t>$bn</a:t>
            </a:r>
            <a:endParaRPr lang="zh-CN" altLang="zh-CN" sz="1400" dirty="0">
              <a:solidFill>
                <a:schemeClr val="bg1"/>
              </a:solidFill>
              <a:cs typeface="+mn-ea"/>
              <a:sym typeface="+mn-lt"/>
            </a:endParaRPr>
          </a:p>
        </p:txBody>
      </p:sp>
      <p:sp>
        <p:nvSpPr>
          <p:cNvPr id="21" name="文本框 20">
            <a:extLst>
              <a:ext uri="{FF2B5EF4-FFF2-40B4-BE49-F238E27FC236}">
                <a16:creationId xmlns:a16="http://schemas.microsoft.com/office/drawing/2014/main" id="{8CF3ECBE-EA4E-4D30-84D4-7394DFD0AED5}"/>
              </a:ext>
            </a:extLst>
          </p:cNvPr>
          <p:cNvSpPr txBox="1"/>
          <p:nvPr/>
        </p:nvSpPr>
        <p:spPr>
          <a:xfrm>
            <a:off x="7216681" y="1771981"/>
            <a:ext cx="524985" cy="307975"/>
          </a:xfrm>
          <a:prstGeom prst="rect">
            <a:avLst/>
          </a:prstGeom>
          <a:noFill/>
        </p:spPr>
        <p:txBody>
          <a:bodyPr wrap="square" rtlCol="0" anchor="ctr">
            <a:spAutoFit/>
          </a:bodyPr>
          <a:lstStyle/>
          <a:p>
            <a:r>
              <a:rPr lang="en-US" altLang="zh-CN" sz="1400" dirty="0">
                <a:solidFill>
                  <a:schemeClr val="bg1"/>
                </a:solidFill>
                <a:cs typeface="+mn-ea"/>
                <a:sym typeface="+mn-lt"/>
              </a:rPr>
              <a:t>$bn</a:t>
            </a:r>
            <a:endParaRPr lang="zh-CN" altLang="zh-CN" sz="1400" dirty="0">
              <a:solidFill>
                <a:schemeClr val="bg1"/>
              </a:solidFill>
              <a:cs typeface="+mn-ea"/>
              <a:sym typeface="+mn-lt"/>
            </a:endParaRPr>
          </a:p>
        </p:txBody>
      </p:sp>
      <p:sp>
        <p:nvSpPr>
          <p:cNvPr id="23" name="文本框 22">
            <a:extLst>
              <a:ext uri="{FF2B5EF4-FFF2-40B4-BE49-F238E27FC236}">
                <a16:creationId xmlns:a16="http://schemas.microsoft.com/office/drawing/2014/main" id="{FB156EE3-3C3D-60AE-3973-8B24592D8337}"/>
              </a:ext>
            </a:extLst>
          </p:cNvPr>
          <p:cNvSpPr txBox="1"/>
          <p:nvPr/>
        </p:nvSpPr>
        <p:spPr>
          <a:xfrm>
            <a:off x="9470503" y="1807660"/>
            <a:ext cx="524985" cy="307975"/>
          </a:xfrm>
          <a:prstGeom prst="rect">
            <a:avLst/>
          </a:prstGeom>
          <a:noFill/>
        </p:spPr>
        <p:txBody>
          <a:bodyPr wrap="square" rtlCol="0" anchor="ctr">
            <a:spAutoFit/>
          </a:bodyPr>
          <a:lstStyle/>
          <a:p>
            <a:r>
              <a:rPr lang="en-US" altLang="zh-CN" sz="1400" dirty="0">
                <a:solidFill>
                  <a:schemeClr val="bg1"/>
                </a:solidFill>
                <a:cs typeface="+mn-ea"/>
                <a:sym typeface="+mn-lt"/>
              </a:rPr>
              <a:t>$bn</a:t>
            </a:r>
            <a:endParaRPr lang="zh-CN" altLang="zh-CN" sz="1400" dirty="0">
              <a:solidFill>
                <a:schemeClr val="bg1"/>
              </a:solidFill>
              <a:cs typeface="+mn-ea"/>
              <a:sym typeface="+mn-lt"/>
            </a:endParaRPr>
          </a:p>
        </p:txBody>
      </p:sp>
      <p:cxnSp>
        <p:nvCxnSpPr>
          <p:cNvPr id="6" name="直线连接符 34">
            <a:extLst>
              <a:ext uri="{FF2B5EF4-FFF2-40B4-BE49-F238E27FC236}">
                <a16:creationId xmlns:a16="http://schemas.microsoft.com/office/drawing/2014/main" id="{71C98877-E60A-93EC-4C5B-096C76048230}"/>
              </a:ext>
            </a:extLst>
          </p:cNvPr>
          <p:cNvCxnSpPr>
            <a:cxnSpLocks/>
          </p:cNvCxnSpPr>
          <p:nvPr/>
        </p:nvCxnSpPr>
        <p:spPr>
          <a:xfrm>
            <a:off x="619563" y="4435679"/>
            <a:ext cx="11064210" cy="0"/>
          </a:xfrm>
          <a:prstGeom prst="line">
            <a:avLst/>
          </a:prstGeom>
          <a:ln w="1270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直线连接符 34">
            <a:extLst>
              <a:ext uri="{FF2B5EF4-FFF2-40B4-BE49-F238E27FC236}">
                <a16:creationId xmlns:a16="http://schemas.microsoft.com/office/drawing/2014/main" id="{FE92C49E-EE4F-675E-26ED-56778596F422}"/>
              </a:ext>
            </a:extLst>
          </p:cNvPr>
          <p:cNvCxnSpPr>
            <a:cxnSpLocks/>
          </p:cNvCxnSpPr>
          <p:nvPr/>
        </p:nvCxnSpPr>
        <p:spPr>
          <a:xfrm>
            <a:off x="619563" y="3236799"/>
            <a:ext cx="11064210" cy="0"/>
          </a:xfrm>
          <a:prstGeom prst="line">
            <a:avLst/>
          </a:prstGeom>
          <a:ln w="1270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3811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DDFF0-F7C8-9E27-214B-D437ABCC9EB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8ADF293-6EC6-5BA6-23C9-9E4E91F46F45}"/>
              </a:ext>
            </a:extLst>
          </p:cNvPr>
          <p:cNvGraphicFramePr>
            <a:graphicFrameLocks noChangeAspect="1"/>
          </p:cNvGraphicFramePr>
          <p:nvPr>
            <p:custDataLst>
              <p:tags r:id="rId1"/>
            </p:custDataLst>
            <p:extLst>
              <p:ext uri="{D42A27DB-BD31-4B8C-83A1-F6EECF244321}">
                <p14:modId xmlns:p14="http://schemas.microsoft.com/office/powerpoint/2010/main" val="10796850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 imgW="404" imgH="405" progId="TCLayout.ActiveDocument.1">
                  <p:embed/>
                </p:oleObj>
              </mc:Choice>
              <mc:Fallback>
                <p:oleObj name="think-cell 幻灯片" r:id="rId3" imgW="404" imgH="405" progId="TCLayout.ActiveDocument.1">
                  <p:embed/>
                  <p:pic>
                    <p:nvPicPr>
                      <p:cNvPr id="5" name="think-cell data - do not delete" hidden="1">
                        <a:extLst>
                          <a:ext uri="{FF2B5EF4-FFF2-40B4-BE49-F238E27FC236}">
                            <a16:creationId xmlns:a16="http://schemas.microsoft.com/office/drawing/2014/main" id="{89A1FEA3-C30C-92F6-5C30-9DC3EE72F61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56" name="矩形 1055">
            <a:extLst>
              <a:ext uri="{FF2B5EF4-FFF2-40B4-BE49-F238E27FC236}">
                <a16:creationId xmlns:a16="http://schemas.microsoft.com/office/drawing/2014/main" id="{4C8FB550-1C19-3DCB-B4E1-B21A9AC6CDFE}"/>
              </a:ext>
            </a:extLst>
          </p:cNvPr>
          <p:cNvSpPr/>
          <p:nvPr/>
        </p:nvSpPr>
        <p:spPr>
          <a:xfrm>
            <a:off x="10356626" y="1535713"/>
            <a:ext cx="1275333" cy="4570557"/>
          </a:xfrm>
          <a:prstGeom prst="rect">
            <a:avLst/>
          </a:prstGeom>
          <a:solidFill>
            <a:srgbClr val="F2F2F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5" name="矩形 1054">
            <a:extLst>
              <a:ext uri="{FF2B5EF4-FFF2-40B4-BE49-F238E27FC236}">
                <a16:creationId xmlns:a16="http://schemas.microsoft.com/office/drawing/2014/main" id="{23418B93-81CA-529D-1AD8-064CFFE67AD3}"/>
              </a:ext>
            </a:extLst>
          </p:cNvPr>
          <p:cNvSpPr/>
          <p:nvPr/>
        </p:nvSpPr>
        <p:spPr>
          <a:xfrm>
            <a:off x="3881964" y="1542626"/>
            <a:ext cx="2737971" cy="4568613"/>
          </a:xfrm>
          <a:prstGeom prst="rect">
            <a:avLst/>
          </a:prstGeom>
          <a:solidFill>
            <a:srgbClr val="F2F2F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3" name="矩形 1052">
            <a:extLst>
              <a:ext uri="{FF2B5EF4-FFF2-40B4-BE49-F238E27FC236}">
                <a16:creationId xmlns:a16="http://schemas.microsoft.com/office/drawing/2014/main" id="{EEDC9E63-A23D-1CE0-3475-8D2A04A20963}"/>
              </a:ext>
            </a:extLst>
          </p:cNvPr>
          <p:cNvSpPr/>
          <p:nvPr/>
        </p:nvSpPr>
        <p:spPr>
          <a:xfrm>
            <a:off x="8982609" y="1540682"/>
            <a:ext cx="1275333" cy="4570557"/>
          </a:xfrm>
          <a:prstGeom prst="rect">
            <a:avLst/>
          </a:prstGeom>
          <a:solidFill>
            <a:srgbClr val="F2F2F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2" name="矩形 1051">
            <a:extLst>
              <a:ext uri="{FF2B5EF4-FFF2-40B4-BE49-F238E27FC236}">
                <a16:creationId xmlns:a16="http://schemas.microsoft.com/office/drawing/2014/main" id="{4D4079FF-1999-B620-4F01-0A9914FD2AF3}"/>
              </a:ext>
            </a:extLst>
          </p:cNvPr>
          <p:cNvSpPr/>
          <p:nvPr/>
        </p:nvSpPr>
        <p:spPr>
          <a:xfrm>
            <a:off x="6812886" y="1535713"/>
            <a:ext cx="2047421" cy="4570557"/>
          </a:xfrm>
          <a:prstGeom prst="rect">
            <a:avLst/>
          </a:prstGeom>
          <a:solidFill>
            <a:srgbClr val="F2F2F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1" name="矩形 1030">
            <a:extLst>
              <a:ext uri="{FF2B5EF4-FFF2-40B4-BE49-F238E27FC236}">
                <a16:creationId xmlns:a16="http://schemas.microsoft.com/office/drawing/2014/main" id="{71E9DB98-A58D-A30D-7E97-8B801B08211A}"/>
              </a:ext>
            </a:extLst>
          </p:cNvPr>
          <p:cNvSpPr/>
          <p:nvPr/>
        </p:nvSpPr>
        <p:spPr>
          <a:xfrm>
            <a:off x="1287603" y="1542626"/>
            <a:ext cx="1473910" cy="4568613"/>
          </a:xfrm>
          <a:prstGeom prst="rect">
            <a:avLst/>
          </a:prstGeom>
          <a:solidFill>
            <a:srgbClr val="F2F2F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9" name="矩形 1028">
            <a:extLst>
              <a:ext uri="{FF2B5EF4-FFF2-40B4-BE49-F238E27FC236}">
                <a16:creationId xmlns:a16="http://schemas.microsoft.com/office/drawing/2014/main" id="{59C60A5F-137A-2F69-C181-5A971163C153}"/>
              </a:ext>
            </a:extLst>
          </p:cNvPr>
          <p:cNvSpPr/>
          <p:nvPr/>
        </p:nvSpPr>
        <p:spPr>
          <a:xfrm>
            <a:off x="2863244" y="1533640"/>
            <a:ext cx="900725" cy="4577599"/>
          </a:xfrm>
          <a:prstGeom prst="rect">
            <a:avLst/>
          </a:prstGeom>
          <a:solidFill>
            <a:srgbClr val="F2F2F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38" name="矩形 5137">
            <a:extLst>
              <a:ext uri="{FF2B5EF4-FFF2-40B4-BE49-F238E27FC236}">
                <a16:creationId xmlns:a16="http://schemas.microsoft.com/office/drawing/2014/main" id="{B3220F4E-558A-2887-8137-968564B4FC68}"/>
              </a:ext>
            </a:extLst>
          </p:cNvPr>
          <p:cNvSpPr/>
          <p:nvPr/>
        </p:nvSpPr>
        <p:spPr>
          <a:xfrm>
            <a:off x="1300162" y="1756796"/>
            <a:ext cx="8402638" cy="827356"/>
          </a:xfrm>
          <a:prstGeom prst="rect">
            <a:avLst/>
          </a:prstGeom>
          <a:solidFill>
            <a:srgbClr val="ECF6FF">
              <a:alpha val="75000"/>
            </a:srgbClr>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E55B6B8E-B98F-0CB7-E285-D8CC98B8C0C3}"/>
              </a:ext>
            </a:extLst>
          </p:cNvPr>
          <p:cNvSpPr>
            <a:spLocks noGrp="1"/>
          </p:cNvSpPr>
          <p:nvPr>
            <p:ph type="title"/>
          </p:nvPr>
        </p:nvSpPr>
        <p:spPr/>
        <p:txBody>
          <a:bodyPr vert="horz"/>
          <a:lstStyle/>
          <a:p>
            <a:r>
              <a:rPr lang="zh-CN" altLang="en-US" dirty="0">
                <a:latin typeface="+mn-lt"/>
                <a:ea typeface="+mn-ea"/>
                <a:cs typeface="+mn-ea"/>
                <a:sym typeface="+mn-lt"/>
              </a:rPr>
              <a:t>产业链：</a:t>
            </a:r>
            <a:r>
              <a:rPr lang="zh-CN" altLang="en-US" dirty="0">
                <a:cs typeface="+mn-ea"/>
                <a:sym typeface="+mn-lt"/>
              </a:rPr>
              <a:t>关注以</a:t>
            </a:r>
            <a:r>
              <a:rPr lang="en-US" altLang="zh-CN" dirty="0">
                <a:cs typeface="+mn-ea"/>
                <a:sym typeface="+mn-lt"/>
              </a:rPr>
              <a:t>Broadcom</a:t>
            </a:r>
            <a:r>
              <a:rPr lang="zh-CN" altLang="en-US" dirty="0">
                <a:cs typeface="+mn-ea"/>
                <a:sym typeface="+mn-lt"/>
              </a:rPr>
              <a:t>为首的</a:t>
            </a:r>
            <a:r>
              <a:rPr lang="zh-CN" altLang="en-US" dirty="0">
                <a:latin typeface="+mn-lt"/>
                <a:ea typeface="+mn-ea"/>
                <a:cs typeface="+mn-ea"/>
                <a:sym typeface="+mn-lt"/>
              </a:rPr>
              <a:t>全能巨头和国产卡位初创</a:t>
            </a:r>
            <a:r>
              <a:rPr lang="en-US" altLang="zh-CN" dirty="0" err="1">
                <a:latin typeface="+mn-lt"/>
                <a:ea typeface="+mn-ea"/>
                <a:cs typeface="+mn-ea"/>
                <a:sym typeface="+mn-lt"/>
              </a:rPr>
              <a:t>ficonTEC</a:t>
            </a:r>
            <a:endParaRPr lang="zh-CN" altLang="en-US" dirty="0">
              <a:latin typeface="+mn-lt"/>
              <a:ea typeface="+mn-ea"/>
              <a:cs typeface="+mn-ea"/>
              <a:sym typeface="+mn-lt"/>
            </a:endParaRPr>
          </a:p>
        </p:txBody>
      </p:sp>
      <p:sp>
        <p:nvSpPr>
          <p:cNvPr id="23" name="文本框 22">
            <a:extLst>
              <a:ext uri="{FF2B5EF4-FFF2-40B4-BE49-F238E27FC236}">
                <a16:creationId xmlns:a16="http://schemas.microsoft.com/office/drawing/2014/main" id="{73633B61-9F7A-FA01-CA45-A2C8FE91DC4C}"/>
              </a:ext>
            </a:extLst>
          </p:cNvPr>
          <p:cNvSpPr txBox="1"/>
          <p:nvPr/>
        </p:nvSpPr>
        <p:spPr>
          <a:xfrm>
            <a:off x="439930" y="1540682"/>
            <a:ext cx="662344" cy="1755729"/>
          </a:xfrm>
          <a:prstGeom prst="rect">
            <a:avLst/>
          </a:prstGeom>
          <a:solidFill>
            <a:srgbClr val="DDE3F1"/>
          </a:solidFill>
          <a:ln w="6350">
            <a:noFill/>
            <a:miter lim="800000"/>
          </a:ln>
        </p:spPr>
        <p:txBody>
          <a:bodyPr vert="horz" wrap="square" lIns="0" tIns="0" rIns="0" bIns="0" rtlCol="0" anchor="ctr">
            <a:noAutofit/>
          </a:bodyPr>
          <a:lstStyle/>
          <a:p>
            <a:pPr algn="ctr">
              <a:buNone/>
            </a:pPr>
            <a:r>
              <a:rPr kumimoji="1" lang="zh-CN" altLang="en-US" sz="1400" b="1" dirty="0">
                <a:solidFill>
                  <a:schemeClr val="accent6">
                    <a:lumMod val="10000"/>
                  </a:schemeClr>
                </a:solidFill>
                <a:cs typeface="+mn-ea"/>
                <a:sym typeface="+mn-lt"/>
              </a:rPr>
              <a:t>全球</a:t>
            </a:r>
            <a:endParaRPr kumimoji="1" lang="en-US" altLang="zh-CN" sz="1400" b="1" dirty="0">
              <a:solidFill>
                <a:schemeClr val="accent6">
                  <a:lumMod val="10000"/>
                </a:schemeClr>
              </a:solidFill>
              <a:cs typeface="+mn-ea"/>
              <a:sym typeface="+mn-lt"/>
            </a:endParaRPr>
          </a:p>
          <a:p>
            <a:pPr algn="ctr">
              <a:buNone/>
            </a:pPr>
            <a:r>
              <a:rPr kumimoji="1" lang="zh-CN" altLang="en-US" sz="1400" b="1" dirty="0">
                <a:solidFill>
                  <a:schemeClr val="accent6">
                    <a:lumMod val="10000"/>
                  </a:schemeClr>
                </a:solidFill>
                <a:cs typeface="+mn-ea"/>
                <a:sym typeface="+mn-lt"/>
              </a:rPr>
              <a:t>头部</a:t>
            </a:r>
            <a:endParaRPr kumimoji="1" lang="en-US" altLang="zh-CN" sz="1400" b="1" dirty="0">
              <a:solidFill>
                <a:schemeClr val="accent6">
                  <a:lumMod val="10000"/>
                </a:schemeClr>
              </a:solidFill>
              <a:cs typeface="+mn-ea"/>
              <a:sym typeface="+mn-lt"/>
            </a:endParaRPr>
          </a:p>
          <a:p>
            <a:pPr algn="ctr">
              <a:buNone/>
            </a:pPr>
            <a:r>
              <a:rPr kumimoji="1" lang="zh-CN" altLang="en-US" sz="1400" b="1" dirty="0">
                <a:solidFill>
                  <a:schemeClr val="accent6">
                    <a:lumMod val="10000"/>
                  </a:schemeClr>
                </a:solidFill>
                <a:cs typeface="+mn-ea"/>
                <a:sym typeface="+mn-lt"/>
              </a:rPr>
              <a:t>厂商</a:t>
            </a:r>
          </a:p>
        </p:txBody>
      </p:sp>
      <p:sp>
        <p:nvSpPr>
          <p:cNvPr id="24" name="文本框 23">
            <a:extLst>
              <a:ext uri="{FF2B5EF4-FFF2-40B4-BE49-F238E27FC236}">
                <a16:creationId xmlns:a16="http://schemas.microsoft.com/office/drawing/2014/main" id="{8D0C3DBA-F3A8-C9CF-7DF3-3548CDAF996A}"/>
              </a:ext>
            </a:extLst>
          </p:cNvPr>
          <p:cNvSpPr txBox="1"/>
          <p:nvPr/>
        </p:nvSpPr>
        <p:spPr>
          <a:xfrm>
            <a:off x="439928" y="3645496"/>
            <a:ext cx="662345" cy="715940"/>
          </a:xfrm>
          <a:prstGeom prst="rect">
            <a:avLst/>
          </a:prstGeom>
          <a:solidFill>
            <a:srgbClr val="DDE3F1"/>
          </a:solidFill>
          <a:ln w="6350">
            <a:noFill/>
            <a:miter lim="800000"/>
          </a:ln>
        </p:spPr>
        <p:txBody>
          <a:bodyPr vert="horz" wrap="square" lIns="0" tIns="0" rIns="0" bIns="0" rtlCol="0" anchor="ctr">
            <a:noAutofit/>
          </a:bodyPr>
          <a:lstStyle/>
          <a:p>
            <a:pPr algn="ctr">
              <a:buNone/>
            </a:pPr>
            <a:r>
              <a:rPr kumimoji="1" lang="zh-CN" altLang="en-US" sz="1400" b="1" dirty="0">
                <a:solidFill>
                  <a:schemeClr val="accent6">
                    <a:lumMod val="10000"/>
                  </a:schemeClr>
                </a:solidFill>
                <a:cs typeface="+mn-ea"/>
                <a:sym typeface="+mn-lt"/>
              </a:rPr>
              <a:t>全球</a:t>
            </a:r>
            <a:endParaRPr kumimoji="1" lang="en-US" altLang="zh-CN" sz="1400" b="1" dirty="0">
              <a:solidFill>
                <a:schemeClr val="accent6">
                  <a:lumMod val="10000"/>
                </a:schemeClr>
              </a:solidFill>
              <a:cs typeface="+mn-ea"/>
              <a:sym typeface="+mn-lt"/>
            </a:endParaRPr>
          </a:p>
          <a:p>
            <a:pPr algn="ctr">
              <a:buNone/>
            </a:pPr>
            <a:r>
              <a:rPr kumimoji="1" lang="zh-CN" altLang="en-US" sz="1400" b="1" dirty="0">
                <a:solidFill>
                  <a:schemeClr val="accent6">
                    <a:lumMod val="10000"/>
                  </a:schemeClr>
                </a:solidFill>
                <a:cs typeface="+mn-ea"/>
                <a:sym typeface="+mn-lt"/>
              </a:rPr>
              <a:t>核心</a:t>
            </a:r>
            <a:endParaRPr kumimoji="1" lang="en-US" altLang="zh-CN" sz="1400" b="1" dirty="0">
              <a:solidFill>
                <a:schemeClr val="accent6">
                  <a:lumMod val="10000"/>
                </a:schemeClr>
              </a:solidFill>
              <a:cs typeface="+mn-ea"/>
              <a:sym typeface="+mn-lt"/>
            </a:endParaRPr>
          </a:p>
          <a:p>
            <a:pPr algn="ctr">
              <a:buNone/>
            </a:pPr>
            <a:r>
              <a:rPr kumimoji="1" lang="zh-CN" altLang="en-US" sz="1400" b="1" dirty="0">
                <a:solidFill>
                  <a:schemeClr val="accent6">
                    <a:lumMod val="10000"/>
                  </a:schemeClr>
                </a:solidFill>
                <a:cs typeface="+mn-ea"/>
                <a:sym typeface="+mn-lt"/>
              </a:rPr>
              <a:t>初创</a:t>
            </a:r>
          </a:p>
        </p:txBody>
      </p:sp>
      <p:sp>
        <p:nvSpPr>
          <p:cNvPr id="54" name="文本框 53">
            <a:extLst>
              <a:ext uri="{FF2B5EF4-FFF2-40B4-BE49-F238E27FC236}">
                <a16:creationId xmlns:a16="http://schemas.microsoft.com/office/drawing/2014/main" id="{52BCBFF5-56E2-884F-F38F-5785B226FA3E}"/>
              </a:ext>
            </a:extLst>
          </p:cNvPr>
          <p:cNvSpPr txBox="1"/>
          <p:nvPr/>
        </p:nvSpPr>
        <p:spPr>
          <a:xfrm>
            <a:off x="346799" y="6550046"/>
            <a:ext cx="7859218" cy="422275"/>
          </a:xfrm>
          <a:prstGeom prst="rect">
            <a:avLst/>
          </a:prstGeom>
          <a:ln w="6350">
            <a:noFill/>
            <a:miter lim="800000"/>
          </a:ln>
        </p:spPr>
        <p:txBody>
          <a:bodyPr vert="horz" wrap="square" lIns="0" tIns="0" rIns="0" bIns="0" rtlCol="0">
            <a:noAutofit/>
          </a:bodyPr>
          <a:lstStyle/>
          <a:p>
            <a:pPr>
              <a:spcBef>
                <a:spcPts val="100"/>
              </a:spcBef>
            </a:pPr>
            <a:r>
              <a:rPr kumimoji="1" lang="en-US" altLang="zh-CN" sz="1200" i="1" dirty="0">
                <a:solidFill>
                  <a:schemeClr val="tx1">
                    <a:lumMod val="50000"/>
                  </a:schemeClr>
                </a:solidFill>
                <a:cs typeface="+mn-ea"/>
                <a:sym typeface="+mn-lt"/>
              </a:rPr>
              <a:t>Source: Yole</a:t>
            </a:r>
            <a:endParaRPr kumimoji="1" lang="zh-CN" altLang="en-US" sz="1200" i="1" dirty="0">
              <a:solidFill>
                <a:schemeClr val="tx1">
                  <a:lumMod val="50000"/>
                </a:schemeClr>
              </a:solidFill>
              <a:cs typeface="+mn-ea"/>
              <a:sym typeface="+mn-lt"/>
            </a:endParaRPr>
          </a:p>
        </p:txBody>
      </p:sp>
      <p:sp>
        <p:nvSpPr>
          <p:cNvPr id="58" name="文本框 57">
            <a:extLst>
              <a:ext uri="{FF2B5EF4-FFF2-40B4-BE49-F238E27FC236}">
                <a16:creationId xmlns:a16="http://schemas.microsoft.com/office/drawing/2014/main" id="{AB8D6010-ED28-F7F5-7C53-58AFEF64E76D}"/>
              </a:ext>
            </a:extLst>
          </p:cNvPr>
          <p:cNvSpPr txBox="1"/>
          <p:nvPr/>
        </p:nvSpPr>
        <p:spPr>
          <a:xfrm>
            <a:off x="439928" y="4749037"/>
            <a:ext cx="662344" cy="1362203"/>
          </a:xfrm>
          <a:prstGeom prst="rect">
            <a:avLst/>
          </a:prstGeom>
          <a:solidFill>
            <a:srgbClr val="DDE3F1"/>
          </a:solidFill>
          <a:ln w="6350">
            <a:noFill/>
            <a:miter lim="800000"/>
          </a:ln>
        </p:spPr>
        <p:txBody>
          <a:bodyPr vert="horz" wrap="square" lIns="0" tIns="0" rIns="0" bIns="0" rtlCol="0" anchor="ctr">
            <a:noAutofit/>
          </a:bodyPr>
          <a:lstStyle/>
          <a:p>
            <a:pPr algn="ctr">
              <a:buNone/>
            </a:pPr>
            <a:r>
              <a:rPr kumimoji="1" lang="zh-CN" altLang="en-US" sz="1400" b="1" dirty="0">
                <a:solidFill>
                  <a:schemeClr val="accent6">
                    <a:lumMod val="10000"/>
                  </a:schemeClr>
                </a:solidFill>
                <a:cs typeface="+mn-ea"/>
                <a:sym typeface="+mn-lt"/>
              </a:rPr>
              <a:t>国内</a:t>
            </a:r>
            <a:endParaRPr kumimoji="1" lang="en-US" altLang="zh-CN" sz="1400" b="1" dirty="0">
              <a:solidFill>
                <a:schemeClr val="accent6">
                  <a:lumMod val="10000"/>
                </a:schemeClr>
              </a:solidFill>
              <a:cs typeface="+mn-ea"/>
              <a:sym typeface="+mn-lt"/>
            </a:endParaRPr>
          </a:p>
          <a:p>
            <a:pPr algn="ctr">
              <a:buNone/>
            </a:pPr>
            <a:r>
              <a:rPr kumimoji="1" lang="zh-CN" altLang="en-US" sz="1400" b="1" dirty="0">
                <a:solidFill>
                  <a:schemeClr val="accent6">
                    <a:lumMod val="10000"/>
                  </a:schemeClr>
                </a:solidFill>
                <a:cs typeface="+mn-ea"/>
                <a:sym typeface="+mn-lt"/>
              </a:rPr>
              <a:t>核心</a:t>
            </a:r>
            <a:endParaRPr kumimoji="1" lang="en-US" altLang="zh-CN" sz="1400" b="1" dirty="0">
              <a:solidFill>
                <a:schemeClr val="accent6">
                  <a:lumMod val="10000"/>
                </a:schemeClr>
              </a:solidFill>
              <a:cs typeface="+mn-ea"/>
              <a:sym typeface="+mn-lt"/>
            </a:endParaRPr>
          </a:p>
          <a:p>
            <a:pPr algn="ctr">
              <a:buNone/>
            </a:pPr>
            <a:r>
              <a:rPr kumimoji="1" lang="zh-CN" altLang="en-US" sz="1400" b="1" dirty="0">
                <a:solidFill>
                  <a:schemeClr val="accent6">
                    <a:lumMod val="10000"/>
                  </a:schemeClr>
                </a:solidFill>
                <a:cs typeface="+mn-ea"/>
                <a:sym typeface="+mn-lt"/>
              </a:rPr>
              <a:t>初创</a:t>
            </a:r>
          </a:p>
        </p:txBody>
      </p:sp>
      <p:sp>
        <p:nvSpPr>
          <p:cNvPr id="60" name="Rectangle 8">
            <a:extLst>
              <a:ext uri="{FF2B5EF4-FFF2-40B4-BE49-F238E27FC236}">
                <a16:creationId xmlns:a16="http://schemas.microsoft.com/office/drawing/2014/main" id="{6D4738FA-150A-F754-08BE-C0A195135B01}"/>
              </a:ext>
            </a:extLst>
          </p:cNvPr>
          <p:cNvSpPr>
            <a:spLocks noChangeArrowheads="1"/>
          </p:cNvSpPr>
          <p:nvPr/>
        </p:nvSpPr>
        <p:spPr bwMode="auto">
          <a:xfrm>
            <a:off x="3814174" y="5487486"/>
            <a:ext cx="219075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0000"/>
                </a:solidFill>
                <a:effectLst/>
                <a:cs typeface="+mn-ea"/>
                <a:sym typeface="+mn-lt"/>
              </a:rPr>
              <a:t>出样</a:t>
            </a:r>
            <a:r>
              <a:rPr lang="zh-CN" altLang="en-US" sz="1000" dirty="0">
                <a:solidFill>
                  <a:srgbClr val="000000"/>
                </a:solidFill>
                <a:cs typeface="+mn-ea"/>
                <a:sym typeface="+mn-lt"/>
              </a:rPr>
              <a:t>阶段</a:t>
            </a:r>
            <a:r>
              <a:rPr kumimoji="0" lang="zh-CN" altLang="zh-CN" sz="1000" b="0" i="0" u="none" strike="noStrike" cap="none" normalizeH="0" baseline="0" dirty="0">
                <a:ln>
                  <a:noFill/>
                </a:ln>
                <a:solidFill>
                  <a:srgbClr val="000000"/>
                </a:solidFill>
                <a:effectLst/>
                <a:cs typeface="+mn-ea"/>
                <a:sym typeface="+mn-lt"/>
              </a:rPr>
              <a:t>，需场景批量落地</a:t>
            </a:r>
            <a:endParaRPr kumimoji="0" lang="zh-CN" altLang="zh-CN" sz="1000" b="0" i="0" u="none" strike="noStrike" cap="none" normalizeH="0" baseline="0" dirty="0">
              <a:ln>
                <a:noFill/>
              </a:ln>
              <a:solidFill>
                <a:schemeClr val="tx1"/>
              </a:solidFill>
              <a:effectLst/>
              <a:cs typeface="+mn-ea"/>
              <a:sym typeface="+mn-lt"/>
            </a:endParaRPr>
          </a:p>
        </p:txBody>
      </p:sp>
      <p:sp>
        <p:nvSpPr>
          <p:cNvPr id="18" name="箭头: 五边形 17">
            <a:extLst>
              <a:ext uri="{FF2B5EF4-FFF2-40B4-BE49-F238E27FC236}">
                <a16:creationId xmlns:a16="http://schemas.microsoft.com/office/drawing/2014/main" id="{BF5D8514-88DE-8875-8720-1E35B820C10E}"/>
              </a:ext>
            </a:extLst>
          </p:cNvPr>
          <p:cNvSpPr/>
          <p:nvPr/>
        </p:nvSpPr>
        <p:spPr>
          <a:xfrm>
            <a:off x="1300162" y="944619"/>
            <a:ext cx="2478887" cy="513636"/>
          </a:xfrm>
          <a:prstGeom prst="homePlate">
            <a:avLst/>
          </a:prstGeom>
          <a:solidFill>
            <a:srgbClr val="DD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accent6">
                    <a:lumMod val="10000"/>
                  </a:schemeClr>
                </a:solidFill>
                <a:cs typeface="+mn-ea"/>
                <a:sym typeface="+mn-lt"/>
              </a:rPr>
              <a:t>光信号中枢</a:t>
            </a:r>
          </a:p>
        </p:txBody>
      </p:sp>
      <p:sp>
        <p:nvSpPr>
          <p:cNvPr id="43" name="箭头: V 形 42">
            <a:extLst>
              <a:ext uri="{FF2B5EF4-FFF2-40B4-BE49-F238E27FC236}">
                <a16:creationId xmlns:a16="http://schemas.microsoft.com/office/drawing/2014/main" id="{9A0CB865-4CCB-6AB5-BC0F-3C83F411133F}"/>
              </a:ext>
            </a:extLst>
          </p:cNvPr>
          <p:cNvSpPr/>
          <p:nvPr/>
        </p:nvSpPr>
        <p:spPr>
          <a:xfrm>
            <a:off x="3843258" y="949091"/>
            <a:ext cx="2865219" cy="504692"/>
          </a:xfrm>
          <a:prstGeom prst="chevron">
            <a:avLst/>
          </a:prstGeom>
          <a:solidFill>
            <a:srgbClr val="DD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accent6">
                    <a:lumMod val="10000"/>
                  </a:schemeClr>
                </a:solidFill>
                <a:cs typeface="+mn-ea"/>
                <a:sym typeface="+mn-lt"/>
              </a:rPr>
              <a:t>电信号中枢</a:t>
            </a:r>
          </a:p>
        </p:txBody>
      </p:sp>
      <p:sp>
        <p:nvSpPr>
          <p:cNvPr id="44" name="文本框 43">
            <a:extLst>
              <a:ext uri="{FF2B5EF4-FFF2-40B4-BE49-F238E27FC236}">
                <a16:creationId xmlns:a16="http://schemas.microsoft.com/office/drawing/2014/main" id="{317CD2B7-D3B4-1340-DE1B-B7D4F4D03461}"/>
              </a:ext>
            </a:extLst>
          </p:cNvPr>
          <p:cNvSpPr txBox="1"/>
          <p:nvPr/>
        </p:nvSpPr>
        <p:spPr>
          <a:xfrm>
            <a:off x="5706288" y="986134"/>
            <a:ext cx="1002189" cy="461665"/>
          </a:xfrm>
          <a:prstGeom prst="rect">
            <a:avLst/>
          </a:prstGeom>
          <a:noFill/>
        </p:spPr>
        <p:txBody>
          <a:bodyPr wrap="square" rtlCol="0">
            <a:spAutoFit/>
          </a:bodyPr>
          <a:lstStyle/>
          <a:p>
            <a:pPr algn="ctr"/>
            <a:r>
              <a:rPr lang="en-US" altLang="zh-CN" sz="1200" dirty="0">
                <a:cs typeface="+mn-ea"/>
                <a:sym typeface="+mn-lt"/>
              </a:rPr>
              <a:t>EIC</a:t>
            </a:r>
          </a:p>
          <a:p>
            <a:pPr algn="ctr"/>
            <a:r>
              <a:rPr lang="zh-CN" altLang="en-US" sz="1200" dirty="0">
                <a:cs typeface="+mn-ea"/>
                <a:sym typeface="+mn-lt"/>
              </a:rPr>
              <a:t>电芯片</a:t>
            </a:r>
          </a:p>
        </p:txBody>
      </p:sp>
      <p:sp>
        <p:nvSpPr>
          <p:cNvPr id="45" name="箭头: V 形 44">
            <a:extLst>
              <a:ext uri="{FF2B5EF4-FFF2-40B4-BE49-F238E27FC236}">
                <a16:creationId xmlns:a16="http://schemas.microsoft.com/office/drawing/2014/main" id="{68CE7CDA-C8D2-91B2-D2B4-D02209CE47E4}"/>
              </a:ext>
            </a:extLst>
          </p:cNvPr>
          <p:cNvSpPr/>
          <p:nvPr/>
        </p:nvSpPr>
        <p:spPr>
          <a:xfrm>
            <a:off x="6800754" y="972102"/>
            <a:ext cx="2081026" cy="475697"/>
          </a:xfrm>
          <a:prstGeom prst="chevron">
            <a:avLst/>
          </a:prstGeom>
          <a:solidFill>
            <a:srgbClr val="DD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accent6">
                    <a:lumMod val="10000"/>
                  </a:schemeClr>
                </a:solidFill>
                <a:cs typeface="+mn-ea"/>
                <a:sym typeface="+mn-lt"/>
              </a:rPr>
              <a:t>交换机芯片</a:t>
            </a:r>
          </a:p>
        </p:txBody>
      </p:sp>
      <p:pic>
        <p:nvPicPr>
          <p:cNvPr id="49" name="图片 48">
            <a:extLst>
              <a:ext uri="{FF2B5EF4-FFF2-40B4-BE49-F238E27FC236}">
                <a16:creationId xmlns:a16="http://schemas.microsoft.com/office/drawing/2014/main" id="{B59B1FA9-725E-A661-83F4-2EF411706B1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2498928" y="1057967"/>
            <a:ext cx="510150" cy="287732"/>
          </a:xfrm>
          <a:prstGeom prst="rect">
            <a:avLst/>
          </a:prstGeom>
        </p:spPr>
      </p:pic>
      <p:pic>
        <p:nvPicPr>
          <p:cNvPr id="50" name="Picture 2" descr="System level 3D assembly packaging strategy showing an EIC bonded on a ...">
            <a:extLst>
              <a:ext uri="{FF2B5EF4-FFF2-40B4-BE49-F238E27FC236}">
                <a16:creationId xmlns:a16="http://schemas.microsoft.com/office/drawing/2014/main" id="{875ACED9-9B91-03F1-9C95-6CD2C4CBB4CE}"/>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5737" t="1802" r="1544" b="3329"/>
          <a:stretch/>
        </p:blipFill>
        <p:spPr bwMode="auto">
          <a:xfrm>
            <a:off x="5506947" y="1080961"/>
            <a:ext cx="366675" cy="259879"/>
          </a:xfrm>
          <a:prstGeom prst="rect">
            <a:avLst/>
          </a:prstGeom>
          <a:noFill/>
          <a:extLst>
            <a:ext uri="{909E8E84-426E-40DD-AFC4-6F175D3DCCD1}">
              <a14:hiddenFill xmlns:a14="http://schemas.microsoft.com/office/drawing/2010/main">
                <a:solidFill>
                  <a:srgbClr val="FFFFFF"/>
                </a:solidFill>
              </a14:hiddenFill>
            </a:ext>
          </a:extLst>
        </p:spPr>
      </p:pic>
      <p:sp>
        <p:nvSpPr>
          <p:cNvPr id="53" name="箭头: V 形 52">
            <a:extLst>
              <a:ext uri="{FF2B5EF4-FFF2-40B4-BE49-F238E27FC236}">
                <a16:creationId xmlns:a16="http://schemas.microsoft.com/office/drawing/2014/main" id="{12E32DB3-7C19-99D2-0CC8-6BF3E5DEF789}"/>
              </a:ext>
            </a:extLst>
          </p:cNvPr>
          <p:cNvSpPr/>
          <p:nvPr/>
        </p:nvSpPr>
        <p:spPr>
          <a:xfrm>
            <a:off x="8961069" y="970873"/>
            <a:ext cx="2796897" cy="504691"/>
          </a:xfrm>
          <a:prstGeom prst="chevron">
            <a:avLst/>
          </a:prstGeom>
          <a:solidFill>
            <a:srgbClr val="DD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accent6">
                    <a:lumMod val="10000"/>
                  </a:schemeClr>
                </a:solidFill>
                <a:cs typeface="+mn-ea"/>
                <a:sym typeface="+mn-lt"/>
              </a:rPr>
              <a:t>集成交付</a:t>
            </a:r>
          </a:p>
        </p:txBody>
      </p:sp>
      <p:pic>
        <p:nvPicPr>
          <p:cNvPr id="55" name="Picture 4" descr="锐捷发布首款CPO交换机 硅光+液冷引领下一代数据中心风向_天极网">
            <a:extLst>
              <a:ext uri="{FF2B5EF4-FFF2-40B4-BE49-F238E27FC236}">
                <a16:creationId xmlns:a16="http://schemas.microsoft.com/office/drawing/2014/main" id="{5E0ACDA1-E26D-80EF-086E-84D89B17C656}"/>
              </a:ext>
            </a:extLst>
          </p:cNvPr>
          <p:cNvPicPr>
            <a:picLocks noChangeAspect="1" noChangeArrowheads="1"/>
          </p:cNvPicPr>
          <p:nvPr/>
        </p:nvPicPr>
        <p:blipFill>
          <a:blip r:embed="rId8" cstate="print">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0284675" y="1080961"/>
            <a:ext cx="601426" cy="273375"/>
          </a:xfrm>
          <a:prstGeom prst="rect">
            <a:avLst/>
          </a:prstGeom>
          <a:noFill/>
          <a:extLst>
            <a:ext uri="{909E8E84-426E-40DD-AFC4-6F175D3DCCD1}">
              <a14:hiddenFill xmlns:a14="http://schemas.microsoft.com/office/drawing/2010/main">
                <a:solidFill>
                  <a:srgbClr val="FFFFFF"/>
                </a:solidFill>
              </a14:hiddenFill>
            </a:ext>
          </a:extLst>
        </p:spPr>
      </p:pic>
      <p:pic>
        <p:nvPicPr>
          <p:cNvPr id="5120" name="图片 5119" descr="图示&#10;&#10;AI 生成的内容可能不正确。">
            <a:extLst>
              <a:ext uri="{FF2B5EF4-FFF2-40B4-BE49-F238E27FC236}">
                <a16:creationId xmlns:a16="http://schemas.microsoft.com/office/drawing/2014/main" id="{A3AB3399-4FCB-99E7-2587-9D448DA25F18}"/>
              </a:ext>
            </a:extLst>
          </p:cNvPr>
          <p:cNvPicPr>
            <a:picLocks noChangeAspect="1"/>
          </p:cNvPicPr>
          <p:nvPr/>
        </p:nvPicPr>
        <p:blipFill>
          <a:blip r:embed="rId10" cstate="print">
            <a:extLst>
              <a:ext uri="{BEBA8EAE-BF5A-486C-A8C5-ECC9F3942E4B}">
                <a14:imgProps xmlns:a14="http://schemas.microsoft.com/office/drawing/2010/main">
                  <a14:imgLayer r:embed="rId11">
                    <a14:imgEffect>
                      <a14:backgroundRemoval t="9825" b="34035" l="78808" r="92881">
                        <a14:foregroundMark x1="78808" y1="24912" x2="78808" y2="24912"/>
                        <a14:foregroundMark x1="84437" y1="33684" x2="84437" y2="33684"/>
                        <a14:foregroundMark x1="87252" y1="34035" x2="87252" y2="34035"/>
                        <a14:foregroundMark x1="92715" y1="24561" x2="92715" y2="24561"/>
                      </a14:backgroundRemoval>
                    </a14:imgEffect>
                  </a14:imgLayer>
                </a14:imgProps>
              </a:ext>
              <a:ext uri="{28A0092B-C50C-407E-A947-70E740481C1C}">
                <a14:useLocalDpi xmlns:a14="http://schemas.microsoft.com/office/drawing/2010/main" val="0"/>
              </a:ext>
            </a:extLst>
          </a:blip>
          <a:srcRect l="77383" t="7282" r="5341" b="63652"/>
          <a:stretch/>
        </p:blipFill>
        <p:spPr>
          <a:xfrm>
            <a:off x="8281294" y="1015102"/>
            <a:ext cx="465131" cy="369333"/>
          </a:xfrm>
          <a:prstGeom prst="rect">
            <a:avLst/>
          </a:prstGeom>
        </p:spPr>
      </p:pic>
      <p:pic>
        <p:nvPicPr>
          <p:cNvPr id="5130" name="图片 5129">
            <a:extLst>
              <a:ext uri="{FF2B5EF4-FFF2-40B4-BE49-F238E27FC236}">
                <a16:creationId xmlns:a16="http://schemas.microsoft.com/office/drawing/2014/main" id="{75C7E3F4-7C7E-9265-CBD4-C674DC5D455F}"/>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9974" b="89764" l="3047" r="94265">
                        <a14:foregroundMark x1="3166" y1="54068" x2="3166" y2="54068"/>
                        <a14:foregroundMark x1="9020" y1="72966" x2="9020" y2="72966"/>
                        <a14:foregroundMark x1="16428" y1="73753" x2="16428" y2="73753"/>
                        <a14:foregroundMark x1="14098" y1="54856" x2="14098" y2="54856"/>
                        <a14:foregroundMark x1="21326" y1="54856" x2="21326" y2="54856"/>
                        <a14:foregroundMark x1="24671" y1="48031" x2="24671" y2="48031"/>
                        <a14:foregroundMark x1="24851" y1="66929" x2="24851" y2="66929"/>
                        <a14:foregroundMark x1="31481" y1="74541" x2="31481" y2="74541"/>
                        <a14:foregroundMark x1="33632" y1="47244" x2="33632" y2="47244"/>
                        <a14:foregroundMark x1="42174" y1="48819" x2="42174" y2="48819"/>
                        <a14:foregroundMark x1="52509" y1="49606" x2="52509" y2="49606"/>
                        <a14:foregroundMark x1="51971" y1="71916" x2="51971" y2="71916"/>
                        <a14:foregroundMark x1="58184" y1="62467" x2="58184" y2="62467"/>
                        <a14:foregroundMark x1="58363" y1="48819" x2="58363" y2="48819"/>
                        <a14:foregroundMark x1="66189" y1="48819" x2="66189" y2="48819"/>
                        <a14:foregroundMark x1="61888" y1="73753" x2="61888" y2="73753"/>
                        <a14:foregroundMark x1="72820" y1="69291" x2="72820" y2="69291"/>
                        <a14:foregroundMark x1="72820" y1="48031" x2="72820" y2="48031"/>
                        <a14:foregroundMark x1="81959" y1="71129" x2="81959" y2="71129"/>
                        <a14:foregroundMark x1="84289" y1="54068" x2="84289" y2="54068"/>
                        <a14:foregroundMark x1="90920" y1="78740" x2="90920" y2="78740"/>
                        <a14:foregroundMark x1="90741" y1="74541" x2="90741" y2="74541"/>
                        <a14:foregroundMark x1="94265" y1="73753" x2="94265" y2="73753"/>
                        <a14:foregroundMark x1="93489" y1="59055" x2="93489" y2="59055"/>
                        <a14:foregroundMark x1="46476" y1="64304" x2="46476" y2="64304"/>
                      </a14:backgroundRemoval>
                    </a14:imgEffect>
                  </a14:imgLayer>
                </a14:imgProps>
              </a:ext>
            </a:extLst>
          </a:blip>
          <a:stretch>
            <a:fillRect/>
          </a:stretch>
        </p:blipFill>
        <p:spPr>
          <a:xfrm>
            <a:off x="2013925" y="3673722"/>
            <a:ext cx="714937" cy="162718"/>
          </a:xfrm>
          <a:prstGeom prst="rect">
            <a:avLst/>
          </a:prstGeom>
        </p:spPr>
      </p:pic>
      <p:pic>
        <p:nvPicPr>
          <p:cNvPr id="5131" name="图片 5130">
            <a:extLst>
              <a:ext uri="{FF2B5EF4-FFF2-40B4-BE49-F238E27FC236}">
                <a16:creationId xmlns:a16="http://schemas.microsoft.com/office/drawing/2014/main" id="{8B3F7392-17C2-B645-92E7-D50B22740239}"/>
              </a:ext>
            </a:extLst>
          </p:cNvPr>
          <p:cNvPicPr>
            <a:picLocks noChangeAspect="1"/>
          </p:cNvPicPr>
          <p:nvPr/>
        </p:nvPicPr>
        <p:blipFill>
          <a:blip r:embed="rId14"/>
          <a:stretch>
            <a:fillRect/>
          </a:stretch>
        </p:blipFill>
        <p:spPr>
          <a:xfrm>
            <a:off x="1319761" y="3669789"/>
            <a:ext cx="610375" cy="170584"/>
          </a:xfrm>
          <a:prstGeom prst="rect">
            <a:avLst/>
          </a:prstGeom>
        </p:spPr>
      </p:pic>
      <p:pic>
        <p:nvPicPr>
          <p:cNvPr id="22" name="图片 21">
            <a:extLst>
              <a:ext uri="{FF2B5EF4-FFF2-40B4-BE49-F238E27FC236}">
                <a16:creationId xmlns:a16="http://schemas.microsoft.com/office/drawing/2014/main" id="{B9317AD0-34AD-270C-7224-D78FEA80D860}"/>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9375" b="89583" l="8056" r="90000">
                        <a14:foregroundMark x1="8056" y1="50000" x2="8056" y2="50000"/>
                        <a14:foregroundMark x1="33333" y1="55208" x2="33333" y2="55208"/>
                        <a14:foregroundMark x1="46111" y1="59375" x2="46111" y2="59375"/>
                        <a14:foregroundMark x1="62500" y1="53125" x2="62500" y2="53125"/>
                        <a14:foregroundMark x1="72778" y1="53125" x2="72778" y2="53125"/>
                        <a14:foregroundMark x1="87500" y1="52083" x2="87500" y2="52083"/>
                      </a14:backgroundRemoval>
                    </a14:imgEffect>
                  </a14:imgLayer>
                </a14:imgProps>
              </a:ext>
            </a:extLst>
          </a:blip>
          <a:stretch>
            <a:fillRect/>
          </a:stretch>
        </p:blipFill>
        <p:spPr>
          <a:xfrm>
            <a:off x="2021958" y="4040749"/>
            <a:ext cx="725316" cy="193418"/>
          </a:xfrm>
          <a:prstGeom prst="rect">
            <a:avLst/>
          </a:prstGeom>
        </p:spPr>
      </p:pic>
      <p:pic>
        <p:nvPicPr>
          <p:cNvPr id="26" name="图片 25">
            <a:extLst>
              <a:ext uri="{FF2B5EF4-FFF2-40B4-BE49-F238E27FC236}">
                <a16:creationId xmlns:a16="http://schemas.microsoft.com/office/drawing/2014/main" id="{152C43CD-FDFC-7F2F-585E-C678DD081B97}"/>
              </a:ext>
            </a:extLst>
          </p:cNvPr>
          <p:cNvPicPr>
            <a:picLocks noChangeAspect="1"/>
          </p:cNvPicPr>
          <p:nvPr/>
        </p:nvPicPr>
        <p:blipFill>
          <a:blip r:embed="rId17">
            <a:extLst>
              <a:ext uri="{BEBA8EAE-BF5A-486C-A8C5-ECC9F3942E4B}">
                <a14:imgProps xmlns:a14="http://schemas.microsoft.com/office/drawing/2010/main">
                  <a14:imgLayer r:embed="rId18">
                    <a14:imgEffect>
                      <a14:backgroundRemoval t="9804" b="89216" l="6011" r="97268">
                        <a14:foregroundMark x1="6011" y1="47059" x2="6011" y2="47059"/>
                        <a14:foregroundMark x1="36339" y1="47059" x2="36339" y2="47059"/>
                        <a14:foregroundMark x1="48087" y1="50000" x2="48087" y2="50000"/>
                        <a14:foregroundMark x1="58197" y1="48039" x2="58197" y2="48039"/>
                        <a14:foregroundMark x1="71038" y1="51961" x2="71038" y2="51961"/>
                        <a14:foregroundMark x1="82240" y1="48039" x2="82240" y2="48039"/>
                        <a14:foregroundMark x1="92896" y1="46078" x2="92896" y2="46078"/>
                        <a14:foregroundMark x1="97268" y1="21569" x2="97268" y2="21569"/>
                      </a14:backgroundRemoval>
                    </a14:imgEffect>
                  </a14:imgLayer>
                </a14:imgProps>
              </a:ext>
            </a:extLst>
          </a:blip>
          <a:srcRect b="11664"/>
          <a:stretch/>
        </p:blipFill>
        <p:spPr>
          <a:xfrm>
            <a:off x="1319761" y="2898371"/>
            <a:ext cx="513440" cy="126400"/>
          </a:xfrm>
          <a:prstGeom prst="rect">
            <a:avLst/>
          </a:prstGeom>
        </p:spPr>
      </p:pic>
      <p:sp>
        <p:nvSpPr>
          <p:cNvPr id="33" name="文本框 32">
            <a:extLst>
              <a:ext uri="{FF2B5EF4-FFF2-40B4-BE49-F238E27FC236}">
                <a16:creationId xmlns:a16="http://schemas.microsoft.com/office/drawing/2014/main" id="{67A5BA0C-BB32-63AC-3DA5-FAA45BCEBB1E}"/>
              </a:ext>
            </a:extLst>
          </p:cNvPr>
          <p:cNvSpPr txBox="1"/>
          <p:nvPr/>
        </p:nvSpPr>
        <p:spPr>
          <a:xfrm>
            <a:off x="10441974" y="991174"/>
            <a:ext cx="1549226" cy="461665"/>
          </a:xfrm>
          <a:prstGeom prst="rect">
            <a:avLst/>
          </a:prstGeom>
          <a:noFill/>
        </p:spPr>
        <p:txBody>
          <a:bodyPr wrap="square" rtlCol="0">
            <a:spAutoFit/>
          </a:bodyPr>
          <a:lstStyle/>
          <a:p>
            <a:pPr algn="ctr"/>
            <a:r>
              <a:rPr lang="zh-CN" altLang="en-US" sz="1200" dirty="0">
                <a:cs typeface="+mn-ea"/>
                <a:sym typeface="+mn-lt"/>
              </a:rPr>
              <a:t>设备集成</a:t>
            </a:r>
            <a:endParaRPr lang="en-US" altLang="zh-CN" sz="1200" dirty="0">
              <a:cs typeface="+mn-ea"/>
              <a:sym typeface="+mn-lt"/>
            </a:endParaRPr>
          </a:p>
          <a:p>
            <a:pPr algn="ctr"/>
            <a:r>
              <a:rPr lang="zh-CN" altLang="en-US" sz="1200" dirty="0">
                <a:cs typeface="+mn-ea"/>
                <a:sym typeface="+mn-lt"/>
              </a:rPr>
              <a:t>先进封测</a:t>
            </a:r>
            <a:endParaRPr lang="en-US" altLang="zh-CN" sz="1200" dirty="0">
              <a:cs typeface="+mn-ea"/>
              <a:sym typeface="+mn-lt"/>
            </a:endParaRPr>
          </a:p>
        </p:txBody>
      </p:sp>
      <p:pic>
        <p:nvPicPr>
          <p:cNvPr id="3" name="图像" descr="图像">
            <a:extLst>
              <a:ext uri="{FF2B5EF4-FFF2-40B4-BE49-F238E27FC236}">
                <a16:creationId xmlns:a16="http://schemas.microsoft.com/office/drawing/2014/main" id="{EBBBECCC-8B76-E52C-8720-C90BF975A227}"/>
              </a:ext>
            </a:extLst>
          </p:cNvPr>
          <p:cNvPicPr>
            <a:picLocks noChangeAspect="1"/>
          </p:cNvPicPr>
          <p:nvPr/>
        </p:nvPicPr>
        <p:blipFill>
          <a:blip r:embed="rId19"/>
          <a:stretch>
            <a:fillRect/>
          </a:stretch>
        </p:blipFill>
        <p:spPr>
          <a:xfrm>
            <a:off x="4920359" y="2221282"/>
            <a:ext cx="411440" cy="327282"/>
          </a:xfrm>
          <a:prstGeom prst="rect">
            <a:avLst/>
          </a:prstGeom>
          <a:ln w="12700">
            <a:miter lim="400000"/>
          </a:ln>
        </p:spPr>
      </p:pic>
      <p:pic>
        <p:nvPicPr>
          <p:cNvPr id="6" name="图像" descr="图像">
            <a:extLst>
              <a:ext uri="{FF2B5EF4-FFF2-40B4-BE49-F238E27FC236}">
                <a16:creationId xmlns:a16="http://schemas.microsoft.com/office/drawing/2014/main" id="{AD4AD332-F270-C09B-7EAC-FE6EF4DE7E28}"/>
              </a:ext>
            </a:extLst>
          </p:cNvPr>
          <p:cNvPicPr>
            <a:picLocks noChangeAspect="1"/>
          </p:cNvPicPr>
          <p:nvPr/>
        </p:nvPicPr>
        <p:blipFill>
          <a:blip r:embed="rId20"/>
          <a:stretch>
            <a:fillRect/>
          </a:stretch>
        </p:blipFill>
        <p:spPr>
          <a:xfrm>
            <a:off x="1329740" y="1854255"/>
            <a:ext cx="369323" cy="178067"/>
          </a:xfrm>
          <a:prstGeom prst="rect">
            <a:avLst/>
          </a:prstGeom>
          <a:ln w="12700">
            <a:miter lim="400000"/>
          </a:ln>
        </p:spPr>
      </p:pic>
      <p:pic>
        <p:nvPicPr>
          <p:cNvPr id="5127" name="图片 5126">
            <a:extLst>
              <a:ext uri="{FF2B5EF4-FFF2-40B4-BE49-F238E27FC236}">
                <a16:creationId xmlns:a16="http://schemas.microsoft.com/office/drawing/2014/main" id="{CD142F11-ED81-BFF4-56CE-25E813B2A226}"/>
              </a:ext>
            </a:extLst>
          </p:cNvPr>
          <p:cNvPicPr>
            <a:picLocks noChangeAspect="1"/>
          </p:cNvPicPr>
          <p:nvPr/>
        </p:nvPicPr>
        <p:blipFill>
          <a:blip r:embed="rId21">
            <a:extLst>
              <a:ext uri="{BEBA8EAE-BF5A-486C-A8C5-ECC9F3942E4B}">
                <a14:imgProps xmlns:a14="http://schemas.microsoft.com/office/drawing/2010/main">
                  <a14:imgLayer r:embed="rId22">
                    <a14:imgEffect>
                      <a14:backgroundRemoval t="9220" b="89362" l="9023" r="90977">
                        <a14:foregroundMark x1="9023" y1="80851" x2="9023" y2="80851"/>
                        <a14:foregroundMark x1="90977" y1="32624" x2="90977" y2="32624"/>
                      </a14:backgroundRemoval>
                    </a14:imgEffect>
                  </a14:imgLayer>
                </a14:imgProps>
              </a:ext>
            </a:extLst>
          </a:blip>
          <a:srcRect l="4111" t="16775" r="4646"/>
          <a:stretch/>
        </p:blipFill>
        <p:spPr>
          <a:xfrm>
            <a:off x="6854733" y="2629655"/>
            <a:ext cx="746125" cy="240504"/>
          </a:xfrm>
          <a:prstGeom prst="rect">
            <a:avLst/>
          </a:prstGeom>
        </p:spPr>
      </p:pic>
      <p:pic>
        <p:nvPicPr>
          <p:cNvPr id="5128" name="图片 5127">
            <a:extLst>
              <a:ext uri="{FF2B5EF4-FFF2-40B4-BE49-F238E27FC236}">
                <a16:creationId xmlns:a16="http://schemas.microsoft.com/office/drawing/2014/main" id="{8D5F619B-F18C-C1BA-2C96-CD15169DC4CD}"/>
              </a:ext>
            </a:extLst>
          </p:cNvPr>
          <p:cNvPicPr>
            <a:picLocks noChangeAspect="1"/>
          </p:cNvPicPr>
          <p:nvPr/>
        </p:nvPicPr>
        <p:blipFill>
          <a:blip r:embed="rId23">
            <a:extLst>
              <a:ext uri="{BEBA8EAE-BF5A-486C-A8C5-ECC9F3942E4B}">
                <a14:imgProps xmlns:a14="http://schemas.microsoft.com/office/drawing/2010/main">
                  <a14:imgLayer r:embed="rId24">
                    <a14:imgEffect>
                      <a14:backgroundRemoval t="10000" b="90000" l="6468" r="92786">
                        <a14:foregroundMark x1="55970" y1="48333" x2="55970" y2="48333"/>
                        <a14:foregroundMark x1="50746" y1="60833" x2="50746" y2="60833"/>
                        <a14:foregroundMark x1="80597" y1="56667" x2="80597" y2="56667"/>
                        <a14:foregroundMark x1="31343" y1="55000" x2="31343" y2="55000"/>
                        <a14:foregroundMark x1="11194" y1="46667" x2="11194" y2="46667"/>
                        <a14:foregroundMark x1="6716" y1="58333" x2="6716" y2="58333"/>
                        <a14:foregroundMark x1="9453" y1="42500" x2="9453" y2="42500"/>
                        <a14:foregroundMark x1="17164" y1="26667" x2="17164" y2="26667"/>
                        <a14:foregroundMark x1="17910" y1="31667" x2="17910" y2="31667"/>
                        <a14:foregroundMark x1="19900" y1="34167" x2="19900" y2="34167"/>
                        <a14:foregroundMark x1="19652" y1="31667" x2="19652" y2="31667"/>
                        <a14:foregroundMark x1="18159" y1="24167" x2="18159" y2="24167"/>
                        <a14:foregroundMark x1="12687" y1="24167" x2="12687" y2="24167"/>
                        <a14:foregroundMark x1="12438" y1="21667" x2="12438" y2="21667"/>
                        <a14:foregroundMark x1="19403" y1="76667" x2="19403" y2="76667"/>
                        <a14:foregroundMark x1="21144" y1="73333" x2="21144" y2="73333"/>
                        <a14:foregroundMark x1="67164" y1="56667" x2="67164" y2="56667"/>
                        <a14:foregroundMark x1="92786" y1="46667" x2="92786" y2="46667"/>
                      </a14:backgroundRemoval>
                    </a14:imgEffect>
                  </a14:imgLayer>
                </a14:imgProps>
              </a:ext>
            </a:extLst>
          </a:blip>
          <a:stretch>
            <a:fillRect/>
          </a:stretch>
        </p:blipFill>
        <p:spPr>
          <a:xfrm>
            <a:off x="8293561" y="4888643"/>
            <a:ext cx="503931" cy="150427"/>
          </a:xfrm>
          <a:prstGeom prst="rect">
            <a:avLst/>
          </a:prstGeom>
        </p:spPr>
      </p:pic>
      <p:pic>
        <p:nvPicPr>
          <p:cNvPr id="5140" name="图像" descr="图像">
            <a:extLst>
              <a:ext uri="{FF2B5EF4-FFF2-40B4-BE49-F238E27FC236}">
                <a16:creationId xmlns:a16="http://schemas.microsoft.com/office/drawing/2014/main" id="{6952BBBA-DEBF-A929-5602-66B47D46DECD}"/>
              </a:ext>
            </a:extLst>
          </p:cNvPr>
          <p:cNvPicPr>
            <a:picLocks noChangeAspect="1"/>
          </p:cNvPicPr>
          <p:nvPr/>
        </p:nvPicPr>
        <p:blipFill>
          <a:blip r:embed="rId25"/>
          <a:stretch>
            <a:fillRect/>
          </a:stretch>
        </p:blipFill>
        <p:spPr>
          <a:xfrm>
            <a:off x="7655872" y="4782399"/>
            <a:ext cx="352069" cy="402141"/>
          </a:xfrm>
          <a:prstGeom prst="rect">
            <a:avLst/>
          </a:prstGeom>
          <a:ln w="12700">
            <a:miter lim="400000"/>
          </a:ln>
        </p:spPr>
      </p:pic>
      <p:pic>
        <p:nvPicPr>
          <p:cNvPr id="5143" name="图像" descr="图像">
            <a:extLst>
              <a:ext uri="{FF2B5EF4-FFF2-40B4-BE49-F238E27FC236}">
                <a16:creationId xmlns:a16="http://schemas.microsoft.com/office/drawing/2014/main" id="{5DD74DB5-4C11-6ED0-7DDF-96B9835297A0}"/>
              </a:ext>
            </a:extLst>
          </p:cNvPr>
          <p:cNvPicPr>
            <a:picLocks noChangeAspect="1"/>
          </p:cNvPicPr>
          <p:nvPr/>
        </p:nvPicPr>
        <p:blipFill>
          <a:blip r:embed="rId26"/>
          <a:stretch>
            <a:fillRect/>
          </a:stretch>
        </p:blipFill>
        <p:spPr>
          <a:xfrm>
            <a:off x="6856126" y="4805670"/>
            <a:ext cx="355601" cy="355601"/>
          </a:xfrm>
          <a:prstGeom prst="rect">
            <a:avLst/>
          </a:prstGeom>
          <a:ln w="12700">
            <a:miter lim="400000"/>
          </a:ln>
        </p:spPr>
      </p:pic>
      <p:pic>
        <p:nvPicPr>
          <p:cNvPr id="5145" name="图像" descr="图像">
            <a:extLst>
              <a:ext uri="{FF2B5EF4-FFF2-40B4-BE49-F238E27FC236}">
                <a16:creationId xmlns:a16="http://schemas.microsoft.com/office/drawing/2014/main" id="{9FC56EDC-B2DB-DA23-B70F-A6FE45F32EC2}"/>
              </a:ext>
            </a:extLst>
          </p:cNvPr>
          <p:cNvPicPr>
            <a:picLocks noChangeAspect="1"/>
          </p:cNvPicPr>
          <p:nvPr/>
        </p:nvPicPr>
        <p:blipFill>
          <a:blip r:embed="rId27"/>
          <a:stretch>
            <a:fillRect/>
          </a:stretch>
        </p:blipFill>
        <p:spPr>
          <a:xfrm>
            <a:off x="3914104" y="4854354"/>
            <a:ext cx="751842" cy="233203"/>
          </a:xfrm>
          <a:prstGeom prst="rect">
            <a:avLst/>
          </a:prstGeom>
          <a:ln w="12700">
            <a:miter lim="400000"/>
          </a:ln>
        </p:spPr>
      </p:pic>
      <p:pic>
        <p:nvPicPr>
          <p:cNvPr id="5146" name="图像" descr="图像">
            <a:extLst>
              <a:ext uri="{FF2B5EF4-FFF2-40B4-BE49-F238E27FC236}">
                <a16:creationId xmlns:a16="http://schemas.microsoft.com/office/drawing/2014/main" id="{9A10B375-4FC3-745E-42C3-EB68018A493D}"/>
              </a:ext>
            </a:extLst>
          </p:cNvPr>
          <p:cNvPicPr>
            <a:picLocks noChangeAspect="1"/>
          </p:cNvPicPr>
          <p:nvPr/>
        </p:nvPicPr>
        <p:blipFill>
          <a:blip r:embed="rId28"/>
          <a:stretch>
            <a:fillRect/>
          </a:stretch>
        </p:blipFill>
        <p:spPr>
          <a:xfrm>
            <a:off x="3914104" y="2694309"/>
            <a:ext cx="513441" cy="81070"/>
          </a:xfrm>
          <a:prstGeom prst="rect">
            <a:avLst/>
          </a:prstGeom>
          <a:ln w="12700">
            <a:miter lim="400000"/>
          </a:ln>
        </p:spPr>
      </p:pic>
      <p:pic>
        <p:nvPicPr>
          <p:cNvPr id="5147" name="图像" descr="图像">
            <a:extLst>
              <a:ext uri="{FF2B5EF4-FFF2-40B4-BE49-F238E27FC236}">
                <a16:creationId xmlns:a16="http://schemas.microsoft.com/office/drawing/2014/main" id="{A4DA2063-58E0-EF6E-C741-C0FD79C37466}"/>
              </a:ext>
            </a:extLst>
          </p:cNvPr>
          <p:cNvPicPr>
            <a:picLocks noChangeAspect="1"/>
          </p:cNvPicPr>
          <p:nvPr/>
        </p:nvPicPr>
        <p:blipFill>
          <a:blip r:embed="rId29">
            <a:extLst>
              <a:ext uri="{BEBA8EAE-BF5A-486C-A8C5-ECC9F3942E4B}">
                <a14:imgProps xmlns:a14="http://schemas.microsoft.com/office/drawing/2010/main">
                  <a14:imgLayer r:embed="rId30">
                    <a14:imgEffect>
                      <a14:backgroundRemoval t="9184" b="89796" l="2326" r="95930">
                        <a14:foregroundMark x1="6395" y1="35714" x2="6395" y2="35714"/>
                        <a14:foregroundMark x1="2519" y1="58163" x2="2519" y2="58163"/>
                        <a14:foregroundMark x1="31395" y1="50000" x2="31395" y2="50000"/>
                        <a14:foregroundMark x1="35853" y1="59184" x2="35853" y2="59184"/>
                        <a14:foregroundMark x1="37597" y1="60204" x2="37597" y2="60204"/>
                        <a14:foregroundMark x1="41860" y1="50000" x2="41860" y2="50000"/>
                        <a14:foregroundMark x1="55814" y1="52041" x2="55814" y2="52041"/>
                        <a14:foregroundMark x1="64922" y1="41837" x2="64922" y2="41837"/>
                        <a14:foregroundMark x1="71899" y1="41837" x2="71899" y2="41837"/>
                        <a14:foregroundMark x1="84884" y1="40816" x2="84884" y2="40816"/>
                        <a14:foregroundMark x1="90698" y1="53061" x2="90698" y2="53061"/>
                        <a14:foregroundMark x1="95930" y1="56122" x2="95930" y2="56122"/>
                      </a14:backgroundRemoval>
                    </a14:imgEffect>
                  </a14:imgLayer>
                </a14:imgProps>
              </a:ext>
            </a:extLst>
          </a:blip>
          <a:stretch>
            <a:fillRect/>
          </a:stretch>
        </p:blipFill>
        <p:spPr>
          <a:xfrm>
            <a:off x="5801698" y="2656296"/>
            <a:ext cx="827156" cy="157096"/>
          </a:xfrm>
          <a:prstGeom prst="rect">
            <a:avLst/>
          </a:prstGeom>
          <a:ln w="12700">
            <a:miter lim="400000"/>
          </a:ln>
        </p:spPr>
      </p:pic>
      <p:pic>
        <p:nvPicPr>
          <p:cNvPr id="5148" name="图像" descr="图像">
            <a:extLst>
              <a:ext uri="{FF2B5EF4-FFF2-40B4-BE49-F238E27FC236}">
                <a16:creationId xmlns:a16="http://schemas.microsoft.com/office/drawing/2014/main" id="{24C4CBF6-4037-E792-0575-58039A5FA6B6}"/>
              </a:ext>
            </a:extLst>
          </p:cNvPr>
          <p:cNvPicPr>
            <a:picLocks noChangeAspect="1"/>
          </p:cNvPicPr>
          <p:nvPr/>
        </p:nvPicPr>
        <p:blipFill>
          <a:blip r:embed="rId31">
            <a:extLst>
              <a:ext uri="{BEBA8EAE-BF5A-486C-A8C5-ECC9F3942E4B}">
                <a14:imgProps xmlns:a14="http://schemas.microsoft.com/office/drawing/2010/main">
                  <a14:imgLayer r:embed="rId32">
                    <a14:imgEffect>
                      <a14:backgroundRemoval t="38806" b="60821" l="24250" r="73750">
                        <a14:foregroundMark x1="29750" y1="46642" x2="29750" y2="46642"/>
                        <a14:foregroundMark x1="27750" y1="52612" x2="27750" y2="52612"/>
                        <a14:foregroundMark x1="25500" y1="60075" x2="25500" y2="60075"/>
                        <a14:foregroundMark x1="25000" y1="43657" x2="25000" y2="43657"/>
                        <a14:foregroundMark x1="37750" y1="51493" x2="37750" y2="51493"/>
                        <a14:foregroundMark x1="38250" y1="57836" x2="38250" y2="57836"/>
                        <a14:foregroundMark x1="41750" y1="57463" x2="41750" y2="57463"/>
                        <a14:foregroundMark x1="39250" y1="60448" x2="39250" y2="60448"/>
                        <a14:foregroundMark x1="46000" y1="56716" x2="46000" y2="56716"/>
                        <a14:foregroundMark x1="50500" y1="55970" x2="50500" y2="55970"/>
                        <a14:foregroundMark x1="57750" y1="54851" x2="57750" y2="54851"/>
                        <a14:foregroundMark x1="65250" y1="56343" x2="65250" y2="56343"/>
                        <a14:foregroundMark x1="69000" y1="57463" x2="69000" y2="57463"/>
                        <a14:foregroundMark x1="73750" y1="53731" x2="73750" y2="53731"/>
                        <a14:foregroundMark x1="29750" y1="55970" x2="29750" y2="55970"/>
                        <a14:foregroundMark x1="24250" y1="60448" x2="24250" y2="60448"/>
                        <a14:foregroundMark x1="53250" y1="59328" x2="53250" y2="59328"/>
                      </a14:backgroundRemoval>
                    </a14:imgEffect>
                  </a14:imgLayer>
                </a14:imgProps>
              </a:ext>
            </a:extLst>
          </a:blip>
          <a:srcRect l="22811" t="36117" r="22811" b="36117"/>
          <a:stretch>
            <a:fillRect/>
          </a:stretch>
        </p:blipFill>
        <p:spPr>
          <a:xfrm>
            <a:off x="4920359" y="4877068"/>
            <a:ext cx="548874" cy="187775"/>
          </a:xfrm>
          <a:prstGeom prst="rect">
            <a:avLst/>
          </a:prstGeom>
          <a:ln w="12700">
            <a:miter lim="400000"/>
          </a:ln>
        </p:spPr>
      </p:pic>
      <p:pic>
        <p:nvPicPr>
          <p:cNvPr id="5150" name="图像" descr="图像">
            <a:extLst>
              <a:ext uri="{FF2B5EF4-FFF2-40B4-BE49-F238E27FC236}">
                <a16:creationId xmlns:a16="http://schemas.microsoft.com/office/drawing/2014/main" id="{82DE0541-478A-4DC7-B169-AE48CB21D17C}"/>
              </a:ext>
            </a:extLst>
          </p:cNvPr>
          <p:cNvPicPr>
            <a:picLocks noChangeAspect="1"/>
          </p:cNvPicPr>
          <p:nvPr/>
        </p:nvPicPr>
        <p:blipFill>
          <a:blip r:embed="rId33"/>
          <a:srcRect l="6527" t="39090" r="6527" b="39090"/>
          <a:stretch>
            <a:fillRect/>
          </a:stretch>
        </p:blipFill>
        <p:spPr>
          <a:xfrm>
            <a:off x="3872953" y="3640998"/>
            <a:ext cx="909223" cy="228166"/>
          </a:xfrm>
          <a:prstGeom prst="rect">
            <a:avLst/>
          </a:prstGeom>
          <a:ln w="12700">
            <a:miter lim="400000"/>
          </a:ln>
        </p:spPr>
      </p:pic>
      <p:pic>
        <p:nvPicPr>
          <p:cNvPr id="5152" name="图像" descr="图像">
            <a:extLst>
              <a:ext uri="{FF2B5EF4-FFF2-40B4-BE49-F238E27FC236}">
                <a16:creationId xmlns:a16="http://schemas.microsoft.com/office/drawing/2014/main" id="{08900142-0FED-DB48-83F2-F23F93BF6964}"/>
              </a:ext>
            </a:extLst>
          </p:cNvPr>
          <p:cNvPicPr>
            <a:picLocks noChangeAspect="1"/>
          </p:cNvPicPr>
          <p:nvPr/>
        </p:nvPicPr>
        <p:blipFill>
          <a:blip r:embed="rId34">
            <a:extLst>
              <a:ext uri="{BEBA8EAE-BF5A-486C-A8C5-ECC9F3942E4B}">
                <a14:imgProps xmlns:a14="http://schemas.microsoft.com/office/drawing/2010/main">
                  <a14:imgLayer r:embed="rId35">
                    <a14:imgEffect>
                      <a14:backgroundRemoval t="23000" b="67667" l="2333" r="95667">
                        <a14:foregroundMark x1="68667" y1="61667" x2="68667" y2="61667"/>
                        <a14:foregroundMark x1="95667" y1="40333" x2="95667" y2="40333"/>
                        <a14:foregroundMark x1="76333" y1="36000" x2="76333" y2="36000"/>
                        <a14:foregroundMark x1="66000" y1="41000" x2="66000" y2="41000"/>
                        <a14:foregroundMark x1="66000" y1="38333" x2="66000" y2="38333"/>
                        <a14:foregroundMark x1="59667" y1="33333" x2="63000" y2="39667"/>
                        <a14:foregroundMark x1="58667" y1="40333" x2="66000" y2="47000"/>
                        <a14:foregroundMark x1="47000" y1="41000" x2="47000" y2="41000"/>
                        <a14:foregroundMark x1="32333" y1="42000" x2="32333" y2="42000"/>
                        <a14:foregroundMark x1="12667" y1="41667" x2="12667" y2="41667"/>
                        <a14:foregroundMark x1="6000" y1="49333" x2="6000" y2="49333"/>
                        <a14:foregroundMark x1="5667" y1="35667" x2="5667" y2="35667"/>
                        <a14:foregroundMark x1="5000" y1="60333" x2="45333" y2="60667"/>
                        <a14:foregroundMark x1="4000" y1="65667" x2="31333" y2="65667"/>
                        <a14:foregroundMark x1="14333" y1="62667" x2="14333" y2="62667"/>
                        <a14:foregroundMark x1="5333" y1="59667" x2="5333" y2="59667"/>
                        <a14:foregroundMark x1="5333" y1="59667" x2="5333" y2="59667"/>
                        <a14:foregroundMark x1="10667" y1="58000" x2="10667" y2="58000"/>
                        <a14:foregroundMark x1="15333" y1="57333" x2="17333" y2="57667"/>
                        <a14:foregroundMark x1="18333" y1="58000" x2="20667" y2="58333"/>
                        <a14:foregroundMark x1="24667" y1="58333" x2="24667" y2="58333"/>
                        <a14:foregroundMark x1="32000" y1="58333" x2="32667" y2="58667"/>
                        <a14:foregroundMark x1="37667" y1="67667" x2="37667" y2="67667"/>
                        <a14:foregroundMark x1="40000" y1="66667" x2="40000" y2="66667"/>
                        <a14:foregroundMark x1="41333" y1="64667" x2="41333" y2="64667"/>
                        <a14:foregroundMark x1="43667" y1="64333" x2="43667" y2="64333"/>
                        <a14:foregroundMark x1="44667" y1="64000" x2="44667" y2="64000"/>
                        <a14:foregroundMark x1="35333" y1="65000" x2="35333" y2="65000"/>
                        <a14:foregroundMark x1="34333" y1="65667" x2="33000" y2="67000"/>
                        <a14:foregroundMark x1="39000" y1="59333" x2="41000" y2="59000"/>
                        <a14:foregroundMark x1="44000" y1="58333" x2="44000" y2="58333"/>
                        <a14:foregroundMark x1="44333" y1="60333" x2="9667" y2="55667"/>
                        <a14:foregroundMark x1="60333" y1="35333" x2="61667" y2="36333"/>
                        <a14:foregroundMark x1="62333" y1="43333" x2="52667" y2="48000"/>
                        <a14:foregroundMark x1="34667" y1="64333" x2="34667" y2="64333"/>
                        <a14:foregroundMark x1="36333" y1="65333" x2="36333" y2="65333"/>
                        <a14:foregroundMark x1="11000" y1="64333" x2="11000" y2="64333"/>
                        <a14:foregroundMark x1="2333" y1="56667" x2="2333" y2="56667"/>
                        <a14:foregroundMark x1="4667" y1="55667" x2="4667" y2="55667"/>
                        <a14:foregroundMark x1="36000" y1="61333" x2="36000" y2="61333"/>
                        <a14:foregroundMark x1="62667" y1="35000" x2="62667" y2="35000"/>
                        <a14:foregroundMark x1="64333" y1="33333" x2="64333" y2="33333"/>
                        <a14:foregroundMark x1="64333" y1="33333" x2="65667" y2="35000"/>
                        <a14:foregroundMark x1="65667" y1="43667" x2="65667" y2="46000"/>
                        <a14:foregroundMark x1="65667" y1="47333" x2="65667" y2="47333"/>
                        <a14:foregroundMark x1="52667" y1="48000" x2="52667" y2="48000"/>
                      </a14:backgroundRemoval>
                    </a14:imgEffect>
                  </a14:imgLayer>
                </a14:imgProps>
              </a:ext>
            </a:extLst>
          </a:blip>
          <a:srcRect t="18222" b="31569"/>
          <a:stretch>
            <a:fillRect/>
          </a:stretch>
        </p:blipFill>
        <p:spPr>
          <a:xfrm>
            <a:off x="1319761" y="5511372"/>
            <a:ext cx="416831" cy="209285"/>
          </a:xfrm>
          <a:prstGeom prst="rect">
            <a:avLst/>
          </a:prstGeom>
          <a:ln w="12700">
            <a:miter lim="400000"/>
          </a:ln>
        </p:spPr>
      </p:pic>
      <p:pic>
        <p:nvPicPr>
          <p:cNvPr id="5153" name="图像" descr="图像">
            <a:extLst>
              <a:ext uri="{FF2B5EF4-FFF2-40B4-BE49-F238E27FC236}">
                <a16:creationId xmlns:a16="http://schemas.microsoft.com/office/drawing/2014/main" id="{B4A71C5A-7BEC-5336-AD69-39AC39D56C00}"/>
              </a:ext>
            </a:extLst>
          </p:cNvPr>
          <p:cNvPicPr>
            <a:picLocks noChangeAspect="1"/>
          </p:cNvPicPr>
          <p:nvPr/>
        </p:nvPicPr>
        <p:blipFill>
          <a:blip r:embed="rId36"/>
          <a:srcRect l="3322" t="22445" r="3246" b="22496"/>
          <a:stretch>
            <a:fillRect/>
          </a:stretch>
        </p:blipFill>
        <p:spPr>
          <a:xfrm>
            <a:off x="1795702" y="5555280"/>
            <a:ext cx="392619" cy="121468"/>
          </a:xfrm>
          <a:custGeom>
            <a:avLst/>
            <a:gdLst/>
            <a:ahLst/>
            <a:cxnLst>
              <a:cxn ang="0">
                <a:pos x="wd2" y="hd2"/>
              </a:cxn>
              <a:cxn ang="5400000">
                <a:pos x="wd2" y="hd2"/>
              </a:cxn>
              <a:cxn ang="10800000">
                <a:pos x="wd2" y="hd2"/>
              </a:cxn>
              <a:cxn ang="16200000">
                <a:pos x="wd2" y="hd2"/>
              </a:cxn>
            </a:cxnLst>
            <a:rect l="0" t="0" r="r" b="b"/>
            <a:pathLst>
              <a:path w="21600" h="21551" extrusionOk="0">
                <a:moveTo>
                  <a:pt x="4692" y="0"/>
                </a:moveTo>
                <a:cubicBezTo>
                  <a:pt x="4450" y="40"/>
                  <a:pt x="4262" y="381"/>
                  <a:pt x="4153" y="1065"/>
                </a:cubicBezTo>
                <a:cubicBezTo>
                  <a:pt x="4097" y="1418"/>
                  <a:pt x="4084" y="1632"/>
                  <a:pt x="4084" y="2074"/>
                </a:cubicBezTo>
                <a:cubicBezTo>
                  <a:pt x="4084" y="2713"/>
                  <a:pt x="4133" y="3032"/>
                  <a:pt x="4257" y="3475"/>
                </a:cubicBezTo>
                <a:cubicBezTo>
                  <a:pt x="4347" y="3796"/>
                  <a:pt x="4436" y="3976"/>
                  <a:pt x="4553" y="4091"/>
                </a:cubicBezTo>
                <a:cubicBezTo>
                  <a:pt x="4656" y="4192"/>
                  <a:pt x="4854" y="4163"/>
                  <a:pt x="4970" y="4035"/>
                </a:cubicBezTo>
                <a:cubicBezTo>
                  <a:pt x="5125" y="3864"/>
                  <a:pt x="5287" y="3403"/>
                  <a:pt x="5352" y="2914"/>
                </a:cubicBezTo>
                <a:cubicBezTo>
                  <a:pt x="5417" y="2426"/>
                  <a:pt x="5404" y="1581"/>
                  <a:pt x="5335" y="1121"/>
                </a:cubicBezTo>
                <a:cubicBezTo>
                  <a:pt x="5232" y="436"/>
                  <a:pt x="5045" y="49"/>
                  <a:pt x="4796" y="0"/>
                </a:cubicBezTo>
                <a:lnTo>
                  <a:pt x="4692" y="0"/>
                </a:lnTo>
                <a:close/>
                <a:moveTo>
                  <a:pt x="11938" y="4876"/>
                </a:moveTo>
                <a:cubicBezTo>
                  <a:pt x="11699" y="4853"/>
                  <a:pt x="11418" y="4940"/>
                  <a:pt x="11243" y="5100"/>
                </a:cubicBezTo>
                <a:cubicBezTo>
                  <a:pt x="10541" y="5741"/>
                  <a:pt x="10096" y="7484"/>
                  <a:pt x="9975" y="9919"/>
                </a:cubicBezTo>
                <a:cubicBezTo>
                  <a:pt x="9936" y="10686"/>
                  <a:pt x="9962" y="12014"/>
                  <a:pt x="10027" y="12833"/>
                </a:cubicBezTo>
                <a:cubicBezTo>
                  <a:pt x="10201" y="15042"/>
                  <a:pt x="10658" y="16449"/>
                  <a:pt x="11417" y="16980"/>
                </a:cubicBezTo>
                <a:cubicBezTo>
                  <a:pt x="11640" y="17136"/>
                  <a:pt x="12012" y="17095"/>
                  <a:pt x="12268" y="16924"/>
                </a:cubicBezTo>
                <a:cubicBezTo>
                  <a:pt x="12966" y="16459"/>
                  <a:pt x="13503" y="14769"/>
                  <a:pt x="13659" y="12497"/>
                </a:cubicBezTo>
                <a:cubicBezTo>
                  <a:pt x="13699" y="11900"/>
                  <a:pt x="13702" y="11569"/>
                  <a:pt x="13693" y="10704"/>
                </a:cubicBezTo>
                <a:cubicBezTo>
                  <a:pt x="13680" y="9475"/>
                  <a:pt x="13652" y="9000"/>
                  <a:pt x="13502" y="8014"/>
                </a:cubicBezTo>
                <a:cubicBezTo>
                  <a:pt x="13251" y="6359"/>
                  <a:pt x="12758" y="5211"/>
                  <a:pt x="12164" y="4932"/>
                </a:cubicBezTo>
                <a:cubicBezTo>
                  <a:pt x="12098" y="4900"/>
                  <a:pt x="12018" y="4883"/>
                  <a:pt x="11938" y="4876"/>
                </a:cubicBezTo>
                <a:close/>
                <a:moveTo>
                  <a:pt x="19706" y="4876"/>
                </a:moveTo>
                <a:cubicBezTo>
                  <a:pt x="19608" y="4883"/>
                  <a:pt x="19511" y="4903"/>
                  <a:pt x="19445" y="4932"/>
                </a:cubicBezTo>
                <a:cubicBezTo>
                  <a:pt x="18896" y="5168"/>
                  <a:pt x="18595" y="5822"/>
                  <a:pt x="18385" y="7229"/>
                </a:cubicBezTo>
                <a:cubicBezTo>
                  <a:pt x="18269" y="8008"/>
                  <a:pt x="18265" y="8127"/>
                  <a:pt x="18333" y="8182"/>
                </a:cubicBezTo>
                <a:cubicBezTo>
                  <a:pt x="18409" y="8244"/>
                  <a:pt x="19082" y="8630"/>
                  <a:pt x="19115" y="8630"/>
                </a:cubicBezTo>
                <a:cubicBezTo>
                  <a:pt x="19129" y="8630"/>
                  <a:pt x="19163" y="8498"/>
                  <a:pt x="19185" y="8350"/>
                </a:cubicBezTo>
                <a:cubicBezTo>
                  <a:pt x="19248" y="7923"/>
                  <a:pt x="19382" y="7483"/>
                  <a:pt x="19497" y="7341"/>
                </a:cubicBezTo>
                <a:cubicBezTo>
                  <a:pt x="19582" y="7237"/>
                  <a:pt x="19664" y="7202"/>
                  <a:pt x="19880" y="7229"/>
                </a:cubicBezTo>
                <a:cubicBezTo>
                  <a:pt x="20155" y="7264"/>
                  <a:pt x="20227" y="7315"/>
                  <a:pt x="20331" y="7622"/>
                </a:cubicBezTo>
                <a:cubicBezTo>
                  <a:pt x="20462" y="8005"/>
                  <a:pt x="20506" y="9034"/>
                  <a:pt x="20401" y="9247"/>
                </a:cubicBezTo>
                <a:cubicBezTo>
                  <a:pt x="20333" y="9385"/>
                  <a:pt x="19947" y="9714"/>
                  <a:pt x="19532" y="9975"/>
                </a:cubicBezTo>
                <a:cubicBezTo>
                  <a:pt x="18920" y="10360"/>
                  <a:pt x="18619" y="10730"/>
                  <a:pt x="18420" y="11432"/>
                </a:cubicBezTo>
                <a:cubicBezTo>
                  <a:pt x="18261" y="11993"/>
                  <a:pt x="18208" y="12568"/>
                  <a:pt x="18194" y="13506"/>
                </a:cubicBezTo>
                <a:cubicBezTo>
                  <a:pt x="18185" y="14119"/>
                  <a:pt x="18185" y="14324"/>
                  <a:pt x="18229" y="14739"/>
                </a:cubicBezTo>
                <a:cubicBezTo>
                  <a:pt x="18361" y="16003"/>
                  <a:pt x="18637" y="16716"/>
                  <a:pt x="19115" y="17036"/>
                </a:cubicBezTo>
                <a:cubicBezTo>
                  <a:pt x="19142" y="17054"/>
                  <a:pt x="19256" y="17088"/>
                  <a:pt x="19376" y="17092"/>
                </a:cubicBezTo>
                <a:cubicBezTo>
                  <a:pt x="19742" y="17105"/>
                  <a:pt x="20054" y="16758"/>
                  <a:pt x="20349" y="16028"/>
                </a:cubicBezTo>
                <a:cubicBezTo>
                  <a:pt x="20441" y="15800"/>
                  <a:pt x="20531" y="15647"/>
                  <a:pt x="20540" y="15691"/>
                </a:cubicBezTo>
                <a:cubicBezTo>
                  <a:pt x="20548" y="15735"/>
                  <a:pt x="20579" y="16020"/>
                  <a:pt x="20609" y="16308"/>
                </a:cubicBezTo>
                <a:lnTo>
                  <a:pt x="20662" y="16812"/>
                </a:lnTo>
                <a:lnTo>
                  <a:pt x="21131" y="16812"/>
                </a:lnTo>
                <a:lnTo>
                  <a:pt x="21600" y="16868"/>
                </a:lnTo>
                <a:lnTo>
                  <a:pt x="21548" y="16420"/>
                </a:lnTo>
                <a:cubicBezTo>
                  <a:pt x="21413" y="15438"/>
                  <a:pt x="21410" y="15377"/>
                  <a:pt x="21391" y="11376"/>
                </a:cubicBezTo>
                <a:cubicBezTo>
                  <a:pt x="21373" y="7416"/>
                  <a:pt x="21366" y="7095"/>
                  <a:pt x="21252" y="6501"/>
                </a:cubicBezTo>
                <a:cubicBezTo>
                  <a:pt x="21129" y="5858"/>
                  <a:pt x="20836" y="5256"/>
                  <a:pt x="20540" y="5044"/>
                </a:cubicBezTo>
                <a:cubicBezTo>
                  <a:pt x="20369" y="4921"/>
                  <a:pt x="19998" y="4853"/>
                  <a:pt x="19706" y="4876"/>
                </a:cubicBezTo>
                <a:close/>
                <a:moveTo>
                  <a:pt x="1651" y="4932"/>
                </a:moveTo>
                <a:cubicBezTo>
                  <a:pt x="1391" y="4938"/>
                  <a:pt x="1136" y="4985"/>
                  <a:pt x="1008" y="5100"/>
                </a:cubicBezTo>
                <a:cubicBezTo>
                  <a:pt x="616" y="5449"/>
                  <a:pt x="352" y="6075"/>
                  <a:pt x="209" y="7061"/>
                </a:cubicBezTo>
                <a:cubicBezTo>
                  <a:pt x="132" y="7588"/>
                  <a:pt x="139" y="7697"/>
                  <a:pt x="139" y="8462"/>
                </a:cubicBezTo>
                <a:cubicBezTo>
                  <a:pt x="139" y="9220"/>
                  <a:pt x="138" y="9282"/>
                  <a:pt x="209" y="9751"/>
                </a:cubicBezTo>
                <a:cubicBezTo>
                  <a:pt x="306" y="10398"/>
                  <a:pt x="411" y="10808"/>
                  <a:pt x="591" y="11152"/>
                </a:cubicBezTo>
                <a:cubicBezTo>
                  <a:pt x="761" y="11477"/>
                  <a:pt x="1180" y="11928"/>
                  <a:pt x="1633" y="12273"/>
                </a:cubicBezTo>
                <a:cubicBezTo>
                  <a:pt x="2350" y="12819"/>
                  <a:pt x="2433" y="12935"/>
                  <a:pt x="2433" y="13618"/>
                </a:cubicBezTo>
                <a:cubicBezTo>
                  <a:pt x="2433" y="13945"/>
                  <a:pt x="2420" y="14051"/>
                  <a:pt x="2329" y="14346"/>
                </a:cubicBezTo>
                <a:cubicBezTo>
                  <a:pt x="2204" y="14749"/>
                  <a:pt x="2109" y="14856"/>
                  <a:pt x="1807" y="14907"/>
                </a:cubicBezTo>
                <a:cubicBezTo>
                  <a:pt x="1391" y="14977"/>
                  <a:pt x="1160" y="14593"/>
                  <a:pt x="1008" y="13618"/>
                </a:cubicBezTo>
                <a:lnTo>
                  <a:pt x="921" y="13057"/>
                </a:lnTo>
                <a:lnTo>
                  <a:pt x="678" y="13226"/>
                </a:lnTo>
                <a:cubicBezTo>
                  <a:pt x="539" y="13295"/>
                  <a:pt x="325" y="13396"/>
                  <a:pt x="209" y="13450"/>
                </a:cubicBezTo>
                <a:lnTo>
                  <a:pt x="0" y="13506"/>
                </a:lnTo>
                <a:lnTo>
                  <a:pt x="17" y="13786"/>
                </a:lnTo>
                <a:cubicBezTo>
                  <a:pt x="46" y="14207"/>
                  <a:pt x="180" y="14997"/>
                  <a:pt x="295" y="15411"/>
                </a:cubicBezTo>
                <a:cubicBezTo>
                  <a:pt x="505" y="16165"/>
                  <a:pt x="835" y="16748"/>
                  <a:pt x="1216" y="16980"/>
                </a:cubicBezTo>
                <a:cubicBezTo>
                  <a:pt x="1496" y="17150"/>
                  <a:pt x="2144" y="17087"/>
                  <a:pt x="2398" y="16868"/>
                </a:cubicBezTo>
                <a:cubicBezTo>
                  <a:pt x="2676" y="16629"/>
                  <a:pt x="2872" y="16230"/>
                  <a:pt x="3041" y="15691"/>
                </a:cubicBezTo>
                <a:cubicBezTo>
                  <a:pt x="3294" y="14885"/>
                  <a:pt x="3419" y="13946"/>
                  <a:pt x="3389" y="12889"/>
                </a:cubicBezTo>
                <a:cubicBezTo>
                  <a:pt x="3336" y="11075"/>
                  <a:pt x="3024" y="10286"/>
                  <a:pt x="1981" y="9471"/>
                </a:cubicBezTo>
                <a:cubicBezTo>
                  <a:pt x="1157" y="8827"/>
                  <a:pt x="1008" y="8659"/>
                  <a:pt x="1008" y="8070"/>
                </a:cubicBezTo>
                <a:cubicBezTo>
                  <a:pt x="1008" y="7397"/>
                  <a:pt x="1198" y="7117"/>
                  <a:pt x="1651" y="7117"/>
                </a:cubicBezTo>
                <a:cubicBezTo>
                  <a:pt x="1926" y="7117"/>
                  <a:pt x="1982" y="7136"/>
                  <a:pt x="2068" y="7285"/>
                </a:cubicBezTo>
                <a:cubicBezTo>
                  <a:pt x="2186" y="7489"/>
                  <a:pt x="2324" y="7960"/>
                  <a:pt x="2346" y="8238"/>
                </a:cubicBezTo>
                <a:cubicBezTo>
                  <a:pt x="2358" y="8396"/>
                  <a:pt x="2376" y="8438"/>
                  <a:pt x="2415" y="8406"/>
                </a:cubicBezTo>
                <a:cubicBezTo>
                  <a:pt x="2444" y="8384"/>
                  <a:pt x="2623" y="8293"/>
                  <a:pt x="2815" y="8182"/>
                </a:cubicBezTo>
                <a:cubicBezTo>
                  <a:pt x="3239" y="7938"/>
                  <a:pt x="3250" y="7938"/>
                  <a:pt x="3250" y="7790"/>
                </a:cubicBezTo>
                <a:cubicBezTo>
                  <a:pt x="3250" y="7535"/>
                  <a:pt x="3093" y="6591"/>
                  <a:pt x="2972" y="6164"/>
                </a:cubicBezTo>
                <a:cubicBezTo>
                  <a:pt x="2819" y="5629"/>
                  <a:pt x="2602" y="5250"/>
                  <a:pt x="2329" y="5044"/>
                </a:cubicBezTo>
                <a:cubicBezTo>
                  <a:pt x="2186" y="4936"/>
                  <a:pt x="1911" y="4925"/>
                  <a:pt x="1651" y="4932"/>
                </a:cubicBezTo>
                <a:close/>
                <a:moveTo>
                  <a:pt x="7785" y="4932"/>
                </a:moveTo>
                <a:cubicBezTo>
                  <a:pt x="7569" y="4932"/>
                  <a:pt x="7356" y="4946"/>
                  <a:pt x="7246" y="5044"/>
                </a:cubicBezTo>
                <a:cubicBezTo>
                  <a:pt x="6646" y="5576"/>
                  <a:pt x="6278" y="6850"/>
                  <a:pt x="6099" y="8910"/>
                </a:cubicBezTo>
                <a:cubicBezTo>
                  <a:pt x="6049" y="9494"/>
                  <a:pt x="6030" y="9749"/>
                  <a:pt x="6030" y="10984"/>
                </a:cubicBezTo>
                <a:cubicBezTo>
                  <a:pt x="6030" y="12219"/>
                  <a:pt x="6049" y="12474"/>
                  <a:pt x="6099" y="13057"/>
                </a:cubicBezTo>
                <a:cubicBezTo>
                  <a:pt x="6288" y="15227"/>
                  <a:pt x="6689" y="16478"/>
                  <a:pt x="7333" y="16924"/>
                </a:cubicBezTo>
                <a:cubicBezTo>
                  <a:pt x="7572" y="17090"/>
                  <a:pt x="7987" y="17102"/>
                  <a:pt x="8254" y="16924"/>
                </a:cubicBezTo>
                <a:cubicBezTo>
                  <a:pt x="8828" y="16543"/>
                  <a:pt x="9192" y="15462"/>
                  <a:pt x="9384" y="13618"/>
                </a:cubicBezTo>
                <a:cubicBezTo>
                  <a:pt x="9424" y="13235"/>
                  <a:pt x="9456" y="12898"/>
                  <a:pt x="9453" y="12889"/>
                </a:cubicBezTo>
                <a:cubicBezTo>
                  <a:pt x="9447" y="12869"/>
                  <a:pt x="8581" y="12441"/>
                  <a:pt x="8550" y="12441"/>
                </a:cubicBezTo>
                <a:cubicBezTo>
                  <a:pt x="8536" y="12441"/>
                  <a:pt x="8519" y="12596"/>
                  <a:pt x="8498" y="12833"/>
                </a:cubicBezTo>
                <a:cubicBezTo>
                  <a:pt x="8423" y="13655"/>
                  <a:pt x="8265" y="14271"/>
                  <a:pt x="8063" y="14515"/>
                </a:cubicBezTo>
                <a:cubicBezTo>
                  <a:pt x="7974" y="14623"/>
                  <a:pt x="7674" y="14625"/>
                  <a:pt x="7559" y="14515"/>
                </a:cubicBezTo>
                <a:cubicBezTo>
                  <a:pt x="7422" y="14382"/>
                  <a:pt x="7245" y="13909"/>
                  <a:pt x="7159" y="13450"/>
                </a:cubicBezTo>
                <a:cubicBezTo>
                  <a:pt x="7052" y="12870"/>
                  <a:pt x="7003" y="12045"/>
                  <a:pt x="7003" y="10872"/>
                </a:cubicBezTo>
                <a:cubicBezTo>
                  <a:pt x="7003" y="9312"/>
                  <a:pt x="7075" y="8553"/>
                  <a:pt x="7281" y="7902"/>
                </a:cubicBezTo>
                <a:cubicBezTo>
                  <a:pt x="7425" y="7448"/>
                  <a:pt x="7584" y="7277"/>
                  <a:pt x="7820" y="7285"/>
                </a:cubicBezTo>
                <a:cubicBezTo>
                  <a:pt x="8021" y="7293"/>
                  <a:pt x="8168" y="7457"/>
                  <a:pt x="8289" y="7846"/>
                </a:cubicBezTo>
                <a:cubicBezTo>
                  <a:pt x="8372" y="8114"/>
                  <a:pt x="8462" y="8618"/>
                  <a:pt x="8463" y="8854"/>
                </a:cubicBezTo>
                <a:cubicBezTo>
                  <a:pt x="8463" y="8927"/>
                  <a:pt x="8469" y="8999"/>
                  <a:pt x="8480" y="9023"/>
                </a:cubicBezTo>
                <a:cubicBezTo>
                  <a:pt x="8503" y="9068"/>
                  <a:pt x="9315" y="8669"/>
                  <a:pt x="9384" y="8574"/>
                </a:cubicBezTo>
                <a:cubicBezTo>
                  <a:pt x="9422" y="8522"/>
                  <a:pt x="9407" y="8460"/>
                  <a:pt x="9332" y="7902"/>
                </a:cubicBezTo>
                <a:cubicBezTo>
                  <a:pt x="9118" y="6321"/>
                  <a:pt x="8816" y="5427"/>
                  <a:pt x="8341" y="5044"/>
                </a:cubicBezTo>
                <a:cubicBezTo>
                  <a:pt x="8221" y="4947"/>
                  <a:pt x="8002" y="4931"/>
                  <a:pt x="7785" y="4932"/>
                </a:cubicBezTo>
                <a:close/>
                <a:moveTo>
                  <a:pt x="14545" y="5100"/>
                </a:moveTo>
                <a:cubicBezTo>
                  <a:pt x="14073" y="5100"/>
                  <a:pt x="14043" y="5141"/>
                  <a:pt x="14058" y="5268"/>
                </a:cubicBezTo>
                <a:cubicBezTo>
                  <a:pt x="14067" y="5343"/>
                  <a:pt x="14161" y="6108"/>
                  <a:pt x="14267" y="7005"/>
                </a:cubicBezTo>
                <a:cubicBezTo>
                  <a:pt x="14372" y="7902"/>
                  <a:pt x="14479" y="8878"/>
                  <a:pt x="14510" y="9135"/>
                </a:cubicBezTo>
                <a:cubicBezTo>
                  <a:pt x="14588" y="9774"/>
                  <a:pt x="15141" y="14462"/>
                  <a:pt x="15344" y="16196"/>
                </a:cubicBezTo>
                <a:lnTo>
                  <a:pt x="15431" y="16924"/>
                </a:lnTo>
                <a:lnTo>
                  <a:pt x="15379" y="17373"/>
                </a:lnTo>
                <a:cubicBezTo>
                  <a:pt x="15350" y="17627"/>
                  <a:pt x="15304" y="17945"/>
                  <a:pt x="15275" y="18101"/>
                </a:cubicBezTo>
                <a:cubicBezTo>
                  <a:pt x="15192" y="18534"/>
                  <a:pt x="15013" y="19012"/>
                  <a:pt x="14892" y="19110"/>
                </a:cubicBezTo>
                <a:cubicBezTo>
                  <a:pt x="14769" y="19210"/>
                  <a:pt x="14536" y="19202"/>
                  <a:pt x="14388" y="19110"/>
                </a:cubicBezTo>
                <a:cubicBezTo>
                  <a:pt x="14289" y="19048"/>
                  <a:pt x="14284" y="19025"/>
                  <a:pt x="14284" y="19222"/>
                </a:cubicBezTo>
                <a:cubicBezTo>
                  <a:pt x="14284" y="19334"/>
                  <a:pt x="14299" y="19888"/>
                  <a:pt x="14319" y="20399"/>
                </a:cubicBezTo>
                <a:cubicBezTo>
                  <a:pt x="14339" y="20910"/>
                  <a:pt x="14354" y="21321"/>
                  <a:pt x="14354" y="21351"/>
                </a:cubicBezTo>
                <a:cubicBezTo>
                  <a:pt x="14354" y="21382"/>
                  <a:pt x="14406" y="21423"/>
                  <a:pt x="14475" y="21464"/>
                </a:cubicBezTo>
                <a:cubicBezTo>
                  <a:pt x="14707" y="21600"/>
                  <a:pt x="15144" y="21573"/>
                  <a:pt x="15344" y="21407"/>
                </a:cubicBezTo>
                <a:cubicBezTo>
                  <a:pt x="15673" y="21136"/>
                  <a:pt x="15866" y="20806"/>
                  <a:pt x="16022" y="20063"/>
                </a:cubicBezTo>
                <a:cubicBezTo>
                  <a:pt x="16144" y="19480"/>
                  <a:pt x="16210" y="18920"/>
                  <a:pt x="16508" y="16308"/>
                </a:cubicBezTo>
                <a:cubicBezTo>
                  <a:pt x="16647" y="15090"/>
                  <a:pt x="16852" y="13325"/>
                  <a:pt x="16960" y="12385"/>
                </a:cubicBezTo>
                <a:cubicBezTo>
                  <a:pt x="17069" y="11445"/>
                  <a:pt x="17214" y="10098"/>
                  <a:pt x="17290" y="9415"/>
                </a:cubicBezTo>
                <a:cubicBezTo>
                  <a:pt x="17367" y="8731"/>
                  <a:pt x="17509" y="7532"/>
                  <a:pt x="17603" y="6725"/>
                </a:cubicBezTo>
                <a:cubicBezTo>
                  <a:pt x="17697" y="5918"/>
                  <a:pt x="17777" y="5192"/>
                  <a:pt x="17777" y="5156"/>
                </a:cubicBezTo>
                <a:cubicBezTo>
                  <a:pt x="17777" y="5119"/>
                  <a:pt x="17559" y="5099"/>
                  <a:pt x="17290" y="5100"/>
                </a:cubicBezTo>
                <a:lnTo>
                  <a:pt x="16804" y="5100"/>
                </a:lnTo>
                <a:lnTo>
                  <a:pt x="16387" y="9191"/>
                </a:lnTo>
                <a:cubicBezTo>
                  <a:pt x="16155" y="11443"/>
                  <a:pt x="15947" y="13282"/>
                  <a:pt x="15935" y="13282"/>
                </a:cubicBezTo>
                <a:cubicBezTo>
                  <a:pt x="15913" y="13282"/>
                  <a:pt x="15853" y="12784"/>
                  <a:pt x="15327" y="7790"/>
                </a:cubicBezTo>
                <a:lnTo>
                  <a:pt x="15049" y="5100"/>
                </a:lnTo>
                <a:lnTo>
                  <a:pt x="14545" y="5100"/>
                </a:lnTo>
                <a:close/>
                <a:moveTo>
                  <a:pt x="4310" y="5212"/>
                </a:moveTo>
                <a:cubicBezTo>
                  <a:pt x="4270" y="5162"/>
                  <a:pt x="4257" y="5460"/>
                  <a:pt x="4257" y="10984"/>
                </a:cubicBezTo>
                <a:lnTo>
                  <a:pt x="4257" y="16868"/>
                </a:lnTo>
                <a:lnTo>
                  <a:pt x="4744" y="16868"/>
                </a:lnTo>
                <a:lnTo>
                  <a:pt x="5231" y="16868"/>
                </a:lnTo>
                <a:lnTo>
                  <a:pt x="5231" y="10984"/>
                </a:lnTo>
                <a:cubicBezTo>
                  <a:pt x="5231" y="5464"/>
                  <a:pt x="5218" y="5171"/>
                  <a:pt x="5178" y="5212"/>
                </a:cubicBezTo>
                <a:cubicBezTo>
                  <a:pt x="4816" y="5578"/>
                  <a:pt x="4596" y="5570"/>
                  <a:pt x="4310" y="5212"/>
                </a:cubicBezTo>
                <a:close/>
                <a:moveTo>
                  <a:pt x="11782" y="7397"/>
                </a:moveTo>
                <a:cubicBezTo>
                  <a:pt x="11898" y="7378"/>
                  <a:pt x="12028" y="7387"/>
                  <a:pt x="12129" y="7509"/>
                </a:cubicBezTo>
                <a:cubicBezTo>
                  <a:pt x="12390" y="7825"/>
                  <a:pt x="12590" y="8602"/>
                  <a:pt x="12685" y="9639"/>
                </a:cubicBezTo>
                <a:cubicBezTo>
                  <a:pt x="12741" y="10249"/>
                  <a:pt x="12741" y="11587"/>
                  <a:pt x="12685" y="12273"/>
                </a:cubicBezTo>
                <a:cubicBezTo>
                  <a:pt x="12602" y="13303"/>
                  <a:pt x="12391" y="14087"/>
                  <a:pt x="12129" y="14402"/>
                </a:cubicBezTo>
                <a:cubicBezTo>
                  <a:pt x="11950" y="14619"/>
                  <a:pt x="11701" y="14628"/>
                  <a:pt x="11521" y="14402"/>
                </a:cubicBezTo>
                <a:cubicBezTo>
                  <a:pt x="11261" y="14075"/>
                  <a:pt x="11024" y="13108"/>
                  <a:pt x="10965" y="12105"/>
                </a:cubicBezTo>
                <a:cubicBezTo>
                  <a:pt x="10934" y="11574"/>
                  <a:pt x="10934" y="10393"/>
                  <a:pt x="10965" y="9863"/>
                </a:cubicBezTo>
                <a:cubicBezTo>
                  <a:pt x="11022" y="8902"/>
                  <a:pt x="11199" y="8035"/>
                  <a:pt x="11452" y="7622"/>
                </a:cubicBezTo>
                <a:cubicBezTo>
                  <a:pt x="11547" y="7466"/>
                  <a:pt x="11665" y="7417"/>
                  <a:pt x="11782" y="7397"/>
                </a:cubicBezTo>
                <a:close/>
                <a:moveTo>
                  <a:pt x="20401" y="11320"/>
                </a:moveTo>
                <a:cubicBezTo>
                  <a:pt x="20413" y="11323"/>
                  <a:pt x="20432" y="11308"/>
                  <a:pt x="20436" y="11320"/>
                </a:cubicBezTo>
                <a:cubicBezTo>
                  <a:pt x="20449" y="11364"/>
                  <a:pt x="20441" y="11776"/>
                  <a:pt x="20436" y="12329"/>
                </a:cubicBezTo>
                <a:cubicBezTo>
                  <a:pt x="20428" y="13205"/>
                  <a:pt x="20426" y="13346"/>
                  <a:pt x="20366" y="13674"/>
                </a:cubicBezTo>
                <a:cubicBezTo>
                  <a:pt x="20284" y="14126"/>
                  <a:pt x="20157" y="14513"/>
                  <a:pt x="20001" y="14739"/>
                </a:cubicBezTo>
                <a:cubicBezTo>
                  <a:pt x="19840" y="14971"/>
                  <a:pt x="19621" y="14997"/>
                  <a:pt x="19497" y="14851"/>
                </a:cubicBezTo>
                <a:cubicBezTo>
                  <a:pt x="19370" y="14700"/>
                  <a:pt x="19286" y="14504"/>
                  <a:pt x="19202" y="14122"/>
                </a:cubicBezTo>
                <a:cubicBezTo>
                  <a:pt x="19144" y="13860"/>
                  <a:pt x="19134" y="13718"/>
                  <a:pt x="19132" y="13338"/>
                </a:cubicBezTo>
                <a:cubicBezTo>
                  <a:pt x="19131" y="12931"/>
                  <a:pt x="19137" y="12870"/>
                  <a:pt x="19202" y="12609"/>
                </a:cubicBezTo>
                <a:cubicBezTo>
                  <a:pt x="19307" y="12187"/>
                  <a:pt x="19438" y="11999"/>
                  <a:pt x="19741" y="11769"/>
                </a:cubicBezTo>
                <a:cubicBezTo>
                  <a:pt x="19886" y="11657"/>
                  <a:pt x="20099" y="11461"/>
                  <a:pt x="20210" y="11376"/>
                </a:cubicBezTo>
                <a:cubicBezTo>
                  <a:pt x="20307" y="11302"/>
                  <a:pt x="20366" y="11312"/>
                  <a:pt x="20401" y="11320"/>
                </a:cubicBezTo>
                <a:close/>
              </a:path>
            </a:pathLst>
          </a:custGeom>
          <a:ln w="12700">
            <a:miter lim="400000"/>
          </a:ln>
        </p:spPr>
      </p:pic>
      <p:pic>
        <p:nvPicPr>
          <p:cNvPr id="5155" name="图像" descr="图像">
            <a:extLst>
              <a:ext uri="{FF2B5EF4-FFF2-40B4-BE49-F238E27FC236}">
                <a16:creationId xmlns:a16="http://schemas.microsoft.com/office/drawing/2014/main" id="{D1DF51D0-AD27-C196-DA94-D377612ADCA4}"/>
              </a:ext>
            </a:extLst>
          </p:cNvPr>
          <p:cNvPicPr>
            <a:picLocks noChangeAspect="1"/>
          </p:cNvPicPr>
          <p:nvPr/>
        </p:nvPicPr>
        <p:blipFill>
          <a:blip r:embed="rId37">
            <a:extLst>
              <a:ext uri="{BEBA8EAE-BF5A-486C-A8C5-ECC9F3942E4B}">
                <a14:imgProps xmlns:a14="http://schemas.microsoft.com/office/drawing/2010/main">
                  <a14:imgLayer r:embed="rId38">
                    <a14:imgEffect>
                      <a14:backgroundRemoval t="40500" b="59000" l="5500" r="95500">
                        <a14:foregroundMark x1="13000" y1="45000" x2="13000" y2="45000"/>
                        <a14:foregroundMark x1="5500" y1="49000" x2="5500" y2="49000"/>
                        <a14:foregroundMark x1="10500" y1="57500" x2="10500" y2="57500"/>
                        <a14:foregroundMark x1="41500" y1="50000" x2="41500" y2="50000"/>
                        <a14:foregroundMark x1="52500" y1="50500" x2="52500" y2="50500"/>
                        <a14:foregroundMark x1="59000" y1="50500" x2="59000" y2="50500"/>
                        <a14:foregroundMark x1="71000" y1="50000" x2="71000" y2="50000"/>
                        <a14:foregroundMark x1="79000" y1="47500" x2="79000" y2="47500"/>
                        <a14:foregroundMark x1="88500" y1="51500" x2="88500" y2="51500"/>
                        <a14:foregroundMark x1="95500" y1="50500" x2="95500" y2="50500"/>
                      </a14:backgroundRemoval>
                    </a14:imgEffect>
                  </a14:imgLayer>
                </a14:imgProps>
              </a:ext>
            </a:extLst>
          </a:blip>
          <a:srcRect t="38585" b="38585"/>
          <a:stretch>
            <a:fillRect/>
          </a:stretch>
        </p:blipFill>
        <p:spPr>
          <a:xfrm>
            <a:off x="2222812" y="5673295"/>
            <a:ext cx="529280" cy="120825"/>
          </a:xfrm>
          <a:prstGeom prst="rect">
            <a:avLst/>
          </a:prstGeom>
          <a:ln w="12700">
            <a:miter lim="400000"/>
          </a:ln>
        </p:spPr>
      </p:pic>
      <p:sp>
        <p:nvSpPr>
          <p:cNvPr id="5158" name="Rectangle 8">
            <a:extLst>
              <a:ext uri="{FF2B5EF4-FFF2-40B4-BE49-F238E27FC236}">
                <a16:creationId xmlns:a16="http://schemas.microsoft.com/office/drawing/2014/main" id="{E0F8A186-E497-6124-BC2A-570D8C234526}"/>
              </a:ext>
            </a:extLst>
          </p:cNvPr>
          <p:cNvSpPr>
            <a:spLocks noChangeArrowheads="1"/>
          </p:cNvSpPr>
          <p:nvPr/>
        </p:nvSpPr>
        <p:spPr bwMode="auto">
          <a:xfrm>
            <a:off x="1079929" y="5756288"/>
            <a:ext cx="137885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CN" altLang="en-US" sz="1000" dirty="0">
                <a:solidFill>
                  <a:srgbClr val="000000"/>
                </a:solidFill>
                <a:cs typeface="+mn-ea"/>
                <a:sym typeface="+mn-lt"/>
              </a:rPr>
              <a:t>腾讯</a:t>
            </a:r>
            <a:r>
              <a:rPr lang="en-US" altLang="zh-CN" sz="1000" dirty="0">
                <a:solidFill>
                  <a:srgbClr val="000000"/>
                </a:solidFill>
                <a:cs typeface="+mn-ea"/>
                <a:sym typeface="+mn-lt"/>
              </a:rPr>
              <a:t>JDM</a:t>
            </a:r>
            <a:r>
              <a:rPr lang="zh-CN" altLang="en-US" sz="1000" dirty="0">
                <a:solidFill>
                  <a:srgbClr val="000000"/>
                </a:solidFill>
                <a:cs typeface="+mn-ea"/>
                <a:sym typeface="+mn-lt"/>
              </a:rPr>
              <a:t>合作</a:t>
            </a:r>
            <a:endParaRPr kumimoji="0" lang="zh-CN" altLang="zh-CN" sz="1000" b="0" i="0" u="none" strike="noStrike" cap="none" normalizeH="0" baseline="0" dirty="0">
              <a:ln>
                <a:noFill/>
              </a:ln>
              <a:solidFill>
                <a:schemeClr val="tx1"/>
              </a:solidFill>
              <a:effectLst/>
              <a:cs typeface="+mn-ea"/>
              <a:sym typeface="+mn-lt"/>
            </a:endParaRPr>
          </a:p>
        </p:txBody>
      </p:sp>
      <p:sp>
        <p:nvSpPr>
          <p:cNvPr id="5161" name="Rectangle 8">
            <a:extLst>
              <a:ext uri="{FF2B5EF4-FFF2-40B4-BE49-F238E27FC236}">
                <a16:creationId xmlns:a16="http://schemas.microsoft.com/office/drawing/2014/main" id="{60BD655F-3DEC-B0FC-30F4-0F6B0A4DE093}"/>
              </a:ext>
            </a:extLst>
          </p:cNvPr>
          <p:cNvSpPr>
            <a:spLocks noChangeArrowheads="1"/>
          </p:cNvSpPr>
          <p:nvPr/>
        </p:nvSpPr>
        <p:spPr bwMode="auto">
          <a:xfrm>
            <a:off x="6765403" y="5495986"/>
            <a:ext cx="219075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1000" dirty="0">
                <a:solidFill>
                  <a:srgbClr val="000000"/>
                </a:solidFill>
                <a:cs typeface="+mn-ea"/>
                <a:sym typeface="+mn-lt"/>
              </a:rPr>
              <a:t>出货阶段</a:t>
            </a:r>
            <a:r>
              <a:rPr kumimoji="0" lang="zh-CN" altLang="zh-CN" sz="1000" b="0" i="0" u="none" strike="noStrike" cap="none" normalizeH="0" baseline="0" dirty="0">
                <a:ln>
                  <a:noFill/>
                </a:ln>
                <a:solidFill>
                  <a:srgbClr val="000000"/>
                </a:solidFill>
                <a:effectLst/>
                <a:cs typeface="+mn-ea"/>
                <a:sym typeface="+mn-lt"/>
              </a:rPr>
              <a:t>，</a:t>
            </a:r>
            <a:r>
              <a:rPr kumimoji="0" lang="en-US" altLang="zh-CN" sz="1000" b="0" i="0" u="none" strike="noStrike" cap="none" normalizeH="0" baseline="0" dirty="0">
                <a:ln>
                  <a:noFill/>
                </a:ln>
                <a:solidFill>
                  <a:srgbClr val="000000"/>
                </a:solidFill>
                <a:effectLst/>
                <a:cs typeface="+mn-ea"/>
                <a:sym typeface="+mn-lt"/>
              </a:rPr>
              <a:t>CPO</a:t>
            </a:r>
            <a:r>
              <a:rPr kumimoji="0" lang="zh-CN" altLang="en-US" sz="1000" b="0" i="0" u="none" strike="noStrike" cap="none" normalizeH="0" baseline="0" dirty="0">
                <a:ln>
                  <a:noFill/>
                </a:ln>
                <a:solidFill>
                  <a:srgbClr val="000000"/>
                </a:solidFill>
                <a:effectLst/>
                <a:cs typeface="+mn-ea"/>
                <a:sym typeface="+mn-lt"/>
              </a:rPr>
              <a:t>布局中</a:t>
            </a:r>
            <a:endParaRPr kumimoji="0" lang="zh-CN" altLang="zh-CN" sz="1000" b="0" i="0" u="none" strike="noStrike" cap="none" normalizeH="0" baseline="0" dirty="0">
              <a:ln>
                <a:noFill/>
              </a:ln>
              <a:solidFill>
                <a:schemeClr val="tx1"/>
              </a:solidFill>
              <a:effectLst/>
              <a:cs typeface="+mn-ea"/>
              <a:sym typeface="+mn-lt"/>
            </a:endParaRPr>
          </a:p>
        </p:txBody>
      </p:sp>
      <p:pic>
        <p:nvPicPr>
          <p:cNvPr id="5166" name="图片 5165">
            <a:extLst>
              <a:ext uri="{FF2B5EF4-FFF2-40B4-BE49-F238E27FC236}">
                <a16:creationId xmlns:a16="http://schemas.microsoft.com/office/drawing/2014/main" id="{1A6C5F66-ECA8-3CA1-1B7E-96915B78F572}"/>
              </a:ext>
            </a:extLst>
          </p:cNvPr>
          <p:cNvPicPr>
            <a:picLocks noChangeAspect="1"/>
          </p:cNvPicPr>
          <p:nvPr/>
        </p:nvPicPr>
        <p:blipFill>
          <a:blip r:embed="rId39">
            <a:extLst>
              <a:ext uri="{BEBA8EAE-BF5A-486C-A8C5-ECC9F3942E4B}">
                <a14:imgProps xmlns:a14="http://schemas.microsoft.com/office/drawing/2010/main">
                  <a14:imgLayer r:embed="rId40">
                    <a14:imgEffect>
                      <a14:backgroundRemoval t="6410" b="89744" l="5067" r="94133">
                        <a14:foregroundMark x1="5333" y1="60256" x2="5333" y2="60256"/>
                        <a14:foregroundMark x1="12267" y1="61538" x2="12267" y2="61538"/>
                        <a14:foregroundMark x1="17067" y1="56410" x2="17067" y2="56410"/>
                        <a14:foregroundMark x1="28000" y1="52564" x2="28000" y2="52564"/>
                        <a14:foregroundMark x1="39467" y1="48718" x2="39467" y2="48718"/>
                        <a14:foregroundMark x1="57867" y1="53846" x2="57867" y2="53846"/>
                        <a14:foregroundMark x1="68267" y1="41026" x2="68267" y2="41026"/>
                        <a14:foregroundMark x1="77067" y1="37179" x2="77067" y2="37179"/>
                        <a14:foregroundMark x1="82667" y1="41026" x2="82667" y2="41026"/>
                        <a14:foregroundMark x1="91200" y1="53846" x2="91200" y2="53846"/>
                        <a14:foregroundMark x1="94133" y1="56410" x2="94133" y2="56410"/>
                      </a14:backgroundRemoval>
                    </a14:imgEffect>
                  </a14:imgLayer>
                </a14:imgProps>
              </a:ext>
            </a:extLst>
          </a:blip>
          <a:stretch>
            <a:fillRect/>
          </a:stretch>
        </p:blipFill>
        <p:spPr>
          <a:xfrm>
            <a:off x="1319761" y="4084459"/>
            <a:ext cx="662345" cy="137768"/>
          </a:xfrm>
          <a:prstGeom prst="rect">
            <a:avLst/>
          </a:prstGeom>
        </p:spPr>
      </p:pic>
      <p:sp>
        <p:nvSpPr>
          <p:cNvPr id="5136" name="矩形 5135">
            <a:extLst>
              <a:ext uri="{FF2B5EF4-FFF2-40B4-BE49-F238E27FC236}">
                <a16:creationId xmlns:a16="http://schemas.microsoft.com/office/drawing/2014/main" id="{CC6547B4-A482-9EEE-AF17-E8421F1F3FED}"/>
              </a:ext>
            </a:extLst>
          </p:cNvPr>
          <p:cNvSpPr/>
          <p:nvPr/>
        </p:nvSpPr>
        <p:spPr>
          <a:xfrm>
            <a:off x="10368555" y="2890325"/>
            <a:ext cx="574356" cy="2213303"/>
          </a:xfrm>
          <a:prstGeom prst="rect">
            <a:avLst/>
          </a:prstGeom>
          <a:solidFill>
            <a:srgbClr val="ECF6FF">
              <a:alpha val="75000"/>
            </a:srgbClr>
          </a:solid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69" name="图片 2068">
            <a:extLst>
              <a:ext uri="{FF2B5EF4-FFF2-40B4-BE49-F238E27FC236}">
                <a16:creationId xmlns:a16="http://schemas.microsoft.com/office/drawing/2014/main" id="{D544ED39-3EF7-50CB-502E-B74080C01BB4}"/>
              </a:ext>
            </a:extLst>
          </p:cNvPr>
          <p:cNvPicPr>
            <a:picLocks noChangeAspect="1"/>
          </p:cNvPicPr>
          <p:nvPr/>
        </p:nvPicPr>
        <p:blipFill>
          <a:blip r:embed="rId41">
            <a:extLst>
              <a:ext uri="{BEBA8EAE-BF5A-486C-A8C5-ECC9F3942E4B}">
                <a14:imgProps xmlns:a14="http://schemas.microsoft.com/office/drawing/2010/main">
                  <a14:imgLayer r:embed="rId42">
                    <a14:imgEffect>
                      <a14:backgroundRemoval t="9825" b="97544" l="6055" r="95872">
                        <a14:foregroundMark x1="14587" y1="42105" x2="14587" y2="42105"/>
                        <a14:foregroundMark x1="21101" y1="54737" x2="21101" y2="54737"/>
                        <a14:foregroundMark x1="27890" y1="62105" x2="27890" y2="62105"/>
                        <a14:foregroundMark x1="38349" y1="58596" x2="38349" y2="58596"/>
                        <a14:foregroundMark x1="53578" y1="50877" x2="53578" y2="50877"/>
                        <a14:foregroundMark x1="69633" y1="48070" x2="69633" y2="48070"/>
                        <a14:foregroundMark x1="78532" y1="45263" x2="78532" y2="45263"/>
                        <a14:foregroundMark x1="89541" y1="45263" x2="89541" y2="45263"/>
                        <a14:foregroundMark x1="95872" y1="76140" x2="95872" y2="76140"/>
                        <a14:foregroundMark x1="11468" y1="34737" x2="11468" y2="34737"/>
                        <a14:foregroundMark x1="6055" y1="97544" x2="6055" y2="97544"/>
                      </a14:backgroundRemoval>
                    </a14:imgEffect>
                  </a14:imgLayer>
                </a14:imgProps>
              </a:ext>
            </a:extLst>
          </a:blip>
          <a:stretch>
            <a:fillRect/>
          </a:stretch>
        </p:blipFill>
        <p:spPr>
          <a:xfrm>
            <a:off x="10380244" y="2912647"/>
            <a:ext cx="535879" cy="140115"/>
          </a:xfrm>
          <a:prstGeom prst="rect">
            <a:avLst/>
          </a:prstGeom>
          <a:ln>
            <a:noFill/>
          </a:ln>
        </p:spPr>
      </p:pic>
      <p:pic>
        <p:nvPicPr>
          <p:cNvPr id="5162" name="图像" descr="图像">
            <a:extLst>
              <a:ext uri="{FF2B5EF4-FFF2-40B4-BE49-F238E27FC236}">
                <a16:creationId xmlns:a16="http://schemas.microsoft.com/office/drawing/2014/main" id="{AE766B19-F1E9-8A57-51D2-D97C143924A1}"/>
              </a:ext>
            </a:extLst>
          </p:cNvPr>
          <p:cNvPicPr>
            <a:picLocks noChangeAspect="1"/>
          </p:cNvPicPr>
          <p:nvPr/>
        </p:nvPicPr>
        <p:blipFill>
          <a:blip r:embed="rId43"/>
          <a:stretch>
            <a:fillRect/>
          </a:stretch>
        </p:blipFill>
        <p:spPr>
          <a:xfrm>
            <a:off x="11054306" y="1748646"/>
            <a:ext cx="368301" cy="400220"/>
          </a:xfrm>
          <a:prstGeom prst="rect">
            <a:avLst/>
          </a:prstGeom>
          <a:ln w="12700">
            <a:noFill/>
            <a:miter lim="400000"/>
          </a:ln>
        </p:spPr>
      </p:pic>
      <p:pic>
        <p:nvPicPr>
          <p:cNvPr id="5163" name="图像" descr="图像">
            <a:extLst>
              <a:ext uri="{FF2B5EF4-FFF2-40B4-BE49-F238E27FC236}">
                <a16:creationId xmlns:a16="http://schemas.microsoft.com/office/drawing/2014/main" id="{3784BCC1-35B4-3C8C-2D64-A6132373C7F4}"/>
              </a:ext>
            </a:extLst>
          </p:cNvPr>
          <p:cNvPicPr>
            <a:picLocks noChangeAspect="1"/>
          </p:cNvPicPr>
          <p:nvPr/>
        </p:nvPicPr>
        <p:blipFill>
          <a:blip r:embed="rId44"/>
          <a:stretch>
            <a:fillRect/>
          </a:stretch>
        </p:blipFill>
        <p:spPr>
          <a:xfrm>
            <a:off x="10439287" y="2301358"/>
            <a:ext cx="519169" cy="191516"/>
          </a:xfrm>
          <a:prstGeom prst="rect">
            <a:avLst/>
          </a:prstGeom>
          <a:ln w="12700">
            <a:noFill/>
            <a:miter lim="400000"/>
          </a:ln>
        </p:spPr>
      </p:pic>
      <p:pic>
        <p:nvPicPr>
          <p:cNvPr id="5168" name="图像" descr="图像">
            <a:extLst>
              <a:ext uri="{FF2B5EF4-FFF2-40B4-BE49-F238E27FC236}">
                <a16:creationId xmlns:a16="http://schemas.microsoft.com/office/drawing/2014/main" id="{27E111D4-EAA8-DEB2-9C46-70F113E94BE4}"/>
              </a:ext>
            </a:extLst>
          </p:cNvPr>
          <p:cNvPicPr>
            <a:picLocks noChangeAspect="1"/>
          </p:cNvPicPr>
          <p:nvPr/>
        </p:nvPicPr>
        <p:blipFill>
          <a:blip r:embed="rId45"/>
          <a:srcRect l="5884" t="22886" r="3998" b="18237"/>
          <a:stretch>
            <a:fillRect/>
          </a:stretch>
        </p:blipFill>
        <p:spPr>
          <a:xfrm>
            <a:off x="10942911" y="5229798"/>
            <a:ext cx="672205" cy="128483"/>
          </a:xfrm>
          <a:custGeom>
            <a:avLst/>
            <a:gdLst/>
            <a:ahLst/>
            <a:cxnLst>
              <a:cxn ang="0">
                <a:pos x="wd2" y="hd2"/>
              </a:cxn>
              <a:cxn ang="5400000">
                <a:pos x="wd2" y="hd2"/>
              </a:cxn>
              <a:cxn ang="10800000">
                <a:pos x="wd2" y="hd2"/>
              </a:cxn>
              <a:cxn ang="16200000">
                <a:pos x="wd2" y="hd2"/>
              </a:cxn>
            </a:cxnLst>
            <a:rect l="0" t="0" r="r" b="b"/>
            <a:pathLst>
              <a:path w="21570" h="21468" extrusionOk="0">
                <a:moveTo>
                  <a:pt x="531" y="115"/>
                </a:moveTo>
                <a:cubicBezTo>
                  <a:pt x="415" y="261"/>
                  <a:pt x="60" y="3352"/>
                  <a:pt x="60" y="4226"/>
                </a:cubicBezTo>
                <a:cubicBezTo>
                  <a:pt x="60" y="4413"/>
                  <a:pt x="292" y="4558"/>
                  <a:pt x="620" y="4558"/>
                </a:cubicBezTo>
                <a:cubicBezTo>
                  <a:pt x="1208" y="4558"/>
                  <a:pt x="1312" y="4802"/>
                  <a:pt x="1206" y="5818"/>
                </a:cubicBezTo>
                <a:cubicBezTo>
                  <a:pt x="1172" y="6144"/>
                  <a:pt x="1067" y="7352"/>
                  <a:pt x="964" y="8537"/>
                </a:cubicBezTo>
                <a:cubicBezTo>
                  <a:pt x="552" y="13282"/>
                  <a:pt x="168" y="17657"/>
                  <a:pt x="85" y="18484"/>
                </a:cubicBezTo>
                <a:cubicBezTo>
                  <a:pt x="-24" y="19570"/>
                  <a:pt x="-30" y="20065"/>
                  <a:pt x="73" y="20274"/>
                </a:cubicBezTo>
                <a:cubicBezTo>
                  <a:pt x="116" y="20364"/>
                  <a:pt x="407" y="20371"/>
                  <a:pt x="722" y="20274"/>
                </a:cubicBezTo>
                <a:cubicBezTo>
                  <a:pt x="1205" y="20126"/>
                  <a:pt x="1317" y="19940"/>
                  <a:pt x="1410" y="19346"/>
                </a:cubicBezTo>
                <a:cubicBezTo>
                  <a:pt x="1470" y="18958"/>
                  <a:pt x="1511" y="18545"/>
                  <a:pt x="1512" y="18351"/>
                </a:cubicBezTo>
                <a:cubicBezTo>
                  <a:pt x="1512" y="18158"/>
                  <a:pt x="1573" y="17411"/>
                  <a:pt x="1639" y="16693"/>
                </a:cubicBezTo>
                <a:cubicBezTo>
                  <a:pt x="1783" y="15126"/>
                  <a:pt x="2133" y="11114"/>
                  <a:pt x="2250" y="9730"/>
                </a:cubicBezTo>
                <a:cubicBezTo>
                  <a:pt x="2297" y="9184"/>
                  <a:pt x="2403" y="7989"/>
                  <a:pt x="2480" y="7078"/>
                </a:cubicBezTo>
                <a:cubicBezTo>
                  <a:pt x="2711" y="4315"/>
                  <a:pt x="2737" y="4194"/>
                  <a:pt x="3346" y="4293"/>
                </a:cubicBezTo>
                <a:cubicBezTo>
                  <a:pt x="3638" y="4340"/>
                  <a:pt x="3892" y="4503"/>
                  <a:pt x="3906" y="4624"/>
                </a:cubicBezTo>
                <a:cubicBezTo>
                  <a:pt x="3920" y="4745"/>
                  <a:pt x="3865" y="5612"/>
                  <a:pt x="3779" y="6547"/>
                </a:cubicBezTo>
                <a:cubicBezTo>
                  <a:pt x="3692" y="7483"/>
                  <a:pt x="3626" y="8333"/>
                  <a:pt x="3626" y="8470"/>
                </a:cubicBezTo>
                <a:cubicBezTo>
                  <a:pt x="3625" y="9195"/>
                  <a:pt x="3288" y="10546"/>
                  <a:pt x="2951" y="11189"/>
                </a:cubicBezTo>
                <a:cubicBezTo>
                  <a:pt x="2535" y="11984"/>
                  <a:pt x="2225" y="13290"/>
                  <a:pt x="2225" y="14240"/>
                </a:cubicBezTo>
                <a:cubicBezTo>
                  <a:pt x="2225" y="14960"/>
                  <a:pt x="2217" y="14984"/>
                  <a:pt x="2658" y="14372"/>
                </a:cubicBezTo>
                <a:cubicBezTo>
                  <a:pt x="2850" y="14107"/>
                  <a:pt x="3028" y="13976"/>
                  <a:pt x="3053" y="14107"/>
                </a:cubicBezTo>
                <a:cubicBezTo>
                  <a:pt x="3078" y="14238"/>
                  <a:pt x="3015" y="15281"/>
                  <a:pt x="2913" y="16428"/>
                </a:cubicBezTo>
                <a:cubicBezTo>
                  <a:pt x="2810" y="17575"/>
                  <a:pt x="2718" y="18898"/>
                  <a:pt x="2696" y="19346"/>
                </a:cubicBezTo>
                <a:lnTo>
                  <a:pt x="2645" y="20142"/>
                </a:lnTo>
                <a:lnTo>
                  <a:pt x="3282" y="20142"/>
                </a:lnTo>
                <a:cubicBezTo>
                  <a:pt x="3627" y="20139"/>
                  <a:pt x="3932" y="20010"/>
                  <a:pt x="3970" y="19876"/>
                </a:cubicBezTo>
                <a:cubicBezTo>
                  <a:pt x="4007" y="19743"/>
                  <a:pt x="4106" y="18931"/>
                  <a:pt x="4186" y="18020"/>
                </a:cubicBezTo>
                <a:cubicBezTo>
                  <a:pt x="4267" y="17108"/>
                  <a:pt x="4395" y="15703"/>
                  <a:pt x="4466" y="14903"/>
                </a:cubicBezTo>
                <a:lnTo>
                  <a:pt x="4594" y="13444"/>
                </a:lnTo>
                <a:lnTo>
                  <a:pt x="5192" y="13643"/>
                </a:lnTo>
                <a:cubicBezTo>
                  <a:pt x="6468" y="14039"/>
                  <a:pt x="7619" y="12127"/>
                  <a:pt x="7828" y="9266"/>
                </a:cubicBezTo>
                <a:cubicBezTo>
                  <a:pt x="7886" y="8477"/>
                  <a:pt x="7904" y="8451"/>
                  <a:pt x="7981" y="9001"/>
                </a:cubicBezTo>
                <a:cubicBezTo>
                  <a:pt x="8096" y="9816"/>
                  <a:pt x="8580" y="9435"/>
                  <a:pt x="8580" y="8537"/>
                </a:cubicBezTo>
                <a:cubicBezTo>
                  <a:pt x="8580" y="7810"/>
                  <a:pt x="8291" y="7423"/>
                  <a:pt x="7994" y="7741"/>
                </a:cubicBezTo>
                <a:cubicBezTo>
                  <a:pt x="7880" y="7863"/>
                  <a:pt x="7581" y="8501"/>
                  <a:pt x="7332" y="9134"/>
                </a:cubicBezTo>
                <a:cubicBezTo>
                  <a:pt x="6807" y="10465"/>
                  <a:pt x="6256" y="10955"/>
                  <a:pt x="5663" y="10659"/>
                </a:cubicBezTo>
                <a:cubicBezTo>
                  <a:pt x="5172" y="10413"/>
                  <a:pt x="4963" y="10055"/>
                  <a:pt x="4963" y="9465"/>
                </a:cubicBezTo>
                <a:cubicBezTo>
                  <a:pt x="4963" y="9228"/>
                  <a:pt x="5056" y="7957"/>
                  <a:pt x="5180" y="6614"/>
                </a:cubicBezTo>
                <a:lnTo>
                  <a:pt x="5409" y="4160"/>
                </a:lnTo>
                <a:lnTo>
                  <a:pt x="6479" y="4359"/>
                </a:lnTo>
                <a:lnTo>
                  <a:pt x="7548" y="4624"/>
                </a:lnTo>
                <a:lnTo>
                  <a:pt x="7727" y="2569"/>
                </a:lnTo>
                <a:cubicBezTo>
                  <a:pt x="7823" y="1451"/>
                  <a:pt x="7878" y="437"/>
                  <a:pt x="7854" y="314"/>
                </a:cubicBezTo>
                <a:cubicBezTo>
                  <a:pt x="7805" y="59"/>
                  <a:pt x="728" y="-132"/>
                  <a:pt x="531" y="115"/>
                </a:cubicBezTo>
                <a:close/>
                <a:moveTo>
                  <a:pt x="10108" y="248"/>
                </a:moveTo>
                <a:cubicBezTo>
                  <a:pt x="9939" y="248"/>
                  <a:pt x="9917" y="374"/>
                  <a:pt x="9917" y="1375"/>
                </a:cubicBezTo>
                <a:cubicBezTo>
                  <a:pt x="9917" y="2648"/>
                  <a:pt x="9870" y="3024"/>
                  <a:pt x="9764" y="2569"/>
                </a:cubicBezTo>
                <a:cubicBezTo>
                  <a:pt x="9724" y="2393"/>
                  <a:pt x="9592" y="2221"/>
                  <a:pt x="9471" y="2171"/>
                </a:cubicBezTo>
                <a:cubicBezTo>
                  <a:pt x="9290" y="2094"/>
                  <a:pt x="9255" y="2220"/>
                  <a:pt x="9255" y="2768"/>
                </a:cubicBezTo>
                <a:cubicBezTo>
                  <a:pt x="9255" y="3159"/>
                  <a:pt x="9329" y="3569"/>
                  <a:pt x="9433" y="3829"/>
                </a:cubicBezTo>
                <a:cubicBezTo>
                  <a:pt x="9529" y="4069"/>
                  <a:pt x="9599" y="4571"/>
                  <a:pt x="9599" y="4890"/>
                </a:cubicBezTo>
                <a:cubicBezTo>
                  <a:pt x="9599" y="5208"/>
                  <a:pt x="9634" y="5603"/>
                  <a:pt x="9675" y="5818"/>
                </a:cubicBezTo>
                <a:cubicBezTo>
                  <a:pt x="9779" y="6357"/>
                  <a:pt x="9577" y="7572"/>
                  <a:pt x="9395" y="7476"/>
                </a:cubicBezTo>
                <a:cubicBezTo>
                  <a:pt x="9269" y="7409"/>
                  <a:pt x="9252" y="7607"/>
                  <a:pt x="9191" y="10526"/>
                </a:cubicBezTo>
                <a:cubicBezTo>
                  <a:pt x="9155" y="12258"/>
                  <a:pt x="9104" y="13881"/>
                  <a:pt x="9077" y="14107"/>
                </a:cubicBezTo>
                <a:cubicBezTo>
                  <a:pt x="9010" y="14665"/>
                  <a:pt x="8754" y="13834"/>
                  <a:pt x="8656" y="12715"/>
                </a:cubicBezTo>
                <a:cubicBezTo>
                  <a:pt x="8613" y="12218"/>
                  <a:pt x="8533" y="11852"/>
                  <a:pt x="8453" y="11852"/>
                </a:cubicBezTo>
                <a:cubicBezTo>
                  <a:pt x="8334" y="11852"/>
                  <a:pt x="8322" y="12055"/>
                  <a:pt x="8338" y="13378"/>
                </a:cubicBezTo>
                <a:cubicBezTo>
                  <a:pt x="8348" y="14218"/>
                  <a:pt x="8317" y="15010"/>
                  <a:pt x="8274" y="15234"/>
                </a:cubicBezTo>
                <a:cubicBezTo>
                  <a:pt x="8136" y="15954"/>
                  <a:pt x="8197" y="16498"/>
                  <a:pt x="8440" y="16693"/>
                </a:cubicBezTo>
                <a:cubicBezTo>
                  <a:pt x="8758" y="16950"/>
                  <a:pt x="9560" y="17828"/>
                  <a:pt x="9955" y="18351"/>
                </a:cubicBezTo>
                <a:cubicBezTo>
                  <a:pt x="10130" y="18583"/>
                  <a:pt x="10336" y="18792"/>
                  <a:pt x="10414" y="18815"/>
                </a:cubicBezTo>
                <a:cubicBezTo>
                  <a:pt x="10632" y="18880"/>
                  <a:pt x="11390" y="17486"/>
                  <a:pt x="11611" y="16627"/>
                </a:cubicBezTo>
                <a:cubicBezTo>
                  <a:pt x="11719" y="16206"/>
                  <a:pt x="11859" y="15831"/>
                  <a:pt x="11917" y="15831"/>
                </a:cubicBezTo>
                <a:cubicBezTo>
                  <a:pt x="12051" y="15831"/>
                  <a:pt x="12049" y="15300"/>
                  <a:pt x="11917" y="15036"/>
                </a:cubicBezTo>
                <a:cubicBezTo>
                  <a:pt x="11861" y="14925"/>
                  <a:pt x="11604" y="14837"/>
                  <a:pt x="11331" y="14837"/>
                </a:cubicBezTo>
                <a:cubicBezTo>
                  <a:pt x="10667" y="14837"/>
                  <a:pt x="10662" y="14791"/>
                  <a:pt x="10656" y="9730"/>
                </a:cubicBezTo>
                <a:lnTo>
                  <a:pt x="10643" y="5752"/>
                </a:lnTo>
                <a:lnTo>
                  <a:pt x="10452" y="5420"/>
                </a:lnTo>
                <a:cubicBezTo>
                  <a:pt x="10346" y="5238"/>
                  <a:pt x="10253" y="4939"/>
                  <a:pt x="10248" y="4757"/>
                </a:cubicBezTo>
                <a:cubicBezTo>
                  <a:pt x="10243" y="4575"/>
                  <a:pt x="10354" y="3784"/>
                  <a:pt x="10490" y="3033"/>
                </a:cubicBezTo>
                <a:cubicBezTo>
                  <a:pt x="10626" y="2281"/>
                  <a:pt x="10717" y="1503"/>
                  <a:pt x="10694" y="1309"/>
                </a:cubicBezTo>
                <a:cubicBezTo>
                  <a:pt x="10634" y="804"/>
                  <a:pt x="10327" y="248"/>
                  <a:pt x="10108" y="248"/>
                </a:cubicBezTo>
                <a:close/>
                <a:moveTo>
                  <a:pt x="15623" y="579"/>
                </a:moveTo>
                <a:cubicBezTo>
                  <a:pt x="15490" y="579"/>
                  <a:pt x="15474" y="819"/>
                  <a:pt x="15444" y="2966"/>
                </a:cubicBezTo>
                <a:cubicBezTo>
                  <a:pt x="15424" y="4459"/>
                  <a:pt x="15371" y="5501"/>
                  <a:pt x="15304" y="5884"/>
                </a:cubicBezTo>
                <a:cubicBezTo>
                  <a:pt x="15247" y="6213"/>
                  <a:pt x="15202" y="6545"/>
                  <a:pt x="15202" y="6680"/>
                </a:cubicBezTo>
                <a:cubicBezTo>
                  <a:pt x="15202" y="6815"/>
                  <a:pt x="15137" y="7409"/>
                  <a:pt x="15049" y="8006"/>
                </a:cubicBezTo>
                <a:cubicBezTo>
                  <a:pt x="14962" y="8604"/>
                  <a:pt x="14884" y="9470"/>
                  <a:pt x="14884" y="9863"/>
                </a:cubicBezTo>
                <a:cubicBezTo>
                  <a:pt x="14884" y="10438"/>
                  <a:pt x="14920" y="10526"/>
                  <a:pt x="15075" y="10526"/>
                </a:cubicBezTo>
                <a:cubicBezTo>
                  <a:pt x="15182" y="10526"/>
                  <a:pt x="15285" y="10731"/>
                  <a:pt x="15304" y="10990"/>
                </a:cubicBezTo>
                <a:cubicBezTo>
                  <a:pt x="15347" y="11568"/>
                  <a:pt x="15203" y="13130"/>
                  <a:pt x="15024" y="13975"/>
                </a:cubicBezTo>
                <a:cubicBezTo>
                  <a:pt x="14950" y="14321"/>
                  <a:pt x="14884" y="14943"/>
                  <a:pt x="14884" y="15301"/>
                </a:cubicBezTo>
                <a:cubicBezTo>
                  <a:pt x="14884" y="15841"/>
                  <a:pt x="14917" y="15877"/>
                  <a:pt x="15062" y="15699"/>
                </a:cubicBezTo>
                <a:cubicBezTo>
                  <a:pt x="15435" y="15242"/>
                  <a:pt x="15432" y="15211"/>
                  <a:pt x="15432" y="17158"/>
                </a:cubicBezTo>
                <a:cubicBezTo>
                  <a:pt x="15432" y="18876"/>
                  <a:pt x="15441" y="18986"/>
                  <a:pt x="15597" y="19081"/>
                </a:cubicBezTo>
                <a:cubicBezTo>
                  <a:pt x="15729" y="19160"/>
                  <a:pt x="15773" y="19023"/>
                  <a:pt x="15826" y="18285"/>
                </a:cubicBezTo>
                <a:cubicBezTo>
                  <a:pt x="15863" y="17774"/>
                  <a:pt x="15901" y="16789"/>
                  <a:pt x="15903" y="16097"/>
                </a:cubicBezTo>
                <a:cubicBezTo>
                  <a:pt x="15905" y="15404"/>
                  <a:pt x="15920" y="14681"/>
                  <a:pt x="15941" y="14505"/>
                </a:cubicBezTo>
                <a:cubicBezTo>
                  <a:pt x="15997" y="14033"/>
                  <a:pt x="16094" y="14452"/>
                  <a:pt x="16094" y="15168"/>
                </a:cubicBezTo>
                <a:cubicBezTo>
                  <a:pt x="16094" y="15552"/>
                  <a:pt x="16148" y="15832"/>
                  <a:pt x="16234" y="15898"/>
                </a:cubicBezTo>
                <a:cubicBezTo>
                  <a:pt x="16413" y="16034"/>
                  <a:pt x="16489" y="17447"/>
                  <a:pt x="16438" y="19744"/>
                </a:cubicBezTo>
                <a:cubicBezTo>
                  <a:pt x="16399" y="21444"/>
                  <a:pt x="16406" y="21468"/>
                  <a:pt x="16565" y="21468"/>
                </a:cubicBezTo>
                <a:cubicBezTo>
                  <a:pt x="16692" y="21468"/>
                  <a:pt x="16738" y="21265"/>
                  <a:pt x="16769" y="20540"/>
                </a:cubicBezTo>
                <a:cubicBezTo>
                  <a:pt x="16796" y="19888"/>
                  <a:pt x="16908" y="19251"/>
                  <a:pt x="17151" y="18418"/>
                </a:cubicBezTo>
                <a:lnTo>
                  <a:pt x="17495" y="17224"/>
                </a:lnTo>
                <a:lnTo>
                  <a:pt x="17928" y="18351"/>
                </a:lnTo>
                <a:cubicBezTo>
                  <a:pt x="18406" y="19607"/>
                  <a:pt x="18394" y="19608"/>
                  <a:pt x="18513" y="19213"/>
                </a:cubicBezTo>
                <a:cubicBezTo>
                  <a:pt x="18651" y="18760"/>
                  <a:pt x="18532" y="17636"/>
                  <a:pt x="18272" y="16826"/>
                </a:cubicBezTo>
                <a:cubicBezTo>
                  <a:pt x="17806" y="15377"/>
                  <a:pt x="17773" y="15069"/>
                  <a:pt x="17788" y="12715"/>
                </a:cubicBezTo>
                <a:cubicBezTo>
                  <a:pt x="17797" y="11112"/>
                  <a:pt x="17840" y="10330"/>
                  <a:pt x="17940" y="9664"/>
                </a:cubicBezTo>
                <a:cubicBezTo>
                  <a:pt x="18014" y="9175"/>
                  <a:pt x="18068" y="8437"/>
                  <a:pt x="18068" y="8006"/>
                </a:cubicBezTo>
                <a:cubicBezTo>
                  <a:pt x="18068" y="7360"/>
                  <a:pt x="18044" y="7211"/>
                  <a:pt x="17889" y="7211"/>
                </a:cubicBezTo>
                <a:cubicBezTo>
                  <a:pt x="17786" y="7211"/>
                  <a:pt x="17682" y="7357"/>
                  <a:pt x="17660" y="7542"/>
                </a:cubicBezTo>
                <a:cubicBezTo>
                  <a:pt x="17638" y="7727"/>
                  <a:pt x="17583" y="7795"/>
                  <a:pt x="17546" y="7675"/>
                </a:cubicBezTo>
                <a:cubicBezTo>
                  <a:pt x="17500" y="7528"/>
                  <a:pt x="17493" y="6398"/>
                  <a:pt x="17520" y="4226"/>
                </a:cubicBezTo>
                <a:cubicBezTo>
                  <a:pt x="17546" y="2166"/>
                  <a:pt x="17535" y="909"/>
                  <a:pt x="17495" y="778"/>
                </a:cubicBezTo>
                <a:cubicBezTo>
                  <a:pt x="17384" y="420"/>
                  <a:pt x="17184" y="931"/>
                  <a:pt x="17164" y="1640"/>
                </a:cubicBezTo>
                <a:cubicBezTo>
                  <a:pt x="17150" y="2094"/>
                  <a:pt x="17063" y="2470"/>
                  <a:pt x="16896" y="2768"/>
                </a:cubicBezTo>
                <a:cubicBezTo>
                  <a:pt x="16595" y="3305"/>
                  <a:pt x="16540" y="3177"/>
                  <a:pt x="16540" y="1905"/>
                </a:cubicBezTo>
                <a:cubicBezTo>
                  <a:pt x="16540" y="1100"/>
                  <a:pt x="16512" y="911"/>
                  <a:pt x="16387" y="911"/>
                </a:cubicBezTo>
                <a:cubicBezTo>
                  <a:pt x="16133" y="911"/>
                  <a:pt x="16056" y="1774"/>
                  <a:pt x="16145" y="3497"/>
                </a:cubicBezTo>
                <a:cubicBezTo>
                  <a:pt x="16201" y="4591"/>
                  <a:pt x="16209" y="5113"/>
                  <a:pt x="16157" y="5619"/>
                </a:cubicBezTo>
                <a:cubicBezTo>
                  <a:pt x="16046" y="6699"/>
                  <a:pt x="15909" y="5713"/>
                  <a:pt x="15877" y="3563"/>
                </a:cubicBezTo>
                <a:cubicBezTo>
                  <a:pt x="15842" y="1176"/>
                  <a:pt x="15796" y="579"/>
                  <a:pt x="15623" y="579"/>
                </a:cubicBezTo>
                <a:close/>
                <a:moveTo>
                  <a:pt x="13254" y="712"/>
                </a:moveTo>
                <a:cubicBezTo>
                  <a:pt x="12917" y="383"/>
                  <a:pt x="12559" y="2006"/>
                  <a:pt x="12795" y="2768"/>
                </a:cubicBezTo>
                <a:cubicBezTo>
                  <a:pt x="12832" y="2886"/>
                  <a:pt x="12846" y="3167"/>
                  <a:pt x="12834" y="3364"/>
                </a:cubicBezTo>
                <a:cubicBezTo>
                  <a:pt x="12800" y="3889"/>
                  <a:pt x="12528" y="3883"/>
                  <a:pt x="12490" y="3364"/>
                </a:cubicBezTo>
                <a:cubicBezTo>
                  <a:pt x="12443" y="2726"/>
                  <a:pt x="12067" y="2809"/>
                  <a:pt x="11904" y="3497"/>
                </a:cubicBezTo>
                <a:cubicBezTo>
                  <a:pt x="11736" y="4207"/>
                  <a:pt x="11600" y="8504"/>
                  <a:pt x="11713" y="9598"/>
                </a:cubicBezTo>
                <a:cubicBezTo>
                  <a:pt x="11819" y="10628"/>
                  <a:pt x="12215" y="10326"/>
                  <a:pt x="12324" y="9134"/>
                </a:cubicBezTo>
                <a:cubicBezTo>
                  <a:pt x="12421" y="8072"/>
                  <a:pt x="12512" y="8038"/>
                  <a:pt x="12719" y="8868"/>
                </a:cubicBezTo>
                <a:lnTo>
                  <a:pt x="12872" y="9465"/>
                </a:lnTo>
                <a:lnTo>
                  <a:pt x="12630" y="10990"/>
                </a:lnTo>
                <a:cubicBezTo>
                  <a:pt x="12438" y="12300"/>
                  <a:pt x="12419" y="12685"/>
                  <a:pt x="12477" y="13245"/>
                </a:cubicBezTo>
                <a:cubicBezTo>
                  <a:pt x="12532" y="13785"/>
                  <a:pt x="12520" y="14045"/>
                  <a:pt x="12413" y="14638"/>
                </a:cubicBezTo>
                <a:cubicBezTo>
                  <a:pt x="12340" y="15042"/>
                  <a:pt x="12273" y="15820"/>
                  <a:pt x="12273" y="16296"/>
                </a:cubicBezTo>
                <a:cubicBezTo>
                  <a:pt x="12273" y="17350"/>
                  <a:pt x="12552" y="19085"/>
                  <a:pt x="12744" y="19280"/>
                </a:cubicBezTo>
                <a:cubicBezTo>
                  <a:pt x="12822" y="19358"/>
                  <a:pt x="13025" y="19454"/>
                  <a:pt x="13203" y="19479"/>
                </a:cubicBezTo>
                <a:cubicBezTo>
                  <a:pt x="13524" y="19523"/>
                  <a:pt x="13534" y="19490"/>
                  <a:pt x="13954" y="17224"/>
                </a:cubicBezTo>
                <a:cubicBezTo>
                  <a:pt x="14188" y="15965"/>
                  <a:pt x="14374" y="14803"/>
                  <a:pt x="14374" y="14638"/>
                </a:cubicBezTo>
                <a:cubicBezTo>
                  <a:pt x="14374" y="13880"/>
                  <a:pt x="14191" y="13145"/>
                  <a:pt x="13929" y="12914"/>
                </a:cubicBezTo>
                <a:cubicBezTo>
                  <a:pt x="13690" y="12703"/>
                  <a:pt x="13642" y="12530"/>
                  <a:pt x="13623" y="11852"/>
                </a:cubicBezTo>
                <a:cubicBezTo>
                  <a:pt x="13611" y="11406"/>
                  <a:pt x="13547" y="10893"/>
                  <a:pt x="13483" y="10659"/>
                </a:cubicBezTo>
                <a:cubicBezTo>
                  <a:pt x="13380" y="10284"/>
                  <a:pt x="13383" y="10077"/>
                  <a:pt x="13458" y="9333"/>
                </a:cubicBezTo>
                <a:cubicBezTo>
                  <a:pt x="13556" y="8344"/>
                  <a:pt x="13891" y="7023"/>
                  <a:pt x="14362" y="5752"/>
                </a:cubicBezTo>
                <a:cubicBezTo>
                  <a:pt x="14930" y="4217"/>
                  <a:pt x="14780" y="2900"/>
                  <a:pt x="14031" y="2900"/>
                </a:cubicBezTo>
                <a:cubicBezTo>
                  <a:pt x="13621" y="2900"/>
                  <a:pt x="13611" y="2930"/>
                  <a:pt x="13547" y="1972"/>
                </a:cubicBezTo>
                <a:cubicBezTo>
                  <a:pt x="13496" y="1217"/>
                  <a:pt x="13421" y="875"/>
                  <a:pt x="13254" y="712"/>
                </a:cubicBezTo>
                <a:close/>
                <a:moveTo>
                  <a:pt x="19940" y="1242"/>
                </a:moveTo>
                <a:cubicBezTo>
                  <a:pt x="19804" y="1264"/>
                  <a:pt x="19629" y="1515"/>
                  <a:pt x="19481" y="1972"/>
                </a:cubicBezTo>
                <a:cubicBezTo>
                  <a:pt x="18580" y="4768"/>
                  <a:pt x="18433" y="5479"/>
                  <a:pt x="18361" y="7542"/>
                </a:cubicBezTo>
                <a:cubicBezTo>
                  <a:pt x="18329" y="8443"/>
                  <a:pt x="18348" y="8925"/>
                  <a:pt x="18450" y="9598"/>
                </a:cubicBezTo>
                <a:cubicBezTo>
                  <a:pt x="18522" y="10077"/>
                  <a:pt x="18576" y="10978"/>
                  <a:pt x="18577" y="11587"/>
                </a:cubicBezTo>
                <a:cubicBezTo>
                  <a:pt x="18580" y="12941"/>
                  <a:pt x="18933" y="15131"/>
                  <a:pt x="19201" y="15500"/>
                </a:cubicBezTo>
                <a:cubicBezTo>
                  <a:pt x="19321" y="15664"/>
                  <a:pt x="19411" y="16126"/>
                  <a:pt x="19481" y="16892"/>
                </a:cubicBezTo>
                <a:cubicBezTo>
                  <a:pt x="19628" y="18491"/>
                  <a:pt x="19715" y="18802"/>
                  <a:pt x="20080" y="18948"/>
                </a:cubicBezTo>
                <a:cubicBezTo>
                  <a:pt x="20719" y="19205"/>
                  <a:pt x="20787" y="19151"/>
                  <a:pt x="20908" y="18683"/>
                </a:cubicBezTo>
                <a:cubicBezTo>
                  <a:pt x="21020" y="18248"/>
                  <a:pt x="21025" y="18172"/>
                  <a:pt x="20933" y="17688"/>
                </a:cubicBezTo>
                <a:cubicBezTo>
                  <a:pt x="20875" y="17378"/>
                  <a:pt x="20662" y="17029"/>
                  <a:pt x="20424" y="16892"/>
                </a:cubicBezTo>
                <a:cubicBezTo>
                  <a:pt x="19929" y="16608"/>
                  <a:pt x="19851" y="15944"/>
                  <a:pt x="20195" y="14837"/>
                </a:cubicBezTo>
                <a:cubicBezTo>
                  <a:pt x="20319" y="14436"/>
                  <a:pt x="20424" y="14049"/>
                  <a:pt x="20424" y="13908"/>
                </a:cubicBezTo>
                <a:cubicBezTo>
                  <a:pt x="20424" y="13767"/>
                  <a:pt x="20526" y="12918"/>
                  <a:pt x="20653" y="12051"/>
                </a:cubicBezTo>
                <a:cubicBezTo>
                  <a:pt x="20900" y="10366"/>
                  <a:pt x="20890" y="10070"/>
                  <a:pt x="20551" y="9664"/>
                </a:cubicBezTo>
                <a:cubicBezTo>
                  <a:pt x="20227" y="9276"/>
                  <a:pt x="20236" y="9332"/>
                  <a:pt x="20322" y="7807"/>
                </a:cubicBezTo>
                <a:cubicBezTo>
                  <a:pt x="20397" y="6468"/>
                  <a:pt x="20409" y="6437"/>
                  <a:pt x="20615" y="6481"/>
                </a:cubicBezTo>
                <a:cubicBezTo>
                  <a:pt x="20736" y="6507"/>
                  <a:pt x="20963" y="6612"/>
                  <a:pt x="21112" y="6746"/>
                </a:cubicBezTo>
                <a:cubicBezTo>
                  <a:pt x="21444" y="7048"/>
                  <a:pt x="21570" y="6588"/>
                  <a:pt x="21570" y="5088"/>
                </a:cubicBezTo>
                <a:cubicBezTo>
                  <a:pt x="21570" y="3771"/>
                  <a:pt x="21466" y="3263"/>
                  <a:pt x="21137" y="3033"/>
                </a:cubicBezTo>
                <a:cubicBezTo>
                  <a:pt x="20903" y="2869"/>
                  <a:pt x="20296" y="3561"/>
                  <a:pt x="20029" y="4293"/>
                </a:cubicBezTo>
                <a:cubicBezTo>
                  <a:pt x="19853" y="4775"/>
                  <a:pt x="19846" y="4064"/>
                  <a:pt x="20016" y="3232"/>
                </a:cubicBezTo>
                <a:cubicBezTo>
                  <a:pt x="20103" y="2809"/>
                  <a:pt x="20169" y="2238"/>
                  <a:pt x="20169" y="1905"/>
                </a:cubicBezTo>
                <a:cubicBezTo>
                  <a:pt x="20169" y="1472"/>
                  <a:pt x="20076" y="1221"/>
                  <a:pt x="19940" y="1242"/>
                </a:cubicBezTo>
                <a:close/>
                <a:moveTo>
                  <a:pt x="13903" y="3696"/>
                </a:moveTo>
                <a:cubicBezTo>
                  <a:pt x="13992" y="3872"/>
                  <a:pt x="13957" y="4202"/>
                  <a:pt x="13687" y="5553"/>
                </a:cubicBezTo>
                <a:cubicBezTo>
                  <a:pt x="13371" y="7127"/>
                  <a:pt x="13102" y="7705"/>
                  <a:pt x="13012" y="6945"/>
                </a:cubicBezTo>
                <a:cubicBezTo>
                  <a:pt x="12973" y="6616"/>
                  <a:pt x="13270" y="5221"/>
                  <a:pt x="13381" y="5221"/>
                </a:cubicBezTo>
                <a:cubicBezTo>
                  <a:pt x="13418" y="5221"/>
                  <a:pt x="13527" y="4838"/>
                  <a:pt x="13623" y="4359"/>
                </a:cubicBezTo>
                <a:cubicBezTo>
                  <a:pt x="13736" y="3794"/>
                  <a:pt x="13833" y="3556"/>
                  <a:pt x="13903" y="3696"/>
                </a:cubicBezTo>
                <a:close/>
                <a:moveTo>
                  <a:pt x="16043" y="10128"/>
                </a:moveTo>
                <a:cubicBezTo>
                  <a:pt x="16104" y="10444"/>
                  <a:pt x="16094" y="10653"/>
                  <a:pt x="16030" y="11057"/>
                </a:cubicBezTo>
                <a:cubicBezTo>
                  <a:pt x="15872" y="12048"/>
                  <a:pt x="15730" y="11364"/>
                  <a:pt x="15877" y="10327"/>
                </a:cubicBezTo>
                <a:cubicBezTo>
                  <a:pt x="15947" y="9835"/>
                  <a:pt x="15982" y="9815"/>
                  <a:pt x="16043" y="10128"/>
                </a:cubicBezTo>
                <a:close/>
              </a:path>
            </a:pathLst>
          </a:custGeom>
          <a:ln w="12700">
            <a:noFill/>
            <a:miter lim="400000"/>
          </a:ln>
        </p:spPr>
      </p:pic>
      <p:pic>
        <p:nvPicPr>
          <p:cNvPr id="5169" name="图像" descr="图像">
            <a:extLst>
              <a:ext uri="{FF2B5EF4-FFF2-40B4-BE49-F238E27FC236}">
                <a16:creationId xmlns:a16="http://schemas.microsoft.com/office/drawing/2014/main" id="{E00FCCC2-04E9-25E7-04F6-1208DAA73F71}"/>
              </a:ext>
            </a:extLst>
          </p:cNvPr>
          <p:cNvPicPr>
            <a:picLocks noChangeAspect="1"/>
          </p:cNvPicPr>
          <p:nvPr/>
        </p:nvPicPr>
        <p:blipFill>
          <a:blip r:embed="rId46"/>
          <a:stretch>
            <a:fillRect/>
          </a:stretch>
        </p:blipFill>
        <p:spPr>
          <a:xfrm>
            <a:off x="10430482" y="1815826"/>
            <a:ext cx="353168" cy="278120"/>
          </a:xfrm>
          <a:prstGeom prst="rect">
            <a:avLst/>
          </a:prstGeom>
          <a:ln w="12700">
            <a:noFill/>
            <a:miter lim="400000"/>
          </a:ln>
        </p:spPr>
      </p:pic>
      <p:pic>
        <p:nvPicPr>
          <p:cNvPr id="5170" name="图片 5169">
            <a:extLst>
              <a:ext uri="{FF2B5EF4-FFF2-40B4-BE49-F238E27FC236}">
                <a16:creationId xmlns:a16="http://schemas.microsoft.com/office/drawing/2014/main" id="{164921AF-4C84-1541-01D3-0DEF3326F29A}"/>
              </a:ext>
            </a:extLst>
          </p:cNvPr>
          <p:cNvPicPr>
            <a:picLocks noChangeAspect="1"/>
          </p:cNvPicPr>
          <p:nvPr/>
        </p:nvPicPr>
        <p:blipFill>
          <a:blip r:embed="rId47">
            <a:extLst>
              <a:ext uri="{BEBA8EAE-BF5A-486C-A8C5-ECC9F3942E4B}">
                <a14:imgProps xmlns:a14="http://schemas.microsoft.com/office/drawing/2010/main">
                  <a14:imgLayer r:embed="rId48">
                    <a14:imgEffect>
                      <a14:backgroundRemoval t="10000" b="90000" l="10000" r="90000">
                        <a14:foregroundMark x1="34286" y1="64516" x2="34286" y2="64516"/>
                        <a14:foregroundMark x1="24762" y1="83871" x2="24762" y2="83871"/>
                        <a14:foregroundMark x1="33095" y1="81505" x2="33095" y2="81505"/>
                        <a14:foregroundMark x1="55000" y1="75269" x2="55000" y2="75269"/>
                        <a14:foregroundMark x1="78571" y1="75699" x2="78571" y2="75699"/>
                      </a14:backgroundRemoval>
                    </a14:imgEffect>
                  </a14:imgLayer>
                </a14:imgProps>
              </a:ext>
            </a:extLst>
          </a:blip>
          <a:stretch>
            <a:fillRect/>
          </a:stretch>
        </p:blipFill>
        <p:spPr>
          <a:xfrm>
            <a:off x="11097250" y="2216424"/>
            <a:ext cx="304385" cy="336998"/>
          </a:xfrm>
          <a:prstGeom prst="rect">
            <a:avLst/>
          </a:prstGeom>
          <a:ln>
            <a:noFill/>
          </a:ln>
        </p:spPr>
      </p:pic>
      <p:pic>
        <p:nvPicPr>
          <p:cNvPr id="5174" name="图像" descr="图像">
            <a:extLst>
              <a:ext uri="{FF2B5EF4-FFF2-40B4-BE49-F238E27FC236}">
                <a16:creationId xmlns:a16="http://schemas.microsoft.com/office/drawing/2014/main" id="{E2CCDFCC-F613-BE03-F67B-4B1994BFB8C0}"/>
              </a:ext>
            </a:extLst>
          </p:cNvPr>
          <p:cNvPicPr>
            <a:picLocks noChangeAspect="1"/>
          </p:cNvPicPr>
          <p:nvPr/>
        </p:nvPicPr>
        <p:blipFill>
          <a:blip r:embed="rId19"/>
          <a:stretch>
            <a:fillRect/>
          </a:stretch>
        </p:blipFill>
        <p:spPr>
          <a:xfrm>
            <a:off x="1798120" y="1782528"/>
            <a:ext cx="365049" cy="290380"/>
          </a:xfrm>
          <a:prstGeom prst="rect">
            <a:avLst/>
          </a:prstGeom>
          <a:ln w="12700">
            <a:miter lim="400000"/>
          </a:ln>
        </p:spPr>
      </p:pic>
      <p:pic>
        <p:nvPicPr>
          <p:cNvPr id="5181" name="图像" descr="图像">
            <a:extLst>
              <a:ext uri="{FF2B5EF4-FFF2-40B4-BE49-F238E27FC236}">
                <a16:creationId xmlns:a16="http://schemas.microsoft.com/office/drawing/2014/main" id="{8DCA4ED4-666E-991B-D119-16B6D1898064}"/>
              </a:ext>
            </a:extLst>
          </p:cNvPr>
          <p:cNvPicPr>
            <a:picLocks noChangeAspect="1"/>
          </p:cNvPicPr>
          <p:nvPr/>
        </p:nvPicPr>
        <p:blipFill>
          <a:blip r:embed="rId49"/>
          <a:stretch>
            <a:fillRect/>
          </a:stretch>
        </p:blipFill>
        <p:spPr>
          <a:xfrm>
            <a:off x="2285435" y="1875012"/>
            <a:ext cx="497769" cy="147488"/>
          </a:xfrm>
          <a:prstGeom prst="rect">
            <a:avLst/>
          </a:prstGeom>
          <a:ln w="12700">
            <a:miter lim="400000"/>
          </a:ln>
        </p:spPr>
      </p:pic>
      <p:pic>
        <p:nvPicPr>
          <p:cNvPr id="5182" name="图片 5181">
            <a:extLst>
              <a:ext uri="{FF2B5EF4-FFF2-40B4-BE49-F238E27FC236}">
                <a16:creationId xmlns:a16="http://schemas.microsoft.com/office/drawing/2014/main" id="{F94D62F6-26D5-880C-AF8E-682DE8566B59}"/>
              </a:ext>
            </a:extLst>
          </p:cNvPr>
          <p:cNvPicPr>
            <a:picLocks noChangeAspect="1"/>
          </p:cNvPicPr>
          <p:nvPr/>
        </p:nvPicPr>
        <p:blipFill>
          <a:blip r:embed="rId50">
            <a:extLst>
              <a:ext uri="{BEBA8EAE-BF5A-486C-A8C5-ECC9F3942E4B}">
                <a14:imgProps xmlns:a14="http://schemas.microsoft.com/office/drawing/2010/main">
                  <a14:imgLayer r:embed="rId51">
                    <a14:imgEffect>
                      <a14:backgroundRemoval t="10000" b="90000" l="10000" r="90000">
                        <a14:foregroundMark x1="11245" y1="30952" x2="11245" y2="30952"/>
                        <a14:foregroundMark x1="14056" y1="53175" x2="14056" y2="53175"/>
                        <a14:foregroundMark x1="22088" y1="54762" x2="22088" y2="54762"/>
                        <a14:foregroundMark x1="47390" y1="52381" x2="47390" y2="52381"/>
                        <a14:foregroundMark x1="73896" y1="63492" x2="73896" y2="63492"/>
                        <a14:foregroundMark x1="85542" y1="57937" x2="85542" y2="57937"/>
                      </a14:backgroundRemoval>
                    </a14:imgEffect>
                  </a14:imgLayer>
                </a14:imgProps>
              </a:ext>
            </a:extLst>
          </a:blip>
          <a:stretch>
            <a:fillRect/>
          </a:stretch>
        </p:blipFill>
        <p:spPr>
          <a:xfrm>
            <a:off x="3402131" y="1865191"/>
            <a:ext cx="330283" cy="167131"/>
          </a:xfrm>
          <a:prstGeom prst="rect">
            <a:avLst/>
          </a:prstGeom>
        </p:spPr>
      </p:pic>
      <p:pic>
        <p:nvPicPr>
          <p:cNvPr id="5183" name="图片 5182">
            <a:extLst>
              <a:ext uri="{FF2B5EF4-FFF2-40B4-BE49-F238E27FC236}">
                <a16:creationId xmlns:a16="http://schemas.microsoft.com/office/drawing/2014/main" id="{3C8D45DF-7F01-8F77-E649-D0A6ADBE31EC}"/>
              </a:ext>
            </a:extLst>
          </p:cNvPr>
          <p:cNvPicPr>
            <a:picLocks noChangeAspect="1"/>
          </p:cNvPicPr>
          <p:nvPr/>
        </p:nvPicPr>
        <p:blipFill>
          <a:blip r:embed="rId52">
            <a:extLst>
              <a:ext uri="{BEBA8EAE-BF5A-486C-A8C5-ECC9F3942E4B}">
                <a14:imgProps xmlns:a14="http://schemas.microsoft.com/office/drawing/2010/main">
                  <a14:imgLayer r:embed="rId53">
                    <a14:imgEffect>
                      <a14:backgroundRemoval t="9804" b="89542" l="9690" r="91860">
                        <a14:foregroundMark x1="10078" y1="40523" x2="10078" y2="40523"/>
                        <a14:foregroundMark x1="20930" y1="37255" x2="20930" y2="37255"/>
                        <a14:foregroundMark x1="32171" y1="35948" x2="32171" y2="35948"/>
                        <a14:foregroundMark x1="40698" y1="37255" x2="40698" y2="37255"/>
                        <a14:foregroundMark x1="52713" y1="39869" x2="52713" y2="39869"/>
                        <a14:foregroundMark x1="60465" y1="35948" x2="60465" y2="35948"/>
                        <a14:foregroundMark x1="72093" y1="30719" x2="72093" y2="30719"/>
                        <a14:foregroundMark x1="81783" y1="36601" x2="81783" y2="36601"/>
                        <a14:foregroundMark x1="91860" y1="40523" x2="91860" y2="40523"/>
                        <a14:foregroundMark x1="23643" y1="68627" x2="23643" y2="68627"/>
                        <a14:foregroundMark x1="35271" y1="75163" x2="35271" y2="75163"/>
                        <a14:foregroundMark x1="45349" y1="71242" x2="45349" y2="71242"/>
                        <a14:foregroundMark x1="58140" y1="73203" x2="58140" y2="73203"/>
                      </a14:backgroundRemoval>
                    </a14:imgEffect>
                  </a14:imgLayer>
                </a14:imgProps>
              </a:ext>
            </a:extLst>
          </a:blip>
          <a:stretch>
            <a:fillRect/>
          </a:stretch>
        </p:blipFill>
        <p:spPr>
          <a:xfrm>
            <a:off x="1769354" y="2257596"/>
            <a:ext cx="429418" cy="254655"/>
          </a:xfrm>
          <a:prstGeom prst="rect">
            <a:avLst/>
          </a:prstGeom>
        </p:spPr>
      </p:pic>
      <p:pic>
        <p:nvPicPr>
          <p:cNvPr id="2051" name="图像" descr="图像">
            <a:extLst>
              <a:ext uri="{FF2B5EF4-FFF2-40B4-BE49-F238E27FC236}">
                <a16:creationId xmlns:a16="http://schemas.microsoft.com/office/drawing/2014/main" id="{22DC784D-0AFE-4F9D-8C45-1076FCB60FF1}"/>
              </a:ext>
            </a:extLst>
          </p:cNvPr>
          <p:cNvPicPr>
            <a:picLocks noChangeAspect="1"/>
          </p:cNvPicPr>
          <p:nvPr/>
        </p:nvPicPr>
        <p:blipFill>
          <a:blip r:embed="rId54">
            <a:extLst>
              <a:ext uri="{BEBA8EAE-BF5A-486C-A8C5-ECC9F3942E4B}">
                <a14:imgProps xmlns:a14="http://schemas.microsoft.com/office/drawing/2010/main">
                  <a14:imgLayer r:embed="rId55">
                    <a14:imgEffect>
                      <a14:backgroundRemoval t="4000" b="94667" l="4000" r="92000">
                        <a14:foregroundMark x1="21333" y1="26667" x2="21333" y2="26667"/>
                        <a14:foregroundMark x1="20000" y1="25333" x2="20000" y2="25333"/>
                        <a14:foregroundMark x1="16000" y1="40000" x2="16000" y2="40000"/>
                        <a14:foregroundMark x1="24000" y1="58667" x2="25333" y2="60000"/>
                        <a14:foregroundMark x1="33333" y1="66667" x2="33333" y2="66667"/>
                        <a14:foregroundMark x1="29333" y1="68000" x2="25333" y2="69333"/>
                        <a14:foregroundMark x1="18667" y1="69333" x2="18667" y2="69333"/>
                        <a14:foregroundMark x1="6667" y1="88000" x2="6667" y2="88000"/>
                        <a14:foregroundMark x1="16000" y1="89333" x2="16000" y2="89333"/>
                        <a14:foregroundMark x1="25333" y1="94667" x2="25333" y2="94667"/>
                        <a14:foregroundMark x1="42667" y1="88000" x2="42667" y2="88000"/>
                        <a14:foregroundMark x1="54667" y1="89333" x2="54667" y2="89333"/>
                        <a14:foregroundMark x1="61333" y1="86667" x2="61333" y2="86667"/>
                        <a14:foregroundMark x1="78667" y1="88000" x2="78667" y2="88000"/>
                        <a14:foregroundMark x1="88000" y1="90667" x2="88000" y2="90667"/>
                        <a14:foregroundMark x1="86667" y1="88000" x2="86667" y2="88000"/>
                        <a14:foregroundMark x1="93333" y1="88000" x2="93333" y2="88000"/>
                        <a14:foregroundMark x1="40000" y1="8000" x2="40000" y2="8000"/>
                        <a14:foregroundMark x1="44000" y1="5333" x2="44000" y2="5333"/>
                        <a14:foregroundMark x1="93333" y1="45333" x2="93333" y2="45333"/>
                        <a14:foregroundMark x1="77333" y1="69333" x2="77333" y2="69333"/>
                        <a14:foregroundMark x1="73333" y1="74667" x2="73333" y2="74667"/>
                        <a14:foregroundMark x1="78667" y1="72000" x2="78667" y2="72000"/>
                        <a14:foregroundMark x1="4000" y1="46667" x2="4000" y2="46667"/>
                        <a14:foregroundMark x1="12000" y1="45333" x2="12000" y2="45333"/>
                        <a14:foregroundMark x1="8000" y1="41333" x2="8000" y2="41333"/>
                        <a14:foregroundMark x1="17333" y1="25333" x2="17333" y2="25333"/>
                        <a14:foregroundMark x1="33333" y1="13333" x2="33333" y2="13333"/>
                        <a14:foregroundMark x1="85333" y1="82667" x2="85333" y2="82667"/>
                        <a14:foregroundMark x1="69333" y1="90667" x2="69333" y2="90667"/>
                        <a14:foregroundMark x1="21333" y1="86667" x2="21333" y2="86667"/>
                        <a14:foregroundMark x1="22667" y1="81333" x2="22667" y2="81333"/>
                        <a14:foregroundMark x1="12000" y1="88000" x2="12000" y2="88000"/>
                        <a14:backgroundMark x1="50667" y1="5333" x2="50667" y2="5333"/>
                        <a14:backgroundMark x1="50667" y1="77333" x2="50667" y2="77333"/>
                        <a14:backgroundMark x1="54667" y1="68000" x2="54667" y2="68000"/>
                        <a14:backgroundMark x1="46667" y1="62667" x2="46667" y2="62667"/>
                        <a14:backgroundMark x1="50667" y1="61333" x2="50667" y2="61333"/>
                        <a14:backgroundMark x1="54667" y1="62667" x2="54667" y2="62667"/>
                        <a14:backgroundMark x1="54667" y1="64000" x2="54667" y2="64000"/>
                        <a14:backgroundMark x1="54667" y1="64000" x2="54667" y2="64000"/>
                        <a14:backgroundMark x1="18667" y1="96000" x2="18667" y2="96000"/>
                        <a14:backgroundMark x1="89333" y1="85333" x2="89333" y2="85333"/>
                        <a14:backgroundMark x1="89333" y1="90667" x2="89333" y2="90667"/>
                      </a14:backgroundRemoval>
                    </a14:imgEffect>
                  </a14:imgLayer>
                </a14:imgProps>
              </a:ext>
            </a:extLst>
          </a:blip>
          <a:stretch>
            <a:fillRect/>
          </a:stretch>
        </p:blipFill>
        <p:spPr>
          <a:xfrm>
            <a:off x="9775588" y="2254545"/>
            <a:ext cx="283103" cy="283103"/>
          </a:xfrm>
          <a:prstGeom prst="rect">
            <a:avLst/>
          </a:prstGeom>
          <a:ln w="12700">
            <a:miter lim="400000"/>
          </a:ln>
        </p:spPr>
      </p:pic>
      <p:sp>
        <p:nvSpPr>
          <p:cNvPr id="2053" name="Rectangle 8">
            <a:extLst>
              <a:ext uri="{FF2B5EF4-FFF2-40B4-BE49-F238E27FC236}">
                <a16:creationId xmlns:a16="http://schemas.microsoft.com/office/drawing/2014/main" id="{AB76D570-7A7E-99D3-2B00-69317ED90434}"/>
              </a:ext>
            </a:extLst>
          </p:cNvPr>
          <p:cNvSpPr>
            <a:spLocks noChangeArrowheads="1"/>
          </p:cNvSpPr>
          <p:nvPr/>
        </p:nvSpPr>
        <p:spPr bwMode="auto">
          <a:xfrm>
            <a:off x="8997602" y="1518660"/>
            <a:ext cx="84249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1000" b="1" dirty="0">
                <a:solidFill>
                  <a:srgbClr val="000000"/>
                </a:solidFill>
                <a:cs typeface="+mn-ea"/>
                <a:sym typeface="+mn-lt"/>
              </a:rPr>
              <a:t>交换机</a:t>
            </a:r>
            <a:endParaRPr kumimoji="0" lang="zh-CN" altLang="zh-CN" sz="1000" b="1" i="0" u="none" strike="noStrike" cap="none" normalizeH="0" baseline="0" dirty="0">
              <a:ln>
                <a:noFill/>
              </a:ln>
              <a:solidFill>
                <a:schemeClr val="tx1"/>
              </a:solidFill>
              <a:effectLst/>
              <a:cs typeface="+mn-ea"/>
              <a:sym typeface="+mn-lt"/>
            </a:endParaRPr>
          </a:p>
        </p:txBody>
      </p:sp>
      <p:sp>
        <p:nvSpPr>
          <p:cNvPr id="2054" name="Rectangle 8">
            <a:extLst>
              <a:ext uri="{FF2B5EF4-FFF2-40B4-BE49-F238E27FC236}">
                <a16:creationId xmlns:a16="http://schemas.microsoft.com/office/drawing/2014/main" id="{CB571324-110E-7038-BD3E-35FB3F093FB9}"/>
              </a:ext>
            </a:extLst>
          </p:cNvPr>
          <p:cNvSpPr>
            <a:spLocks noChangeArrowheads="1"/>
          </p:cNvSpPr>
          <p:nvPr/>
        </p:nvSpPr>
        <p:spPr bwMode="auto">
          <a:xfrm>
            <a:off x="10324119" y="1518660"/>
            <a:ext cx="84249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1000" b="1" dirty="0">
                <a:solidFill>
                  <a:srgbClr val="000000"/>
                </a:solidFill>
                <a:cs typeface="+mn-ea"/>
                <a:sym typeface="+mn-lt"/>
              </a:rPr>
              <a:t>封测</a:t>
            </a:r>
            <a:endParaRPr kumimoji="0" lang="zh-CN" altLang="zh-CN" sz="1000" b="1" i="0" u="none" strike="noStrike" cap="none" normalizeH="0" baseline="0" dirty="0">
              <a:ln>
                <a:noFill/>
              </a:ln>
              <a:solidFill>
                <a:schemeClr val="tx1"/>
              </a:solidFill>
              <a:effectLst/>
              <a:cs typeface="+mn-ea"/>
              <a:sym typeface="+mn-lt"/>
            </a:endParaRPr>
          </a:p>
        </p:txBody>
      </p:sp>
      <p:pic>
        <p:nvPicPr>
          <p:cNvPr id="2056" name="图片 2055">
            <a:extLst>
              <a:ext uri="{FF2B5EF4-FFF2-40B4-BE49-F238E27FC236}">
                <a16:creationId xmlns:a16="http://schemas.microsoft.com/office/drawing/2014/main" id="{58382158-5C75-DD26-FAFC-F73BF653BA33}"/>
              </a:ext>
            </a:extLst>
          </p:cNvPr>
          <p:cNvPicPr>
            <a:picLocks noChangeAspect="1"/>
          </p:cNvPicPr>
          <p:nvPr/>
        </p:nvPicPr>
        <p:blipFill>
          <a:blip r:embed="rId56">
            <a:extLst>
              <a:ext uri="{BEBA8EAE-BF5A-486C-A8C5-ECC9F3942E4B}">
                <a14:imgProps xmlns:a14="http://schemas.microsoft.com/office/drawing/2010/main">
                  <a14:imgLayer r:embed="rId57">
                    <a14:imgEffect>
                      <a14:backgroundRemoval t="9877" b="89877" l="4526" r="96264">
                        <a14:foregroundMark x1="7687" y1="61235" x2="7687" y2="61235"/>
                        <a14:foregroundMark x1="4526" y1="76296" x2="4526" y2="76296"/>
                        <a14:foregroundMark x1="44684" y1="62469" x2="44684" y2="62469"/>
                        <a14:foregroundMark x1="52514" y1="56790" x2="52514" y2="56790"/>
                        <a14:foregroundMark x1="73635" y1="59753" x2="73635" y2="59753"/>
                        <a14:foregroundMark x1="83190" y1="63951" x2="83190" y2="63951"/>
                        <a14:foregroundMark x1="92888" y1="64198" x2="92888" y2="64198"/>
                        <a14:foregroundMark x1="96264" y1="79259" x2="96264" y2="79259"/>
                      </a14:backgroundRemoval>
                    </a14:imgEffect>
                  </a14:imgLayer>
                </a14:imgProps>
              </a:ext>
            </a:extLst>
          </a:blip>
          <a:srcRect t="23167" b="11856"/>
          <a:stretch/>
        </p:blipFill>
        <p:spPr>
          <a:xfrm>
            <a:off x="9765751" y="1903847"/>
            <a:ext cx="475097" cy="89818"/>
          </a:xfrm>
          <a:prstGeom prst="rect">
            <a:avLst/>
          </a:prstGeom>
        </p:spPr>
      </p:pic>
      <p:sp>
        <p:nvSpPr>
          <p:cNvPr id="2058" name="Rectangle 8">
            <a:extLst>
              <a:ext uri="{FF2B5EF4-FFF2-40B4-BE49-F238E27FC236}">
                <a16:creationId xmlns:a16="http://schemas.microsoft.com/office/drawing/2014/main" id="{2137F4A7-010E-E86A-CB33-ED2C7C50C5D8}"/>
              </a:ext>
            </a:extLst>
          </p:cNvPr>
          <p:cNvSpPr>
            <a:spLocks noChangeArrowheads="1"/>
          </p:cNvSpPr>
          <p:nvPr/>
        </p:nvSpPr>
        <p:spPr bwMode="auto">
          <a:xfrm>
            <a:off x="8997602" y="2611734"/>
            <a:ext cx="84249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1000" b="1" dirty="0">
                <a:solidFill>
                  <a:srgbClr val="000000"/>
                </a:solidFill>
                <a:cs typeface="+mn-ea"/>
                <a:sym typeface="+mn-lt"/>
              </a:rPr>
              <a:t>光模块</a:t>
            </a:r>
            <a:endParaRPr kumimoji="0" lang="zh-CN" altLang="zh-CN" sz="1000" b="1" i="0" u="none" strike="noStrike" cap="none" normalizeH="0" baseline="0" dirty="0">
              <a:ln>
                <a:noFill/>
              </a:ln>
              <a:solidFill>
                <a:schemeClr val="tx1"/>
              </a:solidFill>
              <a:effectLst/>
              <a:cs typeface="+mn-ea"/>
              <a:sym typeface="+mn-lt"/>
            </a:endParaRPr>
          </a:p>
        </p:txBody>
      </p:sp>
      <p:pic>
        <p:nvPicPr>
          <p:cNvPr id="2060" name="图片 2059">
            <a:extLst>
              <a:ext uri="{FF2B5EF4-FFF2-40B4-BE49-F238E27FC236}">
                <a16:creationId xmlns:a16="http://schemas.microsoft.com/office/drawing/2014/main" id="{5BAE109B-32DF-2CFA-ACD4-1A27319F2994}"/>
              </a:ext>
            </a:extLst>
          </p:cNvPr>
          <p:cNvPicPr>
            <a:picLocks noChangeAspect="1"/>
          </p:cNvPicPr>
          <p:nvPr/>
        </p:nvPicPr>
        <p:blipFill>
          <a:blip r:embed="rId58">
            <a:extLst>
              <a:ext uri="{BEBA8EAE-BF5A-486C-A8C5-ECC9F3942E4B}">
                <a14:imgProps xmlns:a14="http://schemas.microsoft.com/office/drawing/2010/main">
                  <a14:imgLayer r:embed="rId59">
                    <a14:imgEffect>
                      <a14:backgroundRemoval t="9644" b="94969" l="4716" r="93685">
                        <a14:foregroundMark x1="13909" y1="24319" x2="13909" y2="24319"/>
                        <a14:foregroundMark x1="13030" y1="75681" x2="13030" y2="75681"/>
                        <a14:foregroundMark x1="4956" y1="28721" x2="4956" y2="28721"/>
                        <a14:foregroundMark x1="8633" y1="95178" x2="8633" y2="95178"/>
                        <a14:foregroundMark x1="27978" y1="91824" x2="27978" y2="91824"/>
                        <a14:foregroundMark x1="29257" y1="30608" x2="29257" y2="30608"/>
                        <a14:foregroundMark x1="39408" y1="53669" x2="39408" y2="53669"/>
                        <a14:foregroundMark x1="45484" y1="53669" x2="45484" y2="53669"/>
                        <a14:foregroundMark x1="56914" y1="40671" x2="56914" y2="40671"/>
                        <a14:foregroundMark x1="62110" y1="40042" x2="62110" y2="40042"/>
                        <a14:foregroundMark x1="63389" y1="48008" x2="63389" y2="48008"/>
                        <a14:foregroundMark x1="59313" y1="62055" x2="59313" y2="62055"/>
                        <a14:foregroundMark x1="65388" y1="57023" x2="65388" y2="57023"/>
                        <a14:foregroundMark x1="69305" y1="49057" x2="69305" y2="49057"/>
                        <a14:foregroundMark x1="75140" y1="44444" x2="75140" y2="44444"/>
                        <a14:foregroundMark x1="83133" y1="42767" x2="83133" y2="42767"/>
                        <a14:foregroundMark x1="91287" y1="46960" x2="91287" y2="46960"/>
                        <a14:foregroundMark x1="93685" y1="44025" x2="93685" y2="44025"/>
                        <a14:foregroundMark x1="40288" y1="80503" x2="40288" y2="80503"/>
                        <a14:foregroundMark x1="45004" y1="80922" x2="45004" y2="80922"/>
                        <a14:foregroundMark x1="47162" y1="77568" x2="47162" y2="77568"/>
                        <a14:foregroundMark x1="53477" y1="83229" x2="53477" y2="83229"/>
                        <a14:foregroundMark x1="54756" y1="81971" x2="54756" y2="81971"/>
                        <a14:foregroundMark x1="60592" y1="81342" x2="60592" y2="81342"/>
                        <a14:foregroundMark x1="62270" y1="79874" x2="62270" y2="79874"/>
                        <a14:foregroundMark x1="64908" y1="84277" x2="64908" y2="84277"/>
                        <a14:foregroundMark x1="66906" y1="80922" x2="66906" y2="80922"/>
                        <a14:foregroundMark x1="71223" y1="79874" x2="71223" y2="79874"/>
                        <a14:foregroundMark x1="74820" y1="80922" x2="74820" y2="80922"/>
                        <a14:foregroundMark x1="79217" y1="81551" x2="79217" y2="81551"/>
                        <a14:foregroundMark x1="82414" y1="81342" x2="82414" y2="81342"/>
                        <a14:foregroundMark x1="83933" y1="80922" x2="83933" y2="80922"/>
                        <a14:foregroundMark x1="89369" y1="80922" x2="89369" y2="80922"/>
                        <a14:foregroundMark x1="92646" y1="77358" x2="92646" y2="77358"/>
                        <a14:foregroundMark x1="20783" y1="29350" x2="20783" y2="29350"/>
                      </a14:backgroundRemoval>
                    </a14:imgEffect>
                  </a14:imgLayer>
                </a14:imgProps>
              </a:ext>
            </a:extLst>
          </a:blip>
          <a:stretch>
            <a:fillRect/>
          </a:stretch>
        </p:blipFill>
        <p:spPr>
          <a:xfrm>
            <a:off x="1344889" y="4888643"/>
            <a:ext cx="431753" cy="164625"/>
          </a:xfrm>
          <a:prstGeom prst="rect">
            <a:avLst/>
          </a:prstGeom>
        </p:spPr>
      </p:pic>
      <p:pic>
        <p:nvPicPr>
          <p:cNvPr id="3074" name="Picture 2" descr="新易盛公司简介,成都新易盛通信技术股份有限公司企业概况_赢家财富网">
            <a:extLst>
              <a:ext uri="{FF2B5EF4-FFF2-40B4-BE49-F238E27FC236}">
                <a16:creationId xmlns:a16="http://schemas.microsoft.com/office/drawing/2014/main" id="{96190A70-1AB2-1B66-22BC-1684BE0861AE}"/>
              </a:ext>
            </a:extLst>
          </p:cNvPr>
          <p:cNvPicPr>
            <a:picLocks noChangeAspect="1" noChangeArrowheads="1"/>
          </p:cNvPicPr>
          <p:nvPr/>
        </p:nvPicPr>
        <p:blipFill>
          <a:blip r:embed="rId60" cstate="print">
            <a:extLst>
              <a:ext uri="{BEBA8EAE-BF5A-486C-A8C5-ECC9F3942E4B}">
                <a14:imgProps xmlns:a14="http://schemas.microsoft.com/office/drawing/2010/main">
                  <a14:imgLayer r:embed="rId61">
                    <a14:imgEffect>
                      <a14:backgroundRemoval t="10000" b="90000" l="10000" r="90000">
                        <a14:foregroundMark x1="46000" y1="56522" x2="46000" y2="56522"/>
                        <a14:foregroundMark x1="54000" y1="56522" x2="54000" y2="56522"/>
                        <a14:foregroundMark x1="59000" y1="54348" x2="59000" y2="54348"/>
                        <a14:foregroundMark x1="67500" y1="51087" x2="67500" y2="51087"/>
                        <a14:foregroundMark x1="72000" y1="51087" x2="72000" y2="51087"/>
                        <a14:foregroundMark x1="73000" y1="36957" x2="73000" y2="36957"/>
                        <a14:foregroundMark x1="76000" y1="52174" x2="76000" y2="52174"/>
                        <a14:foregroundMark x1="86000" y1="51087" x2="86000" y2="51087"/>
                        <a14:foregroundMark x1="28000" y1="51087" x2="28000" y2="51087"/>
                        <a14:foregroundMark x1="82014" y1="51563" x2="82014" y2="51563"/>
                      </a14:backgroundRemoval>
                    </a14:imgEffect>
                  </a14:imgLayer>
                </a14:imgProps>
              </a:ext>
              <a:ext uri="{28A0092B-C50C-407E-A947-70E740481C1C}">
                <a14:useLocalDpi xmlns:a14="http://schemas.microsoft.com/office/drawing/2010/main" val="0"/>
              </a:ext>
            </a:extLst>
          </a:blip>
          <a:srcRect/>
          <a:stretch>
            <a:fillRect/>
          </a:stretch>
        </p:blipFill>
        <p:spPr bwMode="auto">
          <a:xfrm>
            <a:off x="9605463" y="2813392"/>
            <a:ext cx="703555" cy="323635"/>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C3454100-9BA5-4893-EDD3-9B400AAE5A3F}"/>
              </a:ext>
            </a:extLst>
          </p:cNvPr>
          <p:cNvPicPr>
            <a:picLocks noChangeAspect="1"/>
          </p:cNvPicPr>
          <p:nvPr/>
        </p:nvPicPr>
        <p:blipFill>
          <a:blip r:embed="rId62">
            <a:extLst>
              <a:ext uri="{BEBA8EAE-BF5A-486C-A8C5-ECC9F3942E4B}">
                <a14:imgProps xmlns:a14="http://schemas.microsoft.com/office/drawing/2010/main">
                  <a14:imgLayer r:embed="rId63">
                    <a14:imgEffect>
                      <a14:backgroundRemoval t="9524" b="89418" l="5774" r="98730">
                        <a14:foregroundMark x1="9469" y1="35979" x2="9469" y2="35979"/>
                        <a14:foregroundMark x1="9584" y1="45503" x2="9584" y2="45503"/>
                        <a14:foregroundMark x1="7275" y1="66667" x2="7275" y2="66667"/>
                        <a14:foregroundMark x1="5889" y1="81481" x2="5889" y2="81481"/>
                        <a14:foregroundMark x1="12009" y1="65079" x2="12009" y2="65079"/>
                        <a14:foregroundMark x1="12125" y1="61376" x2="12125" y2="61376"/>
                        <a14:foregroundMark x1="23095" y1="46032" x2="23095" y2="46032"/>
                        <a14:foregroundMark x1="33025" y1="43915" x2="33025" y2="43915"/>
                        <a14:foregroundMark x1="46189" y1="53968" x2="46189" y2="53968"/>
                        <a14:foregroundMark x1="59238" y1="51852" x2="59238" y2="51852"/>
                        <a14:foregroundMark x1="63279" y1="54497" x2="63279" y2="54497"/>
                        <a14:foregroundMark x1="65589" y1="21164" x2="65589" y2="21164"/>
                        <a14:foregroundMark x1="85912" y1="46561" x2="85912" y2="46561"/>
                        <a14:foregroundMark x1="94342" y1="75661" x2="94342" y2="75661"/>
                        <a14:foregroundMark x1="98730" y1="24339" x2="98730" y2="24339"/>
                      </a14:backgroundRemoval>
                    </a14:imgEffect>
                  </a14:imgLayer>
                </a14:imgProps>
              </a:ext>
            </a:extLst>
          </a:blip>
          <a:stretch>
            <a:fillRect/>
          </a:stretch>
        </p:blipFill>
        <p:spPr>
          <a:xfrm>
            <a:off x="1319761" y="5253925"/>
            <a:ext cx="488440" cy="106599"/>
          </a:xfrm>
          <a:prstGeom prst="rect">
            <a:avLst/>
          </a:prstGeom>
        </p:spPr>
      </p:pic>
      <p:pic>
        <p:nvPicPr>
          <p:cNvPr id="1026" name="Picture 2" descr="华工科技新logo">
            <a:extLst>
              <a:ext uri="{FF2B5EF4-FFF2-40B4-BE49-F238E27FC236}">
                <a16:creationId xmlns:a16="http://schemas.microsoft.com/office/drawing/2014/main" id="{6FDCB53A-A7CB-0E2B-769C-9ECF7D4D48B4}"/>
              </a:ext>
            </a:extLst>
          </p:cNvPr>
          <p:cNvPicPr>
            <a:picLocks noChangeAspect="1" noChangeArrowheads="1"/>
          </p:cNvPicPr>
          <p:nvPr/>
        </p:nvPicPr>
        <p:blipFill>
          <a:blip r:embed="rId64" cstate="print">
            <a:extLst>
              <a:ext uri="{28A0092B-C50C-407E-A947-70E740481C1C}">
                <a14:useLocalDpi xmlns:a14="http://schemas.microsoft.com/office/drawing/2010/main" val="0"/>
              </a:ext>
            </a:extLst>
          </a:blip>
          <a:srcRect/>
          <a:stretch>
            <a:fillRect/>
          </a:stretch>
        </p:blipFill>
        <p:spPr bwMode="auto">
          <a:xfrm>
            <a:off x="2050119" y="5181896"/>
            <a:ext cx="286340" cy="250656"/>
          </a:xfrm>
          <a:prstGeom prst="rect">
            <a:avLst/>
          </a:prstGeom>
          <a:noFill/>
          <a:extLst>
            <a:ext uri="{909E8E84-426E-40DD-AFC4-6F175D3DCCD1}">
              <a14:hiddenFill xmlns:a14="http://schemas.microsoft.com/office/drawing/2010/main">
                <a:solidFill>
                  <a:srgbClr val="FFFFFF"/>
                </a:solidFill>
              </a14:hiddenFill>
            </a:ext>
          </a:extLst>
        </p:spPr>
      </p:pic>
      <p:pic>
        <p:nvPicPr>
          <p:cNvPr id="20" name="图片 19">
            <a:extLst>
              <a:ext uri="{FF2B5EF4-FFF2-40B4-BE49-F238E27FC236}">
                <a16:creationId xmlns:a16="http://schemas.microsoft.com/office/drawing/2014/main" id="{999D57D4-FC54-8270-1BC8-77C76A3973B8}"/>
              </a:ext>
            </a:extLst>
          </p:cNvPr>
          <p:cNvPicPr>
            <a:picLocks noChangeAspect="1"/>
          </p:cNvPicPr>
          <p:nvPr/>
        </p:nvPicPr>
        <p:blipFill>
          <a:blip r:embed="rId65">
            <a:extLst>
              <a:ext uri="{BEBA8EAE-BF5A-486C-A8C5-ECC9F3942E4B}">
                <a14:imgProps xmlns:a14="http://schemas.microsoft.com/office/drawing/2010/main">
                  <a14:imgLayer r:embed="rId66">
                    <a14:imgEffect>
                      <a14:backgroundRemoval t="9211" b="93860" l="9705" r="89873">
                        <a14:foregroundMark x1="31224" y1="49561" x2="31224" y2="49561"/>
                        <a14:foregroundMark x1="45992" y1="53947" x2="45992" y2="53947"/>
                        <a14:foregroundMark x1="35021" y1="26754" x2="35021" y2="26754"/>
                        <a14:foregroundMark x1="29114" y1="39912" x2="33333" y2="57895"/>
                        <a14:foregroundMark x1="51055" y1="41228" x2="30380" y2="65351"/>
                        <a14:foregroundMark x1="30380" y1="65351" x2="11814" y2="57018"/>
                        <a14:foregroundMark x1="16456" y1="63158" x2="40506" y2="65351"/>
                        <a14:foregroundMark x1="41772" y1="66667" x2="20675" y2="70614"/>
                        <a14:foregroundMark x1="20675" y1="70614" x2="18987" y2="67544"/>
                        <a14:foregroundMark x1="32489" y1="35965" x2="35443" y2="44298"/>
                        <a14:foregroundMark x1="73840" y1="35088" x2="56118" y2="63158"/>
                        <a14:foregroundMark x1="56118" y1="63158" x2="43882" y2="70175"/>
                        <a14:foregroundMark x1="81013" y1="35965" x2="56962" y2="82456"/>
                        <a14:foregroundMark x1="35865" y1="91228" x2="58650" y2="90789"/>
                        <a14:foregroundMark x1="58650" y1="90789" x2="60759" y2="89912"/>
                        <a14:foregroundMark x1="59072" y1="92544" x2="43038" y2="94298"/>
                        <a14:foregroundMark x1="86920" y1="47368" x2="86498" y2="58333"/>
                        <a14:foregroundMark x1="89873" y1="46930" x2="88608" y2="57018"/>
                      </a14:backgroundRemoval>
                    </a14:imgEffect>
                  </a14:imgLayer>
                </a14:imgProps>
              </a:ext>
            </a:extLst>
          </a:blip>
          <a:stretch>
            <a:fillRect/>
          </a:stretch>
        </p:blipFill>
        <p:spPr>
          <a:xfrm>
            <a:off x="2907477" y="5491447"/>
            <a:ext cx="258970" cy="249135"/>
          </a:xfrm>
          <a:prstGeom prst="rect">
            <a:avLst/>
          </a:prstGeom>
        </p:spPr>
      </p:pic>
      <p:pic>
        <p:nvPicPr>
          <p:cNvPr id="27" name="图片 26">
            <a:extLst>
              <a:ext uri="{FF2B5EF4-FFF2-40B4-BE49-F238E27FC236}">
                <a16:creationId xmlns:a16="http://schemas.microsoft.com/office/drawing/2014/main" id="{19779D92-1B6A-1F80-BE54-4D2F2E922BA3}"/>
              </a:ext>
            </a:extLst>
          </p:cNvPr>
          <p:cNvPicPr>
            <a:picLocks noChangeAspect="1"/>
          </p:cNvPicPr>
          <p:nvPr/>
        </p:nvPicPr>
        <p:blipFill>
          <a:blip r:embed="rId62">
            <a:extLst>
              <a:ext uri="{BEBA8EAE-BF5A-486C-A8C5-ECC9F3942E4B}">
                <a14:imgProps xmlns:a14="http://schemas.microsoft.com/office/drawing/2010/main">
                  <a14:imgLayer r:embed="rId63">
                    <a14:imgEffect>
                      <a14:backgroundRemoval t="9524" b="89418" l="5774" r="98730">
                        <a14:foregroundMark x1="9469" y1="35979" x2="9469" y2="35979"/>
                        <a14:foregroundMark x1="9584" y1="45503" x2="9584" y2="45503"/>
                        <a14:foregroundMark x1="7275" y1="66667" x2="7275" y2="66667"/>
                        <a14:foregroundMark x1="5889" y1="81481" x2="5889" y2="81481"/>
                        <a14:foregroundMark x1="12009" y1="65079" x2="12009" y2="65079"/>
                        <a14:foregroundMark x1="12125" y1="61376" x2="12125" y2="61376"/>
                        <a14:foregroundMark x1="23095" y1="46032" x2="23095" y2="46032"/>
                        <a14:foregroundMark x1="33025" y1="43915" x2="33025" y2="43915"/>
                        <a14:foregroundMark x1="46189" y1="53968" x2="46189" y2="53968"/>
                        <a14:foregroundMark x1="59238" y1="51852" x2="59238" y2="51852"/>
                        <a14:foregroundMark x1="63279" y1="54497" x2="63279" y2="54497"/>
                        <a14:foregroundMark x1="65589" y1="21164" x2="65589" y2="21164"/>
                        <a14:foregroundMark x1="85912" y1="46561" x2="85912" y2="46561"/>
                        <a14:foregroundMark x1="94342" y1="75661" x2="94342" y2="75661"/>
                        <a14:foregroundMark x1="98730" y1="24339" x2="98730" y2="24339"/>
                      </a14:backgroundRemoval>
                    </a14:imgEffect>
                  </a14:imgLayer>
                </a14:imgProps>
              </a:ext>
            </a:extLst>
          </a:blip>
          <a:stretch>
            <a:fillRect/>
          </a:stretch>
        </p:blipFill>
        <p:spPr>
          <a:xfrm>
            <a:off x="2905059" y="4917656"/>
            <a:ext cx="488440" cy="106599"/>
          </a:xfrm>
          <a:prstGeom prst="rect">
            <a:avLst/>
          </a:prstGeom>
        </p:spPr>
      </p:pic>
      <p:pic>
        <p:nvPicPr>
          <p:cNvPr id="29" name="Picture 2" descr="新易盛公司简介,成都新易盛通信技术股份有限公司企业概况_赢家财富网">
            <a:extLst>
              <a:ext uri="{FF2B5EF4-FFF2-40B4-BE49-F238E27FC236}">
                <a16:creationId xmlns:a16="http://schemas.microsoft.com/office/drawing/2014/main" id="{0A2AA8AB-F8BF-9D34-A770-E73AD8708867}"/>
              </a:ext>
            </a:extLst>
          </p:cNvPr>
          <p:cNvPicPr>
            <a:picLocks noChangeAspect="1" noChangeArrowheads="1"/>
          </p:cNvPicPr>
          <p:nvPr/>
        </p:nvPicPr>
        <p:blipFill>
          <a:blip r:embed="rId60" cstate="print">
            <a:extLst>
              <a:ext uri="{BEBA8EAE-BF5A-486C-A8C5-ECC9F3942E4B}">
                <a14:imgProps xmlns:a14="http://schemas.microsoft.com/office/drawing/2010/main">
                  <a14:imgLayer r:embed="rId61">
                    <a14:imgEffect>
                      <a14:backgroundRemoval t="10000" b="90000" l="10000" r="90000">
                        <a14:foregroundMark x1="46000" y1="56522" x2="46000" y2="56522"/>
                        <a14:foregroundMark x1="54000" y1="56522" x2="54000" y2="56522"/>
                        <a14:foregroundMark x1="59000" y1="54348" x2="59000" y2="54348"/>
                        <a14:foregroundMark x1="67500" y1="51087" x2="67500" y2="51087"/>
                        <a14:foregroundMark x1="72000" y1="51087" x2="72000" y2="51087"/>
                        <a14:foregroundMark x1="73000" y1="36957" x2="73000" y2="36957"/>
                        <a14:foregroundMark x1="76000" y1="52174" x2="76000" y2="52174"/>
                        <a14:foregroundMark x1="86000" y1="51087" x2="86000" y2="51087"/>
                        <a14:foregroundMark x1="28000" y1="51087" x2="28000" y2="51087"/>
                        <a14:foregroundMark x1="82014" y1="51563" x2="82014" y2="51563"/>
                      </a14:backgroundRemoval>
                    </a14:imgEffect>
                  </a14:imgLayer>
                </a14:imgProps>
              </a:ext>
              <a:ext uri="{28A0092B-C50C-407E-A947-70E740481C1C}">
                <a14:useLocalDpi xmlns:a14="http://schemas.microsoft.com/office/drawing/2010/main" val="0"/>
              </a:ext>
            </a:extLst>
          </a:blip>
          <a:srcRect/>
          <a:stretch>
            <a:fillRect/>
          </a:stretch>
        </p:blipFill>
        <p:spPr bwMode="auto">
          <a:xfrm>
            <a:off x="1918924" y="4838282"/>
            <a:ext cx="576840" cy="265346"/>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023881A7-8311-2493-7548-881113B0829E}"/>
              </a:ext>
            </a:extLst>
          </p:cNvPr>
          <p:cNvPicPr>
            <a:picLocks noChangeAspect="1"/>
          </p:cNvPicPr>
          <p:nvPr/>
        </p:nvPicPr>
        <p:blipFill>
          <a:blip r:embed="rId39">
            <a:extLst>
              <a:ext uri="{BEBA8EAE-BF5A-486C-A8C5-ECC9F3942E4B}">
                <a14:imgProps xmlns:a14="http://schemas.microsoft.com/office/drawing/2010/main">
                  <a14:imgLayer r:embed="rId40">
                    <a14:imgEffect>
                      <a14:backgroundRemoval t="6410" b="89744" l="5067" r="94133">
                        <a14:foregroundMark x1="5333" y1="60256" x2="5333" y2="60256"/>
                        <a14:foregroundMark x1="12267" y1="61538" x2="12267" y2="61538"/>
                        <a14:foregroundMark x1="17067" y1="56410" x2="17067" y2="56410"/>
                        <a14:foregroundMark x1="28000" y1="52564" x2="28000" y2="52564"/>
                        <a14:foregroundMark x1="39467" y1="48718" x2="39467" y2="48718"/>
                        <a14:foregroundMark x1="57867" y1="53846" x2="57867" y2="53846"/>
                        <a14:foregroundMark x1="68267" y1="41026" x2="68267" y2="41026"/>
                        <a14:foregroundMark x1="77067" y1="37179" x2="77067" y2="37179"/>
                        <a14:foregroundMark x1="82667" y1="41026" x2="82667" y2="41026"/>
                        <a14:foregroundMark x1="91200" y1="53846" x2="91200" y2="53846"/>
                        <a14:foregroundMark x1="94133" y1="56410" x2="94133" y2="56410"/>
                      </a14:backgroundRemoval>
                    </a14:imgEffect>
                  </a14:imgLayer>
                </a14:imgProps>
              </a:ext>
            </a:extLst>
          </a:blip>
          <a:stretch>
            <a:fillRect/>
          </a:stretch>
        </p:blipFill>
        <p:spPr>
          <a:xfrm>
            <a:off x="2912671" y="4084459"/>
            <a:ext cx="662345" cy="137768"/>
          </a:xfrm>
          <a:prstGeom prst="rect">
            <a:avLst/>
          </a:prstGeom>
        </p:spPr>
      </p:pic>
      <p:sp>
        <p:nvSpPr>
          <p:cNvPr id="32" name="Rectangle 8">
            <a:extLst>
              <a:ext uri="{FF2B5EF4-FFF2-40B4-BE49-F238E27FC236}">
                <a16:creationId xmlns:a16="http://schemas.microsoft.com/office/drawing/2014/main" id="{DA796DC7-A8A4-F708-856A-D9A34A572A59}"/>
              </a:ext>
            </a:extLst>
          </p:cNvPr>
          <p:cNvSpPr>
            <a:spLocks noChangeArrowheads="1"/>
          </p:cNvSpPr>
          <p:nvPr/>
        </p:nvSpPr>
        <p:spPr bwMode="auto">
          <a:xfrm>
            <a:off x="1207627" y="1518660"/>
            <a:ext cx="84249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1000" b="1" dirty="0">
                <a:solidFill>
                  <a:srgbClr val="000000"/>
                </a:solidFill>
                <a:cs typeface="+mn-ea"/>
                <a:sym typeface="+mn-lt"/>
              </a:rPr>
              <a:t>硅光芯片</a:t>
            </a:r>
            <a:endParaRPr kumimoji="0" lang="zh-CN" altLang="zh-CN" sz="1000" b="1" i="0" u="none" strike="noStrike" cap="none" normalizeH="0" baseline="0" dirty="0">
              <a:ln>
                <a:noFill/>
              </a:ln>
              <a:solidFill>
                <a:schemeClr val="tx1"/>
              </a:solidFill>
              <a:effectLst/>
              <a:cs typeface="+mn-ea"/>
              <a:sym typeface="+mn-lt"/>
            </a:endParaRPr>
          </a:p>
        </p:txBody>
      </p:sp>
      <p:sp>
        <p:nvSpPr>
          <p:cNvPr id="35" name="Rectangle 8">
            <a:extLst>
              <a:ext uri="{FF2B5EF4-FFF2-40B4-BE49-F238E27FC236}">
                <a16:creationId xmlns:a16="http://schemas.microsoft.com/office/drawing/2014/main" id="{089977CC-37C7-06F8-7BBE-3902792D9B68}"/>
              </a:ext>
            </a:extLst>
          </p:cNvPr>
          <p:cNvSpPr>
            <a:spLocks noChangeArrowheads="1"/>
          </p:cNvSpPr>
          <p:nvPr/>
        </p:nvSpPr>
        <p:spPr bwMode="auto">
          <a:xfrm>
            <a:off x="2828004" y="1518660"/>
            <a:ext cx="84249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1000" b="1" dirty="0">
                <a:solidFill>
                  <a:srgbClr val="000000"/>
                </a:solidFill>
                <a:cs typeface="+mn-ea"/>
                <a:sym typeface="+mn-lt"/>
              </a:rPr>
              <a:t>激光器芯片</a:t>
            </a:r>
            <a:endParaRPr kumimoji="0" lang="zh-CN" altLang="zh-CN" sz="1000" b="1" i="0" u="none" strike="noStrike" cap="none" normalizeH="0" baseline="0" dirty="0">
              <a:ln>
                <a:noFill/>
              </a:ln>
              <a:solidFill>
                <a:schemeClr val="tx1"/>
              </a:solidFill>
              <a:effectLst/>
              <a:cs typeface="+mn-ea"/>
              <a:sym typeface="+mn-lt"/>
            </a:endParaRPr>
          </a:p>
        </p:txBody>
      </p:sp>
      <p:sp>
        <p:nvSpPr>
          <p:cNvPr id="37" name="文本框 36">
            <a:extLst>
              <a:ext uri="{FF2B5EF4-FFF2-40B4-BE49-F238E27FC236}">
                <a16:creationId xmlns:a16="http://schemas.microsoft.com/office/drawing/2014/main" id="{D2A97347-D174-16AC-16A1-7E2F148E9FBB}"/>
              </a:ext>
            </a:extLst>
          </p:cNvPr>
          <p:cNvSpPr txBox="1"/>
          <p:nvPr/>
        </p:nvSpPr>
        <p:spPr>
          <a:xfrm>
            <a:off x="2850550" y="979117"/>
            <a:ext cx="937384" cy="461665"/>
          </a:xfrm>
          <a:prstGeom prst="rect">
            <a:avLst/>
          </a:prstGeom>
          <a:noFill/>
        </p:spPr>
        <p:txBody>
          <a:bodyPr wrap="square" rtlCol="0">
            <a:spAutoFit/>
          </a:bodyPr>
          <a:lstStyle>
            <a:defPPr>
              <a:defRPr lang="zh-CN"/>
            </a:defPPr>
            <a:lvl1pPr algn="ctr">
              <a:defRPr sz="1400">
                <a:cs typeface="+mn-ea"/>
              </a:defRPr>
            </a:lvl1pPr>
          </a:lstStyle>
          <a:p>
            <a:r>
              <a:rPr lang="zh-CN" altLang="en-US" sz="1200" dirty="0">
                <a:sym typeface="+mn-lt"/>
              </a:rPr>
              <a:t>硅光芯片</a:t>
            </a:r>
            <a:endParaRPr lang="en-US" altLang="zh-CN" sz="1200" dirty="0">
              <a:sym typeface="+mn-lt"/>
            </a:endParaRPr>
          </a:p>
          <a:p>
            <a:r>
              <a:rPr lang="zh-CN" altLang="en-US" sz="1200" dirty="0">
                <a:sym typeface="+mn-lt"/>
              </a:rPr>
              <a:t>激光器</a:t>
            </a:r>
          </a:p>
        </p:txBody>
      </p:sp>
      <p:pic>
        <p:nvPicPr>
          <p:cNvPr id="38" name="图片 37">
            <a:extLst>
              <a:ext uri="{FF2B5EF4-FFF2-40B4-BE49-F238E27FC236}">
                <a16:creationId xmlns:a16="http://schemas.microsoft.com/office/drawing/2014/main" id="{52E40F41-9D6F-B7FC-2630-6E62942D4FEE}"/>
              </a:ext>
            </a:extLst>
          </p:cNvPr>
          <p:cNvPicPr>
            <a:picLocks noChangeAspect="1"/>
          </p:cNvPicPr>
          <p:nvPr/>
        </p:nvPicPr>
        <p:blipFill>
          <a:blip r:embed="rId67">
            <a:extLst>
              <a:ext uri="{BEBA8EAE-BF5A-486C-A8C5-ECC9F3942E4B}">
                <a14:imgProps xmlns:a14="http://schemas.microsoft.com/office/drawing/2010/main">
                  <a14:imgLayer r:embed="rId68">
                    <a14:imgEffect>
                      <a14:backgroundRemoval t="9916" b="89662" l="9948" r="97120">
                        <a14:foregroundMark x1="15576" y1="59283" x2="15576" y2="59283"/>
                        <a14:foregroundMark x1="23517" y1="62025" x2="23517" y2="62025"/>
                        <a14:foregroundMark x1="48647" y1="68354" x2="48647" y2="68354"/>
                        <a14:foregroundMark x1="58202" y1="54219" x2="58202" y2="54219"/>
                        <a14:foregroundMark x1="71946" y1="50422" x2="71946" y2="50422"/>
                        <a14:foregroundMark x1="78054" y1="58017" x2="78054" y2="58017"/>
                        <a14:foregroundMark x1="91579" y1="63291" x2="91579" y2="63291"/>
                        <a14:foregroundMark x1="89965" y1="77215" x2="89965" y2="77215"/>
                        <a14:foregroundMark x1="97120" y1="59283" x2="97120" y2="59283"/>
                      </a14:backgroundRemoval>
                    </a14:imgEffect>
                  </a14:imgLayer>
                </a14:imgProps>
              </a:ext>
            </a:extLst>
          </a:blip>
          <a:srcRect l="11603" t="29088" b="-1"/>
          <a:stretch/>
        </p:blipFill>
        <p:spPr>
          <a:xfrm>
            <a:off x="2910474" y="2690878"/>
            <a:ext cx="530032" cy="87933"/>
          </a:xfrm>
          <a:prstGeom prst="rect">
            <a:avLst/>
          </a:prstGeom>
        </p:spPr>
      </p:pic>
      <p:pic>
        <p:nvPicPr>
          <p:cNvPr id="39" name="图片 38">
            <a:extLst>
              <a:ext uri="{FF2B5EF4-FFF2-40B4-BE49-F238E27FC236}">
                <a16:creationId xmlns:a16="http://schemas.microsoft.com/office/drawing/2014/main" id="{DDA83F15-D64F-6B8A-FC65-0F7198931FA9}"/>
              </a:ext>
            </a:extLst>
          </p:cNvPr>
          <p:cNvPicPr>
            <a:picLocks noChangeAspect="1"/>
          </p:cNvPicPr>
          <p:nvPr/>
        </p:nvPicPr>
        <p:blipFill>
          <a:blip r:embed="rId17">
            <a:extLst>
              <a:ext uri="{BEBA8EAE-BF5A-486C-A8C5-ECC9F3942E4B}">
                <a14:imgProps xmlns:a14="http://schemas.microsoft.com/office/drawing/2010/main">
                  <a14:imgLayer r:embed="rId18">
                    <a14:imgEffect>
                      <a14:backgroundRemoval t="9804" b="89216" l="6011" r="97268">
                        <a14:foregroundMark x1="6011" y1="47059" x2="6011" y2="47059"/>
                        <a14:foregroundMark x1="36339" y1="47059" x2="36339" y2="47059"/>
                        <a14:foregroundMark x1="48087" y1="50000" x2="48087" y2="50000"/>
                        <a14:foregroundMark x1="58197" y1="48039" x2="58197" y2="48039"/>
                        <a14:foregroundMark x1="71038" y1="51961" x2="71038" y2="51961"/>
                        <a14:foregroundMark x1="82240" y1="48039" x2="82240" y2="48039"/>
                        <a14:foregroundMark x1="92896" y1="46078" x2="92896" y2="46078"/>
                        <a14:foregroundMark x1="97268" y1="21569" x2="97268" y2="21569"/>
                      </a14:backgroundRemoval>
                    </a14:imgEffect>
                  </a14:imgLayer>
                </a14:imgProps>
              </a:ext>
            </a:extLst>
          </a:blip>
          <a:srcRect b="11664"/>
          <a:stretch/>
        </p:blipFill>
        <p:spPr>
          <a:xfrm>
            <a:off x="2916520" y="2899503"/>
            <a:ext cx="504244" cy="124136"/>
          </a:xfrm>
          <a:prstGeom prst="rect">
            <a:avLst/>
          </a:prstGeom>
        </p:spPr>
      </p:pic>
      <p:pic>
        <p:nvPicPr>
          <p:cNvPr id="40" name="图像" descr="图像">
            <a:extLst>
              <a:ext uri="{FF2B5EF4-FFF2-40B4-BE49-F238E27FC236}">
                <a16:creationId xmlns:a16="http://schemas.microsoft.com/office/drawing/2014/main" id="{F572797A-1DC6-3724-8DF1-DD4A44BED9C8}"/>
              </a:ext>
            </a:extLst>
          </p:cNvPr>
          <p:cNvPicPr>
            <a:picLocks noChangeAspect="1"/>
          </p:cNvPicPr>
          <p:nvPr/>
        </p:nvPicPr>
        <p:blipFill>
          <a:blip r:embed="rId20"/>
          <a:stretch>
            <a:fillRect/>
          </a:stretch>
        </p:blipFill>
        <p:spPr>
          <a:xfrm>
            <a:off x="2916520" y="1859723"/>
            <a:ext cx="369323" cy="178067"/>
          </a:xfrm>
          <a:prstGeom prst="rect">
            <a:avLst/>
          </a:prstGeom>
          <a:ln w="12700">
            <a:miter lim="400000"/>
          </a:ln>
        </p:spPr>
      </p:pic>
      <p:pic>
        <p:nvPicPr>
          <p:cNvPr id="46" name="图像" descr="图像">
            <a:extLst>
              <a:ext uri="{FF2B5EF4-FFF2-40B4-BE49-F238E27FC236}">
                <a16:creationId xmlns:a16="http://schemas.microsoft.com/office/drawing/2014/main" id="{74369A97-EE57-FF28-A4F8-B6E88502E7AE}"/>
              </a:ext>
            </a:extLst>
          </p:cNvPr>
          <p:cNvPicPr>
            <a:picLocks noChangeAspect="1"/>
          </p:cNvPicPr>
          <p:nvPr/>
        </p:nvPicPr>
        <p:blipFill>
          <a:blip r:embed="rId28"/>
          <a:stretch>
            <a:fillRect/>
          </a:stretch>
        </p:blipFill>
        <p:spPr>
          <a:xfrm>
            <a:off x="2912671" y="3156166"/>
            <a:ext cx="513441" cy="81070"/>
          </a:xfrm>
          <a:prstGeom prst="rect">
            <a:avLst/>
          </a:prstGeom>
          <a:ln w="12700">
            <a:miter lim="400000"/>
          </a:ln>
        </p:spPr>
      </p:pic>
      <p:pic>
        <p:nvPicPr>
          <p:cNvPr id="48" name="图片 47">
            <a:extLst>
              <a:ext uri="{FF2B5EF4-FFF2-40B4-BE49-F238E27FC236}">
                <a16:creationId xmlns:a16="http://schemas.microsoft.com/office/drawing/2014/main" id="{BB382A34-0DF9-3220-C655-04D42BDCB9C2}"/>
              </a:ext>
            </a:extLst>
          </p:cNvPr>
          <p:cNvPicPr>
            <a:picLocks noChangeAspect="1"/>
          </p:cNvPicPr>
          <p:nvPr/>
        </p:nvPicPr>
        <p:blipFill>
          <a:blip r:embed="rId50">
            <a:extLst>
              <a:ext uri="{BEBA8EAE-BF5A-486C-A8C5-ECC9F3942E4B}">
                <a14:imgProps xmlns:a14="http://schemas.microsoft.com/office/drawing/2010/main">
                  <a14:imgLayer r:embed="rId51">
                    <a14:imgEffect>
                      <a14:backgroundRemoval t="10000" b="90000" l="10000" r="90000">
                        <a14:foregroundMark x1="11245" y1="30952" x2="11245" y2="30952"/>
                        <a14:foregroundMark x1="14056" y1="53175" x2="14056" y2="53175"/>
                        <a14:foregroundMark x1="22088" y1="54762" x2="22088" y2="54762"/>
                        <a14:foregroundMark x1="47390" y1="52381" x2="47390" y2="52381"/>
                        <a14:foregroundMark x1="73896" y1="63492" x2="73896" y2="63492"/>
                        <a14:foregroundMark x1="85542" y1="57937" x2="85542" y2="57937"/>
                      </a14:backgroundRemoval>
                    </a14:imgEffect>
                  </a14:imgLayer>
                </a14:imgProps>
              </a:ext>
            </a:extLst>
          </a:blip>
          <a:stretch>
            <a:fillRect/>
          </a:stretch>
        </p:blipFill>
        <p:spPr>
          <a:xfrm>
            <a:off x="1319761" y="2301358"/>
            <a:ext cx="330283" cy="167131"/>
          </a:xfrm>
          <a:prstGeom prst="rect">
            <a:avLst/>
          </a:prstGeom>
        </p:spPr>
      </p:pic>
      <p:pic>
        <p:nvPicPr>
          <p:cNvPr id="51" name="图片 50">
            <a:extLst>
              <a:ext uri="{FF2B5EF4-FFF2-40B4-BE49-F238E27FC236}">
                <a16:creationId xmlns:a16="http://schemas.microsoft.com/office/drawing/2014/main" id="{ED5DCCCB-DEB7-7C56-8134-A9D789404D5E}"/>
              </a:ext>
            </a:extLst>
          </p:cNvPr>
          <p:cNvPicPr>
            <a:picLocks noChangeAspect="1"/>
          </p:cNvPicPr>
          <p:nvPr/>
        </p:nvPicPr>
        <p:blipFill>
          <a:blip r:embed="rId50">
            <a:extLst>
              <a:ext uri="{BEBA8EAE-BF5A-486C-A8C5-ECC9F3942E4B}">
                <a14:imgProps xmlns:a14="http://schemas.microsoft.com/office/drawing/2010/main">
                  <a14:imgLayer r:embed="rId51">
                    <a14:imgEffect>
                      <a14:backgroundRemoval t="10000" b="90000" l="10000" r="90000">
                        <a14:foregroundMark x1="11245" y1="30952" x2="11245" y2="30952"/>
                        <a14:foregroundMark x1="14056" y1="53175" x2="14056" y2="53175"/>
                        <a14:foregroundMark x1="22088" y1="54762" x2="22088" y2="54762"/>
                        <a14:foregroundMark x1="47390" y1="52381" x2="47390" y2="52381"/>
                        <a14:foregroundMark x1="73896" y1="63492" x2="73896" y2="63492"/>
                        <a14:foregroundMark x1="85542" y1="57937" x2="85542" y2="57937"/>
                      </a14:backgroundRemoval>
                    </a14:imgEffect>
                  </a14:imgLayer>
                </a14:imgProps>
              </a:ext>
            </a:extLst>
          </a:blip>
          <a:stretch>
            <a:fillRect/>
          </a:stretch>
        </p:blipFill>
        <p:spPr>
          <a:xfrm>
            <a:off x="3914104" y="2301358"/>
            <a:ext cx="330283" cy="167131"/>
          </a:xfrm>
          <a:prstGeom prst="rect">
            <a:avLst/>
          </a:prstGeom>
        </p:spPr>
      </p:pic>
      <p:pic>
        <p:nvPicPr>
          <p:cNvPr id="52" name="图片 51">
            <a:extLst>
              <a:ext uri="{FF2B5EF4-FFF2-40B4-BE49-F238E27FC236}">
                <a16:creationId xmlns:a16="http://schemas.microsoft.com/office/drawing/2014/main" id="{33980D05-4DB4-5D96-DFA7-5BC60B88E161}"/>
              </a:ext>
            </a:extLst>
          </p:cNvPr>
          <p:cNvPicPr>
            <a:picLocks noChangeAspect="1"/>
          </p:cNvPicPr>
          <p:nvPr/>
        </p:nvPicPr>
        <p:blipFill>
          <a:blip r:embed="rId50">
            <a:extLst>
              <a:ext uri="{BEBA8EAE-BF5A-486C-A8C5-ECC9F3942E4B}">
                <a14:imgProps xmlns:a14="http://schemas.microsoft.com/office/drawing/2010/main">
                  <a14:imgLayer r:embed="rId51">
                    <a14:imgEffect>
                      <a14:backgroundRemoval t="10000" b="90000" l="10000" r="90000">
                        <a14:foregroundMark x1="11245" y1="30952" x2="11245" y2="30952"/>
                        <a14:foregroundMark x1="14056" y1="53175" x2="14056" y2="53175"/>
                        <a14:foregroundMark x1="22088" y1="54762" x2="22088" y2="54762"/>
                        <a14:foregroundMark x1="47390" y1="52381" x2="47390" y2="52381"/>
                        <a14:foregroundMark x1="73896" y1="63492" x2="73896" y2="63492"/>
                        <a14:foregroundMark x1="85542" y1="57937" x2="85542" y2="57937"/>
                      </a14:backgroundRemoval>
                    </a14:imgEffect>
                  </a14:imgLayer>
                </a14:imgProps>
              </a:ext>
            </a:extLst>
          </a:blip>
          <a:stretch>
            <a:fillRect/>
          </a:stretch>
        </p:blipFill>
        <p:spPr>
          <a:xfrm>
            <a:off x="7689507" y="2301358"/>
            <a:ext cx="330283" cy="167131"/>
          </a:xfrm>
          <a:prstGeom prst="rect">
            <a:avLst/>
          </a:prstGeom>
        </p:spPr>
      </p:pic>
      <p:pic>
        <p:nvPicPr>
          <p:cNvPr id="56" name="图像" descr="图像">
            <a:extLst>
              <a:ext uri="{FF2B5EF4-FFF2-40B4-BE49-F238E27FC236}">
                <a16:creationId xmlns:a16="http://schemas.microsoft.com/office/drawing/2014/main" id="{11A10C50-0C11-EDC4-7C04-B0BC342461A1}"/>
              </a:ext>
            </a:extLst>
          </p:cNvPr>
          <p:cNvPicPr>
            <a:picLocks noChangeAspect="1"/>
          </p:cNvPicPr>
          <p:nvPr/>
        </p:nvPicPr>
        <p:blipFill>
          <a:blip r:embed="rId19"/>
          <a:stretch>
            <a:fillRect/>
          </a:stretch>
        </p:blipFill>
        <p:spPr>
          <a:xfrm>
            <a:off x="8428033" y="1803566"/>
            <a:ext cx="365049" cy="290380"/>
          </a:xfrm>
          <a:prstGeom prst="rect">
            <a:avLst/>
          </a:prstGeom>
          <a:ln w="12700">
            <a:miter lim="400000"/>
          </a:ln>
        </p:spPr>
      </p:pic>
      <p:pic>
        <p:nvPicPr>
          <p:cNvPr id="57" name="图像" descr="图像">
            <a:extLst>
              <a:ext uri="{FF2B5EF4-FFF2-40B4-BE49-F238E27FC236}">
                <a16:creationId xmlns:a16="http://schemas.microsoft.com/office/drawing/2014/main" id="{5333E206-B0A2-EFAD-84E6-E32DFD0AAB5F}"/>
              </a:ext>
            </a:extLst>
          </p:cNvPr>
          <p:cNvPicPr>
            <a:picLocks noChangeAspect="1"/>
          </p:cNvPicPr>
          <p:nvPr/>
        </p:nvPicPr>
        <p:blipFill>
          <a:blip r:embed="rId19"/>
          <a:stretch>
            <a:fillRect/>
          </a:stretch>
        </p:blipFill>
        <p:spPr>
          <a:xfrm>
            <a:off x="9087063" y="2239733"/>
            <a:ext cx="365049" cy="290380"/>
          </a:xfrm>
          <a:prstGeom prst="rect">
            <a:avLst/>
          </a:prstGeom>
          <a:ln w="12700">
            <a:miter lim="400000"/>
          </a:ln>
        </p:spPr>
      </p:pic>
      <p:pic>
        <p:nvPicPr>
          <p:cNvPr id="59" name="图片 58">
            <a:extLst>
              <a:ext uri="{FF2B5EF4-FFF2-40B4-BE49-F238E27FC236}">
                <a16:creationId xmlns:a16="http://schemas.microsoft.com/office/drawing/2014/main" id="{F0114751-1A38-1862-8CAF-061D6B30BBA6}"/>
              </a:ext>
            </a:extLst>
          </p:cNvPr>
          <p:cNvPicPr>
            <a:picLocks noChangeAspect="1"/>
          </p:cNvPicPr>
          <p:nvPr/>
        </p:nvPicPr>
        <p:blipFill>
          <a:blip r:embed="rId52">
            <a:extLst>
              <a:ext uri="{BEBA8EAE-BF5A-486C-A8C5-ECC9F3942E4B}">
                <a14:imgProps xmlns:a14="http://schemas.microsoft.com/office/drawing/2010/main">
                  <a14:imgLayer r:embed="rId53">
                    <a14:imgEffect>
                      <a14:backgroundRemoval t="9804" b="89542" l="9690" r="91860">
                        <a14:foregroundMark x1="10078" y1="40523" x2="10078" y2="40523"/>
                        <a14:foregroundMark x1="20930" y1="37255" x2="20930" y2="37255"/>
                        <a14:foregroundMark x1="32171" y1="35948" x2="32171" y2="35948"/>
                        <a14:foregroundMark x1="40698" y1="37255" x2="40698" y2="37255"/>
                        <a14:foregroundMark x1="52713" y1="39869" x2="52713" y2="39869"/>
                        <a14:foregroundMark x1="60465" y1="35948" x2="60465" y2="35948"/>
                        <a14:foregroundMark x1="72093" y1="30719" x2="72093" y2="30719"/>
                        <a14:foregroundMark x1="81783" y1="36601" x2="81783" y2="36601"/>
                        <a14:foregroundMark x1="91860" y1="40523" x2="91860" y2="40523"/>
                        <a14:foregroundMark x1="23643" y1="68627" x2="23643" y2="68627"/>
                        <a14:foregroundMark x1="35271" y1="75163" x2="35271" y2="75163"/>
                        <a14:foregroundMark x1="45349" y1="71242" x2="45349" y2="71242"/>
                        <a14:foregroundMark x1="58140" y1="73203" x2="58140" y2="73203"/>
                      </a14:backgroundRemoval>
                    </a14:imgEffect>
                  </a14:imgLayer>
                </a14:imgProps>
              </a:ext>
            </a:extLst>
          </a:blip>
          <a:stretch>
            <a:fillRect/>
          </a:stretch>
        </p:blipFill>
        <p:spPr>
          <a:xfrm>
            <a:off x="5801698" y="1821429"/>
            <a:ext cx="429418" cy="254655"/>
          </a:xfrm>
          <a:prstGeom prst="rect">
            <a:avLst/>
          </a:prstGeom>
        </p:spPr>
      </p:pic>
      <p:pic>
        <p:nvPicPr>
          <p:cNvPr id="62" name="图片 61">
            <a:extLst>
              <a:ext uri="{FF2B5EF4-FFF2-40B4-BE49-F238E27FC236}">
                <a16:creationId xmlns:a16="http://schemas.microsoft.com/office/drawing/2014/main" id="{EE80704F-1DC1-20A7-80BE-24025F9F20C7}"/>
              </a:ext>
            </a:extLst>
          </p:cNvPr>
          <p:cNvPicPr>
            <a:picLocks noChangeAspect="1"/>
          </p:cNvPicPr>
          <p:nvPr/>
        </p:nvPicPr>
        <p:blipFill>
          <a:blip r:embed="rId52">
            <a:extLst>
              <a:ext uri="{BEBA8EAE-BF5A-486C-A8C5-ECC9F3942E4B}">
                <a14:imgProps xmlns:a14="http://schemas.microsoft.com/office/drawing/2010/main">
                  <a14:imgLayer r:embed="rId53">
                    <a14:imgEffect>
                      <a14:backgroundRemoval t="9804" b="89542" l="9690" r="91860">
                        <a14:foregroundMark x1="10078" y1="40523" x2="10078" y2="40523"/>
                        <a14:foregroundMark x1="20930" y1="37255" x2="20930" y2="37255"/>
                        <a14:foregroundMark x1="32171" y1="35948" x2="32171" y2="35948"/>
                        <a14:foregroundMark x1="40698" y1="37255" x2="40698" y2="37255"/>
                        <a14:foregroundMark x1="52713" y1="39869" x2="52713" y2="39869"/>
                        <a14:foregroundMark x1="60465" y1="35948" x2="60465" y2="35948"/>
                        <a14:foregroundMark x1="72093" y1="30719" x2="72093" y2="30719"/>
                        <a14:foregroundMark x1="81783" y1="36601" x2="81783" y2="36601"/>
                        <a14:foregroundMark x1="91860" y1="40523" x2="91860" y2="40523"/>
                        <a14:foregroundMark x1="23643" y1="68627" x2="23643" y2="68627"/>
                        <a14:foregroundMark x1="35271" y1="75163" x2="35271" y2="75163"/>
                        <a14:foregroundMark x1="45349" y1="71242" x2="45349" y2="71242"/>
                        <a14:foregroundMark x1="58140" y1="73203" x2="58140" y2="73203"/>
                      </a14:backgroundRemoval>
                    </a14:imgEffect>
                  </a14:imgLayer>
                </a14:imgProps>
              </a:ext>
            </a:extLst>
          </a:blip>
          <a:stretch>
            <a:fillRect/>
          </a:stretch>
        </p:blipFill>
        <p:spPr>
          <a:xfrm>
            <a:off x="6856126" y="2257596"/>
            <a:ext cx="429418" cy="254655"/>
          </a:xfrm>
          <a:prstGeom prst="rect">
            <a:avLst/>
          </a:prstGeom>
        </p:spPr>
      </p:pic>
      <p:pic>
        <p:nvPicPr>
          <p:cNvPr id="63" name="图像" descr="图像">
            <a:extLst>
              <a:ext uri="{FF2B5EF4-FFF2-40B4-BE49-F238E27FC236}">
                <a16:creationId xmlns:a16="http://schemas.microsoft.com/office/drawing/2014/main" id="{1E278211-C4D4-2723-53BB-14CEA420E7BB}"/>
              </a:ext>
            </a:extLst>
          </p:cNvPr>
          <p:cNvPicPr>
            <a:picLocks noChangeAspect="1"/>
          </p:cNvPicPr>
          <p:nvPr/>
        </p:nvPicPr>
        <p:blipFill>
          <a:blip r:embed="rId49"/>
          <a:stretch>
            <a:fillRect/>
          </a:stretch>
        </p:blipFill>
        <p:spPr>
          <a:xfrm>
            <a:off x="3914104" y="1875012"/>
            <a:ext cx="497769" cy="147488"/>
          </a:xfrm>
          <a:prstGeom prst="rect">
            <a:avLst/>
          </a:prstGeom>
          <a:ln w="12700">
            <a:miter lim="400000"/>
          </a:ln>
        </p:spPr>
      </p:pic>
      <p:pic>
        <p:nvPicPr>
          <p:cNvPr id="1024" name="图像" descr="图像">
            <a:extLst>
              <a:ext uri="{FF2B5EF4-FFF2-40B4-BE49-F238E27FC236}">
                <a16:creationId xmlns:a16="http://schemas.microsoft.com/office/drawing/2014/main" id="{6DAB50BE-6443-A9EA-8B24-E67CFD4D19A9}"/>
              </a:ext>
            </a:extLst>
          </p:cNvPr>
          <p:cNvPicPr>
            <a:picLocks noChangeAspect="1"/>
          </p:cNvPicPr>
          <p:nvPr/>
        </p:nvPicPr>
        <p:blipFill>
          <a:blip r:embed="rId49"/>
          <a:stretch>
            <a:fillRect/>
          </a:stretch>
        </p:blipFill>
        <p:spPr>
          <a:xfrm>
            <a:off x="7689507" y="1875012"/>
            <a:ext cx="497769" cy="147488"/>
          </a:xfrm>
          <a:prstGeom prst="rect">
            <a:avLst/>
          </a:prstGeom>
          <a:ln w="12700">
            <a:miter lim="400000"/>
          </a:ln>
        </p:spPr>
      </p:pic>
      <p:pic>
        <p:nvPicPr>
          <p:cNvPr id="1025" name="图像" descr="图像">
            <a:extLst>
              <a:ext uri="{FF2B5EF4-FFF2-40B4-BE49-F238E27FC236}">
                <a16:creationId xmlns:a16="http://schemas.microsoft.com/office/drawing/2014/main" id="{021A98DA-57D8-7C9F-D64C-D215BBDCE2BB}"/>
              </a:ext>
            </a:extLst>
          </p:cNvPr>
          <p:cNvPicPr>
            <a:picLocks noChangeAspect="1"/>
          </p:cNvPicPr>
          <p:nvPr/>
        </p:nvPicPr>
        <p:blipFill>
          <a:blip r:embed="rId20"/>
          <a:stretch>
            <a:fillRect/>
          </a:stretch>
        </p:blipFill>
        <p:spPr>
          <a:xfrm>
            <a:off x="4920359" y="1859723"/>
            <a:ext cx="369323" cy="178067"/>
          </a:xfrm>
          <a:prstGeom prst="rect">
            <a:avLst/>
          </a:prstGeom>
          <a:ln w="12700">
            <a:miter lim="400000"/>
          </a:ln>
        </p:spPr>
      </p:pic>
      <p:pic>
        <p:nvPicPr>
          <p:cNvPr id="1027" name="图像" descr="图像">
            <a:extLst>
              <a:ext uri="{FF2B5EF4-FFF2-40B4-BE49-F238E27FC236}">
                <a16:creationId xmlns:a16="http://schemas.microsoft.com/office/drawing/2014/main" id="{7F34F4BE-A951-68A1-78BB-B8954EBAC6A8}"/>
              </a:ext>
            </a:extLst>
          </p:cNvPr>
          <p:cNvPicPr>
            <a:picLocks noChangeAspect="1"/>
          </p:cNvPicPr>
          <p:nvPr/>
        </p:nvPicPr>
        <p:blipFill>
          <a:blip r:embed="rId20"/>
          <a:stretch>
            <a:fillRect/>
          </a:stretch>
        </p:blipFill>
        <p:spPr>
          <a:xfrm>
            <a:off x="6856126" y="1859723"/>
            <a:ext cx="369323" cy="178067"/>
          </a:xfrm>
          <a:prstGeom prst="rect">
            <a:avLst/>
          </a:prstGeom>
          <a:ln w="12700">
            <a:miter lim="400000"/>
          </a:ln>
        </p:spPr>
      </p:pic>
      <p:pic>
        <p:nvPicPr>
          <p:cNvPr id="1028" name="图片 1027">
            <a:extLst>
              <a:ext uri="{FF2B5EF4-FFF2-40B4-BE49-F238E27FC236}">
                <a16:creationId xmlns:a16="http://schemas.microsoft.com/office/drawing/2014/main" id="{336E880B-3EBF-6A93-4812-B47B75B8DC13}"/>
              </a:ext>
            </a:extLst>
          </p:cNvPr>
          <p:cNvPicPr>
            <a:picLocks noChangeAspect="1"/>
          </p:cNvPicPr>
          <p:nvPr/>
        </p:nvPicPr>
        <p:blipFill>
          <a:blip r:embed="rId52">
            <a:extLst>
              <a:ext uri="{BEBA8EAE-BF5A-486C-A8C5-ECC9F3942E4B}">
                <a14:imgProps xmlns:a14="http://schemas.microsoft.com/office/drawing/2010/main">
                  <a14:imgLayer r:embed="rId53">
                    <a14:imgEffect>
                      <a14:backgroundRemoval t="9804" b="89542" l="9690" r="91860">
                        <a14:foregroundMark x1="10078" y1="40523" x2="10078" y2="40523"/>
                        <a14:foregroundMark x1="20930" y1="37255" x2="20930" y2="37255"/>
                        <a14:foregroundMark x1="32171" y1="35948" x2="32171" y2="35948"/>
                        <a14:foregroundMark x1="40698" y1="37255" x2="40698" y2="37255"/>
                        <a14:foregroundMark x1="52713" y1="39869" x2="52713" y2="39869"/>
                        <a14:foregroundMark x1="60465" y1="35948" x2="60465" y2="35948"/>
                        <a14:foregroundMark x1="72093" y1="30719" x2="72093" y2="30719"/>
                        <a14:foregroundMark x1="81783" y1="36601" x2="81783" y2="36601"/>
                        <a14:foregroundMark x1="91860" y1="40523" x2="91860" y2="40523"/>
                        <a14:foregroundMark x1="23643" y1="68627" x2="23643" y2="68627"/>
                        <a14:foregroundMark x1="35271" y1="75163" x2="35271" y2="75163"/>
                        <a14:foregroundMark x1="45349" y1="71242" x2="45349" y2="71242"/>
                        <a14:foregroundMark x1="58140" y1="73203" x2="58140" y2="73203"/>
                      </a14:backgroundRemoval>
                    </a14:imgEffect>
                  </a14:imgLayer>
                </a14:imgProps>
              </a:ext>
            </a:extLst>
          </a:blip>
          <a:stretch>
            <a:fillRect/>
          </a:stretch>
        </p:blipFill>
        <p:spPr>
          <a:xfrm>
            <a:off x="9054878" y="1821429"/>
            <a:ext cx="429418" cy="254655"/>
          </a:xfrm>
          <a:prstGeom prst="rect">
            <a:avLst/>
          </a:prstGeom>
        </p:spPr>
      </p:pic>
      <p:pic>
        <p:nvPicPr>
          <p:cNvPr id="1030" name="图片 1029">
            <a:extLst>
              <a:ext uri="{FF2B5EF4-FFF2-40B4-BE49-F238E27FC236}">
                <a16:creationId xmlns:a16="http://schemas.microsoft.com/office/drawing/2014/main" id="{C3DAB238-4F1A-ADF7-E3FF-6666B02CE43D}"/>
              </a:ext>
            </a:extLst>
          </p:cNvPr>
          <p:cNvPicPr>
            <a:picLocks noChangeAspect="1"/>
          </p:cNvPicPr>
          <p:nvPr/>
        </p:nvPicPr>
        <p:blipFill>
          <a:blip r:embed="rId52">
            <a:extLst>
              <a:ext uri="{BEBA8EAE-BF5A-486C-A8C5-ECC9F3942E4B}">
                <a14:imgProps xmlns:a14="http://schemas.microsoft.com/office/drawing/2010/main">
                  <a14:imgLayer r:embed="rId53">
                    <a14:imgEffect>
                      <a14:backgroundRemoval t="9804" b="89542" l="9690" r="91860">
                        <a14:foregroundMark x1="10078" y1="40523" x2="10078" y2="40523"/>
                        <a14:foregroundMark x1="20930" y1="37255" x2="20930" y2="37255"/>
                        <a14:foregroundMark x1="32171" y1="35948" x2="32171" y2="35948"/>
                        <a14:foregroundMark x1="40698" y1="37255" x2="40698" y2="37255"/>
                        <a14:foregroundMark x1="52713" y1="39869" x2="52713" y2="39869"/>
                        <a14:foregroundMark x1="60465" y1="35948" x2="60465" y2="35948"/>
                        <a14:foregroundMark x1="72093" y1="30719" x2="72093" y2="30719"/>
                        <a14:foregroundMark x1="81783" y1="36601" x2="81783" y2="36601"/>
                        <a14:foregroundMark x1="91860" y1="40523" x2="91860" y2="40523"/>
                        <a14:foregroundMark x1="23643" y1="68627" x2="23643" y2="68627"/>
                        <a14:foregroundMark x1="35271" y1="75163" x2="35271" y2="75163"/>
                        <a14:foregroundMark x1="45349" y1="71242" x2="45349" y2="71242"/>
                        <a14:foregroundMark x1="58140" y1="73203" x2="58140" y2="73203"/>
                      </a14:backgroundRemoval>
                    </a14:imgEffect>
                  </a14:imgLayer>
                </a14:imgProps>
              </a:ext>
            </a:extLst>
          </a:blip>
          <a:stretch>
            <a:fillRect/>
          </a:stretch>
        </p:blipFill>
        <p:spPr>
          <a:xfrm>
            <a:off x="2886472" y="2257596"/>
            <a:ext cx="429418" cy="254655"/>
          </a:xfrm>
          <a:prstGeom prst="rect">
            <a:avLst/>
          </a:prstGeom>
        </p:spPr>
      </p:pic>
      <p:pic>
        <p:nvPicPr>
          <p:cNvPr id="1032" name="图片 1031">
            <a:extLst>
              <a:ext uri="{FF2B5EF4-FFF2-40B4-BE49-F238E27FC236}">
                <a16:creationId xmlns:a16="http://schemas.microsoft.com/office/drawing/2014/main" id="{D24DC687-A0E4-1E35-F907-5CED967CD246}"/>
              </a:ext>
            </a:extLst>
          </p:cNvPr>
          <p:cNvPicPr>
            <a:picLocks noChangeAspect="1"/>
          </p:cNvPicPr>
          <p:nvPr/>
        </p:nvPicPr>
        <p:blipFill>
          <a:blip r:embed="rId67">
            <a:extLst>
              <a:ext uri="{BEBA8EAE-BF5A-486C-A8C5-ECC9F3942E4B}">
                <a14:imgProps xmlns:a14="http://schemas.microsoft.com/office/drawing/2010/main">
                  <a14:imgLayer r:embed="rId68">
                    <a14:imgEffect>
                      <a14:backgroundRemoval t="9916" b="89662" l="9948" r="97120">
                        <a14:foregroundMark x1="15576" y1="59283" x2="15576" y2="59283"/>
                        <a14:foregroundMark x1="23517" y1="62025" x2="23517" y2="62025"/>
                        <a14:foregroundMark x1="48647" y1="68354" x2="48647" y2="68354"/>
                        <a14:foregroundMark x1="58202" y1="54219" x2="58202" y2="54219"/>
                        <a14:foregroundMark x1="71946" y1="50422" x2="71946" y2="50422"/>
                        <a14:foregroundMark x1="78054" y1="58017" x2="78054" y2="58017"/>
                        <a14:foregroundMark x1="91579" y1="63291" x2="91579" y2="63291"/>
                        <a14:foregroundMark x1="89965" y1="77215" x2="89965" y2="77215"/>
                        <a14:foregroundMark x1="97120" y1="59283" x2="97120" y2="59283"/>
                      </a14:backgroundRemoval>
                    </a14:imgEffect>
                  </a14:imgLayer>
                </a14:imgProps>
              </a:ext>
            </a:extLst>
          </a:blip>
          <a:srcRect l="11603" t="29088" b="-1"/>
          <a:stretch/>
        </p:blipFill>
        <p:spPr>
          <a:xfrm>
            <a:off x="1319761" y="2690878"/>
            <a:ext cx="530032" cy="87933"/>
          </a:xfrm>
          <a:prstGeom prst="rect">
            <a:avLst/>
          </a:prstGeom>
        </p:spPr>
      </p:pic>
      <p:pic>
        <p:nvPicPr>
          <p:cNvPr id="1034" name="图片 1033">
            <a:extLst>
              <a:ext uri="{FF2B5EF4-FFF2-40B4-BE49-F238E27FC236}">
                <a16:creationId xmlns:a16="http://schemas.microsoft.com/office/drawing/2014/main" id="{0F20C3BE-0E91-6187-37F6-C7FD7FA8C774}"/>
              </a:ext>
            </a:extLst>
          </p:cNvPr>
          <p:cNvPicPr>
            <a:picLocks noChangeAspect="1"/>
          </p:cNvPicPr>
          <p:nvPr/>
        </p:nvPicPr>
        <p:blipFill>
          <a:blip r:embed="rId69">
            <a:extLst>
              <a:ext uri="{BEBA8EAE-BF5A-486C-A8C5-ECC9F3942E4B}">
                <a14:imgProps xmlns:a14="http://schemas.microsoft.com/office/drawing/2010/main">
                  <a14:imgLayer r:embed="rId70">
                    <a14:imgEffect>
                      <a14:backgroundRemoval t="5602" b="94606" l="3312" r="97912">
                        <a14:foregroundMark x1="11591" y1="31743" x2="11591" y2="31743"/>
                        <a14:foregroundMark x1="11015" y1="41079" x2="11015" y2="41079"/>
                        <a14:foregroundMark x1="5688" y1="12241" x2="5688" y2="12241"/>
                        <a14:foregroundMark x1="3312" y1="83195" x2="3312" y2="83195"/>
                        <a14:foregroundMark x1="27790" y1="94813" x2="27790" y2="94813"/>
                        <a14:foregroundMark x1="6120" y1="5809" x2="6120" y2="5809"/>
                        <a14:foregroundMark x1="37653" y1="36515" x2="37653" y2="36515"/>
                        <a14:foregroundMark x1="40461" y1="37759" x2="40461" y2="37759"/>
                        <a14:foregroundMark x1="47012" y1="34855" x2="47012" y2="34855"/>
                        <a14:foregroundMark x1="47228" y1="8714" x2="47228" y2="8714"/>
                        <a14:foregroundMark x1="54140" y1="33402" x2="54140" y2="33402"/>
                        <a14:foregroundMark x1="68754" y1="37552" x2="68754" y2="37552"/>
                        <a14:foregroundMark x1="81138" y1="35892" x2="81138" y2="35892"/>
                        <a14:foregroundMark x1="92945" y1="36929" x2="92945" y2="36929"/>
                        <a14:foregroundMark x1="94600" y1="36929" x2="94600" y2="36929"/>
                        <a14:foregroundMark x1="97624" y1="43361" x2="97624" y2="43361"/>
                        <a14:foregroundMark x1="21238" y1="73859" x2="21238" y2="73859"/>
                        <a14:foregroundMark x1="23902" y1="77593" x2="23902" y2="77593"/>
                        <a14:foregroundMark x1="26782" y1="84647" x2="26782" y2="84647"/>
                        <a14:foregroundMark x1="28150" y1="90664" x2="28150" y2="90664"/>
                        <a14:foregroundMark x1="24118" y1="87759" x2="24118" y2="87759"/>
                        <a14:foregroundMark x1="20518" y1="68880" x2="20518" y2="68880"/>
                        <a14:foregroundMark x1="34557" y1="72822" x2="34557" y2="72822"/>
                        <a14:foregroundMark x1="38445" y1="75934" x2="38445" y2="75934"/>
                        <a14:foregroundMark x1="35565" y1="75311" x2="35565" y2="75311"/>
                        <a14:foregroundMark x1="36285" y1="80083" x2="36285" y2="80083"/>
                        <a14:foregroundMark x1="43053" y1="75311" x2="43053" y2="75311"/>
                        <a14:foregroundMark x1="48884" y1="73859" x2="48884" y2="73859"/>
                        <a14:foregroundMark x1="51188" y1="74066" x2="51188" y2="74066"/>
                        <a14:foregroundMark x1="57379" y1="80290" x2="57379" y2="80290"/>
                        <a14:foregroundMark x1="58387" y1="79461" x2="58387" y2="79461"/>
                        <a14:foregroundMark x1="59395" y1="76141" x2="59395" y2="76141"/>
                        <a14:foregroundMark x1="61987" y1="71369" x2="61987" y2="71369"/>
                        <a14:foregroundMark x1="66595" y1="74689" x2="66595" y2="74689"/>
                        <a14:foregroundMark x1="71778" y1="74066" x2="71778" y2="74066"/>
                        <a14:foregroundMark x1="76890" y1="73237" x2="76890" y2="73237"/>
                        <a14:foregroundMark x1="77898" y1="71369" x2="77898" y2="71369"/>
                        <a14:foregroundMark x1="77034" y1="78008" x2="77034" y2="78008"/>
                        <a14:foregroundMark x1="82145" y1="69087" x2="82145" y2="69087"/>
                        <a14:foregroundMark x1="85817" y1="72199" x2="85817" y2="72199"/>
                        <a14:foregroundMark x1="91721" y1="75311" x2="91721" y2="75311"/>
                        <a14:foregroundMark x1="95680" y1="71992" x2="95680" y2="71992"/>
                        <a14:foregroundMark x1="96400" y1="74689" x2="96400" y2="74689"/>
                        <a14:foregroundMark x1="97912" y1="79253" x2="97912" y2="79253"/>
                      </a14:backgroundRemoval>
                    </a14:imgEffect>
                  </a14:imgLayer>
                </a14:imgProps>
              </a:ext>
            </a:extLst>
          </a:blip>
          <a:stretch>
            <a:fillRect/>
          </a:stretch>
        </p:blipFill>
        <p:spPr>
          <a:xfrm>
            <a:off x="2925451" y="3661128"/>
            <a:ext cx="541500" cy="187907"/>
          </a:xfrm>
          <a:prstGeom prst="rect">
            <a:avLst/>
          </a:prstGeom>
        </p:spPr>
      </p:pic>
      <p:pic>
        <p:nvPicPr>
          <p:cNvPr id="1036" name="图片 1035">
            <a:extLst>
              <a:ext uri="{FF2B5EF4-FFF2-40B4-BE49-F238E27FC236}">
                <a16:creationId xmlns:a16="http://schemas.microsoft.com/office/drawing/2014/main" id="{34BAEB7F-9CCF-D827-81AA-0528F988D708}"/>
              </a:ext>
            </a:extLst>
          </p:cNvPr>
          <p:cNvPicPr>
            <a:picLocks noChangeAspect="1"/>
          </p:cNvPicPr>
          <p:nvPr/>
        </p:nvPicPr>
        <p:blipFill>
          <a:blip r:embed="rId71">
            <a:extLst>
              <a:ext uri="{BEBA8EAE-BF5A-486C-A8C5-ECC9F3942E4B}">
                <a14:imgProps xmlns:a14="http://schemas.microsoft.com/office/drawing/2010/main">
                  <a14:imgLayer r:embed="rId72">
                    <a14:imgEffect>
                      <a14:backgroundRemoval t="9804" b="89706" l="6154" r="93590">
                        <a14:foregroundMark x1="17436" y1="28922" x2="17436" y2="28922"/>
                        <a14:foregroundMark x1="6154" y1="28431" x2="6154" y2="28431"/>
                        <a14:foregroundMark x1="24872" y1="39216" x2="24872" y2="39216"/>
                        <a14:foregroundMark x1="17051" y1="57843" x2="17051" y2="57843"/>
                        <a14:foregroundMark x1="53590" y1="43137" x2="53590" y2="43137"/>
                        <a14:foregroundMark x1="57051" y1="25980" x2="57051" y2="25980"/>
                        <a14:foregroundMark x1="59615" y1="39706" x2="59615" y2="39706"/>
                        <a14:foregroundMark x1="56667" y1="48529" x2="56667" y2="48529"/>
                        <a14:foregroundMark x1="63974" y1="48039" x2="63974" y2="48039"/>
                        <a14:foregroundMark x1="68590" y1="40686" x2="68590" y2="40686"/>
                        <a14:foregroundMark x1="71026" y1="36765" x2="71026" y2="36765"/>
                        <a14:foregroundMark x1="72308" y1="45588" x2="72308" y2="45588"/>
                        <a14:foregroundMark x1="75128" y1="36765" x2="75128" y2="36765"/>
                        <a14:foregroundMark x1="85769" y1="29412" x2="85769" y2="29412"/>
                        <a14:foregroundMark x1="93205" y1="33333" x2="93205" y2="33333"/>
                        <a14:foregroundMark x1="78462" y1="50000" x2="78462" y2="50000"/>
                        <a14:foregroundMark x1="38846" y1="84804" x2="38846" y2="84804"/>
                        <a14:foregroundMark x1="35769" y1="84804" x2="35769" y2="84804"/>
                        <a14:foregroundMark x1="37179" y1="84804" x2="37179" y2="84804"/>
                        <a14:foregroundMark x1="38205" y1="82353" x2="38205" y2="82353"/>
                        <a14:foregroundMark x1="38718" y1="84804" x2="38718" y2="84804"/>
                        <a14:foregroundMark x1="39103" y1="79902" x2="39103" y2="79902"/>
                        <a14:foregroundMark x1="35769" y1="79902" x2="35769" y2="79902"/>
                        <a14:foregroundMark x1="44359" y1="79902" x2="44359" y2="79902"/>
                        <a14:foregroundMark x1="47308" y1="79902" x2="47308" y2="79902"/>
                        <a14:foregroundMark x1="52436" y1="80392" x2="52436" y2="80392"/>
                        <a14:foregroundMark x1="54359" y1="86765" x2="54359" y2="86765"/>
                        <a14:foregroundMark x1="59872" y1="80882" x2="59872" y2="80882"/>
                        <a14:foregroundMark x1="62308" y1="89216" x2="62308" y2="89216"/>
                        <a14:foregroundMark x1="67564" y1="84804" x2="67564" y2="84804"/>
                        <a14:foregroundMark x1="73077" y1="78431" x2="73077" y2="78431"/>
                        <a14:foregroundMark x1="72308" y1="82353" x2="72308" y2="82353"/>
                        <a14:foregroundMark x1="74615" y1="75980" x2="74615" y2="75980"/>
                        <a14:foregroundMark x1="80128" y1="85784" x2="80128" y2="85784"/>
                        <a14:foregroundMark x1="88462" y1="82843" x2="88462" y2="82843"/>
                        <a14:foregroundMark x1="93590" y1="84314" x2="93590" y2="84314"/>
                      </a14:backgroundRemoval>
                    </a14:imgEffect>
                  </a14:imgLayer>
                </a14:imgProps>
              </a:ext>
            </a:extLst>
          </a:blip>
          <a:stretch>
            <a:fillRect/>
          </a:stretch>
        </p:blipFill>
        <p:spPr>
          <a:xfrm>
            <a:off x="2905059" y="5806364"/>
            <a:ext cx="693730" cy="181437"/>
          </a:xfrm>
          <a:prstGeom prst="rect">
            <a:avLst/>
          </a:prstGeom>
        </p:spPr>
      </p:pic>
      <p:pic>
        <p:nvPicPr>
          <p:cNvPr id="1037" name="Picture 4" descr="Retym | StartupHub.ai">
            <a:extLst>
              <a:ext uri="{FF2B5EF4-FFF2-40B4-BE49-F238E27FC236}">
                <a16:creationId xmlns:a16="http://schemas.microsoft.com/office/drawing/2014/main" id="{B5F51906-0D0E-CBF0-A3A7-E54E44E68639}"/>
              </a:ext>
            </a:extLst>
          </p:cNvPr>
          <p:cNvPicPr>
            <a:picLocks noChangeAspect="1" noChangeArrowheads="1"/>
          </p:cNvPicPr>
          <p:nvPr/>
        </p:nvPicPr>
        <p:blipFill rotWithShape="1">
          <a:blip r:embed="rId73" cstate="print">
            <a:extLst>
              <a:ext uri="{BEBA8EAE-BF5A-486C-A8C5-ECC9F3942E4B}">
                <a14:imgProps xmlns:a14="http://schemas.microsoft.com/office/drawing/2010/main">
                  <a14:imgLayer r:embed="rId74">
                    <a14:imgEffect>
                      <a14:backgroundRemoval t="10000" b="90000" l="7000" r="94000">
                        <a14:foregroundMark x1="23500" y1="44000" x2="23500" y2="44000"/>
                        <a14:foregroundMark x1="9500" y1="48500" x2="9500" y2="48500"/>
                        <a14:foregroundMark x1="12500" y1="53000" x2="12500" y2="53000"/>
                        <a14:foregroundMark x1="7000" y1="39500" x2="7000" y2="39500"/>
                        <a14:foregroundMark x1="32000" y1="49000" x2="32000" y2="49000"/>
                        <a14:foregroundMark x1="28000" y1="49500" x2="28000" y2="49500"/>
                        <a14:foregroundMark x1="28000" y1="49500" x2="28000" y2="49500"/>
                        <a14:foregroundMark x1="28000" y1="47500" x2="28000" y2="47500"/>
                        <a14:foregroundMark x1="43500" y1="44000" x2="43500" y2="44000"/>
                        <a14:foregroundMark x1="46500" y1="44000" x2="46500" y2="44000"/>
                        <a14:foregroundMark x1="46000" y1="40000" x2="46000" y2="40000"/>
                        <a14:foregroundMark x1="45000" y1="39500" x2="45000" y2="39500"/>
                        <a14:foregroundMark x1="94000" y1="47000" x2="94000" y2="47000"/>
                        <a14:foregroundMark x1="60500" y1="57000" x2="60500" y2="57000"/>
                      </a14:backgroundRemoval>
                    </a14:imgEffect>
                  </a14:imgLayer>
                </a14:imgProps>
              </a:ext>
              <a:ext uri="{28A0092B-C50C-407E-A947-70E740481C1C}">
                <a14:useLocalDpi xmlns:a14="http://schemas.microsoft.com/office/drawing/2010/main" val="0"/>
              </a:ext>
            </a:extLst>
          </a:blip>
          <a:srcRect t="33274" b="34292"/>
          <a:stretch/>
        </p:blipFill>
        <p:spPr bwMode="auto">
          <a:xfrm>
            <a:off x="4971190" y="3640751"/>
            <a:ext cx="704986" cy="228661"/>
          </a:xfrm>
          <a:prstGeom prst="rect">
            <a:avLst/>
          </a:prstGeom>
          <a:noFill/>
          <a:extLst>
            <a:ext uri="{909E8E84-426E-40DD-AFC4-6F175D3DCCD1}">
              <a14:hiddenFill xmlns:a14="http://schemas.microsoft.com/office/drawing/2010/main">
                <a:solidFill>
                  <a:srgbClr val="FFFFFF"/>
                </a:solidFill>
              </a14:hiddenFill>
            </a:ext>
          </a:extLst>
        </p:spPr>
      </p:pic>
      <p:pic>
        <p:nvPicPr>
          <p:cNvPr id="1038" name="图片 1037">
            <a:extLst>
              <a:ext uri="{FF2B5EF4-FFF2-40B4-BE49-F238E27FC236}">
                <a16:creationId xmlns:a16="http://schemas.microsoft.com/office/drawing/2014/main" id="{6877E9FB-C6BE-A359-B45E-CEF71A89623E}"/>
              </a:ext>
            </a:extLst>
          </p:cNvPr>
          <p:cNvPicPr>
            <a:picLocks noChangeAspect="1"/>
          </p:cNvPicPr>
          <p:nvPr/>
        </p:nvPicPr>
        <p:blipFill>
          <a:blip r:embed="rId58">
            <a:extLst>
              <a:ext uri="{BEBA8EAE-BF5A-486C-A8C5-ECC9F3942E4B}">
                <a14:imgProps xmlns:a14="http://schemas.microsoft.com/office/drawing/2010/main">
                  <a14:imgLayer r:embed="rId59">
                    <a14:imgEffect>
                      <a14:backgroundRemoval t="9644" b="94969" l="4716" r="93685">
                        <a14:foregroundMark x1="13909" y1="24319" x2="13909" y2="24319"/>
                        <a14:foregroundMark x1="13030" y1="75681" x2="13030" y2="75681"/>
                        <a14:foregroundMark x1="4956" y1="28721" x2="4956" y2="28721"/>
                        <a14:foregroundMark x1="8633" y1="95178" x2="8633" y2="95178"/>
                        <a14:foregroundMark x1="27978" y1="91824" x2="27978" y2="91824"/>
                        <a14:foregroundMark x1="29257" y1="30608" x2="29257" y2="30608"/>
                        <a14:foregroundMark x1="39408" y1="53669" x2="39408" y2="53669"/>
                        <a14:foregroundMark x1="45484" y1="53669" x2="45484" y2="53669"/>
                        <a14:foregroundMark x1="56914" y1="40671" x2="56914" y2="40671"/>
                        <a14:foregroundMark x1="62110" y1="40042" x2="62110" y2="40042"/>
                        <a14:foregroundMark x1="63389" y1="48008" x2="63389" y2="48008"/>
                        <a14:foregroundMark x1="59313" y1="62055" x2="59313" y2="62055"/>
                        <a14:foregroundMark x1="65388" y1="57023" x2="65388" y2="57023"/>
                        <a14:foregroundMark x1="69305" y1="49057" x2="69305" y2="49057"/>
                        <a14:foregroundMark x1="75140" y1="44444" x2="75140" y2="44444"/>
                        <a14:foregroundMark x1="83133" y1="42767" x2="83133" y2="42767"/>
                        <a14:foregroundMark x1="91287" y1="46960" x2="91287" y2="46960"/>
                        <a14:foregroundMark x1="93685" y1="44025" x2="93685" y2="44025"/>
                        <a14:foregroundMark x1="40288" y1="80503" x2="40288" y2="80503"/>
                        <a14:foregroundMark x1="45004" y1="80922" x2="45004" y2="80922"/>
                        <a14:foregroundMark x1="47162" y1="77568" x2="47162" y2="77568"/>
                        <a14:foregroundMark x1="53477" y1="83229" x2="53477" y2="83229"/>
                        <a14:foregroundMark x1="54756" y1="81971" x2="54756" y2="81971"/>
                        <a14:foregroundMark x1="60592" y1="81342" x2="60592" y2="81342"/>
                        <a14:foregroundMark x1="62270" y1="79874" x2="62270" y2="79874"/>
                        <a14:foregroundMark x1="64908" y1="84277" x2="64908" y2="84277"/>
                        <a14:foregroundMark x1="66906" y1="80922" x2="66906" y2="80922"/>
                        <a14:foregroundMark x1="71223" y1="79874" x2="71223" y2="79874"/>
                        <a14:foregroundMark x1="74820" y1="80922" x2="74820" y2="80922"/>
                        <a14:foregroundMark x1="79217" y1="81551" x2="79217" y2="81551"/>
                        <a14:foregroundMark x1="82414" y1="81342" x2="82414" y2="81342"/>
                        <a14:foregroundMark x1="83933" y1="80922" x2="83933" y2="80922"/>
                        <a14:foregroundMark x1="89369" y1="80922" x2="89369" y2="80922"/>
                        <a14:foregroundMark x1="92646" y1="77358" x2="92646" y2="77358"/>
                        <a14:foregroundMark x1="20783" y1="29350" x2="20783" y2="29350"/>
                      </a14:backgroundRemoval>
                    </a14:imgEffect>
                  </a14:imgLayer>
                </a14:imgProps>
              </a:ext>
            </a:extLst>
          </a:blip>
          <a:stretch>
            <a:fillRect/>
          </a:stretch>
        </p:blipFill>
        <p:spPr>
          <a:xfrm>
            <a:off x="9083414" y="2853945"/>
            <a:ext cx="590782" cy="225262"/>
          </a:xfrm>
          <a:prstGeom prst="rect">
            <a:avLst/>
          </a:prstGeom>
        </p:spPr>
      </p:pic>
      <p:pic>
        <p:nvPicPr>
          <p:cNvPr id="1039" name="Picture 6" descr="Credo Semiconductor Office Photos | Glassdoor">
            <a:extLst>
              <a:ext uri="{FF2B5EF4-FFF2-40B4-BE49-F238E27FC236}">
                <a16:creationId xmlns:a16="http://schemas.microsoft.com/office/drawing/2014/main" id="{FDE9D61F-2046-CA50-D36C-31459D05DB28}"/>
              </a:ext>
            </a:extLst>
          </p:cNvPr>
          <p:cNvPicPr>
            <a:picLocks noChangeAspect="1" noChangeArrowheads="1"/>
          </p:cNvPicPr>
          <p:nvPr/>
        </p:nvPicPr>
        <p:blipFill rotWithShape="1">
          <a:blip r:embed="rId75" cstate="print">
            <a:extLst>
              <a:ext uri="{BEBA8EAE-BF5A-486C-A8C5-ECC9F3942E4B}">
                <a14:imgProps xmlns:a14="http://schemas.microsoft.com/office/drawing/2010/main">
                  <a14:imgLayer r:embed="rId76">
                    <a14:imgEffect>
                      <a14:backgroundRemoval t="10000" b="90000" l="3333" r="93889">
                        <a14:foregroundMark x1="40000" y1="55556" x2="40000" y2="55556"/>
                        <a14:foregroundMark x1="52222" y1="51667" x2="52222" y2="51667"/>
                        <a14:foregroundMark x1="94444" y1="51111" x2="94444" y2="51111"/>
                        <a14:foregroundMark x1="12778" y1="45000" x2="12778" y2="45000"/>
                        <a14:foregroundMark x1="18333" y1="40556" x2="18333" y2="40556"/>
                        <a14:foregroundMark x1="21667" y1="38889" x2="21667" y2="38889"/>
                        <a14:foregroundMark x1="25556" y1="37778" x2="25556" y2="37778"/>
                        <a14:foregroundMark x1="27222" y1="47222" x2="27222" y2="47222"/>
                        <a14:foregroundMark x1="27222" y1="55000" x2="27222" y2="55000"/>
                        <a14:foregroundMark x1="18333" y1="59444" x2="18333" y2="59444"/>
                        <a14:foregroundMark x1="11667" y1="56667" x2="11667" y2="56667"/>
                        <a14:foregroundMark x1="11111" y1="50000" x2="11111" y2="50000"/>
                        <a14:foregroundMark x1="16111" y1="38333" x2="16111" y2="38333"/>
                        <a14:foregroundMark x1="9444" y1="36667" x2="9444" y2="36667"/>
                        <a14:foregroundMark x1="3333" y1="37222" x2="3333" y2="37222"/>
                        <a14:foregroundMark x1="63889" y1="51111" x2="63889" y2="51111"/>
                        <a14:foregroundMark x1="71667" y1="51111" x2="71667" y2="51111"/>
                        <a14:backgroundMark x1="51667" y1="50000" x2="51667" y2="50000"/>
                        <a14:backgroundMark x1="57778" y1="52778" x2="57778" y2="52778"/>
                        <a14:backgroundMark x1="73889" y1="52222" x2="73889" y2="52222"/>
                        <a14:backgroundMark x1="91667" y1="50000" x2="91667" y2="50000"/>
                        <a14:backgroundMark x1="66667" y1="57778" x2="66667" y2="57778"/>
                      </a14:backgroundRemoval>
                    </a14:imgEffect>
                  </a14:imgLayer>
                </a14:imgProps>
              </a:ext>
              <a:ext uri="{28A0092B-C50C-407E-A947-70E740481C1C}">
                <a14:useLocalDpi xmlns:a14="http://schemas.microsoft.com/office/drawing/2010/main" val="0"/>
              </a:ext>
            </a:extLst>
          </a:blip>
          <a:srcRect t="32617" b="35872"/>
          <a:stretch/>
        </p:blipFill>
        <p:spPr bwMode="auto">
          <a:xfrm>
            <a:off x="4920359" y="2642901"/>
            <a:ext cx="583575" cy="183886"/>
          </a:xfrm>
          <a:prstGeom prst="rect">
            <a:avLst/>
          </a:prstGeom>
          <a:noFill/>
          <a:extLst>
            <a:ext uri="{909E8E84-426E-40DD-AFC4-6F175D3DCCD1}">
              <a14:hiddenFill xmlns:a14="http://schemas.microsoft.com/office/drawing/2010/main">
                <a:solidFill>
                  <a:srgbClr val="FFFFFF"/>
                </a:solidFill>
              </a14:hiddenFill>
            </a:ext>
          </a:extLst>
        </p:spPr>
      </p:pic>
      <p:pic>
        <p:nvPicPr>
          <p:cNvPr id="1042" name="图片 1041">
            <a:extLst>
              <a:ext uri="{FF2B5EF4-FFF2-40B4-BE49-F238E27FC236}">
                <a16:creationId xmlns:a16="http://schemas.microsoft.com/office/drawing/2014/main" id="{FD3B3DA9-E779-7AE3-AB37-EA254D4B4A71}"/>
              </a:ext>
            </a:extLst>
          </p:cNvPr>
          <p:cNvPicPr>
            <a:picLocks noChangeAspect="1"/>
          </p:cNvPicPr>
          <p:nvPr/>
        </p:nvPicPr>
        <p:blipFill>
          <a:blip r:embed="rId77"/>
          <a:stretch>
            <a:fillRect/>
          </a:stretch>
        </p:blipFill>
        <p:spPr>
          <a:xfrm>
            <a:off x="5801698" y="4868875"/>
            <a:ext cx="423690" cy="204161"/>
          </a:xfrm>
          <a:prstGeom prst="rect">
            <a:avLst/>
          </a:prstGeom>
        </p:spPr>
      </p:pic>
      <p:pic>
        <p:nvPicPr>
          <p:cNvPr id="1043" name="图像" descr="图像">
            <a:extLst>
              <a:ext uri="{FF2B5EF4-FFF2-40B4-BE49-F238E27FC236}">
                <a16:creationId xmlns:a16="http://schemas.microsoft.com/office/drawing/2014/main" id="{0EDA9A4B-8034-32E3-048E-A909F83D1B3D}"/>
              </a:ext>
            </a:extLst>
          </p:cNvPr>
          <p:cNvPicPr>
            <a:picLocks noChangeAspect="1"/>
          </p:cNvPicPr>
          <p:nvPr/>
        </p:nvPicPr>
        <p:blipFill>
          <a:blip r:embed="rId26"/>
          <a:stretch>
            <a:fillRect/>
          </a:stretch>
        </p:blipFill>
        <p:spPr>
          <a:xfrm>
            <a:off x="9109140" y="4793155"/>
            <a:ext cx="355601" cy="355601"/>
          </a:xfrm>
          <a:prstGeom prst="rect">
            <a:avLst/>
          </a:prstGeom>
          <a:ln w="12700">
            <a:miter lim="400000"/>
          </a:ln>
        </p:spPr>
      </p:pic>
      <p:pic>
        <p:nvPicPr>
          <p:cNvPr id="1044" name="图像" descr="图像">
            <a:extLst>
              <a:ext uri="{FF2B5EF4-FFF2-40B4-BE49-F238E27FC236}">
                <a16:creationId xmlns:a16="http://schemas.microsoft.com/office/drawing/2014/main" id="{25FDBCFF-4E6A-5CDA-ACB5-B712D579BA65}"/>
              </a:ext>
            </a:extLst>
          </p:cNvPr>
          <p:cNvPicPr>
            <a:picLocks noChangeAspect="1"/>
          </p:cNvPicPr>
          <p:nvPr/>
        </p:nvPicPr>
        <p:blipFill>
          <a:blip r:embed="rId78"/>
          <a:srcRect t="29736" r="12" b="29739"/>
          <a:stretch>
            <a:fillRect/>
          </a:stretch>
        </p:blipFill>
        <p:spPr>
          <a:xfrm>
            <a:off x="9096277" y="5244938"/>
            <a:ext cx="686705" cy="12457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720"/>
                </a:lnTo>
                <a:lnTo>
                  <a:pt x="4833" y="675"/>
                </a:lnTo>
                <a:cubicBezTo>
                  <a:pt x="9972" y="641"/>
                  <a:pt x="10201" y="641"/>
                  <a:pt x="9273" y="1170"/>
                </a:cubicBezTo>
                <a:cubicBezTo>
                  <a:pt x="8796" y="1442"/>
                  <a:pt x="8070" y="2136"/>
                  <a:pt x="7649" y="2700"/>
                </a:cubicBezTo>
                <a:lnTo>
                  <a:pt x="7322" y="3150"/>
                </a:lnTo>
                <a:lnTo>
                  <a:pt x="7273" y="4545"/>
                </a:lnTo>
                <a:cubicBezTo>
                  <a:pt x="7246" y="5330"/>
                  <a:pt x="7228" y="6003"/>
                  <a:pt x="7233" y="6030"/>
                </a:cubicBezTo>
                <a:cubicBezTo>
                  <a:pt x="7238" y="6057"/>
                  <a:pt x="7337" y="5912"/>
                  <a:pt x="7453" y="5715"/>
                </a:cubicBezTo>
                <a:cubicBezTo>
                  <a:pt x="7705" y="5288"/>
                  <a:pt x="8349" y="4372"/>
                  <a:pt x="8710" y="3915"/>
                </a:cubicBezTo>
                <a:cubicBezTo>
                  <a:pt x="9240" y="3245"/>
                  <a:pt x="10440" y="2136"/>
                  <a:pt x="10857" y="1935"/>
                </a:cubicBezTo>
                <a:cubicBezTo>
                  <a:pt x="10944" y="1893"/>
                  <a:pt x="11171" y="1765"/>
                  <a:pt x="11363" y="1665"/>
                </a:cubicBezTo>
                <a:cubicBezTo>
                  <a:pt x="11555" y="1565"/>
                  <a:pt x="11877" y="1486"/>
                  <a:pt x="12082" y="1440"/>
                </a:cubicBezTo>
                <a:cubicBezTo>
                  <a:pt x="12465" y="1354"/>
                  <a:pt x="12478" y="1247"/>
                  <a:pt x="12131" y="1035"/>
                </a:cubicBezTo>
                <a:cubicBezTo>
                  <a:pt x="12050" y="986"/>
                  <a:pt x="11984" y="878"/>
                  <a:pt x="11984" y="810"/>
                </a:cubicBezTo>
                <a:cubicBezTo>
                  <a:pt x="11984" y="687"/>
                  <a:pt x="13463" y="557"/>
                  <a:pt x="13518" y="675"/>
                </a:cubicBezTo>
                <a:cubicBezTo>
                  <a:pt x="13537" y="714"/>
                  <a:pt x="13531" y="980"/>
                  <a:pt x="13494" y="1485"/>
                </a:cubicBezTo>
                <a:cubicBezTo>
                  <a:pt x="13465" y="1882"/>
                  <a:pt x="13399" y="2709"/>
                  <a:pt x="13355" y="3375"/>
                </a:cubicBezTo>
                <a:lnTo>
                  <a:pt x="13282" y="4590"/>
                </a:lnTo>
                <a:lnTo>
                  <a:pt x="13992" y="4590"/>
                </a:lnTo>
                <a:lnTo>
                  <a:pt x="14702" y="4545"/>
                </a:lnTo>
                <a:lnTo>
                  <a:pt x="14727" y="3780"/>
                </a:lnTo>
                <a:cubicBezTo>
                  <a:pt x="14776" y="2490"/>
                  <a:pt x="14823" y="2648"/>
                  <a:pt x="14318" y="2610"/>
                </a:cubicBezTo>
                <a:cubicBezTo>
                  <a:pt x="13809" y="2571"/>
                  <a:pt x="13839" y="2644"/>
                  <a:pt x="13943" y="1350"/>
                </a:cubicBezTo>
                <a:lnTo>
                  <a:pt x="14000" y="630"/>
                </a:lnTo>
                <a:lnTo>
                  <a:pt x="14694" y="630"/>
                </a:lnTo>
                <a:cubicBezTo>
                  <a:pt x="15076" y="630"/>
                  <a:pt x="15390" y="642"/>
                  <a:pt x="15396" y="675"/>
                </a:cubicBezTo>
                <a:cubicBezTo>
                  <a:pt x="15405" y="727"/>
                  <a:pt x="15389" y="1519"/>
                  <a:pt x="15339" y="3105"/>
                </a:cubicBezTo>
                <a:lnTo>
                  <a:pt x="15322" y="3510"/>
                </a:lnTo>
                <a:lnTo>
                  <a:pt x="15543" y="3510"/>
                </a:lnTo>
                <a:lnTo>
                  <a:pt x="15771" y="3510"/>
                </a:lnTo>
                <a:lnTo>
                  <a:pt x="15837" y="2115"/>
                </a:lnTo>
                <a:lnTo>
                  <a:pt x="15902" y="720"/>
                </a:lnTo>
                <a:lnTo>
                  <a:pt x="16082" y="675"/>
                </a:lnTo>
                <a:cubicBezTo>
                  <a:pt x="16179" y="655"/>
                  <a:pt x="16266" y="656"/>
                  <a:pt x="16278" y="720"/>
                </a:cubicBezTo>
                <a:cubicBezTo>
                  <a:pt x="16291" y="792"/>
                  <a:pt x="16273" y="1340"/>
                  <a:pt x="16237" y="2115"/>
                </a:cubicBezTo>
                <a:cubicBezTo>
                  <a:pt x="16205" y="2800"/>
                  <a:pt x="16180" y="3381"/>
                  <a:pt x="16180" y="3420"/>
                </a:cubicBezTo>
                <a:cubicBezTo>
                  <a:pt x="16180" y="3459"/>
                  <a:pt x="16291" y="3466"/>
                  <a:pt x="16424" y="3465"/>
                </a:cubicBezTo>
                <a:lnTo>
                  <a:pt x="16661" y="3465"/>
                </a:lnTo>
                <a:lnTo>
                  <a:pt x="16751" y="2070"/>
                </a:lnTo>
                <a:lnTo>
                  <a:pt x="16841" y="720"/>
                </a:lnTo>
                <a:lnTo>
                  <a:pt x="17551" y="720"/>
                </a:lnTo>
                <a:lnTo>
                  <a:pt x="18261" y="720"/>
                </a:lnTo>
                <a:lnTo>
                  <a:pt x="18253" y="990"/>
                </a:lnTo>
                <a:cubicBezTo>
                  <a:pt x="18249" y="1159"/>
                  <a:pt x="18235" y="1518"/>
                  <a:pt x="18220" y="1755"/>
                </a:cubicBezTo>
                <a:cubicBezTo>
                  <a:pt x="18191" y="2242"/>
                  <a:pt x="18222" y="2147"/>
                  <a:pt x="17722" y="2745"/>
                </a:cubicBezTo>
                <a:cubicBezTo>
                  <a:pt x="17540" y="2963"/>
                  <a:pt x="17380" y="3210"/>
                  <a:pt x="17363" y="3285"/>
                </a:cubicBezTo>
                <a:cubicBezTo>
                  <a:pt x="17337" y="3403"/>
                  <a:pt x="17241" y="5177"/>
                  <a:pt x="17241" y="5535"/>
                </a:cubicBezTo>
                <a:cubicBezTo>
                  <a:pt x="17241" y="5606"/>
                  <a:pt x="17395" y="5430"/>
                  <a:pt x="17584" y="5130"/>
                </a:cubicBezTo>
                <a:cubicBezTo>
                  <a:pt x="17964" y="4526"/>
                  <a:pt x="18086" y="4428"/>
                  <a:pt x="18073" y="4725"/>
                </a:cubicBezTo>
                <a:cubicBezTo>
                  <a:pt x="18069" y="4827"/>
                  <a:pt x="18048" y="5418"/>
                  <a:pt x="18024" y="6030"/>
                </a:cubicBezTo>
                <a:cubicBezTo>
                  <a:pt x="18001" y="6642"/>
                  <a:pt x="17966" y="7213"/>
                  <a:pt x="17951" y="7290"/>
                </a:cubicBezTo>
                <a:cubicBezTo>
                  <a:pt x="17936" y="7367"/>
                  <a:pt x="17796" y="7614"/>
                  <a:pt x="17641" y="7875"/>
                </a:cubicBezTo>
                <a:cubicBezTo>
                  <a:pt x="17486" y="8136"/>
                  <a:pt x="17353" y="8432"/>
                  <a:pt x="17339" y="8505"/>
                </a:cubicBezTo>
                <a:cubicBezTo>
                  <a:pt x="17311" y="8649"/>
                  <a:pt x="17207" y="10930"/>
                  <a:pt x="17224" y="11025"/>
                </a:cubicBezTo>
                <a:cubicBezTo>
                  <a:pt x="17230" y="11057"/>
                  <a:pt x="17362" y="10846"/>
                  <a:pt x="17518" y="10575"/>
                </a:cubicBezTo>
                <a:cubicBezTo>
                  <a:pt x="17674" y="10304"/>
                  <a:pt x="17807" y="10121"/>
                  <a:pt x="17812" y="10170"/>
                </a:cubicBezTo>
                <a:cubicBezTo>
                  <a:pt x="17818" y="10219"/>
                  <a:pt x="17785" y="11143"/>
                  <a:pt x="17739" y="12195"/>
                </a:cubicBezTo>
                <a:lnTo>
                  <a:pt x="17649" y="14085"/>
                </a:lnTo>
                <a:lnTo>
                  <a:pt x="17314" y="14130"/>
                </a:lnTo>
                <a:lnTo>
                  <a:pt x="16980" y="14220"/>
                </a:lnTo>
                <a:lnTo>
                  <a:pt x="16931" y="15300"/>
                </a:lnTo>
                <a:lnTo>
                  <a:pt x="16882" y="16380"/>
                </a:lnTo>
                <a:lnTo>
                  <a:pt x="17388" y="16380"/>
                </a:lnTo>
                <a:cubicBezTo>
                  <a:pt x="17937" y="16380"/>
                  <a:pt x="18010" y="16307"/>
                  <a:pt x="18082" y="15705"/>
                </a:cubicBezTo>
                <a:cubicBezTo>
                  <a:pt x="18103" y="15527"/>
                  <a:pt x="18234" y="12848"/>
                  <a:pt x="18376" y="9765"/>
                </a:cubicBezTo>
                <a:cubicBezTo>
                  <a:pt x="18517" y="6682"/>
                  <a:pt x="18653" y="4059"/>
                  <a:pt x="18669" y="3915"/>
                </a:cubicBezTo>
                <a:cubicBezTo>
                  <a:pt x="18693" y="3711"/>
                  <a:pt x="18737" y="3625"/>
                  <a:pt x="18873" y="3510"/>
                </a:cubicBezTo>
                <a:cubicBezTo>
                  <a:pt x="19498" y="2984"/>
                  <a:pt x="19798" y="2743"/>
                  <a:pt x="19820" y="2790"/>
                </a:cubicBezTo>
                <a:cubicBezTo>
                  <a:pt x="19849" y="2848"/>
                  <a:pt x="19823" y="3674"/>
                  <a:pt x="19788" y="3870"/>
                </a:cubicBezTo>
                <a:cubicBezTo>
                  <a:pt x="19777" y="3928"/>
                  <a:pt x="19585" y="3986"/>
                  <a:pt x="19363" y="4005"/>
                </a:cubicBezTo>
                <a:lnTo>
                  <a:pt x="18963" y="4050"/>
                </a:lnTo>
                <a:lnTo>
                  <a:pt x="18947" y="4365"/>
                </a:lnTo>
                <a:cubicBezTo>
                  <a:pt x="18939" y="4535"/>
                  <a:pt x="18923" y="4874"/>
                  <a:pt x="18914" y="5130"/>
                </a:cubicBezTo>
                <a:lnTo>
                  <a:pt x="18898" y="5580"/>
                </a:lnTo>
                <a:lnTo>
                  <a:pt x="19306" y="5580"/>
                </a:lnTo>
                <a:cubicBezTo>
                  <a:pt x="19529" y="5580"/>
                  <a:pt x="19717" y="5618"/>
                  <a:pt x="19722" y="5670"/>
                </a:cubicBezTo>
                <a:cubicBezTo>
                  <a:pt x="19728" y="5722"/>
                  <a:pt x="19715" y="5946"/>
                  <a:pt x="19698" y="6165"/>
                </a:cubicBezTo>
                <a:lnTo>
                  <a:pt x="19673" y="6570"/>
                </a:lnTo>
                <a:lnTo>
                  <a:pt x="19257" y="6615"/>
                </a:lnTo>
                <a:lnTo>
                  <a:pt x="18849" y="6660"/>
                </a:lnTo>
                <a:lnTo>
                  <a:pt x="18824" y="7155"/>
                </a:lnTo>
                <a:cubicBezTo>
                  <a:pt x="18810" y="7428"/>
                  <a:pt x="18792" y="7778"/>
                  <a:pt x="18784" y="7965"/>
                </a:cubicBezTo>
                <a:lnTo>
                  <a:pt x="18767" y="8325"/>
                </a:lnTo>
                <a:lnTo>
                  <a:pt x="19176" y="8325"/>
                </a:lnTo>
                <a:cubicBezTo>
                  <a:pt x="19517" y="8325"/>
                  <a:pt x="19581" y="8347"/>
                  <a:pt x="19592" y="8505"/>
                </a:cubicBezTo>
                <a:cubicBezTo>
                  <a:pt x="19599" y="8608"/>
                  <a:pt x="19591" y="8764"/>
                  <a:pt x="19576" y="8865"/>
                </a:cubicBezTo>
                <a:cubicBezTo>
                  <a:pt x="19553" y="9016"/>
                  <a:pt x="19471" y="9045"/>
                  <a:pt x="19135" y="9045"/>
                </a:cubicBezTo>
                <a:lnTo>
                  <a:pt x="18727" y="9045"/>
                </a:lnTo>
                <a:lnTo>
                  <a:pt x="18694" y="9855"/>
                </a:lnTo>
                <a:cubicBezTo>
                  <a:pt x="18674" y="10295"/>
                  <a:pt x="18653" y="10674"/>
                  <a:pt x="18653" y="10710"/>
                </a:cubicBezTo>
                <a:cubicBezTo>
                  <a:pt x="18653" y="10746"/>
                  <a:pt x="18844" y="10826"/>
                  <a:pt x="19069" y="10845"/>
                </a:cubicBezTo>
                <a:lnTo>
                  <a:pt x="19478" y="10845"/>
                </a:lnTo>
                <a:lnTo>
                  <a:pt x="19478" y="11160"/>
                </a:lnTo>
                <a:cubicBezTo>
                  <a:pt x="19478" y="11319"/>
                  <a:pt x="19453" y="12052"/>
                  <a:pt x="19420" y="12780"/>
                </a:cubicBezTo>
                <a:cubicBezTo>
                  <a:pt x="19365" y="14029"/>
                  <a:pt x="19357" y="14070"/>
                  <a:pt x="19306" y="14040"/>
                </a:cubicBezTo>
                <a:cubicBezTo>
                  <a:pt x="19276" y="14023"/>
                  <a:pt x="19215" y="13777"/>
                  <a:pt x="19167" y="13500"/>
                </a:cubicBezTo>
                <a:cubicBezTo>
                  <a:pt x="19078" y="12982"/>
                  <a:pt x="19069" y="12798"/>
                  <a:pt x="19118" y="11880"/>
                </a:cubicBezTo>
                <a:cubicBezTo>
                  <a:pt x="19129" y="11682"/>
                  <a:pt x="19108" y="11655"/>
                  <a:pt x="18873" y="11655"/>
                </a:cubicBezTo>
                <a:lnTo>
                  <a:pt x="18620" y="11655"/>
                </a:lnTo>
                <a:lnTo>
                  <a:pt x="18514" y="13860"/>
                </a:lnTo>
                <a:cubicBezTo>
                  <a:pt x="18457" y="15077"/>
                  <a:pt x="18408" y="16167"/>
                  <a:pt x="18408" y="16245"/>
                </a:cubicBezTo>
                <a:cubicBezTo>
                  <a:pt x="18408" y="16344"/>
                  <a:pt x="18481" y="16380"/>
                  <a:pt x="18653" y="16380"/>
                </a:cubicBezTo>
                <a:cubicBezTo>
                  <a:pt x="18898" y="16380"/>
                  <a:pt x="18901" y="16377"/>
                  <a:pt x="18922" y="16065"/>
                </a:cubicBezTo>
                <a:lnTo>
                  <a:pt x="18947" y="15750"/>
                </a:lnTo>
                <a:lnTo>
                  <a:pt x="19045" y="16065"/>
                </a:lnTo>
                <a:lnTo>
                  <a:pt x="19143" y="16380"/>
                </a:lnTo>
                <a:lnTo>
                  <a:pt x="19959" y="16335"/>
                </a:lnTo>
                <a:lnTo>
                  <a:pt x="20776" y="16335"/>
                </a:lnTo>
                <a:lnTo>
                  <a:pt x="20816" y="15525"/>
                </a:lnTo>
                <a:cubicBezTo>
                  <a:pt x="20837" y="15082"/>
                  <a:pt x="20867" y="14598"/>
                  <a:pt x="20882" y="14445"/>
                </a:cubicBezTo>
                <a:lnTo>
                  <a:pt x="20906" y="14130"/>
                </a:lnTo>
                <a:lnTo>
                  <a:pt x="20400" y="14130"/>
                </a:lnTo>
                <a:cubicBezTo>
                  <a:pt x="20118" y="14130"/>
                  <a:pt x="19893" y="14103"/>
                  <a:pt x="19886" y="14040"/>
                </a:cubicBezTo>
                <a:cubicBezTo>
                  <a:pt x="19879" y="13978"/>
                  <a:pt x="19882" y="13764"/>
                  <a:pt x="19894" y="13590"/>
                </a:cubicBezTo>
                <a:lnTo>
                  <a:pt x="19910" y="13275"/>
                </a:lnTo>
                <a:lnTo>
                  <a:pt x="20269" y="13275"/>
                </a:lnTo>
                <a:lnTo>
                  <a:pt x="20620" y="13230"/>
                </a:lnTo>
                <a:lnTo>
                  <a:pt x="20661" y="12465"/>
                </a:lnTo>
                <a:lnTo>
                  <a:pt x="20694" y="11745"/>
                </a:lnTo>
                <a:lnTo>
                  <a:pt x="20343" y="11655"/>
                </a:lnTo>
                <a:cubicBezTo>
                  <a:pt x="20012" y="11596"/>
                  <a:pt x="19993" y="11574"/>
                  <a:pt x="19992" y="11340"/>
                </a:cubicBezTo>
                <a:cubicBezTo>
                  <a:pt x="19988" y="10689"/>
                  <a:pt x="20004" y="10665"/>
                  <a:pt x="20359" y="10665"/>
                </a:cubicBezTo>
                <a:cubicBezTo>
                  <a:pt x="20781" y="10664"/>
                  <a:pt x="20810" y="10585"/>
                  <a:pt x="20890" y="9270"/>
                </a:cubicBezTo>
                <a:cubicBezTo>
                  <a:pt x="20944" y="8374"/>
                  <a:pt x="20943" y="8386"/>
                  <a:pt x="21029" y="8325"/>
                </a:cubicBezTo>
                <a:cubicBezTo>
                  <a:pt x="21111" y="8266"/>
                  <a:pt x="21115" y="8241"/>
                  <a:pt x="21143" y="7650"/>
                </a:cubicBezTo>
                <a:cubicBezTo>
                  <a:pt x="21188" y="6690"/>
                  <a:pt x="21185" y="6480"/>
                  <a:pt x="21118" y="6480"/>
                </a:cubicBezTo>
                <a:cubicBezTo>
                  <a:pt x="21087" y="6480"/>
                  <a:pt x="21059" y="6389"/>
                  <a:pt x="21053" y="6300"/>
                </a:cubicBezTo>
                <a:cubicBezTo>
                  <a:pt x="21047" y="6211"/>
                  <a:pt x="21061" y="5661"/>
                  <a:pt x="21086" y="5085"/>
                </a:cubicBezTo>
                <a:cubicBezTo>
                  <a:pt x="21111" y="4509"/>
                  <a:pt x="21126" y="4011"/>
                  <a:pt x="21127" y="3960"/>
                </a:cubicBezTo>
                <a:cubicBezTo>
                  <a:pt x="21127" y="3909"/>
                  <a:pt x="20951" y="3870"/>
                  <a:pt x="20735" y="3870"/>
                </a:cubicBezTo>
                <a:cubicBezTo>
                  <a:pt x="20504" y="3870"/>
                  <a:pt x="20343" y="3806"/>
                  <a:pt x="20335" y="3735"/>
                </a:cubicBezTo>
                <a:cubicBezTo>
                  <a:pt x="20311" y="3522"/>
                  <a:pt x="20362" y="2611"/>
                  <a:pt x="20408" y="2475"/>
                </a:cubicBezTo>
                <a:cubicBezTo>
                  <a:pt x="20435" y="2395"/>
                  <a:pt x="20677" y="2356"/>
                  <a:pt x="21029" y="2340"/>
                </a:cubicBezTo>
                <a:lnTo>
                  <a:pt x="21600" y="2295"/>
                </a:lnTo>
                <a:lnTo>
                  <a:pt x="21600" y="0"/>
                </a:lnTo>
                <a:lnTo>
                  <a:pt x="0" y="0"/>
                </a:lnTo>
                <a:close/>
                <a:moveTo>
                  <a:pt x="2049" y="1260"/>
                </a:moveTo>
                <a:lnTo>
                  <a:pt x="784" y="1305"/>
                </a:lnTo>
                <a:lnTo>
                  <a:pt x="694" y="2385"/>
                </a:lnTo>
                <a:lnTo>
                  <a:pt x="612" y="3420"/>
                </a:lnTo>
                <a:lnTo>
                  <a:pt x="1853" y="3510"/>
                </a:lnTo>
                <a:cubicBezTo>
                  <a:pt x="3228" y="3579"/>
                  <a:pt x="3187" y="3511"/>
                  <a:pt x="3347" y="4365"/>
                </a:cubicBezTo>
                <a:cubicBezTo>
                  <a:pt x="3405" y="4673"/>
                  <a:pt x="3420" y="4887"/>
                  <a:pt x="3420" y="5265"/>
                </a:cubicBezTo>
                <a:cubicBezTo>
                  <a:pt x="3420" y="5669"/>
                  <a:pt x="3399" y="5848"/>
                  <a:pt x="3306" y="6390"/>
                </a:cubicBezTo>
                <a:cubicBezTo>
                  <a:pt x="3117" y="7489"/>
                  <a:pt x="2815" y="8347"/>
                  <a:pt x="2212" y="9450"/>
                </a:cubicBezTo>
                <a:lnTo>
                  <a:pt x="1886" y="10035"/>
                </a:lnTo>
                <a:lnTo>
                  <a:pt x="2376" y="12645"/>
                </a:lnTo>
                <a:lnTo>
                  <a:pt x="2865" y="15255"/>
                </a:lnTo>
                <a:lnTo>
                  <a:pt x="3404" y="15255"/>
                </a:lnTo>
                <a:cubicBezTo>
                  <a:pt x="3754" y="15258"/>
                  <a:pt x="3935" y="15203"/>
                  <a:pt x="3935" y="15120"/>
                </a:cubicBezTo>
                <a:cubicBezTo>
                  <a:pt x="3935" y="14895"/>
                  <a:pt x="3463" y="12407"/>
                  <a:pt x="3200" y="11250"/>
                </a:cubicBezTo>
                <a:cubicBezTo>
                  <a:pt x="3060" y="10632"/>
                  <a:pt x="2953" y="10092"/>
                  <a:pt x="2963" y="10035"/>
                </a:cubicBezTo>
                <a:cubicBezTo>
                  <a:pt x="2974" y="9978"/>
                  <a:pt x="3061" y="9879"/>
                  <a:pt x="3159" y="9810"/>
                </a:cubicBezTo>
                <a:cubicBezTo>
                  <a:pt x="3646" y="9471"/>
                  <a:pt x="4033" y="8321"/>
                  <a:pt x="4196" y="6705"/>
                </a:cubicBezTo>
                <a:cubicBezTo>
                  <a:pt x="4255" y="6116"/>
                  <a:pt x="4261" y="5931"/>
                  <a:pt x="4261" y="4995"/>
                </a:cubicBezTo>
                <a:cubicBezTo>
                  <a:pt x="4261" y="4065"/>
                  <a:pt x="4253" y="3855"/>
                  <a:pt x="4196" y="3285"/>
                </a:cubicBezTo>
                <a:cubicBezTo>
                  <a:pt x="4086" y="2189"/>
                  <a:pt x="3883" y="1619"/>
                  <a:pt x="3527" y="1395"/>
                </a:cubicBezTo>
                <a:cubicBezTo>
                  <a:pt x="3429" y="1334"/>
                  <a:pt x="3092" y="1264"/>
                  <a:pt x="2596" y="1260"/>
                </a:cubicBezTo>
                <a:cubicBezTo>
                  <a:pt x="2430" y="1259"/>
                  <a:pt x="2247" y="1254"/>
                  <a:pt x="2049" y="1260"/>
                </a:cubicBezTo>
                <a:close/>
                <a:moveTo>
                  <a:pt x="14996" y="4095"/>
                </a:moveTo>
                <a:lnTo>
                  <a:pt x="14922" y="5895"/>
                </a:lnTo>
                <a:cubicBezTo>
                  <a:pt x="14835" y="7965"/>
                  <a:pt x="14743" y="10416"/>
                  <a:pt x="14743" y="10575"/>
                </a:cubicBezTo>
                <a:cubicBezTo>
                  <a:pt x="14743" y="10637"/>
                  <a:pt x="14955" y="10665"/>
                  <a:pt x="15224" y="10665"/>
                </a:cubicBezTo>
                <a:cubicBezTo>
                  <a:pt x="15490" y="10665"/>
                  <a:pt x="15708" y="10700"/>
                  <a:pt x="15714" y="10755"/>
                </a:cubicBezTo>
                <a:cubicBezTo>
                  <a:pt x="15720" y="10810"/>
                  <a:pt x="15717" y="11116"/>
                  <a:pt x="15706" y="11385"/>
                </a:cubicBezTo>
                <a:cubicBezTo>
                  <a:pt x="15695" y="11654"/>
                  <a:pt x="15680" y="12020"/>
                  <a:pt x="15673" y="12240"/>
                </a:cubicBezTo>
                <a:cubicBezTo>
                  <a:pt x="15666" y="12460"/>
                  <a:pt x="15639" y="13250"/>
                  <a:pt x="15608" y="13950"/>
                </a:cubicBezTo>
                <a:cubicBezTo>
                  <a:pt x="15541" y="15478"/>
                  <a:pt x="15537" y="16069"/>
                  <a:pt x="15592" y="16245"/>
                </a:cubicBezTo>
                <a:cubicBezTo>
                  <a:pt x="15615" y="16321"/>
                  <a:pt x="15844" y="16378"/>
                  <a:pt x="16163" y="16380"/>
                </a:cubicBezTo>
                <a:lnTo>
                  <a:pt x="16694" y="16380"/>
                </a:lnTo>
                <a:lnTo>
                  <a:pt x="16735" y="15480"/>
                </a:lnTo>
                <a:cubicBezTo>
                  <a:pt x="16756" y="14986"/>
                  <a:pt x="16789" y="14474"/>
                  <a:pt x="16808" y="14355"/>
                </a:cubicBezTo>
                <a:cubicBezTo>
                  <a:pt x="16841" y="14150"/>
                  <a:pt x="16820" y="14130"/>
                  <a:pt x="16498" y="14130"/>
                </a:cubicBezTo>
                <a:cubicBezTo>
                  <a:pt x="16311" y="14130"/>
                  <a:pt x="16152" y="14091"/>
                  <a:pt x="16147" y="14040"/>
                </a:cubicBezTo>
                <a:cubicBezTo>
                  <a:pt x="16132" y="13902"/>
                  <a:pt x="16251" y="11026"/>
                  <a:pt x="16278" y="10845"/>
                </a:cubicBezTo>
                <a:cubicBezTo>
                  <a:pt x="16291" y="10752"/>
                  <a:pt x="16350" y="10665"/>
                  <a:pt x="16433" y="10665"/>
                </a:cubicBezTo>
                <a:cubicBezTo>
                  <a:pt x="16615" y="10664"/>
                  <a:pt x="16718" y="10502"/>
                  <a:pt x="16792" y="10080"/>
                </a:cubicBezTo>
                <a:cubicBezTo>
                  <a:pt x="16842" y="9790"/>
                  <a:pt x="16869" y="9432"/>
                  <a:pt x="16922" y="7965"/>
                </a:cubicBezTo>
                <a:cubicBezTo>
                  <a:pt x="16965" y="6801"/>
                  <a:pt x="16972" y="6211"/>
                  <a:pt x="16955" y="6210"/>
                </a:cubicBezTo>
                <a:cubicBezTo>
                  <a:pt x="16926" y="6209"/>
                  <a:pt x="16512" y="6864"/>
                  <a:pt x="16498" y="6930"/>
                </a:cubicBezTo>
                <a:cubicBezTo>
                  <a:pt x="16493" y="6954"/>
                  <a:pt x="16469" y="7392"/>
                  <a:pt x="16449" y="7920"/>
                </a:cubicBezTo>
                <a:lnTo>
                  <a:pt x="16416" y="8865"/>
                </a:lnTo>
                <a:lnTo>
                  <a:pt x="15829" y="8955"/>
                </a:lnTo>
                <a:cubicBezTo>
                  <a:pt x="15427" y="8999"/>
                  <a:pt x="15229" y="9071"/>
                  <a:pt x="15184" y="9180"/>
                </a:cubicBezTo>
                <a:cubicBezTo>
                  <a:pt x="15141" y="9282"/>
                  <a:pt x="15108" y="9302"/>
                  <a:pt x="15094" y="9225"/>
                </a:cubicBezTo>
                <a:cubicBezTo>
                  <a:pt x="15080" y="9148"/>
                  <a:pt x="15113" y="8918"/>
                  <a:pt x="15192" y="8640"/>
                </a:cubicBezTo>
                <a:lnTo>
                  <a:pt x="15314" y="8235"/>
                </a:lnTo>
                <a:lnTo>
                  <a:pt x="15355" y="7200"/>
                </a:lnTo>
                <a:cubicBezTo>
                  <a:pt x="15378" y="6632"/>
                  <a:pt x="15409" y="6066"/>
                  <a:pt x="15420" y="5985"/>
                </a:cubicBezTo>
                <a:cubicBezTo>
                  <a:pt x="15434" y="5884"/>
                  <a:pt x="15564" y="5832"/>
                  <a:pt x="15837" y="5805"/>
                </a:cubicBezTo>
                <a:cubicBezTo>
                  <a:pt x="16213" y="5768"/>
                  <a:pt x="16242" y="5754"/>
                  <a:pt x="16359" y="5445"/>
                </a:cubicBezTo>
                <a:cubicBezTo>
                  <a:pt x="16461" y="5176"/>
                  <a:pt x="16627" y="4823"/>
                  <a:pt x="16947" y="4185"/>
                </a:cubicBezTo>
                <a:cubicBezTo>
                  <a:pt x="16966" y="4148"/>
                  <a:pt x="16529" y="4100"/>
                  <a:pt x="15984" y="4095"/>
                </a:cubicBezTo>
                <a:lnTo>
                  <a:pt x="14996" y="4095"/>
                </a:lnTo>
                <a:close/>
                <a:moveTo>
                  <a:pt x="11837" y="4410"/>
                </a:moveTo>
                <a:cubicBezTo>
                  <a:pt x="11531" y="4420"/>
                  <a:pt x="11318" y="4631"/>
                  <a:pt x="11094" y="5130"/>
                </a:cubicBezTo>
                <a:cubicBezTo>
                  <a:pt x="10627" y="6168"/>
                  <a:pt x="10305" y="8167"/>
                  <a:pt x="10237" y="10350"/>
                </a:cubicBezTo>
                <a:cubicBezTo>
                  <a:pt x="10160" y="12813"/>
                  <a:pt x="10474" y="14725"/>
                  <a:pt x="11020" y="15120"/>
                </a:cubicBezTo>
                <a:cubicBezTo>
                  <a:pt x="11312" y="15331"/>
                  <a:pt x="11860" y="14940"/>
                  <a:pt x="12188" y="14265"/>
                </a:cubicBezTo>
                <a:lnTo>
                  <a:pt x="12310" y="13995"/>
                </a:lnTo>
                <a:lnTo>
                  <a:pt x="12359" y="12735"/>
                </a:lnTo>
                <a:cubicBezTo>
                  <a:pt x="12389" y="12039"/>
                  <a:pt x="12411" y="11452"/>
                  <a:pt x="12408" y="11430"/>
                </a:cubicBezTo>
                <a:cubicBezTo>
                  <a:pt x="12405" y="11408"/>
                  <a:pt x="12338" y="11577"/>
                  <a:pt x="12261" y="11790"/>
                </a:cubicBezTo>
                <a:cubicBezTo>
                  <a:pt x="12073" y="12313"/>
                  <a:pt x="11690" y="13010"/>
                  <a:pt x="11518" y="13140"/>
                </a:cubicBezTo>
                <a:cubicBezTo>
                  <a:pt x="11354" y="13264"/>
                  <a:pt x="11203" y="13115"/>
                  <a:pt x="11118" y="12780"/>
                </a:cubicBezTo>
                <a:cubicBezTo>
                  <a:pt x="11044" y="12487"/>
                  <a:pt x="10967" y="11717"/>
                  <a:pt x="10996" y="11565"/>
                </a:cubicBezTo>
                <a:cubicBezTo>
                  <a:pt x="11007" y="11505"/>
                  <a:pt x="11273" y="11201"/>
                  <a:pt x="11584" y="10890"/>
                </a:cubicBezTo>
                <a:cubicBezTo>
                  <a:pt x="12182" y="10292"/>
                  <a:pt x="12342" y="10041"/>
                  <a:pt x="12490" y="9450"/>
                </a:cubicBezTo>
                <a:cubicBezTo>
                  <a:pt x="12589" y="9053"/>
                  <a:pt x="12630" y="8682"/>
                  <a:pt x="12669" y="7875"/>
                </a:cubicBezTo>
                <a:cubicBezTo>
                  <a:pt x="12732" y="6594"/>
                  <a:pt x="12569" y="5280"/>
                  <a:pt x="12278" y="4725"/>
                </a:cubicBezTo>
                <a:cubicBezTo>
                  <a:pt x="12144" y="4470"/>
                  <a:pt x="12078" y="4402"/>
                  <a:pt x="11837" y="4410"/>
                </a:cubicBezTo>
                <a:close/>
                <a:moveTo>
                  <a:pt x="4596" y="4500"/>
                </a:moveTo>
                <a:lnTo>
                  <a:pt x="4571" y="4950"/>
                </a:lnTo>
                <a:cubicBezTo>
                  <a:pt x="4437" y="7980"/>
                  <a:pt x="4246" y="12545"/>
                  <a:pt x="4237" y="13005"/>
                </a:cubicBezTo>
                <a:cubicBezTo>
                  <a:pt x="4215" y="14109"/>
                  <a:pt x="4356" y="14889"/>
                  <a:pt x="4629" y="15165"/>
                </a:cubicBezTo>
                <a:cubicBezTo>
                  <a:pt x="4786" y="15324"/>
                  <a:pt x="5690" y="15159"/>
                  <a:pt x="5918" y="14940"/>
                </a:cubicBezTo>
                <a:cubicBezTo>
                  <a:pt x="6024" y="14838"/>
                  <a:pt x="6146" y="14657"/>
                  <a:pt x="6196" y="14535"/>
                </a:cubicBezTo>
                <a:cubicBezTo>
                  <a:pt x="6301" y="14278"/>
                  <a:pt x="6425" y="13605"/>
                  <a:pt x="6473" y="12960"/>
                </a:cubicBezTo>
                <a:cubicBezTo>
                  <a:pt x="6520" y="12345"/>
                  <a:pt x="6698" y="8277"/>
                  <a:pt x="6833" y="4770"/>
                </a:cubicBezTo>
                <a:lnTo>
                  <a:pt x="6841" y="4500"/>
                </a:lnTo>
                <a:lnTo>
                  <a:pt x="6490" y="4500"/>
                </a:lnTo>
                <a:lnTo>
                  <a:pt x="6131" y="4500"/>
                </a:lnTo>
                <a:lnTo>
                  <a:pt x="6065" y="6300"/>
                </a:lnTo>
                <a:cubicBezTo>
                  <a:pt x="5897" y="11087"/>
                  <a:pt x="5816" y="12280"/>
                  <a:pt x="5624" y="12825"/>
                </a:cubicBezTo>
                <a:cubicBezTo>
                  <a:pt x="5523" y="13114"/>
                  <a:pt x="5292" y="13284"/>
                  <a:pt x="5176" y="13140"/>
                </a:cubicBezTo>
                <a:cubicBezTo>
                  <a:pt x="5040" y="12972"/>
                  <a:pt x="4996" y="12748"/>
                  <a:pt x="4996" y="12195"/>
                </a:cubicBezTo>
                <a:cubicBezTo>
                  <a:pt x="4996" y="11950"/>
                  <a:pt x="5065" y="10169"/>
                  <a:pt x="5151" y="8235"/>
                </a:cubicBezTo>
                <a:cubicBezTo>
                  <a:pt x="5238" y="6301"/>
                  <a:pt x="5314" y="4650"/>
                  <a:pt x="5314" y="4590"/>
                </a:cubicBezTo>
                <a:cubicBezTo>
                  <a:pt x="5314" y="4530"/>
                  <a:pt x="5153" y="4500"/>
                  <a:pt x="4955" y="4500"/>
                </a:cubicBezTo>
                <a:lnTo>
                  <a:pt x="4596" y="4500"/>
                </a:lnTo>
                <a:close/>
                <a:moveTo>
                  <a:pt x="10237" y="4815"/>
                </a:moveTo>
                <a:lnTo>
                  <a:pt x="10073" y="4905"/>
                </a:lnTo>
                <a:cubicBezTo>
                  <a:pt x="9985" y="4950"/>
                  <a:pt x="9829" y="5056"/>
                  <a:pt x="9722" y="5130"/>
                </a:cubicBezTo>
                <a:lnTo>
                  <a:pt x="9527" y="5265"/>
                </a:lnTo>
                <a:lnTo>
                  <a:pt x="9486" y="6120"/>
                </a:lnTo>
                <a:cubicBezTo>
                  <a:pt x="9466" y="6607"/>
                  <a:pt x="9414" y="7920"/>
                  <a:pt x="9363" y="9045"/>
                </a:cubicBezTo>
                <a:cubicBezTo>
                  <a:pt x="9313" y="10170"/>
                  <a:pt x="9248" y="11626"/>
                  <a:pt x="9224" y="12240"/>
                </a:cubicBezTo>
                <a:cubicBezTo>
                  <a:pt x="9201" y="12854"/>
                  <a:pt x="9166" y="13782"/>
                  <a:pt x="9143" y="14310"/>
                </a:cubicBezTo>
                <a:lnTo>
                  <a:pt x="9094" y="15255"/>
                </a:lnTo>
                <a:lnTo>
                  <a:pt x="9437" y="15255"/>
                </a:lnTo>
                <a:lnTo>
                  <a:pt x="9780" y="15255"/>
                </a:lnTo>
                <a:lnTo>
                  <a:pt x="9910" y="12240"/>
                </a:lnTo>
                <a:cubicBezTo>
                  <a:pt x="9981" y="10587"/>
                  <a:pt x="10085" y="8239"/>
                  <a:pt x="10139" y="7020"/>
                </a:cubicBezTo>
                <a:lnTo>
                  <a:pt x="10237" y="4815"/>
                </a:lnTo>
                <a:close/>
                <a:moveTo>
                  <a:pt x="1045" y="4995"/>
                </a:moveTo>
                <a:lnTo>
                  <a:pt x="971" y="6075"/>
                </a:lnTo>
                <a:cubicBezTo>
                  <a:pt x="932" y="6671"/>
                  <a:pt x="830" y="8333"/>
                  <a:pt x="735" y="9765"/>
                </a:cubicBezTo>
                <a:cubicBezTo>
                  <a:pt x="640" y="11197"/>
                  <a:pt x="523" y="12897"/>
                  <a:pt x="482" y="13545"/>
                </a:cubicBezTo>
                <a:cubicBezTo>
                  <a:pt x="441" y="14193"/>
                  <a:pt x="401" y="14819"/>
                  <a:pt x="392" y="14940"/>
                </a:cubicBezTo>
                <a:cubicBezTo>
                  <a:pt x="377" y="15146"/>
                  <a:pt x="405" y="15152"/>
                  <a:pt x="824" y="15120"/>
                </a:cubicBezTo>
                <a:lnTo>
                  <a:pt x="1273" y="15075"/>
                </a:lnTo>
                <a:lnTo>
                  <a:pt x="1388" y="13320"/>
                </a:lnTo>
                <a:cubicBezTo>
                  <a:pt x="1508" y="11527"/>
                  <a:pt x="1755" y="7778"/>
                  <a:pt x="1853" y="6255"/>
                </a:cubicBezTo>
                <a:cubicBezTo>
                  <a:pt x="1884" y="5778"/>
                  <a:pt x="1918" y="5294"/>
                  <a:pt x="1927" y="5175"/>
                </a:cubicBezTo>
                <a:cubicBezTo>
                  <a:pt x="1941" y="4973"/>
                  <a:pt x="1910" y="4994"/>
                  <a:pt x="1494" y="4995"/>
                </a:cubicBezTo>
                <a:lnTo>
                  <a:pt x="1045" y="4995"/>
                </a:lnTo>
                <a:close/>
                <a:moveTo>
                  <a:pt x="9053" y="5625"/>
                </a:moveTo>
                <a:cubicBezTo>
                  <a:pt x="9049" y="5597"/>
                  <a:pt x="8891" y="5686"/>
                  <a:pt x="8702" y="5850"/>
                </a:cubicBezTo>
                <a:lnTo>
                  <a:pt x="8359" y="6165"/>
                </a:lnTo>
                <a:lnTo>
                  <a:pt x="8180" y="10170"/>
                </a:lnTo>
                <a:cubicBezTo>
                  <a:pt x="7933" y="15574"/>
                  <a:pt x="7864" y="16641"/>
                  <a:pt x="7722" y="17505"/>
                </a:cubicBezTo>
                <a:cubicBezTo>
                  <a:pt x="7637" y="18025"/>
                  <a:pt x="7429" y="18674"/>
                  <a:pt x="7298" y="18810"/>
                </a:cubicBezTo>
                <a:cubicBezTo>
                  <a:pt x="7231" y="18879"/>
                  <a:pt x="7223" y="18925"/>
                  <a:pt x="7200" y="19575"/>
                </a:cubicBezTo>
                <a:cubicBezTo>
                  <a:pt x="7186" y="19960"/>
                  <a:pt x="7169" y="20440"/>
                  <a:pt x="7159" y="20610"/>
                </a:cubicBezTo>
                <a:lnTo>
                  <a:pt x="7143" y="20925"/>
                </a:lnTo>
                <a:lnTo>
                  <a:pt x="6694" y="20925"/>
                </a:lnTo>
                <a:cubicBezTo>
                  <a:pt x="6448" y="20944"/>
                  <a:pt x="6239" y="20940"/>
                  <a:pt x="6229" y="20880"/>
                </a:cubicBezTo>
                <a:cubicBezTo>
                  <a:pt x="6217" y="20818"/>
                  <a:pt x="6237" y="20683"/>
                  <a:pt x="6269" y="20565"/>
                </a:cubicBezTo>
                <a:cubicBezTo>
                  <a:pt x="6361" y="20235"/>
                  <a:pt x="6348" y="19709"/>
                  <a:pt x="6237" y="19305"/>
                </a:cubicBezTo>
                <a:cubicBezTo>
                  <a:pt x="6097" y="18794"/>
                  <a:pt x="6116" y="18557"/>
                  <a:pt x="6310" y="18585"/>
                </a:cubicBezTo>
                <a:cubicBezTo>
                  <a:pt x="6409" y="18599"/>
                  <a:pt x="6431" y="18566"/>
                  <a:pt x="6441" y="18360"/>
                </a:cubicBezTo>
                <a:cubicBezTo>
                  <a:pt x="6452" y="18132"/>
                  <a:pt x="6441" y="18133"/>
                  <a:pt x="6269" y="18135"/>
                </a:cubicBezTo>
                <a:cubicBezTo>
                  <a:pt x="6046" y="18137"/>
                  <a:pt x="5977" y="18268"/>
                  <a:pt x="5967" y="18810"/>
                </a:cubicBezTo>
                <a:cubicBezTo>
                  <a:pt x="5961" y="19151"/>
                  <a:pt x="5970" y="19242"/>
                  <a:pt x="6049" y="19530"/>
                </a:cubicBezTo>
                <a:cubicBezTo>
                  <a:pt x="6150" y="19897"/>
                  <a:pt x="6156" y="19977"/>
                  <a:pt x="6106" y="20205"/>
                </a:cubicBezTo>
                <a:cubicBezTo>
                  <a:pt x="6082" y="20313"/>
                  <a:pt x="6036" y="20353"/>
                  <a:pt x="5943" y="20295"/>
                </a:cubicBezTo>
                <a:cubicBezTo>
                  <a:pt x="5810" y="20212"/>
                  <a:pt x="5811" y="20220"/>
                  <a:pt x="5804" y="20565"/>
                </a:cubicBezTo>
                <a:cubicBezTo>
                  <a:pt x="5791" y="21171"/>
                  <a:pt x="5728" y="21023"/>
                  <a:pt x="5616" y="20160"/>
                </a:cubicBezTo>
                <a:cubicBezTo>
                  <a:pt x="5559" y="19718"/>
                  <a:pt x="5510" y="19336"/>
                  <a:pt x="5510" y="19305"/>
                </a:cubicBezTo>
                <a:cubicBezTo>
                  <a:pt x="5510" y="19274"/>
                  <a:pt x="5582" y="19018"/>
                  <a:pt x="5665" y="18720"/>
                </a:cubicBezTo>
                <a:lnTo>
                  <a:pt x="5812" y="18180"/>
                </a:lnTo>
                <a:lnTo>
                  <a:pt x="5714" y="18135"/>
                </a:lnTo>
                <a:cubicBezTo>
                  <a:pt x="5624" y="18103"/>
                  <a:pt x="5594" y="18145"/>
                  <a:pt x="5494" y="18540"/>
                </a:cubicBezTo>
                <a:cubicBezTo>
                  <a:pt x="5318" y="19236"/>
                  <a:pt x="5308" y="19019"/>
                  <a:pt x="5437" y="17325"/>
                </a:cubicBezTo>
                <a:cubicBezTo>
                  <a:pt x="5451" y="17137"/>
                  <a:pt x="5434" y="17145"/>
                  <a:pt x="5347" y="17145"/>
                </a:cubicBezTo>
                <a:lnTo>
                  <a:pt x="5249" y="17145"/>
                </a:lnTo>
                <a:lnTo>
                  <a:pt x="5192" y="18090"/>
                </a:lnTo>
                <a:cubicBezTo>
                  <a:pt x="5108" y="19414"/>
                  <a:pt x="5014" y="20644"/>
                  <a:pt x="4988" y="20835"/>
                </a:cubicBezTo>
                <a:cubicBezTo>
                  <a:pt x="4972" y="20946"/>
                  <a:pt x="4919" y="20950"/>
                  <a:pt x="4808" y="20925"/>
                </a:cubicBezTo>
                <a:lnTo>
                  <a:pt x="4645" y="20925"/>
                </a:lnTo>
                <a:lnTo>
                  <a:pt x="4653" y="20565"/>
                </a:lnTo>
                <a:cubicBezTo>
                  <a:pt x="4673" y="19538"/>
                  <a:pt x="4827" y="18536"/>
                  <a:pt x="4955" y="18630"/>
                </a:cubicBezTo>
                <a:cubicBezTo>
                  <a:pt x="5012" y="18672"/>
                  <a:pt x="5037" y="18539"/>
                  <a:pt x="5037" y="18225"/>
                </a:cubicBezTo>
                <a:cubicBezTo>
                  <a:pt x="5037" y="18165"/>
                  <a:pt x="4945" y="18121"/>
                  <a:pt x="4824" y="18135"/>
                </a:cubicBezTo>
                <a:lnTo>
                  <a:pt x="4604" y="18180"/>
                </a:lnTo>
                <a:lnTo>
                  <a:pt x="4563" y="18855"/>
                </a:lnTo>
                <a:cubicBezTo>
                  <a:pt x="4542" y="19230"/>
                  <a:pt x="4505" y="19858"/>
                  <a:pt x="4473" y="20250"/>
                </a:cubicBezTo>
                <a:lnTo>
                  <a:pt x="4416" y="20970"/>
                </a:lnTo>
                <a:lnTo>
                  <a:pt x="4302" y="20970"/>
                </a:lnTo>
                <a:cubicBezTo>
                  <a:pt x="4159" y="20970"/>
                  <a:pt x="4137" y="20826"/>
                  <a:pt x="4245" y="20520"/>
                </a:cubicBezTo>
                <a:cubicBezTo>
                  <a:pt x="4411" y="20048"/>
                  <a:pt x="4485" y="18910"/>
                  <a:pt x="4384" y="18405"/>
                </a:cubicBezTo>
                <a:cubicBezTo>
                  <a:pt x="4347" y="18222"/>
                  <a:pt x="4294" y="18169"/>
                  <a:pt x="4147" y="18135"/>
                </a:cubicBezTo>
                <a:cubicBezTo>
                  <a:pt x="3979" y="18096"/>
                  <a:pt x="3944" y="18116"/>
                  <a:pt x="3837" y="18405"/>
                </a:cubicBezTo>
                <a:cubicBezTo>
                  <a:pt x="3651" y="18906"/>
                  <a:pt x="3583" y="19933"/>
                  <a:pt x="3698" y="20520"/>
                </a:cubicBezTo>
                <a:cubicBezTo>
                  <a:pt x="3729" y="20677"/>
                  <a:pt x="3747" y="20836"/>
                  <a:pt x="3739" y="20880"/>
                </a:cubicBezTo>
                <a:cubicBezTo>
                  <a:pt x="3718" y="20993"/>
                  <a:pt x="3270" y="20994"/>
                  <a:pt x="3257" y="20880"/>
                </a:cubicBezTo>
                <a:cubicBezTo>
                  <a:pt x="3252" y="20829"/>
                  <a:pt x="3348" y="20201"/>
                  <a:pt x="3469" y="19485"/>
                </a:cubicBezTo>
                <a:lnTo>
                  <a:pt x="3690" y="18180"/>
                </a:lnTo>
                <a:lnTo>
                  <a:pt x="3592" y="18135"/>
                </a:lnTo>
                <a:cubicBezTo>
                  <a:pt x="3502" y="18097"/>
                  <a:pt x="3498" y="18117"/>
                  <a:pt x="3371" y="18900"/>
                </a:cubicBezTo>
                <a:cubicBezTo>
                  <a:pt x="3299" y="19348"/>
                  <a:pt x="3226" y="19698"/>
                  <a:pt x="3216" y="19665"/>
                </a:cubicBezTo>
                <a:cubicBezTo>
                  <a:pt x="3207" y="19632"/>
                  <a:pt x="3192" y="19266"/>
                  <a:pt x="3184" y="18855"/>
                </a:cubicBezTo>
                <a:lnTo>
                  <a:pt x="3167" y="18135"/>
                </a:lnTo>
                <a:lnTo>
                  <a:pt x="3069" y="18135"/>
                </a:lnTo>
                <a:cubicBezTo>
                  <a:pt x="2976" y="18135"/>
                  <a:pt x="2972" y="18154"/>
                  <a:pt x="2849" y="18990"/>
                </a:cubicBezTo>
                <a:cubicBezTo>
                  <a:pt x="2718" y="19880"/>
                  <a:pt x="2678" y="19983"/>
                  <a:pt x="2678" y="19395"/>
                </a:cubicBezTo>
                <a:cubicBezTo>
                  <a:pt x="2677" y="19212"/>
                  <a:pt x="2669" y="18841"/>
                  <a:pt x="2661" y="18585"/>
                </a:cubicBezTo>
                <a:cubicBezTo>
                  <a:pt x="2648" y="18141"/>
                  <a:pt x="2646" y="18135"/>
                  <a:pt x="2563" y="18135"/>
                </a:cubicBezTo>
                <a:cubicBezTo>
                  <a:pt x="2461" y="18135"/>
                  <a:pt x="2457" y="18071"/>
                  <a:pt x="2506" y="19620"/>
                </a:cubicBezTo>
                <a:cubicBezTo>
                  <a:pt x="2525" y="20219"/>
                  <a:pt x="2538" y="20769"/>
                  <a:pt x="2531" y="20835"/>
                </a:cubicBezTo>
                <a:cubicBezTo>
                  <a:pt x="2512" y="21000"/>
                  <a:pt x="2255" y="21002"/>
                  <a:pt x="2237" y="20835"/>
                </a:cubicBezTo>
                <a:cubicBezTo>
                  <a:pt x="2228" y="20761"/>
                  <a:pt x="2231" y="20641"/>
                  <a:pt x="2245" y="20565"/>
                </a:cubicBezTo>
                <a:cubicBezTo>
                  <a:pt x="2287" y="20331"/>
                  <a:pt x="2278" y="20222"/>
                  <a:pt x="2212" y="20295"/>
                </a:cubicBezTo>
                <a:cubicBezTo>
                  <a:pt x="2109" y="20409"/>
                  <a:pt x="2089" y="20143"/>
                  <a:pt x="2147" y="19350"/>
                </a:cubicBezTo>
                <a:cubicBezTo>
                  <a:pt x="2195" y="18693"/>
                  <a:pt x="2197" y="18666"/>
                  <a:pt x="2286" y="18630"/>
                </a:cubicBezTo>
                <a:cubicBezTo>
                  <a:pt x="2355" y="18602"/>
                  <a:pt x="2383" y="18541"/>
                  <a:pt x="2392" y="18360"/>
                </a:cubicBezTo>
                <a:cubicBezTo>
                  <a:pt x="2401" y="18157"/>
                  <a:pt x="2396" y="18135"/>
                  <a:pt x="2335" y="18135"/>
                </a:cubicBezTo>
                <a:cubicBezTo>
                  <a:pt x="2245" y="18135"/>
                  <a:pt x="2224" y="18029"/>
                  <a:pt x="2253" y="17730"/>
                </a:cubicBezTo>
                <a:cubicBezTo>
                  <a:pt x="2272" y="17535"/>
                  <a:pt x="2264" y="17504"/>
                  <a:pt x="2220" y="17505"/>
                </a:cubicBezTo>
                <a:cubicBezTo>
                  <a:pt x="2129" y="17508"/>
                  <a:pt x="2077" y="17623"/>
                  <a:pt x="2065" y="17865"/>
                </a:cubicBezTo>
                <a:cubicBezTo>
                  <a:pt x="2058" y="18021"/>
                  <a:pt x="2030" y="18135"/>
                  <a:pt x="1992" y="18135"/>
                </a:cubicBezTo>
                <a:cubicBezTo>
                  <a:pt x="1960" y="18135"/>
                  <a:pt x="1935" y="18151"/>
                  <a:pt x="1935" y="18180"/>
                </a:cubicBezTo>
                <a:cubicBezTo>
                  <a:pt x="1935" y="18209"/>
                  <a:pt x="1933" y="18306"/>
                  <a:pt x="1927" y="18405"/>
                </a:cubicBezTo>
                <a:cubicBezTo>
                  <a:pt x="1919" y="18517"/>
                  <a:pt x="1931" y="18589"/>
                  <a:pt x="1959" y="18630"/>
                </a:cubicBezTo>
                <a:cubicBezTo>
                  <a:pt x="2004" y="18695"/>
                  <a:pt x="1999" y="18724"/>
                  <a:pt x="1943" y="19485"/>
                </a:cubicBezTo>
                <a:cubicBezTo>
                  <a:pt x="1912" y="19909"/>
                  <a:pt x="1890" y="20386"/>
                  <a:pt x="1894" y="20565"/>
                </a:cubicBezTo>
                <a:cubicBezTo>
                  <a:pt x="1900" y="20862"/>
                  <a:pt x="1891" y="20889"/>
                  <a:pt x="1812" y="20925"/>
                </a:cubicBezTo>
                <a:cubicBezTo>
                  <a:pt x="1679" y="20985"/>
                  <a:pt x="1654" y="20934"/>
                  <a:pt x="1698" y="20565"/>
                </a:cubicBezTo>
                <a:lnTo>
                  <a:pt x="1739" y="20250"/>
                </a:lnTo>
                <a:lnTo>
                  <a:pt x="1567" y="20295"/>
                </a:lnTo>
                <a:cubicBezTo>
                  <a:pt x="1416" y="20358"/>
                  <a:pt x="1400" y="20362"/>
                  <a:pt x="1355" y="20115"/>
                </a:cubicBezTo>
                <a:cubicBezTo>
                  <a:pt x="1270" y="19645"/>
                  <a:pt x="1318" y="19480"/>
                  <a:pt x="1592" y="19440"/>
                </a:cubicBezTo>
                <a:lnTo>
                  <a:pt x="1837" y="19395"/>
                </a:lnTo>
                <a:lnTo>
                  <a:pt x="1845" y="18945"/>
                </a:lnTo>
                <a:cubicBezTo>
                  <a:pt x="1850" y="18586"/>
                  <a:pt x="1841" y="18387"/>
                  <a:pt x="1812" y="18270"/>
                </a:cubicBezTo>
                <a:cubicBezTo>
                  <a:pt x="1759" y="18054"/>
                  <a:pt x="1440" y="18050"/>
                  <a:pt x="1347" y="18270"/>
                </a:cubicBezTo>
                <a:cubicBezTo>
                  <a:pt x="1229" y="18547"/>
                  <a:pt x="1148" y="19124"/>
                  <a:pt x="1135" y="19755"/>
                </a:cubicBezTo>
                <a:cubicBezTo>
                  <a:pt x="1125" y="20250"/>
                  <a:pt x="1123" y="20331"/>
                  <a:pt x="1176" y="20520"/>
                </a:cubicBezTo>
                <a:cubicBezTo>
                  <a:pt x="1208" y="20637"/>
                  <a:pt x="1231" y="20774"/>
                  <a:pt x="1224" y="20835"/>
                </a:cubicBezTo>
                <a:cubicBezTo>
                  <a:pt x="1211" y="20956"/>
                  <a:pt x="936" y="20997"/>
                  <a:pt x="914" y="20880"/>
                </a:cubicBezTo>
                <a:cubicBezTo>
                  <a:pt x="899" y="20798"/>
                  <a:pt x="918" y="20524"/>
                  <a:pt x="1061" y="18540"/>
                </a:cubicBezTo>
                <a:lnTo>
                  <a:pt x="1167" y="17145"/>
                </a:lnTo>
                <a:lnTo>
                  <a:pt x="1069" y="17145"/>
                </a:lnTo>
                <a:cubicBezTo>
                  <a:pt x="985" y="17145"/>
                  <a:pt x="968" y="17162"/>
                  <a:pt x="947" y="17460"/>
                </a:cubicBezTo>
                <a:cubicBezTo>
                  <a:pt x="934" y="17647"/>
                  <a:pt x="899" y="18198"/>
                  <a:pt x="865" y="18675"/>
                </a:cubicBezTo>
                <a:cubicBezTo>
                  <a:pt x="832" y="19152"/>
                  <a:pt x="793" y="19607"/>
                  <a:pt x="784" y="19665"/>
                </a:cubicBezTo>
                <a:cubicBezTo>
                  <a:pt x="774" y="19723"/>
                  <a:pt x="715" y="19172"/>
                  <a:pt x="645" y="18450"/>
                </a:cubicBezTo>
                <a:lnTo>
                  <a:pt x="514" y="17145"/>
                </a:lnTo>
                <a:lnTo>
                  <a:pt x="384" y="17145"/>
                </a:lnTo>
                <a:lnTo>
                  <a:pt x="261" y="17145"/>
                </a:lnTo>
                <a:lnTo>
                  <a:pt x="180" y="18315"/>
                </a:lnTo>
                <a:cubicBezTo>
                  <a:pt x="73" y="20024"/>
                  <a:pt x="51" y="20384"/>
                  <a:pt x="24" y="20295"/>
                </a:cubicBezTo>
                <a:cubicBezTo>
                  <a:pt x="22" y="20287"/>
                  <a:pt x="26" y="21476"/>
                  <a:pt x="24" y="21600"/>
                </a:cubicBezTo>
                <a:lnTo>
                  <a:pt x="21600" y="21600"/>
                </a:lnTo>
                <a:lnTo>
                  <a:pt x="21600" y="20925"/>
                </a:lnTo>
                <a:lnTo>
                  <a:pt x="14555" y="20925"/>
                </a:lnTo>
                <a:cubicBezTo>
                  <a:pt x="9875" y="20925"/>
                  <a:pt x="7506" y="20872"/>
                  <a:pt x="7502" y="20790"/>
                </a:cubicBezTo>
                <a:cubicBezTo>
                  <a:pt x="7499" y="20722"/>
                  <a:pt x="7543" y="20565"/>
                  <a:pt x="7608" y="20475"/>
                </a:cubicBezTo>
                <a:cubicBezTo>
                  <a:pt x="7800" y="20210"/>
                  <a:pt x="8126" y="19310"/>
                  <a:pt x="8253" y="18675"/>
                </a:cubicBezTo>
                <a:cubicBezTo>
                  <a:pt x="8381" y="18038"/>
                  <a:pt x="8494" y="17089"/>
                  <a:pt x="8571" y="16020"/>
                </a:cubicBezTo>
                <a:cubicBezTo>
                  <a:pt x="8623" y="15313"/>
                  <a:pt x="9068" y="5714"/>
                  <a:pt x="9053" y="5625"/>
                </a:cubicBezTo>
                <a:close/>
                <a:moveTo>
                  <a:pt x="13241" y="5715"/>
                </a:moveTo>
                <a:lnTo>
                  <a:pt x="13200" y="6615"/>
                </a:lnTo>
                <a:cubicBezTo>
                  <a:pt x="13179" y="7109"/>
                  <a:pt x="13167" y="7554"/>
                  <a:pt x="13167" y="7605"/>
                </a:cubicBezTo>
                <a:cubicBezTo>
                  <a:pt x="13168" y="7656"/>
                  <a:pt x="13253" y="7695"/>
                  <a:pt x="13363" y="7695"/>
                </a:cubicBezTo>
                <a:cubicBezTo>
                  <a:pt x="13474" y="7695"/>
                  <a:pt x="13569" y="7768"/>
                  <a:pt x="13576" y="7830"/>
                </a:cubicBezTo>
                <a:cubicBezTo>
                  <a:pt x="13591" y="7969"/>
                  <a:pt x="13548" y="9193"/>
                  <a:pt x="13518" y="9405"/>
                </a:cubicBezTo>
                <a:cubicBezTo>
                  <a:pt x="13504" y="9510"/>
                  <a:pt x="13432" y="9540"/>
                  <a:pt x="13290" y="9540"/>
                </a:cubicBezTo>
                <a:lnTo>
                  <a:pt x="13078" y="9540"/>
                </a:lnTo>
                <a:lnTo>
                  <a:pt x="13053" y="10035"/>
                </a:lnTo>
                <a:cubicBezTo>
                  <a:pt x="13041" y="10291"/>
                  <a:pt x="13027" y="10679"/>
                  <a:pt x="13020" y="10935"/>
                </a:cubicBezTo>
                <a:lnTo>
                  <a:pt x="13012" y="11430"/>
                </a:lnTo>
                <a:lnTo>
                  <a:pt x="13208" y="11430"/>
                </a:lnTo>
                <a:cubicBezTo>
                  <a:pt x="13361" y="11430"/>
                  <a:pt x="13419" y="11477"/>
                  <a:pt x="13429" y="11610"/>
                </a:cubicBezTo>
                <a:cubicBezTo>
                  <a:pt x="13435" y="11706"/>
                  <a:pt x="13413" y="12308"/>
                  <a:pt x="13388" y="12960"/>
                </a:cubicBezTo>
                <a:cubicBezTo>
                  <a:pt x="13362" y="13612"/>
                  <a:pt x="13347" y="14506"/>
                  <a:pt x="13347" y="14940"/>
                </a:cubicBezTo>
                <a:cubicBezTo>
                  <a:pt x="13347" y="15607"/>
                  <a:pt x="13349" y="15788"/>
                  <a:pt x="13396" y="16065"/>
                </a:cubicBezTo>
                <a:lnTo>
                  <a:pt x="13453" y="16380"/>
                </a:lnTo>
                <a:lnTo>
                  <a:pt x="13878" y="16380"/>
                </a:lnTo>
                <a:lnTo>
                  <a:pt x="14310" y="16380"/>
                </a:lnTo>
                <a:lnTo>
                  <a:pt x="14343" y="15480"/>
                </a:lnTo>
                <a:cubicBezTo>
                  <a:pt x="14363" y="14986"/>
                  <a:pt x="14385" y="14474"/>
                  <a:pt x="14392" y="14355"/>
                </a:cubicBezTo>
                <a:cubicBezTo>
                  <a:pt x="14403" y="14157"/>
                  <a:pt x="14377" y="14130"/>
                  <a:pt x="14131" y="14130"/>
                </a:cubicBezTo>
                <a:cubicBezTo>
                  <a:pt x="13982" y="14130"/>
                  <a:pt x="13860" y="14100"/>
                  <a:pt x="13853" y="14040"/>
                </a:cubicBezTo>
                <a:cubicBezTo>
                  <a:pt x="13841" y="13934"/>
                  <a:pt x="13920" y="11726"/>
                  <a:pt x="13943" y="11520"/>
                </a:cubicBezTo>
                <a:cubicBezTo>
                  <a:pt x="13949" y="11463"/>
                  <a:pt x="14061" y="11430"/>
                  <a:pt x="14188" y="11430"/>
                </a:cubicBezTo>
                <a:lnTo>
                  <a:pt x="14416" y="11430"/>
                </a:lnTo>
                <a:lnTo>
                  <a:pt x="14441" y="10665"/>
                </a:lnTo>
                <a:cubicBezTo>
                  <a:pt x="14456" y="10253"/>
                  <a:pt x="14475" y="9819"/>
                  <a:pt x="14482" y="9720"/>
                </a:cubicBezTo>
                <a:cubicBezTo>
                  <a:pt x="14492" y="9569"/>
                  <a:pt x="14460" y="9540"/>
                  <a:pt x="14269" y="9540"/>
                </a:cubicBezTo>
                <a:cubicBezTo>
                  <a:pt x="14107" y="9540"/>
                  <a:pt x="14039" y="9515"/>
                  <a:pt x="14033" y="9405"/>
                </a:cubicBezTo>
                <a:cubicBezTo>
                  <a:pt x="14027" y="9320"/>
                  <a:pt x="14034" y="8914"/>
                  <a:pt x="14049" y="8505"/>
                </a:cubicBezTo>
                <a:lnTo>
                  <a:pt x="14073" y="7785"/>
                </a:lnTo>
                <a:lnTo>
                  <a:pt x="14327" y="7695"/>
                </a:lnTo>
                <a:lnTo>
                  <a:pt x="14571" y="7650"/>
                </a:lnTo>
                <a:lnTo>
                  <a:pt x="14604" y="6750"/>
                </a:lnTo>
                <a:cubicBezTo>
                  <a:pt x="14626" y="6273"/>
                  <a:pt x="14645" y="5856"/>
                  <a:pt x="14645" y="5805"/>
                </a:cubicBezTo>
                <a:cubicBezTo>
                  <a:pt x="14645" y="5754"/>
                  <a:pt x="14330" y="5715"/>
                  <a:pt x="13943" y="5715"/>
                </a:cubicBezTo>
                <a:lnTo>
                  <a:pt x="13241" y="5715"/>
                </a:lnTo>
                <a:close/>
                <a:moveTo>
                  <a:pt x="11837" y="6615"/>
                </a:moveTo>
                <a:cubicBezTo>
                  <a:pt x="11888" y="6619"/>
                  <a:pt x="11929" y="6685"/>
                  <a:pt x="11959" y="6840"/>
                </a:cubicBezTo>
                <a:cubicBezTo>
                  <a:pt x="12039" y="7252"/>
                  <a:pt x="12047" y="7652"/>
                  <a:pt x="11992" y="8280"/>
                </a:cubicBezTo>
                <a:cubicBezTo>
                  <a:pt x="11942" y="8851"/>
                  <a:pt x="11824" y="9441"/>
                  <a:pt x="11714" y="9675"/>
                </a:cubicBezTo>
                <a:cubicBezTo>
                  <a:pt x="11678" y="9751"/>
                  <a:pt x="11517" y="9961"/>
                  <a:pt x="11363" y="10125"/>
                </a:cubicBezTo>
                <a:cubicBezTo>
                  <a:pt x="11209" y="10289"/>
                  <a:pt x="11069" y="10440"/>
                  <a:pt x="11053" y="10440"/>
                </a:cubicBezTo>
                <a:cubicBezTo>
                  <a:pt x="10992" y="10440"/>
                  <a:pt x="11004" y="10034"/>
                  <a:pt x="11078" y="9360"/>
                </a:cubicBezTo>
                <a:cubicBezTo>
                  <a:pt x="11242" y="7850"/>
                  <a:pt x="11616" y="6596"/>
                  <a:pt x="11837" y="6615"/>
                </a:cubicBezTo>
                <a:close/>
                <a:moveTo>
                  <a:pt x="7869" y="6705"/>
                </a:moveTo>
                <a:cubicBezTo>
                  <a:pt x="7797" y="6689"/>
                  <a:pt x="7214" y="7219"/>
                  <a:pt x="7192" y="7335"/>
                </a:cubicBezTo>
                <a:cubicBezTo>
                  <a:pt x="7164" y="7477"/>
                  <a:pt x="6841" y="14695"/>
                  <a:pt x="6841" y="15165"/>
                </a:cubicBezTo>
                <a:cubicBezTo>
                  <a:pt x="6841" y="15221"/>
                  <a:pt x="6991" y="15255"/>
                  <a:pt x="7176" y="15255"/>
                </a:cubicBezTo>
                <a:lnTo>
                  <a:pt x="7510" y="15255"/>
                </a:lnTo>
                <a:lnTo>
                  <a:pt x="7600" y="13185"/>
                </a:lnTo>
                <a:cubicBezTo>
                  <a:pt x="7723" y="10379"/>
                  <a:pt x="7878" y="6795"/>
                  <a:pt x="7878" y="6705"/>
                </a:cubicBezTo>
                <a:cubicBezTo>
                  <a:pt x="7878" y="6699"/>
                  <a:pt x="7874" y="6706"/>
                  <a:pt x="7869" y="6705"/>
                </a:cubicBezTo>
                <a:close/>
                <a:moveTo>
                  <a:pt x="15061" y="11295"/>
                </a:moveTo>
                <a:lnTo>
                  <a:pt x="14988" y="12240"/>
                </a:lnTo>
                <a:cubicBezTo>
                  <a:pt x="14948" y="12768"/>
                  <a:pt x="14905" y="13396"/>
                  <a:pt x="14890" y="13635"/>
                </a:cubicBezTo>
                <a:lnTo>
                  <a:pt x="14857" y="14085"/>
                </a:lnTo>
                <a:lnTo>
                  <a:pt x="14702" y="14130"/>
                </a:lnTo>
                <a:lnTo>
                  <a:pt x="14539" y="14175"/>
                </a:lnTo>
                <a:lnTo>
                  <a:pt x="14514" y="14805"/>
                </a:lnTo>
                <a:cubicBezTo>
                  <a:pt x="14502" y="15160"/>
                  <a:pt x="14490" y="15674"/>
                  <a:pt x="14482" y="15930"/>
                </a:cubicBezTo>
                <a:lnTo>
                  <a:pt x="14465" y="16380"/>
                </a:lnTo>
                <a:lnTo>
                  <a:pt x="14743" y="16380"/>
                </a:lnTo>
                <a:cubicBezTo>
                  <a:pt x="14897" y="16380"/>
                  <a:pt x="15056" y="16318"/>
                  <a:pt x="15094" y="16245"/>
                </a:cubicBezTo>
                <a:cubicBezTo>
                  <a:pt x="15154" y="16129"/>
                  <a:pt x="15282" y="15305"/>
                  <a:pt x="15282" y="15030"/>
                </a:cubicBezTo>
                <a:cubicBezTo>
                  <a:pt x="15282" y="14849"/>
                  <a:pt x="15511" y="11633"/>
                  <a:pt x="15535" y="11475"/>
                </a:cubicBezTo>
                <a:cubicBezTo>
                  <a:pt x="15553" y="11350"/>
                  <a:pt x="15504" y="11295"/>
                  <a:pt x="15306" y="11295"/>
                </a:cubicBezTo>
                <a:lnTo>
                  <a:pt x="15061" y="11295"/>
                </a:lnTo>
                <a:close/>
              </a:path>
            </a:pathLst>
          </a:custGeom>
          <a:ln w="12700">
            <a:miter lim="400000"/>
          </a:ln>
        </p:spPr>
      </p:pic>
      <p:pic>
        <p:nvPicPr>
          <p:cNvPr id="1045" name="图像" descr="图像">
            <a:extLst>
              <a:ext uri="{FF2B5EF4-FFF2-40B4-BE49-F238E27FC236}">
                <a16:creationId xmlns:a16="http://schemas.microsoft.com/office/drawing/2014/main" id="{D51E0695-0D99-0345-FB91-5AA17C7D3A5A}"/>
              </a:ext>
            </a:extLst>
          </p:cNvPr>
          <p:cNvPicPr>
            <a:picLocks noChangeAspect="1"/>
          </p:cNvPicPr>
          <p:nvPr/>
        </p:nvPicPr>
        <p:blipFill>
          <a:blip r:embed="rId79"/>
          <a:srcRect l="10181" t="33840" r="8725" b="35390"/>
          <a:stretch>
            <a:fillRect/>
          </a:stretch>
        </p:blipFill>
        <p:spPr>
          <a:xfrm>
            <a:off x="9653412" y="4907631"/>
            <a:ext cx="501600" cy="126649"/>
          </a:xfrm>
          <a:custGeom>
            <a:avLst/>
            <a:gdLst/>
            <a:ahLst/>
            <a:cxnLst>
              <a:cxn ang="0">
                <a:pos x="wd2" y="hd2"/>
              </a:cxn>
              <a:cxn ang="5400000">
                <a:pos x="wd2" y="hd2"/>
              </a:cxn>
              <a:cxn ang="10800000">
                <a:pos x="wd2" y="hd2"/>
              </a:cxn>
              <a:cxn ang="16200000">
                <a:pos x="wd2" y="hd2"/>
              </a:cxn>
            </a:cxnLst>
            <a:rect l="0" t="0" r="r" b="b"/>
            <a:pathLst>
              <a:path w="21600" h="21483" extrusionOk="0">
                <a:moveTo>
                  <a:pt x="5049" y="0"/>
                </a:moveTo>
                <a:lnTo>
                  <a:pt x="5011" y="4287"/>
                </a:lnTo>
                <a:lnTo>
                  <a:pt x="4986" y="8623"/>
                </a:lnTo>
                <a:lnTo>
                  <a:pt x="3442" y="8623"/>
                </a:lnTo>
                <a:lnTo>
                  <a:pt x="1885" y="8623"/>
                </a:lnTo>
                <a:lnTo>
                  <a:pt x="1860" y="4337"/>
                </a:lnTo>
                <a:lnTo>
                  <a:pt x="1835" y="50"/>
                </a:lnTo>
                <a:lnTo>
                  <a:pt x="911" y="50"/>
                </a:lnTo>
                <a:lnTo>
                  <a:pt x="0" y="50"/>
                </a:lnTo>
                <a:lnTo>
                  <a:pt x="0" y="10767"/>
                </a:lnTo>
                <a:lnTo>
                  <a:pt x="0" y="21483"/>
                </a:lnTo>
                <a:lnTo>
                  <a:pt x="215" y="21234"/>
                </a:lnTo>
                <a:cubicBezTo>
                  <a:pt x="335" y="21107"/>
                  <a:pt x="754" y="21037"/>
                  <a:pt x="1139" y="21034"/>
                </a:cubicBezTo>
                <a:lnTo>
                  <a:pt x="1835" y="21034"/>
                </a:lnTo>
                <a:lnTo>
                  <a:pt x="1860" y="16349"/>
                </a:lnTo>
                <a:lnTo>
                  <a:pt x="1885" y="11664"/>
                </a:lnTo>
                <a:lnTo>
                  <a:pt x="3442" y="11664"/>
                </a:lnTo>
                <a:lnTo>
                  <a:pt x="4986" y="11664"/>
                </a:lnTo>
                <a:lnTo>
                  <a:pt x="5036" y="16399"/>
                </a:lnTo>
                <a:lnTo>
                  <a:pt x="5087" y="21134"/>
                </a:lnTo>
                <a:lnTo>
                  <a:pt x="5935" y="21084"/>
                </a:lnTo>
                <a:cubicBezTo>
                  <a:pt x="6401" y="21069"/>
                  <a:pt x="6817" y="21049"/>
                  <a:pt x="6858" y="21034"/>
                </a:cubicBezTo>
                <a:cubicBezTo>
                  <a:pt x="6900" y="21020"/>
                  <a:pt x="6936" y="16335"/>
                  <a:pt x="6934" y="10617"/>
                </a:cubicBezTo>
                <a:lnTo>
                  <a:pt x="6922" y="200"/>
                </a:lnTo>
                <a:lnTo>
                  <a:pt x="5985" y="100"/>
                </a:lnTo>
                <a:lnTo>
                  <a:pt x="5049" y="0"/>
                </a:lnTo>
                <a:close/>
                <a:moveTo>
                  <a:pt x="19133" y="150"/>
                </a:moveTo>
                <a:cubicBezTo>
                  <a:pt x="16416" y="502"/>
                  <a:pt x="15369" y="1877"/>
                  <a:pt x="14818" y="5782"/>
                </a:cubicBezTo>
                <a:cubicBezTo>
                  <a:pt x="14482" y="8159"/>
                  <a:pt x="14469" y="12782"/>
                  <a:pt x="14792" y="15302"/>
                </a:cubicBezTo>
                <a:cubicBezTo>
                  <a:pt x="15222" y="18658"/>
                  <a:pt x="16204" y="20412"/>
                  <a:pt x="17968" y="20985"/>
                </a:cubicBezTo>
                <a:cubicBezTo>
                  <a:pt x="19329" y="21426"/>
                  <a:pt x="19414" y="21411"/>
                  <a:pt x="20562" y="21134"/>
                </a:cubicBezTo>
                <a:lnTo>
                  <a:pt x="21600" y="20885"/>
                </a:lnTo>
                <a:lnTo>
                  <a:pt x="21600" y="19190"/>
                </a:lnTo>
                <a:cubicBezTo>
                  <a:pt x="21600" y="17723"/>
                  <a:pt x="21582" y="17511"/>
                  <a:pt x="21435" y="17745"/>
                </a:cubicBezTo>
                <a:cubicBezTo>
                  <a:pt x="21342" y="17894"/>
                  <a:pt x="20692" y="18131"/>
                  <a:pt x="19993" y="18243"/>
                </a:cubicBezTo>
                <a:cubicBezTo>
                  <a:pt x="18965" y="18408"/>
                  <a:pt x="18626" y="18303"/>
                  <a:pt x="18247" y="17795"/>
                </a:cubicBezTo>
                <a:cubicBezTo>
                  <a:pt x="17244" y="16449"/>
                  <a:pt x="16754" y="14186"/>
                  <a:pt x="16754" y="10816"/>
                </a:cubicBezTo>
                <a:cubicBezTo>
                  <a:pt x="16754" y="7277"/>
                  <a:pt x="17220" y="4684"/>
                  <a:pt x="18057" y="3589"/>
                </a:cubicBezTo>
                <a:cubicBezTo>
                  <a:pt x="18600" y="2878"/>
                  <a:pt x="19881" y="2708"/>
                  <a:pt x="20942" y="3190"/>
                </a:cubicBezTo>
                <a:lnTo>
                  <a:pt x="21600" y="3489"/>
                </a:lnTo>
                <a:lnTo>
                  <a:pt x="21600" y="1944"/>
                </a:lnTo>
                <a:cubicBezTo>
                  <a:pt x="21600" y="496"/>
                  <a:pt x="21585" y="450"/>
                  <a:pt x="21246" y="200"/>
                </a:cubicBezTo>
                <a:cubicBezTo>
                  <a:pt x="21050" y="55"/>
                  <a:pt x="20096" y="25"/>
                  <a:pt x="19133" y="150"/>
                </a:cubicBezTo>
                <a:close/>
                <a:moveTo>
                  <a:pt x="8693" y="200"/>
                </a:moveTo>
                <a:lnTo>
                  <a:pt x="7656" y="499"/>
                </a:lnTo>
                <a:lnTo>
                  <a:pt x="7656" y="1894"/>
                </a:lnTo>
                <a:lnTo>
                  <a:pt x="7656" y="3340"/>
                </a:lnTo>
                <a:lnTo>
                  <a:pt x="8162" y="3041"/>
                </a:lnTo>
                <a:cubicBezTo>
                  <a:pt x="8826" y="2626"/>
                  <a:pt x="10814" y="2523"/>
                  <a:pt x="11186" y="2891"/>
                </a:cubicBezTo>
                <a:cubicBezTo>
                  <a:pt x="11577" y="3278"/>
                  <a:pt x="11819" y="4137"/>
                  <a:pt x="11819" y="5184"/>
                </a:cubicBezTo>
                <a:cubicBezTo>
                  <a:pt x="11819" y="6644"/>
                  <a:pt x="11712" y="7298"/>
                  <a:pt x="11325" y="8075"/>
                </a:cubicBezTo>
                <a:cubicBezTo>
                  <a:pt x="11008" y="8711"/>
                  <a:pt x="10750" y="8823"/>
                  <a:pt x="9592" y="8823"/>
                </a:cubicBezTo>
                <a:lnTo>
                  <a:pt x="8238" y="8823"/>
                </a:lnTo>
                <a:lnTo>
                  <a:pt x="8238" y="10119"/>
                </a:lnTo>
                <a:lnTo>
                  <a:pt x="8238" y="11464"/>
                </a:lnTo>
                <a:lnTo>
                  <a:pt x="9667" y="11464"/>
                </a:lnTo>
                <a:cubicBezTo>
                  <a:pt x="11234" y="11465"/>
                  <a:pt x="11574" y="11811"/>
                  <a:pt x="11945" y="13807"/>
                </a:cubicBezTo>
                <a:cubicBezTo>
                  <a:pt x="12193" y="15139"/>
                  <a:pt x="12101" y="16496"/>
                  <a:pt x="11692" y="17645"/>
                </a:cubicBezTo>
                <a:cubicBezTo>
                  <a:pt x="11401" y="18464"/>
                  <a:pt x="11284" y="18542"/>
                  <a:pt x="10072" y="18542"/>
                </a:cubicBezTo>
                <a:cubicBezTo>
                  <a:pt x="9353" y="18542"/>
                  <a:pt x="8495" y="18397"/>
                  <a:pt x="8162" y="18243"/>
                </a:cubicBezTo>
                <a:lnTo>
                  <a:pt x="7554" y="17994"/>
                </a:lnTo>
                <a:lnTo>
                  <a:pt x="7554" y="19489"/>
                </a:lnTo>
                <a:lnTo>
                  <a:pt x="7554" y="20985"/>
                </a:lnTo>
                <a:lnTo>
                  <a:pt x="9123" y="21084"/>
                </a:lnTo>
                <a:cubicBezTo>
                  <a:pt x="12470" y="21307"/>
                  <a:pt x="13624" y="20424"/>
                  <a:pt x="13995" y="17346"/>
                </a:cubicBezTo>
                <a:cubicBezTo>
                  <a:pt x="14297" y="14837"/>
                  <a:pt x="14131" y="12601"/>
                  <a:pt x="13565" y="11464"/>
                </a:cubicBezTo>
                <a:cubicBezTo>
                  <a:pt x="13352" y="11036"/>
                  <a:pt x="13118" y="10717"/>
                  <a:pt x="13046" y="10717"/>
                </a:cubicBezTo>
                <a:cubicBezTo>
                  <a:pt x="12974" y="10717"/>
                  <a:pt x="12839" y="10495"/>
                  <a:pt x="12742" y="10218"/>
                </a:cubicBezTo>
                <a:cubicBezTo>
                  <a:pt x="12584" y="9761"/>
                  <a:pt x="12619" y="9589"/>
                  <a:pt x="13135" y="8573"/>
                </a:cubicBezTo>
                <a:cubicBezTo>
                  <a:pt x="13833" y="7199"/>
                  <a:pt x="14019" y="5978"/>
                  <a:pt x="13856" y="3838"/>
                </a:cubicBezTo>
                <a:cubicBezTo>
                  <a:pt x="13736" y="2268"/>
                  <a:pt x="13446" y="1501"/>
                  <a:pt x="12679" y="798"/>
                </a:cubicBezTo>
                <a:cubicBezTo>
                  <a:pt x="12027" y="200"/>
                  <a:pt x="9867" y="-117"/>
                  <a:pt x="8693" y="200"/>
                </a:cubicBezTo>
                <a:close/>
              </a:path>
            </a:pathLst>
          </a:custGeom>
          <a:ln w="12700">
            <a:miter lim="400000"/>
          </a:ln>
        </p:spPr>
      </p:pic>
      <p:pic>
        <p:nvPicPr>
          <p:cNvPr id="1046" name="Picture 2" descr="新易盛公司简介,成都新易盛通信技术股份有限公司企业概况_赢家财富网">
            <a:extLst>
              <a:ext uri="{FF2B5EF4-FFF2-40B4-BE49-F238E27FC236}">
                <a16:creationId xmlns:a16="http://schemas.microsoft.com/office/drawing/2014/main" id="{26F952F8-BD30-39B8-0710-DB5BDE7A02F9}"/>
              </a:ext>
            </a:extLst>
          </p:cNvPr>
          <p:cNvPicPr>
            <a:picLocks noChangeAspect="1" noChangeArrowheads="1"/>
          </p:cNvPicPr>
          <p:nvPr/>
        </p:nvPicPr>
        <p:blipFill>
          <a:blip r:embed="rId60" cstate="print">
            <a:extLst>
              <a:ext uri="{BEBA8EAE-BF5A-486C-A8C5-ECC9F3942E4B}">
                <a14:imgProps xmlns:a14="http://schemas.microsoft.com/office/drawing/2010/main">
                  <a14:imgLayer r:embed="rId61">
                    <a14:imgEffect>
                      <a14:backgroundRemoval t="10000" b="90000" l="10000" r="90000">
                        <a14:foregroundMark x1="46000" y1="56522" x2="46000" y2="56522"/>
                        <a14:foregroundMark x1="54000" y1="56522" x2="54000" y2="56522"/>
                        <a14:foregroundMark x1="59000" y1="54348" x2="59000" y2="54348"/>
                        <a14:foregroundMark x1="67500" y1="51087" x2="67500" y2="51087"/>
                        <a14:foregroundMark x1="72000" y1="51087" x2="72000" y2="51087"/>
                        <a14:foregroundMark x1="73000" y1="36957" x2="73000" y2="36957"/>
                        <a14:foregroundMark x1="76000" y1="52174" x2="76000" y2="52174"/>
                        <a14:foregroundMark x1="86000" y1="51087" x2="86000" y2="51087"/>
                        <a14:foregroundMark x1="28000" y1="51087" x2="28000" y2="51087"/>
                        <a14:foregroundMark x1="82014" y1="51563" x2="82014" y2="51563"/>
                      </a14:backgroundRemoval>
                    </a14:imgEffect>
                  </a14:imgLayer>
                </a14:imgProps>
              </a:ext>
              <a:ext uri="{28A0092B-C50C-407E-A947-70E740481C1C}">
                <a14:useLocalDpi xmlns:a14="http://schemas.microsoft.com/office/drawing/2010/main" val="0"/>
              </a:ext>
            </a:extLst>
          </a:blip>
          <a:srcRect/>
          <a:stretch>
            <a:fillRect/>
          </a:stretch>
        </p:blipFill>
        <p:spPr bwMode="auto">
          <a:xfrm>
            <a:off x="9686106" y="5483341"/>
            <a:ext cx="576840" cy="265346"/>
          </a:xfrm>
          <a:prstGeom prst="rect">
            <a:avLst/>
          </a:prstGeom>
          <a:noFill/>
          <a:extLst>
            <a:ext uri="{909E8E84-426E-40DD-AFC4-6F175D3DCCD1}">
              <a14:hiddenFill xmlns:a14="http://schemas.microsoft.com/office/drawing/2010/main">
                <a:solidFill>
                  <a:srgbClr val="FFFFFF"/>
                </a:solidFill>
              </a14:hiddenFill>
            </a:ext>
          </a:extLst>
        </p:spPr>
      </p:pic>
      <p:pic>
        <p:nvPicPr>
          <p:cNvPr id="1047" name="图片 1046">
            <a:extLst>
              <a:ext uri="{FF2B5EF4-FFF2-40B4-BE49-F238E27FC236}">
                <a16:creationId xmlns:a16="http://schemas.microsoft.com/office/drawing/2014/main" id="{748D2AFE-B7CC-31D4-6479-FF122053DAEF}"/>
              </a:ext>
            </a:extLst>
          </p:cNvPr>
          <p:cNvPicPr>
            <a:picLocks noChangeAspect="1"/>
          </p:cNvPicPr>
          <p:nvPr/>
        </p:nvPicPr>
        <p:blipFill>
          <a:blip r:embed="rId58">
            <a:extLst>
              <a:ext uri="{BEBA8EAE-BF5A-486C-A8C5-ECC9F3942E4B}">
                <a14:imgProps xmlns:a14="http://schemas.microsoft.com/office/drawing/2010/main">
                  <a14:imgLayer r:embed="rId59">
                    <a14:imgEffect>
                      <a14:backgroundRemoval t="9644" b="94969" l="4716" r="93685">
                        <a14:foregroundMark x1="13909" y1="24319" x2="13909" y2="24319"/>
                        <a14:foregroundMark x1="13030" y1="75681" x2="13030" y2="75681"/>
                        <a14:foregroundMark x1="4956" y1="28721" x2="4956" y2="28721"/>
                        <a14:foregroundMark x1="8633" y1="95178" x2="8633" y2="95178"/>
                        <a14:foregroundMark x1="27978" y1="91824" x2="27978" y2="91824"/>
                        <a14:foregroundMark x1="29257" y1="30608" x2="29257" y2="30608"/>
                        <a14:foregroundMark x1="39408" y1="53669" x2="39408" y2="53669"/>
                        <a14:foregroundMark x1="45484" y1="53669" x2="45484" y2="53669"/>
                        <a14:foregroundMark x1="56914" y1="40671" x2="56914" y2="40671"/>
                        <a14:foregroundMark x1="62110" y1="40042" x2="62110" y2="40042"/>
                        <a14:foregroundMark x1="63389" y1="48008" x2="63389" y2="48008"/>
                        <a14:foregroundMark x1="59313" y1="62055" x2="59313" y2="62055"/>
                        <a14:foregroundMark x1="65388" y1="57023" x2="65388" y2="57023"/>
                        <a14:foregroundMark x1="69305" y1="49057" x2="69305" y2="49057"/>
                        <a14:foregroundMark x1="75140" y1="44444" x2="75140" y2="44444"/>
                        <a14:foregroundMark x1="83133" y1="42767" x2="83133" y2="42767"/>
                        <a14:foregroundMark x1="91287" y1="46960" x2="91287" y2="46960"/>
                        <a14:foregroundMark x1="93685" y1="44025" x2="93685" y2="44025"/>
                        <a14:foregroundMark x1="40288" y1="80503" x2="40288" y2="80503"/>
                        <a14:foregroundMark x1="45004" y1="80922" x2="45004" y2="80922"/>
                        <a14:foregroundMark x1="47162" y1="77568" x2="47162" y2="77568"/>
                        <a14:foregroundMark x1="53477" y1="83229" x2="53477" y2="83229"/>
                        <a14:foregroundMark x1="54756" y1="81971" x2="54756" y2="81971"/>
                        <a14:foregroundMark x1="60592" y1="81342" x2="60592" y2="81342"/>
                        <a14:foregroundMark x1="62270" y1="79874" x2="62270" y2="79874"/>
                        <a14:foregroundMark x1="64908" y1="84277" x2="64908" y2="84277"/>
                        <a14:foregroundMark x1="66906" y1="80922" x2="66906" y2="80922"/>
                        <a14:foregroundMark x1="71223" y1="79874" x2="71223" y2="79874"/>
                        <a14:foregroundMark x1="74820" y1="80922" x2="74820" y2="80922"/>
                        <a14:foregroundMark x1="79217" y1="81551" x2="79217" y2="81551"/>
                        <a14:foregroundMark x1="82414" y1="81342" x2="82414" y2="81342"/>
                        <a14:foregroundMark x1="83933" y1="80922" x2="83933" y2="80922"/>
                        <a14:foregroundMark x1="89369" y1="80922" x2="89369" y2="80922"/>
                        <a14:foregroundMark x1="92646" y1="77358" x2="92646" y2="77358"/>
                        <a14:foregroundMark x1="20783" y1="29350" x2="20783" y2="29350"/>
                      </a14:backgroundRemoval>
                    </a14:imgEffect>
                  </a14:imgLayer>
                </a14:imgProps>
              </a:ext>
            </a:extLst>
          </a:blip>
          <a:stretch>
            <a:fillRect/>
          </a:stretch>
        </p:blipFill>
        <p:spPr>
          <a:xfrm>
            <a:off x="9085766" y="5533702"/>
            <a:ext cx="431753" cy="164625"/>
          </a:xfrm>
          <a:prstGeom prst="rect">
            <a:avLst/>
          </a:prstGeom>
        </p:spPr>
      </p:pic>
      <p:pic>
        <p:nvPicPr>
          <p:cNvPr id="1049" name="图片 1048">
            <a:extLst>
              <a:ext uri="{FF2B5EF4-FFF2-40B4-BE49-F238E27FC236}">
                <a16:creationId xmlns:a16="http://schemas.microsoft.com/office/drawing/2014/main" id="{112643E4-F6C3-B276-571E-6DA2B814FCDB}"/>
              </a:ext>
            </a:extLst>
          </p:cNvPr>
          <p:cNvPicPr>
            <a:picLocks noChangeAspect="1"/>
          </p:cNvPicPr>
          <p:nvPr/>
        </p:nvPicPr>
        <p:blipFill>
          <a:blip r:embed="rId80">
            <a:extLst>
              <a:ext uri="{BEBA8EAE-BF5A-486C-A8C5-ECC9F3942E4B}">
                <a14:imgProps xmlns:a14="http://schemas.microsoft.com/office/drawing/2010/main">
                  <a14:imgLayer r:embed="rId81">
                    <a14:imgEffect>
                      <a14:backgroundRemoval t="9420" b="89855" l="9884" r="93023">
                        <a14:foregroundMark x1="11628" y1="26087" x2="11628" y2="26087"/>
                        <a14:foregroundMark x1="31105" y1="23913" x2="31105" y2="23913"/>
                        <a14:foregroundMark x1="38081" y1="39855" x2="38081" y2="39855"/>
                        <a14:foregroundMark x1="38663" y1="18116" x2="38663" y2="18116"/>
                        <a14:foregroundMark x1="45058" y1="34058" x2="45058" y2="34058"/>
                        <a14:foregroundMark x1="88663" y1="42754" x2="88663" y2="42754"/>
                        <a14:foregroundMark x1="93023" y1="57246" x2="93023" y2="57246"/>
                      </a14:backgroundRemoval>
                    </a14:imgEffect>
                  </a14:imgLayer>
                </a14:imgProps>
              </a:ext>
            </a:extLst>
          </a:blip>
          <a:srcRect l="5064" t="10754" r="2260" b="27888"/>
          <a:stretch/>
        </p:blipFill>
        <p:spPr>
          <a:xfrm>
            <a:off x="9018450" y="3668067"/>
            <a:ext cx="504030" cy="133869"/>
          </a:xfrm>
          <a:prstGeom prst="rect">
            <a:avLst/>
          </a:prstGeom>
        </p:spPr>
      </p:pic>
      <p:sp>
        <p:nvSpPr>
          <p:cNvPr id="1051" name="矩形 1050">
            <a:extLst>
              <a:ext uri="{FF2B5EF4-FFF2-40B4-BE49-F238E27FC236}">
                <a16:creationId xmlns:a16="http://schemas.microsoft.com/office/drawing/2014/main" id="{9CA8FAD8-3AFF-D22F-C790-600157E53E3D}"/>
              </a:ext>
            </a:extLst>
          </p:cNvPr>
          <p:cNvSpPr/>
          <p:nvPr/>
        </p:nvSpPr>
        <p:spPr>
          <a:xfrm>
            <a:off x="1307837" y="5500785"/>
            <a:ext cx="897642" cy="493426"/>
          </a:xfrm>
          <a:prstGeom prst="rect">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54" name="图片 1053">
            <a:extLst>
              <a:ext uri="{FF2B5EF4-FFF2-40B4-BE49-F238E27FC236}">
                <a16:creationId xmlns:a16="http://schemas.microsoft.com/office/drawing/2014/main" id="{B8D92A6D-6A80-0579-3E53-A24FA5A06E1A}"/>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9974" b="89764" l="3047" r="94265">
                        <a14:foregroundMark x1="3166" y1="54068" x2="3166" y2="54068"/>
                        <a14:foregroundMark x1="9020" y1="72966" x2="9020" y2="72966"/>
                        <a14:foregroundMark x1="16428" y1="73753" x2="16428" y2="73753"/>
                        <a14:foregroundMark x1="14098" y1="54856" x2="14098" y2="54856"/>
                        <a14:foregroundMark x1="21326" y1="54856" x2="21326" y2="54856"/>
                        <a14:foregroundMark x1="24671" y1="48031" x2="24671" y2="48031"/>
                        <a14:foregroundMark x1="24851" y1="66929" x2="24851" y2="66929"/>
                        <a14:foregroundMark x1="31481" y1="74541" x2="31481" y2="74541"/>
                        <a14:foregroundMark x1="33632" y1="47244" x2="33632" y2="47244"/>
                        <a14:foregroundMark x1="42174" y1="48819" x2="42174" y2="48819"/>
                        <a14:foregroundMark x1="52509" y1="49606" x2="52509" y2="49606"/>
                        <a14:foregroundMark x1="51971" y1="71916" x2="51971" y2="71916"/>
                        <a14:foregroundMark x1="58184" y1="62467" x2="58184" y2="62467"/>
                        <a14:foregroundMark x1="58363" y1="48819" x2="58363" y2="48819"/>
                        <a14:foregroundMark x1="66189" y1="48819" x2="66189" y2="48819"/>
                        <a14:foregroundMark x1="61888" y1="73753" x2="61888" y2="73753"/>
                        <a14:foregroundMark x1="72820" y1="69291" x2="72820" y2="69291"/>
                        <a14:foregroundMark x1="72820" y1="48031" x2="72820" y2="48031"/>
                        <a14:foregroundMark x1="81959" y1="71129" x2="81959" y2="71129"/>
                        <a14:foregroundMark x1="84289" y1="54068" x2="84289" y2="54068"/>
                        <a14:foregroundMark x1="90920" y1="78740" x2="90920" y2="78740"/>
                        <a14:foregroundMark x1="90741" y1="74541" x2="90741" y2="74541"/>
                        <a14:foregroundMark x1="94265" y1="73753" x2="94265" y2="73753"/>
                        <a14:foregroundMark x1="93489" y1="59055" x2="93489" y2="59055"/>
                        <a14:foregroundMark x1="46476" y1="64304" x2="46476" y2="64304"/>
                      </a14:backgroundRemoval>
                    </a14:imgEffect>
                  </a14:imgLayer>
                </a14:imgProps>
              </a:ext>
            </a:extLst>
          </a:blip>
          <a:stretch>
            <a:fillRect/>
          </a:stretch>
        </p:blipFill>
        <p:spPr>
          <a:xfrm>
            <a:off x="6854733" y="3645496"/>
            <a:ext cx="681323" cy="155067"/>
          </a:xfrm>
          <a:prstGeom prst="rect">
            <a:avLst/>
          </a:prstGeom>
        </p:spPr>
      </p:pic>
      <p:pic>
        <p:nvPicPr>
          <p:cNvPr id="1057" name="图片 1056">
            <a:extLst>
              <a:ext uri="{FF2B5EF4-FFF2-40B4-BE49-F238E27FC236}">
                <a16:creationId xmlns:a16="http://schemas.microsoft.com/office/drawing/2014/main" id="{F8A5D412-2253-4713-2E00-4AD8051930E2}"/>
              </a:ext>
            </a:extLst>
          </p:cNvPr>
          <p:cNvPicPr>
            <a:picLocks noChangeAspect="1"/>
          </p:cNvPicPr>
          <p:nvPr/>
        </p:nvPicPr>
        <p:blipFill>
          <a:blip r:embed="rId47">
            <a:extLst>
              <a:ext uri="{BEBA8EAE-BF5A-486C-A8C5-ECC9F3942E4B}">
                <a14:imgProps xmlns:a14="http://schemas.microsoft.com/office/drawing/2010/main">
                  <a14:imgLayer r:embed="rId48">
                    <a14:imgEffect>
                      <a14:backgroundRemoval t="10000" b="90000" l="10000" r="90000">
                        <a14:foregroundMark x1="34286" y1="64516" x2="34286" y2="64516"/>
                        <a14:foregroundMark x1="24762" y1="83871" x2="24762" y2="83871"/>
                        <a14:foregroundMark x1="33095" y1="81505" x2="33095" y2="81505"/>
                        <a14:foregroundMark x1="55000" y1="75269" x2="55000" y2="75269"/>
                        <a14:foregroundMark x1="78571" y1="75699" x2="78571" y2="75699"/>
                      </a14:backgroundRemoval>
                    </a14:imgEffect>
                  </a14:imgLayer>
                </a14:imgProps>
              </a:ext>
            </a:extLst>
          </a:blip>
          <a:stretch>
            <a:fillRect/>
          </a:stretch>
        </p:blipFill>
        <p:spPr>
          <a:xfrm>
            <a:off x="10454873" y="5128622"/>
            <a:ext cx="304385" cy="336998"/>
          </a:xfrm>
          <a:prstGeom prst="rect">
            <a:avLst/>
          </a:prstGeom>
          <a:ln>
            <a:noFill/>
          </a:ln>
        </p:spPr>
      </p:pic>
      <p:pic>
        <p:nvPicPr>
          <p:cNvPr id="1058" name="图片 1057">
            <a:extLst>
              <a:ext uri="{FF2B5EF4-FFF2-40B4-BE49-F238E27FC236}">
                <a16:creationId xmlns:a16="http://schemas.microsoft.com/office/drawing/2014/main" id="{43312D38-B2F7-ECBD-D72B-7DBE76499465}"/>
              </a:ext>
            </a:extLst>
          </p:cNvPr>
          <p:cNvPicPr>
            <a:picLocks noChangeAspect="1"/>
          </p:cNvPicPr>
          <p:nvPr/>
        </p:nvPicPr>
        <p:blipFill>
          <a:blip r:embed="rId41">
            <a:extLst>
              <a:ext uri="{BEBA8EAE-BF5A-486C-A8C5-ECC9F3942E4B}">
                <a14:imgProps xmlns:a14="http://schemas.microsoft.com/office/drawing/2010/main">
                  <a14:imgLayer r:embed="rId42">
                    <a14:imgEffect>
                      <a14:backgroundRemoval t="9825" b="97544" l="6055" r="95872">
                        <a14:foregroundMark x1="14587" y1="42105" x2="14587" y2="42105"/>
                        <a14:foregroundMark x1="21101" y1="54737" x2="21101" y2="54737"/>
                        <a14:foregroundMark x1="27890" y1="62105" x2="27890" y2="62105"/>
                        <a14:foregroundMark x1="38349" y1="58596" x2="38349" y2="58596"/>
                        <a14:foregroundMark x1="53578" y1="50877" x2="53578" y2="50877"/>
                        <a14:foregroundMark x1="69633" y1="48070" x2="69633" y2="48070"/>
                        <a14:foregroundMark x1="78532" y1="45263" x2="78532" y2="45263"/>
                        <a14:foregroundMark x1="89541" y1="45263" x2="89541" y2="45263"/>
                        <a14:foregroundMark x1="95872" y1="76140" x2="95872" y2="76140"/>
                        <a14:foregroundMark x1="11468" y1="34737" x2="11468" y2="34737"/>
                        <a14:foregroundMark x1="6055" y1="97544" x2="6055" y2="97544"/>
                      </a14:backgroundRemoval>
                    </a14:imgEffect>
                  </a14:imgLayer>
                </a14:imgProps>
              </a:ext>
            </a:extLst>
          </a:blip>
          <a:stretch>
            <a:fillRect/>
          </a:stretch>
        </p:blipFill>
        <p:spPr>
          <a:xfrm>
            <a:off x="10368518" y="3670759"/>
            <a:ext cx="535879" cy="140115"/>
          </a:xfrm>
          <a:prstGeom prst="rect">
            <a:avLst/>
          </a:prstGeom>
          <a:ln>
            <a:noFill/>
          </a:ln>
        </p:spPr>
      </p:pic>
      <p:pic>
        <p:nvPicPr>
          <p:cNvPr id="1059" name="图片 1058">
            <a:extLst>
              <a:ext uri="{FF2B5EF4-FFF2-40B4-BE49-F238E27FC236}">
                <a16:creationId xmlns:a16="http://schemas.microsoft.com/office/drawing/2014/main" id="{28DB7AEF-2FBC-3A07-BD5D-04EEDA02A2EE}"/>
              </a:ext>
            </a:extLst>
          </p:cNvPr>
          <p:cNvPicPr>
            <a:picLocks noChangeAspect="1"/>
          </p:cNvPicPr>
          <p:nvPr/>
        </p:nvPicPr>
        <p:blipFill>
          <a:blip r:embed="rId41">
            <a:extLst>
              <a:ext uri="{BEBA8EAE-BF5A-486C-A8C5-ECC9F3942E4B}">
                <a14:imgProps xmlns:a14="http://schemas.microsoft.com/office/drawing/2010/main">
                  <a14:imgLayer r:embed="rId42">
                    <a14:imgEffect>
                      <a14:backgroundRemoval t="9825" b="97544" l="6055" r="95872">
                        <a14:foregroundMark x1="14587" y1="42105" x2="14587" y2="42105"/>
                        <a14:foregroundMark x1="21101" y1="54737" x2="21101" y2="54737"/>
                        <a14:foregroundMark x1="27890" y1="62105" x2="27890" y2="62105"/>
                        <a14:foregroundMark x1="38349" y1="58596" x2="38349" y2="58596"/>
                        <a14:foregroundMark x1="53578" y1="50877" x2="53578" y2="50877"/>
                        <a14:foregroundMark x1="69633" y1="48070" x2="69633" y2="48070"/>
                        <a14:foregroundMark x1="78532" y1="45263" x2="78532" y2="45263"/>
                        <a14:foregroundMark x1="89541" y1="45263" x2="89541" y2="45263"/>
                        <a14:foregroundMark x1="95872" y1="76140" x2="95872" y2="76140"/>
                        <a14:foregroundMark x1="11468" y1="34737" x2="11468" y2="34737"/>
                        <a14:foregroundMark x1="6055" y1="97544" x2="6055" y2="97544"/>
                      </a14:backgroundRemoval>
                    </a14:imgEffect>
                  </a14:imgLayer>
                </a14:imgProps>
              </a:ext>
            </a:extLst>
          </a:blip>
          <a:stretch>
            <a:fillRect/>
          </a:stretch>
        </p:blipFill>
        <p:spPr>
          <a:xfrm>
            <a:off x="10358941" y="4913413"/>
            <a:ext cx="535879" cy="140115"/>
          </a:xfrm>
          <a:prstGeom prst="rect">
            <a:avLst/>
          </a:prstGeom>
          <a:ln>
            <a:noFill/>
          </a:ln>
        </p:spPr>
      </p:pic>
      <p:pic>
        <p:nvPicPr>
          <p:cNvPr id="1060" name="图片 1059">
            <a:extLst>
              <a:ext uri="{FF2B5EF4-FFF2-40B4-BE49-F238E27FC236}">
                <a16:creationId xmlns:a16="http://schemas.microsoft.com/office/drawing/2014/main" id="{E93F9B50-8835-A6A8-53BD-7CC1CA30F075}"/>
              </a:ext>
            </a:extLst>
          </p:cNvPr>
          <p:cNvPicPr>
            <a:picLocks noChangeAspect="1"/>
          </p:cNvPicPr>
          <p:nvPr/>
        </p:nvPicPr>
        <p:blipFill>
          <a:blip r:embed="rId39">
            <a:extLst>
              <a:ext uri="{BEBA8EAE-BF5A-486C-A8C5-ECC9F3942E4B}">
                <a14:imgProps xmlns:a14="http://schemas.microsoft.com/office/drawing/2010/main">
                  <a14:imgLayer r:embed="rId40">
                    <a14:imgEffect>
                      <a14:backgroundRemoval t="6410" b="89744" l="5067" r="94133">
                        <a14:foregroundMark x1="5333" y1="60256" x2="5333" y2="60256"/>
                        <a14:foregroundMark x1="12267" y1="61538" x2="12267" y2="61538"/>
                        <a14:foregroundMark x1="17067" y1="56410" x2="17067" y2="56410"/>
                        <a14:foregroundMark x1="28000" y1="52564" x2="28000" y2="52564"/>
                        <a14:foregroundMark x1="39467" y1="48718" x2="39467" y2="48718"/>
                        <a14:foregroundMark x1="57867" y1="53846" x2="57867" y2="53846"/>
                        <a14:foregroundMark x1="68267" y1="41026" x2="68267" y2="41026"/>
                        <a14:foregroundMark x1="77067" y1="37179" x2="77067" y2="37179"/>
                        <a14:foregroundMark x1="82667" y1="41026" x2="82667" y2="41026"/>
                        <a14:foregroundMark x1="91200" y1="53846" x2="91200" y2="53846"/>
                        <a14:foregroundMark x1="94133" y1="56410" x2="94133" y2="56410"/>
                      </a14:backgroundRemoval>
                    </a14:imgEffect>
                  </a14:imgLayer>
                </a14:imgProps>
              </a:ext>
            </a:extLst>
          </a:blip>
          <a:stretch>
            <a:fillRect/>
          </a:stretch>
        </p:blipFill>
        <p:spPr>
          <a:xfrm>
            <a:off x="10958456" y="3673318"/>
            <a:ext cx="662345" cy="137768"/>
          </a:xfrm>
          <a:prstGeom prst="rect">
            <a:avLst/>
          </a:prstGeom>
        </p:spPr>
      </p:pic>
      <p:pic>
        <p:nvPicPr>
          <p:cNvPr id="1061" name="Picture 8" descr="Hon Hai Technology Group (Foxconn) Unpacks Artificial Intelligen">
            <a:extLst>
              <a:ext uri="{FF2B5EF4-FFF2-40B4-BE49-F238E27FC236}">
                <a16:creationId xmlns:a16="http://schemas.microsoft.com/office/drawing/2014/main" id="{9F309453-8FEE-5499-4B77-3F786F2E2F3C}"/>
              </a:ext>
            </a:extLst>
          </p:cNvPr>
          <p:cNvPicPr>
            <a:picLocks noChangeAspect="1" noChangeArrowheads="1"/>
          </p:cNvPicPr>
          <p:nvPr/>
        </p:nvPicPr>
        <p:blipFill rotWithShape="1">
          <a:blip r:embed="rId82" cstate="print">
            <a:extLst>
              <a:ext uri="{BEBA8EAE-BF5A-486C-A8C5-ECC9F3942E4B}">
                <a14:imgProps xmlns:a14="http://schemas.microsoft.com/office/drawing/2010/main">
                  <a14:imgLayer r:embed="rId83">
                    <a14:imgEffect>
                      <a14:backgroundRemoval t="9375" b="89844" l="8500" r="90000">
                        <a14:foregroundMark x1="8500" y1="37500" x2="8500" y2="37500"/>
                        <a14:foregroundMark x1="30750" y1="50781" x2="30750" y2="50781"/>
                        <a14:foregroundMark x1="39250" y1="46875" x2="39250" y2="46875"/>
                        <a14:foregroundMark x1="35250" y1="38281" x2="35250" y2="38281"/>
                        <a14:foregroundMark x1="40500" y1="39844" x2="40500" y2="39844"/>
                        <a14:foregroundMark x1="33750" y1="47656" x2="33750" y2="47656"/>
                        <a14:foregroundMark x1="50500" y1="43750" x2="50500" y2="43750"/>
                        <a14:foregroundMark x1="57250" y1="40625" x2="57250" y2="40625"/>
                        <a14:foregroundMark x1="66250" y1="43750" x2="66250" y2="43750"/>
                        <a14:foregroundMark x1="75750" y1="39063" x2="75750" y2="39063"/>
                        <a14:foregroundMark x1="84750" y1="42188" x2="84750" y2="42188"/>
                        <a14:foregroundMark x1="35250" y1="46875" x2="35250" y2="46875"/>
                      </a14:backgroundRemoval>
                    </a14:imgEffect>
                  </a14:imgLayer>
                </a14:imgProps>
              </a:ext>
              <a:ext uri="{28A0092B-C50C-407E-A947-70E740481C1C}">
                <a14:useLocalDpi xmlns:a14="http://schemas.microsoft.com/office/drawing/2010/main" val="0"/>
              </a:ext>
            </a:extLst>
          </a:blip>
          <a:srcRect l="6185" t="19707" r="6994" b="19685"/>
          <a:stretch/>
        </p:blipFill>
        <p:spPr bwMode="auto">
          <a:xfrm>
            <a:off x="10400869" y="2646895"/>
            <a:ext cx="575177" cy="128484"/>
          </a:xfrm>
          <a:prstGeom prst="rect">
            <a:avLst/>
          </a:prstGeom>
          <a:noFill/>
          <a:extLst>
            <a:ext uri="{909E8E84-426E-40DD-AFC4-6F175D3DCCD1}">
              <a14:hiddenFill xmlns:a14="http://schemas.microsoft.com/office/drawing/2010/main">
                <a:solidFill>
                  <a:srgbClr val="FFFFFF"/>
                </a:solidFill>
              </a14:hiddenFill>
            </a:ext>
          </a:extLst>
        </p:spPr>
      </p:pic>
      <p:pic>
        <p:nvPicPr>
          <p:cNvPr id="1062" name="Picture 10" descr="ShunSin Company Profile 2024: Stock Performance &amp; Earnings | PitchBook">
            <a:extLst>
              <a:ext uri="{FF2B5EF4-FFF2-40B4-BE49-F238E27FC236}">
                <a16:creationId xmlns:a16="http://schemas.microsoft.com/office/drawing/2014/main" id="{093C1486-F012-063D-56E8-C2F8A08B2F4E}"/>
              </a:ext>
            </a:extLst>
          </p:cNvPr>
          <p:cNvPicPr>
            <a:picLocks noChangeAspect="1" noChangeArrowheads="1"/>
          </p:cNvPicPr>
          <p:nvPr/>
        </p:nvPicPr>
        <p:blipFill rotWithShape="1">
          <a:blip r:embed="rId84" cstate="print">
            <a:extLst>
              <a:ext uri="{BEBA8EAE-BF5A-486C-A8C5-ECC9F3942E4B}">
                <a14:imgProps xmlns:a14="http://schemas.microsoft.com/office/drawing/2010/main">
                  <a14:imgLayer r:embed="rId85">
                    <a14:imgEffect>
                      <a14:backgroundRemoval t="10000" b="90000" l="4000" r="95000">
                        <a14:foregroundMark x1="15500" y1="56000" x2="15500" y2="56000"/>
                        <a14:foregroundMark x1="17500" y1="56000" x2="17500" y2="56000"/>
                        <a14:foregroundMark x1="17500" y1="40000" x2="17500" y2="40000"/>
                        <a14:foregroundMark x1="95000" y1="50000" x2="95000" y2="50000"/>
                        <a14:foregroundMark x1="7000" y1="43000" x2="7000" y2="43000"/>
                        <a14:foregroundMark x1="4000" y1="59000" x2="4000" y2="59000"/>
                        <a14:foregroundMark x1="74500" y1="41000" x2="74500" y2="41000"/>
                        <a14:foregroundMark x1="66038" y1="52830" x2="66038" y2="52830"/>
                        <a14:foregroundMark x1="82075" y1="38679" x2="82075" y2="38679"/>
                        <a14:backgroundMark x1="41000" y1="40500" x2="41000" y2="40500"/>
                        <a14:backgroundMark x1="90000" y1="41500" x2="90000" y2="41500"/>
                        <a14:backgroundMark x1="52500" y1="38000" x2="52500" y2="38000"/>
                        <a14:backgroundMark x1="62500" y1="53000" x2="62500" y2="53000"/>
                        <a14:backgroundMark x1="78000" y1="50500" x2="78000" y2="50500"/>
                        <a14:backgroundMark x1="77500" y1="37000" x2="77500" y2="37000"/>
                        <a14:backgroundMark x1="88500" y1="41000" x2="88500" y2="41000"/>
                        <a14:backgroundMark x1="78000" y1="62000" x2="78000" y2="62000"/>
                      </a14:backgroundRemoval>
                    </a14:imgEffect>
                  </a14:imgLayer>
                </a14:imgProps>
              </a:ext>
              <a:ext uri="{28A0092B-C50C-407E-A947-70E740481C1C}">
                <a14:useLocalDpi xmlns:a14="http://schemas.microsoft.com/office/drawing/2010/main" val="0"/>
              </a:ext>
            </a:extLst>
          </a:blip>
          <a:srcRect t="32612" b="34146"/>
          <a:stretch/>
        </p:blipFill>
        <p:spPr bwMode="auto">
          <a:xfrm>
            <a:off x="10427304" y="5553595"/>
            <a:ext cx="441757" cy="146849"/>
          </a:xfrm>
          <a:prstGeom prst="rect">
            <a:avLst/>
          </a:prstGeom>
          <a:noFill/>
          <a:extLst>
            <a:ext uri="{909E8E84-426E-40DD-AFC4-6F175D3DCCD1}">
              <a14:hiddenFill xmlns:a14="http://schemas.microsoft.com/office/drawing/2010/main">
                <a:solidFill>
                  <a:srgbClr val="FFFFFF"/>
                </a:solidFill>
              </a14:hiddenFill>
            </a:ext>
          </a:extLst>
        </p:spPr>
      </p:pic>
      <p:pic>
        <p:nvPicPr>
          <p:cNvPr id="1064" name="图片 1063">
            <a:extLst>
              <a:ext uri="{FF2B5EF4-FFF2-40B4-BE49-F238E27FC236}">
                <a16:creationId xmlns:a16="http://schemas.microsoft.com/office/drawing/2014/main" id="{EF376E02-2217-9D8B-38B3-8974EBEA8258}"/>
              </a:ext>
            </a:extLst>
          </p:cNvPr>
          <p:cNvPicPr>
            <a:picLocks noChangeAspect="1"/>
          </p:cNvPicPr>
          <p:nvPr/>
        </p:nvPicPr>
        <p:blipFill>
          <a:blip r:embed="rId86">
            <a:extLst>
              <a:ext uri="{BEBA8EAE-BF5A-486C-A8C5-ECC9F3942E4B}">
                <a14:imgProps xmlns:a14="http://schemas.microsoft.com/office/drawing/2010/main">
                  <a14:imgLayer r:embed="rId87">
                    <a14:imgEffect>
                      <a14:backgroundRemoval t="9524" b="89524" l="4267" r="92267">
                        <a14:foregroundMark x1="8267" y1="49524" x2="8267" y2="49524"/>
                        <a14:foregroundMark x1="22667" y1="54286" x2="22667" y2="54286"/>
                        <a14:foregroundMark x1="4533" y1="48571" x2="4533" y2="48571"/>
                        <a14:foregroundMark x1="42933" y1="60952" x2="42933" y2="60952"/>
                        <a14:foregroundMark x1="53333" y1="60952" x2="53333" y2="60952"/>
                        <a14:foregroundMark x1="53867" y1="36190" x2="53867" y2="36190"/>
                        <a14:foregroundMark x1="59467" y1="59048" x2="59467" y2="59048"/>
                        <a14:foregroundMark x1="75200" y1="61905" x2="75200" y2="61905"/>
                        <a14:foregroundMark x1="73867" y1="60000" x2="73867" y2="60000"/>
                        <a14:foregroundMark x1="67733" y1="57143" x2="67733" y2="57143"/>
                        <a14:foregroundMark x1="60533" y1="63810" x2="60267" y2="78095"/>
                        <a14:foregroundMark x1="82399" y1="66738" x2="82933" y2="66667"/>
                        <a14:foregroundMark x1="75733" y1="67619" x2="77879" y2="67335"/>
                        <a14:foregroundMark x1="78309" y1="79183" x2="79733" y2="82857"/>
                        <a14:foregroundMark x1="74933" y1="70476" x2="75969" y2="73148"/>
                        <a14:foregroundMark x1="89600" y1="41905" x2="89333" y2="77143"/>
                        <a14:foregroundMark x1="92267" y1="47619" x2="92267" y2="47619"/>
                        <a14:backgroundMark x1="77333" y1="74286" x2="77333" y2="74286"/>
                        <a14:backgroundMark x1="76800" y1="77143" x2="76800" y2="77143"/>
                        <a14:backgroundMark x1="77333" y1="77143" x2="77333" y2="77143"/>
                        <a14:backgroundMark x1="77600" y1="78095" x2="77600" y2="78095"/>
                        <a14:backgroundMark x1="76533" y1="71429" x2="78667" y2="78095"/>
                      </a14:backgroundRemoval>
                    </a14:imgEffect>
                  </a14:imgLayer>
                </a14:imgProps>
              </a:ext>
            </a:extLst>
          </a:blip>
          <a:stretch>
            <a:fillRect/>
          </a:stretch>
        </p:blipFill>
        <p:spPr>
          <a:xfrm>
            <a:off x="11097250" y="2611734"/>
            <a:ext cx="497850" cy="139398"/>
          </a:xfrm>
          <a:prstGeom prst="rect">
            <a:avLst/>
          </a:prstGeom>
        </p:spPr>
      </p:pic>
      <p:pic>
        <p:nvPicPr>
          <p:cNvPr id="1065" name="Picture 12" descr="Salience Labs Closed Series A Round Led by Applied Ventures and ICM ...">
            <a:extLst>
              <a:ext uri="{FF2B5EF4-FFF2-40B4-BE49-F238E27FC236}">
                <a16:creationId xmlns:a16="http://schemas.microsoft.com/office/drawing/2014/main" id="{5178F1E7-FE15-852F-4928-B142EFB0BF9D}"/>
              </a:ext>
            </a:extLst>
          </p:cNvPr>
          <p:cNvPicPr>
            <a:picLocks noChangeAspect="1" noChangeArrowheads="1"/>
          </p:cNvPicPr>
          <p:nvPr/>
        </p:nvPicPr>
        <p:blipFill rotWithShape="1">
          <a:blip r:embed="rId88" cstate="print">
            <a:extLst>
              <a:ext uri="{BEBA8EAE-BF5A-486C-A8C5-ECC9F3942E4B}">
                <a14:imgProps xmlns:a14="http://schemas.microsoft.com/office/drawing/2010/main">
                  <a14:imgLayer r:embed="rId89">
                    <a14:imgEffect>
                      <a14:backgroundRemoval t="9961" b="89844" l="5273" r="92383">
                        <a14:foregroundMark x1="9570" y1="34180" x2="9570" y2="34180"/>
                        <a14:foregroundMark x1="13086" y1="29688" x2="13086" y2="29688"/>
                        <a14:foregroundMark x1="5371" y1="25977" x2="5371" y2="25977"/>
                        <a14:foregroundMark x1="9375" y1="42773" x2="9375" y2="42773"/>
                        <a14:foregroundMark x1="9473" y1="48242" x2="9473" y2="48242"/>
                        <a14:foregroundMark x1="9277" y1="54102" x2="9277" y2="54102"/>
                        <a14:foregroundMark x1="10352" y1="61328" x2="10352" y2="61328"/>
                        <a14:foregroundMark x1="16895" y1="63281" x2="16895" y2="63281"/>
                        <a14:foregroundMark x1="20117" y1="62695" x2="20117" y2="62695"/>
                        <a14:foregroundMark x1="22754" y1="59961" x2="22754" y2="59961"/>
                        <a14:foregroundMark x1="13867" y1="62695" x2="13867" y2="62695"/>
                        <a14:foregroundMark x1="24219" y1="49023" x2="24219" y2="49023"/>
                        <a14:foregroundMark x1="23730" y1="42383" x2="23730" y2="42383"/>
                        <a14:foregroundMark x1="22266" y1="38281" x2="22266" y2="38281"/>
                        <a14:foregroundMark x1="19434" y1="36914" x2="19434" y2="36914"/>
                        <a14:foregroundMark x1="16797" y1="37500" x2="16797" y2="37500"/>
                        <a14:foregroundMark x1="52246" y1="32031" x2="52246" y2="32031"/>
                        <a14:foregroundMark x1="56055" y1="33594" x2="56055" y2="33594"/>
                        <a14:foregroundMark x1="59570" y1="34375" x2="59570" y2="34375"/>
                        <a14:foregroundMark x1="59375" y1="24219" x2="59375" y2="24219"/>
                        <a14:foregroundMark x1="62305" y1="38086" x2="62305" y2="38086"/>
                        <a14:foregroundMark x1="70996" y1="36328" x2="70996" y2="36328"/>
                        <a14:foregroundMark x1="80078" y1="33789" x2="80078" y2="33789"/>
                        <a14:foregroundMark x1="92383" y1="37891" x2="92383" y2="37891"/>
                        <a14:foregroundMark x1="38477" y1="66797" x2="38477" y2="66797"/>
                        <a14:foregroundMark x1="49902" y1="65625" x2="49902" y2="65625"/>
                        <a14:foregroundMark x1="54980" y1="62500" x2="54980" y2="62500"/>
                        <a14:foregroundMark x1="64746" y1="63086" x2="64746" y2="63086"/>
                        <a14:foregroundMark x1="72559" y1="71094" x2="72559" y2="71094"/>
                        <a14:foregroundMark x1="71094" y1="71094" x2="71094" y2="71094"/>
                        <a14:foregroundMark x1="35948" y1="31169" x2="35948" y2="31169"/>
                      </a14:backgroundRemoval>
                    </a14:imgEffect>
                  </a14:imgLayer>
                </a14:imgProps>
              </a:ext>
              <a:ext uri="{28A0092B-C50C-407E-A947-70E740481C1C}">
                <a14:useLocalDpi xmlns:a14="http://schemas.microsoft.com/office/drawing/2010/main" val="0"/>
              </a:ext>
            </a:extLst>
          </a:blip>
          <a:srcRect t="19044" r="4253" b="23908"/>
          <a:stretch/>
        </p:blipFill>
        <p:spPr bwMode="auto">
          <a:xfrm>
            <a:off x="7689507" y="3648579"/>
            <a:ext cx="516510" cy="153873"/>
          </a:xfrm>
          <a:prstGeom prst="rect">
            <a:avLst/>
          </a:prstGeom>
          <a:noFill/>
          <a:extLst>
            <a:ext uri="{909E8E84-426E-40DD-AFC4-6F175D3DCCD1}">
              <a14:hiddenFill xmlns:a14="http://schemas.microsoft.com/office/drawing/2010/main">
                <a:solidFill>
                  <a:srgbClr val="FFFFFF"/>
                </a:solidFill>
              </a14:hiddenFill>
            </a:ext>
          </a:extLst>
        </p:spPr>
      </p:pic>
      <p:pic>
        <p:nvPicPr>
          <p:cNvPr id="1067" name="图片 1066">
            <a:extLst>
              <a:ext uri="{FF2B5EF4-FFF2-40B4-BE49-F238E27FC236}">
                <a16:creationId xmlns:a16="http://schemas.microsoft.com/office/drawing/2014/main" id="{42B5BA44-EF3D-67DB-C3E9-1F2749B906F5}"/>
              </a:ext>
            </a:extLst>
          </p:cNvPr>
          <p:cNvPicPr>
            <a:picLocks noChangeAspect="1"/>
          </p:cNvPicPr>
          <p:nvPr/>
        </p:nvPicPr>
        <p:blipFill>
          <a:blip r:embed="rId90"/>
          <a:stretch>
            <a:fillRect/>
          </a:stretch>
        </p:blipFill>
        <p:spPr>
          <a:xfrm>
            <a:off x="8325744" y="3666495"/>
            <a:ext cx="317522" cy="143326"/>
          </a:xfrm>
          <a:prstGeom prst="rect">
            <a:avLst/>
          </a:prstGeom>
        </p:spPr>
      </p:pic>
      <p:pic>
        <p:nvPicPr>
          <p:cNvPr id="4" name="图片 3">
            <a:extLst>
              <a:ext uri="{FF2B5EF4-FFF2-40B4-BE49-F238E27FC236}">
                <a16:creationId xmlns:a16="http://schemas.microsoft.com/office/drawing/2014/main" id="{DCB1957F-41FE-8229-AE1B-39F5F4057E8B}"/>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9974" b="89764" l="3047" r="94265">
                        <a14:foregroundMark x1="3166" y1="54068" x2="3166" y2="54068"/>
                        <a14:foregroundMark x1="9020" y1="72966" x2="9020" y2="72966"/>
                        <a14:foregroundMark x1="16428" y1="73753" x2="16428" y2="73753"/>
                        <a14:foregroundMark x1="14098" y1="54856" x2="14098" y2="54856"/>
                        <a14:foregroundMark x1="21326" y1="54856" x2="21326" y2="54856"/>
                        <a14:foregroundMark x1="24671" y1="48031" x2="24671" y2="48031"/>
                        <a14:foregroundMark x1="24851" y1="66929" x2="24851" y2="66929"/>
                        <a14:foregroundMark x1="31481" y1="74541" x2="31481" y2="74541"/>
                        <a14:foregroundMark x1="33632" y1="47244" x2="33632" y2="47244"/>
                        <a14:foregroundMark x1="42174" y1="48819" x2="42174" y2="48819"/>
                        <a14:foregroundMark x1="52509" y1="49606" x2="52509" y2="49606"/>
                        <a14:foregroundMark x1="51971" y1="71916" x2="51971" y2="71916"/>
                        <a14:foregroundMark x1="58184" y1="62467" x2="58184" y2="62467"/>
                        <a14:foregroundMark x1="58363" y1="48819" x2="58363" y2="48819"/>
                        <a14:foregroundMark x1="66189" y1="48819" x2="66189" y2="48819"/>
                        <a14:foregroundMark x1="61888" y1="73753" x2="61888" y2="73753"/>
                        <a14:foregroundMark x1="72820" y1="69291" x2="72820" y2="69291"/>
                        <a14:foregroundMark x1="72820" y1="48031" x2="72820" y2="48031"/>
                        <a14:foregroundMark x1="81959" y1="71129" x2="81959" y2="71129"/>
                        <a14:foregroundMark x1="84289" y1="54068" x2="84289" y2="54068"/>
                        <a14:foregroundMark x1="90920" y1="78740" x2="90920" y2="78740"/>
                        <a14:foregroundMark x1="90741" y1="74541" x2="90741" y2="74541"/>
                        <a14:foregroundMark x1="94265" y1="73753" x2="94265" y2="73753"/>
                        <a14:foregroundMark x1="93489" y1="59055" x2="93489" y2="59055"/>
                        <a14:foregroundMark x1="46476" y1="64304" x2="46476" y2="64304"/>
                      </a14:backgroundRemoval>
                    </a14:imgEffect>
                  </a14:imgLayer>
                </a14:imgProps>
              </a:ext>
            </a:extLst>
          </a:blip>
          <a:stretch>
            <a:fillRect/>
          </a:stretch>
        </p:blipFill>
        <p:spPr>
          <a:xfrm>
            <a:off x="9557315" y="3649355"/>
            <a:ext cx="681323" cy="155067"/>
          </a:xfrm>
          <a:prstGeom prst="rect">
            <a:avLst/>
          </a:prstGeom>
        </p:spPr>
      </p:pic>
    </p:spTree>
    <p:extLst>
      <p:ext uri="{BB962C8B-B14F-4D97-AF65-F5344CB8AC3E}">
        <p14:creationId xmlns:p14="http://schemas.microsoft.com/office/powerpoint/2010/main" val="1191918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FE54A-B213-CE75-427F-8AA3404DD764}"/>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5558F73-8357-A1DD-7EB5-F81BF51530B7}"/>
              </a:ext>
            </a:extLst>
          </p:cNvPr>
          <p:cNvGraphicFramePr>
            <a:graphicFrameLocks noChangeAspect="1"/>
          </p:cNvGraphicFramePr>
          <p:nvPr>
            <p:custDataLst>
              <p:tags r:id="rId1"/>
            </p:custDataLst>
            <p:extLst>
              <p:ext uri="{D42A27DB-BD31-4B8C-83A1-F6EECF244321}">
                <p14:modId xmlns:p14="http://schemas.microsoft.com/office/powerpoint/2010/main" val="40184512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1" imgH="401" progId="TCLayout.ActiveDocument.1">
                  <p:embed/>
                </p:oleObj>
              </mc:Choice>
              <mc:Fallback>
                <p:oleObj name="think-cell 幻灯片" r:id="rId4" imgW="401" imgH="401" progId="TCLayout.ActiveDocument.1">
                  <p:embed/>
                  <p:pic>
                    <p:nvPicPr>
                      <p:cNvPr id="6" name="think-cell data - do not delete" hidden="1">
                        <a:extLst>
                          <a:ext uri="{FF2B5EF4-FFF2-40B4-BE49-F238E27FC236}">
                            <a16:creationId xmlns:a16="http://schemas.microsoft.com/office/drawing/2014/main" id="{B6A44435-7579-619C-5697-A19EB91F30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标题 1">
            <a:extLst>
              <a:ext uri="{FF2B5EF4-FFF2-40B4-BE49-F238E27FC236}">
                <a16:creationId xmlns:a16="http://schemas.microsoft.com/office/drawing/2014/main" id="{9FBBE0B0-01BF-CB4A-40C0-09FFDB8AFD32}"/>
              </a:ext>
            </a:extLst>
          </p:cNvPr>
          <p:cNvSpPr>
            <a:spLocks noGrp="1"/>
          </p:cNvSpPr>
          <p:nvPr>
            <p:ph type="title"/>
          </p:nvPr>
        </p:nvSpPr>
        <p:spPr/>
        <p:txBody>
          <a:bodyPr vert="horz"/>
          <a:lstStyle/>
          <a:p>
            <a:r>
              <a:rPr lang="zh-CN" altLang="en-US" dirty="0">
                <a:latin typeface="+mn-lt"/>
                <a:ea typeface="+mn-ea"/>
                <a:cs typeface="+mn-ea"/>
                <a:sym typeface="+mn-lt"/>
              </a:rPr>
              <a:t>博通为最早完整落地</a:t>
            </a:r>
            <a:r>
              <a:rPr lang="en-US" altLang="zh-CN" dirty="0">
                <a:latin typeface="+mn-lt"/>
                <a:ea typeface="+mn-ea"/>
                <a:cs typeface="+mn-ea"/>
                <a:sym typeface="+mn-lt"/>
              </a:rPr>
              <a:t>CPO</a:t>
            </a:r>
            <a:r>
              <a:rPr lang="zh-CN" altLang="en-US" dirty="0">
                <a:latin typeface="+mn-lt"/>
                <a:ea typeface="+mn-ea"/>
                <a:cs typeface="+mn-ea"/>
                <a:sym typeface="+mn-lt"/>
              </a:rPr>
              <a:t>的厂商，具备长期身位优势</a:t>
            </a:r>
          </a:p>
        </p:txBody>
      </p:sp>
      <p:sp>
        <p:nvSpPr>
          <p:cNvPr id="7" name="文本框 6">
            <a:extLst>
              <a:ext uri="{FF2B5EF4-FFF2-40B4-BE49-F238E27FC236}">
                <a16:creationId xmlns:a16="http://schemas.microsoft.com/office/drawing/2014/main" id="{2FE1DD30-7FDB-3F47-7AEF-E5C2244C3CE7}"/>
              </a:ext>
            </a:extLst>
          </p:cNvPr>
          <p:cNvSpPr txBox="1"/>
          <p:nvPr/>
        </p:nvSpPr>
        <p:spPr>
          <a:xfrm>
            <a:off x="419231" y="6370193"/>
            <a:ext cx="7859218"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200" i="1" dirty="0">
                <a:solidFill>
                  <a:schemeClr val="tx1">
                    <a:lumMod val="50000"/>
                  </a:schemeClr>
                </a:solidFill>
                <a:cs typeface="+mn-ea"/>
                <a:sym typeface="+mn-lt"/>
              </a:rPr>
              <a:t>Source: Broadcom</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Nvidia</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Intel</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Cisco</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Marvell</a:t>
            </a:r>
          </a:p>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：优先列示</a:t>
            </a:r>
            <a:r>
              <a:rPr kumimoji="1" lang="en-US" altLang="zh-CN" sz="1200" i="1" dirty="0">
                <a:solidFill>
                  <a:schemeClr val="tx1">
                    <a:lumMod val="50000"/>
                  </a:schemeClr>
                </a:solidFill>
                <a:cs typeface="+mn-ea"/>
                <a:sym typeface="+mn-lt"/>
              </a:rPr>
              <a:t>CPO</a:t>
            </a:r>
            <a:r>
              <a:rPr kumimoji="1" lang="zh-CN" altLang="en-US" sz="1200" i="1" dirty="0">
                <a:solidFill>
                  <a:schemeClr val="tx1">
                    <a:lumMod val="50000"/>
                  </a:schemeClr>
                </a:solidFill>
                <a:cs typeface="+mn-ea"/>
                <a:sym typeface="+mn-lt"/>
              </a:rPr>
              <a:t>交换芯片</a:t>
            </a:r>
            <a:endParaRPr kumimoji="1" lang="zh-CN" altLang="zh-CN" sz="1200" i="1" dirty="0">
              <a:solidFill>
                <a:schemeClr val="tx1">
                  <a:lumMod val="50000"/>
                </a:schemeClr>
              </a:solidFill>
              <a:cs typeface="+mn-ea"/>
              <a:sym typeface="+mn-lt"/>
            </a:endParaRPr>
          </a:p>
          <a:p>
            <a:pPr>
              <a:spcBef>
                <a:spcPts val="300"/>
              </a:spcBef>
              <a:spcAft>
                <a:spcPts val="300"/>
              </a:spcAft>
            </a:pPr>
            <a:endParaRPr kumimoji="1" lang="zh-CN" altLang="en-US" sz="1200" i="1" dirty="0">
              <a:solidFill>
                <a:schemeClr val="tx1">
                  <a:lumMod val="50000"/>
                </a:schemeClr>
              </a:solidFill>
              <a:cs typeface="+mn-ea"/>
              <a:sym typeface="+mn-lt"/>
            </a:endParaRPr>
          </a:p>
        </p:txBody>
      </p:sp>
      <p:grpSp>
        <p:nvGrpSpPr>
          <p:cNvPr id="98" name="组合 97">
            <a:extLst>
              <a:ext uri="{FF2B5EF4-FFF2-40B4-BE49-F238E27FC236}">
                <a16:creationId xmlns:a16="http://schemas.microsoft.com/office/drawing/2014/main" id="{46B5D6ED-707E-C6B1-912C-1C81B662A5CB}"/>
              </a:ext>
            </a:extLst>
          </p:cNvPr>
          <p:cNvGrpSpPr/>
          <p:nvPr/>
        </p:nvGrpSpPr>
        <p:grpSpPr>
          <a:xfrm>
            <a:off x="419231" y="831408"/>
            <a:ext cx="11063882" cy="855636"/>
            <a:chOff x="419231" y="831408"/>
            <a:chExt cx="11063882" cy="855636"/>
          </a:xfrm>
        </p:grpSpPr>
        <p:sp>
          <p:nvSpPr>
            <p:cNvPr id="97" name="矩形 96">
              <a:extLst>
                <a:ext uri="{FF2B5EF4-FFF2-40B4-BE49-F238E27FC236}">
                  <a16:creationId xmlns:a16="http://schemas.microsoft.com/office/drawing/2014/main" id="{ED932BCA-CA28-E081-AD9C-A046286F0419}"/>
                </a:ext>
              </a:extLst>
            </p:cNvPr>
            <p:cNvSpPr/>
            <p:nvPr/>
          </p:nvSpPr>
          <p:spPr>
            <a:xfrm>
              <a:off x="419231" y="831408"/>
              <a:ext cx="11063882" cy="842892"/>
            </a:xfrm>
            <a:prstGeom prst="rect">
              <a:avLst/>
            </a:prstGeom>
            <a:solidFill>
              <a:srgbClr val="EC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400"/>
                </a:spcBef>
                <a:spcAft>
                  <a:spcPts val="400"/>
                </a:spcAft>
              </a:pPr>
              <a:endParaRPr lang="en-US" altLang="zh-CN" sz="1600" dirty="0">
                <a:solidFill>
                  <a:schemeClr val="accent6">
                    <a:lumMod val="10000"/>
                  </a:schemeClr>
                </a:solidFill>
                <a:cs typeface="+mn-ea"/>
                <a:sym typeface="+mn-lt"/>
              </a:endParaRPr>
            </a:p>
          </p:txBody>
        </p:sp>
        <p:sp>
          <p:nvSpPr>
            <p:cNvPr id="78" name="文本框 77">
              <a:extLst>
                <a:ext uri="{FF2B5EF4-FFF2-40B4-BE49-F238E27FC236}">
                  <a16:creationId xmlns:a16="http://schemas.microsoft.com/office/drawing/2014/main" id="{0F81A6C3-9205-443D-8828-1B7234874E73}"/>
                </a:ext>
              </a:extLst>
            </p:cNvPr>
            <p:cNvSpPr txBox="1"/>
            <p:nvPr/>
          </p:nvSpPr>
          <p:spPr>
            <a:xfrm>
              <a:off x="474403" y="856047"/>
              <a:ext cx="10782877" cy="830997"/>
            </a:xfrm>
            <a:prstGeom prst="rect">
              <a:avLst/>
            </a:prstGeom>
            <a:noFill/>
          </p:spPr>
          <p:txBody>
            <a:bodyPr wrap="square">
              <a:spAutoFit/>
            </a:bodyPr>
            <a:lstStyle/>
            <a:p>
              <a:pPr marL="285750" indent="-285750">
                <a:buFont typeface="Arial" panose="020B0604020202020204" pitchFamily="34" charset="0"/>
                <a:buChar char="•"/>
              </a:pPr>
              <a:r>
                <a:rPr lang="zh-CN" altLang="en-US" sz="1600" dirty="0"/>
                <a:t>博通为目前</a:t>
              </a:r>
              <a:r>
                <a:rPr lang="zh-CN" altLang="en-US" sz="1600" b="1" dirty="0">
                  <a:solidFill>
                    <a:srgbClr val="0052D9"/>
                  </a:solidFill>
                </a:rPr>
                <a:t>唯一</a:t>
              </a:r>
              <a:r>
                <a:rPr lang="zh-CN" altLang="en-US" sz="1600" dirty="0"/>
                <a:t>公开承认已实现</a:t>
              </a:r>
              <a:r>
                <a:rPr lang="en-US" altLang="zh-CN" sz="1600" dirty="0"/>
                <a:t>CPO</a:t>
              </a:r>
              <a:r>
                <a:rPr lang="zh-CN" altLang="en-US" sz="1600" dirty="0"/>
                <a:t>交换机（芯片）大规模量产的厂商，</a:t>
              </a:r>
              <a:r>
                <a:rPr lang="en-US" altLang="zh-CN" sz="1600" dirty="0"/>
                <a:t>TH4</a:t>
              </a:r>
              <a:r>
                <a:rPr lang="zh-CN" altLang="en-US" sz="1600" dirty="0"/>
                <a:t>、</a:t>
              </a:r>
              <a:r>
                <a:rPr lang="en-US" altLang="zh-CN" sz="1600" dirty="0"/>
                <a:t>TH5</a:t>
              </a:r>
              <a:r>
                <a:rPr lang="zh-CN" altLang="en-US" sz="1600" dirty="0"/>
                <a:t>为</a:t>
              </a:r>
              <a:r>
                <a:rPr lang="zh-CN" altLang="en-US" sz="1600" b="1" dirty="0">
                  <a:solidFill>
                    <a:srgbClr val="0052D9"/>
                  </a:solidFill>
                </a:rPr>
                <a:t>最早量产</a:t>
              </a:r>
              <a:r>
                <a:rPr lang="zh-CN" altLang="en-US" sz="1600" dirty="0"/>
                <a:t>的</a:t>
              </a:r>
              <a:r>
                <a:rPr lang="en-US" altLang="zh-CN" sz="1600" dirty="0"/>
                <a:t>CPO</a:t>
              </a:r>
              <a:r>
                <a:rPr lang="zh-CN" altLang="en-US" sz="1600" dirty="0"/>
                <a:t>交换芯片</a:t>
              </a:r>
              <a:endParaRPr lang="en-US" altLang="zh-CN" sz="1600" dirty="0"/>
            </a:p>
            <a:p>
              <a:pPr marL="285750" indent="-285750">
                <a:buFont typeface="Arial" panose="020B0604020202020204" pitchFamily="34" charset="0"/>
                <a:buChar char="•"/>
              </a:pPr>
              <a:r>
                <a:rPr lang="zh-CN" altLang="en-US" sz="1600" dirty="0"/>
                <a:t>当前身位：领先英伟达约</a:t>
              </a:r>
              <a:r>
                <a:rPr lang="en-US" altLang="zh-CN" sz="1600" b="1" dirty="0">
                  <a:solidFill>
                    <a:srgbClr val="0052D9"/>
                  </a:solidFill>
                </a:rPr>
                <a:t>1</a:t>
              </a:r>
              <a:r>
                <a:rPr lang="zh-CN" altLang="en-US" sz="1600" b="1" dirty="0">
                  <a:solidFill>
                    <a:srgbClr val="0052D9"/>
                  </a:solidFill>
                </a:rPr>
                <a:t>年</a:t>
              </a:r>
              <a:r>
                <a:rPr lang="zh-CN" altLang="en-US" sz="1600" dirty="0"/>
                <a:t>，大幅领先</a:t>
              </a:r>
              <a:r>
                <a:rPr lang="en-US" altLang="zh-CN" sz="1600" dirty="0"/>
                <a:t>Marvell</a:t>
              </a:r>
              <a:r>
                <a:rPr lang="zh-CN" altLang="en-US" sz="1600" dirty="0"/>
                <a:t>（交换容量紧跟但无自研</a:t>
              </a:r>
              <a:r>
                <a:rPr lang="en-US" altLang="zh-CN" sz="1600" dirty="0"/>
                <a:t>CPO</a:t>
              </a:r>
              <a:r>
                <a:rPr lang="zh-CN" altLang="en-US" sz="1600" dirty="0"/>
                <a:t>芯片）、思科（在</a:t>
              </a:r>
              <a:r>
                <a:rPr lang="en-US" altLang="zh-CN" sz="1600" dirty="0"/>
                <a:t>CPO</a:t>
              </a:r>
              <a:r>
                <a:rPr lang="zh-CN" altLang="en-US" sz="1600" dirty="0"/>
                <a:t>上谨慎）、英特尔（起步早但后劲不足）</a:t>
              </a:r>
              <a:endParaRPr lang="zh-CN" altLang="en-US" sz="1600" dirty="0">
                <a:cs typeface="+mn-ea"/>
                <a:sym typeface="+mn-lt"/>
              </a:endParaRPr>
            </a:p>
          </p:txBody>
        </p:sp>
      </p:grpSp>
      <p:sp>
        <p:nvSpPr>
          <p:cNvPr id="110" name="文本框 13">
            <a:extLst>
              <a:ext uri="{FF2B5EF4-FFF2-40B4-BE49-F238E27FC236}">
                <a16:creationId xmlns:a16="http://schemas.microsoft.com/office/drawing/2014/main" id="{E2C45565-EC1B-5D1D-99A3-5A79B14DD9AA}"/>
              </a:ext>
            </a:extLst>
          </p:cNvPr>
          <p:cNvSpPr txBox="1"/>
          <p:nvPr/>
        </p:nvSpPr>
        <p:spPr>
          <a:xfrm>
            <a:off x="5910123" y="1100639"/>
            <a:ext cx="5130761" cy="301625"/>
          </a:xfrm>
          <a:prstGeom prst="rect">
            <a:avLst/>
          </a:prstGeom>
          <a:ln w="6350">
            <a:noFill/>
            <a:miter lim="800000"/>
          </a:ln>
        </p:spPr>
        <p:txBody>
          <a:bodyPr vert="horz"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spcBef>
                <a:spcPts val="300"/>
              </a:spcBef>
              <a:spcAft>
                <a:spcPts val="300"/>
              </a:spcAft>
              <a:buFont typeface="Arial" panose="020B0604020202020204" pitchFamily="34" charset="0"/>
              <a:buChar char="•"/>
            </a:pPr>
            <a:endParaRPr kumimoji="1" lang="zh-CN" altLang="en-US" sz="1600" dirty="0">
              <a:solidFill>
                <a:schemeClr val="tx1">
                  <a:lumMod val="50000"/>
                </a:schemeClr>
              </a:solidFill>
              <a:cs typeface="+mn-ea"/>
              <a:sym typeface="+mn-lt"/>
            </a:endParaRPr>
          </a:p>
        </p:txBody>
      </p:sp>
      <p:cxnSp>
        <p:nvCxnSpPr>
          <p:cNvPr id="119" name="直接箭头连接符 118">
            <a:extLst>
              <a:ext uri="{FF2B5EF4-FFF2-40B4-BE49-F238E27FC236}">
                <a16:creationId xmlns:a16="http://schemas.microsoft.com/office/drawing/2014/main" id="{45D36808-52C5-27C7-514E-CA0FED831006}"/>
              </a:ext>
            </a:extLst>
          </p:cNvPr>
          <p:cNvCxnSpPr>
            <a:cxnSpLocks/>
          </p:cNvCxnSpPr>
          <p:nvPr/>
        </p:nvCxnSpPr>
        <p:spPr>
          <a:xfrm>
            <a:off x="1407961" y="5798954"/>
            <a:ext cx="96267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0" name="直接箭头连接符 1039">
            <a:extLst>
              <a:ext uri="{FF2B5EF4-FFF2-40B4-BE49-F238E27FC236}">
                <a16:creationId xmlns:a16="http://schemas.microsoft.com/office/drawing/2014/main" id="{C7DE9DED-194E-1502-E490-1F6920A95A4F}"/>
              </a:ext>
            </a:extLst>
          </p:cNvPr>
          <p:cNvCxnSpPr>
            <a:cxnSpLocks/>
          </p:cNvCxnSpPr>
          <p:nvPr/>
        </p:nvCxnSpPr>
        <p:spPr>
          <a:xfrm flipV="1">
            <a:off x="1407962" y="2367508"/>
            <a:ext cx="0" cy="34266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3" name="文本框 1042">
            <a:extLst>
              <a:ext uri="{FF2B5EF4-FFF2-40B4-BE49-F238E27FC236}">
                <a16:creationId xmlns:a16="http://schemas.microsoft.com/office/drawing/2014/main" id="{600B4EB6-1EE8-4CC7-CF0C-980549956770}"/>
              </a:ext>
            </a:extLst>
          </p:cNvPr>
          <p:cNvSpPr txBox="1"/>
          <p:nvPr/>
        </p:nvSpPr>
        <p:spPr>
          <a:xfrm>
            <a:off x="751310" y="5139056"/>
            <a:ext cx="677283" cy="307777"/>
          </a:xfrm>
          <a:prstGeom prst="rect">
            <a:avLst/>
          </a:prstGeom>
          <a:noFill/>
        </p:spPr>
        <p:txBody>
          <a:bodyPr wrap="square" rtlCol="0">
            <a:spAutoFit/>
          </a:bodyPr>
          <a:lstStyle/>
          <a:p>
            <a:pPr algn="ctr"/>
            <a:r>
              <a:rPr lang="en-US" altLang="zh-CN" sz="1400" dirty="0">
                <a:cs typeface="+mn-ea"/>
                <a:sym typeface="+mn-lt"/>
              </a:rPr>
              <a:t>12.8</a:t>
            </a:r>
            <a:endParaRPr lang="zh-CN" altLang="en-US" sz="1400" dirty="0">
              <a:cs typeface="+mn-ea"/>
              <a:sym typeface="+mn-lt"/>
            </a:endParaRPr>
          </a:p>
        </p:txBody>
      </p:sp>
      <p:sp>
        <p:nvSpPr>
          <p:cNvPr id="1044" name="文本框 1043">
            <a:extLst>
              <a:ext uri="{FF2B5EF4-FFF2-40B4-BE49-F238E27FC236}">
                <a16:creationId xmlns:a16="http://schemas.microsoft.com/office/drawing/2014/main" id="{2ECF937A-BCE8-7B42-925C-83B3E3B77D06}"/>
              </a:ext>
            </a:extLst>
          </p:cNvPr>
          <p:cNvSpPr txBox="1"/>
          <p:nvPr/>
        </p:nvSpPr>
        <p:spPr>
          <a:xfrm>
            <a:off x="751310" y="4337143"/>
            <a:ext cx="677283" cy="307777"/>
          </a:xfrm>
          <a:prstGeom prst="rect">
            <a:avLst/>
          </a:prstGeom>
          <a:noFill/>
        </p:spPr>
        <p:txBody>
          <a:bodyPr wrap="square" rtlCol="0">
            <a:spAutoFit/>
          </a:bodyPr>
          <a:lstStyle/>
          <a:p>
            <a:pPr algn="ctr"/>
            <a:r>
              <a:rPr lang="en-US" altLang="zh-CN" sz="1400" dirty="0">
                <a:cs typeface="+mn-ea"/>
                <a:sym typeface="+mn-lt"/>
              </a:rPr>
              <a:t>25.6</a:t>
            </a:r>
            <a:endParaRPr lang="zh-CN" altLang="en-US" sz="1400" dirty="0">
              <a:cs typeface="+mn-ea"/>
              <a:sym typeface="+mn-lt"/>
            </a:endParaRPr>
          </a:p>
        </p:txBody>
      </p:sp>
      <p:sp>
        <p:nvSpPr>
          <p:cNvPr id="1045" name="文本框 1044">
            <a:extLst>
              <a:ext uri="{FF2B5EF4-FFF2-40B4-BE49-F238E27FC236}">
                <a16:creationId xmlns:a16="http://schemas.microsoft.com/office/drawing/2014/main" id="{52F3FB11-5937-AA18-30B9-0AB44CA4074D}"/>
              </a:ext>
            </a:extLst>
          </p:cNvPr>
          <p:cNvSpPr txBox="1"/>
          <p:nvPr/>
        </p:nvSpPr>
        <p:spPr>
          <a:xfrm>
            <a:off x="751310" y="3535229"/>
            <a:ext cx="677283" cy="307777"/>
          </a:xfrm>
          <a:prstGeom prst="rect">
            <a:avLst/>
          </a:prstGeom>
          <a:noFill/>
        </p:spPr>
        <p:txBody>
          <a:bodyPr wrap="square" rtlCol="0">
            <a:spAutoFit/>
          </a:bodyPr>
          <a:lstStyle/>
          <a:p>
            <a:pPr algn="ctr"/>
            <a:r>
              <a:rPr lang="en-US" altLang="zh-CN" sz="1400" dirty="0">
                <a:cs typeface="+mn-ea"/>
                <a:sym typeface="+mn-lt"/>
              </a:rPr>
              <a:t>51.2</a:t>
            </a:r>
            <a:endParaRPr lang="zh-CN" altLang="en-US" sz="1400" dirty="0">
              <a:cs typeface="+mn-ea"/>
              <a:sym typeface="+mn-lt"/>
            </a:endParaRPr>
          </a:p>
        </p:txBody>
      </p:sp>
      <p:sp>
        <p:nvSpPr>
          <p:cNvPr id="1047" name="文本框 1046">
            <a:extLst>
              <a:ext uri="{FF2B5EF4-FFF2-40B4-BE49-F238E27FC236}">
                <a16:creationId xmlns:a16="http://schemas.microsoft.com/office/drawing/2014/main" id="{8FEC53B9-1D54-FBF6-8971-E6DB3E7C220D}"/>
              </a:ext>
            </a:extLst>
          </p:cNvPr>
          <p:cNvSpPr txBox="1"/>
          <p:nvPr/>
        </p:nvSpPr>
        <p:spPr>
          <a:xfrm>
            <a:off x="656291" y="2733315"/>
            <a:ext cx="867321" cy="307777"/>
          </a:xfrm>
          <a:prstGeom prst="rect">
            <a:avLst/>
          </a:prstGeom>
          <a:noFill/>
        </p:spPr>
        <p:txBody>
          <a:bodyPr wrap="square" rtlCol="0">
            <a:spAutoFit/>
          </a:bodyPr>
          <a:lstStyle/>
          <a:p>
            <a:pPr algn="ctr"/>
            <a:r>
              <a:rPr lang="en-US" altLang="zh-CN" sz="1400" dirty="0">
                <a:cs typeface="+mn-ea"/>
                <a:sym typeface="+mn-lt"/>
              </a:rPr>
              <a:t>102.4</a:t>
            </a:r>
            <a:endParaRPr lang="zh-CN" altLang="en-US" sz="1400" dirty="0">
              <a:cs typeface="+mn-ea"/>
              <a:sym typeface="+mn-lt"/>
            </a:endParaRPr>
          </a:p>
        </p:txBody>
      </p:sp>
      <p:sp>
        <p:nvSpPr>
          <p:cNvPr id="1052" name="文本框 1051">
            <a:extLst>
              <a:ext uri="{FF2B5EF4-FFF2-40B4-BE49-F238E27FC236}">
                <a16:creationId xmlns:a16="http://schemas.microsoft.com/office/drawing/2014/main" id="{9515409C-F418-0A19-0F53-073B69E48FF5}"/>
              </a:ext>
            </a:extLst>
          </p:cNvPr>
          <p:cNvSpPr txBox="1"/>
          <p:nvPr/>
        </p:nvSpPr>
        <p:spPr>
          <a:xfrm>
            <a:off x="587360" y="1872409"/>
            <a:ext cx="1005181" cy="738664"/>
          </a:xfrm>
          <a:prstGeom prst="rect">
            <a:avLst/>
          </a:prstGeom>
          <a:noFill/>
        </p:spPr>
        <p:txBody>
          <a:bodyPr wrap="square" rtlCol="0">
            <a:spAutoFit/>
          </a:bodyPr>
          <a:lstStyle/>
          <a:p>
            <a:pPr algn="ctr"/>
            <a:r>
              <a:rPr lang="en-US" altLang="zh-CN" sz="1400" dirty="0">
                <a:cs typeface="+mn-ea"/>
                <a:sym typeface="+mn-lt"/>
              </a:rPr>
              <a:t>ASIC</a:t>
            </a:r>
          </a:p>
          <a:p>
            <a:pPr algn="ctr"/>
            <a:r>
              <a:rPr lang="zh-CN" altLang="en-US" sz="1400" dirty="0">
                <a:cs typeface="+mn-ea"/>
                <a:sym typeface="+mn-lt"/>
              </a:rPr>
              <a:t>交换容量</a:t>
            </a:r>
            <a:r>
              <a:rPr lang="en-US" altLang="zh-CN" sz="1400" baseline="30000" dirty="0">
                <a:cs typeface="+mn-ea"/>
                <a:sym typeface="+mn-lt"/>
              </a:rPr>
              <a:t>1</a:t>
            </a:r>
            <a:r>
              <a:rPr lang="zh-CN" altLang="en-US" sz="1400" dirty="0">
                <a:cs typeface="+mn-ea"/>
                <a:sym typeface="+mn-lt"/>
              </a:rPr>
              <a:t>（</a:t>
            </a:r>
            <a:r>
              <a:rPr lang="en-US" altLang="zh-CN" sz="1400" dirty="0" err="1">
                <a:cs typeface="+mn-ea"/>
                <a:sym typeface="+mn-lt"/>
              </a:rPr>
              <a:t>Tbps</a:t>
            </a:r>
            <a:r>
              <a:rPr lang="zh-CN" altLang="en-US" sz="1400" dirty="0">
                <a:cs typeface="+mn-ea"/>
                <a:sym typeface="+mn-lt"/>
              </a:rPr>
              <a:t>）</a:t>
            </a:r>
          </a:p>
        </p:txBody>
      </p:sp>
      <p:grpSp>
        <p:nvGrpSpPr>
          <p:cNvPr id="1026" name="组合 1025">
            <a:extLst>
              <a:ext uri="{FF2B5EF4-FFF2-40B4-BE49-F238E27FC236}">
                <a16:creationId xmlns:a16="http://schemas.microsoft.com/office/drawing/2014/main" id="{CE6789BA-E003-ED21-8313-C7D3E2FD3A15}"/>
              </a:ext>
            </a:extLst>
          </p:cNvPr>
          <p:cNvGrpSpPr/>
          <p:nvPr/>
        </p:nvGrpSpPr>
        <p:grpSpPr>
          <a:xfrm>
            <a:off x="3013249" y="5691528"/>
            <a:ext cx="754380" cy="549547"/>
            <a:chOff x="2302741" y="5497808"/>
            <a:chExt cx="754380" cy="549547"/>
          </a:xfrm>
        </p:grpSpPr>
        <p:sp>
          <p:nvSpPr>
            <p:cNvPr id="1028" name="iconfont-1018-792472">
              <a:extLst>
                <a:ext uri="{FF2B5EF4-FFF2-40B4-BE49-F238E27FC236}">
                  <a16:creationId xmlns:a16="http://schemas.microsoft.com/office/drawing/2014/main" id="{A28C6252-82D4-448A-5630-CA8489B87C7E}"/>
                </a:ext>
              </a:extLst>
            </p:cNvPr>
            <p:cNvSpPr/>
            <p:nvPr/>
          </p:nvSpPr>
          <p:spPr>
            <a:xfrm>
              <a:off x="2573461" y="5497808"/>
              <a:ext cx="205783" cy="205783"/>
            </a:xfrm>
            <a:custGeom>
              <a:avLst/>
              <a:gdLst>
                <a:gd name="T0" fmla="*/ 1876 w 12800"/>
                <a:gd name="T1" fmla="*/ 1876 h 12800"/>
                <a:gd name="T2" fmla="*/ 6400 w 12800"/>
                <a:gd name="T3" fmla="*/ 0 h 12800"/>
                <a:gd name="T4" fmla="*/ 10924 w 12800"/>
                <a:gd name="T5" fmla="*/ 1876 h 12800"/>
                <a:gd name="T6" fmla="*/ 12800 w 12800"/>
                <a:gd name="T7" fmla="*/ 6400 h 12800"/>
                <a:gd name="T8" fmla="*/ 10924 w 12800"/>
                <a:gd name="T9" fmla="*/ 10924 h 12800"/>
                <a:gd name="T10" fmla="*/ 6400 w 12800"/>
                <a:gd name="T11" fmla="*/ 12800 h 12800"/>
                <a:gd name="T12" fmla="*/ 1876 w 12800"/>
                <a:gd name="T13" fmla="*/ 10924 h 12800"/>
                <a:gd name="T14" fmla="*/ 0 w 12800"/>
                <a:gd name="T15" fmla="*/ 6400 h 12800"/>
                <a:gd name="T16" fmla="*/ 1876 w 12800"/>
                <a:gd name="T17" fmla="*/ 1876 h 12800"/>
                <a:gd name="T18" fmla="*/ 6400 w 12800"/>
                <a:gd name="T19" fmla="*/ 524 h 12800"/>
                <a:gd name="T20" fmla="*/ 3446 w 12800"/>
                <a:gd name="T21" fmla="*/ 1308 h 12800"/>
                <a:gd name="T22" fmla="*/ 1308 w 12800"/>
                <a:gd name="T23" fmla="*/ 3446 h 12800"/>
                <a:gd name="T24" fmla="*/ 524 w 12800"/>
                <a:gd name="T25" fmla="*/ 6400 h 12800"/>
                <a:gd name="T26" fmla="*/ 2246 w 12800"/>
                <a:gd name="T27" fmla="*/ 10554 h 12800"/>
                <a:gd name="T28" fmla="*/ 6400 w 12800"/>
                <a:gd name="T29" fmla="*/ 12276 h 12800"/>
                <a:gd name="T30" fmla="*/ 10554 w 12800"/>
                <a:gd name="T31" fmla="*/ 10554 h 12800"/>
                <a:gd name="T32" fmla="*/ 12276 w 12800"/>
                <a:gd name="T33" fmla="*/ 6400 h 12800"/>
                <a:gd name="T34" fmla="*/ 10554 w 12800"/>
                <a:gd name="T35" fmla="*/ 2246 h 12800"/>
                <a:gd name="T36" fmla="*/ 6400 w 12800"/>
                <a:gd name="T37" fmla="*/ 524 h 12800"/>
                <a:gd name="T38" fmla="*/ 6400 w 12800"/>
                <a:gd name="T39" fmla="*/ 3200 h 12800"/>
                <a:gd name="T40" fmla="*/ 5123 w 12800"/>
                <a:gd name="T41" fmla="*/ 3461 h 12800"/>
                <a:gd name="T42" fmla="*/ 4061 w 12800"/>
                <a:gd name="T43" fmla="*/ 4154 h 12800"/>
                <a:gd name="T44" fmla="*/ 3369 w 12800"/>
                <a:gd name="T45" fmla="*/ 5215 h 12800"/>
                <a:gd name="T46" fmla="*/ 3108 w 12800"/>
                <a:gd name="T47" fmla="*/ 6492 h 12800"/>
                <a:gd name="T48" fmla="*/ 3369 w 12800"/>
                <a:gd name="T49" fmla="*/ 7770 h 12800"/>
                <a:gd name="T50" fmla="*/ 4061 w 12800"/>
                <a:gd name="T51" fmla="*/ 8831 h 12800"/>
                <a:gd name="T52" fmla="*/ 5123 w 12800"/>
                <a:gd name="T53" fmla="*/ 9523 h 12800"/>
                <a:gd name="T54" fmla="*/ 6400 w 12800"/>
                <a:gd name="T55" fmla="*/ 9784 h 12800"/>
                <a:gd name="T56" fmla="*/ 7677 w 12800"/>
                <a:gd name="T57" fmla="*/ 9523 h 12800"/>
                <a:gd name="T58" fmla="*/ 8739 w 12800"/>
                <a:gd name="T59" fmla="*/ 8831 h 12800"/>
                <a:gd name="T60" fmla="*/ 9431 w 12800"/>
                <a:gd name="T61" fmla="*/ 7770 h 12800"/>
                <a:gd name="T62" fmla="*/ 9692 w 12800"/>
                <a:gd name="T63" fmla="*/ 6492 h 12800"/>
                <a:gd name="T64" fmla="*/ 9431 w 12800"/>
                <a:gd name="T65" fmla="*/ 5215 h 12800"/>
                <a:gd name="T66" fmla="*/ 8739 w 12800"/>
                <a:gd name="T67" fmla="*/ 4154 h 12800"/>
                <a:gd name="T68" fmla="*/ 7677 w 12800"/>
                <a:gd name="T69" fmla="*/ 3461 h 12800"/>
                <a:gd name="T70" fmla="*/ 6400 w 12800"/>
                <a:gd name="T71" fmla="*/ 32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2800">
                  <a:moveTo>
                    <a:pt x="1876" y="1876"/>
                  </a:moveTo>
                  <a:cubicBezTo>
                    <a:pt x="3128" y="626"/>
                    <a:pt x="4636" y="0"/>
                    <a:pt x="6400" y="0"/>
                  </a:cubicBezTo>
                  <a:cubicBezTo>
                    <a:pt x="8164" y="0"/>
                    <a:pt x="9672" y="626"/>
                    <a:pt x="10924" y="1876"/>
                  </a:cubicBezTo>
                  <a:cubicBezTo>
                    <a:pt x="12174" y="3128"/>
                    <a:pt x="12800" y="4636"/>
                    <a:pt x="12800" y="6400"/>
                  </a:cubicBezTo>
                  <a:cubicBezTo>
                    <a:pt x="12800" y="8165"/>
                    <a:pt x="12174" y="9673"/>
                    <a:pt x="10924" y="10924"/>
                  </a:cubicBezTo>
                  <a:cubicBezTo>
                    <a:pt x="9672" y="12174"/>
                    <a:pt x="8164" y="12800"/>
                    <a:pt x="6400" y="12800"/>
                  </a:cubicBezTo>
                  <a:cubicBezTo>
                    <a:pt x="4636" y="12800"/>
                    <a:pt x="3128" y="12174"/>
                    <a:pt x="1876" y="10924"/>
                  </a:cubicBezTo>
                  <a:cubicBezTo>
                    <a:pt x="626" y="9673"/>
                    <a:pt x="0" y="8165"/>
                    <a:pt x="0" y="6400"/>
                  </a:cubicBezTo>
                  <a:cubicBezTo>
                    <a:pt x="0" y="4636"/>
                    <a:pt x="626" y="3128"/>
                    <a:pt x="1876" y="1876"/>
                  </a:cubicBezTo>
                  <a:close/>
                  <a:moveTo>
                    <a:pt x="6400" y="524"/>
                  </a:moveTo>
                  <a:cubicBezTo>
                    <a:pt x="5334" y="524"/>
                    <a:pt x="4348" y="785"/>
                    <a:pt x="3446" y="1308"/>
                  </a:cubicBezTo>
                  <a:cubicBezTo>
                    <a:pt x="2543" y="1830"/>
                    <a:pt x="1830" y="2543"/>
                    <a:pt x="1308" y="3446"/>
                  </a:cubicBezTo>
                  <a:cubicBezTo>
                    <a:pt x="785" y="4349"/>
                    <a:pt x="524" y="5334"/>
                    <a:pt x="524" y="6400"/>
                  </a:cubicBezTo>
                  <a:cubicBezTo>
                    <a:pt x="524" y="8020"/>
                    <a:pt x="1098" y="9405"/>
                    <a:pt x="2246" y="10554"/>
                  </a:cubicBezTo>
                  <a:cubicBezTo>
                    <a:pt x="3395" y="11703"/>
                    <a:pt x="4780" y="12276"/>
                    <a:pt x="6400" y="12276"/>
                  </a:cubicBezTo>
                  <a:cubicBezTo>
                    <a:pt x="8020" y="12276"/>
                    <a:pt x="9405" y="11703"/>
                    <a:pt x="10554" y="10554"/>
                  </a:cubicBezTo>
                  <a:cubicBezTo>
                    <a:pt x="11703" y="9405"/>
                    <a:pt x="12276" y="8020"/>
                    <a:pt x="12276" y="6400"/>
                  </a:cubicBezTo>
                  <a:cubicBezTo>
                    <a:pt x="12276" y="4780"/>
                    <a:pt x="11702" y="3396"/>
                    <a:pt x="10554" y="2246"/>
                  </a:cubicBezTo>
                  <a:cubicBezTo>
                    <a:pt x="9405" y="1097"/>
                    <a:pt x="8020" y="524"/>
                    <a:pt x="6400" y="524"/>
                  </a:cubicBezTo>
                  <a:close/>
                  <a:moveTo>
                    <a:pt x="6400" y="3200"/>
                  </a:moveTo>
                  <a:cubicBezTo>
                    <a:pt x="5948" y="3200"/>
                    <a:pt x="5523" y="3288"/>
                    <a:pt x="5123" y="3461"/>
                  </a:cubicBezTo>
                  <a:cubicBezTo>
                    <a:pt x="4723" y="3636"/>
                    <a:pt x="4369" y="3867"/>
                    <a:pt x="4061" y="4154"/>
                  </a:cubicBezTo>
                  <a:cubicBezTo>
                    <a:pt x="3775" y="4461"/>
                    <a:pt x="3543" y="4815"/>
                    <a:pt x="3369" y="5215"/>
                  </a:cubicBezTo>
                  <a:cubicBezTo>
                    <a:pt x="3195" y="5614"/>
                    <a:pt x="3108" y="6042"/>
                    <a:pt x="3108" y="6492"/>
                  </a:cubicBezTo>
                  <a:cubicBezTo>
                    <a:pt x="3108" y="6944"/>
                    <a:pt x="3195" y="7369"/>
                    <a:pt x="3369" y="7770"/>
                  </a:cubicBezTo>
                  <a:cubicBezTo>
                    <a:pt x="3543" y="8170"/>
                    <a:pt x="3775" y="8524"/>
                    <a:pt x="4061" y="8831"/>
                  </a:cubicBezTo>
                  <a:cubicBezTo>
                    <a:pt x="4369" y="9119"/>
                    <a:pt x="4723" y="9349"/>
                    <a:pt x="5123" y="9523"/>
                  </a:cubicBezTo>
                  <a:cubicBezTo>
                    <a:pt x="5523" y="9697"/>
                    <a:pt x="5948" y="9784"/>
                    <a:pt x="6400" y="9784"/>
                  </a:cubicBezTo>
                  <a:cubicBezTo>
                    <a:pt x="6852" y="9784"/>
                    <a:pt x="7277" y="9697"/>
                    <a:pt x="7677" y="9523"/>
                  </a:cubicBezTo>
                  <a:cubicBezTo>
                    <a:pt x="8077" y="9349"/>
                    <a:pt x="8431" y="9119"/>
                    <a:pt x="8739" y="8831"/>
                  </a:cubicBezTo>
                  <a:cubicBezTo>
                    <a:pt x="9025" y="8524"/>
                    <a:pt x="9257" y="8169"/>
                    <a:pt x="9431" y="7770"/>
                  </a:cubicBezTo>
                  <a:cubicBezTo>
                    <a:pt x="9605" y="7370"/>
                    <a:pt x="9692" y="6944"/>
                    <a:pt x="9692" y="6492"/>
                  </a:cubicBezTo>
                  <a:cubicBezTo>
                    <a:pt x="9692" y="6042"/>
                    <a:pt x="9605" y="5615"/>
                    <a:pt x="9431" y="5215"/>
                  </a:cubicBezTo>
                  <a:cubicBezTo>
                    <a:pt x="9257" y="4814"/>
                    <a:pt x="9025" y="4462"/>
                    <a:pt x="8739" y="4154"/>
                  </a:cubicBezTo>
                  <a:cubicBezTo>
                    <a:pt x="8431" y="3867"/>
                    <a:pt x="8077" y="3636"/>
                    <a:pt x="7677" y="3461"/>
                  </a:cubicBezTo>
                  <a:cubicBezTo>
                    <a:pt x="7277" y="3288"/>
                    <a:pt x="6852" y="3200"/>
                    <a:pt x="6400" y="3200"/>
                  </a:cubicBezTo>
                  <a:close/>
                </a:path>
              </a:pathLst>
            </a:custGeom>
            <a:solidFill>
              <a:schemeClr val="accent1"/>
            </a:solidFill>
            <a:ln>
              <a:solidFill>
                <a:srgbClr val="0052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cs typeface="+mn-ea"/>
                <a:sym typeface="+mn-lt"/>
              </a:endParaRPr>
            </a:p>
          </p:txBody>
        </p:sp>
        <p:sp>
          <p:nvSpPr>
            <p:cNvPr id="1029" name="文本框 1028">
              <a:extLst>
                <a:ext uri="{FF2B5EF4-FFF2-40B4-BE49-F238E27FC236}">
                  <a16:creationId xmlns:a16="http://schemas.microsoft.com/office/drawing/2014/main" id="{75D40222-E86A-AF05-53F7-23934033CE7A}"/>
                </a:ext>
              </a:extLst>
            </p:cNvPr>
            <p:cNvSpPr txBox="1"/>
            <p:nvPr/>
          </p:nvSpPr>
          <p:spPr>
            <a:xfrm>
              <a:off x="2302741" y="5739578"/>
              <a:ext cx="754380" cy="307777"/>
            </a:xfrm>
            <a:prstGeom prst="rect">
              <a:avLst/>
            </a:prstGeom>
            <a:noFill/>
          </p:spPr>
          <p:txBody>
            <a:bodyPr wrap="square" rtlCol="0">
              <a:spAutoFit/>
            </a:bodyPr>
            <a:lstStyle/>
            <a:p>
              <a:pPr algn="ctr"/>
              <a:r>
                <a:rPr lang="en-US" altLang="zh-CN" sz="1400" dirty="0">
                  <a:cs typeface="+mn-ea"/>
                  <a:sym typeface="+mn-lt"/>
                </a:rPr>
                <a:t>2021</a:t>
              </a:r>
              <a:endParaRPr lang="zh-CN" altLang="en-US" sz="1400" dirty="0">
                <a:cs typeface="+mn-ea"/>
                <a:sym typeface="+mn-lt"/>
              </a:endParaRPr>
            </a:p>
          </p:txBody>
        </p:sp>
      </p:grpSp>
      <p:grpSp>
        <p:nvGrpSpPr>
          <p:cNvPr id="1061" name="组合 1060">
            <a:extLst>
              <a:ext uri="{FF2B5EF4-FFF2-40B4-BE49-F238E27FC236}">
                <a16:creationId xmlns:a16="http://schemas.microsoft.com/office/drawing/2014/main" id="{6E9B963C-0085-6B82-A034-F954D71BF01E}"/>
              </a:ext>
            </a:extLst>
          </p:cNvPr>
          <p:cNvGrpSpPr/>
          <p:nvPr/>
        </p:nvGrpSpPr>
        <p:grpSpPr>
          <a:xfrm>
            <a:off x="2921849" y="4354834"/>
            <a:ext cx="885326" cy="430416"/>
            <a:chOff x="1946450" y="4289861"/>
            <a:chExt cx="885326" cy="430416"/>
          </a:xfrm>
        </p:grpSpPr>
        <p:pic>
          <p:nvPicPr>
            <p:cNvPr id="1049" name="图像" descr="图像">
              <a:extLst>
                <a:ext uri="{FF2B5EF4-FFF2-40B4-BE49-F238E27FC236}">
                  <a16:creationId xmlns:a16="http://schemas.microsoft.com/office/drawing/2014/main" id="{7AF4D924-6A75-3F6D-4627-C84130164174}"/>
                </a:ext>
              </a:extLst>
            </p:cNvPr>
            <p:cNvPicPr>
              <a:picLocks noChangeAspect="1"/>
            </p:cNvPicPr>
            <p:nvPr/>
          </p:nvPicPr>
          <p:blipFill>
            <a:blip r:embed="rId6"/>
            <a:stretch>
              <a:fillRect/>
            </a:stretch>
          </p:blipFill>
          <p:spPr>
            <a:xfrm>
              <a:off x="2050289" y="4336130"/>
              <a:ext cx="306120" cy="147594"/>
            </a:xfrm>
            <a:prstGeom prst="rect">
              <a:avLst/>
            </a:prstGeom>
            <a:ln w="12700">
              <a:miter lim="400000"/>
            </a:ln>
          </p:spPr>
        </p:pic>
        <p:sp>
          <p:nvSpPr>
            <p:cNvPr id="1058" name="文本框 1057">
              <a:extLst>
                <a:ext uri="{FF2B5EF4-FFF2-40B4-BE49-F238E27FC236}">
                  <a16:creationId xmlns:a16="http://schemas.microsoft.com/office/drawing/2014/main" id="{E3BA46B7-301B-16B7-39BA-CAF291B19DE5}"/>
                </a:ext>
              </a:extLst>
            </p:cNvPr>
            <p:cNvSpPr txBox="1"/>
            <p:nvPr/>
          </p:nvSpPr>
          <p:spPr>
            <a:xfrm>
              <a:off x="1946450" y="4458667"/>
              <a:ext cx="867321" cy="261610"/>
            </a:xfrm>
            <a:prstGeom prst="rect">
              <a:avLst/>
            </a:prstGeom>
            <a:noFill/>
          </p:spPr>
          <p:txBody>
            <a:bodyPr wrap="square" rtlCol="0">
              <a:spAutoFit/>
            </a:bodyPr>
            <a:lstStyle/>
            <a:p>
              <a:pPr algn="ctr"/>
              <a:r>
                <a:rPr lang="zh-CN" altLang="en-US" sz="1050" dirty="0">
                  <a:cs typeface="+mn-ea"/>
                  <a:sym typeface="+mn-lt"/>
                </a:rPr>
                <a:t>方案发布</a:t>
              </a:r>
            </a:p>
          </p:txBody>
        </p:sp>
        <p:sp>
          <p:nvSpPr>
            <p:cNvPr id="1060" name="文本框 1059">
              <a:extLst>
                <a:ext uri="{FF2B5EF4-FFF2-40B4-BE49-F238E27FC236}">
                  <a16:creationId xmlns:a16="http://schemas.microsoft.com/office/drawing/2014/main" id="{3F4E0275-E15B-E18B-CFFB-6ED4DB288D4E}"/>
                </a:ext>
              </a:extLst>
            </p:cNvPr>
            <p:cNvSpPr txBox="1"/>
            <p:nvPr/>
          </p:nvSpPr>
          <p:spPr>
            <a:xfrm>
              <a:off x="2277248" y="4289861"/>
              <a:ext cx="554528" cy="276999"/>
            </a:xfrm>
            <a:prstGeom prst="rect">
              <a:avLst/>
            </a:prstGeom>
            <a:noFill/>
          </p:spPr>
          <p:txBody>
            <a:bodyPr wrap="square">
              <a:spAutoFit/>
            </a:bodyPr>
            <a:lstStyle/>
            <a:p>
              <a:pPr algn="r"/>
              <a:r>
                <a:rPr lang="en-US" altLang="zh-CN" sz="1200" b="1" dirty="0">
                  <a:solidFill>
                    <a:schemeClr val="accent6">
                      <a:lumMod val="10000"/>
                    </a:schemeClr>
                  </a:solidFill>
                  <a:cs typeface="+mn-ea"/>
                  <a:sym typeface="+mn-lt"/>
                </a:rPr>
                <a:t>TH4</a:t>
              </a:r>
            </a:p>
          </p:txBody>
        </p:sp>
      </p:grpSp>
      <p:grpSp>
        <p:nvGrpSpPr>
          <p:cNvPr id="1033" name="组合 1032">
            <a:extLst>
              <a:ext uri="{FF2B5EF4-FFF2-40B4-BE49-F238E27FC236}">
                <a16:creationId xmlns:a16="http://schemas.microsoft.com/office/drawing/2014/main" id="{98BB9851-94C4-A458-B69A-395D12803CD8}"/>
              </a:ext>
            </a:extLst>
          </p:cNvPr>
          <p:cNvGrpSpPr/>
          <p:nvPr/>
        </p:nvGrpSpPr>
        <p:grpSpPr>
          <a:xfrm>
            <a:off x="6223825" y="5691528"/>
            <a:ext cx="754380" cy="549547"/>
            <a:chOff x="2302741" y="5497808"/>
            <a:chExt cx="754380" cy="549547"/>
          </a:xfrm>
        </p:grpSpPr>
        <p:sp>
          <p:nvSpPr>
            <p:cNvPr id="1034" name="iconfont-1018-792472">
              <a:extLst>
                <a:ext uri="{FF2B5EF4-FFF2-40B4-BE49-F238E27FC236}">
                  <a16:creationId xmlns:a16="http://schemas.microsoft.com/office/drawing/2014/main" id="{72BB9B27-9D6A-BFA8-D830-B57600B6C4E1}"/>
                </a:ext>
              </a:extLst>
            </p:cNvPr>
            <p:cNvSpPr/>
            <p:nvPr/>
          </p:nvSpPr>
          <p:spPr>
            <a:xfrm>
              <a:off x="2573461" y="5497808"/>
              <a:ext cx="205783" cy="205783"/>
            </a:xfrm>
            <a:custGeom>
              <a:avLst/>
              <a:gdLst>
                <a:gd name="T0" fmla="*/ 1876 w 12800"/>
                <a:gd name="T1" fmla="*/ 1876 h 12800"/>
                <a:gd name="T2" fmla="*/ 6400 w 12800"/>
                <a:gd name="T3" fmla="*/ 0 h 12800"/>
                <a:gd name="T4" fmla="*/ 10924 w 12800"/>
                <a:gd name="T5" fmla="*/ 1876 h 12800"/>
                <a:gd name="T6" fmla="*/ 12800 w 12800"/>
                <a:gd name="T7" fmla="*/ 6400 h 12800"/>
                <a:gd name="T8" fmla="*/ 10924 w 12800"/>
                <a:gd name="T9" fmla="*/ 10924 h 12800"/>
                <a:gd name="T10" fmla="*/ 6400 w 12800"/>
                <a:gd name="T11" fmla="*/ 12800 h 12800"/>
                <a:gd name="T12" fmla="*/ 1876 w 12800"/>
                <a:gd name="T13" fmla="*/ 10924 h 12800"/>
                <a:gd name="T14" fmla="*/ 0 w 12800"/>
                <a:gd name="T15" fmla="*/ 6400 h 12800"/>
                <a:gd name="T16" fmla="*/ 1876 w 12800"/>
                <a:gd name="T17" fmla="*/ 1876 h 12800"/>
                <a:gd name="T18" fmla="*/ 6400 w 12800"/>
                <a:gd name="T19" fmla="*/ 524 h 12800"/>
                <a:gd name="T20" fmla="*/ 3446 w 12800"/>
                <a:gd name="T21" fmla="*/ 1308 h 12800"/>
                <a:gd name="T22" fmla="*/ 1308 w 12800"/>
                <a:gd name="T23" fmla="*/ 3446 h 12800"/>
                <a:gd name="T24" fmla="*/ 524 w 12800"/>
                <a:gd name="T25" fmla="*/ 6400 h 12800"/>
                <a:gd name="T26" fmla="*/ 2246 w 12800"/>
                <a:gd name="T27" fmla="*/ 10554 h 12800"/>
                <a:gd name="T28" fmla="*/ 6400 w 12800"/>
                <a:gd name="T29" fmla="*/ 12276 h 12800"/>
                <a:gd name="T30" fmla="*/ 10554 w 12800"/>
                <a:gd name="T31" fmla="*/ 10554 h 12800"/>
                <a:gd name="T32" fmla="*/ 12276 w 12800"/>
                <a:gd name="T33" fmla="*/ 6400 h 12800"/>
                <a:gd name="T34" fmla="*/ 10554 w 12800"/>
                <a:gd name="T35" fmla="*/ 2246 h 12800"/>
                <a:gd name="T36" fmla="*/ 6400 w 12800"/>
                <a:gd name="T37" fmla="*/ 524 h 12800"/>
                <a:gd name="T38" fmla="*/ 6400 w 12800"/>
                <a:gd name="T39" fmla="*/ 3200 h 12800"/>
                <a:gd name="T40" fmla="*/ 5123 w 12800"/>
                <a:gd name="T41" fmla="*/ 3461 h 12800"/>
                <a:gd name="T42" fmla="*/ 4061 w 12800"/>
                <a:gd name="T43" fmla="*/ 4154 h 12800"/>
                <a:gd name="T44" fmla="*/ 3369 w 12800"/>
                <a:gd name="T45" fmla="*/ 5215 h 12800"/>
                <a:gd name="T46" fmla="*/ 3108 w 12800"/>
                <a:gd name="T47" fmla="*/ 6492 h 12800"/>
                <a:gd name="T48" fmla="*/ 3369 w 12800"/>
                <a:gd name="T49" fmla="*/ 7770 h 12800"/>
                <a:gd name="T50" fmla="*/ 4061 w 12800"/>
                <a:gd name="T51" fmla="*/ 8831 h 12800"/>
                <a:gd name="T52" fmla="*/ 5123 w 12800"/>
                <a:gd name="T53" fmla="*/ 9523 h 12800"/>
                <a:gd name="T54" fmla="*/ 6400 w 12800"/>
                <a:gd name="T55" fmla="*/ 9784 h 12800"/>
                <a:gd name="T56" fmla="*/ 7677 w 12800"/>
                <a:gd name="T57" fmla="*/ 9523 h 12800"/>
                <a:gd name="T58" fmla="*/ 8739 w 12800"/>
                <a:gd name="T59" fmla="*/ 8831 h 12800"/>
                <a:gd name="T60" fmla="*/ 9431 w 12800"/>
                <a:gd name="T61" fmla="*/ 7770 h 12800"/>
                <a:gd name="T62" fmla="*/ 9692 w 12800"/>
                <a:gd name="T63" fmla="*/ 6492 h 12800"/>
                <a:gd name="T64" fmla="*/ 9431 w 12800"/>
                <a:gd name="T65" fmla="*/ 5215 h 12800"/>
                <a:gd name="T66" fmla="*/ 8739 w 12800"/>
                <a:gd name="T67" fmla="*/ 4154 h 12800"/>
                <a:gd name="T68" fmla="*/ 7677 w 12800"/>
                <a:gd name="T69" fmla="*/ 3461 h 12800"/>
                <a:gd name="T70" fmla="*/ 6400 w 12800"/>
                <a:gd name="T71" fmla="*/ 32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2800">
                  <a:moveTo>
                    <a:pt x="1876" y="1876"/>
                  </a:moveTo>
                  <a:cubicBezTo>
                    <a:pt x="3128" y="626"/>
                    <a:pt x="4636" y="0"/>
                    <a:pt x="6400" y="0"/>
                  </a:cubicBezTo>
                  <a:cubicBezTo>
                    <a:pt x="8164" y="0"/>
                    <a:pt x="9672" y="626"/>
                    <a:pt x="10924" y="1876"/>
                  </a:cubicBezTo>
                  <a:cubicBezTo>
                    <a:pt x="12174" y="3128"/>
                    <a:pt x="12800" y="4636"/>
                    <a:pt x="12800" y="6400"/>
                  </a:cubicBezTo>
                  <a:cubicBezTo>
                    <a:pt x="12800" y="8165"/>
                    <a:pt x="12174" y="9673"/>
                    <a:pt x="10924" y="10924"/>
                  </a:cubicBezTo>
                  <a:cubicBezTo>
                    <a:pt x="9672" y="12174"/>
                    <a:pt x="8164" y="12800"/>
                    <a:pt x="6400" y="12800"/>
                  </a:cubicBezTo>
                  <a:cubicBezTo>
                    <a:pt x="4636" y="12800"/>
                    <a:pt x="3128" y="12174"/>
                    <a:pt x="1876" y="10924"/>
                  </a:cubicBezTo>
                  <a:cubicBezTo>
                    <a:pt x="626" y="9673"/>
                    <a:pt x="0" y="8165"/>
                    <a:pt x="0" y="6400"/>
                  </a:cubicBezTo>
                  <a:cubicBezTo>
                    <a:pt x="0" y="4636"/>
                    <a:pt x="626" y="3128"/>
                    <a:pt x="1876" y="1876"/>
                  </a:cubicBezTo>
                  <a:close/>
                  <a:moveTo>
                    <a:pt x="6400" y="524"/>
                  </a:moveTo>
                  <a:cubicBezTo>
                    <a:pt x="5334" y="524"/>
                    <a:pt x="4348" y="785"/>
                    <a:pt x="3446" y="1308"/>
                  </a:cubicBezTo>
                  <a:cubicBezTo>
                    <a:pt x="2543" y="1830"/>
                    <a:pt x="1830" y="2543"/>
                    <a:pt x="1308" y="3446"/>
                  </a:cubicBezTo>
                  <a:cubicBezTo>
                    <a:pt x="785" y="4349"/>
                    <a:pt x="524" y="5334"/>
                    <a:pt x="524" y="6400"/>
                  </a:cubicBezTo>
                  <a:cubicBezTo>
                    <a:pt x="524" y="8020"/>
                    <a:pt x="1098" y="9405"/>
                    <a:pt x="2246" y="10554"/>
                  </a:cubicBezTo>
                  <a:cubicBezTo>
                    <a:pt x="3395" y="11703"/>
                    <a:pt x="4780" y="12276"/>
                    <a:pt x="6400" y="12276"/>
                  </a:cubicBezTo>
                  <a:cubicBezTo>
                    <a:pt x="8020" y="12276"/>
                    <a:pt x="9405" y="11703"/>
                    <a:pt x="10554" y="10554"/>
                  </a:cubicBezTo>
                  <a:cubicBezTo>
                    <a:pt x="11703" y="9405"/>
                    <a:pt x="12276" y="8020"/>
                    <a:pt x="12276" y="6400"/>
                  </a:cubicBezTo>
                  <a:cubicBezTo>
                    <a:pt x="12276" y="4780"/>
                    <a:pt x="11702" y="3396"/>
                    <a:pt x="10554" y="2246"/>
                  </a:cubicBezTo>
                  <a:cubicBezTo>
                    <a:pt x="9405" y="1097"/>
                    <a:pt x="8020" y="524"/>
                    <a:pt x="6400" y="524"/>
                  </a:cubicBezTo>
                  <a:close/>
                  <a:moveTo>
                    <a:pt x="6400" y="3200"/>
                  </a:moveTo>
                  <a:cubicBezTo>
                    <a:pt x="5948" y="3200"/>
                    <a:pt x="5523" y="3288"/>
                    <a:pt x="5123" y="3461"/>
                  </a:cubicBezTo>
                  <a:cubicBezTo>
                    <a:pt x="4723" y="3636"/>
                    <a:pt x="4369" y="3867"/>
                    <a:pt x="4061" y="4154"/>
                  </a:cubicBezTo>
                  <a:cubicBezTo>
                    <a:pt x="3775" y="4461"/>
                    <a:pt x="3543" y="4815"/>
                    <a:pt x="3369" y="5215"/>
                  </a:cubicBezTo>
                  <a:cubicBezTo>
                    <a:pt x="3195" y="5614"/>
                    <a:pt x="3108" y="6042"/>
                    <a:pt x="3108" y="6492"/>
                  </a:cubicBezTo>
                  <a:cubicBezTo>
                    <a:pt x="3108" y="6944"/>
                    <a:pt x="3195" y="7369"/>
                    <a:pt x="3369" y="7770"/>
                  </a:cubicBezTo>
                  <a:cubicBezTo>
                    <a:pt x="3543" y="8170"/>
                    <a:pt x="3775" y="8524"/>
                    <a:pt x="4061" y="8831"/>
                  </a:cubicBezTo>
                  <a:cubicBezTo>
                    <a:pt x="4369" y="9119"/>
                    <a:pt x="4723" y="9349"/>
                    <a:pt x="5123" y="9523"/>
                  </a:cubicBezTo>
                  <a:cubicBezTo>
                    <a:pt x="5523" y="9697"/>
                    <a:pt x="5948" y="9784"/>
                    <a:pt x="6400" y="9784"/>
                  </a:cubicBezTo>
                  <a:cubicBezTo>
                    <a:pt x="6852" y="9784"/>
                    <a:pt x="7277" y="9697"/>
                    <a:pt x="7677" y="9523"/>
                  </a:cubicBezTo>
                  <a:cubicBezTo>
                    <a:pt x="8077" y="9349"/>
                    <a:pt x="8431" y="9119"/>
                    <a:pt x="8739" y="8831"/>
                  </a:cubicBezTo>
                  <a:cubicBezTo>
                    <a:pt x="9025" y="8524"/>
                    <a:pt x="9257" y="8169"/>
                    <a:pt x="9431" y="7770"/>
                  </a:cubicBezTo>
                  <a:cubicBezTo>
                    <a:pt x="9605" y="7370"/>
                    <a:pt x="9692" y="6944"/>
                    <a:pt x="9692" y="6492"/>
                  </a:cubicBezTo>
                  <a:cubicBezTo>
                    <a:pt x="9692" y="6042"/>
                    <a:pt x="9605" y="5615"/>
                    <a:pt x="9431" y="5215"/>
                  </a:cubicBezTo>
                  <a:cubicBezTo>
                    <a:pt x="9257" y="4814"/>
                    <a:pt x="9025" y="4462"/>
                    <a:pt x="8739" y="4154"/>
                  </a:cubicBezTo>
                  <a:cubicBezTo>
                    <a:pt x="8431" y="3867"/>
                    <a:pt x="8077" y="3636"/>
                    <a:pt x="7677" y="3461"/>
                  </a:cubicBezTo>
                  <a:cubicBezTo>
                    <a:pt x="7277" y="3288"/>
                    <a:pt x="6852" y="3200"/>
                    <a:pt x="6400" y="3200"/>
                  </a:cubicBezTo>
                  <a:close/>
                </a:path>
              </a:pathLst>
            </a:custGeom>
            <a:solidFill>
              <a:schemeClr val="accent1"/>
            </a:solidFill>
            <a:ln>
              <a:solidFill>
                <a:srgbClr val="0052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cs typeface="+mn-ea"/>
                <a:sym typeface="+mn-lt"/>
              </a:endParaRPr>
            </a:p>
          </p:txBody>
        </p:sp>
        <p:sp>
          <p:nvSpPr>
            <p:cNvPr id="1035" name="文本框 1034">
              <a:extLst>
                <a:ext uri="{FF2B5EF4-FFF2-40B4-BE49-F238E27FC236}">
                  <a16:creationId xmlns:a16="http://schemas.microsoft.com/office/drawing/2014/main" id="{23286744-0EF7-17DC-E3E3-6759EA76B905}"/>
                </a:ext>
              </a:extLst>
            </p:cNvPr>
            <p:cNvSpPr txBox="1"/>
            <p:nvPr/>
          </p:nvSpPr>
          <p:spPr>
            <a:xfrm>
              <a:off x="2302741" y="5739578"/>
              <a:ext cx="754380" cy="307777"/>
            </a:xfrm>
            <a:prstGeom prst="rect">
              <a:avLst/>
            </a:prstGeom>
            <a:noFill/>
          </p:spPr>
          <p:txBody>
            <a:bodyPr wrap="square" rtlCol="0">
              <a:spAutoFit/>
            </a:bodyPr>
            <a:lstStyle/>
            <a:p>
              <a:pPr algn="ctr"/>
              <a:r>
                <a:rPr lang="en-US" altLang="zh-CN" sz="1400" dirty="0">
                  <a:cs typeface="+mn-ea"/>
                  <a:sym typeface="+mn-lt"/>
                </a:rPr>
                <a:t>2023</a:t>
              </a:r>
              <a:endParaRPr lang="zh-CN" altLang="en-US" sz="1400" dirty="0">
                <a:cs typeface="+mn-ea"/>
                <a:sym typeface="+mn-lt"/>
              </a:endParaRPr>
            </a:p>
          </p:txBody>
        </p:sp>
      </p:grpSp>
      <p:grpSp>
        <p:nvGrpSpPr>
          <p:cNvPr id="1066" name="组合 1065">
            <a:extLst>
              <a:ext uri="{FF2B5EF4-FFF2-40B4-BE49-F238E27FC236}">
                <a16:creationId xmlns:a16="http://schemas.microsoft.com/office/drawing/2014/main" id="{73BC98C6-518F-6801-762D-326AC7DDB754}"/>
              </a:ext>
            </a:extLst>
          </p:cNvPr>
          <p:cNvGrpSpPr/>
          <p:nvPr/>
        </p:nvGrpSpPr>
        <p:grpSpPr>
          <a:xfrm>
            <a:off x="6050643" y="3554943"/>
            <a:ext cx="1088697" cy="433036"/>
            <a:chOff x="1854080" y="4289861"/>
            <a:chExt cx="1088697" cy="433036"/>
          </a:xfrm>
        </p:grpSpPr>
        <p:pic>
          <p:nvPicPr>
            <p:cNvPr id="1067" name="图像" descr="图像">
              <a:extLst>
                <a:ext uri="{FF2B5EF4-FFF2-40B4-BE49-F238E27FC236}">
                  <a16:creationId xmlns:a16="http://schemas.microsoft.com/office/drawing/2014/main" id="{C61455A4-C0B8-0935-FFFC-5DD3D66C852B}"/>
                </a:ext>
              </a:extLst>
            </p:cNvPr>
            <p:cNvPicPr>
              <a:picLocks noChangeAspect="1"/>
            </p:cNvPicPr>
            <p:nvPr/>
          </p:nvPicPr>
          <p:blipFill>
            <a:blip r:embed="rId6"/>
            <a:stretch>
              <a:fillRect/>
            </a:stretch>
          </p:blipFill>
          <p:spPr>
            <a:xfrm>
              <a:off x="2050289" y="4336130"/>
              <a:ext cx="306120" cy="147594"/>
            </a:xfrm>
            <a:prstGeom prst="rect">
              <a:avLst/>
            </a:prstGeom>
            <a:ln w="12700">
              <a:miter lim="400000"/>
            </a:ln>
          </p:spPr>
        </p:pic>
        <p:sp>
          <p:nvSpPr>
            <p:cNvPr id="1068" name="文本框 1067">
              <a:extLst>
                <a:ext uri="{FF2B5EF4-FFF2-40B4-BE49-F238E27FC236}">
                  <a16:creationId xmlns:a16="http://schemas.microsoft.com/office/drawing/2014/main" id="{72796B5A-F4DF-46A5-C791-2794CB792757}"/>
                </a:ext>
              </a:extLst>
            </p:cNvPr>
            <p:cNvSpPr txBox="1"/>
            <p:nvPr/>
          </p:nvSpPr>
          <p:spPr>
            <a:xfrm>
              <a:off x="1854080" y="4461287"/>
              <a:ext cx="1088697" cy="261610"/>
            </a:xfrm>
            <a:prstGeom prst="rect">
              <a:avLst/>
            </a:prstGeom>
            <a:noFill/>
          </p:spPr>
          <p:txBody>
            <a:bodyPr wrap="square" rtlCol="0">
              <a:spAutoFit/>
            </a:bodyPr>
            <a:lstStyle/>
            <a:p>
              <a:pPr algn="ctr"/>
              <a:r>
                <a:rPr lang="en-US" altLang="zh-CN" sz="1050" dirty="0">
                  <a:cs typeface="+mn-ea"/>
                  <a:sym typeface="+mn-lt"/>
                </a:rPr>
                <a:t>Demo</a:t>
              </a:r>
              <a:endParaRPr lang="zh-CN" altLang="en-US" sz="1050" dirty="0">
                <a:cs typeface="+mn-ea"/>
                <a:sym typeface="+mn-lt"/>
              </a:endParaRPr>
            </a:p>
          </p:txBody>
        </p:sp>
        <p:sp>
          <p:nvSpPr>
            <p:cNvPr id="1069" name="文本框 1068">
              <a:extLst>
                <a:ext uri="{FF2B5EF4-FFF2-40B4-BE49-F238E27FC236}">
                  <a16:creationId xmlns:a16="http://schemas.microsoft.com/office/drawing/2014/main" id="{DD5B1B47-7BBA-93F3-A3FD-4A22FA9F9F17}"/>
                </a:ext>
              </a:extLst>
            </p:cNvPr>
            <p:cNvSpPr txBox="1"/>
            <p:nvPr/>
          </p:nvSpPr>
          <p:spPr>
            <a:xfrm>
              <a:off x="2277248" y="4289861"/>
              <a:ext cx="554528" cy="276999"/>
            </a:xfrm>
            <a:prstGeom prst="rect">
              <a:avLst/>
            </a:prstGeom>
            <a:noFill/>
          </p:spPr>
          <p:txBody>
            <a:bodyPr wrap="square">
              <a:spAutoFit/>
            </a:bodyPr>
            <a:lstStyle/>
            <a:p>
              <a:pPr algn="r"/>
              <a:r>
                <a:rPr lang="en-US" altLang="zh-CN" sz="1200" b="1" dirty="0">
                  <a:solidFill>
                    <a:schemeClr val="accent6">
                      <a:lumMod val="10000"/>
                    </a:schemeClr>
                  </a:solidFill>
                  <a:cs typeface="+mn-ea"/>
                  <a:sym typeface="+mn-lt"/>
                </a:rPr>
                <a:t>TH5</a:t>
              </a:r>
            </a:p>
          </p:txBody>
        </p:sp>
      </p:grpSp>
      <p:grpSp>
        <p:nvGrpSpPr>
          <p:cNvPr id="124" name="组合 123">
            <a:extLst>
              <a:ext uri="{FF2B5EF4-FFF2-40B4-BE49-F238E27FC236}">
                <a16:creationId xmlns:a16="http://schemas.microsoft.com/office/drawing/2014/main" id="{D3C0140A-BFB7-5CB5-591C-1D43983BCB59}"/>
              </a:ext>
            </a:extLst>
          </p:cNvPr>
          <p:cNvGrpSpPr/>
          <p:nvPr/>
        </p:nvGrpSpPr>
        <p:grpSpPr>
          <a:xfrm>
            <a:off x="1524782" y="5691528"/>
            <a:ext cx="754380" cy="549547"/>
            <a:chOff x="2302741" y="5497808"/>
            <a:chExt cx="754380" cy="549547"/>
          </a:xfrm>
        </p:grpSpPr>
        <p:sp>
          <p:nvSpPr>
            <p:cNvPr id="125" name="iconfont-1018-792472">
              <a:extLst>
                <a:ext uri="{FF2B5EF4-FFF2-40B4-BE49-F238E27FC236}">
                  <a16:creationId xmlns:a16="http://schemas.microsoft.com/office/drawing/2014/main" id="{2713C143-9FCD-8037-8466-015AAA9AF72E}"/>
                </a:ext>
              </a:extLst>
            </p:cNvPr>
            <p:cNvSpPr/>
            <p:nvPr/>
          </p:nvSpPr>
          <p:spPr>
            <a:xfrm>
              <a:off x="2573461" y="5497808"/>
              <a:ext cx="205783" cy="205783"/>
            </a:xfrm>
            <a:custGeom>
              <a:avLst/>
              <a:gdLst>
                <a:gd name="T0" fmla="*/ 1876 w 12800"/>
                <a:gd name="T1" fmla="*/ 1876 h 12800"/>
                <a:gd name="T2" fmla="*/ 6400 w 12800"/>
                <a:gd name="T3" fmla="*/ 0 h 12800"/>
                <a:gd name="T4" fmla="*/ 10924 w 12800"/>
                <a:gd name="T5" fmla="*/ 1876 h 12800"/>
                <a:gd name="T6" fmla="*/ 12800 w 12800"/>
                <a:gd name="T7" fmla="*/ 6400 h 12800"/>
                <a:gd name="T8" fmla="*/ 10924 w 12800"/>
                <a:gd name="T9" fmla="*/ 10924 h 12800"/>
                <a:gd name="T10" fmla="*/ 6400 w 12800"/>
                <a:gd name="T11" fmla="*/ 12800 h 12800"/>
                <a:gd name="T12" fmla="*/ 1876 w 12800"/>
                <a:gd name="T13" fmla="*/ 10924 h 12800"/>
                <a:gd name="T14" fmla="*/ 0 w 12800"/>
                <a:gd name="T15" fmla="*/ 6400 h 12800"/>
                <a:gd name="T16" fmla="*/ 1876 w 12800"/>
                <a:gd name="T17" fmla="*/ 1876 h 12800"/>
                <a:gd name="T18" fmla="*/ 6400 w 12800"/>
                <a:gd name="T19" fmla="*/ 524 h 12800"/>
                <a:gd name="T20" fmla="*/ 3446 w 12800"/>
                <a:gd name="T21" fmla="*/ 1308 h 12800"/>
                <a:gd name="T22" fmla="*/ 1308 w 12800"/>
                <a:gd name="T23" fmla="*/ 3446 h 12800"/>
                <a:gd name="T24" fmla="*/ 524 w 12800"/>
                <a:gd name="T25" fmla="*/ 6400 h 12800"/>
                <a:gd name="T26" fmla="*/ 2246 w 12800"/>
                <a:gd name="T27" fmla="*/ 10554 h 12800"/>
                <a:gd name="T28" fmla="*/ 6400 w 12800"/>
                <a:gd name="T29" fmla="*/ 12276 h 12800"/>
                <a:gd name="T30" fmla="*/ 10554 w 12800"/>
                <a:gd name="T31" fmla="*/ 10554 h 12800"/>
                <a:gd name="T32" fmla="*/ 12276 w 12800"/>
                <a:gd name="T33" fmla="*/ 6400 h 12800"/>
                <a:gd name="T34" fmla="*/ 10554 w 12800"/>
                <a:gd name="T35" fmla="*/ 2246 h 12800"/>
                <a:gd name="T36" fmla="*/ 6400 w 12800"/>
                <a:gd name="T37" fmla="*/ 524 h 12800"/>
                <a:gd name="T38" fmla="*/ 6400 w 12800"/>
                <a:gd name="T39" fmla="*/ 3200 h 12800"/>
                <a:gd name="T40" fmla="*/ 5123 w 12800"/>
                <a:gd name="T41" fmla="*/ 3461 h 12800"/>
                <a:gd name="T42" fmla="*/ 4061 w 12800"/>
                <a:gd name="T43" fmla="*/ 4154 h 12800"/>
                <a:gd name="T44" fmla="*/ 3369 w 12800"/>
                <a:gd name="T45" fmla="*/ 5215 h 12800"/>
                <a:gd name="T46" fmla="*/ 3108 w 12800"/>
                <a:gd name="T47" fmla="*/ 6492 h 12800"/>
                <a:gd name="T48" fmla="*/ 3369 w 12800"/>
                <a:gd name="T49" fmla="*/ 7770 h 12800"/>
                <a:gd name="T50" fmla="*/ 4061 w 12800"/>
                <a:gd name="T51" fmla="*/ 8831 h 12800"/>
                <a:gd name="T52" fmla="*/ 5123 w 12800"/>
                <a:gd name="T53" fmla="*/ 9523 h 12800"/>
                <a:gd name="T54" fmla="*/ 6400 w 12800"/>
                <a:gd name="T55" fmla="*/ 9784 h 12800"/>
                <a:gd name="T56" fmla="*/ 7677 w 12800"/>
                <a:gd name="T57" fmla="*/ 9523 h 12800"/>
                <a:gd name="T58" fmla="*/ 8739 w 12800"/>
                <a:gd name="T59" fmla="*/ 8831 h 12800"/>
                <a:gd name="T60" fmla="*/ 9431 w 12800"/>
                <a:gd name="T61" fmla="*/ 7770 h 12800"/>
                <a:gd name="T62" fmla="*/ 9692 w 12800"/>
                <a:gd name="T63" fmla="*/ 6492 h 12800"/>
                <a:gd name="T64" fmla="*/ 9431 w 12800"/>
                <a:gd name="T65" fmla="*/ 5215 h 12800"/>
                <a:gd name="T66" fmla="*/ 8739 w 12800"/>
                <a:gd name="T67" fmla="*/ 4154 h 12800"/>
                <a:gd name="T68" fmla="*/ 7677 w 12800"/>
                <a:gd name="T69" fmla="*/ 3461 h 12800"/>
                <a:gd name="T70" fmla="*/ 6400 w 12800"/>
                <a:gd name="T71" fmla="*/ 32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2800">
                  <a:moveTo>
                    <a:pt x="1876" y="1876"/>
                  </a:moveTo>
                  <a:cubicBezTo>
                    <a:pt x="3128" y="626"/>
                    <a:pt x="4636" y="0"/>
                    <a:pt x="6400" y="0"/>
                  </a:cubicBezTo>
                  <a:cubicBezTo>
                    <a:pt x="8164" y="0"/>
                    <a:pt x="9672" y="626"/>
                    <a:pt x="10924" y="1876"/>
                  </a:cubicBezTo>
                  <a:cubicBezTo>
                    <a:pt x="12174" y="3128"/>
                    <a:pt x="12800" y="4636"/>
                    <a:pt x="12800" y="6400"/>
                  </a:cubicBezTo>
                  <a:cubicBezTo>
                    <a:pt x="12800" y="8165"/>
                    <a:pt x="12174" y="9673"/>
                    <a:pt x="10924" y="10924"/>
                  </a:cubicBezTo>
                  <a:cubicBezTo>
                    <a:pt x="9672" y="12174"/>
                    <a:pt x="8164" y="12800"/>
                    <a:pt x="6400" y="12800"/>
                  </a:cubicBezTo>
                  <a:cubicBezTo>
                    <a:pt x="4636" y="12800"/>
                    <a:pt x="3128" y="12174"/>
                    <a:pt x="1876" y="10924"/>
                  </a:cubicBezTo>
                  <a:cubicBezTo>
                    <a:pt x="626" y="9673"/>
                    <a:pt x="0" y="8165"/>
                    <a:pt x="0" y="6400"/>
                  </a:cubicBezTo>
                  <a:cubicBezTo>
                    <a:pt x="0" y="4636"/>
                    <a:pt x="626" y="3128"/>
                    <a:pt x="1876" y="1876"/>
                  </a:cubicBezTo>
                  <a:close/>
                  <a:moveTo>
                    <a:pt x="6400" y="524"/>
                  </a:moveTo>
                  <a:cubicBezTo>
                    <a:pt x="5334" y="524"/>
                    <a:pt x="4348" y="785"/>
                    <a:pt x="3446" y="1308"/>
                  </a:cubicBezTo>
                  <a:cubicBezTo>
                    <a:pt x="2543" y="1830"/>
                    <a:pt x="1830" y="2543"/>
                    <a:pt x="1308" y="3446"/>
                  </a:cubicBezTo>
                  <a:cubicBezTo>
                    <a:pt x="785" y="4349"/>
                    <a:pt x="524" y="5334"/>
                    <a:pt x="524" y="6400"/>
                  </a:cubicBezTo>
                  <a:cubicBezTo>
                    <a:pt x="524" y="8020"/>
                    <a:pt x="1098" y="9405"/>
                    <a:pt x="2246" y="10554"/>
                  </a:cubicBezTo>
                  <a:cubicBezTo>
                    <a:pt x="3395" y="11703"/>
                    <a:pt x="4780" y="12276"/>
                    <a:pt x="6400" y="12276"/>
                  </a:cubicBezTo>
                  <a:cubicBezTo>
                    <a:pt x="8020" y="12276"/>
                    <a:pt x="9405" y="11703"/>
                    <a:pt x="10554" y="10554"/>
                  </a:cubicBezTo>
                  <a:cubicBezTo>
                    <a:pt x="11703" y="9405"/>
                    <a:pt x="12276" y="8020"/>
                    <a:pt x="12276" y="6400"/>
                  </a:cubicBezTo>
                  <a:cubicBezTo>
                    <a:pt x="12276" y="4780"/>
                    <a:pt x="11702" y="3396"/>
                    <a:pt x="10554" y="2246"/>
                  </a:cubicBezTo>
                  <a:cubicBezTo>
                    <a:pt x="9405" y="1097"/>
                    <a:pt x="8020" y="524"/>
                    <a:pt x="6400" y="524"/>
                  </a:cubicBezTo>
                  <a:close/>
                  <a:moveTo>
                    <a:pt x="6400" y="3200"/>
                  </a:moveTo>
                  <a:cubicBezTo>
                    <a:pt x="5948" y="3200"/>
                    <a:pt x="5523" y="3288"/>
                    <a:pt x="5123" y="3461"/>
                  </a:cubicBezTo>
                  <a:cubicBezTo>
                    <a:pt x="4723" y="3636"/>
                    <a:pt x="4369" y="3867"/>
                    <a:pt x="4061" y="4154"/>
                  </a:cubicBezTo>
                  <a:cubicBezTo>
                    <a:pt x="3775" y="4461"/>
                    <a:pt x="3543" y="4815"/>
                    <a:pt x="3369" y="5215"/>
                  </a:cubicBezTo>
                  <a:cubicBezTo>
                    <a:pt x="3195" y="5614"/>
                    <a:pt x="3108" y="6042"/>
                    <a:pt x="3108" y="6492"/>
                  </a:cubicBezTo>
                  <a:cubicBezTo>
                    <a:pt x="3108" y="6944"/>
                    <a:pt x="3195" y="7369"/>
                    <a:pt x="3369" y="7770"/>
                  </a:cubicBezTo>
                  <a:cubicBezTo>
                    <a:pt x="3543" y="8170"/>
                    <a:pt x="3775" y="8524"/>
                    <a:pt x="4061" y="8831"/>
                  </a:cubicBezTo>
                  <a:cubicBezTo>
                    <a:pt x="4369" y="9119"/>
                    <a:pt x="4723" y="9349"/>
                    <a:pt x="5123" y="9523"/>
                  </a:cubicBezTo>
                  <a:cubicBezTo>
                    <a:pt x="5523" y="9697"/>
                    <a:pt x="5948" y="9784"/>
                    <a:pt x="6400" y="9784"/>
                  </a:cubicBezTo>
                  <a:cubicBezTo>
                    <a:pt x="6852" y="9784"/>
                    <a:pt x="7277" y="9697"/>
                    <a:pt x="7677" y="9523"/>
                  </a:cubicBezTo>
                  <a:cubicBezTo>
                    <a:pt x="8077" y="9349"/>
                    <a:pt x="8431" y="9119"/>
                    <a:pt x="8739" y="8831"/>
                  </a:cubicBezTo>
                  <a:cubicBezTo>
                    <a:pt x="9025" y="8524"/>
                    <a:pt x="9257" y="8169"/>
                    <a:pt x="9431" y="7770"/>
                  </a:cubicBezTo>
                  <a:cubicBezTo>
                    <a:pt x="9605" y="7370"/>
                    <a:pt x="9692" y="6944"/>
                    <a:pt x="9692" y="6492"/>
                  </a:cubicBezTo>
                  <a:cubicBezTo>
                    <a:pt x="9692" y="6042"/>
                    <a:pt x="9605" y="5615"/>
                    <a:pt x="9431" y="5215"/>
                  </a:cubicBezTo>
                  <a:cubicBezTo>
                    <a:pt x="9257" y="4814"/>
                    <a:pt x="9025" y="4462"/>
                    <a:pt x="8739" y="4154"/>
                  </a:cubicBezTo>
                  <a:cubicBezTo>
                    <a:pt x="8431" y="3867"/>
                    <a:pt x="8077" y="3636"/>
                    <a:pt x="7677" y="3461"/>
                  </a:cubicBezTo>
                  <a:cubicBezTo>
                    <a:pt x="7277" y="3288"/>
                    <a:pt x="6852" y="3200"/>
                    <a:pt x="6400" y="3200"/>
                  </a:cubicBezTo>
                  <a:close/>
                </a:path>
              </a:pathLst>
            </a:custGeom>
            <a:solidFill>
              <a:schemeClr val="accent1"/>
            </a:solidFill>
            <a:ln>
              <a:solidFill>
                <a:srgbClr val="0052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cs typeface="+mn-ea"/>
                <a:sym typeface="+mn-lt"/>
              </a:endParaRPr>
            </a:p>
          </p:txBody>
        </p:sp>
        <p:sp>
          <p:nvSpPr>
            <p:cNvPr id="126" name="文本框 125">
              <a:extLst>
                <a:ext uri="{FF2B5EF4-FFF2-40B4-BE49-F238E27FC236}">
                  <a16:creationId xmlns:a16="http://schemas.microsoft.com/office/drawing/2014/main" id="{12818448-3ACC-1AA6-1E27-5691A0932808}"/>
                </a:ext>
              </a:extLst>
            </p:cNvPr>
            <p:cNvSpPr txBox="1"/>
            <p:nvPr/>
          </p:nvSpPr>
          <p:spPr>
            <a:xfrm>
              <a:off x="2302741" y="5739578"/>
              <a:ext cx="754380" cy="307777"/>
            </a:xfrm>
            <a:prstGeom prst="rect">
              <a:avLst/>
            </a:prstGeom>
            <a:noFill/>
          </p:spPr>
          <p:txBody>
            <a:bodyPr wrap="square" rtlCol="0">
              <a:spAutoFit/>
            </a:bodyPr>
            <a:lstStyle/>
            <a:p>
              <a:pPr algn="ctr"/>
              <a:r>
                <a:rPr lang="en-US" altLang="zh-CN" sz="1400" dirty="0">
                  <a:cs typeface="+mn-ea"/>
                  <a:sym typeface="+mn-lt"/>
                </a:rPr>
                <a:t>2020</a:t>
              </a:r>
              <a:endParaRPr lang="zh-CN" altLang="en-US" sz="1400" dirty="0">
                <a:cs typeface="+mn-ea"/>
                <a:sym typeface="+mn-lt"/>
              </a:endParaRPr>
            </a:p>
          </p:txBody>
        </p:sp>
      </p:grpSp>
      <p:grpSp>
        <p:nvGrpSpPr>
          <p:cNvPr id="1082" name="组合 1081">
            <a:extLst>
              <a:ext uri="{FF2B5EF4-FFF2-40B4-BE49-F238E27FC236}">
                <a16:creationId xmlns:a16="http://schemas.microsoft.com/office/drawing/2014/main" id="{7398A127-81D9-93B8-23A9-EA5EC5A48436}"/>
              </a:ext>
            </a:extLst>
          </p:cNvPr>
          <p:cNvGrpSpPr/>
          <p:nvPr/>
        </p:nvGrpSpPr>
        <p:grpSpPr>
          <a:xfrm>
            <a:off x="1434852" y="5166795"/>
            <a:ext cx="1028945" cy="439944"/>
            <a:chOff x="1658959" y="4966727"/>
            <a:chExt cx="1028945" cy="439944"/>
          </a:xfrm>
        </p:grpSpPr>
        <p:pic>
          <p:nvPicPr>
            <p:cNvPr id="1050" name="图片 1049">
              <a:extLst>
                <a:ext uri="{FF2B5EF4-FFF2-40B4-BE49-F238E27FC236}">
                  <a16:creationId xmlns:a16="http://schemas.microsoft.com/office/drawing/2014/main" id="{E0DDA59C-5705-417E-70E7-DDB256B437D9}"/>
                </a:ext>
              </a:extLst>
            </p:cNvPr>
            <p:cNvPicPr>
              <a:picLocks noChangeAspect="1"/>
            </p:cNvPicPr>
            <p:nvPr/>
          </p:nvPicPr>
          <p:blipFill>
            <a:blip r:embed="rId7"/>
            <a:stretch>
              <a:fillRect/>
            </a:stretch>
          </p:blipFill>
          <p:spPr>
            <a:xfrm>
              <a:off x="1739899" y="5027245"/>
              <a:ext cx="246630" cy="158302"/>
            </a:xfrm>
            <a:prstGeom prst="rect">
              <a:avLst/>
            </a:prstGeom>
          </p:spPr>
        </p:pic>
        <p:grpSp>
          <p:nvGrpSpPr>
            <p:cNvPr id="1078" name="组合 1077">
              <a:extLst>
                <a:ext uri="{FF2B5EF4-FFF2-40B4-BE49-F238E27FC236}">
                  <a16:creationId xmlns:a16="http://schemas.microsoft.com/office/drawing/2014/main" id="{EA6D8339-D84C-06DE-8624-47C705CC6B00}"/>
                </a:ext>
              </a:extLst>
            </p:cNvPr>
            <p:cNvGrpSpPr/>
            <p:nvPr/>
          </p:nvGrpSpPr>
          <p:grpSpPr>
            <a:xfrm>
              <a:off x="1658959" y="4966727"/>
              <a:ext cx="1028945" cy="439944"/>
              <a:chOff x="1992505" y="4285065"/>
              <a:chExt cx="1028945" cy="439944"/>
            </a:xfrm>
          </p:grpSpPr>
          <p:sp>
            <p:nvSpPr>
              <p:cNvPr id="1080" name="文本框 1079">
                <a:extLst>
                  <a:ext uri="{FF2B5EF4-FFF2-40B4-BE49-F238E27FC236}">
                    <a16:creationId xmlns:a16="http://schemas.microsoft.com/office/drawing/2014/main" id="{5621A35E-478A-7106-EFBB-5152625053B1}"/>
                  </a:ext>
                </a:extLst>
              </p:cNvPr>
              <p:cNvSpPr txBox="1"/>
              <p:nvPr/>
            </p:nvSpPr>
            <p:spPr>
              <a:xfrm>
                <a:off x="1992505" y="4471093"/>
                <a:ext cx="992180" cy="253916"/>
              </a:xfrm>
              <a:prstGeom prst="rect">
                <a:avLst/>
              </a:prstGeom>
              <a:noFill/>
            </p:spPr>
            <p:txBody>
              <a:bodyPr wrap="square" rtlCol="0">
                <a:spAutoFit/>
              </a:bodyPr>
              <a:lstStyle/>
              <a:p>
                <a:pPr algn="ctr"/>
                <a:r>
                  <a:rPr lang="en-US" altLang="zh-CN" sz="1050" dirty="0">
                    <a:cs typeface="+mn-ea"/>
                    <a:sym typeface="+mn-lt"/>
                  </a:rPr>
                  <a:t>Demo</a:t>
                </a:r>
                <a:endParaRPr lang="zh-CN" altLang="en-US" sz="1050" dirty="0">
                  <a:cs typeface="+mn-ea"/>
                  <a:sym typeface="+mn-lt"/>
                </a:endParaRPr>
              </a:p>
            </p:txBody>
          </p:sp>
          <p:sp>
            <p:nvSpPr>
              <p:cNvPr id="1081" name="文本框 1080">
                <a:extLst>
                  <a:ext uri="{FF2B5EF4-FFF2-40B4-BE49-F238E27FC236}">
                    <a16:creationId xmlns:a16="http://schemas.microsoft.com/office/drawing/2014/main" id="{2CF1D84A-9BD8-3B4D-E2CD-B3C399E3E197}"/>
                  </a:ext>
                </a:extLst>
              </p:cNvPr>
              <p:cNvSpPr txBox="1"/>
              <p:nvPr/>
            </p:nvSpPr>
            <p:spPr>
              <a:xfrm>
                <a:off x="2248593" y="4285065"/>
                <a:ext cx="772857" cy="276999"/>
              </a:xfrm>
              <a:prstGeom prst="rect">
                <a:avLst/>
              </a:prstGeom>
              <a:noFill/>
            </p:spPr>
            <p:txBody>
              <a:bodyPr wrap="square">
                <a:spAutoFit/>
              </a:bodyPr>
              <a:lstStyle/>
              <a:p>
                <a:pPr algn="r"/>
                <a:r>
                  <a:rPr lang="en-US" altLang="zh-CN" sz="1200" b="1" dirty="0">
                    <a:solidFill>
                      <a:schemeClr val="accent6">
                        <a:lumMod val="10000"/>
                      </a:schemeClr>
                    </a:solidFill>
                    <a:cs typeface="+mn-ea"/>
                    <a:sym typeface="+mn-lt"/>
                  </a:rPr>
                  <a:t>WEDGE</a:t>
                </a:r>
              </a:p>
            </p:txBody>
          </p:sp>
        </p:grpSp>
      </p:grpSp>
      <p:sp>
        <p:nvSpPr>
          <p:cNvPr id="3" name="矩形 2">
            <a:extLst>
              <a:ext uri="{FF2B5EF4-FFF2-40B4-BE49-F238E27FC236}">
                <a16:creationId xmlns:a16="http://schemas.microsoft.com/office/drawing/2014/main" id="{A33B33FC-2DA3-942C-DE66-EE387FA2C122}"/>
              </a:ext>
            </a:extLst>
          </p:cNvPr>
          <p:cNvSpPr/>
          <p:nvPr/>
        </p:nvSpPr>
        <p:spPr>
          <a:xfrm>
            <a:off x="9405316" y="2079030"/>
            <a:ext cx="1496514" cy="496914"/>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0052D9"/>
                </a:solidFill>
                <a:cs typeface="+mn-ea"/>
                <a:sym typeface="+mn-lt"/>
              </a:rPr>
              <a:t>Broadcom edge</a:t>
            </a:r>
          </a:p>
          <a:p>
            <a:pPr algn="ctr"/>
            <a:r>
              <a:rPr lang="en-US" altLang="zh-CN" sz="1400" dirty="0">
                <a:solidFill>
                  <a:srgbClr val="0052D9"/>
                </a:solidFill>
                <a:cs typeface="+mn-ea"/>
                <a:sym typeface="+mn-lt"/>
              </a:rPr>
              <a:t>~1</a:t>
            </a:r>
            <a:r>
              <a:rPr lang="zh-CN" altLang="en-US" sz="1400" dirty="0">
                <a:solidFill>
                  <a:srgbClr val="0052D9"/>
                </a:solidFill>
                <a:cs typeface="+mn-ea"/>
                <a:sym typeface="+mn-lt"/>
              </a:rPr>
              <a:t>年</a:t>
            </a:r>
            <a:endParaRPr lang="en-US" altLang="zh-CN" sz="1400" dirty="0">
              <a:solidFill>
                <a:srgbClr val="0052D9"/>
              </a:solidFill>
              <a:cs typeface="+mn-ea"/>
              <a:sym typeface="+mn-lt"/>
            </a:endParaRPr>
          </a:p>
        </p:txBody>
      </p:sp>
      <p:grpSp>
        <p:nvGrpSpPr>
          <p:cNvPr id="1030" name="组合 1029">
            <a:extLst>
              <a:ext uri="{FF2B5EF4-FFF2-40B4-BE49-F238E27FC236}">
                <a16:creationId xmlns:a16="http://schemas.microsoft.com/office/drawing/2014/main" id="{8A6504AE-10E6-54EA-417B-181B252CDDB4}"/>
              </a:ext>
            </a:extLst>
          </p:cNvPr>
          <p:cNvGrpSpPr/>
          <p:nvPr/>
        </p:nvGrpSpPr>
        <p:grpSpPr>
          <a:xfrm>
            <a:off x="4618537" y="5691528"/>
            <a:ext cx="754380" cy="549547"/>
            <a:chOff x="2302741" y="5497808"/>
            <a:chExt cx="754380" cy="549547"/>
          </a:xfrm>
        </p:grpSpPr>
        <p:sp>
          <p:nvSpPr>
            <p:cNvPr id="1031" name="iconfont-1018-792472">
              <a:extLst>
                <a:ext uri="{FF2B5EF4-FFF2-40B4-BE49-F238E27FC236}">
                  <a16:creationId xmlns:a16="http://schemas.microsoft.com/office/drawing/2014/main" id="{E5A154C5-8C07-50CE-AB81-8B604CA7B02A}"/>
                </a:ext>
              </a:extLst>
            </p:cNvPr>
            <p:cNvSpPr/>
            <p:nvPr/>
          </p:nvSpPr>
          <p:spPr>
            <a:xfrm>
              <a:off x="2573461" y="5497808"/>
              <a:ext cx="205783" cy="205783"/>
            </a:xfrm>
            <a:custGeom>
              <a:avLst/>
              <a:gdLst>
                <a:gd name="T0" fmla="*/ 1876 w 12800"/>
                <a:gd name="T1" fmla="*/ 1876 h 12800"/>
                <a:gd name="T2" fmla="*/ 6400 w 12800"/>
                <a:gd name="T3" fmla="*/ 0 h 12800"/>
                <a:gd name="T4" fmla="*/ 10924 w 12800"/>
                <a:gd name="T5" fmla="*/ 1876 h 12800"/>
                <a:gd name="T6" fmla="*/ 12800 w 12800"/>
                <a:gd name="T7" fmla="*/ 6400 h 12800"/>
                <a:gd name="T8" fmla="*/ 10924 w 12800"/>
                <a:gd name="T9" fmla="*/ 10924 h 12800"/>
                <a:gd name="T10" fmla="*/ 6400 w 12800"/>
                <a:gd name="T11" fmla="*/ 12800 h 12800"/>
                <a:gd name="T12" fmla="*/ 1876 w 12800"/>
                <a:gd name="T13" fmla="*/ 10924 h 12800"/>
                <a:gd name="T14" fmla="*/ 0 w 12800"/>
                <a:gd name="T15" fmla="*/ 6400 h 12800"/>
                <a:gd name="T16" fmla="*/ 1876 w 12800"/>
                <a:gd name="T17" fmla="*/ 1876 h 12800"/>
                <a:gd name="T18" fmla="*/ 6400 w 12800"/>
                <a:gd name="T19" fmla="*/ 524 h 12800"/>
                <a:gd name="T20" fmla="*/ 3446 w 12800"/>
                <a:gd name="T21" fmla="*/ 1308 h 12800"/>
                <a:gd name="T22" fmla="*/ 1308 w 12800"/>
                <a:gd name="T23" fmla="*/ 3446 h 12800"/>
                <a:gd name="T24" fmla="*/ 524 w 12800"/>
                <a:gd name="T25" fmla="*/ 6400 h 12800"/>
                <a:gd name="T26" fmla="*/ 2246 w 12800"/>
                <a:gd name="T27" fmla="*/ 10554 h 12800"/>
                <a:gd name="T28" fmla="*/ 6400 w 12800"/>
                <a:gd name="T29" fmla="*/ 12276 h 12800"/>
                <a:gd name="T30" fmla="*/ 10554 w 12800"/>
                <a:gd name="T31" fmla="*/ 10554 h 12800"/>
                <a:gd name="T32" fmla="*/ 12276 w 12800"/>
                <a:gd name="T33" fmla="*/ 6400 h 12800"/>
                <a:gd name="T34" fmla="*/ 10554 w 12800"/>
                <a:gd name="T35" fmla="*/ 2246 h 12800"/>
                <a:gd name="T36" fmla="*/ 6400 w 12800"/>
                <a:gd name="T37" fmla="*/ 524 h 12800"/>
                <a:gd name="T38" fmla="*/ 6400 w 12800"/>
                <a:gd name="T39" fmla="*/ 3200 h 12800"/>
                <a:gd name="T40" fmla="*/ 5123 w 12800"/>
                <a:gd name="T41" fmla="*/ 3461 h 12800"/>
                <a:gd name="T42" fmla="*/ 4061 w 12800"/>
                <a:gd name="T43" fmla="*/ 4154 h 12800"/>
                <a:gd name="T44" fmla="*/ 3369 w 12800"/>
                <a:gd name="T45" fmla="*/ 5215 h 12800"/>
                <a:gd name="T46" fmla="*/ 3108 w 12800"/>
                <a:gd name="T47" fmla="*/ 6492 h 12800"/>
                <a:gd name="T48" fmla="*/ 3369 w 12800"/>
                <a:gd name="T49" fmla="*/ 7770 h 12800"/>
                <a:gd name="T50" fmla="*/ 4061 w 12800"/>
                <a:gd name="T51" fmla="*/ 8831 h 12800"/>
                <a:gd name="T52" fmla="*/ 5123 w 12800"/>
                <a:gd name="T53" fmla="*/ 9523 h 12800"/>
                <a:gd name="T54" fmla="*/ 6400 w 12800"/>
                <a:gd name="T55" fmla="*/ 9784 h 12800"/>
                <a:gd name="T56" fmla="*/ 7677 w 12800"/>
                <a:gd name="T57" fmla="*/ 9523 h 12800"/>
                <a:gd name="T58" fmla="*/ 8739 w 12800"/>
                <a:gd name="T59" fmla="*/ 8831 h 12800"/>
                <a:gd name="T60" fmla="*/ 9431 w 12800"/>
                <a:gd name="T61" fmla="*/ 7770 h 12800"/>
                <a:gd name="T62" fmla="*/ 9692 w 12800"/>
                <a:gd name="T63" fmla="*/ 6492 h 12800"/>
                <a:gd name="T64" fmla="*/ 9431 w 12800"/>
                <a:gd name="T65" fmla="*/ 5215 h 12800"/>
                <a:gd name="T66" fmla="*/ 8739 w 12800"/>
                <a:gd name="T67" fmla="*/ 4154 h 12800"/>
                <a:gd name="T68" fmla="*/ 7677 w 12800"/>
                <a:gd name="T69" fmla="*/ 3461 h 12800"/>
                <a:gd name="T70" fmla="*/ 6400 w 12800"/>
                <a:gd name="T71" fmla="*/ 32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2800">
                  <a:moveTo>
                    <a:pt x="1876" y="1876"/>
                  </a:moveTo>
                  <a:cubicBezTo>
                    <a:pt x="3128" y="626"/>
                    <a:pt x="4636" y="0"/>
                    <a:pt x="6400" y="0"/>
                  </a:cubicBezTo>
                  <a:cubicBezTo>
                    <a:pt x="8164" y="0"/>
                    <a:pt x="9672" y="626"/>
                    <a:pt x="10924" y="1876"/>
                  </a:cubicBezTo>
                  <a:cubicBezTo>
                    <a:pt x="12174" y="3128"/>
                    <a:pt x="12800" y="4636"/>
                    <a:pt x="12800" y="6400"/>
                  </a:cubicBezTo>
                  <a:cubicBezTo>
                    <a:pt x="12800" y="8165"/>
                    <a:pt x="12174" y="9673"/>
                    <a:pt x="10924" y="10924"/>
                  </a:cubicBezTo>
                  <a:cubicBezTo>
                    <a:pt x="9672" y="12174"/>
                    <a:pt x="8164" y="12800"/>
                    <a:pt x="6400" y="12800"/>
                  </a:cubicBezTo>
                  <a:cubicBezTo>
                    <a:pt x="4636" y="12800"/>
                    <a:pt x="3128" y="12174"/>
                    <a:pt x="1876" y="10924"/>
                  </a:cubicBezTo>
                  <a:cubicBezTo>
                    <a:pt x="626" y="9673"/>
                    <a:pt x="0" y="8165"/>
                    <a:pt x="0" y="6400"/>
                  </a:cubicBezTo>
                  <a:cubicBezTo>
                    <a:pt x="0" y="4636"/>
                    <a:pt x="626" y="3128"/>
                    <a:pt x="1876" y="1876"/>
                  </a:cubicBezTo>
                  <a:close/>
                  <a:moveTo>
                    <a:pt x="6400" y="524"/>
                  </a:moveTo>
                  <a:cubicBezTo>
                    <a:pt x="5334" y="524"/>
                    <a:pt x="4348" y="785"/>
                    <a:pt x="3446" y="1308"/>
                  </a:cubicBezTo>
                  <a:cubicBezTo>
                    <a:pt x="2543" y="1830"/>
                    <a:pt x="1830" y="2543"/>
                    <a:pt x="1308" y="3446"/>
                  </a:cubicBezTo>
                  <a:cubicBezTo>
                    <a:pt x="785" y="4349"/>
                    <a:pt x="524" y="5334"/>
                    <a:pt x="524" y="6400"/>
                  </a:cubicBezTo>
                  <a:cubicBezTo>
                    <a:pt x="524" y="8020"/>
                    <a:pt x="1098" y="9405"/>
                    <a:pt x="2246" y="10554"/>
                  </a:cubicBezTo>
                  <a:cubicBezTo>
                    <a:pt x="3395" y="11703"/>
                    <a:pt x="4780" y="12276"/>
                    <a:pt x="6400" y="12276"/>
                  </a:cubicBezTo>
                  <a:cubicBezTo>
                    <a:pt x="8020" y="12276"/>
                    <a:pt x="9405" y="11703"/>
                    <a:pt x="10554" y="10554"/>
                  </a:cubicBezTo>
                  <a:cubicBezTo>
                    <a:pt x="11703" y="9405"/>
                    <a:pt x="12276" y="8020"/>
                    <a:pt x="12276" y="6400"/>
                  </a:cubicBezTo>
                  <a:cubicBezTo>
                    <a:pt x="12276" y="4780"/>
                    <a:pt x="11702" y="3396"/>
                    <a:pt x="10554" y="2246"/>
                  </a:cubicBezTo>
                  <a:cubicBezTo>
                    <a:pt x="9405" y="1097"/>
                    <a:pt x="8020" y="524"/>
                    <a:pt x="6400" y="524"/>
                  </a:cubicBezTo>
                  <a:close/>
                  <a:moveTo>
                    <a:pt x="6400" y="3200"/>
                  </a:moveTo>
                  <a:cubicBezTo>
                    <a:pt x="5948" y="3200"/>
                    <a:pt x="5523" y="3288"/>
                    <a:pt x="5123" y="3461"/>
                  </a:cubicBezTo>
                  <a:cubicBezTo>
                    <a:pt x="4723" y="3636"/>
                    <a:pt x="4369" y="3867"/>
                    <a:pt x="4061" y="4154"/>
                  </a:cubicBezTo>
                  <a:cubicBezTo>
                    <a:pt x="3775" y="4461"/>
                    <a:pt x="3543" y="4815"/>
                    <a:pt x="3369" y="5215"/>
                  </a:cubicBezTo>
                  <a:cubicBezTo>
                    <a:pt x="3195" y="5614"/>
                    <a:pt x="3108" y="6042"/>
                    <a:pt x="3108" y="6492"/>
                  </a:cubicBezTo>
                  <a:cubicBezTo>
                    <a:pt x="3108" y="6944"/>
                    <a:pt x="3195" y="7369"/>
                    <a:pt x="3369" y="7770"/>
                  </a:cubicBezTo>
                  <a:cubicBezTo>
                    <a:pt x="3543" y="8170"/>
                    <a:pt x="3775" y="8524"/>
                    <a:pt x="4061" y="8831"/>
                  </a:cubicBezTo>
                  <a:cubicBezTo>
                    <a:pt x="4369" y="9119"/>
                    <a:pt x="4723" y="9349"/>
                    <a:pt x="5123" y="9523"/>
                  </a:cubicBezTo>
                  <a:cubicBezTo>
                    <a:pt x="5523" y="9697"/>
                    <a:pt x="5948" y="9784"/>
                    <a:pt x="6400" y="9784"/>
                  </a:cubicBezTo>
                  <a:cubicBezTo>
                    <a:pt x="6852" y="9784"/>
                    <a:pt x="7277" y="9697"/>
                    <a:pt x="7677" y="9523"/>
                  </a:cubicBezTo>
                  <a:cubicBezTo>
                    <a:pt x="8077" y="9349"/>
                    <a:pt x="8431" y="9119"/>
                    <a:pt x="8739" y="8831"/>
                  </a:cubicBezTo>
                  <a:cubicBezTo>
                    <a:pt x="9025" y="8524"/>
                    <a:pt x="9257" y="8169"/>
                    <a:pt x="9431" y="7770"/>
                  </a:cubicBezTo>
                  <a:cubicBezTo>
                    <a:pt x="9605" y="7370"/>
                    <a:pt x="9692" y="6944"/>
                    <a:pt x="9692" y="6492"/>
                  </a:cubicBezTo>
                  <a:cubicBezTo>
                    <a:pt x="9692" y="6042"/>
                    <a:pt x="9605" y="5615"/>
                    <a:pt x="9431" y="5215"/>
                  </a:cubicBezTo>
                  <a:cubicBezTo>
                    <a:pt x="9257" y="4814"/>
                    <a:pt x="9025" y="4462"/>
                    <a:pt x="8739" y="4154"/>
                  </a:cubicBezTo>
                  <a:cubicBezTo>
                    <a:pt x="8431" y="3867"/>
                    <a:pt x="8077" y="3636"/>
                    <a:pt x="7677" y="3461"/>
                  </a:cubicBezTo>
                  <a:cubicBezTo>
                    <a:pt x="7277" y="3288"/>
                    <a:pt x="6852" y="3200"/>
                    <a:pt x="6400" y="3200"/>
                  </a:cubicBezTo>
                  <a:close/>
                </a:path>
              </a:pathLst>
            </a:custGeom>
            <a:solidFill>
              <a:schemeClr val="accent1"/>
            </a:solidFill>
            <a:ln>
              <a:solidFill>
                <a:srgbClr val="0052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cs typeface="+mn-ea"/>
                <a:sym typeface="+mn-lt"/>
              </a:endParaRPr>
            </a:p>
          </p:txBody>
        </p:sp>
        <p:sp>
          <p:nvSpPr>
            <p:cNvPr id="1032" name="文本框 1031">
              <a:extLst>
                <a:ext uri="{FF2B5EF4-FFF2-40B4-BE49-F238E27FC236}">
                  <a16:creationId xmlns:a16="http://schemas.microsoft.com/office/drawing/2014/main" id="{773FF216-651E-6EF6-0EAF-AD2BE6194F95}"/>
                </a:ext>
              </a:extLst>
            </p:cNvPr>
            <p:cNvSpPr txBox="1"/>
            <p:nvPr/>
          </p:nvSpPr>
          <p:spPr>
            <a:xfrm>
              <a:off x="2302741" y="5739578"/>
              <a:ext cx="754380" cy="307777"/>
            </a:xfrm>
            <a:prstGeom prst="rect">
              <a:avLst/>
            </a:prstGeom>
            <a:noFill/>
          </p:spPr>
          <p:txBody>
            <a:bodyPr wrap="square" rtlCol="0">
              <a:spAutoFit/>
            </a:bodyPr>
            <a:lstStyle/>
            <a:p>
              <a:pPr algn="ctr"/>
              <a:r>
                <a:rPr lang="en-US" altLang="zh-CN" sz="1400" dirty="0">
                  <a:cs typeface="+mn-ea"/>
                  <a:sym typeface="+mn-lt"/>
                </a:rPr>
                <a:t>2022</a:t>
              </a:r>
              <a:endParaRPr lang="zh-CN" altLang="en-US" sz="1400" dirty="0">
                <a:cs typeface="+mn-ea"/>
                <a:sym typeface="+mn-lt"/>
              </a:endParaRPr>
            </a:p>
          </p:txBody>
        </p:sp>
      </p:grpSp>
      <p:grpSp>
        <p:nvGrpSpPr>
          <p:cNvPr id="1062" name="组合 1061">
            <a:extLst>
              <a:ext uri="{FF2B5EF4-FFF2-40B4-BE49-F238E27FC236}">
                <a16:creationId xmlns:a16="http://schemas.microsoft.com/office/drawing/2014/main" id="{149A79A5-076E-7FD2-47D9-F4FEB636EADE}"/>
              </a:ext>
            </a:extLst>
          </p:cNvPr>
          <p:cNvGrpSpPr/>
          <p:nvPr/>
        </p:nvGrpSpPr>
        <p:grpSpPr>
          <a:xfrm>
            <a:off x="4504869" y="4337143"/>
            <a:ext cx="1088697" cy="433036"/>
            <a:chOff x="1854080" y="4289861"/>
            <a:chExt cx="1088697" cy="433036"/>
          </a:xfrm>
        </p:grpSpPr>
        <p:pic>
          <p:nvPicPr>
            <p:cNvPr id="1063" name="图像" descr="图像">
              <a:extLst>
                <a:ext uri="{FF2B5EF4-FFF2-40B4-BE49-F238E27FC236}">
                  <a16:creationId xmlns:a16="http://schemas.microsoft.com/office/drawing/2014/main" id="{F8C501A1-7860-CDE5-0E52-C429F059D090}"/>
                </a:ext>
              </a:extLst>
            </p:cNvPr>
            <p:cNvPicPr>
              <a:picLocks noChangeAspect="1"/>
            </p:cNvPicPr>
            <p:nvPr/>
          </p:nvPicPr>
          <p:blipFill>
            <a:blip r:embed="rId6"/>
            <a:stretch>
              <a:fillRect/>
            </a:stretch>
          </p:blipFill>
          <p:spPr>
            <a:xfrm>
              <a:off x="2050289" y="4336130"/>
              <a:ext cx="306120" cy="147594"/>
            </a:xfrm>
            <a:prstGeom prst="rect">
              <a:avLst/>
            </a:prstGeom>
            <a:ln w="12700">
              <a:miter lim="400000"/>
            </a:ln>
          </p:spPr>
        </p:pic>
        <p:sp>
          <p:nvSpPr>
            <p:cNvPr id="1064" name="文本框 1063">
              <a:extLst>
                <a:ext uri="{FF2B5EF4-FFF2-40B4-BE49-F238E27FC236}">
                  <a16:creationId xmlns:a16="http://schemas.microsoft.com/office/drawing/2014/main" id="{5784DEBF-5A58-A220-CDC0-07E083A49F5C}"/>
                </a:ext>
              </a:extLst>
            </p:cNvPr>
            <p:cNvSpPr txBox="1"/>
            <p:nvPr/>
          </p:nvSpPr>
          <p:spPr>
            <a:xfrm>
              <a:off x="1854080" y="4461287"/>
              <a:ext cx="1088697" cy="261610"/>
            </a:xfrm>
            <a:prstGeom prst="rect">
              <a:avLst/>
            </a:prstGeom>
            <a:noFill/>
          </p:spPr>
          <p:txBody>
            <a:bodyPr wrap="square" rtlCol="0">
              <a:spAutoFit/>
            </a:bodyPr>
            <a:lstStyle/>
            <a:p>
              <a:pPr algn="ctr"/>
              <a:r>
                <a:rPr lang="zh-CN" altLang="en-US" sz="1050" dirty="0">
                  <a:cs typeface="+mn-ea"/>
                  <a:sym typeface="+mn-lt"/>
                </a:rPr>
                <a:t>合作部署</a:t>
              </a:r>
            </a:p>
          </p:txBody>
        </p:sp>
        <p:sp>
          <p:nvSpPr>
            <p:cNvPr id="1065" name="文本框 1064">
              <a:extLst>
                <a:ext uri="{FF2B5EF4-FFF2-40B4-BE49-F238E27FC236}">
                  <a16:creationId xmlns:a16="http://schemas.microsoft.com/office/drawing/2014/main" id="{4C1640B9-5ECC-4EDF-CAFD-BA8B6053D1E7}"/>
                </a:ext>
              </a:extLst>
            </p:cNvPr>
            <p:cNvSpPr txBox="1"/>
            <p:nvPr/>
          </p:nvSpPr>
          <p:spPr>
            <a:xfrm>
              <a:off x="2277248" y="4289861"/>
              <a:ext cx="554528" cy="276999"/>
            </a:xfrm>
            <a:prstGeom prst="rect">
              <a:avLst/>
            </a:prstGeom>
            <a:noFill/>
          </p:spPr>
          <p:txBody>
            <a:bodyPr wrap="square">
              <a:spAutoFit/>
            </a:bodyPr>
            <a:lstStyle/>
            <a:p>
              <a:pPr algn="r"/>
              <a:r>
                <a:rPr lang="en-US" altLang="zh-CN" sz="1200" b="1" dirty="0">
                  <a:solidFill>
                    <a:schemeClr val="accent6">
                      <a:lumMod val="10000"/>
                    </a:schemeClr>
                  </a:solidFill>
                  <a:cs typeface="+mn-ea"/>
                  <a:sym typeface="+mn-lt"/>
                </a:rPr>
                <a:t>TH4</a:t>
              </a:r>
            </a:p>
          </p:txBody>
        </p:sp>
      </p:grpSp>
      <p:grpSp>
        <p:nvGrpSpPr>
          <p:cNvPr id="1087" name="组合 1086">
            <a:extLst>
              <a:ext uri="{FF2B5EF4-FFF2-40B4-BE49-F238E27FC236}">
                <a16:creationId xmlns:a16="http://schemas.microsoft.com/office/drawing/2014/main" id="{67C8A49E-89B4-B8F5-F84A-AF029453D0F9}"/>
              </a:ext>
            </a:extLst>
          </p:cNvPr>
          <p:cNvGrpSpPr/>
          <p:nvPr/>
        </p:nvGrpSpPr>
        <p:grpSpPr>
          <a:xfrm>
            <a:off x="4504869" y="3553362"/>
            <a:ext cx="1088697" cy="433036"/>
            <a:chOff x="1854080" y="4289861"/>
            <a:chExt cx="1088697" cy="433036"/>
          </a:xfrm>
        </p:grpSpPr>
        <p:pic>
          <p:nvPicPr>
            <p:cNvPr id="1088" name="图像" descr="图像">
              <a:extLst>
                <a:ext uri="{FF2B5EF4-FFF2-40B4-BE49-F238E27FC236}">
                  <a16:creationId xmlns:a16="http://schemas.microsoft.com/office/drawing/2014/main" id="{B3F769CA-D87D-11C6-2FBC-891CD4D849E7}"/>
                </a:ext>
              </a:extLst>
            </p:cNvPr>
            <p:cNvPicPr>
              <a:picLocks noChangeAspect="1"/>
            </p:cNvPicPr>
            <p:nvPr/>
          </p:nvPicPr>
          <p:blipFill>
            <a:blip r:embed="rId6"/>
            <a:stretch>
              <a:fillRect/>
            </a:stretch>
          </p:blipFill>
          <p:spPr>
            <a:xfrm>
              <a:off x="2050289" y="4336130"/>
              <a:ext cx="306120" cy="147594"/>
            </a:xfrm>
            <a:prstGeom prst="rect">
              <a:avLst/>
            </a:prstGeom>
            <a:ln w="12700">
              <a:miter lim="400000"/>
            </a:ln>
          </p:spPr>
        </p:pic>
        <p:sp>
          <p:nvSpPr>
            <p:cNvPr id="1089" name="文本框 1088">
              <a:extLst>
                <a:ext uri="{FF2B5EF4-FFF2-40B4-BE49-F238E27FC236}">
                  <a16:creationId xmlns:a16="http://schemas.microsoft.com/office/drawing/2014/main" id="{5EC1C477-C2A5-2410-E6C0-89C029A637B7}"/>
                </a:ext>
              </a:extLst>
            </p:cNvPr>
            <p:cNvSpPr txBox="1"/>
            <p:nvPr/>
          </p:nvSpPr>
          <p:spPr>
            <a:xfrm>
              <a:off x="1854080" y="4461287"/>
              <a:ext cx="1088697" cy="261610"/>
            </a:xfrm>
            <a:prstGeom prst="rect">
              <a:avLst/>
            </a:prstGeom>
            <a:noFill/>
          </p:spPr>
          <p:txBody>
            <a:bodyPr wrap="square" rtlCol="0">
              <a:spAutoFit/>
            </a:bodyPr>
            <a:lstStyle/>
            <a:p>
              <a:pPr algn="ctr"/>
              <a:r>
                <a:rPr lang="zh-CN" altLang="en-US" sz="1050" dirty="0">
                  <a:cs typeface="+mn-ea"/>
                  <a:sym typeface="+mn-lt"/>
                </a:rPr>
                <a:t>方案发布</a:t>
              </a:r>
            </a:p>
          </p:txBody>
        </p:sp>
        <p:sp>
          <p:nvSpPr>
            <p:cNvPr id="1090" name="文本框 1089">
              <a:extLst>
                <a:ext uri="{FF2B5EF4-FFF2-40B4-BE49-F238E27FC236}">
                  <a16:creationId xmlns:a16="http://schemas.microsoft.com/office/drawing/2014/main" id="{FF520904-5D9C-19BD-8AE7-41A4FF563207}"/>
                </a:ext>
              </a:extLst>
            </p:cNvPr>
            <p:cNvSpPr txBox="1"/>
            <p:nvPr/>
          </p:nvSpPr>
          <p:spPr>
            <a:xfrm>
              <a:off x="2277248" y="4289861"/>
              <a:ext cx="554528" cy="276999"/>
            </a:xfrm>
            <a:prstGeom prst="rect">
              <a:avLst/>
            </a:prstGeom>
            <a:noFill/>
          </p:spPr>
          <p:txBody>
            <a:bodyPr wrap="square">
              <a:spAutoFit/>
            </a:bodyPr>
            <a:lstStyle/>
            <a:p>
              <a:pPr algn="r"/>
              <a:r>
                <a:rPr lang="en-US" altLang="zh-CN" sz="1200" b="1" dirty="0">
                  <a:solidFill>
                    <a:schemeClr val="accent6">
                      <a:lumMod val="10000"/>
                    </a:schemeClr>
                  </a:solidFill>
                  <a:cs typeface="+mn-ea"/>
                  <a:sym typeface="+mn-lt"/>
                </a:rPr>
                <a:t>TH5</a:t>
              </a:r>
            </a:p>
          </p:txBody>
        </p:sp>
      </p:grpSp>
      <p:grpSp>
        <p:nvGrpSpPr>
          <p:cNvPr id="9" name="组合 8">
            <a:extLst>
              <a:ext uri="{FF2B5EF4-FFF2-40B4-BE49-F238E27FC236}">
                <a16:creationId xmlns:a16="http://schemas.microsoft.com/office/drawing/2014/main" id="{82D955C9-C9A3-CCCE-E717-A5B5A391E55E}"/>
              </a:ext>
            </a:extLst>
          </p:cNvPr>
          <p:cNvGrpSpPr/>
          <p:nvPr/>
        </p:nvGrpSpPr>
        <p:grpSpPr>
          <a:xfrm>
            <a:off x="4562046" y="3910992"/>
            <a:ext cx="1602019" cy="412422"/>
            <a:chOff x="3809830" y="4477461"/>
            <a:chExt cx="1602019" cy="412422"/>
          </a:xfrm>
        </p:grpSpPr>
        <p:sp>
          <p:nvSpPr>
            <p:cNvPr id="8" name="文本框 7">
              <a:extLst>
                <a:ext uri="{FF2B5EF4-FFF2-40B4-BE49-F238E27FC236}">
                  <a16:creationId xmlns:a16="http://schemas.microsoft.com/office/drawing/2014/main" id="{3056F8D4-C5B1-AE7C-812D-B21452A66E3C}"/>
                </a:ext>
              </a:extLst>
            </p:cNvPr>
            <p:cNvSpPr txBox="1"/>
            <p:nvPr/>
          </p:nvSpPr>
          <p:spPr>
            <a:xfrm>
              <a:off x="4272760" y="4477461"/>
              <a:ext cx="1139089" cy="246221"/>
            </a:xfrm>
            <a:prstGeom prst="rect">
              <a:avLst/>
            </a:prstGeom>
            <a:noFill/>
          </p:spPr>
          <p:txBody>
            <a:bodyPr wrap="square">
              <a:spAutoFit/>
            </a:bodyPr>
            <a:lstStyle/>
            <a:p>
              <a:r>
                <a:rPr lang="en-US" altLang="zh-CN" sz="1000" b="1" dirty="0" err="1">
                  <a:solidFill>
                    <a:schemeClr val="accent6">
                      <a:lumMod val="10000"/>
                    </a:schemeClr>
                  </a:solidFill>
                  <a:cs typeface="+mn-ea"/>
                </a:rPr>
                <a:t>Teralynx</a:t>
              </a:r>
              <a:endParaRPr lang="en-US" altLang="zh-CN" sz="1000" b="1" dirty="0">
                <a:solidFill>
                  <a:schemeClr val="accent6">
                    <a:lumMod val="10000"/>
                  </a:schemeClr>
                </a:solidFill>
                <a:cs typeface="+mn-ea"/>
              </a:endParaRPr>
            </a:p>
          </p:txBody>
        </p:sp>
        <p:pic>
          <p:nvPicPr>
            <p:cNvPr id="4" name="图像" descr="图像">
              <a:extLst>
                <a:ext uri="{FF2B5EF4-FFF2-40B4-BE49-F238E27FC236}">
                  <a16:creationId xmlns:a16="http://schemas.microsoft.com/office/drawing/2014/main" id="{E6A22A77-7A62-7A4E-D357-868438744961}"/>
                </a:ext>
              </a:extLst>
            </p:cNvPr>
            <p:cNvPicPr>
              <a:picLocks noChangeAspect="1"/>
            </p:cNvPicPr>
            <p:nvPr/>
          </p:nvPicPr>
          <p:blipFill>
            <a:blip r:embed="rId8"/>
            <a:stretch>
              <a:fillRect/>
            </a:stretch>
          </p:blipFill>
          <p:spPr>
            <a:xfrm>
              <a:off x="3849008" y="4534458"/>
              <a:ext cx="497769" cy="147488"/>
            </a:xfrm>
            <a:prstGeom prst="rect">
              <a:avLst/>
            </a:prstGeom>
            <a:ln w="12700">
              <a:miter lim="400000"/>
            </a:ln>
          </p:spPr>
        </p:pic>
        <p:sp>
          <p:nvSpPr>
            <p:cNvPr id="5" name="文本框 4">
              <a:extLst>
                <a:ext uri="{FF2B5EF4-FFF2-40B4-BE49-F238E27FC236}">
                  <a16:creationId xmlns:a16="http://schemas.microsoft.com/office/drawing/2014/main" id="{60C5CD62-2D3F-2D2E-2D15-B48B81AE95C9}"/>
                </a:ext>
              </a:extLst>
            </p:cNvPr>
            <p:cNvSpPr txBox="1"/>
            <p:nvPr/>
          </p:nvSpPr>
          <p:spPr>
            <a:xfrm>
              <a:off x="3809830" y="4628273"/>
              <a:ext cx="1088697" cy="261610"/>
            </a:xfrm>
            <a:prstGeom prst="rect">
              <a:avLst/>
            </a:prstGeom>
            <a:noFill/>
          </p:spPr>
          <p:txBody>
            <a:bodyPr wrap="square" rtlCol="0">
              <a:spAutoFit/>
            </a:bodyPr>
            <a:lstStyle/>
            <a:p>
              <a:pPr algn="ctr"/>
              <a:r>
                <a:rPr lang="en-US" altLang="zh-CN" sz="1050" dirty="0">
                  <a:cs typeface="+mn-ea"/>
                  <a:sym typeface="+mn-lt"/>
                </a:rPr>
                <a:t>Demo</a:t>
              </a:r>
              <a:endParaRPr lang="zh-CN" altLang="en-US" sz="1050" dirty="0">
                <a:cs typeface="+mn-ea"/>
                <a:sym typeface="+mn-lt"/>
              </a:endParaRPr>
            </a:p>
          </p:txBody>
        </p:sp>
      </p:grpSp>
      <p:grpSp>
        <p:nvGrpSpPr>
          <p:cNvPr id="1036" name="组合 1035">
            <a:extLst>
              <a:ext uri="{FF2B5EF4-FFF2-40B4-BE49-F238E27FC236}">
                <a16:creationId xmlns:a16="http://schemas.microsoft.com/office/drawing/2014/main" id="{3AD19CF5-AC7C-5F60-B9DE-3668CE65FF81}"/>
              </a:ext>
            </a:extLst>
          </p:cNvPr>
          <p:cNvGrpSpPr/>
          <p:nvPr/>
        </p:nvGrpSpPr>
        <p:grpSpPr>
          <a:xfrm>
            <a:off x="7829113" y="5691528"/>
            <a:ext cx="754380" cy="549547"/>
            <a:chOff x="2302741" y="5497808"/>
            <a:chExt cx="754380" cy="549547"/>
          </a:xfrm>
        </p:grpSpPr>
        <p:sp>
          <p:nvSpPr>
            <p:cNvPr id="1037" name="iconfont-1018-792472">
              <a:extLst>
                <a:ext uri="{FF2B5EF4-FFF2-40B4-BE49-F238E27FC236}">
                  <a16:creationId xmlns:a16="http://schemas.microsoft.com/office/drawing/2014/main" id="{EBB5E8EE-6325-FAE7-4474-198D7B57724C}"/>
                </a:ext>
              </a:extLst>
            </p:cNvPr>
            <p:cNvSpPr/>
            <p:nvPr/>
          </p:nvSpPr>
          <p:spPr>
            <a:xfrm>
              <a:off x="2573461" y="5497808"/>
              <a:ext cx="205783" cy="205783"/>
            </a:xfrm>
            <a:custGeom>
              <a:avLst/>
              <a:gdLst>
                <a:gd name="T0" fmla="*/ 1876 w 12800"/>
                <a:gd name="T1" fmla="*/ 1876 h 12800"/>
                <a:gd name="T2" fmla="*/ 6400 w 12800"/>
                <a:gd name="T3" fmla="*/ 0 h 12800"/>
                <a:gd name="T4" fmla="*/ 10924 w 12800"/>
                <a:gd name="T5" fmla="*/ 1876 h 12800"/>
                <a:gd name="T6" fmla="*/ 12800 w 12800"/>
                <a:gd name="T7" fmla="*/ 6400 h 12800"/>
                <a:gd name="T8" fmla="*/ 10924 w 12800"/>
                <a:gd name="T9" fmla="*/ 10924 h 12800"/>
                <a:gd name="T10" fmla="*/ 6400 w 12800"/>
                <a:gd name="T11" fmla="*/ 12800 h 12800"/>
                <a:gd name="T12" fmla="*/ 1876 w 12800"/>
                <a:gd name="T13" fmla="*/ 10924 h 12800"/>
                <a:gd name="T14" fmla="*/ 0 w 12800"/>
                <a:gd name="T15" fmla="*/ 6400 h 12800"/>
                <a:gd name="T16" fmla="*/ 1876 w 12800"/>
                <a:gd name="T17" fmla="*/ 1876 h 12800"/>
                <a:gd name="T18" fmla="*/ 6400 w 12800"/>
                <a:gd name="T19" fmla="*/ 524 h 12800"/>
                <a:gd name="T20" fmla="*/ 3446 w 12800"/>
                <a:gd name="T21" fmla="*/ 1308 h 12800"/>
                <a:gd name="T22" fmla="*/ 1308 w 12800"/>
                <a:gd name="T23" fmla="*/ 3446 h 12800"/>
                <a:gd name="T24" fmla="*/ 524 w 12800"/>
                <a:gd name="T25" fmla="*/ 6400 h 12800"/>
                <a:gd name="T26" fmla="*/ 2246 w 12800"/>
                <a:gd name="T27" fmla="*/ 10554 h 12800"/>
                <a:gd name="T28" fmla="*/ 6400 w 12800"/>
                <a:gd name="T29" fmla="*/ 12276 h 12800"/>
                <a:gd name="T30" fmla="*/ 10554 w 12800"/>
                <a:gd name="T31" fmla="*/ 10554 h 12800"/>
                <a:gd name="T32" fmla="*/ 12276 w 12800"/>
                <a:gd name="T33" fmla="*/ 6400 h 12800"/>
                <a:gd name="T34" fmla="*/ 10554 w 12800"/>
                <a:gd name="T35" fmla="*/ 2246 h 12800"/>
                <a:gd name="T36" fmla="*/ 6400 w 12800"/>
                <a:gd name="T37" fmla="*/ 524 h 12800"/>
                <a:gd name="T38" fmla="*/ 6400 w 12800"/>
                <a:gd name="T39" fmla="*/ 3200 h 12800"/>
                <a:gd name="T40" fmla="*/ 5123 w 12800"/>
                <a:gd name="T41" fmla="*/ 3461 h 12800"/>
                <a:gd name="T42" fmla="*/ 4061 w 12800"/>
                <a:gd name="T43" fmla="*/ 4154 h 12800"/>
                <a:gd name="T44" fmla="*/ 3369 w 12800"/>
                <a:gd name="T45" fmla="*/ 5215 h 12800"/>
                <a:gd name="T46" fmla="*/ 3108 w 12800"/>
                <a:gd name="T47" fmla="*/ 6492 h 12800"/>
                <a:gd name="T48" fmla="*/ 3369 w 12800"/>
                <a:gd name="T49" fmla="*/ 7770 h 12800"/>
                <a:gd name="T50" fmla="*/ 4061 w 12800"/>
                <a:gd name="T51" fmla="*/ 8831 h 12800"/>
                <a:gd name="T52" fmla="*/ 5123 w 12800"/>
                <a:gd name="T53" fmla="*/ 9523 h 12800"/>
                <a:gd name="T54" fmla="*/ 6400 w 12800"/>
                <a:gd name="T55" fmla="*/ 9784 h 12800"/>
                <a:gd name="T56" fmla="*/ 7677 w 12800"/>
                <a:gd name="T57" fmla="*/ 9523 h 12800"/>
                <a:gd name="T58" fmla="*/ 8739 w 12800"/>
                <a:gd name="T59" fmla="*/ 8831 h 12800"/>
                <a:gd name="T60" fmla="*/ 9431 w 12800"/>
                <a:gd name="T61" fmla="*/ 7770 h 12800"/>
                <a:gd name="T62" fmla="*/ 9692 w 12800"/>
                <a:gd name="T63" fmla="*/ 6492 h 12800"/>
                <a:gd name="T64" fmla="*/ 9431 w 12800"/>
                <a:gd name="T65" fmla="*/ 5215 h 12800"/>
                <a:gd name="T66" fmla="*/ 8739 w 12800"/>
                <a:gd name="T67" fmla="*/ 4154 h 12800"/>
                <a:gd name="T68" fmla="*/ 7677 w 12800"/>
                <a:gd name="T69" fmla="*/ 3461 h 12800"/>
                <a:gd name="T70" fmla="*/ 6400 w 12800"/>
                <a:gd name="T71" fmla="*/ 32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2800">
                  <a:moveTo>
                    <a:pt x="1876" y="1876"/>
                  </a:moveTo>
                  <a:cubicBezTo>
                    <a:pt x="3128" y="626"/>
                    <a:pt x="4636" y="0"/>
                    <a:pt x="6400" y="0"/>
                  </a:cubicBezTo>
                  <a:cubicBezTo>
                    <a:pt x="8164" y="0"/>
                    <a:pt x="9672" y="626"/>
                    <a:pt x="10924" y="1876"/>
                  </a:cubicBezTo>
                  <a:cubicBezTo>
                    <a:pt x="12174" y="3128"/>
                    <a:pt x="12800" y="4636"/>
                    <a:pt x="12800" y="6400"/>
                  </a:cubicBezTo>
                  <a:cubicBezTo>
                    <a:pt x="12800" y="8165"/>
                    <a:pt x="12174" y="9673"/>
                    <a:pt x="10924" y="10924"/>
                  </a:cubicBezTo>
                  <a:cubicBezTo>
                    <a:pt x="9672" y="12174"/>
                    <a:pt x="8164" y="12800"/>
                    <a:pt x="6400" y="12800"/>
                  </a:cubicBezTo>
                  <a:cubicBezTo>
                    <a:pt x="4636" y="12800"/>
                    <a:pt x="3128" y="12174"/>
                    <a:pt x="1876" y="10924"/>
                  </a:cubicBezTo>
                  <a:cubicBezTo>
                    <a:pt x="626" y="9673"/>
                    <a:pt x="0" y="8165"/>
                    <a:pt x="0" y="6400"/>
                  </a:cubicBezTo>
                  <a:cubicBezTo>
                    <a:pt x="0" y="4636"/>
                    <a:pt x="626" y="3128"/>
                    <a:pt x="1876" y="1876"/>
                  </a:cubicBezTo>
                  <a:close/>
                  <a:moveTo>
                    <a:pt x="6400" y="524"/>
                  </a:moveTo>
                  <a:cubicBezTo>
                    <a:pt x="5334" y="524"/>
                    <a:pt x="4348" y="785"/>
                    <a:pt x="3446" y="1308"/>
                  </a:cubicBezTo>
                  <a:cubicBezTo>
                    <a:pt x="2543" y="1830"/>
                    <a:pt x="1830" y="2543"/>
                    <a:pt x="1308" y="3446"/>
                  </a:cubicBezTo>
                  <a:cubicBezTo>
                    <a:pt x="785" y="4349"/>
                    <a:pt x="524" y="5334"/>
                    <a:pt x="524" y="6400"/>
                  </a:cubicBezTo>
                  <a:cubicBezTo>
                    <a:pt x="524" y="8020"/>
                    <a:pt x="1098" y="9405"/>
                    <a:pt x="2246" y="10554"/>
                  </a:cubicBezTo>
                  <a:cubicBezTo>
                    <a:pt x="3395" y="11703"/>
                    <a:pt x="4780" y="12276"/>
                    <a:pt x="6400" y="12276"/>
                  </a:cubicBezTo>
                  <a:cubicBezTo>
                    <a:pt x="8020" y="12276"/>
                    <a:pt x="9405" y="11703"/>
                    <a:pt x="10554" y="10554"/>
                  </a:cubicBezTo>
                  <a:cubicBezTo>
                    <a:pt x="11703" y="9405"/>
                    <a:pt x="12276" y="8020"/>
                    <a:pt x="12276" y="6400"/>
                  </a:cubicBezTo>
                  <a:cubicBezTo>
                    <a:pt x="12276" y="4780"/>
                    <a:pt x="11702" y="3396"/>
                    <a:pt x="10554" y="2246"/>
                  </a:cubicBezTo>
                  <a:cubicBezTo>
                    <a:pt x="9405" y="1097"/>
                    <a:pt x="8020" y="524"/>
                    <a:pt x="6400" y="524"/>
                  </a:cubicBezTo>
                  <a:close/>
                  <a:moveTo>
                    <a:pt x="6400" y="3200"/>
                  </a:moveTo>
                  <a:cubicBezTo>
                    <a:pt x="5948" y="3200"/>
                    <a:pt x="5523" y="3288"/>
                    <a:pt x="5123" y="3461"/>
                  </a:cubicBezTo>
                  <a:cubicBezTo>
                    <a:pt x="4723" y="3636"/>
                    <a:pt x="4369" y="3867"/>
                    <a:pt x="4061" y="4154"/>
                  </a:cubicBezTo>
                  <a:cubicBezTo>
                    <a:pt x="3775" y="4461"/>
                    <a:pt x="3543" y="4815"/>
                    <a:pt x="3369" y="5215"/>
                  </a:cubicBezTo>
                  <a:cubicBezTo>
                    <a:pt x="3195" y="5614"/>
                    <a:pt x="3108" y="6042"/>
                    <a:pt x="3108" y="6492"/>
                  </a:cubicBezTo>
                  <a:cubicBezTo>
                    <a:pt x="3108" y="6944"/>
                    <a:pt x="3195" y="7369"/>
                    <a:pt x="3369" y="7770"/>
                  </a:cubicBezTo>
                  <a:cubicBezTo>
                    <a:pt x="3543" y="8170"/>
                    <a:pt x="3775" y="8524"/>
                    <a:pt x="4061" y="8831"/>
                  </a:cubicBezTo>
                  <a:cubicBezTo>
                    <a:pt x="4369" y="9119"/>
                    <a:pt x="4723" y="9349"/>
                    <a:pt x="5123" y="9523"/>
                  </a:cubicBezTo>
                  <a:cubicBezTo>
                    <a:pt x="5523" y="9697"/>
                    <a:pt x="5948" y="9784"/>
                    <a:pt x="6400" y="9784"/>
                  </a:cubicBezTo>
                  <a:cubicBezTo>
                    <a:pt x="6852" y="9784"/>
                    <a:pt x="7277" y="9697"/>
                    <a:pt x="7677" y="9523"/>
                  </a:cubicBezTo>
                  <a:cubicBezTo>
                    <a:pt x="8077" y="9349"/>
                    <a:pt x="8431" y="9119"/>
                    <a:pt x="8739" y="8831"/>
                  </a:cubicBezTo>
                  <a:cubicBezTo>
                    <a:pt x="9025" y="8524"/>
                    <a:pt x="9257" y="8169"/>
                    <a:pt x="9431" y="7770"/>
                  </a:cubicBezTo>
                  <a:cubicBezTo>
                    <a:pt x="9605" y="7370"/>
                    <a:pt x="9692" y="6944"/>
                    <a:pt x="9692" y="6492"/>
                  </a:cubicBezTo>
                  <a:cubicBezTo>
                    <a:pt x="9692" y="6042"/>
                    <a:pt x="9605" y="5615"/>
                    <a:pt x="9431" y="5215"/>
                  </a:cubicBezTo>
                  <a:cubicBezTo>
                    <a:pt x="9257" y="4814"/>
                    <a:pt x="9025" y="4462"/>
                    <a:pt x="8739" y="4154"/>
                  </a:cubicBezTo>
                  <a:cubicBezTo>
                    <a:pt x="8431" y="3867"/>
                    <a:pt x="8077" y="3636"/>
                    <a:pt x="7677" y="3461"/>
                  </a:cubicBezTo>
                  <a:cubicBezTo>
                    <a:pt x="7277" y="3288"/>
                    <a:pt x="6852" y="3200"/>
                    <a:pt x="6400" y="3200"/>
                  </a:cubicBezTo>
                  <a:close/>
                </a:path>
              </a:pathLst>
            </a:custGeom>
            <a:solidFill>
              <a:schemeClr val="accent1"/>
            </a:solidFill>
            <a:ln>
              <a:solidFill>
                <a:srgbClr val="0052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cs typeface="+mn-ea"/>
                <a:sym typeface="+mn-lt"/>
              </a:endParaRPr>
            </a:p>
          </p:txBody>
        </p:sp>
        <p:sp>
          <p:nvSpPr>
            <p:cNvPr id="1038" name="文本框 1037">
              <a:extLst>
                <a:ext uri="{FF2B5EF4-FFF2-40B4-BE49-F238E27FC236}">
                  <a16:creationId xmlns:a16="http://schemas.microsoft.com/office/drawing/2014/main" id="{984C29D9-A50C-80E3-8A44-5F8EC7CF14CD}"/>
                </a:ext>
              </a:extLst>
            </p:cNvPr>
            <p:cNvSpPr txBox="1"/>
            <p:nvPr/>
          </p:nvSpPr>
          <p:spPr>
            <a:xfrm>
              <a:off x="2302741" y="5739578"/>
              <a:ext cx="754380" cy="307777"/>
            </a:xfrm>
            <a:prstGeom prst="rect">
              <a:avLst/>
            </a:prstGeom>
            <a:noFill/>
          </p:spPr>
          <p:txBody>
            <a:bodyPr wrap="square" rtlCol="0">
              <a:spAutoFit/>
            </a:bodyPr>
            <a:lstStyle/>
            <a:p>
              <a:pPr algn="ctr"/>
              <a:r>
                <a:rPr lang="en-US" altLang="zh-CN" sz="1400" dirty="0">
                  <a:cs typeface="+mn-ea"/>
                  <a:sym typeface="+mn-lt"/>
                </a:rPr>
                <a:t>2024</a:t>
              </a:r>
              <a:endParaRPr lang="zh-CN" altLang="en-US" sz="1400" dirty="0">
                <a:cs typeface="+mn-ea"/>
                <a:sym typeface="+mn-lt"/>
              </a:endParaRPr>
            </a:p>
          </p:txBody>
        </p:sp>
      </p:grpSp>
      <p:grpSp>
        <p:nvGrpSpPr>
          <p:cNvPr id="1070" name="组合 1069">
            <a:extLst>
              <a:ext uri="{FF2B5EF4-FFF2-40B4-BE49-F238E27FC236}">
                <a16:creationId xmlns:a16="http://schemas.microsoft.com/office/drawing/2014/main" id="{E602BF3A-9CF1-E5A2-1133-27AABA328861}"/>
              </a:ext>
            </a:extLst>
          </p:cNvPr>
          <p:cNvGrpSpPr/>
          <p:nvPr/>
        </p:nvGrpSpPr>
        <p:grpSpPr>
          <a:xfrm>
            <a:off x="7547529" y="3550871"/>
            <a:ext cx="1088697" cy="433036"/>
            <a:chOff x="1854080" y="4289861"/>
            <a:chExt cx="1088697" cy="433036"/>
          </a:xfrm>
        </p:grpSpPr>
        <p:pic>
          <p:nvPicPr>
            <p:cNvPr id="1071" name="图像" descr="图像">
              <a:extLst>
                <a:ext uri="{FF2B5EF4-FFF2-40B4-BE49-F238E27FC236}">
                  <a16:creationId xmlns:a16="http://schemas.microsoft.com/office/drawing/2014/main" id="{C980E913-4E30-300C-EF62-BDD26B412B4C}"/>
                </a:ext>
              </a:extLst>
            </p:cNvPr>
            <p:cNvPicPr>
              <a:picLocks noChangeAspect="1"/>
            </p:cNvPicPr>
            <p:nvPr/>
          </p:nvPicPr>
          <p:blipFill>
            <a:blip r:embed="rId6"/>
            <a:stretch>
              <a:fillRect/>
            </a:stretch>
          </p:blipFill>
          <p:spPr>
            <a:xfrm>
              <a:off x="2050289" y="4336130"/>
              <a:ext cx="306120" cy="147594"/>
            </a:xfrm>
            <a:prstGeom prst="rect">
              <a:avLst/>
            </a:prstGeom>
            <a:ln w="12700">
              <a:miter lim="400000"/>
            </a:ln>
          </p:spPr>
        </p:pic>
        <p:sp>
          <p:nvSpPr>
            <p:cNvPr id="1072" name="文本框 1071">
              <a:extLst>
                <a:ext uri="{FF2B5EF4-FFF2-40B4-BE49-F238E27FC236}">
                  <a16:creationId xmlns:a16="http://schemas.microsoft.com/office/drawing/2014/main" id="{EA8F9B55-A1AA-2EE9-DA55-0B9997FF346D}"/>
                </a:ext>
              </a:extLst>
            </p:cNvPr>
            <p:cNvSpPr txBox="1"/>
            <p:nvPr/>
          </p:nvSpPr>
          <p:spPr>
            <a:xfrm>
              <a:off x="1854080" y="4461287"/>
              <a:ext cx="1088697" cy="261610"/>
            </a:xfrm>
            <a:prstGeom prst="rect">
              <a:avLst/>
            </a:prstGeom>
            <a:noFill/>
          </p:spPr>
          <p:txBody>
            <a:bodyPr wrap="square" rtlCol="0">
              <a:spAutoFit/>
            </a:bodyPr>
            <a:lstStyle/>
            <a:p>
              <a:pPr algn="ctr"/>
              <a:r>
                <a:rPr lang="zh-CN" altLang="en-US" sz="1050" dirty="0">
                  <a:cs typeface="+mn-ea"/>
                  <a:sym typeface="+mn-lt"/>
                </a:rPr>
                <a:t>量产交付</a:t>
              </a:r>
            </a:p>
          </p:txBody>
        </p:sp>
        <p:sp>
          <p:nvSpPr>
            <p:cNvPr id="1073" name="文本框 1072">
              <a:extLst>
                <a:ext uri="{FF2B5EF4-FFF2-40B4-BE49-F238E27FC236}">
                  <a16:creationId xmlns:a16="http://schemas.microsoft.com/office/drawing/2014/main" id="{76E2EE8F-1735-4673-60DD-5E9408493BDB}"/>
                </a:ext>
              </a:extLst>
            </p:cNvPr>
            <p:cNvSpPr txBox="1"/>
            <p:nvPr/>
          </p:nvSpPr>
          <p:spPr>
            <a:xfrm>
              <a:off x="2277248" y="4289861"/>
              <a:ext cx="554528" cy="276999"/>
            </a:xfrm>
            <a:prstGeom prst="rect">
              <a:avLst/>
            </a:prstGeom>
            <a:noFill/>
          </p:spPr>
          <p:txBody>
            <a:bodyPr wrap="square">
              <a:spAutoFit/>
            </a:bodyPr>
            <a:lstStyle/>
            <a:p>
              <a:pPr algn="r"/>
              <a:r>
                <a:rPr lang="en-US" altLang="zh-CN" sz="1200" b="1" dirty="0">
                  <a:solidFill>
                    <a:schemeClr val="accent6">
                      <a:lumMod val="10000"/>
                    </a:schemeClr>
                  </a:solidFill>
                  <a:cs typeface="+mn-ea"/>
                  <a:sym typeface="+mn-lt"/>
                </a:rPr>
                <a:t>TH5</a:t>
              </a:r>
            </a:p>
          </p:txBody>
        </p:sp>
      </p:grpSp>
      <p:grpSp>
        <p:nvGrpSpPr>
          <p:cNvPr id="13" name="组合 12">
            <a:extLst>
              <a:ext uri="{FF2B5EF4-FFF2-40B4-BE49-F238E27FC236}">
                <a16:creationId xmlns:a16="http://schemas.microsoft.com/office/drawing/2014/main" id="{8C38BBD4-9A9E-3AC1-4501-B00C8778DAE9}"/>
              </a:ext>
            </a:extLst>
          </p:cNvPr>
          <p:cNvGrpSpPr/>
          <p:nvPr/>
        </p:nvGrpSpPr>
        <p:grpSpPr>
          <a:xfrm>
            <a:off x="7540739" y="3910992"/>
            <a:ext cx="1602019" cy="404728"/>
            <a:chOff x="3809830" y="4477461"/>
            <a:chExt cx="1602019" cy="404728"/>
          </a:xfrm>
        </p:grpSpPr>
        <p:sp>
          <p:nvSpPr>
            <p:cNvPr id="14" name="文本框 13">
              <a:extLst>
                <a:ext uri="{FF2B5EF4-FFF2-40B4-BE49-F238E27FC236}">
                  <a16:creationId xmlns:a16="http://schemas.microsoft.com/office/drawing/2014/main" id="{57F8740F-3118-ECA2-6F87-C8EEA43B212D}"/>
                </a:ext>
              </a:extLst>
            </p:cNvPr>
            <p:cNvSpPr txBox="1"/>
            <p:nvPr/>
          </p:nvSpPr>
          <p:spPr>
            <a:xfrm>
              <a:off x="4272760" y="4477461"/>
              <a:ext cx="1139089" cy="246221"/>
            </a:xfrm>
            <a:prstGeom prst="rect">
              <a:avLst/>
            </a:prstGeom>
            <a:noFill/>
          </p:spPr>
          <p:txBody>
            <a:bodyPr wrap="square">
              <a:spAutoFit/>
            </a:bodyPr>
            <a:lstStyle/>
            <a:p>
              <a:r>
                <a:rPr lang="en-US" altLang="zh-CN" sz="1000" b="1" dirty="0">
                  <a:solidFill>
                    <a:srgbClr val="A6A6A6"/>
                  </a:solidFill>
                  <a:cs typeface="+mn-ea"/>
                </a:rPr>
                <a:t>Teralynx10</a:t>
              </a:r>
            </a:p>
          </p:txBody>
        </p:sp>
        <p:pic>
          <p:nvPicPr>
            <p:cNvPr id="15" name="图像" descr="图像">
              <a:extLst>
                <a:ext uri="{FF2B5EF4-FFF2-40B4-BE49-F238E27FC236}">
                  <a16:creationId xmlns:a16="http://schemas.microsoft.com/office/drawing/2014/main" id="{BCA805E4-99C2-F829-CD9B-3A17621E68DA}"/>
                </a:ext>
              </a:extLst>
            </p:cNvPr>
            <p:cNvPicPr>
              <a:picLocks noChangeAspect="1"/>
            </p:cNvPicPr>
            <p:nvPr/>
          </p:nvPicPr>
          <p:blipFill>
            <a:blip r:embed="rId8"/>
            <a:stretch>
              <a:fillRect/>
            </a:stretch>
          </p:blipFill>
          <p:spPr>
            <a:xfrm>
              <a:off x="3849008" y="4534458"/>
              <a:ext cx="497769" cy="147488"/>
            </a:xfrm>
            <a:prstGeom prst="rect">
              <a:avLst/>
            </a:prstGeom>
            <a:ln w="12700">
              <a:miter lim="400000"/>
            </a:ln>
          </p:spPr>
        </p:pic>
        <p:sp>
          <p:nvSpPr>
            <p:cNvPr id="16" name="文本框 15">
              <a:extLst>
                <a:ext uri="{FF2B5EF4-FFF2-40B4-BE49-F238E27FC236}">
                  <a16:creationId xmlns:a16="http://schemas.microsoft.com/office/drawing/2014/main" id="{BC7EF852-4BE8-7C4C-2624-345DDB40618E}"/>
                </a:ext>
              </a:extLst>
            </p:cNvPr>
            <p:cNvSpPr txBox="1"/>
            <p:nvPr/>
          </p:nvSpPr>
          <p:spPr>
            <a:xfrm>
              <a:off x="3809830" y="4628273"/>
              <a:ext cx="1381195" cy="253916"/>
            </a:xfrm>
            <a:prstGeom prst="rect">
              <a:avLst/>
            </a:prstGeom>
            <a:noFill/>
          </p:spPr>
          <p:txBody>
            <a:bodyPr wrap="square" rtlCol="0">
              <a:spAutoFit/>
            </a:bodyPr>
            <a:lstStyle/>
            <a:p>
              <a:pPr algn="ctr"/>
              <a:r>
                <a:rPr lang="zh-CN" altLang="en-US" sz="1050" dirty="0">
                  <a:solidFill>
                    <a:srgbClr val="A6A6A6"/>
                  </a:solidFill>
                  <a:cs typeface="+mn-ea"/>
                  <a:sym typeface="+mn-lt"/>
                </a:rPr>
                <a:t>量产交付（非</a:t>
              </a:r>
              <a:r>
                <a:rPr lang="en-US" altLang="zh-CN" sz="1050" dirty="0">
                  <a:solidFill>
                    <a:srgbClr val="A6A6A6"/>
                  </a:solidFill>
                  <a:cs typeface="+mn-ea"/>
                  <a:sym typeface="+mn-lt"/>
                </a:rPr>
                <a:t>CPO</a:t>
              </a:r>
              <a:r>
                <a:rPr lang="zh-CN" altLang="en-US" sz="1050" dirty="0">
                  <a:solidFill>
                    <a:srgbClr val="A6A6A6"/>
                  </a:solidFill>
                  <a:cs typeface="+mn-ea"/>
                  <a:sym typeface="+mn-lt"/>
                </a:rPr>
                <a:t>）</a:t>
              </a:r>
            </a:p>
          </p:txBody>
        </p:sp>
      </p:grpSp>
      <p:cxnSp>
        <p:nvCxnSpPr>
          <p:cNvPr id="38" name="直接连接符 37">
            <a:extLst>
              <a:ext uri="{FF2B5EF4-FFF2-40B4-BE49-F238E27FC236}">
                <a16:creationId xmlns:a16="http://schemas.microsoft.com/office/drawing/2014/main" id="{659594C2-28B8-80C5-B266-B933F316C10A}"/>
              </a:ext>
            </a:extLst>
          </p:cNvPr>
          <p:cNvCxnSpPr>
            <a:cxnSpLocks/>
          </p:cNvCxnSpPr>
          <p:nvPr/>
        </p:nvCxnSpPr>
        <p:spPr>
          <a:xfrm>
            <a:off x="2315177" y="4995164"/>
            <a:ext cx="185586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815AB933-0C8A-C8A5-1639-FE116E3B205F}"/>
              </a:ext>
            </a:extLst>
          </p:cNvPr>
          <p:cNvCxnSpPr>
            <a:cxnSpLocks/>
          </p:cNvCxnSpPr>
          <p:nvPr/>
        </p:nvCxnSpPr>
        <p:spPr>
          <a:xfrm>
            <a:off x="4137309" y="3961026"/>
            <a:ext cx="0" cy="1037584"/>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F6E28EF1-ADEF-25FF-86AF-EDB1F3CC2312}"/>
              </a:ext>
            </a:extLst>
          </p:cNvPr>
          <p:cNvCxnSpPr>
            <a:cxnSpLocks/>
          </p:cNvCxnSpPr>
          <p:nvPr/>
        </p:nvCxnSpPr>
        <p:spPr>
          <a:xfrm>
            <a:off x="4138001" y="3951720"/>
            <a:ext cx="4719342"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67C61D60-D220-929E-1FD4-EBB2AE970DF3}"/>
              </a:ext>
            </a:extLst>
          </p:cNvPr>
          <p:cNvCxnSpPr>
            <a:cxnSpLocks/>
          </p:cNvCxnSpPr>
          <p:nvPr/>
        </p:nvCxnSpPr>
        <p:spPr>
          <a:xfrm>
            <a:off x="8850140" y="3319356"/>
            <a:ext cx="0" cy="64167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73CB896F-F638-3A63-C316-677D350ACB29}"/>
              </a:ext>
            </a:extLst>
          </p:cNvPr>
          <p:cNvCxnSpPr>
            <a:cxnSpLocks/>
          </p:cNvCxnSpPr>
          <p:nvPr/>
        </p:nvCxnSpPr>
        <p:spPr>
          <a:xfrm>
            <a:off x="8850140" y="3303510"/>
            <a:ext cx="133864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nvGrpSpPr>
          <p:cNvPr id="127" name="组合 126">
            <a:extLst>
              <a:ext uri="{FF2B5EF4-FFF2-40B4-BE49-F238E27FC236}">
                <a16:creationId xmlns:a16="http://schemas.microsoft.com/office/drawing/2014/main" id="{A1D43493-F922-E438-2BFE-3037D8D810A2}"/>
              </a:ext>
            </a:extLst>
          </p:cNvPr>
          <p:cNvGrpSpPr/>
          <p:nvPr/>
        </p:nvGrpSpPr>
        <p:grpSpPr>
          <a:xfrm>
            <a:off x="9434403" y="5691528"/>
            <a:ext cx="754380" cy="549547"/>
            <a:chOff x="2302741" y="5497808"/>
            <a:chExt cx="754380" cy="549547"/>
          </a:xfrm>
        </p:grpSpPr>
        <p:sp>
          <p:nvSpPr>
            <p:cNvPr id="1024" name="iconfont-1018-792472">
              <a:extLst>
                <a:ext uri="{FF2B5EF4-FFF2-40B4-BE49-F238E27FC236}">
                  <a16:creationId xmlns:a16="http://schemas.microsoft.com/office/drawing/2014/main" id="{7AF0C5E6-FB4F-D850-064D-0E2342108A03}"/>
                </a:ext>
              </a:extLst>
            </p:cNvPr>
            <p:cNvSpPr/>
            <p:nvPr/>
          </p:nvSpPr>
          <p:spPr>
            <a:xfrm>
              <a:off x="2573461" y="5497808"/>
              <a:ext cx="205783" cy="205783"/>
            </a:xfrm>
            <a:custGeom>
              <a:avLst/>
              <a:gdLst>
                <a:gd name="T0" fmla="*/ 1876 w 12800"/>
                <a:gd name="T1" fmla="*/ 1876 h 12800"/>
                <a:gd name="T2" fmla="*/ 6400 w 12800"/>
                <a:gd name="T3" fmla="*/ 0 h 12800"/>
                <a:gd name="T4" fmla="*/ 10924 w 12800"/>
                <a:gd name="T5" fmla="*/ 1876 h 12800"/>
                <a:gd name="T6" fmla="*/ 12800 w 12800"/>
                <a:gd name="T7" fmla="*/ 6400 h 12800"/>
                <a:gd name="T8" fmla="*/ 10924 w 12800"/>
                <a:gd name="T9" fmla="*/ 10924 h 12800"/>
                <a:gd name="T10" fmla="*/ 6400 w 12800"/>
                <a:gd name="T11" fmla="*/ 12800 h 12800"/>
                <a:gd name="T12" fmla="*/ 1876 w 12800"/>
                <a:gd name="T13" fmla="*/ 10924 h 12800"/>
                <a:gd name="T14" fmla="*/ 0 w 12800"/>
                <a:gd name="T15" fmla="*/ 6400 h 12800"/>
                <a:gd name="T16" fmla="*/ 1876 w 12800"/>
                <a:gd name="T17" fmla="*/ 1876 h 12800"/>
                <a:gd name="T18" fmla="*/ 6400 w 12800"/>
                <a:gd name="T19" fmla="*/ 524 h 12800"/>
                <a:gd name="T20" fmla="*/ 3446 w 12800"/>
                <a:gd name="T21" fmla="*/ 1308 h 12800"/>
                <a:gd name="T22" fmla="*/ 1308 w 12800"/>
                <a:gd name="T23" fmla="*/ 3446 h 12800"/>
                <a:gd name="T24" fmla="*/ 524 w 12800"/>
                <a:gd name="T25" fmla="*/ 6400 h 12800"/>
                <a:gd name="T26" fmla="*/ 2246 w 12800"/>
                <a:gd name="T27" fmla="*/ 10554 h 12800"/>
                <a:gd name="T28" fmla="*/ 6400 w 12800"/>
                <a:gd name="T29" fmla="*/ 12276 h 12800"/>
                <a:gd name="T30" fmla="*/ 10554 w 12800"/>
                <a:gd name="T31" fmla="*/ 10554 h 12800"/>
                <a:gd name="T32" fmla="*/ 12276 w 12800"/>
                <a:gd name="T33" fmla="*/ 6400 h 12800"/>
                <a:gd name="T34" fmla="*/ 10554 w 12800"/>
                <a:gd name="T35" fmla="*/ 2246 h 12800"/>
                <a:gd name="T36" fmla="*/ 6400 w 12800"/>
                <a:gd name="T37" fmla="*/ 524 h 12800"/>
                <a:gd name="T38" fmla="*/ 6400 w 12800"/>
                <a:gd name="T39" fmla="*/ 3200 h 12800"/>
                <a:gd name="T40" fmla="*/ 5123 w 12800"/>
                <a:gd name="T41" fmla="*/ 3461 h 12800"/>
                <a:gd name="T42" fmla="*/ 4061 w 12800"/>
                <a:gd name="T43" fmla="*/ 4154 h 12800"/>
                <a:gd name="T44" fmla="*/ 3369 w 12800"/>
                <a:gd name="T45" fmla="*/ 5215 h 12800"/>
                <a:gd name="T46" fmla="*/ 3108 w 12800"/>
                <a:gd name="T47" fmla="*/ 6492 h 12800"/>
                <a:gd name="T48" fmla="*/ 3369 w 12800"/>
                <a:gd name="T49" fmla="*/ 7770 h 12800"/>
                <a:gd name="T50" fmla="*/ 4061 w 12800"/>
                <a:gd name="T51" fmla="*/ 8831 h 12800"/>
                <a:gd name="T52" fmla="*/ 5123 w 12800"/>
                <a:gd name="T53" fmla="*/ 9523 h 12800"/>
                <a:gd name="T54" fmla="*/ 6400 w 12800"/>
                <a:gd name="T55" fmla="*/ 9784 h 12800"/>
                <a:gd name="T56" fmla="*/ 7677 w 12800"/>
                <a:gd name="T57" fmla="*/ 9523 h 12800"/>
                <a:gd name="T58" fmla="*/ 8739 w 12800"/>
                <a:gd name="T59" fmla="*/ 8831 h 12800"/>
                <a:gd name="T60" fmla="*/ 9431 w 12800"/>
                <a:gd name="T61" fmla="*/ 7770 h 12800"/>
                <a:gd name="T62" fmla="*/ 9692 w 12800"/>
                <a:gd name="T63" fmla="*/ 6492 h 12800"/>
                <a:gd name="T64" fmla="*/ 9431 w 12800"/>
                <a:gd name="T65" fmla="*/ 5215 h 12800"/>
                <a:gd name="T66" fmla="*/ 8739 w 12800"/>
                <a:gd name="T67" fmla="*/ 4154 h 12800"/>
                <a:gd name="T68" fmla="*/ 7677 w 12800"/>
                <a:gd name="T69" fmla="*/ 3461 h 12800"/>
                <a:gd name="T70" fmla="*/ 6400 w 12800"/>
                <a:gd name="T71" fmla="*/ 32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2800">
                  <a:moveTo>
                    <a:pt x="1876" y="1876"/>
                  </a:moveTo>
                  <a:cubicBezTo>
                    <a:pt x="3128" y="626"/>
                    <a:pt x="4636" y="0"/>
                    <a:pt x="6400" y="0"/>
                  </a:cubicBezTo>
                  <a:cubicBezTo>
                    <a:pt x="8164" y="0"/>
                    <a:pt x="9672" y="626"/>
                    <a:pt x="10924" y="1876"/>
                  </a:cubicBezTo>
                  <a:cubicBezTo>
                    <a:pt x="12174" y="3128"/>
                    <a:pt x="12800" y="4636"/>
                    <a:pt x="12800" y="6400"/>
                  </a:cubicBezTo>
                  <a:cubicBezTo>
                    <a:pt x="12800" y="8165"/>
                    <a:pt x="12174" y="9673"/>
                    <a:pt x="10924" y="10924"/>
                  </a:cubicBezTo>
                  <a:cubicBezTo>
                    <a:pt x="9672" y="12174"/>
                    <a:pt x="8164" y="12800"/>
                    <a:pt x="6400" y="12800"/>
                  </a:cubicBezTo>
                  <a:cubicBezTo>
                    <a:pt x="4636" y="12800"/>
                    <a:pt x="3128" y="12174"/>
                    <a:pt x="1876" y="10924"/>
                  </a:cubicBezTo>
                  <a:cubicBezTo>
                    <a:pt x="626" y="9673"/>
                    <a:pt x="0" y="8165"/>
                    <a:pt x="0" y="6400"/>
                  </a:cubicBezTo>
                  <a:cubicBezTo>
                    <a:pt x="0" y="4636"/>
                    <a:pt x="626" y="3128"/>
                    <a:pt x="1876" y="1876"/>
                  </a:cubicBezTo>
                  <a:close/>
                  <a:moveTo>
                    <a:pt x="6400" y="524"/>
                  </a:moveTo>
                  <a:cubicBezTo>
                    <a:pt x="5334" y="524"/>
                    <a:pt x="4348" y="785"/>
                    <a:pt x="3446" y="1308"/>
                  </a:cubicBezTo>
                  <a:cubicBezTo>
                    <a:pt x="2543" y="1830"/>
                    <a:pt x="1830" y="2543"/>
                    <a:pt x="1308" y="3446"/>
                  </a:cubicBezTo>
                  <a:cubicBezTo>
                    <a:pt x="785" y="4349"/>
                    <a:pt x="524" y="5334"/>
                    <a:pt x="524" y="6400"/>
                  </a:cubicBezTo>
                  <a:cubicBezTo>
                    <a:pt x="524" y="8020"/>
                    <a:pt x="1098" y="9405"/>
                    <a:pt x="2246" y="10554"/>
                  </a:cubicBezTo>
                  <a:cubicBezTo>
                    <a:pt x="3395" y="11703"/>
                    <a:pt x="4780" y="12276"/>
                    <a:pt x="6400" y="12276"/>
                  </a:cubicBezTo>
                  <a:cubicBezTo>
                    <a:pt x="8020" y="12276"/>
                    <a:pt x="9405" y="11703"/>
                    <a:pt x="10554" y="10554"/>
                  </a:cubicBezTo>
                  <a:cubicBezTo>
                    <a:pt x="11703" y="9405"/>
                    <a:pt x="12276" y="8020"/>
                    <a:pt x="12276" y="6400"/>
                  </a:cubicBezTo>
                  <a:cubicBezTo>
                    <a:pt x="12276" y="4780"/>
                    <a:pt x="11702" y="3396"/>
                    <a:pt x="10554" y="2246"/>
                  </a:cubicBezTo>
                  <a:cubicBezTo>
                    <a:pt x="9405" y="1097"/>
                    <a:pt x="8020" y="524"/>
                    <a:pt x="6400" y="524"/>
                  </a:cubicBezTo>
                  <a:close/>
                  <a:moveTo>
                    <a:pt x="6400" y="3200"/>
                  </a:moveTo>
                  <a:cubicBezTo>
                    <a:pt x="5948" y="3200"/>
                    <a:pt x="5523" y="3288"/>
                    <a:pt x="5123" y="3461"/>
                  </a:cubicBezTo>
                  <a:cubicBezTo>
                    <a:pt x="4723" y="3636"/>
                    <a:pt x="4369" y="3867"/>
                    <a:pt x="4061" y="4154"/>
                  </a:cubicBezTo>
                  <a:cubicBezTo>
                    <a:pt x="3775" y="4461"/>
                    <a:pt x="3543" y="4815"/>
                    <a:pt x="3369" y="5215"/>
                  </a:cubicBezTo>
                  <a:cubicBezTo>
                    <a:pt x="3195" y="5614"/>
                    <a:pt x="3108" y="6042"/>
                    <a:pt x="3108" y="6492"/>
                  </a:cubicBezTo>
                  <a:cubicBezTo>
                    <a:pt x="3108" y="6944"/>
                    <a:pt x="3195" y="7369"/>
                    <a:pt x="3369" y="7770"/>
                  </a:cubicBezTo>
                  <a:cubicBezTo>
                    <a:pt x="3543" y="8170"/>
                    <a:pt x="3775" y="8524"/>
                    <a:pt x="4061" y="8831"/>
                  </a:cubicBezTo>
                  <a:cubicBezTo>
                    <a:pt x="4369" y="9119"/>
                    <a:pt x="4723" y="9349"/>
                    <a:pt x="5123" y="9523"/>
                  </a:cubicBezTo>
                  <a:cubicBezTo>
                    <a:pt x="5523" y="9697"/>
                    <a:pt x="5948" y="9784"/>
                    <a:pt x="6400" y="9784"/>
                  </a:cubicBezTo>
                  <a:cubicBezTo>
                    <a:pt x="6852" y="9784"/>
                    <a:pt x="7277" y="9697"/>
                    <a:pt x="7677" y="9523"/>
                  </a:cubicBezTo>
                  <a:cubicBezTo>
                    <a:pt x="8077" y="9349"/>
                    <a:pt x="8431" y="9119"/>
                    <a:pt x="8739" y="8831"/>
                  </a:cubicBezTo>
                  <a:cubicBezTo>
                    <a:pt x="9025" y="8524"/>
                    <a:pt x="9257" y="8169"/>
                    <a:pt x="9431" y="7770"/>
                  </a:cubicBezTo>
                  <a:cubicBezTo>
                    <a:pt x="9605" y="7370"/>
                    <a:pt x="9692" y="6944"/>
                    <a:pt x="9692" y="6492"/>
                  </a:cubicBezTo>
                  <a:cubicBezTo>
                    <a:pt x="9692" y="6042"/>
                    <a:pt x="9605" y="5615"/>
                    <a:pt x="9431" y="5215"/>
                  </a:cubicBezTo>
                  <a:cubicBezTo>
                    <a:pt x="9257" y="4814"/>
                    <a:pt x="9025" y="4462"/>
                    <a:pt x="8739" y="4154"/>
                  </a:cubicBezTo>
                  <a:cubicBezTo>
                    <a:pt x="8431" y="3867"/>
                    <a:pt x="8077" y="3636"/>
                    <a:pt x="7677" y="3461"/>
                  </a:cubicBezTo>
                  <a:cubicBezTo>
                    <a:pt x="7277" y="3288"/>
                    <a:pt x="6852" y="3200"/>
                    <a:pt x="6400" y="3200"/>
                  </a:cubicBezTo>
                  <a:close/>
                </a:path>
              </a:pathLst>
            </a:custGeom>
            <a:solidFill>
              <a:schemeClr val="accent1"/>
            </a:solidFill>
            <a:ln>
              <a:solidFill>
                <a:srgbClr val="0052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cs typeface="+mn-ea"/>
                <a:sym typeface="+mn-lt"/>
              </a:endParaRPr>
            </a:p>
          </p:txBody>
        </p:sp>
        <p:sp>
          <p:nvSpPr>
            <p:cNvPr id="1025" name="文本框 1024">
              <a:extLst>
                <a:ext uri="{FF2B5EF4-FFF2-40B4-BE49-F238E27FC236}">
                  <a16:creationId xmlns:a16="http://schemas.microsoft.com/office/drawing/2014/main" id="{23D0C599-611C-273C-24CF-A34740DECC5A}"/>
                </a:ext>
              </a:extLst>
            </p:cNvPr>
            <p:cNvSpPr txBox="1"/>
            <p:nvPr/>
          </p:nvSpPr>
          <p:spPr>
            <a:xfrm>
              <a:off x="2302741" y="5739578"/>
              <a:ext cx="754380" cy="307777"/>
            </a:xfrm>
            <a:prstGeom prst="rect">
              <a:avLst/>
            </a:prstGeom>
            <a:noFill/>
          </p:spPr>
          <p:txBody>
            <a:bodyPr wrap="square" rtlCol="0">
              <a:spAutoFit/>
            </a:bodyPr>
            <a:lstStyle/>
            <a:p>
              <a:pPr algn="ctr"/>
              <a:r>
                <a:rPr lang="en-US" altLang="zh-CN" sz="1400" dirty="0">
                  <a:cs typeface="+mn-ea"/>
                  <a:sym typeface="+mn-lt"/>
                </a:rPr>
                <a:t>2025</a:t>
              </a:r>
              <a:endParaRPr lang="zh-CN" altLang="en-US" sz="1400" dirty="0">
                <a:cs typeface="+mn-ea"/>
                <a:sym typeface="+mn-lt"/>
              </a:endParaRPr>
            </a:p>
          </p:txBody>
        </p:sp>
      </p:grpSp>
      <p:grpSp>
        <p:nvGrpSpPr>
          <p:cNvPr id="1074" name="组合 1073">
            <a:extLst>
              <a:ext uri="{FF2B5EF4-FFF2-40B4-BE49-F238E27FC236}">
                <a16:creationId xmlns:a16="http://schemas.microsoft.com/office/drawing/2014/main" id="{C1C15FF8-B38E-2347-E6BF-0AA597530D07}"/>
              </a:ext>
            </a:extLst>
          </p:cNvPr>
          <p:cNvGrpSpPr/>
          <p:nvPr/>
        </p:nvGrpSpPr>
        <p:grpSpPr>
          <a:xfrm>
            <a:off x="9118181" y="2692573"/>
            <a:ext cx="1137654" cy="586924"/>
            <a:chOff x="1854080" y="4289861"/>
            <a:chExt cx="1137654" cy="586924"/>
          </a:xfrm>
        </p:grpSpPr>
        <p:pic>
          <p:nvPicPr>
            <p:cNvPr id="1075" name="图像" descr="图像">
              <a:extLst>
                <a:ext uri="{FF2B5EF4-FFF2-40B4-BE49-F238E27FC236}">
                  <a16:creationId xmlns:a16="http://schemas.microsoft.com/office/drawing/2014/main" id="{A6744F7E-615C-3075-A124-F1955C3CF7D8}"/>
                </a:ext>
              </a:extLst>
            </p:cNvPr>
            <p:cNvPicPr>
              <a:picLocks noChangeAspect="1"/>
            </p:cNvPicPr>
            <p:nvPr/>
          </p:nvPicPr>
          <p:blipFill>
            <a:blip r:embed="rId6"/>
            <a:stretch>
              <a:fillRect/>
            </a:stretch>
          </p:blipFill>
          <p:spPr>
            <a:xfrm>
              <a:off x="2050289" y="4336130"/>
              <a:ext cx="306120" cy="147594"/>
            </a:xfrm>
            <a:prstGeom prst="rect">
              <a:avLst/>
            </a:prstGeom>
            <a:ln w="12700">
              <a:miter lim="400000"/>
            </a:ln>
          </p:spPr>
        </p:pic>
        <p:sp>
          <p:nvSpPr>
            <p:cNvPr id="1076" name="文本框 1075">
              <a:extLst>
                <a:ext uri="{FF2B5EF4-FFF2-40B4-BE49-F238E27FC236}">
                  <a16:creationId xmlns:a16="http://schemas.microsoft.com/office/drawing/2014/main" id="{7F1B6AD4-6C8B-B494-A452-8E980E9C3488}"/>
                </a:ext>
              </a:extLst>
            </p:cNvPr>
            <p:cNvSpPr txBox="1"/>
            <p:nvPr/>
          </p:nvSpPr>
          <p:spPr>
            <a:xfrm>
              <a:off x="1854080" y="4461287"/>
              <a:ext cx="1137654" cy="415498"/>
            </a:xfrm>
            <a:prstGeom prst="rect">
              <a:avLst/>
            </a:prstGeom>
            <a:noFill/>
          </p:spPr>
          <p:txBody>
            <a:bodyPr wrap="square" rtlCol="0">
              <a:spAutoFit/>
            </a:bodyPr>
            <a:lstStyle/>
            <a:p>
              <a:pPr algn="ctr"/>
              <a:r>
                <a:rPr lang="en-US" altLang="zh-CN" sz="1050" dirty="0">
                  <a:cs typeface="+mn-ea"/>
                  <a:sym typeface="+mn-lt"/>
                </a:rPr>
                <a:t>25.06 </a:t>
              </a:r>
              <a:r>
                <a:rPr lang="zh-CN" altLang="en-US" sz="1050" dirty="0">
                  <a:cs typeface="+mn-ea"/>
                  <a:sym typeface="+mn-lt"/>
                </a:rPr>
                <a:t>量产交付</a:t>
              </a:r>
              <a:endParaRPr lang="en-US" altLang="zh-CN" sz="1050" dirty="0">
                <a:cs typeface="+mn-ea"/>
                <a:sym typeface="+mn-lt"/>
              </a:endParaRPr>
            </a:p>
            <a:p>
              <a:pPr algn="ctr"/>
              <a:endParaRPr lang="zh-CN" altLang="en-US" sz="1050" dirty="0">
                <a:cs typeface="+mn-ea"/>
                <a:sym typeface="+mn-lt"/>
              </a:endParaRPr>
            </a:p>
          </p:txBody>
        </p:sp>
        <p:sp>
          <p:nvSpPr>
            <p:cNvPr id="1077" name="文本框 1076">
              <a:extLst>
                <a:ext uri="{FF2B5EF4-FFF2-40B4-BE49-F238E27FC236}">
                  <a16:creationId xmlns:a16="http://schemas.microsoft.com/office/drawing/2014/main" id="{1924BB38-0D65-1DD3-A576-58761C9BB514}"/>
                </a:ext>
              </a:extLst>
            </p:cNvPr>
            <p:cNvSpPr txBox="1"/>
            <p:nvPr/>
          </p:nvSpPr>
          <p:spPr>
            <a:xfrm>
              <a:off x="2277248" y="4289861"/>
              <a:ext cx="554528" cy="276999"/>
            </a:xfrm>
            <a:prstGeom prst="rect">
              <a:avLst/>
            </a:prstGeom>
            <a:noFill/>
          </p:spPr>
          <p:txBody>
            <a:bodyPr wrap="square">
              <a:spAutoFit/>
            </a:bodyPr>
            <a:lstStyle/>
            <a:p>
              <a:pPr algn="r"/>
              <a:r>
                <a:rPr lang="en-US" altLang="zh-CN" sz="1200" b="1" dirty="0">
                  <a:solidFill>
                    <a:schemeClr val="accent6">
                      <a:lumMod val="10000"/>
                    </a:schemeClr>
                  </a:solidFill>
                  <a:cs typeface="+mn-ea"/>
                  <a:sym typeface="+mn-lt"/>
                </a:rPr>
                <a:t>TH6</a:t>
              </a:r>
            </a:p>
          </p:txBody>
        </p:sp>
      </p:grpSp>
      <p:grpSp>
        <p:nvGrpSpPr>
          <p:cNvPr id="60" name="组合 59">
            <a:extLst>
              <a:ext uri="{FF2B5EF4-FFF2-40B4-BE49-F238E27FC236}">
                <a16:creationId xmlns:a16="http://schemas.microsoft.com/office/drawing/2014/main" id="{7C48F1A3-D786-E4DF-401A-917C46558707}"/>
              </a:ext>
            </a:extLst>
          </p:cNvPr>
          <p:cNvGrpSpPr/>
          <p:nvPr/>
        </p:nvGrpSpPr>
        <p:grpSpPr>
          <a:xfrm>
            <a:off x="10216616" y="2706121"/>
            <a:ext cx="1372572" cy="456354"/>
            <a:chOff x="4812052" y="3071024"/>
            <a:chExt cx="1372572" cy="456354"/>
          </a:xfrm>
        </p:grpSpPr>
        <p:pic>
          <p:nvPicPr>
            <p:cNvPr id="1048" name="图像" descr="图像">
              <a:extLst>
                <a:ext uri="{FF2B5EF4-FFF2-40B4-BE49-F238E27FC236}">
                  <a16:creationId xmlns:a16="http://schemas.microsoft.com/office/drawing/2014/main" id="{0683585B-22F3-9DA0-E9C8-2DF87DF7CFFF}"/>
                </a:ext>
              </a:extLst>
            </p:cNvPr>
            <p:cNvPicPr>
              <a:picLocks noChangeAspect="1"/>
            </p:cNvPicPr>
            <p:nvPr/>
          </p:nvPicPr>
          <p:blipFill>
            <a:blip r:embed="rId9"/>
            <a:stretch>
              <a:fillRect/>
            </a:stretch>
          </p:blipFill>
          <p:spPr>
            <a:xfrm>
              <a:off x="4876516" y="3094070"/>
              <a:ext cx="258700" cy="205784"/>
            </a:xfrm>
            <a:prstGeom prst="rect">
              <a:avLst/>
            </a:prstGeom>
            <a:ln w="12700">
              <a:miter lim="400000"/>
            </a:ln>
          </p:spPr>
        </p:pic>
        <p:grpSp>
          <p:nvGrpSpPr>
            <p:cNvPr id="1083" name="组合 1082">
              <a:extLst>
                <a:ext uri="{FF2B5EF4-FFF2-40B4-BE49-F238E27FC236}">
                  <a16:creationId xmlns:a16="http://schemas.microsoft.com/office/drawing/2014/main" id="{C4025FA0-2555-83B8-81C1-C52CC2E937DD}"/>
                </a:ext>
              </a:extLst>
            </p:cNvPr>
            <p:cNvGrpSpPr/>
            <p:nvPr/>
          </p:nvGrpSpPr>
          <p:grpSpPr>
            <a:xfrm>
              <a:off x="4812052" y="3071024"/>
              <a:ext cx="1372572" cy="456354"/>
              <a:chOff x="1680466" y="4286017"/>
              <a:chExt cx="1372572" cy="456354"/>
            </a:xfrm>
          </p:grpSpPr>
          <p:sp>
            <p:nvSpPr>
              <p:cNvPr id="1085" name="文本框 1084">
                <a:extLst>
                  <a:ext uri="{FF2B5EF4-FFF2-40B4-BE49-F238E27FC236}">
                    <a16:creationId xmlns:a16="http://schemas.microsoft.com/office/drawing/2014/main" id="{47EDAC5D-A457-72C6-852E-2E505182A312}"/>
                  </a:ext>
                </a:extLst>
              </p:cNvPr>
              <p:cNvSpPr txBox="1"/>
              <p:nvPr/>
            </p:nvSpPr>
            <p:spPr>
              <a:xfrm>
                <a:off x="1680466" y="4480761"/>
                <a:ext cx="1088697" cy="261610"/>
              </a:xfrm>
              <a:prstGeom prst="rect">
                <a:avLst/>
              </a:prstGeom>
              <a:noFill/>
            </p:spPr>
            <p:txBody>
              <a:bodyPr wrap="square" rtlCol="0">
                <a:spAutoFit/>
              </a:bodyPr>
              <a:lstStyle/>
              <a:p>
                <a:pPr algn="ctr"/>
                <a:r>
                  <a:rPr lang="en-US" altLang="zh-CN" sz="1050" dirty="0">
                    <a:cs typeface="+mn-ea"/>
                    <a:sym typeface="+mn-lt"/>
                  </a:rPr>
                  <a:t>26</a:t>
                </a:r>
                <a:r>
                  <a:rPr lang="zh-CN" altLang="en-US" sz="1050" dirty="0">
                    <a:cs typeface="+mn-ea"/>
                    <a:sym typeface="+mn-lt"/>
                  </a:rPr>
                  <a:t>量产</a:t>
                </a:r>
              </a:p>
            </p:txBody>
          </p:sp>
          <p:sp>
            <p:nvSpPr>
              <p:cNvPr id="1086" name="文本框 1085">
                <a:extLst>
                  <a:ext uri="{FF2B5EF4-FFF2-40B4-BE49-F238E27FC236}">
                    <a16:creationId xmlns:a16="http://schemas.microsoft.com/office/drawing/2014/main" id="{8F3793D4-D5A8-BCF6-548D-919A35D9B7D2}"/>
                  </a:ext>
                </a:extLst>
              </p:cNvPr>
              <p:cNvSpPr txBox="1"/>
              <p:nvPr/>
            </p:nvSpPr>
            <p:spPr>
              <a:xfrm>
                <a:off x="1944111" y="4286017"/>
                <a:ext cx="1108927" cy="246221"/>
              </a:xfrm>
              <a:prstGeom prst="rect">
                <a:avLst/>
              </a:prstGeom>
              <a:noFill/>
            </p:spPr>
            <p:txBody>
              <a:bodyPr wrap="square">
                <a:spAutoFit/>
              </a:bodyPr>
              <a:lstStyle/>
              <a:p>
                <a:r>
                  <a:rPr lang="en-US" altLang="zh-CN" sz="1000" b="1" dirty="0">
                    <a:solidFill>
                      <a:schemeClr val="accent6">
                        <a:lumMod val="10000"/>
                      </a:schemeClr>
                    </a:solidFill>
                    <a:cs typeface="+mn-ea"/>
                    <a:sym typeface="+mn-lt"/>
                  </a:rPr>
                  <a:t>Spectrum 6</a:t>
                </a:r>
              </a:p>
            </p:txBody>
          </p:sp>
        </p:grpSp>
      </p:grpSp>
      <p:grpSp>
        <p:nvGrpSpPr>
          <p:cNvPr id="62" name="组合 61">
            <a:extLst>
              <a:ext uri="{FF2B5EF4-FFF2-40B4-BE49-F238E27FC236}">
                <a16:creationId xmlns:a16="http://schemas.microsoft.com/office/drawing/2014/main" id="{E3579D6F-B950-0FFD-EC91-DAE986419410}"/>
              </a:ext>
            </a:extLst>
          </p:cNvPr>
          <p:cNvGrpSpPr/>
          <p:nvPr/>
        </p:nvGrpSpPr>
        <p:grpSpPr>
          <a:xfrm>
            <a:off x="9180404" y="3542631"/>
            <a:ext cx="1372572" cy="456354"/>
            <a:chOff x="4812052" y="3071024"/>
            <a:chExt cx="1372572" cy="456354"/>
          </a:xfrm>
        </p:grpSpPr>
        <p:pic>
          <p:nvPicPr>
            <p:cNvPr id="63" name="图像" descr="图像">
              <a:extLst>
                <a:ext uri="{FF2B5EF4-FFF2-40B4-BE49-F238E27FC236}">
                  <a16:creationId xmlns:a16="http://schemas.microsoft.com/office/drawing/2014/main" id="{7CE4FE3A-99AE-78A5-1B03-679226B27FA0}"/>
                </a:ext>
              </a:extLst>
            </p:cNvPr>
            <p:cNvPicPr>
              <a:picLocks noChangeAspect="1"/>
            </p:cNvPicPr>
            <p:nvPr/>
          </p:nvPicPr>
          <p:blipFill>
            <a:blip r:embed="rId9"/>
            <a:stretch>
              <a:fillRect/>
            </a:stretch>
          </p:blipFill>
          <p:spPr>
            <a:xfrm>
              <a:off x="4876516" y="3094070"/>
              <a:ext cx="258700" cy="205784"/>
            </a:xfrm>
            <a:prstGeom prst="rect">
              <a:avLst/>
            </a:prstGeom>
            <a:ln w="12700">
              <a:miter lim="400000"/>
            </a:ln>
          </p:spPr>
        </p:pic>
        <p:grpSp>
          <p:nvGrpSpPr>
            <p:cNvPr id="64" name="组合 63">
              <a:extLst>
                <a:ext uri="{FF2B5EF4-FFF2-40B4-BE49-F238E27FC236}">
                  <a16:creationId xmlns:a16="http://schemas.microsoft.com/office/drawing/2014/main" id="{034F3584-850E-22C1-4065-516B8D2304BD}"/>
                </a:ext>
              </a:extLst>
            </p:cNvPr>
            <p:cNvGrpSpPr/>
            <p:nvPr/>
          </p:nvGrpSpPr>
          <p:grpSpPr>
            <a:xfrm>
              <a:off x="4812052" y="3071024"/>
              <a:ext cx="1372572" cy="456354"/>
              <a:chOff x="1680466" y="4286017"/>
              <a:chExt cx="1372572" cy="456354"/>
            </a:xfrm>
          </p:grpSpPr>
          <p:sp>
            <p:nvSpPr>
              <p:cNvPr id="65" name="文本框 64">
                <a:extLst>
                  <a:ext uri="{FF2B5EF4-FFF2-40B4-BE49-F238E27FC236}">
                    <a16:creationId xmlns:a16="http://schemas.microsoft.com/office/drawing/2014/main" id="{0D7EB8BB-BF22-FAE5-806B-A6E29FC24C57}"/>
                  </a:ext>
                </a:extLst>
              </p:cNvPr>
              <p:cNvSpPr txBox="1"/>
              <p:nvPr/>
            </p:nvSpPr>
            <p:spPr>
              <a:xfrm>
                <a:off x="1680466" y="4480761"/>
                <a:ext cx="1088697" cy="261610"/>
              </a:xfrm>
              <a:prstGeom prst="rect">
                <a:avLst/>
              </a:prstGeom>
              <a:noFill/>
            </p:spPr>
            <p:txBody>
              <a:bodyPr wrap="square" rtlCol="0">
                <a:spAutoFit/>
              </a:bodyPr>
              <a:lstStyle/>
              <a:p>
                <a:pPr algn="ctr"/>
                <a:r>
                  <a:rPr lang="zh-CN" altLang="en-US" sz="1050" dirty="0">
                    <a:cs typeface="+mn-ea"/>
                    <a:sym typeface="+mn-lt"/>
                  </a:rPr>
                  <a:t>发布、量产</a:t>
                </a:r>
              </a:p>
            </p:txBody>
          </p:sp>
          <p:sp>
            <p:nvSpPr>
              <p:cNvPr id="66" name="文本框 65">
                <a:extLst>
                  <a:ext uri="{FF2B5EF4-FFF2-40B4-BE49-F238E27FC236}">
                    <a16:creationId xmlns:a16="http://schemas.microsoft.com/office/drawing/2014/main" id="{AB011860-7AA9-694B-D98D-56EB50211C52}"/>
                  </a:ext>
                </a:extLst>
              </p:cNvPr>
              <p:cNvSpPr txBox="1"/>
              <p:nvPr/>
            </p:nvSpPr>
            <p:spPr>
              <a:xfrm>
                <a:off x="1944111" y="4286017"/>
                <a:ext cx="1108927" cy="246221"/>
              </a:xfrm>
              <a:prstGeom prst="rect">
                <a:avLst/>
              </a:prstGeom>
              <a:noFill/>
            </p:spPr>
            <p:txBody>
              <a:bodyPr wrap="square">
                <a:spAutoFit/>
              </a:bodyPr>
              <a:lstStyle/>
              <a:p>
                <a:r>
                  <a:rPr lang="en-US" altLang="zh-CN" sz="1000" b="1" dirty="0">
                    <a:solidFill>
                      <a:schemeClr val="accent6">
                        <a:lumMod val="10000"/>
                      </a:schemeClr>
                    </a:solidFill>
                    <a:cs typeface="+mn-ea"/>
                    <a:sym typeface="+mn-lt"/>
                  </a:rPr>
                  <a:t>Spectrum 5</a:t>
                </a:r>
              </a:p>
            </p:txBody>
          </p:sp>
        </p:grpSp>
      </p:grpSp>
      <p:cxnSp>
        <p:nvCxnSpPr>
          <p:cNvPr id="71" name="直接连接符 70">
            <a:extLst>
              <a:ext uri="{FF2B5EF4-FFF2-40B4-BE49-F238E27FC236}">
                <a16:creationId xmlns:a16="http://schemas.microsoft.com/office/drawing/2014/main" id="{5592A4CA-65CA-0A51-BE23-797E10DFF4A3}"/>
              </a:ext>
            </a:extLst>
          </p:cNvPr>
          <p:cNvCxnSpPr>
            <a:cxnSpLocks/>
            <a:stCxn id="3" idx="2"/>
          </p:cNvCxnSpPr>
          <p:nvPr/>
        </p:nvCxnSpPr>
        <p:spPr>
          <a:xfrm>
            <a:off x="10153573" y="2575944"/>
            <a:ext cx="0" cy="72945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96" name="矩形 95">
            <a:extLst>
              <a:ext uri="{FF2B5EF4-FFF2-40B4-BE49-F238E27FC236}">
                <a16:creationId xmlns:a16="http://schemas.microsoft.com/office/drawing/2014/main" id="{7F6C77D9-FFDD-A14B-B57A-D85A6E9445E2}"/>
              </a:ext>
            </a:extLst>
          </p:cNvPr>
          <p:cNvSpPr/>
          <p:nvPr/>
        </p:nvSpPr>
        <p:spPr>
          <a:xfrm>
            <a:off x="4122125" y="1649428"/>
            <a:ext cx="3848572" cy="496914"/>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6">
                    <a:lumMod val="10000"/>
                  </a:schemeClr>
                </a:solidFill>
                <a:cs typeface="+mn-ea"/>
                <a:sym typeface="+mn-lt"/>
              </a:rPr>
              <a:t>全能巨头在</a:t>
            </a:r>
            <a:r>
              <a:rPr lang="en-US" altLang="zh-CN" sz="1600" dirty="0">
                <a:solidFill>
                  <a:schemeClr val="accent6">
                    <a:lumMod val="10000"/>
                  </a:schemeClr>
                </a:solidFill>
                <a:cs typeface="+mn-ea"/>
                <a:sym typeface="+mn-lt"/>
              </a:rPr>
              <a:t>CPO</a:t>
            </a:r>
            <a:r>
              <a:rPr lang="zh-CN" altLang="en-US" sz="1600" dirty="0">
                <a:solidFill>
                  <a:schemeClr val="accent6">
                    <a:lumMod val="10000"/>
                  </a:schemeClr>
                </a:solidFill>
                <a:cs typeface="+mn-ea"/>
                <a:sym typeface="+mn-lt"/>
              </a:rPr>
              <a:t>交换芯片的布局时间线</a:t>
            </a:r>
            <a:endParaRPr lang="en-US" altLang="zh-CN" sz="1600" dirty="0">
              <a:solidFill>
                <a:schemeClr val="accent6">
                  <a:lumMod val="10000"/>
                </a:schemeClr>
              </a:solidFill>
              <a:cs typeface="+mn-ea"/>
              <a:sym typeface="+mn-lt"/>
            </a:endParaRPr>
          </a:p>
        </p:txBody>
      </p:sp>
    </p:spTree>
    <p:extLst>
      <p:ext uri="{BB962C8B-B14F-4D97-AF65-F5344CB8AC3E}">
        <p14:creationId xmlns:p14="http://schemas.microsoft.com/office/powerpoint/2010/main" val="1326743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 name="think-cell data - do not delete" hidden="1">
            <a:extLst>
              <a:ext uri="{FF2B5EF4-FFF2-40B4-BE49-F238E27FC236}">
                <a16:creationId xmlns:a16="http://schemas.microsoft.com/office/drawing/2014/main" id="{A990E2C8-8DD7-2A1E-C004-C710B2EDFC5B}"/>
              </a:ext>
            </a:extLst>
          </p:cNvPr>
          <p:cNvGraphicFramePr>
            <a:graphicFrameLocks noChangeAspect="1"/>
          </p:cNvGraphicFramePr>
          <p:nvPr>
            <p:custDataLst>
              <p:tags r:id="rId1"/>
            </p:custDataLst>
            <p:extLst>
              <p:ext uri="{D42A27DB-BD31-4B8C-83A1-F6EECF244321}">
                <p14:modId xmlns:p14="http://schemas.microsoft.com/office/powerpoint/2010/main" val="15006781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5" imgW="401" imgH="401" progId="TCLayout.ActiveDocument.1">
                  <p:embed/>
                </p:oleObj>
              </mc:Choice>
              <mc:Fallback>
                <p:oleObj name="think-cell 幻灯片" r:id="rId5" imgW="401" imgH="401"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graphicFrame>
        <p:nvGraphicFramePr>
          <p:cNvPr id="6" name="表格 5">
            <a:extLst>
              <a:ext uri="{FF2B5EF4-FFF2-40B4-BE49-F238E27FC236}">
                <a16:creationId xmlns:a16="http://schemas.microsoft.com/office/drawing/2014/main" id="{FD173622-EB81-C299-1596-6EC34F7AD632}"/>
              </a:ext>
            </a:extLst>
          </p:cNvPr>
          <p:cNvGraphicFramePr>
            <a:graphicFrameLocks noGrp="1"/>
          </p:cNvGraphicFramePr>
          <p:nvPr>
            <p:extLst>
              <p:ext uri="{D42A27DB-BD31-4B8C-83A1-F6EECF244321}">
                <p14:modId xmlns:p14="http://schemas.microsoft.com/office/powerpoint/2010/main" val="409294571"/>
              </p:ext>
            </p:extLst>
          </p:nvPr>
        </p:nvGraphicFramePr>
        <p:xfrm>
          <a:off x="1626469" y="2015286"/>
          <a:ext cx="9491980" cy="3633768"/>
        </p:xfrm>
        <a:graphic>
          <a:graphicData uri="http://schemas.openxmlformats.org/drawingml/2006/table">
            <a:tbl>
              <a:tblPr>
                <a:tableStyleId>{5C22544A-7EE6-4342-B048-85BDC9FD1C3A}</a:tableStyleId>
              </a:tblPr>
              <a:tblGrid>
                <a:gridCol w="1898397">
                  <a:extLst>
                    <a:ext uri="{9D8B030D-6E8A-4147-A177-3AD203B41FA5}">
                      <a16:colId xmlns:a16="http://schemas.microsoft.com/office/drawing/2014/main" val="20000"/>
                    </a:ext>
                  </a:extLst>
                </a:gridCol>
                <a:gridCol w="1898397">
                  <a:extLst>
                    <a:ext uri="{9D8B030D-6E8A-4147-A177-3AD203B41FA5}">
                      <a16:colId xmlns:a16="http://schemas.microsoft.com/office/drawing/2014/main" val="20001"/>
                    </a:ext>
                  </a:extLst>
                </a:gridCol>
                <a:gridCol w="1898397">
                  <a:extLst>
                    <a:ext uri="{9D8B030D-6E8A-4147-A177-3AD203B41FA5}">
                      <a16:colId xmlns:a16="http://schemas.microsoft.com/office/drawing/2014/main" val="20002"/>
                    </a:ext>
                  </a:extLst>
                </a:gridCol>
                <a:gridCol w="1891363">
                  <a:extLst>
                    <a:ext uri="{9D8B030D-6E8A-4147-A177-3AD203B41FA5}">
                      <a16:colId xmlns:a16="http://schemas.microsoft.com/office/drawing/2014/main" val="20003"/>
                    </a:ext>
                  </a:extLst>
                </a:gridCol>
                <a:gridCol w="1905426">
                  <a:extLst>
                    <a:ext uri="{9D8B030D-6E8A-4147-A177-3AD203B41FA5}">
                      <a16:colId xmlns:a16="http://schemas.microsoft.com/office/drawing/2014/main" val="20004"/>
                    </a:ext>
                  </a:extLst>
                </a:gridCol>
              </a:tblGrid>
              <a:tr h="430614">
                <a:tc>
                  <a:txBody>
                    <a:bodyPr/>
                    <a:lstStyle/>
                    <a:p>
                      <a:pPr algn="ctr" fontAlgn="ctr"/>
                      <a:r>
                        <a:rPr lang="en-US" altLang="zh-CN" sz="1400" b="1" u="none" strike="noStrike" dirty="0">
                          <a:solidFill>
                            <a:schemeClr val="accent6">
                              <a:lumMod val="10000"/>
                            </a:schemeClr>
                          </a:solidFill>
                          <a:effectLst/>
                          <a:latin typeface="+mj-lt"/>
                          <a:ea typeface="+mn-ea"/>
                        </a:rPr>
                        <a:t>Broadcom</a:t>
                      </a:r>
                      <a:endParaRPr lang="en-US" altLang="zh-CN" sz="1400" b="1" i="0" u="none" strike="noStrike" dirty="0">
                        <a:solidFill>
                          <a:schemeClr val="accent6">
                            <a:lumMod val="10000"/>
                          </a:schemeClr>
                        </a:solidFill>
                        <a:effectLst/>
                        <a:latin typeface="+mj-lt"/>
                        <a:ea typeface="+mn-ea"/>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u="none" strike="noStrike" dirty="0">
                          <a:solidFill>
                            <a:schemeClr val="accent6">
                              <a:lumMod val="10000"/>
                            </a:schemeClr>
                          </a:solidFill>
                          <a:effectLst/>
                          <a:latin typeface="+mj-lt"/>
                          <a:ea typeface="+mn-ea"/>
                        </a:rPr>
                        <a:t>Nvidia</a:t>
                      </a:r>
                      <a:endParaRPr lang="en-GB" sz="1400" b="1" i="0" u="none" strike="noStrike" dirty="0">
                        <a:solidFill>
                          <a:schemeClr val="accent6">
                            <a:lumMod val="10000"/>
                          </a:schemeClr>
                        </a:solidFill>
                        <a:effectLst/>
                        <a:latin typeface="+mj-lt"/>
                        <a:ea typeface="+mn-ea"/>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altLang="zh-CN" sz="1400" b="1" i="0" u="none" strike="noStrike" dirty="0">
                          <a:solidFill>
                            <a:schemeClr val="accent6">
                              <a:lumMod val="10000"/>
                            </a:schemeClr>
                          </a:solidFill>
                          <a:effectLst/>
                          <a:latin typeface="+mj-lt"/>
                          <a:ea typeface="+mn-ea"/>
                        </a:rPr>
                        <a:t>I</a:t>
                      </a:r>
                      <a:r>
                        <a:rPr lang="en-US" altLang="zh-CN" sz="1400" b="1" i="0" u="none" strike="noStrike" dirty="0" err="1">
                          <a:solidFill>
                            <a:schemeClr val="accent6">
                              <a:lumMod val="10000"/>
                            </a:schemeClr>
                          </a:solidFill>
                          <a:effectLst/>
                          <a:latin typeface="+mj-lt"/>
                          <a:ea typeface="+mn-ea"/>
                        </a:rPr>
                        <a:t>ntel</a:t>
                      </a:r>
                      <a:endParaRPr lang="en-GB" altLang="zh-CN" sz="1400" b="1" i="0" u="none" strike="noStrike" dirty="0">
                        <a:solidFill>
                          <a:schemeClr val="accent6">
                            <a:lumMod val="10000"/>
                          </a:schemeClr>
                        </a:solidFill>
                        <a:effectLst/>
                        <a:latin typeface="+mj-lt"/>
                        <a:ea typeface="+mn-ea"/>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400" b="1" u="none" strike="noStrike" kern="1200" dirty="0">
                          <a:solidFill>
                            <a:schemeClr val="accent6">
                              <a:lumMod val="10000"/>
                            </a:schemeClr>
                          </a:solidFill>
                          <a:effectLst/>
                          <a:latin typeface="+mn-lt"/>
                          <a:ea typeface="+mn-ea"/>
                          <a:cs typeface="+mn-cs"/>
                        </a:rPr>
                        <a:t>Cisco</a:t>
                      </a:r>
                      <a:endParaRPr lang="zh-CN" altLang="en-US" sz="1400" b="1" i="0" u="none" strike="noStrike" kern="1200" dirty="0">
                        <a:solidFill>
                          <a:schemeClr val="accent6">
                            <a:lumMod val="10000"/>
                          </a:schemeClr>
                        </a:solidFill>
                        <a:effectLst/>
                        <a:latin typeface="+mn-lt"/>
                        <a:ea typeface="+mn-ea"/>
                        <a:cs typeface="+mn-cs"/>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kern="1200" dirty="0">
                          <a:solidFill>
                            <a:schemeClr val="accent6">
                              <a:lumMod val="10000"/>
                            </a:schemeClr>
                          </a:solidFill>
                          <a:effectLst/>
                          <a:latin typeface="+mn-lt"/>
                          <a:ea typeface="+mn-ea"/>
                          <a:cs typeface="+mn-cs"/>
                        </a:rPr>
                        <a:t>Marvell</a:t>
                      </a:r>
                      <a:endParaRPr lang="zh-CN" altLang="en-US" sz="1400" b="1" i="0" u="none" strike="noStrike" dirty="0">
                        <a:solidFill>
                          <a:schemeClr val="accent6">
                            <a:lumMod val="10000"/>
                          </a:schemeClr>
                        </a:solidFill>
                        <a:effectLst/>
                        <a:latin typeface="+mj-lt"/>
                        <a:ea typeface="+mn-ea"/>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03080">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高</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高</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a:solidFill>
                            <a:srgbClr val="000000"/>
                          </a:solidFill>
                          <a:effectLst/>
                          <a:latin typeface="Inherit"/>
                          <a:ea typeface="等线" panose="02010600030101010101" pitchFamily="2" charset="-122"/>
                        </a:rPr>
                        <a:t>高</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中</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中</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4194657"/>
                  </a:ext>
                </a:extLst>
              </a:tr>
              <a:tr h="803080">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高</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高</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a:t>
                      </a:r>
                      <a:r>
                        <a:rPr lang="zh-CN" altLang="en-US" sz="1100" b="0" i="0" u="none" strike="noStrike" dirty="0">
                          <a:solidFill>
                            <a:srgbClr val="000000"/>
                          </a:solidFill>
                          <a:effectLst/>
                          <a:latin typeface="Segoe UI" panose="020B0502040204020203" pitchFamily="34" charset="0"/>
                          <a:ea typeface="等线" panose="02010600030101010101" pitchFamily="2" charset="-122"/>
                        </a:rPr>
                        <a:t>高</a:t>
                      </a:r>
                      <a:endParaRPr lang="en-US" sz="1100" b="0" i="0" u="none" strike="noStrike" dirty="0">
                        <a:solidFill>
                          <a:srgbClr val="000000"/>
                        </a:solidFill>
                        <a:effectLst/>
                        <a:latin typeface="Inherit"/>
                        <a:ea typeface="等线" panose="02010600030101010101" pitchFamily="2" charset="-122"/>
                      </a:endParaRP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中</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中</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3080">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高</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高</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高</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100" b="0" i="0" u="none" strike="noStrike" dirty="0">
                          <a:solidFill>
                            <a:srgbClr val="000000"/>
                          </a:solidFill>
                          <a:effectLst/>
                          <a:latin typeface="Inherit"/>
                          <a:ea typeface="等线" panose="02010600030101010101" pitchFamily="2" charset="-122"/>
                        </a:rPr>
                        <a:t>​中</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Segoe UI" panose="020B0502040204020203" pitchFamily="34" charset="0"/>
                          <a:ea typeface="等线" panose="02010600030101010101" pitchFamily="2" charset="-122"/>
                        </a:rPr>
                        <a:t>低</a:t>
                      </a:r>
                      <a:r>
                        <a:rPr lang="zh-CN" altLang="en-US" sz="1100" b="0" i="0" u="none" strike="noStrike" dirty="0">
                          <a:solidFill>
                            <a:srgbClr val="000000"/>
                          </a:solidFill>
                          <a:effectLst/>
                          <a:latin typeface="Inherit"/>
                          <a:ea typeface="等线" panose="02010600030101010101" pitchFamily="2" charset="-122"/>
                        </a:rPr>
                        <a:t>​</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93914">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a:t>
                      </a:r>
                      <a:r>
                        <a:rPr lang="zh-CN" altLang="en-US" sz="1100" b="0" i="0" u="none" strike="noStrike" dirty="0">
                          <a:solidFill>
                            <a:srgbClr val="000000"/>
                          </a:solidFill>
                          <a:effectLst/>
                          <a:latin typeface="Segoe UI" panose="020B0502040204020203" pitchFamily="34" charset="0"/>
                          <a:ea typeface="等线" panose="02010600030101010101" pitchFamily="2" charset="-122"/>
                        </a:rPr>
                        <a:t>高</a:t>
                      </a:r>
                      <a:r>
                        <a:rPr lang="zh-CN" altLang="en-US" sz="1100" b="0" i="0" u="none" strike="noStrike" dirty="0">
                          <a:solidFill>
                            <a:srgbClr val="000000"/>
                          </a:solidFill>
                          <a:effectLst/>
                          <a:latin typeface="Inherit"/>
                          <a:ea typeface="等线" panose="02010600030101010101" pitchFamily="2" charset="-122"/>
                        </a:rPr>
                        <a:t>​</a:t>
                      </a:r>
                      <a:endParaRPr lang="en-US" altLang="zh-CN" sz="1100" b="0" i="0" u="none" strike="noStrike" dirty="0">
                        <a:solidFill>
                          <a:srgbClr val="000000"/>
                        </a:solidFill>
                        <a:effectLst/>
                        <a:latin typeface="Inherit"/>
                        <a:ea typeface="等线" panose="02010600030101010101" pitchFamily="2" charset="-122"/>
                      </a:endParaRP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等线" panose="02010600030101010101" pitchFamily="2" charset="-122"/>
                          <a:ea typeface="等线" panose="02010600030101010101" pitchFamily="2" charset="-122"/>
                        </a:rPr>
                        <a:t>中</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低</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低</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Inherit"/>
                          <a:ea typeface="等线" panose="02010600030101010101" pitchFamily="2" charset="-122"/>
                        </a:rPr>
                        <a:t>低</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39" name="文本框 38">
            <a:extLst>
              <a:ext uri="{FF2B5EF4-FFF2-40B4-BE49-F238E27FC236}">
                <a16:creationId xmlns:a16="http://schemas.microsoft.com/office/drawing/2014/main" id="{DBB163A9-DF3F-B61D-503E-72DD9D191BBF}"/>
              </a:ext>
            </a:extLst>
          </p:cNvPr>
          <p:cNvSpPr txBox="1"/>
          <p:nvPr/>
        </p:nvSpPr>
        <p:spPr>
          <a:xfrm>
            <a:off x="1628566" y="1661378"/>
            <a:ext cx="5407234" cy="338554"/>
          </a:xfrm>
          <a:prstGeom prst="rect">
            <a:avLst/>
          </a:prstGeom>
          <a:noFill/>
        </p:spPr>
        <p:txBody>
          <a:bodyPr wrap="square">
            <a:spAutoFit/>
          </a:bodyPr>
          <a:lstStyle/>
          <a:p>
            <a:r>
              <a:rPr lang="zh-CN" altLang="en-US" sz="1600" b="1" dirty="0">
                <a:latin typeface="+mj-lt"/>
              </a:rPr>
              <a:t>全能巨头在</a:t>
            </a:r>
            <a:r>
              <a:rPr lang="en-US" altLang="zh-CN" sz="1600" b="1" dirty="0">
                <a:latin typeface="+mj-lt"/>
              </a:rPr>
              <a:t>CPO</a:t>
            </a:r>
            <a:r>
              <a:rPr lang="zh-CN" altLang="en-US" sz="1600" b="1" dirty="0">
                <a:latin typeface="+mj-lt"/>
              </a:rPr>
              <a:t>各环节的能力画像与合作厂商</a:t>
            </a:r>
            <a:r>
              <a:rPr lang="en-US" altLang="zh-CN" sz="1600" b="1" baseline="30000" dirty="0">
                <a:latin typeface="+mj-lt"/>
              </a:rPr>
              <a:t>1</a:t>
            </a:r>
            <a:endParaRPr lang="zh-CN" altLang="en-US" sz="1600" b="1" dirty="0">
              <a:latin typeface="+mj-lt"/>
            </a:endParaRPr>
          </a:p>
        </p:txBody>
      </p:sp>
      <p:sp>
        <p:nvSpPr>
          <p:cNvPr id="63" name="RectangleLegend1">
            <a:extLst>
              <a:ext uri="{FF2B5EF4-FFF2-40B4-BE49-F238E27FC236}">
                <a16:creationId xmlns:a16="http://schemas.microsoft.com/office/drawing/2014/main" id="{95C95311-6E60-C62C-527C-1807C835EFD2}"/>
              </a:ext>
            </a:extLst>
          </p:cNvPr>
          <p:cNvSpPr/>
          <p:nvPr/>
        </p:nvSpPr>
        <p:spPr>
          <a:xfrm>
            <a:off x="6875765" y="1790731"/>
            <a:ext cx="139877" cy="140150"/>
          </a:xfrm>
          <a:prstGeom prst="rect">
            <a:avLst/>
          </a:prstGeom>
          <a:solidFill>
            <a:srgbClr val="ECF6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err="1">
              <a:ln>
                <a:noFill/>
              </a:ln>
              <a:solidFill>
                <a:srgbClr val="000000"/>
              </a:solidFill>
              <a:effectLst/>
              <a:uLnTx/>
              <a:uFillTx/>
              <a:latin typeface="+mj-lt"/>
              <a:cs typeface="Arial" panose="020B0604020202020204" pitchFamily="34" charset="0"/>
              <a:sym typeface="Arial" panose="020B0604020202020204"/>
            </a:endParaRPr>
          </a:p>
        </p:txBody>
      </p:sp>
      <p:sp>
        <p:nvSpPr>
          <p:cNvPr id="64" name="Legend1">
            <a:extLst>
              <a:ext uri="{FF2B5EF4-FFF2-40B4-BE49-F238E27FC236}">
                <a16:creationId xmlns:a16="http://schemas.microsoft.com/office/drawing/2014/main" id="{A21CBC61-73B8-D329-A7BB-E2B20DE4B284}"/>
              </a:ext>
            </a:extLst>
          </p:cNvPr>
          <p:cNvSpPr txBox="1"/>
          <p:nvPr/>
        </p:nvSpPr>
        <p:spPr>
          <a:xfrm>
            <a:off x="7171493" y="1768473"/>
            <a:ext cx="157239" cy="184666"/>
          </a:xfrm>
          <a:prstGeom prst="rect">
            <a:avLst/>
          </a:prstGeom>
          <a:noFill/>
          <a:ln>
            <a:noFill/>
            <a:miter lim="800000"/>
          </a:ln>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600"/>
              </a:spcAft>
              <a:buClrTx/>
              <a:buSzTx/>
              <a:buFontTx/>
              <a:buNone/>
              <a:defRPr/>
            </a:pPr>
            <a:r>
              <a:rPr lang="zh-CN" altLang="en-US" sz="1200" kern="1200" dirty="0">
                <a:latin typeface="+mj-lt"/>
                <a:cs typeface="Arial" panose="020B0604020202020204" pitchFamily="34" charset="0"/>
              </a:rPr>
              <a:t>中</a:t>
            </a:r>
            <a:endParaRPr kumimoji="0" lang="en-US" sz="1200" b="0" i="0" u="none" strike="noStrike" kern="1200" cap="none" spc="0" normalizeH="0" baseline="0" noProof="0" dirty="0">
              <a:ln>
                <a:noFill/>
              </a:ln>
              <a:solidFill>
                <a:srgbClr val="000000"/>
              </a:solidFill>
              <a:effectLst/>
              <a:uLnTx/>
              <a:uFillTx/>
              <a:latin typeface="+mj-lt"/>
              <a:cs typeface="Arial" panose="020B0604020202020204" pitchFamily="34" charset="0"/>
              <a:sym typeface="Arial" panose="020B0604020202020204"/>
            </a:endParaRPr>
          </a:p>
        </p:txBody>
      </p:sp>
      <p:sp>
        <p:nvSpPr>
          <p:cNvPr id="65" name="RectangleLegend2">
            <a:extLst>
              <a:ext uri="{FF2B5EF4-FFF2-40B4-BE49-F238E27FC236}">
                <a16:creationId xmlns:a16="http://schemas.microsoft.com/office/drawing/2014/main" id="{D4F99125-5182-2C50-A3B0-8BD3C7F93604}"/>
              </a:ext>
            </a:extLst>
          </p:cNvPr>
          <p:cNvSpPr/>
          <p:nvPr/>
        </p:nvSpPr>
        <p:spPr>
          <a:xfrm>
            <a:off x="6041158" y="1790731"/>
            <a:ext cx="139877" cy="140150"/>
          </a:xfrm>
          <a:prstGeom prst="rect">
            <a:avLst/>
          </a:prstGeom>
          <a:solidFill>
            <a:srgbClr val="C1E1FE"/>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err="1">
              <a:ln>
                <a:noFill/>
              </a:ln>
              <a:solidFill>
                <a:srgbClr val="000000"/>
              </a:solidFill>
              <a:effectLst/>
              <a:uLnTx/>
              <a:uFillTx/>
              <a:latin typeface="+mj-lt"/>
              <a:cs typeface="Arial" panose="020B0604020202020204" pitchFamily="34" charset="0"/>
              <a:sym typeface="Arial" panose="020B0604020202020204"/>
            </a:endParaRPr>
          </a:p>
        </p:txBody>
      </p:sp>
      <p:sp>
        <p:nvSpPr>
          <p:cNvPr id="66" name="Legend2">
            <a:extLst>
              <a:ext uri="{FF2B5EF4-FFF2-40B4-BE49-F238E27FC236}">
                <a16:creationId xmlns:a16="http://schemas.microsoft.com/office/drawing/2014/main" id="{BC5DAD0F-83BC-BE63-7109-61A387C64C40}"/>
              </a:ext>
            </a:extLst>
          </p:cNvPr>
          <p:cNvSpPr txBox="1"/>
          <p:nvPr/>
        </p:nvSpPr>
        <p:spPr>
          <a:xfrm>
            <a:off x="6336888" y="1768473"/>
            <a:ext cx="153888" cy="184666"/>
          </a:xfrm>
          <a:prstGeom prst="rect">
            <a:avLst/>
          </a:prstGeom>
          <a:noFill/>
          <a:ln>
            <a:noFill/>
            <a:miter lim="800000"/>
          </a:ln>
        </p:spPr>
        <p:txBody>
          <a:bodyPr wrap="none" lIns="0" tIns="0" rIns="0" bIns="0" rtlCol="0" anchor="t" anchorCtr="0">
            <a:spAutoFit/>
          </a:bodyPr>
          <a:lstStyle/>
          <a:p>
            <a:pPr marL="0" marR="0" lvl="0" indent="0" algn="l" defTabSz="914400" rtl="0" eaLnBrk="1" fontAlgn="auto" latinLnBrk="0" hangingPunct="1">
              <a:lnSpc>
                <a:spcPct val="100000"/>
              </a:lnSpc>
              <a:spcBef>
                <a:spcPts val="0"/>
              </a:spcBef>
              <a:spcAft>
                <a:spcPts val="600"/>
              </a:spcAft>
              <a:buClrTx/>
              <a:buSzTx/>
              <a:buFontTx/>
              <a:buNone/>
              <a:defRPr/>
            </a:pPr>
            <a:r>
              <a:rPr lang="zh-CN" altLang="en-US" sz="1200" kern="1200" dirty="0">
                <a:latin typeface="+mj-lt"/>
                <a:cs typeface="Arial" panose="020B0604020202020204" pitchFamily="34" charset="0"/>
              </a:rPr>
              <a:t>高</a:t>
            </a:r>
            <a:endParaRPr kumimoji="0" lang="en-US" sz="1200" b="0" i="0" u="none" strike="noStrike" kern="1200" cap="none" spc="0" normalizeH="0" baseline="0" noProof="0" dirty="0">
              <a:ln>
                <a:noFill/>
              </a:ln>
              <a:solidFill>
                <a:srgbClr val="000000"/>
              </a:solidFill>
              <a:effectLst/>
              <a:uLnTx/>
              <a:uFillTx/>
              <a:latin typeface="+mj-lt"/>
              <a:cs typeface="Arial" panose="020B0604020202020204" pitchFamily="34" charset="0"/>
              <a:sym typeface="Arial" panose="020B0604020202020204"/>
            </a:endParaRPr>
          </a:p>
        </p:txBody>
      </p:sp>
      <p:cxnSp>
        <p:nvCxnSpPr>
          <p:cNvPr id="7" name="Straight Connector 69">
            <a:extLst>
              <a:ext uri="{FF2B5EF4-FFF2-40B4-BE49-F238E27FC236}">
                <a16:creationId xmlns:a16="http://schemas.microsoft.com/office/drawing/2014/main" id="{B22629C1-D01D-4118-5C83-25C086E1D4BA}"/>
              </a:ext>
            </a:extLst>
          </p:cNvPr>
          <p:cNvCxnSpPr>
            <a:cxnSpLocks/>
          </p:cNvCxnSpPr>
          <p:nvPr>
            <p:custDataLst>
              <p:tags r:id="rId2"/>
            </p:custDataLst>
          </p:nvPr>
        </p:nvCxnSpPr>
        <p:spPr bwMode="auto">
          <a:xfrm>
            <a:off x="1593006" y="5981431"/>
            <a:ext cx="9505232" cy="0"/>
          </a:xfrm>
          <a:prstGeom prst="line">
            <a:avLst/>
          </a:prstGeom>
          <a:ln w="15875" cap="flat" cmpd="sng" algn="ctr">
            <a:solidFill>
              <a:schemeClr val="tx1"/>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69">
            <a:extLst>
              <a:ext uri="{FF2B5EF4-FFF2-40B4-BE49-F238E27FC236}">
                <a16:creationId xmlns:a16="http://schemas.microsoft.com/office/drawing/2014/main" id="{36595FC3-2728-FB15-D1F3-E4B7D922A456}"/>
              </a:ext>
            </a:extLst>
          </p:cNvPr>
          <p:cNvCxnSpPr>
            <a:cxnSpLocks/>
          </p:cNvCxnSpPr>
          <p:nvPr>
            <p:custDataLst>
              <p:tags r:id="rId3"/>
            </p:custDataLst>
          </p:nvPr>
        </p:nvCxnSpPr>
        <p:spPr bwMode="auto">
          <a:xfrm>
            <a:off x="1593006" y="1990529"/>
            <a:ext cx="9455994" cy="0"/>
          </a:xfrm>
          <a:prstGeom prst="line">
            <a:avLst/>
          </a:prstGeom>
          <a:ln w="15875" cap="flat" cmpd="sng" algn="ctr">
            <a:solidFill>
              <a:schemeClr val="tx1"/>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D9C70C78-933B-E7F8-5D2C-155D416F41C8}"/>
              </a:ext>
            </a:extLst>
          </p:cNvPr>
          <p:cNvSpPr txBox="1"/>
          <p:nvPr/>
        </p:nvSpPr>
        <p:spPr>
          <a:xfrm>
            <a:off x="600741" y="2715125"/>
            <a:ext cx="839113" cy="307777"/>
          </a:xfrm>
          <a:prstGeom prst="rect">
            <a:avLst/>
          </a:prstGeom>
          <a:noFill/>
        </p:spPr>
        <p:txBody>
          <a:bodyPr wrap="square" rtlCol="0">
            <a:spAutoFit/>
          </a:bodyPr>
          <a:lstStyle/>
          <a:p>
            <a:pPr algn="ctr"/>
            <a:r>
              <a:rPr lang="zh-CN" altLang="en-US" sz="1400" b="1" dirty="0">
                <a:latin typeface="+mj-lt"/>
              </a:rPr>
              <a:t>设计</a:t>
            </a:r>
          </a:p>
        </p:txBody>
      </p:sp>
      <p:sp>
        <p:nvSpPr>
          <p:cNvPr id="37" name="文本框 36">
            <a:extLst>
              <a:ext uri="{FF2B5EF4-FFF2-40B4-BE49-F238E27FC236}">
                <a16:creationId xmlns:a16="http://schemas.microsoft.com/office/drawing/2014/main" id="{3116D8C2-58BE-C58B-E0C1-003391212D98}"/>
              </a:ext>
            </a:extLst>
          </p:cNvPr>
          <p:cNvSpPr txBox="1"/>
          <p:nvPr/>
        </p:nvSpPr>
        <p:spPr>
          <a:xfrm>
            <a:off x="556103" y="4407039"/>
            <a:ext cx="939198" cy="307777"/>
          </a:xfrm>
          <a:prstGeom prst="rect">
            <a:avLst/>
          </a:prstGeom>
          <a:noFill/>
        </p:spPr>
        <p:txBody>
          <a:bodyPr wrap="square" rtlCol="0">
            <a:spAutoFit/>
          </a:bodyPr>
          <a:lstStyle/>
          <a:p>
            <a:pPr algn="ctr"/>
            <a:r>
              <a:rPr lang="zh-CN" altLang="en-US" sz="1400" b="1" dirty="0">
                <a:latin typeface="+mj-lt"/>
              </a:rPr>
              <a:t>集成封测</a:t>
            </a:r>
            <a:endParaRPr lang="en-GB" altLang="zh-CN" sz="1400" b="1" dirty="0">
              <a:latin typeface="+mj-lt"/>
            </a:endParaRPr>
          </a:p>
        </p:txBody>
      </p:sp>
      <p:sp>
        <p:nvSpPr>
          <p:cNvPr id="69" name="RectangleLegend2">
            <a:extLst>
              <a:ext uri="{FF2B5EF4-FFF2-40B4-BE49-F238E27FC236}">
                <a16:creationId xmlns:a16="http://schemas.microsoft.com/office/drawing/2014/main" id="{03E3235E-0DA4-6B90-E57E-161F34DFC622}"/>
              </a:ext>
            </a:extLst>
          </p:cNvPr>
          <p:cNvSpPr/>
          <p:nvPr/>
        </p:nvSpPr>
        <p:spPr>
          <a:xfrm>
            <a:off x="7691050" y="1790731"/>
            <a:ext cx="139877" cy="140150"/>
          </a:xfrm>
          <a:prstGeom prst="rect">
            <a:avLst/>
          </a:prstGeom>
          <a:solidFill>
            <a:srgbClr val="F2F2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err="1">
              <a:ln>
                <a:noFill/>
              </a:ln>
              <a:solidFill>
                <a:srgbClr val="000000"/>
              </a:solidFill>
              <a:effectLst/>
              <a:uLnTx/>
              <a:uFillTx/>
              <a:latin typeface="+mj-lt"/>
              <a:cs typeface="Arial" panose="020B0604020202020204" pitchFamily="34" charset="0"/>
              <a:sym typeface="Arial" panose="020B0604020202020204"/>
            </a:endParaRPr>
          </a:p>
        </p:txBody>
      </p:sp>
      <p:sp>
        <p:nvSpPr>
          <p:cNvPr id="70" name="Legend2">
            <a:extLst>
              <a:ext uri="{FF2B5EF4-FFF2-40B4-BE49-F238E27FC236}">
                <a16:creationId xmlns:a16="http://schemas.microsoft.com/office/drawing/2014/main" id="{E043DD54-362F-B593-E8D3-0B6ACD8346F0}"/>
              </a:ext>
            </a:extLst>
          </p:cNvPr>
          <p:cNvSpPr txBox="1"/>
          <p:nvPr/>
        </p:nvSpPr>
        <p:spPr>
          <a:xfrm>
            <a:off x="7986778" y="1768473"/>
            <a:ext cx="153888" cy="184666"/>
          </a:xfrm>
          <a:prstGeom prst="rect">
            <a:avLst/>
          </a:prstGeom>
          <a:noFill/>
          <a:ln>
            <a:noFill/>
            <a:miter lim="800000"/>
          </a:ln>
        </p:spPr>
        <p:txBody>
          <a:bodyPr wrap="none" lIns="0" tIns="0" rIns="0" bIns="0" rtlCol="0" anchor="t" anchorCtr="0">
            <a:spAutoFit/>
          </a:bodyPr>
          <a:lstStyle/>
          <a:p>
            <a:pPr marL="0" marR="0" lvl="0" indent="0" algn="l" defTabSz="914400" rtl="0" eaLnBrk="1" fontAlgn="auto" latinLnBrk="0" hangingPunct="1">
              <a:lnSpc>
                <a:spcPct val="100000"/>
              </a:lnSpc>
              <a:spcBef>
                <a:spcPts val="0"/>
              </a:spcBef>
              <a:spcAft>
                <a:spcPts val="600"/>
              </a:spcAft>
              <a:buClrTx/>
              <a:buSzTx/>
              <a:buFontTx/>
              <a:buNone/>
              <a:defRPr/>
            </a:pPr>
            <a:r>
              <a:rPr lang="zh-CN" altLang="en-US" sz="1200" kern="1200" dirty="0">
                <a:latin typeface="+mj-lt"/>
                <a:cs typeface="Arial" panose="020B0604020202020204" pitchFamily="34" charset="0"/>
              </a:rPr>
              <a:t>低</a:t>
            </a:r>
            <a:endParaRPr kumimoji="0" lang="en-US" sz="1200" b="0" i="0" u="none" strike="noStrike" kern="1200" cap="none" spc="0" normalizeH="0" baseline="0" noProof="0" dirty="0">
              <a:ln>
                <a:noFill/>
              </a:ln>
              <a:solidFill>
                <a:srgbClr val="000000"/>
              </a:solidFill>
              <a:effectLst/>
              <a:uLnTx/>
              <a:uFillTx/>
              <a:latin typeface="+mj-lt"/>
              <a:cs typeface="Arial" panose="020B0604020202020204" pitchFamily="34" charset="0"/>
              <a:sym typeface="Arial" panose="020B0604020202020204"/>
            </a:endParaRPr>
          </a:p>
        </p:txBody>
      </p:sp>
      <p:sp>
        <p:nvSpPr>
          <p:cNvPr id="72" name="标题 1">
            <a:extLst>
              <a:ext uri="{FF2B5EF4-FFF2-40B4-BE49-F238E27FC236}">
                <a16:creationId xmlns:a16="http://schemas.microsoft.com/office/drawing/2014/main" id="{A1810013-68A2-F16E-DBA1-099AC5779DF8}"/>
              </a:ext>
            </a:extLst>
          </p:cNvPr>
          <p:cNvSpPr>
            <a:spLocks noGrp="1"/>
          </p:cNvSpPr>
          <p:nvPr>
            <p:ph type="title"/>
          </p:nvPr>
        </p:nvSpPr>
        <p:spPr>
          <a:xfrm>
            <a:off x="158750" y="172212"/>
            <a:ext cx="9677146" cy="731520"/>
          </a:xfrm>
        </p:spPr>
        <p:txBody>
          <a:bodyPr vert="horz"/>
          <a:lstStyle/>
          <a:p>
            <a:r>
              <a:rPr lang="zh-CN" altLang="en-US" dirty="0">
                <a:ea typeface="+mn-ea"/>
                <a:cs typeface="+mn-ea"/>
                <a:sym typeface="+mn-lt"/>
              </a:rPr>
              <a:t>博通为</a:t>
            </a:r>
            <a:r>
              <a:rPr lang="en-US" altLang="zh-CN" dirty="0">
                <a:ea typeface="+mn-ea"/>
                <a:cs typeface="+mn-ea"/>
                <a:sym typeface="+mn-lt"/>
              </a:rPr>
              <a:t>CPO</a:t>
            </a:r>
            <a:r>
              <a:rPr lang="zh-CN" altLang="en-US" dirty="0">
                <a:ea typeface="+mn-ea"/>
                <a:cs typeface="+mn-ea"/>
                <a:sym typeface="+mn-lt"/>
              </a:rPr>
              <a:t>能力最全面的厂商</a:t>
            </a:r>
          </a:p>
        </p:txBody>
      </p:sp>
      <p:grpSp>
        <p:nvGrpSpPr>
          <p:cNvPr id="78" name="组合 77">
            <a:extLst>
              <a:ext uri="{FF2B5EF4-FFF2-40B4-BE49-F238E27FC236}">
                <a16:creationId xmlns:a16="http://schemas.microsoft.com/office/drawing/2014/main" id="{6515AF03-53C3-EB53-6BA3-011C85BABD36}"/>
              </a:ext>
            </a:extLst>
          </p:cNvPr>
          <p:cNvGrpSpPr/>
          <p:nvPr/>
        </p:nvGrpSpPr>
        <p:grpSpPr>
          <a:xfrm>
            <a:off x="419231" y="1004660"/>
            <a:ext cx="11119054" cy="435911"/>
            <a:chOff x="419231" y="831408"/>
            <a:chExt cx="11119054" cy="435911"/>
          </a:xfrm>
        </p:grpSpPr>
        <p:sp>
          <p:nvSpPr>
            <p:cNvPr id="79" name="矩形 78">
              <a:extLst>
                <a:ext uri="{FF2B5EF4-FFF2-40B4-BE49-F238E27FC236}">
                  <a16:creationId xmlns:a16="http://schemas.microsoft.com/office/drawing/2014/main" id="{91A9969D-03D2-BBCD-B750-44F0B10992D8}"/>
                </a:ext>
              </a:extLst>
            </p:cNvPr>
            <p:cNvSpPr/>
            <p:nvPr/>
          </p:nvSpPr>
          <p:spPr>
            <a:xfrm>
              <a:off x="419231" y="831408"/>
              <a:ext cx="11063882" cy="435911"/>
            </a:xfrm>
            <a:prstGeom prst="rect">
              <a:avLst/>
            </a:prstGeom>
            <a:solidFill>
              <a:srgbClr val="EC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400"/>
                </a:spcBef>
                <a:spcAft>
                  <a:spcPts val="400"/>
                </a:spcAft>
              </a:pPr>
              <a:endParaRPr lang="en-US" altLang="zh-CN" sz="1600" dirty="0">
                <a:solidFill>
                  <a:schemeClr val="accent6">
                    <a:lumMod val="10000"/>
                  </a:schemeClr>
                </a:solidFill>
                <a:latin typeface="+mj-lt"/>
                <a:cs typeface="+mn-ea"/>
                <a:sym typeface="+mn-lt"/>
              </a:endParaRPr>
            </a:p>
          </p:txBody>
        </p:sp>
        <p:sp>
          <p:nvSpPr>
            <p:cNvPr id="80" name="文本框 79">
              <a:extLst>
                <a:ext uri="{FF2B5EF4-FFF2-40B4-BE49-F238E27FC236}">
                  <a16:creationId xmlns:a16="http://schemas.microsoft.com/office/drawing/2014/main" id="{ECA1152D-9C6E-7E16-B7C6-21327EA77BB6}"/>
                </a:ext>
              </a:extLst>
            </p:cNvPr>
            <p:cNvSpPr txBox="1"/>
            <p:nvPr/>
          </p:nvSpPr>
          <p:spPr>
            <a:xfrm>
              <a:off x="474403" y="856047"/>
              <a:ext cx="11063882"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mj-lt"/>
                </a:rPr>
                <a:t>博通全面参与</a:t>
              </a:r>
              <a:r>
                <a:rPr lang="en-US" altLang="zh-CN" dirty="0">
                  <a:latin typeface="+mj-lt"/>
                </a:rPr>
                <a:t>CPO</a:t>
              </a:r>
              <a:r>
                <a:rPr lang="zh-CN" altLang="en-US" dirty="0">
                  <a:latin typeface="+mj-lt"/>
                </a:rPr>
                <a:t>生态各个环节且综合能力</a:t>
              </a:r>
              <a:r>
                <a:rPr lang="zh-CN" altLang="en-US" b="1" dirty="0">
                  <a:solidFill>
                    <a:srgbClr val="0052D9"/>
                  </a:solidFill>
                  <a:latin typeface="+mj-lt"/>
                </a:rPr>
                <a:t>最强</a:t>
              </a:r>
              <a:r>
                <a:rPr lang="zh-CN" altLang="en-US" dirty="0">
                  <a:latin typeface="+mj-lt"/>
                </a:rPr>
                <a:t>，以定制合作模式推动</a:t>
              </a:r>
              <a:r>
                <a:rPr lang="en-US" altLang="zh-CN" dirty="0">
                  <a:latin typeface="+mj-lt"/>
                </a:rPr>
                <a:t>CPO</a:t>
              </a:r>
              <a:r>
                <a:rPr lang="zh-CN" altLang="en-US" dirty="0">
                  <a:latin typeface="+mj-lt"/>
                </a:rPr>
                <a:t>各环节成熟</a:t>
              </a:r>
              <a:endParaRPr lang="zh-CN" altLang="en-US" dirty="0">
                <a:latin typeface="+mj-lt"/>
                <a:cs typeface="+mn-ea"/>
                <a:sym typeface="+mn-lt"/>
              </a:endParaRPr>
            </a:p>
          </p:txBody>
        </p:sp>
      </p:grpSp>
      <p:sp>
        <p:nvSpPr>
          <p:cNvPr id="81" name="文本框 80">
            <a:extLst>
              <a:ext uri="{FF2B5EF4-FFF2-40B4-BE49-F238E27FC236}">
                <a16:creationId xmlns:a16="http://schemas.microsoft.com/office/drawing/2014/main" id="{DAE12DA0-A6F2-C020-B035-DBEA6BC96B54}"/>
              </a:ext>
            </a:extLst>
          </p:cNvPr>
          <p:cNvSpPr txBox="1"/>
          <p:nvPr/>
        </p:nvSpPr>
        <p:spPr>
          <a:xfrm>
            <a:off x="543070" y="5287107"/>
            <a:ext cx="954455" cy="307777"/>
          </a:xfrm>
          <a:prstGeom prst="rect">
            <a:avLst/>
          </a:prstGeom>
          <a:noFill/>
        </p:spPr>
        <p:txBody>
          <a:bodyPr wrap="square" rtlCol="0">
            <a:spAutoFit/>
          </a:bodyPr>
          <a:lstStyle/>
          <a:p>
            <a:pPr algn="ctr"/>
            <a:r>
              <a:rPr lang="zh-CN" altLang="en-US" sz="1400" b="1" dirty="0">
                <a:latin typeface="+mj-lt"/>
              </a:rPr>
              <a:t>成品拼装</a:t>
            </a:r>
          </a:p>
        </p:txBody>
      </p:sp>
      <p:sp>
        <p:nvSpPr>
          <p:cNvPr id="9" name="Rectangle 157">
            <a:extLst>
              <a:ext uri="{FF2B5EF4-FFF2-40B4-BE49-F238E27FC236}">
                <a16:creationId xmlns:a16="http://schemas.microsoft.com/office/drawing/2014/main" id="{722DE60B-A408-B685-6C76-A4FECC6F47DB}"/>
              </a:ext>
            </a:extLst>
          </p:cNvPr>
          <p:cNvSpPr/>
          <p:nvPr/>
        </p:nvSpPr>
        <p:spPr>
          <a:xfrm>
            <a:off x="1612695" y="2424951"/>
            <a:ext cx="1828800" cy="812027"/>
          </a:xfrm>
          <a:prstGeom prst="roundRect">
            <a:avLst/>
          </a:prstGeom>
          <a:solidFill>
            <a:srgbClr val="C1E1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85" name="Rectangle 157">
            <a:extLst>
              <a:ext uri="{FF2B5EF4-FFF2-40B4-BE49-F238E27FC236}">
                <a16:creationId xmlns:a16="http://schemas.microsoft.com/office/drawing/2014/main" id="{7B10358E-163B-AA9C-3488-80E7E0861041}"/>
              </a:ext>
            </a:extLst>
          </p:cNvPr>
          <p:cNvSpPr/>
          <p:nvPr/>
        </p:nvSpPr>
        <p:spPr>
          <a:xfrm>
            <a:off x="5470537" y="2424951"/>
            <a:ext cx="1828800" cy="812027"/>
          </a:xfrm>
          <a:prstGeom prst="roundRect">
            <a:avLst/>
          </a:prstGeom>
          <a:solidFill>
            <a:srgbClr val="C1E1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86" name="Rectangle 157">
            <a:extLst>
              <a:ext uri="{FF2B5EF4-FFF2-40B4-BE49-F238E27FC236}">
                <a16:creationId xmlns:a16="http://schemas.microsoft.com/office/drawing/2014/main" id="{058E678D-B378-ADFB-F3C3-6895E0C40558}"/>
              </a:ext>
            </a:extLst>
          </p:cNvPr>
          <p:cNvSpPr/>
          <p:nvPr/>
        </p:nvSpPr>
        <p:spPr>
          <a:xfrm>
            <a:off x="3535496" y="2424951"/>
            <a:ext cx="1828800" cy="812027"/>
          </a:xfrm>
          <a:prstGeom prst="roundRect">
            <a:avLst/>
          </a:prstGeom>
          <a:solidFill>
            <a:srgbClr val="C1E1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99" name="Rectangle 157">
            <a:extLst>
              <a:ext uri="{FF2B5EF4-FFF2-40B4-BE49-F238E27FC236}">
                <a16:creationId xmlns:a16="http://schemas.microsoft.com/office/drawing/2014/main" id="{ACBDC772-893A-7DEF-631F-E9120988A640}"/>
              </a:ext>
            </a:extLst>
          </p:cNvPr>
          <p:cNvSpPr/>
          <p:nvPr/>
        </p:nvSpPr>
        <p:spPr>
          <a:xfrm>
            <a:off x="7389876" y="2424951"/>
            <a:ext cx="1828800" cy="812027"/>
          </a:xfrm>
          <a:prstGeom prst="roundRect">
            <a:avLst/>
          </a:prstGeom>
          <a:solidFill>
            <a:srgbClr val="ECF6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97" name="Rectangle 157">
            <a:extLst>
              <a:ext uri="{FF2B5EF4-FFF2-40B4-BE49-F238E27FC236}">
                <a16:creationId xmlns:a16="http://schemas.microsoft.com/office/drawing/2014/main" id="{51168AAE-528C-A4B0-B04C-7D41607F5C2B}"/>
              </a:ext>
            </a:extLst>
          </p:cNvPr>
          <p:cNvSpPr/>
          <p:nvPr/>
        </p:nvSpPr>
        <p:spPr>
          <a:xfrm>
            <a:off x="9299113" y="2424951"/>
            <a:ext cx="1828800" cy="812027"/>
          </a:xfrm>
          <a:prstGeom prst="roundRect">
            <a:avLst/>
          </a:prstGeom>
          <a:solidFill>
            <a:srgbClr val="ECF6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87" name="Rectangle 157">
            <a:extLst>
              <a:ext uri="{FF2B5EF4-FFF2-40B4-BE49-F238E27FC236}">
                <a16:creationId xmlns:a16="http://schemas.microsoft.com/office/drawing/2014/main" id="{DACED0D7-3AC0-BC69-B156-E557BFABCA48}"/>
              </a:ext>
            </a:extLst>
          </p:cNvPr>
          <p:cNvSpPr/>
          <p:nvPr/>
        </p:nvSpPr>
        <p:spPr>
          <a:xfrm>
            <a:off x="1612695" y="3288753"/>
            <a:ext cx="1828800" cy="813600"/>
          </a:xfrm>
          <a:prstGeom prst="roundRect">
            <a:avLst/>
          </a:prstGeom>
          <a:solidFill>
            <a:srgbClr val="C1E1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88" name="Rectangle 157">
            <a:extLst>
              <a:ext uri="{FF2B5EF4-FFF2-40B4-BE49-F238E27FC236}">
                <a16:creationId xmlns:a16="http://schemas.microsoft.com/office/drawing/2014/main" id="{92A70AA1-0D35-0321-D330-6A4961041B20}"/>
              </a:ext>
            </a:extLst>
          </p:cNvPr>
          <p:cNvSpPr/>
          <p:nvPr/>
        </p:nvSpPr>
        <p:spPr>
          <a:xfrm>
            <a:off x="5470537" y="3288753"/>
            <a:ext cx="1828800" cy="813600"/>
          </a:xfrm>
          <a:prstGeom prst="roundRect">
            <a:avLst/>
          </a:prstGeom>
          <a:solidFill>
            <a:srgbClr val="C1E1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89" name="Rectangle 157">
            <a:extLst>
              <a:ext uri="{FF2B5EF4-FFF2-40B4-BE49-F238E27FC236}">
                <a16:creationId xmlns:a16="http://schemas.microsoft.com/office/drawing/2014/main" id="{BAFEEEE6-164B-11D0-AD73-64F6210E8F45}"/>
              </a:ext>
            </a:extLst>
          </p:cNvPr>
          <p:cNvSpPr/>
          <p:nvPr/>
        </p:nvSpPr>
        <p:spPr>
          <a:xfrm>
            <a:off x="3535496" y="3288753"/>
            <a:ext cx="1828800" cy="813600"/>
          </a:xfrm>
          <a:prstGeom prst="roundRect">
            <a:avLst/>
          </a:prstGeom>
          <a:solidFill>
            <a:srgbClr val="C1E1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100" name="Rectangle 157">
            <a:extLst>
              <a:ext uri="{FF2B5EF4-FFF2-40B4-BE49-F238E27FC236}">
                <a16:creationId xmlns:a16="http://schemas.microsoft.com/office/drawing/2014/main" id="{1F748F27-96A7-738B-39FF-13687A7FE421}"/>
              </a:ext>
            </a:extLst>
          </p:cNvPr>
          <p:cNvSpPr/>
          <p:nvPr/>
        </p:nvSpPr>
        <p:spPr>
          <a:xfrm>
            <a:off x="7389876" y="3288753"/>
            <a:ext cx="1828800" cy="813600"/>
          </a:xfrm>
          <a:prstGeom prst="roundRect">
            <a:avLst/>
          </a:prstGeom>
          <a:solidFill>
            <a:srgbClr val="ECF6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98" name="Rectangle 157">
            <a:extLst>
              <a:ext uri="{FF2B5EF4-FFF2-40B4-BE49-F238E27FC236}">
                <a16:creationId xmlns:a16="http://schemas.microsoft.com/office/drawing/2014/main" id="{915DAF4E-B585-966F-1183-462B20CAC648}"/>
              </a:ext>
            </a:extLst>
          </p:cNvPr>
          <p:cNvSpPr/>
          <p:nvPr/>
        </p:nvSpPr>
        <p:spPr>
          <a:xfrm>
            <a:off x="9299113" y="3288753"/>
            <a:ext cx="1828800" cy="813600"/>
          </a:xfrm>
          <a:prstGeom prst="roundRect">
            <a:avLst/>
          </a:prstGeom>
          <a:solidFill>
            <a:srgbClr val="ECF6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90" name="Rectangle 157">
            <a:extLst>
              <a:ext uri="{FF2B5EF4-FFF2-40B4-BE49-F238E27FC236}">
                <a16:creationId xmlns:a16="http://schemas.microsoft.com/office/drawing/2014/main" id="{0893AA71-D03A-7F15-F448-A77C8596140E}"/>
              </a:ext>
            </a:extLst>
          </p:cNvPr>
          <p:cNvSpPr/>
          <p:nvPr/>
        </p:nvSpPr>
        <p:spPr>
          <a:xfrm>
            <a:off x="1612695" y="4154128"/>
            <a:ext cx="1828800" cy="813600"/>
          </a:xfrm>
          <a:prstGeom prst="roundRect">
            <a:avLst/>
          </a:prstGeom>
          <a:solidFill>
            <a:srgbClr val="C1E1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91" name="Rectangle 157">
            <a:extLst>
              <a:ext uri="{FF2B5EF4-FFF2-40B4-BE49-F238E27FC236}">
                <a16:creationId xmlns:a16="http://schemas.microsoft.com/office/drawing/2014/main" id="{A49F99C4-C300-B4C0-1B8C-32DAE4741017}"/>
              </a:ext>
            </a:extLst>
          </p:cNvPr>
          <p:cNvSpPr/>
          <p:nvPr/>
        </p:nvSpPr>
        <p:spPr>
          <a:xfrm>
            <a:off x="5470537" y="4154128"/>
            <a:ext cx="1828800" cy="813600"/>
          </a:xfrm>
          <a:prstGeom prst="roundRect">
            <a:avLst/>
          </a:prstGeom>
          <a:solidFill>
            <a:srgbClr val="C1E1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92" name="Rectangle 157">
            <a:extLst>
              <a:ext uri="{FF2B5EF4-FFF2-40B4-BE49-F238E27FC236}">
                <a16:creationId xmlns:a16="http://schemas.microsoft.com/office/drawing/2014/main" id="{6D8C40EE-1B50-521B-2922-97719F8F7A18}"/>
              </a:ext>
            </a:extLst>
          </p:cNvPr>
          <p:cNvSpPr/>
          <p:nvPr/>
        </p:nvSpPr>
        <p:spPr>
          <a:xfrm>
            <a:off x="3535496" y="4154128"/>
            <a:ext cx="1828800" cy="813600"/>
          </a:xfrm>
          <a:prstGeom prst="roundRect">
            <a:avLst/>
          </a:prstGeom>
          <a:solidFill>
            <a:srgbClr val="C1E1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101" name="Rectangle 157">
            <a:extLst>
              <a:ext uri="{FF2B5EF4-FFF2-40B4-BE49-F238E27FC236}">
                <a16:creationId xmlns:a16="http://schemas.microsoft.com/office/drawing/2014/main" id="{F8EF5562-347F-26A4-A506-1D11A9CBF54C}"/>
              </a:ext>
            </a:extLst>
          </p:cNvPr>
          <p:cNvSpPr/>
          <p:nvPr/>
        </p:nvSpPr>
        <p:spPr>
          <a:xfrm>
            <a:off x="7389876" y="4154128"/>
            <a:ext cx="1828800" cy="813600"/>
          </a:xfrm>
          <a:prstGeom prst="roundRect">
            <a:avLst/>
          </a:prstGeom>
          <a:solidFill>
            <a:srgbClr val="ECF6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105" name="Rectangle 157">
            <a:extLst>
              <a:ext uri="{FF2B5EF4-FFF2-40B4-BE49-F238E27FC236}">
                <a16:creationId xmlns:a16="http://schemas.microsoft.com/office/drawing/2014/main" id="{2A5BC123-6C3B-A573-7961-B9860FDDBBDF}"/>
              </a:ext>
            </a:extLst>
          </p:cNvPr>
          <p:cNvSpPr/>
          <p:nvPr/>
        </p:nvSpPr>
        <p:spPr>
          <a:xfrm>
            <a:off x="9299113" y="4154128"/>
            <a:ext cx="1828800" cy="81360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96" name="Rectangle 157">
            <a:extLst>
              <a:ext uri="{FF2B5EF4-FFF2-40B4-BE49-F238E27FC236}">
                <a16:creationId xmlns:a16="http://schemas.microsoft.com/office/drawing/2014/main" id="{9A8ADA32-84FB-5C22-EF5F-15BF8F4C3242}"/>
              </a:ext>
            </a:extLst>
          </p:cNvPr>
          <p:cNvSpPr/>
          <p:nvPr/>
        </p:nvSpPr>
        <p:spPr>
          <a:xfrm>
            <a:off x="1612695" y="5027627"/>
            <a:ext cx="1828800" cy="813600"/>
          </a:xfrm>
          <a:prstGeom prst="roundRect">
            <a:avLst/>
          </a:prstGeom>
          <a:solidFill>
            <a:srgbClr val="C1E1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200" b="1" i="0" u="none" strike="noStrike" kern="1200" cap="none" spc="0" normalizeH="0" baseline="0" noProof="0" dirty="0">
              <a:ln>
                <a:noFill/>
              </a:ln>
              <a:solidFill>
                <a:schemeClr val="accent6">
                  <a:lumMod val="10000"/>
                </a:schemeClr>
              </a:solidFill>
              <a:effectLst/>
              <a:uLnTx/>
              <a:uFillTx/>
              <a:latin typeface="+mj-lt"/>
              <a:cs typeface="Arial" panose="020B0604020202020204" pitchFamily="34" charset="0"/>
              <a:sym typeface="Arial" panose="020B0604020202020204"/>
            </a:endParaRPr>
          </a:p>
        </p:txBody>
      </p:sp>
      <p:sp>
        <p:nvSpPr>
          <p:cNvPr id="104" name="Rectangle 157">
            <a:extLst>
              <a:ext uri="{FF2B5EF4-FFF2-40B4-BE49-F238E27FC236}">
                <a16:creationId xmlns:a16="http://schemas.microsoft.com/office/drawing/2014/main" id="{E640EAB5-380C-380B-92C4-9446786C53CC}"/>
              </a:ext>
            </a:extLst>
          </p:cNvPr>
          <p:cNvSpPr/>
          <p:nvPr/>
        </p:nvSpPr>
        <p:spPr>
          <a:xfrm>
            <a:off x="3535496" y="5027627"/>
            <a:ext cx="1828800" cy="813600"/>
          </a:xfrm>
          <a:prstGeom prst="roundRect">
            <a:avLst/>
          </a:prstGeom>
          <a:solidFill>
            <a:srgbClr val="ECF6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106" name="Rectangle 157">
            <a:extLst>
              <a:ext uri="{FF2B5EF4-FFF2-40B4-BE49-F238E27FC236}">
                <a16:creationId xmlns:a16="http://schemas.microsoft.com/office/drawing/2014/main" id="{3D2420D1-44BF-F7D9-A07B-612423152074}"/>
              </a:ext>
            </a:extLst>
          </p:cNvPr>
          <p:cNvSpPr/>
          <p:nvPr/>
        </p:nvSpPr>
        <p:spPr>
          <a:xfrm>
            <a:off x="7389876" y="5027627"/>
            <a:ext cx="1828800" cy="81360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107" name="Rectangle 157">
            <a:extLst>
              <a:ext uri="{FF2B5EF4-FFF2-40B4-BE49-F238E27FC236}">
                <a16:creationId xmlns:a16="http://schemas.microsoft.com/office/drawing/2014/main" id="{A7EC6F51-E5F0-BDC6-6ADF-E9EFDCB80FF0}"/>
              </a:ext>
            </a:extLst>
          </p:cNvPr>
          <p:cNvSpPr/>
          <p:nvPr/>
        </p:nvSpPr>
        <p:spPr>
          <a:xfrm>
            <a:off x="9299113" y="5027627"/>
            <a:ext cx="1828800" cy="81360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sp>
        <p:nvSpPr>
          <p:cNvPr id="108" name="Rectangle 157">
            <a:extLst>
              <a:ext uri="{FF2B5EF4-FFF2-40B4-BE49-F238E27FC236}">
                <a16:creationId xmlns:a16="http://schemas.microsoft.com/office/drawing/2014/main" id="{16F7E529-CE78-2AEB-1636-28491FB53596}"/>
              </a:ext>
            </a:extLst>
          </p:cNvPr>
          <p:cNvSpPr/>
          <p:nvPr/>
        </p:nvSpPr>
        <p:spPr>
          <a:xfrm>
            <a:off x="5470537" y="5027627"/>
            <a:ext cx="1828800" cy="81360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1" i="0" u="none" strike="noStrike" kern="1200" cap="none" spc="0" normalizeH="0" baseline="0" noProof="0" dirty="0">
              <a:ln>
                <a:noFill/>
              </a:ln>
              <a:solidFill>
                <a:srgbClr val="FFFFFF"/>
              </a:solidFill>
              <a:effectLst/>
              <a:uLnTx/>
              <a:uFillTx/>
              <a:latin typeface="+mj-lt"/>
              <a:cs typeface="Arial" panose="020B0604020202020204" pitchFamily="34" charset="0"/>
              <a:sym typeface="Arial" panose="020B0604020202020204"/>
            </a:endParaRPr>
          </a:p>
        </p:txBody>
      </p:sp>
      <p:pic>
        <p:nvPicPr>
          <p:cNvPr id="213" name="图像" descr="图像">
            <a:extLst>
              <a:ext uri="{FF2B5EF4-FFF2-40B4-BE49-F238E27FC236}">
                <a16:creationId xmlns:a16="http://schemas.microsoft.com/office/drawing/2014/main" id="{BCA99E9E-A445-EF79-44C8-DD8EDCE94668}"/>
              </a:ext>
            </a:extLst>
          </p:cNvPr>
          <p:cNvPicPr>
            <a:picLocks noChangeAspect="1"/>
          </p:cNvPicPr>
          <p:nvPr/>
        </p:nvPicPr>
        <p:blipFill>
          <a:blip r:embed="rId7"/>
          <a:stretch>
            <a:fillRect/>
          </a:stretch>
        </p:blipFill>
        <p:spPr>
          <a:xfrm>
            <a:off x="1865399" y="3564917"/>
            <a:ext cx="360255" cy="283701"/>
          </a:xfrm>
          <a:prstGeom prst="rect">
            <a:avLst/>
          </a:prstGeom>
          <a:ln w="12700">
            <a:miter lim="400000"/>
          </a:ln>
        </p:spPr>
      </p:pic>
      <p:pic>
        <p:nvPicPr>
          <p:cNvPr id="218" name="图像" descr="图像">
            <a:extLst>
              <a:ext uri="{FF2B5EF4-FFF2-40B4-BE49-F238E27FC236}">
                <a16:creationId xmlns:a16="http://schemas.microsoft.com/office/drawing/2014/main" id="{02092A1C-35F9-0292-A1CD-503886F36999}"/>
              </a:ext>
            </a:extLst>
          </p:cNvPr>
          <p:cNvPicPr>
            <a:picLocks noChangeAspect="1"/>
          </p:cNvPicPr>
          <p:nvPr/>
        </p:nvPicPr>
        <p:blipFill>
          <a:blip r:embed="rId8"/>
          <a:stretch>
            <a:fillRect/>
          </a:stretch>
        </p:blipFill>
        <p:spPr>
          <a:xfrm>
            <a:off x="2277746" y="4468982"/>
            <a:ext cx="473606" cy="174709"/>
          </a:xfrm>
          <a:prstGeom prst="rect">
            <a:avLst/>
          </a:prstGeom>
          <a:ln w="12700">
            <a:miter lim="400000"/>
          </a:ln>
        </p:spPr>
      </p:pic>
      <p:pic>
        <p:nvPicPr>
          <p:cNvPr id="219" name="图像" descr="图像">
            <a:extLst>
              <a:ext uri="{FF2B5EF4-FFF2-40B4-BE49-F238E27FC236}">
                <a16:creationId xmlns:a16="http://schemas.microsoft.com/office/drawing/2014/main" id="{67846C9F-B23B-9854-81C5-E7A80C8233BC}"/>
              </a:ext>
            </a:extLst>
          </p:cNvPr>
          <p:cNvPicPr>
            <a:picLocks noChangeAspect="1"/>
          </p:cNvPicPr>
          <p:nvPr/>
        </p:nvPicPr>
        <p:blipFill>
          <a:blip r:embed="rId9"/>
          <a:stretch>
            <a:fillRect/>
          </a:stretch>
        </p:blipFill>
        <p:spPr>
          <a:xfrm>
            <a:off x="2821407" y="4447890"/>
            <a:ext cx="542228" cy="216892"/>
          </a:xfrm>
          <a:prstGeom prst="rect">
            <a:avLst/>
          </a:prstGeom>
          <a:ln w="12700">
            <a:miter lim="400000"/>
          </a:ln>
        </p:spPr>
      </p:pic>
      <p:pic>
        <p:nvPicPr>
          <p:cNvPr id="220" name="图像" descr="图像">
            <a:extLst>
              <a:ext uri="{FF2B5EF4-FFF2-40B4-BE49-F238E27FC236}">
                <a16:creationId xmlns:a16="http://schemas.microsoft.com/office/drawing/2014/main" id="{B375E56F-449B-1D15-3709-62FCE22989B4}"/>
              </a:ext>
            </a:extLst>
          </p:cNvPr>
          <p:cNvPicPr>
            <a:picLocks noChangeAspect="1"/>
          </p:cNvPicPr>
          <p:nvPr/>
        </p:nvPicPr>
        <p:blipFill>
          <a:blip r:embed="rId10"/>
          <a:srcRect t="29736" b="29786"/>
          <a:stretch>
            <a:fillRect/>
          </a:stretch>
        </p:blipFill>
        <p:spPr>
          <a:xfrm>
            <a:off x="1741765" y="5389532"/>
            <a:ext cx="576500" cy="1044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686"/>
                </a:lnTo>
                <a:lnTo>
                  <a:pt x="4832" y="686"/>
                </a:lnTo>
                <a:cubicBezTo>
                  <a:pt x="9969" y="652"/>
                  <a:pt x="10193" y="636"/>
                  <a:pt x="9266" y="1166"/>
                </a:cubicBezTo>
                <a:cubicBezTo>
                  <a:pt x="8789" y="1438"/>
                  <a:pt x="8072" y="2110"/>
                  <a:pt x="7651" y="2674"/>
                </a:cubicBezTo>
                <a:lnTo>
                  <a:pt x="7316" y="3154"/>
                </a:lnTo>
                <a:lnTo>
                  <a:pt x="7266" y="4594"/>
                </a:lnTo>
                <a:cubicBezTo>
                  <a:pt x="7238" y="5380"/>
                  <a:pt x="7224" y="6007"/>
                  <a:pt x="7229" y="6034"/>
                </a:cubicBezTo>
                <a:cubicBezTo>
                  <a:pt x="7234" y="6062"/>
                  <a:pt x="7336" y="5958"/>
                  <a:pt x="7453" y="5760"/>
                </a:cubicBezTo>
                <a:cubicBezTo>
                  <a:pt x="7705" y="5332"/>
                  <a:pt x="8346" y="4367"/>
                  <a:pt x="8707" y="3909"/>
                </a:cubicBezTo>
                <a:cubicBezTo>
                  <a:pt x="9236" y="3238"/>
                  <a:pt x="10439" y="2121"/>
                  <a:pt x="10856" y="1920"/>
                </a:cubicBezTo>
                <a:cubicBezTo>
                  <a:pt x="10943" y="1878"/>
                  <a:pt x="11173" y="1815"/>
                  <a:pt x="11365" y="1714"/>
                </a:cubicBezTo>
                <a:cubicBezTo>
                  <a:pt x="11557" y="1614"/>
                  <a:pt x="11881" y="1486"/>
                  <a:pt x="12086" y="1440"/>
                </a:cubicBezTo>
                <a:cubicBezTo>
                  <a:pt x="12469" y="1354"/>
                  <a:pt x="12471" y="1240"/>
                  <a:pt x="12123" y="1029"/>
                </a:cubicBezTo>
                <a:cubicBezTo>
                  <a:pt x="12042" y="979"/>
                  <a:pt x="11974" y="891"/>
                  <a:pt x="11974" y="823"/>
                </a:cubicBezTo>
                <a:cubicBezTo>
                  <a:pt x="11974" y="700"/>
                  <a:pt x="13458" y="568"/>
                  <a:pt x="13514" y="686"/>
                </a:cubicBezTo>
                <a:cubicBezTo>
                  <a:pt x="13532" y="725"/>
                  <a:pt x="13526" y="934"/>
                  <a:pt x="13489" y="1440"/>
                </a:cubicBezTo>
                <a:cubicBezTo>
                  <a:pt x="13460" y="1837"/>
                  <a:pt x="13396" y="2762"/>
                  <a:pt x="13353" y="3429"/>
                </a:cubicBezTo>
                <a:lnTo>
                  <a:pt x="13278" y="4594"/>
                </a:lnTo>
                <a:lnTo>
                  <a:pt x="13986" y="4594"/>
                </a:lnTo>
                <a:lnTo>
                  <a:pt x="14694" y="4526"/>
                </a:lnTo>
                <a:lnTo>
                  <a:pt x="14731" y="3771"/>
                </a:lnTo>
                <a:cubicBezTo>
                  <a:pt x="14781" y="2480"/>
                  <a:pt x="14813" y="2644"/>
                  <a:pt x="14309" y="2606"/>
                </a:cubicBezTo>
                <a:cubicBezTo>
                  <a:pt x="13799" y="2567"/>
                  <a:pt x="13832" y="2667"/>
                  <a:pt x="13936" y="1371"/>
                </a:cubicBezTo>
                <a:lnTo>
                  <a:pt x="13986" y="617"/>
                </a:lnTo>
                <a:lnTo>
                  <a:pt x="14682" y="617"/>
                </a:lnTo>
                <a:cubicBezTo>
                  <a:pt x="15063" y="617"/>
                  <a:pt x="15384" y="653"/>
                  <a:pt x="15390" y="686"/>
                </a:cubicBezTo>
                <a:cubicBezTo>
                  <a:pt x="15399" y="738"/>
                  <a:pt x="15378" y="1498"/>
                  <a:pt x="15327" y="3086"/>
                </a:cubicBezTo>
                <a:lnTo>
                  <a:pt x="15315" y="3497"/>
                </a:lnTo>
                <a:lnTo>
                  <a:pt x="15539" y="3497"/>
                </a:lnTo>
                <a:lnTo>
                  <a:pt x="15762" y="3497"/>
                </a:lnTo>
                <a:lnTo>
                  <a:pt x="15824" y="2126"/>
                </a:lnTo>
                <a:lnTo>
                  <a:pt x="15899" y="686"/>
                </a:lnTo>
                <a:lnTo>
                  <a:pt x="16073" y="686"/>
                </a:lnTo>
                <a:cubicBezTo>
                  <a:pt x="16170" y="666"/>
                  <a:pt x="16260" y="690"/>
                  <a:pt x="16271" y="754"/>
                </a:cubicBezTo>
                <a:cubicBezTo>
                  <a:pt x="16285" y="827"/>
                  <a:pt x="16270" y="1350"/>
                  <a:pt x="16234" y="2126"/>
                </a:cubicBezTo>
                <a:cubicBezTo>
                  <a:pt x="16202" y="2811"/>
                  <a:pt x="16172" y="3390"/>
                  <a:pt x="16172" y="3429"/>
                </a:cubicBezTo>
                <a:cubicBezTo>
                  <a:pt x="16172" y="3467"/>
                  <a:pt x="16287" y="3498"/>
                  <a:pt x="16420" y="3497"/>
                </a:cubicBezTo>
                <a:lnTo>
                  <a:pt x="16656" y="3497"/>
                </a:lnTo>
                <a:lnTo>
                  <a:pt x="16743" y="2126"/>
                </a:lnTo>
                <a:lnTo>
                  <a:pt x="16843" y="686"/>
                </a:lnTo>
                <a:lnTo>
                  <a:pt x="17551" y="686"/>
                </a:lnTo>
                <a:lnTo>
                  <a:pt x="18259" y="686"/>
                </a:lnTo>
                <a:lnTo>
                  <a:pt x="18246" y="1029"/>
                </a:lnTo>
                <a:cubicBezTo>
                  <a:pt x="18242" y="1198"/>
                  <a:pt x="18223" y="1477"/>
                  <a:pt x="18209" y="1714"/>
                </a:cubicBezTo>
                <a:cubicBezTo>
                  <a:pt x="18180" y="2201"/>
                  <a:pt x="18224" y="2145"/>
                  <a:pt x="17725" y="2743"/>
                </a:cubicBezTo>
                <a:cubicBezTo>
                  <a:pt x="17542" y="2962"/>
                  <a:pt x="17369" y="3217"/>
                  <a:pt x="17352" y="3291"/>
                </a:cubicBezTo>
                <a:cubicBezTo>
                  <a:pt x="17326" y="3409"/>
                  <a:pt x="17228" y="5196"/>
                  <a:pt x="17228" y="5554"/>
                </a:cubicBezTo>
                <a:cubicBezTo>
                  <a:pt x="17228" y="5625"/>
                  <a:pt x="17387" y="5443"/>
                  <a:pt x="17576" y="5143"/>
                </a:cubicBezTo>
                <a:cubicBezTo>
                  <a:pt x="17956" y="4538"/>
                  <a:pt x="18085" y="4434"/>
                  <a:pt x="18072" y="4731"/>
                </a:cubicBezTo>
                <a:cubicBezTo>
                  <a:pt x="18068" y="4834"/>
                  <a:pt x="18047" y="5422"/>
                  <a:pt x="18023" y="6034"/>
                </a:cubicBezTo>
                <a:cubicBezTo>
                  <a:pt x="17999" y="6647"/>
                  <a:pt x="17964" y="7192"/>
                  <a:pt x="17948" y="7269"/>
                </a:cubicBezTo>
                <a:cubicBezTo>
                  <a:pt x="17933" y="7345"/>
                  <a:pt x="17792" y="7624"/>
                  <a:pt x="17638" y="7886"/>
                </a:cubicBezTo>
                <a:cubicBezTo>
                  <a:pt x="17483" y="8147"/>
                  <a:pt x="17341" y="8430"/>
                  <a:pt x="17327" y="8503"/>
                </a:cubicBezTo>
                <a:cubicBezTo>
                  <a:pt x="17299" y="8647"/>
                  <a:pt x="17198" y="10945"/>
                  <a:pt x="17215" y="11040"/>
                </a:cubicBezTo>
                <a:cubicBezTo>
                  <a:pt x="17221" y="11072"/>
                  <a:pt x="17358" y="10831"/>
                  <a:pt x="17514" y="10560"/>
                </a:cubicBezTo>
                <a:cubicBezTo>
                  <a:pt x="17669" y="10289"/>
                  <a:pt x="17794" y="10168"/>
                  <a:pt x="17799" y="10217"/>
                </a:cubicBezTo>
                <a:cubicBezTo>
                  <a:pt x="17805" y="10266"/>
                  <a:pt x="17771" y="11153"/>
                  <a:pt x="17725" y="12206"/>
                </a:cubicBezTo>
                <a:lnTo>
                  <a:pt x="17650" y="14126"/>
                </a:lnTo>
                <a:lnTo>
                  <a:pt x="17315" y="14194"/>
                </a:lnTo>
                <a:lnTo>
                  <a:pt x="16979" y="14194"/>
                </a:lnTo>
                <a:lnTo>
                  <a:pt x="16930" y="15291"/>
                </a:lnTo>
                <a:lnTo>
                  <a:pt x="16880" y="16389"/>
                </a:lnTo>
                <a:lnTo>
                  <a:pt x="17377" y="16389"/>
                </a:lnTo>
                <a:cubicBezTo>
                  <a:pt x="17926" y="16389"/>
                  <a:pt x="18001" y="16305"/>
                  <a:pt x="18072" y="15703"/>
                </a:cubicBezTo>
                <a:cubicBezTo>
                  <a:pt x="18094" y="15525"/>
                  <a:pt x="18229" y="12893"/>
                  <a:pt x="18371" y="9806"/>
                </a:cubicBezTo>
                <a:cubicBezTo>
                  <a:pt x="18512" y="6719"/>
                  <a:pt x="18639" y="4053"/>
                  <a:pt x="18656" y="3909"/>
                </a:cubicBezTo>
                <a:cubicBezTo>
                  <a:pt x="18680" y="3705"/>
                  <a:pt x="18731" y="3612"/>
                  <a:pt x="18867" y="3497"/>
                </a:cubicBezTo>
                <a:cubicBezTo>
                  <a:pt x="19492" y="2970"/>
                  <a:pt x="19789" y="2764"/>
                  <a:pt x="19811" y="2811"/>
                </a:cubicBezTo>
                <a:cubicBezTo>
                  <a:pt x="19840" y="2870"/>
                  <a:pt x="19822" y="3713"/>
                  <a:pt x="19787" y="3909"/>
                </a:cubicBezTo>
                <a:cubicBezTo>
                  <a:pt x="19776" y="3967"/>
                  <a:pt x="19586" y="4027"/>
                  <a:pt x="19364" y="4046"/>
                </a:cubicBezTo>
                <a:lnTo>
                  <a:pt x="18954" y="4046"/>
                </a:lnTo>
                <a:lnTo>
                  <a:pt x="18942" y="4389"/>
                </a:lnTo>
                <a:cubicBezTo>
                  <a:pt x="18934" y="4559"/>
                  <a:pt x="18913" y="4887"/>
                  <a:pt x="18905" y="5143"/>
                </a:cubicBezTo>
                <a:lnTo>
                  <a:pt x="18892" y="5623"/>
                </a:lnTo>
                <a:lnTo>
                  <a:pt x="19302" y="5623"/>
                </a:lnTo>
                <a:cubicBezTo>
                  <a:pt x="19525" y="5623"/>
                  <a:pt x="19706" y="5640"/>
                  <a:pt x="19712" y="5691"/>
                </a:cubicBezTo>
                <a:cubicBezTo>
                  <a:pt x="19718" y="5743"/>
                  <a:pt x="19716" y="5952"/>
                  <a:pt x="19700" y="6171"/>
                </a:cubicBezTo>
                <a:lnTo>
                  <a:pt x="19662" y="6583"/>
                </a:lnTo>
                <a:lnTo>
                  <a:pt x="19252" y="6651"/>
                </a:lnTo>
                <a:lnTo>
                  <a:pt x="18843" y="6651"/>
                </a:lnTo>
                <a:lnTo>
                  <a:pt x="18818" y="7131"/>
                </a:lnTo>
                <a:cubicBezTo>
                  <a:pt x="18804" y="7404"/>
                  <a:pt x="18789" y="7835"/>
                  <a:pt x="18780" y="8023"/>
                </a:cubicBezTo>
                <a:lnTo>
                  <a:pt x="18756" y="8297"/>
                </a:lnTo>
                <a:lnTo>
                  <a:pt x="19165" y="8297"/>
                </a:lnTo>
                <a:cubicBezTo>
                  <a:pt x="19507" y="8297"/>
                  <a:pt x="19577" y="8345"/>
                  <a:pt x="19588" y="8503"/>
                </a:cubicBezTo>
                <a:cubicBezTo>
                  <a:pt x="19595" y="8606"/>
                  <a:pt x="19591" y="8813"/>
                  <a:pt x="19575" y="8914"/>
                </a:cubicBezTo>
                <a:cubicBezTo>
                  <a:pt x="19553" y="9065"/>
                  <a:pt x="19464" y="9051"/>
                  <a:pt x="19128" y="9051"/>
                </a:cubicBezTo>
                <a:lnTo>
                  <a:pt x="18718" y="9051"/>
                </a:lnTo>
                <a:lnTo>
                  <a:pt x="18681" y="9874"/>
                </a:lnTo>
                <a:cubicBezTo>
                  <a:pt x="18661" y="10315"/>
                  <a:pt x="18644" y="10730"/>
                  <a:pt x="18644" y="10766"/>
                </a:cubicBezTo>
                <a:cubicBezTo>
                  <a:pt x="18644" y="10801"/>
                  <a:pt x="18828" y="10816"/>
                  <a:pt x="19054" y="10834"/>
                </a:cubicBezTo>
                <a:lnTo>
                  <a:pt x="19476" y="10903"/>
                </a:lnTo>
                <a:lnTo>
                  <a:pt x="19476" y="11177"/>
                </a:lnTo>
                <a:cubicBezTo>
                  <a:pt x="19476" y="11336"/>
                  <a:pt x="19446" y="12026"/>
                  <a:pt x="19414" y="12754"/>
                </a:cubicBezTo>
                <a:cubicBezTo>
                  <a:pt x="19358" y="14004"/>
                  <a:pt x="19353" y="14087"/>
                  <a:pt x="19302" y="14057"/>
                </a:cubicBezTo>
                <a:cubicBezTo>
                  <a:pt x="19272" y="14040"/>
                  <a:pt x="19201" y="13786"/>
                  <a:pt x="19153" y="13509"/>
                </a:cubicBezTo>
                <a:cubicBezTo>
                  <a:pt x="19064" y="12990"/>
                  <a:pt x="19067" y="12850"/>
                  <a:pt x="19116" y="11931"/>
                </a:cubicBezTo>
                <a:cubicBezTo>
                  <a:pt x="19126" y="11734"/>
                  <a:pt x="19101" y="11657"/>
                  <a:pt x="18867" y="11657"/>
                </a:cubicBezTo>
                <a:lnTo>
                  <a:pt x="18607" y="11657"/>
                </a:lnTo>
                <a:lnTo>
                  <a:pt x="18507" y="13920"/>
                </a:lnTo>
                <a:cubicBezTo>
                  <a:pt x="18450" y="15138"/>
                  <a:pt x="18395" y="16173"/>
                  <a:pt x="18395" y="16251"/>
                </a:cubicBezTo>
                <a:cubicBezTo>
                  <a:pt x="18395" y="16351"/>
                  <a:pt x="18472" y="16389"/>
                  <a:pt x="18644" y="16389"/>
                </a:cubicBezTo>
                <a:cubicBezTo>
                  <a:pt x="18889" y="16389"/>
                  <a:pt x="18896" y="16427"/>
                  <a:pt x="18917" y="16114"/>
                </a:cubicBezTo>
                <a:lnTo>
                  <a:pt x="18942" y="15771"/>
                </a:lnTo>
                <a:lnTo>
                  <a:pt x="19041" y="16114"/>
                </a:lnTo>
                <a:lnTo>
                  <a:pt x="19141" y="16389"/>
                </a:lnTo>
                <a:lnTo>
                  <a:pt x="19960" y="16389"/>
                </a:lnTo>
                <a:lnTo>
                  <a:pt x="20768" y="16320"/>
                </a:lnTo>
                <a:lnTo>
                  <a:pt x="20805" y="15497"/>
                </a:lnTo>
                <a:cubicBezTo>
                  <a:pt x="20825" y="15053"/>
                  <a:pt x="20852" y="14622"/>
                  <a:pt x="20867" y="14469"/>
                </a:cubicBezTo>
                <a:lnTo>
                  <a:pt x="20904" y="14194"/>
                </a:lnTo>
                <a:lnTo>
                  <a:pt x="20395" y="14194"/>
                </a:lnTo>
                <a:cubicBezTo>
                  <a:pt x="20113" y="14194"/>
                  <a:pt x="19881" y="14121"/>
                  <a:pt x="19873" y="14057"/>
                </a:cubicBezTo>
                <a:cubicBezTo>
                  <a:pt x="19866" y="13995"/>
                  <a:pt x="19874" y="13820"/>
                  <a:pt x="19886" y="13646"/>
                </a:cubicBezTo>
                <a:lnTo>
                  <a:pt x="19911" y="13303"/>
                </a:lnTo>
                <a:lnTo>
                  <a:pt x="20259" y="13234"/>
                </a:lnTo>
                <a:lnTo>
                  <a:pt x="20619" y="13234"/>
                </a:lnTo>
                <a:lnTo>
                  <a:pt x="20656" y="12480"/>
                </a:lnTo>
                <a:lnTo>
                  <a:pt x="20693" y="11726"/>
                </a:lnTo>
                <a:lnTo>
                  <a:pt x="20333" y="11657"/>
                </a:lnTo>
                <a:cubicBezTo>
                  <a:pt x="20002" y="11599"/>
                  <a:pt x="19987" y="11617"/>
                  <a:pt x="19985" y="11383"/>
                </a:cubicBezTo>
                <a:cubicBezTo>
                  <a:pt x="19981" y="10731"/>
                  <a:pt x="20003" y="10698"/>
                  <a:pt x="20358" y="10697"/>
                </a:cubicBezTo>
                <a:cubicBezTo>
                  <a:pt x="20779" y="10697"/>
                  <a:pt x="20800" y="10642"/>
                  <a:pt x="20880" y="9326"/>
                </a:cubicBezTo>
                <a:cubicBezTo>
                  <a:pt x="20934" y="8429"/>
                  <a:pt x="20943" y="8358"/>
                  <a:pt x="21029" y="8297"/>
                </a:cubicBezTo>
                <a:cubicBezTo>
                  <a:pt x="21111" y="8238"/>
                  <a:pt x="21113" y="8271"/>
                  <a:pt x="21140" y="7680"/>
                </a:cubicBezTo>
                <a:cubicBezTo>
                  <a:pt x="21185" y="6719"/>
                  <a:pt x="21183" y="6446"/>
                  <a:pt x="21116" y="6446"/>
                </a:cubicBezTo>
                <a:cubicBezTo>
                  <a:pt x="21084" y="6446"/>
                  <a:pt x="21047" y="6398"/>
                  <a:pt x="21041" y="6309"/>
                </a:cubicBezTo>
                <a:cubicBezTo>
                  <a:pt x="21035" y="6220"/>
                  <a:pt x="21053" y="5651"/>
                  <a:pt x="21078" y="5074"/>
                </a:cubicBezTo>
                <a:cubicBezTo>
                  <a:pt x="21103" y="4498"/>
                  <a:pt x="21128" y="4028"/>
                  <a:pt x="21128" y="3977"/>
                </a:cubicBezTo>
                <a:cubicBezTo>
                  <a:pt x="21128" y="3926"/>
                  <a:pt x="20946" y="3840"/>
                  <a:pt x="20731" y="3840"/>
                </a:cubicBezTo>
                <a:cubicBezTo>
                  <a:pt x="20499" y="3840"/>
                  <a:pt x="20329" y="3843"/>
                  <a:pt x="20321" y="3771"/>
                </a:cubicBezTo>
                <a:cubicBezTo>
                  <a:pt x="20297" y="3558"/>
                  <a:pt x="20361" y="2605"/>
                  <a:pt x="20408" y="2469"/>
                </a:cubicBezTo>
                <a:cubicBezTo>
                  <a:pt x="20435" y="2388"/>
                  <a:pt x="20665" y="2347"/>
                  <a:pt x="21016" y="2331"/>
                </a:cubicBezTo>
                <a:lnTo>
                  <a:pt x="21600" y="2331"/>
                </a:lnTo>
                <a:lnTo>
                  <a:pt x="21600" y="0"/>
                </a:lnTo>
                <a:lnTo>
                  <a:pt x="0" y="0"/>
                </a:lnTo>
                <a:close/>
                <a:moveTo>
                  <a:pt x="783" y="1303"/>
                </a:moveTo>
                <a:lnTo>
                  <a:pt x="696" y="2400"/>
                </a:lnTo>
                <a:lnTo>
                  <a:pt x="609" y="3429"/>
                </a:lnTo>
                <a:lnTo>
                  <a:pt x="1851" y="3497"/>
                </a:lnTo>
                <a:cubicBezTo>
                  <a:pt x="3226" y="3566"/>
                  <a:pt x="3181" y="3534"/>
                  <a:pt x="3341" y="4389"/>
                </a:cubicBezTo>
                <a:cubicBezTo>
                  <a:pt x="3399" y="4696"/>
                  <a:pt x="3416" y="4902"/>
                  <a:pt x="3416" y="5280"/>
                </a:cubicBezTo>
                <a:cubicBezTo>
                  <a:pt x="3416" y="5684"/>
                  <a:pt x="3397" y="5834"/>
                  <a:pt x="3304" y="6377"/>
                </a:cubicBezTo>
                <a:cubicBezTo>
                  <a:pt x="3115" y="7478"/>
                  <a:pt x="2813" y="8359"/>
                  <a:pt x="2211" y="9463"/>
                </a:cubicBezTo>
                <a:lnTo>
                  <a:pt x="1888" y="10011"/>
                </a:lnTo>
                <a:lnTo>
                  <a:pt x="2372" y="12686"/>
                </a:lnTo>
                <a:lnTo>
                  <a:pt x="2869" y="15291"/>
                </a:lnTo>
                <a:lnTo>
                  <a:pt x="3403" y="15291"/>
                </a:lnTo>
                <a:cubicBezTo>
                  <a:pt x="3753" y="15294"/>
                  <a:pt x="3937" y="15237"/>
                  <a:pt x="3937" y="15154"/>
                </a:cubicBezTo>
                <a:cubicBezTo>
                  <a:pt x="3937" y="14929"/>
                  <a:pt x="3467" y="12404"/>
                  <a:pt x="3205" y="11246"/>
                </a:cubicBezTo>
                <a:cubicBezTo>
                  <a:pt x="3064" y="10627"/>
                  <a:pt x="2958" y="10137"/>
                  <a:pt x="2969" y="10080"/>
                </a:cubicBezTo>
                <a:cubicBezTo>
                  <a:pt x="2979" y="10023"/>
                  <a:pt x="3069" y="9874"/>
                  <a:pt x="3167" y="9806"/>
                </a:cubicBezTo>
                <a:cubicBezTo>
                  <a:pt x="3654" y="9466"/>
                  <a:pt x="4036" y="8338"/>
                  <a:pt x="4198" y="6720"/>
                </a:cubicBezTo>
                <a:cubicBezTo>
                  <a:pt x="4257" y="6130"/>
                  <a:pt x="4260" y="5943"/>
                  <a:pt x="4260" y="5006"/>
                </a:cubicBezTo>
                <a:cubicBezTo>
                  <a:pt x="4260" y="4075"/>
                  <a:pt x="4256" y="3862"/>
                  <a:pt x="4198" y="3291"/>
                </a:cubicBezTo>
                <a:cubicBezTo>
                  <a:pt x="4088" y="2194"/>
                  <a:pt x="3884" y="1595"/>
                  <a:pt x="3528" y="1371"/>
                </a:cubicBezTo>
                <a:cubicBezTo>
                  <a:pt x="3430" y="1310"/>
                  <a:pt x="3092" y="1307"/>
                  <a:pt x="2596" y="1303"/>
                </a:cubicBezTo>
                <a:cubicBezTo>
                  <a:pt x="2431" y="1301"/>
                  <a:pt x="2247" y="1297"/>
                  <a:pt x="2049" y="1303"/>
                </a:cubicBezTo>
                <a:lnTo>
                  <a:pt x="783" y="1303"/>
                </a:lnTo>
                <a:close/>
                <a:moveTo>
                  <a:pt x="14992" y="4114"/>
                </a:moveTo>
                <a:lnTo>
                  <a:pt x="14918" y="5897"/>
                </a:lnTo>
                <a:cubicBezTo>
                  <a:pt x="14831" y="7969"/>
                  <a:pt x="14731" y="10401"/>
                  <a:pt x="14731" y="10560"/>
                </a:cubicBezTo>
                <a:cubicBezTo>
                  <a:pt x="14731" y="10622"/>
                  <a:pt x="14946" y="10697"/>
                  <a:pt x="15216" y="10697"/>
                </a:cubicBezTo>
                <a:cubicBezTo>
                  <a:pt x="15481" y="10697"/>
                  <a:pt x="15706" y="10711"/>
                  <a:pt x="15712" y="10766"/>
                </a:cubicBezTo>
                <a:cubicBezTo>
                  <a:pt x="15719" y="10821"/>
                  <a:pt x="15711" y="11114"/>
                  <a:pt x="15700" y="11383"/>
                </a:cubicBezTo>
                <a:cubicBezTo>
                  <a:pt x="15689" y="11652"/>
                  <a:pt x="15682" y="12054"/>
                  <a:pt x="15675" y="12274"/>
                </a:cubicBezTo>
                <a:cubicBezTo>
                  <a:pt x="15668" y="12495"/>
                  <a:pt x="15631" y="13219"/>
                  <a:pt x="15601" y="13920"/>
                </a:cubicBezTo>
                <a:cubicBezTo>
                  <a:pt x="15533" y="15450"/>
                  <a:pt x="15533" y="16075"/>
                  <a:pt x="15588" y="16251"/>
                </a:cubicBezTo>
                <a:cubicBezTo>
                  <a:pt x="15612" y="16327"/>
                  <a:pt x="15840" y="16386"/>
                  <a:pt x="16160" y="16389"/>
                </a:cubicBezTo>
                <a:lnTo>
                  <a:pt x="16681" y="16389"/>
                </a:lnTo>
                <a:lnTo>
                  <a:pt x="16731" y="15497"/>
                </a:lnTo>
                <a:cubicBezTo>
                  <a:pt x="16753" y="15002"/>
                  <a:pt x="16787" y="14519"/>
                  <a:pt x="16806" y="14400"/>
                </a:cubicBezTo>
                <a:cubicBezTo>
                  <a:pt x="16838" y="14194"/>
                  <a:pt x="16816" y="14194"/>
                  <a:pt x="16495" y="14194"/>
                </a:cubicBezTo>
                <a:cubicBezTo>
                  <a:pt x="16308" y="14194"/>
                  <a:pt x="16153" y="14108"/>
                  <a:pt x="16147" y="14057"/>
                </a:cubicBezTo>
                <a:cubicBezTo>
                  <a:pt x="16132" y="13919"/>
                  <a:pt x="16244" y="11015"/>
                  <a:pt x="16271" y="10834"/>
                </a:cubicBezTo>
                <a:cubicBezTo>
                  <a:pt x="16285" y="10741"/>
                  <a:pt x="16350" y="10698"/>
                  <a:pt x="16433" y="10697"/>
                </a:cubicBezTo>
                <a:cubicBezTo>
                  <a:pt x="16615" y="10696"/>
                  <a:pt x="16720" y="10503"/>
                  <a:pt x="16793" y="10080"/>
                </a:cubicBezTo>
                <a:cubicBezTo>
                  <a:pt x="16843" y="9790"/>
                  <a:pt x="16863" y="9423"/>
                  <a:pt x="16917" y="7954"/>
                </a:cubicBezTo>
                <a:cubicBezTo>
                  <a:pt x="16960" y="6789"/>
                  <a:pt x="16971" y="6241"/>
                  <a:pt x="16955" y="6240"/>
                </a:cubicBezTo>
                <a:cubicBezTo>
                  <a:pt x="16926" y="6239"/>
                  <a:pt x="16509" y="6859"/>
                  <a:pt x="16495" y="6926"/>
                </a:cubicBezTo>
                <a:cubicBezTo>
                  <a:pt x="16490" y="6950"/>
                  <a:pt x="16466" y="7426"/>
                  <a:pt x="16445" y="7954"/>
                </a:cubicBezTo>
                <a:lnTo>
                  <a:pt x="16408" y="8914"/>
                </a:lnTo>
                <a:lnTo>
                  <a:pt x="15824" y="8983"/>
                </a:lnTo>
                <a:cubicBezTo>
                  <a:pt x="15423" y="9026"/>
                  <a:pt x="15223" y="9080"/>
                  <a:pt x="15178" y="9189"/>
                </a:cubicBezTo>
                <a:cubicBezTo>
                  <a:pt x="15136" y="9291"/>
                  <a:pt x="15105" y="9266"/>
                  <a:pt x="15091" y="9189"/>
                </a:cubicBezTo>
                <a:cubicBezTo>
                  <a:pt x="15077" y="9111"/>
                  <a:pt x="15112" y="8918"/>
                  <a:pt x="15191" y="8640"/>
                </a:cubicBezTo>
                <a:lnTo>
                  <a:pt x="15315" y="8229"/>
                </a:lnTo>
                <a:lnTo>
                  <a:pt x="15352" y="7200"/>
                </a:lnTo>
                <a:cubicBezTo>
                  <a:pt x="15375" y="6631"/>
                  <a:pt x="15403" y="6115"/>
                  <a:pt x="15414" y="6034"/>
                </a:cubicBezTo>
                <a:cubicBezTo>
                  <a:pt x="15428" y="5933"/>
                  <a:pt x="15564" y="5856"/>
                  <a:pt x="15837" y="5829"/>
                </a:cubicBezTo>
                <a:cubicBezTo>
                  <a:pt x="16212" y="5791"/>
                  <a:pt x="16241" y="5795"/>
                  <a:pt x="16358" y="5486"/>
                </a:cubicBezTo>
                <a:cubicBezTo>
                  <a:pt x="16460" y="5217"/>
                  <a:pt x="16623" y="4822"/>
                  <a:pt x="16942" y="4183"/>
                </a:cubicBezTo>
                <a:cubicBezTo>
                  <a:pt x="16961" y="4146"/>
                  <a:pt x="16531" y="4120"/>
                  <a:pt x="15986" y="4114"/>
                </a:cubicBezTo>
                <a:lnTo>
                  <a:pt x="14992" y="4114"/>
                </a:lnTo>
                <a:close/>
                <a:moveTo>
                  <a:pt x="4596" y="4457"/>
                </a:moveTo>
                <a:lnTo>
                  <a:pt x="4571" y="4937"/>
                </a:lnTo>
                <a:cubicBezTo>
                  <a:pt x="4436" y="7970"/>
                  <a:pt x="4245" y="12569"/>
                  <a:pt x="4236" y="13029"/>
                </a:cubicBezTo>
                <a:cubicBezTo>
                  <a:pt x="4214" y="14134"/>
                  <a:pt x="4360" y="14878"/>
                  <a:pt x="4633" y="15154"/>
                </a:cubicBezTo>
                <a:cubicBezTo>
                  <a:pt x="4790" y="15313"/>
                  <a:pt x="5685" y="15168"/>
                  <a:pt x="5912" y="14949"/>
                </a:cubicBezTo>
                <a:cubicBezTo>
                  <a:pt x="6018" y="14847"/>
                  <a:pt x="6148" y="14660"/>
                  <a:pt x="6198" y="14537"/>
                </a:cubicBezTo>
                <a:cubicBezTo>
                  <a:pt x="6303" y="14280"/>
                  <a:pt x="6422" y="13606"/>
                  <a:pt x="6471" y="12960"/>
                </a:cubicBezTo>
                <a:cubicBezTo>
                  <a:pt x="6518" y="12344"/>
                  <a:pt x="6696" y="8243"/>
                  <a:pt x="6832" y="4731"/>
                </a:cubicBezTo>
                <a:lnTo>
                  <a:pt x="6844" y="4457"/>
                </a:lnTo>
                <a:lnTo>
                  <a:pt x="6484" y="4457"/>
                </a:lnTo>
                <a:lnTo>
                  <a:pt x="6124" y="4457"/>
                </a:lnTo>
                <a:lnTo>
                  <a:pt x="6061" y="6309"/>
                </a:lnTo>
                <a:cubicBezTo>
                  <a:pt x="5893" y="11101"/>
                  <a:pt x="5818" y="12346"/>
                  <a:pt x="5627" y="12891"/>
                </a:cubicBezTo>
                <a:cubicBezTo>
                  <a:pt x="5525" y="13180"/>
                  <a:pt x="5296" y="13309"/>
                  <a:pt x="5180" y="13166"/>
                </a:cubicBezTo>
                <a:cubicBezTo>
                  <a:pt x="5044" y="12998"/>
                  <a:pt x="4993" y="12759"/>
                  <a:pt x="4993" y="12206"/>
                </a:cubicBezTo>
                <a:cubicBezTo>
                  <a:pt x="4993" y="11960"/>
                  <a:pt x="5068" y="10165"/>
                  <a:pt x="5155" y="8229"/>
                </a:cubicBezTo>
                <a:cubicBezTo>
                  <a:pt x="5241" y="6292"/>
                  <a:pt x="5304" y="4655"/>
                  <a:pt x="5304" y="4594"/>
                </a:cubicBezTo>
                <a:cubicBezTo>
                  <a:pt x="5304" y="4534"/>
                  <a:pt x="5153" y="4457"/>
                  <a:pt x="4956" y="4457"/>
                </a:cubicBezTo>
                <a:lnTo>
                  <a:pt x="4596" y="4457"/>
                </a:lnTo>
                <a:close/>
                <a:moveTo>
                  <a:pt x="11837" y="4457"/>
                </a:moveTo>
                <a:cubicBezTo>
                  <a:pt x="11532" y="4467"/>
                  <a:pt x="11316" y="4643"/>
                  <a:pt x="11092" y="5143"/>
                </a:cubicBezTo>
                <a:cubicBezTo>
                  <a:pt x="10625" y="6182"/>
                  <a:pt x="10303" y="8169"/>
                  <a:pt x="10235" y="10354"/>
                </a:cubicBezTo>
                <a:cubicBezTo>
                  <a:pt x="10158" y="12820"/>
                  <a:pt x="10471" y="14758"/>
                  <a:pt x="11017" y="15154"/>
                </a:cubicBezTo>
                <a:cubicBezTo>
                  <a:pt x="11309" y="15365"/>
                  <a:pt x="11858" y="14938"/>
                  <a:pt x="12185" y="14263"/>
                </a:cubicBezTo>
                <a:lnTo>
                  <a:pt x="12297" y="14057"/>
                </a:lnTo>
                <a:lnTo>
                  <a:pt x="12359" y="12754"/>
                </a:lnTo>
                <a:cubicBezTo>
                  <a:pt x="12389" y="12058"/>
                  <a:pt x="12411" y="11473"/>
                  <a:pt x="12409" y="11451"/>
                </a:cubicBezTo>
                <a:cubicBezTo>
                  <a:pt x="12406" y="11430"/>
                  <a:pt x="12336" y="11581"/>
                  <a:pt x="12259" y="11794"/>
                </a:cubicBezTo>
                <a:cubicBezTo>
                  <a:pt x="12071" y="12318"/>
                  <a:pt x="11686" y="13036"/>
                  <a:pt x="11514" y="13166"/>
                </a:cubicBezTo>
                <a:cubicBezTo>
                  <a:pt x="11349" y="13290"/>
                  <a:pt x="11201" y="13158"/>
                  <a:pt x="11117" y="12823"/>
                </a:cubicBezTo>
                <a:cubicBezTo>
                  <a:pt x="11043" y="12529"/>
                  <a:pt x="10964" y="11741"/>
                  <a:pt x="10993" y="11589"/>
                </a:cubicBezTo>
                <a:cubicBezTo>
                  <a:pt x="11004" y="11529"/>
                  <a:pt x="11265" y="11214"/>
                  <a:pt x="11576" y="10903"/>
                </a:cubicBezTo>
                <a:cubicBezTo>
                  <a:pt x="12174" y="10304"/>
                  <a:pt x="12335" y="10054"/>
                  <a:pt x="12483" y="9463"/>
                </a:cubicBezTo>
                <a:cubicBezTo>
                  <a:pt x="12582" y="9066"/>
                  <a:pt x="12630" y="8694"/>
                  <a:pt x="12669" y="7886"/>
                </a:cubicBezTo>
                <a:cubicBezTo>
                  <a:pt x="12732" y="6603"/>
                  <a:pt x="12564" y="5287"/>
                  <a:pt x="12272" y="4731"/>
                </a:cubicBezTo>
                <a:cubicBezTo>
                  <a:pt x="12138" y="4477"/>
                  <a:pt x="12078" y="4449"/>
                  <a:pt x="11837" y="4457"/>
                </a:cubicBezTo>
                <a:close/>
                <a:moveTo>
                  <a:pt x="10235" y="4800"/>
                </a:moveTo>
                <a:lnTo>
                  <a:pt x="10073" y="4937"/>
                </a:lnTo>
                <a:cubicBezTo>
                  <a:pt x="9985" y="4982"/>
                  <a:pt x="9820" y="5068"/>
                  <a:pt x="9713" y="5143"/>
                </a:cubicBezTo>
                <a:lnTo>
                  <a:pt x="9527" y="5280"/>
                </a:lnTo>
                <a:lnTo>
                  <a:pt x="9490" y="6171"/>
                </a:lnTo>
                <a:cubicBezTo>
                  <a:pt x="9470" y="6659"/>
                  <a:pt x="9403" y="7925"/>
                  <a:pt x="9353" y="9051"/>
                </a:cubicBezTo>
                <a:cubicBezTo>
                  <a:pt x="9302" y="10178"/>
                  <a:pt x="9253" y="11660"/>
                  <a:pt x="9229" y="12274"/>
                </a:cubicBezTo>
                <a:cubicBezTo>
                  <a:pt x="9205" y="12889"/>
                  <a:pt x="9165" y="13802"/>
                  <a:pt x="9142" y="14331"/>
                </a:cubicBezTo>
                <a:lnTo>
                  <a:pt x="9092" y="15291"/>
                </a:lnTo>
                <a:lnTo>
                  <a:pt x="9440" y="15291"/>
                </a:lnTo>
                <a:lnTo>
                  <a:pt x="9775" y="15291"/>
                </a:lnTo>
                <a:lnTo>
                  <a:pt x="9912" y="12274"/>
                </a:lnTo>
                <a:cubicBezTo>
                  <a:pt x="9983" y="10619"/>
                  <a:pt x="10082" y="8284"/>
                  <a:pt x="10135" y="7063"/>
                </a:cubicBezTo>
                <a:lnTo>
                  <a:pt x="10235" y="4800"/>
                </a:lnTo>
                <a:close/>
                <a:moveTo>
                  <a:pt x="1043" y="5006"/>
                </a:moveTo>
                <a:lnTo>
                  <a:pt x="981" y="6034"/>
                </a:lnTo>
                <a:cubicBezTo>
                  <a:pt x="942" y="6631"/>
                  <a:pt x="828" y="8304"/>
                  <a:pt x="733" y="9737"/>
                </a:cubicBezTo>
                <a:cubicBezTo>
                  <a:pt x="638" y="11171"/>
                  <a:pt x="526" y="12929"/>
                  <a:pt x="484" y="13577"/>
                </a:cubicBezTo>
                <a:cubicBezTo>
                  <a:pt x="443" y="14226"/>
                  <a:pt x="406" y="14828"/>
                  <a:pt x="397" y="14949"/>
                </a:cubicBezTo>
                <a:cubicBezTo>
                  <a:pt x="382" y="15155"/>
                  <a:pt x="400" y="15186"/>
                  <a:pt x="820" y="15154"/>
                </a:cubicBezTo>
                <a:lnTo>
                  <a:pt x="1267" y="15086"/>
                </a:lnTo>
                <a:lnTo>
                  <a:pt x="1391" y="13371"/>
                </a:lnTo>
                <a:cubicBezTo>
                  <a:pt x="1511" y="11576"/>
                  <a:pt x="1753" y="7833"/>
                  <a:pt x="1851" y="6309"/>
                </a:cubicBezTo>
                <a:cubicBezTo>
                  <a:pt x="1881" y="5831"/>
                  <a:pt x="1917" y="5331"/>
                  <a:pt x="1925" y="5211"/>
                </a:cubicBezTo>
                <a:cubicBezTo>
                  <a:pt x="1940" y="5009"/>
                  <a:pt x="1907" y="5005"/>
                  <a:pt x="1491" y="5006"/>
                </a:cubicBezTo>
                <a:lnTo>
                  <a:pt x="1043" y="5006"/>
                </a:lnTo>
                <a:close/>
                <a:moveTo>
                  <a:pt x="9055" y="5623"/>
                </a:moveTo>
                <a:cubicBezTo>
                  <a:pt x="9050" y="5595"/>
                  <a:pt x="8883" y="5664"/>
                  <a:pt x="8695" y="5829"/>
                </a:cubicBezTo>
                <a:lnTo>
                  <a:pt x="8359" y="6171"/>
                </a:lnTo>
                <a:lnTo>
                  <a:pt x="8173" y="10217"/>
                </a:lnTo>
                <a:cubicBezTo>
                  <a:pt x="7927" y="15628"/>
                  <a:pt x="7867" y="16689"/>
                  <a:pt x="7726" y="17554"/>
                </a:cubicBezTo>
                <a:cubicBezTo>
                  <a:pt x="7641" y="18075"/>
                  <a:pt x="7422" y="18721"/>
                  <a:pt x="7291" y="18857"/>
                </a:cubicBezTo>
                <a:cubicBezTo>
                  <a:pt x="7224" y="18927"/>
                  <a:pt x="7227" y="18960"/>
                  <a:pt x="7204" y="19611"/>
                </a:cubicBezTo>
                <a:cubicBezTo>
                  <a:pt x="7190" y="19997"/>
                  <a:pt x="7164" y="20469"/>
                  <a:pt x="7154" y="20640"/>
                </a:cubicBezTo>
                <a:lnTo>
                  <a:pt x="7142" y="20914"/>
                </a:lnTo>
                <a:lnTo>
                  <a:pt x="6695" y="20983"/>
                </a:lnTo>
                <a:cubicBezTo>
                  <a:pt x="6449" y="21001"/>
                  <a:pt x="6234" y="20974"/>
                  <a:pt x="6223" y="20914"/>
                </a:cubicBezTo>
                <a:cubicBezTo>
                  <a:pt x="6212" y="20853"/>
                  <a:pt x="6227" y="20690"/>
                  <a:pt x="6260" y="20571"/>
                </a:cubicBezTo>
                <a:cubicBezTo>
                  <a:pt x="6352" y="20241"/>
                  <a:pt x="6346" y="19742"/>
                  <a:pt x="6235" y="19337"/>
                </a:cubicBezTo>
                <a:cubicBezTo>
                  <a:pt x="6095" y="18826"/>
                  <a:pt x="6116" y="18555"/>
                  <a:pt x="6310" y="18583"/>
                </a:cubicBezTo>
                <a:cubicBezTo>
                  <a:pt x="6409" y="18597"/>
                  <a:pt x="6437" y="18583"/>
                  <a:pt x="6446" y="18377"/>
                </a:cubicBezTo>
                <a:cubicBezTo>
                  <a:pt x="6457" y="18149"/>
                  <a:pt x="6444" y="18170"/>
                  <a:pt x="6273" y="18171"/>
                </a:cubicBezTo>
                <a:cubicBezTo>
                  <a:pt x="6049" y="18174"/>
                  <a:pt x="5972" y="18314"/>
                  <a:pt x="5962" y="18857"/>
                </a:cubicBezTo>
                <a:cubicBezTo>
                  <a:pt x="5956" y="19198"/>
                  <a:pt x="5970" y="19254"/>
                  <a:pt x="6049" y="19543"/>
                </a:cubicBezTo>
                <a:cubicBezTo>
                  <a:pt x="6150" y="19910"/>
                  <a:pt x="6161" y="20000"/>
                  <a:pt x="6111" y="20229"/>
                </a:cubicBezTo>
                <a:cubicBezTo>
                  <a:pt x="6087" y="20337"/>
                  <a:pt x="6030" y="20355"/>
                  <a:pt x="5937" y="20297"/>
                </a:cubicBezTo>
                <a:cubicBezTo>
                  <a:pt x="5804" y="20214"/>
                  <a:pt x="5808" y="20226"/>
                  <a:pt x="5801" y="20571"/>
                </a:cubicBezTo>
                <a:cubicBezTo>
                  <a:pt x="5788" y="21178"/>
                  <a:pt x="5726" y="21093"/>
                  <a:pt x="5614" y="20229"/>
                </a:cubicBezTo>
                <a:cubicBezTo>
                  <a:pt x="5557" y="19786"/>
                  <a:pt x="5515" y="19368"/>
                  <a:pt x="5515" y="19337"/>
                </a:cubicBezTo>
                <a:cubicBezTo>
                  <a:pt x="5515" y="19306"/>
                  <a:pt x="5581" y="19018"/>
                  <a:pt x="5664" y="18720"/>
                </a:cubicBezTo>
                <a:lnTo>
                  <a:pt x="5813" y="18171"/>
                </a:lnTo>
                <a:lnTo>
                  <a:pt x="5714" y="18171"/>
                </a:lnTo>
                <a:cubicBezTo>
                  <a:pt x="5623" y="18139"/>
                  <a:pt x="5590" y="18187"/>
                  <a:pt x="5490" y="18583"/>
                </a:cubicBezTo>
                <a:cubicBezTo>
                  <a:pt x="5314" y="19280"/>
                  <a:pt x="5299" y="19045"/>
                  <a:pt x="5428" y="17349"/>
                </a:cubicBezTo>
                <a:cubicBezTo>
                  <a:pt x="5442" y="17161"/>
                  <a:pt x="5441" y="17143"/>
                  <a:pt x="5353" y="17143"/>
                </a:cubicBezTo>
                <a:lnTo>
                  <a:pt x="5242" y="17143"/>
                </a:lnTo>
                <a:lnTo>
                  <a:pt x="5192" y="18103"/>
                </a:lnTo>
                <a:cubicBezTo>
                  <a:pt x="5108" y="19428"/>
                  <a:pt x="5008" y="20654"/>
                  <a:pt x="4981" y="20846"/>
                </a:cubicBezTo>
                <a:cubicBezTo>
                  <a:pt x="4965" y="20957"/>
                  <a:pt x="4917" y="21008"/>
                  <a:pt x="4807" y="20983"/>
                </a:cubicBezTo>
                <a:lnTo>
                  <a:pt x="4645" y="20914"/>
                </a:lnTo>
                <a:lnTo>
                  <a:pt x="4658" y="20571"/>
                </a:lnTo>
                <a:cubicBezTo>
                  <a:pt x="4678" y="19543"/>
                  <a:pt x="4828" y="18557"/>
                  <a:pt x="4956" y="18651"/>
                </a:cubicBezTo>
                <a:cubicBezTo>
                  <a:pt x="5012" y="18693"/>
                  <a:pt x="5043" y="18555"/>
                  <a:pt x="5043" y="18240"/>
                </a:cubicBezTo>
                <a:cubicBezTo>
                  <a:pt x="5043" y="18180"/>
                  <a:pt x="4939" y="18157"/>
                  <a:pt x="4819" y="18171"/>
                </a:cubicBezTo>
                <a:lnTo>
                  <a:pt x="4608" y="18171"/>
                </a:lnTo>
                <a:lnTo>
                  <a:pt x="4558" y="18857"/>
                </a:lnTo>
                <a:cubicBezTo>
                  <a:pt x="4538" y="19233"/>
                  <a:pt x="4503" y="19905"/>
                  <a:pt x="4472" y="20297"/>
                </a:cubicBezTo>
                <a:lnTo>
                  <a:pt x="4409" y="20983"/>
                </a:lnTo>
                <a:lnTo>
                  <a:pt x="4298" y="20983"/>
                </a:lnTo>
                <a:cubicBezTo>
                  <a:pt x="4155" y="20983"/>
                  <a:pt x="4140" y="20809"/>
                  <a:pt x="4248" y="20503"/>
                </a:cubicBezTo>
                <a:cubicBezTo>
                  <a:pt x="4414" y="20031"/>
                  <a:pt x="4486" y="18952"/>
                  <a:pt x="4385" y="18446"/>
                </a:cubicBezTo>
                <a:cubicBezTo>
                  <a:pt x="4348" y="18262"/>
                  <a:pt x="4296" y="18206"/>
                  <a:pt x="4149" y="18171"/>
                </a:cubicBezTo>
                <a:cubicBezTo>
                  <a:pt x="3980" y="18132"/>
                  <a:pt x="3945" y="18156"/>
                  <a:pt x="3838" y="18446"/>
                </a:cubicBezTo>
                <a:cubicBezTo>
                  <a:pt x="3652" y="18947"/>
                  <a:pt x="3586" y="19984"/>
                  <a:pt x="3701" y="20571"/>
                </a:cubicBezTo>
                <a:cubicBezTo>
                  <a:pt x="3732" y="20729"/>
                  <a:pt x="3747" y="20870"/>
                  <a:pt x="3739" y="20914"/>
                </a:cubicBezTo>
                <a:cubicBezTo>
                  <a:pt x="3718" y="21027"/>
                  <a:pt x="3267" y="21028"/>
                  <a:pt x="3254" y="20914"/>
                </a:cubicBezTo>
                <a:cubicBezTo>
                  <a:pt x="3249" y="20863"/>
                  <a:pt x="3344" y="20191"/>
                  <a:pt x="3465" y="19474"/>
                </a:cubicBezTo>
                <a:lnTo>
                  <a:pt x="3689" y="18171"/>
                </a:lnTo>
                <a:lnTo>
                  <a:pt x="3590" y="18171"/>
                </a:lnTo>
                <a:cubicBezTo>
                  <a:pt x="3500" y="18133"/>
                  <a:pt x="3493" y="18142"/>
                  <a:pt x="3366" y="18926"/>
                </a:cubicBezTo>
                <a:cubicBezTo>
                  <a:pt x="3293" y="19374"/>
                  <a:pt x="3227" y="19713"/>
                  <a:pt x="3217" y="19680"/>
                </a:cubicBezTo>
                <a:cubicBezTo>
                  <a:pt x="3207" y="19647"/>
                  <a:pt x="3188" y="19268"/>
                  <a:pt x="3180" y="18857"/>
                </a:cubicBezTo>
                <a:lnTo>
                  <a:pt x="3167" y="18103"/>
                </a:lnTo>
                <a:lnTo>
                  <a:pt x="3068" y="18103"/>
                </a:lnTo>
                <a:cubicBezTo>
                  <a:pt x="2974" y="18103"/>
                  <a:pt x="2967" y="18157"/>
                  <a:pt x="2844" y="18994"/>
                </a:cubicBezTo>
                <a:cubicBezTo>
                  <a:pt x="2714" y="19886"/>
                  <a:pt x="2683" y="19994"/>
                  <a:pt x="2683" y="19406"/>
                </a:cubicBezTo>
                <a:cubicBezTo>
                  <a:pt x="2683" y="19222"/>
                  <a:pt x="2666" y="18839"/>
                  <a:pt x="2658" y="18583"/>
                </a:cubicBezTo>
                <a:cubicBezTo>
                  <a:pt x="2645" y="18139"/>
                  <a:pt x="2642" y="18103"/>
                  <a:pt x="2559" y="18103"/>
                </a:cubicBezTo>
                <a:cubicBezTo>
                  <a:pt x="2456" y="18103"/>
                  <a:pt x="2460" y="18130"/>
                  <a:pt x="2509" y="19680"/>
                </a:cubicBezTo>
                <a:cubicBezTo>
                  <a:pt x="2528" y="20279"/>
                  <a:pt x="2541" y="20780"/>
                  <a:pt x="2534" y="20846"/>
                </a:cubicBezTo>
                <a:cubicBezTo>
                  <a:pt x="2515" y="21011"/>
                  <a:pt x="2254" y="21013"/>
                  <a:pt x="2236" y="20846"/>
                </a:cubicBezTo>
                <a:cubicBezTo>
                  <a:pt x="2227" y="20772"/>
                  <a:pt x="2234" y="20647"/>
                  <a:pt x="2248" y="20571"/>
                </a:cubicBezTo>
                <a:cubicBezTo>
                  <a:pt x="2291" y="20337"/>
                  <a:pt x="2277" y="20224"/>
                  <a:pt x="2211" y="20297"/>
                </a:cubicBezTo>
                <a:cubicBezTo>
                  <a:pt x="2108" y="20411"/>
                  <a:pt x="2091" y="20200"/>
                  <a:pt x="2149" y="19406"/>
                </a:cubicBezTo>
                <a:cubicBezTo>
                  <a:pt x="2197" y="18748"/>
                  <a:pt x="2197" y="18688"/>
                  <a:pt x="2285" y="18651"/>
                </a:cubicBezTo>
                <a:cubicBezTo>
                  <a:pt x="2354" y="18623"/>
                  <a:pt x="2389" y="18558"/>
                  <a:pt x="2397" y="18377"/>
                </a:cubicBezTo>
                <a:cubicBezTo>
                  <a:pt x="2407" y="18174"/>
                  <a:pt x="2396" y="18103"/>
                  <a:pt x="2335" y="18103"/>
                </a:cubicBezTo>
                <a:cubicBezTo>
                  <a:pt x="2245" y="18103"/>
                  <a:pt x="2219" y="18059"/>
                  <a:pt x="2248" y="17760"/>
                </a:cubicBezTo>
                <a:cubicBezTo>
                  <a:pt x="2267" y="17565"/>
                  <a:pt x="2267" y="17484"/>
                  <a:pt x="2223" y="17486"/>
                </a:cubicBezTo>
                <a:cubicBezTo>
                  <a:pt x="2132" y="17489"/>
                  <a:pt x="2073" y="17655"/>
                  <a:pt x="2062" y="17897"/>
                </a:cubicBezTo>
                <a:cubicBezTo>
                  <a:pt x="2054" y="18053"/>
                  <a:pt x="2026" y="18103"/>
                  <a:pt x="1987" y="18103"/>
                </a:cubicBezTo>
                <a:cubicBezTo>
                  <a:pt x="1955" y="18103"/>
                  <a:pt x="1938" y="18143"/>
                  <a:pt x="1938" y="18171"/>
                </a:cubicBezTo>
                <a:cubicBezTo>
                  <a:pt x="1938" y="18200"/>
                  <a:pt x="1932" y="18347"/>
                  <a:pt x="1925" y="18446"/>
                </a:cubicBezTo>
                <a:cubicBezTo>
                  <a:pt x="1917" y="18558"/>
                  <a:pt x="1922" y="18610"/>
                  <a:pt x="1950" y="18651"/>
                </a:cubicBezTo>
                <a:cubicBezTo>
                  <a:pt x="1995" y="18716"/>
                  <a:pt x="2006" y="18713"/>
                  <a:pt x="1950" y="19474"/>
                </a:cubicBezTo>
                <a:cubicBezTo>
                  <a:pt x="1919" y="19899"/>
                  <a:pt x="1884" y="20392"/>
                  <a:pt x="1888" y="20571"/>
                </a:cubicBezTo>
                <a:cubicBezTo>
                  <a:pt x="1894" y="20869"/>
                  <a:pt x="1892" y="20947"/>
                  <a:pt x="1813" y="20983"/>
                </a:cubicBezTo>
                <a:cubicBezTo>
                  <a:pt x="1681" y="21043"/>
                  <a:pt x="1658" y="20941"/>
                  <a:pt x="1702" y="20571"/>
                </a:cubicBezTo>
                <a:lnTo>
                  <a:pt x="1739" y="20297"/>
                </a:lnTo>
                <a:lnTo>
                  <a:pt x="1565" y="20366"/>
                </a:lnTo>
                <a:cubicBezTo>
                  <a:pt x="1413" y="20429"/>
                  <a:pt x="1399" y="20408"/>
                  <a:pt x="1354" y="20160"/>
                </a:cubicBezTo>
                <a:cubicBezTo>
                  <a:pt x="1269" y="19689"/>
                  <a:pt x="1316" y="19514"/>
                  <a:pt x="1590" y="19474"/>
                </a:cubicBezTo>
                <a:lnTo>
                  <a:pt x="1838" y="19406"/>
                </a:lnTo>
                <a:lnTo>
                  <a:pt x="1838" y="18926"/>
                </a:lnTo>
                <a:cubicBezTo>
                  <a:pt x="1844" y="18567"/>
                  <a:pt x="1842" y="18426"/>
                  <a:pt x="1813" y="18309"/>
                </a:cubicBezTo>
                <a:cubicBezTo>
                  <a:pt x="1760" y="18092"/>
                  <a:pt x="1435" y="18089"/>
                  <a:pt x="1341" y="18309"/>
                </a:cubicBezTo>
                <a:cubicBezTo>
                  <a:pt x="1224" y="18586"/>
                  <a:pt x="1143" y="19186"/>
                  <a:pt x="1130" y="19817"/>
                </a:cubicBezTo>
                <a:cubicBezTo>
                  <a:pt x="1120" y="20313"/>
                  <a:pt x="1128" y="20382"/>
                  <a:pt x="1180" y="20571"/>
                </a:cubicBezTo>
                <a:cubicBezTo>
                  <a:pt x="1212" y="20688"/>
                  <a:pt x="1236" y="20785"/>
                  <a:pt x="1230" y="20846"/>
                </a:cubicBezTo>
                <a:cubicBezTo>
                  <a:pt x="1216" y="20967"/>
                  <a:pt x="940" y="21032"/>
                  <a:pt x="919" y="20914"/>
                </a:cubicBezTo>
                <a:cubicBezTo>
                  <a:pt x="904" y="20832"/>
                  <a:pt x="925" y="20501"/>
                  <a:pt x="1068" y="18514"/>
                </a:cubicBezTo>
                <a:lnTo>
                  <a:pt x="1168" y="17143"/>
                </a:lnTo>
                <a:lnTo>
                  <a:pt x="1068" y="17143"/>
                </a:lnTo>
                <a:cubicBezTo>
                  <a:pt x="984" y="17143"/>
                  <a:pt x="965" y="17187"/>
                  <a:pt x="944" y="17486"/>
                </a:cubicBezTo>
                <a:cubicBezTo>
                  <a:pt x="931" y="17673"/>
                  <a:pt x="903" y="18242"/>
                  <a:pt x="869" y="18720"/>
                </a:cubicBezTo>
                <a:cubicBezTo>
                  <a:pt x="836" y="19198"/>
                  <a:pt x="792" y="19622"/>
                  <a:pt x="783" y="19680"/>
                </a:cubicBezTo>
                <a:cubicBezTo>
                  <a:pt x="773" y="19738"/>
                  <a:pt x="716" y="19169"/>
                  <a:pt x="646" y="18446"/>
                </a:cubicBezTo>
                <a:lnTo>
                  <a:pt x="509" y="17143"/>
                </a:lnTo>
                <a:lnTo>
                  <a:pt x="385" y="17143"/>
                </a:lnTo>
                <a:lnTo>
                  <a:pt x="261" y="17143"/>
                </a:lnTo>
                <a:lnTo>
                  <a:pt x="186" y="18377"/>
                </a:lnTo>
                <a:cubicBezTo>
                  <a:pt x="80" y="20088"/>
                  <a:pt x="51" y="20386"/>
                  <a:pt x="25" y="20297"/>
                </a:cubicBezTo>
                <a:cubicBezTo>
                  <a:pt x="22" y="20289"/>
                  <a:pt x="27" y="21477"/>
                  <a:pt x="25" y="21600"/>
                </a:cubicBezTo>
                <a:lnTo>
                  <a:pt x="21600" y="21600"/>
                </a:lnTo>
                <a:lnTo>
                  <a:pt x="21600" y="20914"/>
                </a:lnTo>
                <a:lnTo>
                  <a:pt x="14545" y="20914"/>
                </a:lnTo>
                <a:cubicBezTo>
                  <a:pt x="9866" y="20914"/>
                  <a:pt x="7506" y="20860"/>
                  <a:pt x="7502" y="20777"/>
                </a:cubicBezTo>
                <a:cubicBezTo>
                  <a:pt x="7499" y="20709"/>
                  <a:pt x="7549" y="20593"/>
                  <a:pt x="7614" y="20503"/>
                </a:cubicBezTo>
                <a:cubicBezTo>
                  <a:pt x="7806" y="20237"/>
                  <a:pt x="8120" y="19356"/>
                  <a:pt x="8247" y="18720"/>
                </a:cubicBezTo>
                <a:cubicBezTo>
                  <a:pt x="8375" y="18083"/>
                  <a:pt x="8493" y="17116"/>
                  <a:pt x="8570" y="16046"/>
                </a:cubicBezTo>
                <a:cubicBezTo>
                  <a:pt x="8622" y="15338"/>
                  <a:pt x="9069" y="5712"/>
                  <a:pt x="9055" y="5623"/>
                </a:cubicBezTo>
                <a:close/>
                <a:moveTo>
                  <a:pt x="13241" y="5691"/>
                </a:moveTo>
                <a:lnTo>
                  <a:pt x="13203" y="6651"/>
                </a:lnTo>
                <a:cubicBezTo>
                  <a:pt x="13182" y="7146"/>
                  <a:pt x="13154" y="7560"/>
                  <a:pt x="13154" y="7611"/>
                </a:cubicBezTo>
                <a:cubicBezTo>
                  <a:pt x="13154" y="7663"/>
                  <a:pt x="13254" y="7680"/>
                  <a:pt x="13365" y="7680"/>
                </a:cubicBezTo>
                <a:cubicBezTo>
                  <a:pt x="13476" y="7680"/>
                  <a:pt x="13569" y="7755"/>
                  <a:pt x="13576" y="7817"/>
                </a:cubicBezTo>
                <a:cubicBezTo>
                  <a:pt x="13592" y="7957"/>
                  <a:pt x="13543" y="9182"/>
                  <a:pt x="13514" y="9394"/>
                </a:cubicBezTo>
                <a:cubicBezTo>
                  <a:pt x="13500" y="9499"/>
                  <a:pt x="13420" y="9600"/>
                  <a:pt x="13278" y="9600"/>
                </a:cubicBezTo>
                <a:lnTo>
                  <a:pt x="13067" y="9600"/>
                </a:lnTo>
                <a:lnTo>
                  <a:pt x="13054" y="10011"/>
                </a:lnTo>
                <a:cubicBezTo>
                  <a:pt x="13043" y="10267"/>
                  <a:pt x="13024" y="10715"/>
                  <a:pt x="13017" y="10971"/>
                </a:cubicBezTo>
                <a:lnTo>
                  <a:pt x="13005" y="11451"/>
                </a:lnTo>
                <a:lnTo>
                  <a:pt x="13203" y="11451"/>
                </a:lnTo>
                <a:cubicBezTo>
                  <a:pt x="13356" y="11451"/>
                  <a:pt x="13418" y="11456"/>
                  <a:pt x="13427" y="11589"/>
                </a:cubicBezTo>
                <a:cubicBezTo>
                  <a:pt x="13434" y="11685"/>
                  <a:pt x="13415" y="12307"/>
                  <a:pt x="13390" y="12960"/>
                </a:cubicBezTo>
                <a:cubicBezTo>
                  <a:pt x="13364" y="13613"/>
                  <a:pt x="13340" y="14514"/>
                  <a:pt x="13340" y="14949"/>
                </a:cubicBezTo>
                <a:cubicBezTo>
                  <a:pt x="13340" y="15616"/>
                  <a:pt x="13343" y="15769"/>
                  <a:pt x="13390" y="16046"/>
                </a:cubicBezTo>
                <a:lnTo>
                  <a:pt x="13452" y="16389"/>
                </a:lnTo>
                <a:lnTo>
                  <a:pt x="13874" y="16389"/>
                </a:lnTo>
                <a:lnTo>
                  <a:pt x="14309" y="16389"/>
                </a:lnTo>
                <a:lnTo>
                  <a:pt x="14346" y="15497"/>
                </a:lnTo>
                <a:cubicBezTo>
                  <a:pt x="14366" y="15002"/>
                  <a:pt x="14377" y="14519"/>
                  <a:pt x="14383" y="14400"/>
                </a:cubicBezTo>
                <a:cubicBezTo>
                  <a:pt x="14394" y="14202"/>
                  <a:pt x="14382" y="14194"/>
                  <a:pt x="14135" y="14194"/>
                </a:cubicBezTo>
                <a:cubicBezTo>
                  <a:pt x="13986" y="14194"/>
                  <a:pt x="13856" y="14117"/>
                  <a:pt x="13849" y="14057"/>
                </a:cubicBezTo>
                <a:cubicBezTo>
                  <a:pt x="13837" y="13951"/>
                  <a:pt x="13913" y="11726"/>
                  <a:pt x="13936" y="11520"/>
                </a:cubicBezTo>
                <a:cubicBezTo>
                  <a:pt x="13943" y="11463"/>
                  <a:pt x="14058" y="11451"/>
                  <a:pt x="14185" y="11451"/>
                </a:cubicBezTo>
                <a:lnTo>
                  <a:pt x="14408" y="11451"/>
                </a:lnTo>
                <a:lnTo>
                  <a:pt x="14433" y="10697"/>
                </a:lnTo>
                <a:cubicBezTo>
                  <a:pt x="14449" y="10285"/>
                  <a:pt x="14476" y="9837"/>
                  <a:pt x="14483" y="9737"/>
                </a:cubicBezTo>
                <a:cubicBezTo>
                  <a:pt x="14493" y="9586"/>
                  <a:pt x="14450" y="9600"/>
                  <a:pt x="14259" y="9600"/>
                </a:cubicBezTo>
                <a:cubicBezTo>
                  <a:pt x="14097" y="9600"/>
                  <a:pt x="14030" y="9505"/>
                  <a:pt x="14023" y="9394"/>
                </a:cubicBezTo>
                <a:cubicBezTo>
                  <a:pt x="14018" y="9309"/>
                  <a:pt x="14033" y="8912"/>
                  <a:pt x="14048" y="8503"/>
                </a:cubicBezTo>
                <a:lnTo>
                  <a:pt x="14073" y="7749"/>
                </a:lnTo>
                <a:lnTo>
                  <a:pt x="14321" y="7680"/>
                </a:lnTo>
                <a:lnTo>
                  <a:pt x="14557" y="7680"/>
                </a:lnTo>
                <a:lnTo>
                  <a:pt x="14607" y="6789"/>
                </a:lnTo>
                <a:cubicBezTo>
                  <a:pt x="14629" y="6311"/>
                  <a:pt x="14644" y="5880"/>
                  <a:pt x="14644" y="5829"/>
                </a:cubicBezTo>
                <a:cubicBezTo>
                  <a:pt x="14645" y="5777"/>
                  <a:pt x="14324" y="5691"/>
                  <a:pt x="13936" y="5691"/>
                </a:cubicBezTo>
                <a:lnTo>
                  <a:pt x="13241" y="5691"/>
                </a:lnTo>
                <a:close/>
                <a:moveTo>
                  <a:pt x="11837" y="6583"/>
                </a:moveTo>
                <a:cubicBezTo>
                  <a:pt x="11888" y="6587"/>
                  <a:pt x="11932" y="6702"/>
                  <a:pt x="11961" y="6857"/>
                </a:cubicBezTo>
                <a:cubicBezTo>
                  <a:pt x="12041" y="7270"/>
                  <a:pt x="12041" y="7669"/>
                  <a:pt x="11986" y="8297"/>
                </a:cubicBezTo>
                <a:cubicBezTo>
                  <a:pt x="11936" y="8869"/>
                  <a:pt x="11810" y="9503"/>
                  <a:pt x="11701" y="9737"/>
                </a:cubicBezTo>
                <a:cubicBezTo>
                  <a:pt x="11665" y="9814"/>
                  <a:pt x="11519" y="9984"/>
                  <a:pt x="11365" y="10149"/>
                </a:cubicBezTo>
                <a:cubicBezTo>
                  <a:pt x="11211" y="10313"/>
                  <a:pt x="11071" y="10423"/>
                  <a:pt x="11055" y="10423"/>
                </a:cubicBezTo>
                <a:cubicBezTo>
                  <a:pt x="10994" y="10423"/>
                  <a:pt x="10994" y="10069"/>
                  <a:pt x="11067" y="9394"/>
                </a:cubicBezTo>
                <a:cubicBezTo>
                  <a:pt x="11232" y="7883"/>
                  <a:pt x="11617" y="6564"/>
                  <a:pt x="11837" y="6583"/>
                </a:cubicBezTo>
                <a:close/>
                <a:moveTo>
                  <a:pt x="7862" y="6720"/>
                </a:moveTo>
                <a:cubicBezTo>
                  <a:pt x="7790" y="6704"/>
                  <a:pt x="7214" y="7221"/>
                  <a:pt x="7192" y="7337"/>
                </a:cubicBezTo>
                <a:cubicBezTo>
                  <a:pt x="7164" y="7479"/>
                  <a:pt x="6844" y="14684"/>
                  <a:pt x="6844" y="15154"/>
                </a:cubicBezTo>
                <a:cubicBezTo>
                  <a:pt x="6844" y="15210"/>
                  <a:pt x="6995" y="15291"/>
                  <a:pt x="7179" y="15291"/>
                </a:cubicBezTo>
                <a:lnTo>
                  <a:pt x="7502" y="15291"/>
                </a:lnTo>
                <a:lnTo>
                  <a:pt x="7602" y="13234"/>
                </a:lnTo>
                <a:cubicBezTo>
                  <a:pt x="7725" y="10425"/>
                  <a:pt x="7875" y="6810"/>
                  <a:pt x="7875" y="6720"/>
                </a:cubicBezTo>
                <a:cubicBezTo>
                  <a:pt x="7875" y="6714"/>
                  <a:pt x="7867" y="6721"/>
                  <a:pt x="7862" y="6720"/>
                </a:cubicBezTo>
                <a:close/>
                <a:moveTo>
                  <a:pt x="15054" y="11314"/>
                </a:moveTo>
                <a:lnTo>
                  <a:pt x="14980" y="12274"/>
                </a:lnTo>
                <a:cubicBezTo>
                  <a:pt x="14940" y="12803"/>
                  <a:pt x="14895" y="13407"/>
                  <a:pt x="14880" y="13646"/>
                </a:cubicBezTo>
                <a:lnTo>
                  <a:pt x="14855" y="14126"/>
                </a:lnTo>
                <a:lnTo>
                  <a:pt x="14694" y="14126"/>
                </a:lnTo>
                <a:lnTo>
                  <a:pt x="14532" y="14194"/>
                </a:lnTo>
                <a:lnTo>
                  <a:pt x="14508" y="14811"/>
                </a:lnTo>
                <a:cubicBezTo>
                  <a:pt x="14495" y="15167"/>
                  <a:pt x="14478" y="15653"/>
                  <a:pt x="14470" y="15909"/>
                </a:cubicBezTo>
                <a:lnTo>
                  <a:pt x="14458" y="16389"/>
                </a:lnTo>
                <a:lnTo>
                  <a:pt x="14744" y="16389"/>
                </a:lnTo>
                <a:cubicBezTo>
                  <a:pt x="14898" y="16389"/>
                  <a:pt x="15054" y="16324"/>
                  <a:pt x="15091" y="16251"/>
                </a:cubicBezTo>
                <a:cubicBezTo>
                  <a:pt x="15152" y="16135"/>
                  <a:pt x="15278" y="15361"/>
                  <a:pt x="15278" y="15086"/>
                </a:cubicBezTo>
                <a:cubicBezTo>
                  <a:pt x="15278" y="14904"/>
                  <a:pt x="15502" y="11609"/>
                  <a:pt x="15526" y="11451"/>
                </a:cubicBezTo>
                <a:cubicBezTo>
                  <a:pt x="15545" y="11327"/>
                  <a:pt x="15500" y="11314"/>
                  <a:pt x="15303" y="11314"/>
                </a:cubicBezTo>
                <a:lnTo>
                  <a:pt x="15054" y="11314"/>
                </a:lnTo>
                <a:close/>
              </a:path>
            </a:pathLst>
          </a:custGeom>
          <a:ln w="12700">
            <a:miter lim="400000"/>
          </a:ln>
        </p:spPr>
      </p:pic>
      <p:pic>
        <p:nvPicPr>
          <p:cNvPr id="221" name="图像" descr="图像">
            <a:extLst>
              <a:ext uri="{FF2B5EF4-FFF2-40B4-BE49-F238E27FC236}">
                <a16:creationId xmlns:a16="http://schemas.microsoft.com/office/drawing/2014/main" id="{3D16F5A9-18AC-2365-A8E1-8A69C6815CAE}"/>
              </a:ext>
            </a:extLst>
          </p:cNvPr>
          <p:cNvPicPr>
            <a:picLocks noChangeAspect="1"/>
          </p:cNvPicPr>
          <p:nvPr/>
        </p:nvPicPr>
        <p:blipFill>
          <a:blip r:embed="rId11"/>
          <a:stretch>
            <a:fillRect/>
          </a:stretch>
        </p:blipFill>
        <p:spPr>
          <a:xfrm>
            <a:off x="2206807" y="2680601"/>
            <a:ext cx="640576" cy="308849"/>
          </a:xfrm>
          <a:prstGeom prst="rect">
            <a:avLst/>
          </a:prstGeom>
          <a:ln w="12700">
            <a:miter lim="400000"/>
          </a:ln>
        </p:spPr>
      </p:pic>
      <p:pic>
        <p:nvPicPr>
          <p:cNvPr id="225" name="图像" descr="图像">
            <a:extLst>
              <a:ext uri="{FF2B5EF4-FFF2-40B4-BE49-F238E27FC236}">
                <a16:creationId xmlns:a16="http://schemas.microsoft.com/office/drawing/2014/main" id="{1191C93F-1EE6-F969-4C25-F2D93874F338}"/>
              </a:ext>
            </a:extLst>
          </p:cNvPr>
          <p:cNvPicPr>
            <a:picLocks noChangeAspect="1"/>
          </p:cNvPicPr>
          <p:nvPr/>
        </p:nvPicPr>
        <p:blipFill>
          <a:blip r:embed="rId12"/>
          <a:stretch>
            <a:fillRect/>
          </a:stretch>
        </p:blipFill>
        <p:spPr>
          <a:xfrm>
            <a:off x="4203871" y="2630522"/>
            <a:ext cx="514179" cy="409006"/>
          </a:xfrm>
          <a:prstGeom prst="rect">
            <a:avLst/>
          </a:prstGeom>
          <a:ln w="12700">
            <a:miter lim="400000"/>
          </a:ln>
        </p:spPr>
      </p:pic>
      <p:pic>
        <p:nvPicPr>
          <p:cNvPr id="226" name="图片 225">
            <a:extLst>
              <a:ext uri="{FF2B5EF4-FFF2-40B4-BE49-F238E27FC236}">
                <a16:creationId xmlns:a16="http://schemas.microsoft.com/office/drawing/2014/main" id="{45F2CDEC-4019-B367-F66D-78C94978C10D}"/>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10000" b="90000" l="10000" r="90000">
                        <a14:foregroundMark x1="11245" y1="30952" x2="11245" y2="30952"/>
                        <a14:foregroundMark x1="14056" y1="53175" x2="14056" y2="53175"/>
                        <a14:foregroundMark x1="22088" y1="54762" x2="22088" y2="54762"/>
                        <a14:foregroundMark x1="47390" y1="52381" x2="47390" y2="52381"/>
                        <a14:foregroundMark x1="73896" y1="63492" x2="73896" y2="63492"/>
                        <a14:foregroundMark x1="85542" y1="57937" x2="85542" y2="57937"/>
                      </a14:backgroundRemoval>
                    </a14:imgEffect>
                  </a14:imgLayer>
                </a14:imgProps>
              </a:ext>
            </a:extLst>
          </a:blip>
          <a:stretch>
            <a:fillRect/>
          </a:stretch>
        </p:blipFill>
        <p:spPr>
          <a:xfrm>
            <a:off x="6105396" y="2690069"/>
            <a:ext cx="572924" cy="289913"/>
          </a:xfrm>
          <a:prstGeom prst="rect">
            <a:avLst/>
          </a:prstGeom>
        </p:spPr>
      </p:pic>
      <p:pic>
        <p:nvPicPr>
          <p:cNvPr id="227" name="图片 226">
            <a:extLst>
              <a:ext uri="{FF2B5EF4-FFF2-40B4-BE49-F238E27FC236}">
                <a16:creationId xmlns:a16="http://schemas.microsoft.com/office/drawing/2014/main" id="{39393F0A-A321-4F54-F72C-6E44A7B520F1}"/>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9804" b="89542" l="9690" r="91860">
                        <a14:foregroundMark x1="10078" y1="40523" x2="10078" y2="40523"/>
                        <a14:foregroundMark x1="20930" y1="37255" x2="20930" y2="37255"/>
                        <a14:foregroundMark x1="32171" y1="35948" x2="32171" y2="35948"/>
                        <a14:foregroundMark x1="40698" y1="37255" x2="40698" y2="37255"/>
                        <a14:foregroundMark x1="52713" y1="39869" x2="52713" y2="39869"/>
                        <a14:foregroundMark x1="60465" y1="35948" x2="60465" y2="35948"/>
                        <a14:foregroundMark x1="72093" y1="30719" x2="72093" y2="30719"/>
                        <a14:foregroundMark x1="81783" y1="36601" x2="81783" y2="36601"/>
                        <a14:foregroundMark x1="91860" y1="40523" x2="91860" y2="40523"/>
                        <a14:foregroundMark x1="23643" y1="68627" x2="23643" y2="68627"/>
                        <a14:foregroundMark x1="35271" y1="75163" x2="35271" y2="75163"/>
                        <a14:foregroundMark x1="45349" y1="71242" x2="45349" y2="71242"/>
                        <a14:foregroundMark x1="58140" y1="73203" x2="58140" y2="73203"/>
                      </a14:backgroundRemoval>
                    </a14:imgEffect>
                  </a14:imgLayer>
                </a14:imgProps>
              </a:ext>
            </a:extLst>
          </a:blip>
          <a:stretch>
            <a:fillRect/>
          </a:stretch>
        </p:blipFill>
        <p:spPr>
          <a:xfrm>
            <a:off x="7972773" y="2638436"/>
            <a:ext cx="663006" cy="393178"/>
          </a:xfrm>
          <a:prstGeom prst="rect">
            <a:avLst/>
          </a:prstGeom>
        </p:spPr>
      </p:pic>
      <p:pic>
        <p:nvPicPr>
          <p:cNvPr id="228" name="图像" descr="图像">
            <a:extLst>
              <a:ext uri="{FF2B5EF4-FFF2-40B4-BE49-F238E27FC236}">
                <a16:creationId xmlns:a16="http://schemas.microsoft.com/office/drawing/2014/main" id="{0B050CDB-919C-6F85-E77A-D1156431418B}"/>
              </a:ext>
            </a:extLst>
          </p:cNvPr>
          <p:cNvPicPr>
            <a:picLocks noChangeAspect="1"/>
          </p:cNvPicPr>
          <p:nvPr/>
        </p:nvPicPr>
        <p:blipFill>
          <a:blip r:embed="rId17"/>
          <a:stretch>
            <a:fillRect/>
          </a:stretch>
        </p:blipFill>
        <p:spPr>
          <a:xfrm>
            <a:off x="9765057" y="2715586"/>
            <a:ext cx="806212" cy="238879"/>
          </a:xfrm>
          <a:prstGeom prst="rect">
            <a:avLst/>
          </a:prstGeom>
          <a:ln w="12700">
            <a:miter lim="400000"/>
          </a:ln>
        </p:spPr>
      </p:pic>
      <p:pic>
        <p:nvPicPr>
          <p:cNvPr id="231" name="图片 230">
            <a:extLst>
              <a:ext uri="{FF2B5EF4-FFF2-40B4-BE49-F238E27FC236}">
                <a16:creationId xmlns:a16="http://schemas.microsoft.com/office/drawing/2014/main" id="{91B31E62-C36B-3D32-5FE4-2FD40743C49C}"/>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10000" b="90000" l="10000" r="90000">
                        <a14:foregroundMark x1="11245" y1="30952" x2="11245" y2="30952"/>
                        <a14:foregroundMark x1="14056" y1="53175" x2="14056" y2="53175"/>
                        <a14:foregroundMark x1="22088" y1="54762" x2="22088" y2="54762"/>
                        <a14:foregroundMark x1="47390" y1="52381" x2="47390" y2="52381"/>
                        <a14:foregroundMark x1="73896" y1="63492" x2="73896" y2="63492"/>
                        <a14:foregroundMark x1="85542" y1="57937" x2="85542" y2="57937"/>
                      </a14:backgroundRemoval>
                    </a14:imgEffect>
                  </a14:imgLayer>
                </a14:imgProps>
              </a:ext>
            </a:extLst>
          </a:blip>
          <a:stretch>
            <a:fillRect/>
          </a:stretch>
        </p:blipFill>
        <p:spPr>
          <a:xfrm>
            <a:off x="6107557" y="3561811"/>
            <a:ext cx="572924" cy="289913"/>
          </a:xfrm>
          <a:prstGeom prst="rect">
            <a:avLst/>
          </a:prstGeom>
        </p:spPr>
      </p:pic>
      <p:pic>
        <p:nvPicPr>
          <p:cNvPr id="232" name="图像" descr="图像">
            <a:extLst>
              <a:ext uri="{FF2B5EF4-FFF2-40B4-BE49-F238E27FC236}">
                <a16:creationId xmlns:a16="http://schemas.microsoft.com/office/drawing/2014/main" id="{9FCE13FF-0D2A-8C19-1775-2371F5AD3192}"/>
              </a:ext>
            </a:extLst>
          </p:cNvPr>
          <p:cNvPicPr>
            <a:picLocks noChangeAspect="1"/>
          </p:cNvPicPr>
          <p:nvPr/>
        </p:nvPicPr>
        <p:blipFill>
          <a:blip r:embed="rId7"/>
          <a:stretch>
            <a:fillRect/>
          </a:stretch>
        </p:blipFill>
        <p:spPr>
          <a:xfrm>
            <a:off x="3781456" y="3564917"/>
            <a:ext cx="360255" cy="283701"/>
          </a:xfrm>
          <a:prstGeom prst="rect">
            <a:avLst/>
          </a:prstGeom>
          <a:ln w="12700">
            <a:miter lim="400000"/>
          </a:ln>
        </p:spPr>
      </p:pic>
      <p:pic>
        <p:nvPicPr>
          <p:cNvPr id="234" name="图片 233">
            <a:extLst>
              <a:ext uri="{FF2B5EF4-FFF2-40B4-BE49-F238E27FC236}">
                <a16:creationId xmlns:a16="http://schemas.microsoft.com/office/drawing/2014/main" id="{C8606D50-18FF-FEEB-00A1-AFA0B5AF8C0E}"/>
              </a:ext>
            </a:extLst>
          </p:cNvPr>
          <p:cNvPicPr>
            <a:picLocks noChangeAspect="1"/>
          </p:cNvPicPr>
          <p:nvPr/>
        </p:nvPicPr>
        <p:blipFill>
          <a:blip r:embed="rId18">
            <a:extLst>
              <a:ext uri="{BEBA8EAE-BF5A-486C-A8C5-ECC9F3942E4B}">
                <a14:imgProps xmlns:a14="http://schemas.microsoft.com/office/drawing/2010/main">
                  <a14:imgLayer r:embed="rId19">
                    <a14:imgEffect>
                      <a14:backgroundRemoval t="8772" b="89474" l="5514" r="92231">
                        <a14:foregroundMark x1="6516" y1="49123" x2="6516" y2="49123"/>
                        <a14:foregroundMark x1="5514" y1="84211" x2="5514" y2="84211"/>
                        <a14:foregroundMark x1="18797" y1="67544" x2="18797" y2="67544"/>
                        <a14:foregroundMark x1="20802" y1="49123" x2="20802" y2="49123"/>
                        <a14:foregroundMark x1="20802" y1="35965" x2="20802" y2="35965"/>
                        <a14:foregroundMark x1="26817" y1="50000" x2="26817" y2="50000"/>
                        <a14:foregroundMark x1="33333" y1="45614" x2="33333" y2="45614"/>
                        <a14:foregroundMark x1="36341" y1="50877" x2="36341" y2="50877"/>
                        <a14:foregroundMark x1="41103" y1="46491" x2="41103" y2="46491"/>
                        <a14:foregroundMark x1="47118" y1="46491" x2="47118" y2="46491"/>
                        <a14:foregroundMark x1="53383" y1="47368" x2="53383" y2="47368"/>
                        <a14:foregroundMark x1="55138" y1="46491" x2="55138" y2="46491"/>
                        <a14:foregroundMark x1="59900" y1="51754" x2="59900" y2="51754"/>
                        <a14:foregroundMark x1="65414" y1="52632" x2="65414" y2="52632"/>
                        <a14:foregroundMark x1="70677" y1="50000" x2="70677" y2="50000"/>
                        <a14:foregroundMark x1="76190" y1="48246" x2="76190" y2="48246"/>
                        <a14:foregroundMark x1="81955" y1="48246" x2="81955" y2="48246"/>
                        <a14:foregroundMark x1="85213" y1="44737" x2="85213" y2="44737"/>
                        <a14:foregroundMark x1="84962" y1="36842" x2="84962" y2="36842"/>
                        <a14:foregroundMark x1="87218" y1="50877" x2="87218" y2="50877"/>
                        <a14:foregroundMark x1="92231" y1="50000" x2="92231" y2="50000"/>
                        <a14:foregroundMark x1="90727" y1="58772" x2="90727" y2="58772"/>
                      </a14:backgroundRemoval>
                    </a14:imgEffect>
                  </a14:imgLayer>
                </a14:imgProps>
              </a:ext>
            </a:extLst>
          </a:blip>
          <a:stretch>
            <a:fillRect/>
          </a:stretch>
        </p:blipFill>
        <p:spPr>
          <a:xfrm>
            <a:off x="4291324" y="3568401"/>
            <a:ext cx="968567" cy="276733"/>
          </a:xfrm>
          <a:prstGeom prst="rect">
            <a:avLst/>
          </a:prstGeom>
        </p:spPr>
      </p:pic>
      <p:pic>
        <p:nvPicPr>
          <p:cNvPr id="235" name="图像" descr="图像">
            <a:extLst>
              <a:ext uri="{FF2B5EF4-FFF2-40B4-BE49-F238E27FC236}">
                <a16:creationId xmlns:a16="http://schemas.microsoft.com/office/drawing/2014/main" id="{CD62F807-F7C1-2221-70A8-C3A8A5CBC12D}"/>
              </a:ext>
            </a:extLst>
          </p:cNvPr>
          <p:cNvPicPr>
            <a:picLocks noChangeAspect="1"/>
          </p:cNvPicPr>
          <p:nvPr/>
        </p:nvPicPr>
        <p:blipFill>
          <a:blip r:embed="rId7"/>
          <a:stretch>
            <a:fillRect/>
          </a:stretch>
        </p:blipFill>
        <p:spPr>
          <a:xfrm>
            <a:off x="9513323" y="3564917"/>
            <a:ext cx="360255" cy="283701"/>
          </a:xfrm>
          <a:prstGeom prst="rect">
            <a:avLst/>
          </a:prstGeom>
          <a:ln w="12700">
            <a:miter lim="400000"/>
          </a:ln>
        </p:spPr>
      </p:pic>
      <p:pic>
        <p:nvPicPr>
          <p:cNvPr id="236" name="图片 235">
            <a:extLst>
              <a:ext uri="{FF2B5EF4-FFF2-40B4-BE49-F238E27FC236}">
                <a16:creationId xmlns:a16="http://schemas.microsoft.com/office/drawing/2014/main" id="{EED8FB59-4DF6-6706-A118-0F70C77367E6}"/>
              </a:ext>
            </a:extLst>
          </p:cNvPr>
          <p:cNvPicPr>
            <a:picLocks noChangeAspect="1"/>
          </p:cNvPicPr>
          <p:nvPr/>
        </p:nvPicPr>
        <p:blipFill>
          <a:blip r:embed="rId18">
            <a:extLst>
              <a:ext uri="{BEBA8EAE-BF5A-486C-A8C5-ECC9F3942E4B}">
                <a14:imgProps xmlns:a14="http://schemas.microsoft.com/office/drawing/2010/main">
                  <a14:imgLayer r:embed="rId19">
                    <a14:imgEffect>
                      <a14:backgroundRemoval t="8772" b="89474" l="5514" r="92231">
                        <a14:foregroundMark x1="6516" y1="49123" x2="6516" y2="49123"/>
                        <a14:foregroundMark x1="5514" y1="84211" x2="5514" y2="84211"/>
                        <a14:foregroundMark x1="18797" y1="67544" x2="18797" y2="67544"/>
                        <a14:foregroundMark x1="20802" y1="49123" x2="20802" y2="49123"/>
                        <a14:foregroundMark x1="20802" y1="35965" x2="20802" y2="35965"/>
                        <a14:foregroundMark x1="26817" y1="50000" x2="26817" y2="50000"/>
                        <a14:foregroundMark x1="33333" y1="45614" x2="33333" y2="45614"/>
                        <a14:foregroundMark x1="36341" y1="50877" x2="36341" y2="50877"/>
                        <a14:foregroundMark x1="41103" y1="46491" x2="41103" y2="46491"/>
                        <a14:foregroundMark x1="47118" y1="46491" x2="47118" y2="46491"/>
                        <a14:foregroundMark x1="53383" y1="47368" x2="53383" y2="47368"/>
                        <a14:foregroundMark x1="55138" y1="46491" x2="55138" y2="46491"/>
                        <a14:foregroundMark x1="59900" y1="51754" x2="59900" y2="51754"/>
                        <a14:foregroundMark x1="65414" y1="52632" x2="65414" y2="52632"/>
                        <a14:foregroundMark x1="70677" y1="50000" x2="70677" y2="50000"/>
                        <a14:foregroundMark x1="76190" y1="48246" x2="76190" y2="48246"/>
                        <a14:foregroundMark x1="81955" y1="48246" x2="81955" y2="48246"/>
                        <a14:foregroundMark x1="85213" y1="44737" x2="85213" y2="44737"/>
                        <a14:foregroundMark x1="84962" y1="36842" x2="84962" y2="36842"/>
                        <a14:foregroundMark x1="87218" y1="50877" x2="87218" y2="50877"/>
                        <a14:foregroundMark x1="92231" y1="50000" x2="92231" y2="50000"/>
                        <a14:foregroundMark x1="90727" y1="58772" x2="90727" y2="58772"/>
                      </a14:backgroundRemoval>
                    </a14:imgEffect>
                  </a14:imgLayer>
                </a14:imgProps>
              </a:ext>
            </a:extLst>
          </a:blip>
          <a:stretch>
            <a:fillRect/>
          </a:stretch>
        </p:blipFill>
        <p:spPr>
          <a:xfrm>
            <a:off x="10023191" y="3568401"/>
            <a:ext cx="968567" cy="276733"/>
          </a:xfrm>
          <a:prstGeom prst="rect">
            <a:avLst/>
          </a:prstGeom>
        </p:spPr>
      </p:pic>
      <p:pic>
        <p:nvPicPr>
          <p:cNvPr id="238" name="图片 237">
            <a:extLst>
              <a:ext uri="{FF2B5EF4-FFF2-40B4-BE49-F238E27FC236}">
                <a16:creationId xmlns:a16="http://schemas.microsoft.com/office/drawing/2014/main" id="{EB74CC13-F0E8-EA3D-0969-38E000D756AD}"/>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8140" b="89535" l="4267" r="92800">
                        <a14:foregroundMark x1="7733" y1="47674" x2="7733" y2="47674"/>
                        <a14:foregroundMark x1="4267" y1="38372" x2="4267" y2="38372"/>
                        <a14:foregroundMark x1="19467" y1="52326" x2="19467" y2="52326"/>
                        <a14:foregroundMark x1="23467" y1="53488" x2="23467" y2="53488"/>
                        <a14:foregroundMark x1="31733" y1="23256" x2="31733" y2="23256"/>
                        <a14:foregroundMark x1="42400" y1="38372" x2="42400" y2="38372"/>
                        <a14:foregroundMark x1="54400" y1="40698" x2="54400" y2="40698"/>
                        <a14:foregroundMark x1="85600" y1="61628" x2="85600" y2="61628"/>
                        <a14:foregroundMark x1="92800" y1="83721" x2="92800" y2="83721"/>
                      </a14:backgroundRemoval>
                    </a14:imgEffect>
                  </a14:imgLayer>
                </a14:imgProps>
              </a:ext>
            </a:extLst>
          </a:blip>
          <a:stretch>
            <a:fillRect/>
          </a:stretch>
        </p:blipFill>
        <p:spPr>
          <a:xfrm>
            <a:off x="2523809" y="3626890"/>
            <a:ext cx="696602" cy="159754"/>
          </a:xfrm>
          <a:prstGeom prst="rect">
            <a:avLst/>
          </a:prstGeom>
        </p:spPr>
      </p:pic>
      <p:pic>
        <p:nvPicPr>
          <p:cNvPr id="239" name="Picture 8" descr="Hon Hai Technology Group (Foxconn) Unpacks Artificial Intelligen">
            <a:extLst>
              <a:ext uri="{FF2B5EF4-FFF2-40B4-BE49-F238E27FC236}">
                <a16:creationId xmlns:a16="http://schemas.microsoft.com/office/drawing/2014/main" id="{A7C74340-83DC-6A48-33D8-14B95915C9F8}"/>
              </a:ext>
            </a:extLst>
          </p:cNvPr>
          <p:cNvPicPr>
            <a:picLocks noChangeAspect="1" noChangeArrowheads="1"/>
          </p:cNvPicPr>
          <p:nvPr/>
        </p:nvPicPr>
        <p:blipFill rotWithShape="1">
          <a:blip r:embed="rId22" cstate="print">
            <a:extLst>
              <a:ext uri="{BEBA8EAE-BF5A-486C-A8C5-ECC9F3942E4B}">
                <a14:imgProps xmlns:a14="http://schemas.microsoft.com/office/drawing/2010/main">
                  <a14:imgLayer r:embed="rId23">
                    <a14:imgEffect>
                      <a14:backgroundRemoval t="9375" b="89844" l="8500" r="90000">
                        <a14:foregroundMark x1="8500" y1="37500" x2="8500" y2="37500"/>
                        <a14:foregroundMark x1="30750" y1="50781" x2="30750" y2="50781"/>
                        <a14:foregroundMark x1="39250" y1="46875" x2="39250" y2="46875"/>
                        <a14:foregroundMark x1="35250" y1="38281" x2="35250" y2="38281"/>
                        <a14:foregroundMark x1="40500" y1="39844" x2="40500" y2="39844"/>
                        <a14:foregroundMark x1="33750" y1="47656" x2="33750" y2="47656"/>
                        <a14:foregroundMark x1="50500" y1="43750" x2="50500" y2="43750"/>
                        <a14:foregroundMark x1="57250" y1="40625" x2="57250" y2="40625"/>
                        <a14:foregroundMark x1="66250" y1="43750" x2="66250" y2="43750"/>
                        <a14:foregroundMark x1="75750" y1="39063" x2="75750" y2="39063"/>
                        <a14:foregroundMark x1="84750" y1="42188" x2="84750" y2="42188"/>
                        <a14:foregroundMark x1="35250" y1="46875" x2="35250" y2="46875"/>
                      </a14:backgroundRemoval>
                    </a14:imgEffect>
                  </a14:imgLayer>
                </a14:imgProps>
              </a:ext>
              <a:ext uri="{28A0092B-C50C-407E-A947-70E740481C1C}">
                <a14:useLocalDpi xmlns:a14="http://schemas.microsoft.com/office/drawing/2010/main" val="0"/>
              </a:ext>
            </a:extLst>
          </a:blip>
          <a:srcRect l="6185" t="19707" r="6994" b="19685"/>
          <a:stretch/>
        </p:blipFill>
        <p:spPr bwMode="auto">
          <a:xfrm>
            <a:off x="7914575" y="3619715"/>
            <a:ext cx="779401" cy="174104"/>
          </a:xfrm>
          <a:prstGeom prst="rect">
            <a:avLst/>
          </a:prstGeom>
          <a:noFill/>
          <a:extLst>
            <a:ext uri="{909E8E84-426E-40DD-AFC4-6F175D3DCCD1}">
              <a14:hiddenFill xmlns:a14="http://schemas.microsoft.com/office/drawing/2010/main">
                <a:solidFill>
                  <a:srgbClr val="FFFFFF"/>
                </a:solidFill>
              </a14:hiddenFill>
            </a:ext>
          </a:extLst>
        </p:spPr>
      </p:pic>
      <p:pic>
        <p:nvPicPr>
          <p:cNvPr id="240" name="图片 239">
            <a:extLst>
              <a:ext uri="{FF2B5EF4-FFF2-40B4-BE49-F238E27FC236}">
                <a16:creationId xmlns:a16="http://schemas.microsoft.com/office/drawing/2014/main" id="{7D21C2A9-5F96-054E-89A8-EA1D0C6E6724}"/>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10000" b="90000" l="10000" r="90000">
                        <a14:foregroundMark x1="11245" y1="30952" x2="11245" y2="30952"/>
                        <a14:foregroundMark x1="14056" y1="53175" x2="14056" y2="53175"/>
                        <a14:foregroundMark x1="22088" y1="54762" x2="22088" y2="54762"/>
                        <a14:foregroundMark x1="47390" y1="52381" x2="47390" y2="52381"/>
                        <a14:foregroundMark x1="73896" y1="63492" x2="73896" y2="63492"/>
                        <a14:foregroundMark x1="85542" y1="57937" x2="85542" y2="57937"/>
                      </a14:backgroundRemoval>
                    </a14:imgEffect>
                  </a14:imgLayer>
                </a14:imgProps>
              </a:ext>
            </a:extLst>
          </a:blip>
          <a:stretch>
            <a:fillRect/>
          </a:stretch>
        </p:blipFill>
        <p:spPr>
          <a:xfrm>
            <a:off x="6105396" y="4411380"/>
            <a:ext cx="572924" cy="289913"/>
          </a:xfrm>
          <a:prstGeom prst="rect">
            <a:avLst/>
          </a:prstGeom>
        </p:spPr>
      </p:pic>
      <p:pic>
        <p:nvPicPr>
          <p:cNvPr id="241" name="图像" descr="图像">
            <a:extLst>
              <a:ext uri="{FF2B5EF4-FFF2-40B4-BE49-F238E27FC236}">
                <a16:creationId xmlns:a16="http://schemas.microsoft.com/office/drawing/2014/main" id="{54A3A5B6-4B2C-1BAC-6A30-878728AEEFE1}"/>
              </a:ext>
            </a:extLst>
          </p:cNvPr>
          <p:cNvPicPr>
            <a:picLocks noChangeAspect="1"/>
          </p:cNvPicPr>
          <p:nvPr/>
        </p:nvPicPr>
        <p:blipFill>
          <a:blip r:embed="rId7"/>
          <a:stretch>
            <a:fillRect/>
          </a:stretch>
        </p:blipFill>
        <p:spPr>
          <a:xfrm>
            <a:off x="3779474" y="4414486"/>
            <a:ext cx="360255" cy="283701"/>
          </a:xfrm>
          <a:prstGeom prst="rect">
            <a:avLst/>
          </a:prstGeom>
          <a:ln w="12700">
            <a:miter lim="400000"/>
          </a:ln>
        </p:spPr>
      </p:pic>
      <p:pic>
        <p:nvPicPr>
          <p:cNvPr id="242" name="图像" descr="图像">
            <a:extLst>
              <a:ext uri="{FF2B5EF4-FFF2-40B4-BE49-F238E27FC236}">
                <a16:creationId xmlns:a16="http://schemas.microsoft.com/office/drawing/2014/main" id="{F2AB3F59-D723-FE82-322E-1DD3F88EE154}"/>
              </a:ext>
            </a:extLst>
          </p:cNvPr>
          <p:cNvPicPr>
            <a:picLocks noChangeAspect="1"/>
          </p:cNvPicPr>
          <p:nvPr/>
        </p:nvPicPr>
        <p:blipFill>
          <a:blip r:embed="rId9"/>
          <a:stretch>
            <a:fillRect/>
          </a:stretch>
        </p:blipFill>
        <p:spPr>
          <a:xfrm>
            <a:off x="4418987" y="4414096"/>
            <a:ext cx="711201" cy="284481"/>
          </a:xfrm>
          <a:prstGeom prst="rect">
            <a:avLst/>
          </a:prstGeom>
          <a:ln w="12700">
            <a:miter lim="400000"/>
          </a:ln>
        </p:spPr>
      </p:pic>
      <p:pic>
        <p:nvPicPr>
          <p:cNvPr id="243" name="图像" descr="图像">
            <a:extLst>
              <a:ext uri="{FF2B5EF4-FFF2-40B4-BE49-F238E27FC236}">
                <a16:creationId xmlns:a16="http://schemas.microsoft.com/office/drawing/2014/main" id="{DA77F744-8632-B5FE-B288-251801F30E4F}"/>
              </a:ext>
            </a:extLst>
          </p:cNvPr>
          <p:cNvPicPr>
            <a:picLocks noChangeAspect="1"/>
          </p:cNvPicPr>
          <p:nvPr/>
        </p:nvPicPr>
        <p:blipFill>
          <a:blip r:embed="rId7"/>
          <a:stretch>
            <a:fillRect/>
          </a:stretch>
        </p:blipFill>
        <p:spPr>
          <a:xfrm>
            <a:off x="1785049" y="4414486"/>
            <a:ext cx="360255" cy="283701"/>
          </a:xfrm>
          <a:prstGeom prst="rect">
            <a:avLst/>
          </a:prstGeom>
          <a:ln w="12700">
            <a:miter lim="400000"/>
          </a:ln>
        </p:spPr>
      </p:pic>
      <p:pic>
        <p:nvPicPr>
          <p:cNvPr id="244" name="图像" descr="图像">
            <a:extLst>
              <a:ext uri="{FF2B5EF4-FFF2-40B4-BE49-F238E27FC236}">
                <a16:creationId xmlns:a16="http://schemas.microsoft.com/office/drawing/2014/main" id="{B379E024-787A-564F-60A8-638A168AAEF7}"/>
              </a:ext>
            </a:extLst>
          </p:cNvPr>
          <p:cNvPicPr>
            <a:picLocks noChangeAspect="1"/>
          </p:cNvPicPr>
          <p:nvPr/>
        </p:nvPicPr>
        <p:blipFill>
          <a:blip r:embed="rId24"/>
          <a:stretch>
            <a:fillRect/>
          </a:stretch>
        </p:blipFill>
        <p:spPr>
          <a:xfrm>
            <a:off x="8120124" y="4356226"/>
            <a:ext cx="368301" cy="400220"/>
          </a:xfrm>
          <a:prstGeom prst="rect">
            <a:avLst/>
          </a:prstGeom>
          <a:ln w="12700">
            <a:noFill/>
            <a:miter lim="400000"/>
          </a:ln>
        </p:spPr>
      </p:pic>
      <p:sp>
        <p:nvSpPr>
          <p:cNvPr id="245" name="文本框 244">
            <a:extLst>
              <a:ext uri="{FF2B5EF4-FFF2-40B4-BE49-F238E27FC236}">
                <a16:creationId xmlns:a16="http://schemas.microsoft.com/office/drawing/2014/main" id="{54547816-9DDE-1731-511D-4B22B72792B7}"/>
              </a:ext>
            </a:extLst>
          </p:cNvPr>
          <p:cNvSpPr txBox="1"/>
          <p:nvPr/>
        </p:nvSpPr>
        <p:spPr>
          <a:xfrm>
            <a:off x="545547" y="3581177"/>
            <a:ext cx="939198" cy="307777"/>
          </a:xfrm>
          <a:prstGeom prst="rect">
            <a:avLst/>
          </a:prstGeom>
          <a:noFill/>
        </p:spPr>
        <p:txBody>
          <a:bodyPr wrap="square" rtlCol="0">
            <a:spAutoFit/>
          </a:bodyPr>
          <a:lstStyle/>
          <a:p>
            <a:pPr algn="ctr"/>
            <a:r>
              <a:rPr lang="zh-CN" altLang="en-US" sz="1400" b="1" dirty="0">
                <a:latin typeface="+mj-lt"/>
              </a:rPr>
              <a:t>代工</a:t>
            </a:r>
            <a:endParaRPr lang="en-GB" altLang="zh-CN" sz="1400" b="1" dirty="0">
              <a:latin typeface="+mj-lt"/>
            </a:endParaRPr>
          </a:p>
        </p:txBody>
      </p:sp>
      <p:pic>
        <p:nvPicPr>
          <p:cNvPr id="246" name="Picture 8" descr="Hon Hai Technology Group (Foxconn) Unpacks Artificial Intelligen">
            <a:extLst>
              <a:ext uri="{FF2B5EF4-FFF2-40B4-BE49-F238E27FC236}">
                <a16:creationId xmlns:a16="http://schemas.microsoft.com/office/drawing/2014/main" id="{09BF9367-0F82-3FD9-EFC0-ED1C30C57CA8}"/>
              </a:ext>
            </a:extLst>
          </p:cNvPr>
          <p:cNvPicPr>
            <a:picLocks noChangeAspect="1" noChangeArrowheads="1"/>
          </p:cNvPicPr>
          <p:nvPr/>
        </p:nvPicPr>
        <p:blipFill rotWithShape="1">
          <a:blip r:embed="rId22" cstate="print">
            <a:extLst>
              <a:ext uri="{BEBA8EAE-BF5A-486C-A8C5-ECC9F3942E4B}">
                <a14:imgProps xmlns:a14="http://schemas.microsoft.com/office/drawing/2010/main">
                  <a14:imgLayer r:embed="rId23">
                    <a14:imgEffect>
                      <a14:backgroundRemoval t="9375" b="89844" l="8500" r="90000">
                        <a14:foregroundMark x1="8500" y1="37500" x2="8500" y2="37500"/>
                        <a14:foregroundMark x1="30750" y1="50781" x2="30750" y2="50781"/>
                        <a14:foregroundMark x1="39250" y1="46875" x2="39250" y2="46875"/>
                        <a14:foregroundMark x1="35250" y1="38281" x2="35250" y2="38281"/>
                        <a14:foregroundMark x1="40500" y1="39844" x2="40500" y2="39844"/>
                        <a14:foregroundMark x1="33750" y1="47656" x2="33750" y2="47656"/>
                        <a14:foregroundMark x1="50500" y1="43750" x2="50500" y2="43750"/>
                        <a14:foregroundMark x1="57250" y1="40625" x2="57250" y2="40625"/>
                        <a14:foregroundMark x1="66250" y1="43750" x2="66250" y2="43750"/>
                        <a14:foregroundMark x1="75750" y1="39063" x2="75750" y2="39063"/>
                        <a14:foregroundMark x1="84750" y1="42188" x2="84750" y2="42188"/>
                        <a14:foregroundMark x1="35250" y1="46875" x2="35250" y2="46875"/>
                      </a14:backgroundRemoval>
                    </a14:imgEffect>
                  </a14:imgLayer>
                </a14:imgProps>
              </a:ext>
              <a:ext uri="{28A0092B-C50C-407E-A947-70E740481C1C}">
                <a14:useLocalDpi xmlns:a14="http://schemas.microsoft.com/office/drawing/2010/main" val="0"/>
              </a:ext>
            </a:extLst>
          </a:blip>
          <a:srcRect l="6185" t="19707" r="6994" b="19685"/>
          <a:stretch/>
        </p:blipFill>
        <p:spPr bwMode="auto">
          <a:xfrm>
            <a:off x="3728011" y="5353943"/>
            <a:ext cx="779401" cy="174104"/>
          </a:xfrm>
          <a:prstGeom prst="rect">
            <a:avLst/>
          </a:prstGeom>
          <a:noFill/>
          <a:extLst>
            <a:ext uri="{909E8E84-426E-40DD-AFC4-6F175D3DCCD1}">
              <a14:hiddenFill xmlns:a14="http://schemas.microsoft.com/office/drawing/2010/main">
                <a:solidFill>
                  <a:srgbClr val="FFFFFF"/>
                </a:solidFill>
              </a14:hiddenFill>
            </a:ext>
          </a:extLst>
        </p:spPr>
      </p:pic>
      <p:pic>
        <p:nvPicPr>
          <p:cNvPr id="248" name="图片 247" descr="徽标&#10;&#10;AI 生成的内容可能不正确。">
            <a:extLst>
              <a:ext uri="{FF2B5EF4-FFF2-40B4-BE49-F238E27FC236}">
                <a16:creationId xmlns:a16="http://schemas.microsoft.com/office/drawing/2014/main" id="{7EE4B528-A0AB-0822-8627-45AD1883A1B7}"/>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4666782" y="5263989"/>
            <a:ext cx="491822" cy="354012"/>
          </a:xfrm>
          <a:prstGeom prst="rect">
            <a:avLst/>
          </a:prstGeom>
        </p:spPr>
      </p:pic>
      <p:pic>
        <p:nvPicPr>
          <p:cNvPr id="249" name="图片 248" descr="徽标&#10;&#10;AI 生成的内容可能不正确。">
            <a:extLst>
              <a:ext uri="{FF2B5EF4-FFF2-40B4-BE49-F238E27FC236}">
                <a16:creationId xmlns:a16="http://schemas.microsoft.com/office/drawing/2014/main" id="{F2B6BEDE-26C1-760F-28B8-84D81C8937D2}"/>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2946796" y="5303696"/>
            <a:ext cx="366851" cy="264058"/>
          </a:xfrm>
          <a:prstGeom prst="rect">
            <a:avLst/>
          </a:prstGeom>
        </p:spPr>
      </p:pic>
      <p:pic>
        <p:nvPicPr>
          <p:cNvPr id="250" name="图片 249">
            <a:extLst>
              <a:ext uri="{FF2B5EF4-FFF2-40B4-BE49-F238E27FC236}">
                <a16:creationId xmlns:a16="http://schemas.microsoft.com/office/drawing/2014/main" id="{402430A5-2F65-7298-3120-C440DAE8777E}"/>
              </a:ext>
            </a:extLst>
          </p:cNvPr>
          <p:cNvPicPr>
            <a:picLocks noChangeAspect="1"/>
          </p:cNvPicPr>
          <p:nvPr/>
        </p:nvPicPr>
        <p:blipFill>
          <a:blip r:embed="rId26">
            <a:extLst>
              <a:ext uri="{BEBA8EAE-BF5A-486C-A8C5-ECC9F3942E4B}">
                <a14:imgProps xmlns:a14="http://schemas.microsoft.com/office/drawing/2010/main">
                  <a14:imgLayer r:embed="rId27">
                    <a14:imgEffect>
                      <a14:backgroundRemoval t="9877" b="89877" l="4526" r="96264">
                        <a14:foregroundMark x1="7687" y1="61235" x2="7687" y2="61235"/>
                        <a14:foregroundMark x1="4526" y1="76296" x2="4526" y2="76296"/>
                        <a14:foregroundMark x1="44684" y1="62469" x2="44684" y2="62469"/>
                        <a14:foregroundMark x1="52514" y1="56790" x2="52514" y2="56790"/>
                        <a14:foregroundMark x1="73635" y1="59753" x2="73635" y2="59753"/>
                        <a14:foregroundMark x1="83190" y1="63951" x2="83190" y2="63951"/>
                        <a14:foregroundMark x1="92888" y1="64198" x2="92888" y2="64198"/>
                        <a14:foregroundMark x1="96264" y1="79259" x2="96264" y2="79259"/>
                      </a14:backgroundRemoval>
                    </a14:imgEffect>
                  </a14:imgLayer>
                </a14:imgProps>
              </a:ext>
            </a:extLst>
          </a:blip>
          <a:srcRect t="23167" b="11856"/>
          <a:stretch/>
        </p:blipFill>
        <p:spPr>
          <a:xfrm>
            <a:off x="2391262" y="5379853"/>
            <a:ext cx="475097" cy="89818"/>
          </a:xfrm>
          <a:prstGeom prst="rect">
            <a:avLst/>
          </a:prstGeom>
        </p:spPr>
      </p:pic>
      <p:sp>
        <p:nvSpPr>
          <p:cNvPr id="252" name="文本框 251">
            <a:extLst>
              <a:ext uri="{FF2B5EF4-FFF2-40B4-BE49-F238E27FC236}">
                <a16:creationId xmlns:a16="http://schemas.microsoft.com/office/drawing/2014/main" id="{1750A5DB-818F-BBD6-3C75-4D99B41FBECD}"/>
              </a:ext>
            </a:extLst>
          </p:cNvPr>
          <p:cNvSpPr txBox="1"/>
          <p:nvPr/>
        </p:nvSpPr>
        <p:spPr>
          <a:xfrm>
            <a:off x="419231" y="6370193"/>
            <a:ext cx="7859218"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200" i="1" dirty="0">
                <a:solidFill>
                  <a:schemeClr val="tx1">
                    <a:lumMod val="50000"/>
                  </a:schemeClr>
                </a:solidFill>
                <a:cs typeface="+mn-ea"/>
                <a:sym typeface="+mn-lt"/>
              </a:rPr>
              <a:t>Source: Broadcom</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Nvidia</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Intel</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Cisco</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Marvell</a:t>
            </a:r>
          </a:p>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：不完全列示，优先列示最核心合作厂商</a:t>
            </a:r>
            <a:endParaRPr kumimoji="1" lang="en-US" altLang="zh-CN" sz="1200" i="1" dirty="0">
              <a:solidFill>
                <a:schemeClr val="tx1">
                  <a:lumMod val="50000"/>
                </a:schemeClr>
              </a:solidFill>
              <a:cs typeface="+mn-ea"/>
              <a:sym typeface="+mn-lt"/>
            </a:endParaRPr>
          </a:p>
        </p:txBody>
      </p:sp>
    </p:spTree>
    <p:extLst>
      <p:ext uri="{BB962C8B-B14F-4D97-AF65-F5344CB8AC3E}">
        <p14:creationId xmlns:p14="http://schemas.microsoft.com/office/powerpoint/2010/main" val="1091079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15613-90E5-0200-ABA1-969F41B61A0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53E37C2-7C71-A419-BAAE-6D2D2B4FA584}"/>
              </a:ext>
            </a:extLst>
          </p:cNvPr>
          <p:cNvGraphicFramePr>
            <a:graphicFrameLocks noChangeAspect="1"/>
          </p:cNvGraphicFramePr>
          <p:nvPr>
            <p:custDataLst>
              <p:tags r:id="rId1"/>
            </p:custDataLst>
            <p:extLst>
              <p:ext uri="{D42A27DB-BD31-4B8C-83A1-F6EECF244321}">
                <p14:modId xmlns:p14="http://schemas.microsoft.com/office/powerpoint/2010/main" val="2648555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6" imgW="401" imgH="401" progId="TCLayout.ActiveDocument.1">
                  <p:embed/>
                </p:oleObj>
              </mc:Choice>
              <mc:Fallback>
                <p:oleObj name="think-cell 幻灯片" r:id="rId16" imgW="401" imgH="401" progId="TCLayout.ActiveDocument.1">
                  <p:embed/>
                  <p:pic>
                    <p:nvPicPr>
                      <p:cNvPr id="6" name="think-cell data - do not delete" hidden="1">
                        <a:extLst>
                          <a:ext uri="{FF2B5EF4-FFF2-40B4-BE49-F238E27FC236}">
                            <a16:creationId xmlns:a16="http://schemas.microsoft.com/office/drawing/2014/main" id="{910B5B65-05AC-E9CA-651E-FCBC7F2CAA65}"/>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76" name="文本框 75">
            <a:extLst>
              <a:ext uri="{FF2B5EF4-FFF2-40B4-BE49-F238E27FC236}">
                <a16:creationId xmlns:a16="http://schemas.microsoft.com/office/drawing/2014/main" id="{DAD59D82-61AE-8A79-DEFC-018A8CBAF289}"/>
              </a:ext>
            </a:extLst>
          </p:cNvPr>
          <p:cNvSpPr txBox="1"/>
          <p:nvPr/>
        </p:nvSpPr>
        <p:spPr>
          <a:xfrm>
            <a:off x="6105525" y="3858418"/>
            <a:ext cx="1662113" cy="646113"/>
          </a:xfrm>
          <a:prstGeom prst="rect">
            <a:avLst/>
          </a:prstGeom>
          <a:noFill/>
        </p:spPr>
        <p:txBody>
          <a:bodyPr wrap="square">
            <a:spAutoFit/>
          </a:bodyPr>
          <a:lstStyle/>
          <a:p>
            <a:r>
              <a:rPr lang="en-US" altLang="zh-CN" sz="1200" dirty="0">
                <a:solidFill>
                  <a:schemeClr val="accent6">
                    <a:lumMod val="10000"/>
                  </a:schemeClr>
                </a:solidFill>
                <a:latin typeface="PingFang SC"/>
              </a:rPr>
              <a:t>Amazon</a:t>
            </a:r>
          </a:p>
          <a:p>
            <a:r>
              <a:rPr lang="en-US" altLang="zh-CN" sz="1200" dirty="0">
                <a:solidFill>
                  <a:schemeClr val="accent6">
                    <a:lumMod val="10000"/>
                  </a:schemeClr>
                </a:solidFill>
                <a:latin typeface="PingFang SC"/>
              </a:rPr>
              <a:t>MSFT</a:t>
            </a:r>
          </a:p>
          <a:p>
            <a:r>
              <a:rPr lang="en-US" altLang="zh-CN" sz="1200" dirty="0">
                <a:solidFill>
                  <a:schemeClr val="accent6">
                    <a:lumMod val="10000"/>
                  </a:schemeClr>
                </a:solidFill>
                <a:latin typeface="PingFang SC"/>
              </a:rPr>
              <a:t>Intel</a:t>
            </a:r>
          </a:p>
        </p:txBody>
      </p:sp>
      <p:sp>
        <p:nvSpPr>
          <p:cNvPr id="2" name="标题 1">
            <a:extLst>
              <a:ext uri="{FF2B5EF4-FFF2-40B4-BE49-F238E27FC236}">
                <a16:creationId xmlns:a16="http://schemas.microsoft.com/office/drawing/2014/main" id="{18DE6BB8-FA89-3E25-EA44-004C929EEDDB}"/>
              </a:ext>
            </a:extLst>
          </p:cNvPr>
          <p:cNvSpPr>
            <a:spLocks noGrp="1"/>
          </p:cNvSpPr>
          <p:nvPr>
            <p:ph type="title"/>
          </p:nvPr>
        </p:nvSpPr>
        <p:spPr>
          <a:xfrm>
            <a:off x="158749" y="172212"/>
            <a:ext cx="10751185" cy="731520"/>
          </a:xfrm>
        </p:spPr>
        <p:txBody>
          <a:bodyPr vert="horz"/>
          <a:lstStyle/>
          <a:p>
            <a:r>
              <a:rPr lang="zh-CN" altLang="en-US" dirty="0">
                <a:latin typeface="+mn-lt"/>
                <a:ea typeface="+mn-ea"/>
                <a:cs typeface="+mn-ea"/>
                <a:sym typeface="+mn-lt"/>
              </a:rPr>
              <a:t>博通为何押注</a:t>
            </a:r>
            <a:r>
              <a:rPr lang="en-US" altLang="zh-CN" dirty="0">
                <a:latin typeface="+mn-lt"/>
                <a:ea typeface="+mn-ea"/>
                <a:cs typeface="+mn-ea"/>
                <a:sym typeface="+mn-lt"/>
              </a:rPr>
              <a:t>CPO</a:t>
            </a:r>
            <a:r>
              <a:rPr lang="zh-CN" altLang="en-US" dirty="0">
                <a:latin typeface="+mn-lt"/>
                <a:ea typeface="+mn-ea"/>
                <a:cs typeface="+mn-ea"/>
                <a:sym typeface="+mn-lt"/>
              </a:rPr>
              <a:t>？顺应</a:t>
            </a:r>
            <a:r>
              <a:rPr lang="en-US" altLang="zh-CN" dirty="0">
                <a:latin typeface="+mn-lt"/>
                <a:ea typeface="+mn-ea"/>
                <a:cs typeface="+mn-ea"/>
                <a:sym typeface="+mn-lt"/>
              </a:rPr>
              <a:t>HPC</a:t>
            </a:r>
            <a:r>
              <a:rPr lang="zh-CN" altLang="en-US" dirty="0">
                <a:latin typeface="+mn-lt"/>
                <a:ea typeface="+mn-ea"/>
                <a:cs typeface="+mn-ea"/>
                <a:sym typeface="+mn-lt"/>
              </a:rPr>
              <a:t>自研</a:t>
            </a:r>
            <a:r>
              <a:rPr lang="en-US" altLang="zh-CN" dirty="0">
                <a:latin typeface="+mn-lt"/>
                <a:ea typeface="+mn-ea"/>
                <a:cs typeface="+mn-ea"/>
                <a:sym typeface="+mn-lt"/>
              </a:rPr>
              <a:t>ASIC</a:t>
            </a:r>
            <a:r>
              <a:rPr lang="zh-CN" altLang="en-US" dirty="0">
                <a:latin typeface="+mn-lt"/>
                <a:ea typeface="+mn-ea"/>
                <a:cs typeface="+mn-ea"/>
                <a:sym typeface="+mn-lt"/>
              </a:rPr>
              <a:t>趋势、网络配套形成生态卡位</a:t>
            </a:r>
          </a:p>
        </p:txBody>
      </p:sp>
      <p:sp>
        <p:nvSpPr>
          <p:cNvPr id="7" name="文本框 6">
            <a:extLst>
              <a:ext uri="{FF2B5EF4-FFF2-40B4-BE49-F238E27FC236}">
                <a16:creationId xmlns:a16="http://schemas.microsoft.com/office/drawing/2014/main" id="{5DA999DB-AC5C-4912-29F2-A8253B6131FF}"/>
              </a:ext>
            </a:extLst>
          </p:cNvPr>
          <p:cNvSpPr txBox="1"/>
          <p:nvPr/>
        </p:nvSpPr>
        <p:spPr>
          <a:xfrm>
            <a:off x="292212" y="6397417"/>
            <a:ext cx="7859218"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200" i="1" dirty="0">
                <a:solidFill>
                  <a:schemeClr val="tx1">
                    <a:lumMod val="50000"/>
                  </a:schemeClr>
                </a:solidFill>
                <a:cs typeface="+mn-ea"/>
                <a:sym typeface="+mn-lt"/>
              </a:rPr>
              <a:t>Source: </a:t>
            </a:r>
            <a:r>
              <a:rPr kumimoji="1" lang="zh-CN" altLang="en-US" sz="1200" i="1" dirty="0">
                <a:solidFill>
                  <a:schemeClr val="tx1">
                    <a:lumMod val="50000"/>
                  </a:schemeClr>
                </a:solidFill>
                <a:cs typeface="+mn-ea"/>
                <a:sym typeface="+mn-lt"/>
              </a:rPr>
              <a:t>野村证券、</a:t>
            </a:r>
            <a:r>
              <a:rPr kumimoji="1" lang="en-US" altLang="zh-CN" sz="1200" i="1" dirty="0" err="1">
                <a:solidFill>
                  <a:schemeClr val="tx1">
                    <a:lumMod val="50000"/>
                  </a:schemeClr>
                </a:solidFill>
                <a:cs typeface="+mn-ea"/>
                <a:sym typeface="+mn-lt"/>
              </a:rPr>
              <a:t>J.P.Morgan</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Fubon Research</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BNP</a:t>
            </a:r>
          </a:p>
        </p:txBody>
      </p:sp>
      <p:graphicFrame>
        <p:nvGraphicFramePr>
          <p:cNvPr id="34" name="Chart 3">
            <a:extLst>
              <a:ext uri="{FF2B5EF4-FFF2-40B4-BE49-F238E27FC236}">
                <a16:creationId xmlns:a16="http://schemas.microsoft.com/office/drawing/2014/main" id="{A1FB8181-D34E-060F-1075-6718B82EBCA1}"/>
              </a:ext>
            </a:extLst>
          </p:cNvPr>
          <p:cNvGraphicFramePr/>
          <p:nvPr>
            <p:custDataLst>
              <p:tags r:id="rId2"/>
            </p:custDataLst>
            <p:extLst>
              <p:ext uri="{D42A27DB-BD31-4B8C-83A1-F6EECF244321}">
                <p14:modId xmlns:p14="http://schemas.microsoft.com/office/powerpoint/2010/main" val="440897875"/>
              </p:ext>
            </p:extLst>
          </p:nvPr>
        </p:nvGraphicFramePr>
        <p:xfrm>
          <a:off x="577850" y="2249488"/>
          <a:ext cx="6672263" cy="3862387"/>
        </p:xfrm>
        <a:graphic>
          <a:graphicData uri="http://schemas.openxmlformats.org/drawingml/2006/chart">
            <c:chart xmlns:c="http://schemas.openxmlformats.org/drawingml/2006/chart" xmlns:r="http://schemas.openxmlformats.org/officeDocument/2006/relationships" r:id="rId18"/>
          </a:graphicData>
        </a:graphic>
      </p:graphicFrame>
      <p:sp>
        <p:nvSpPr>
          <p:cNvPr id="11" name="Text Placeholder 4">
            <a:extLst>
              <a:ext uri="{FF2B5EF4-FFF2-40B4-BE49-F238E27FC236}">
                <a16:creationId xmlns:a16="http://schemas.microsoft.com/office/drawing/2014/main" id="{03DFEBEA-A1C8-F078-C831-46DA2046D9CE}"/>
              </a:ext>
            </a:extLst>
          </p:cNvPr>
          <p:cNvSpPr>
            <a:spLocks/>
          </p:cNvSpPr>
          <p:nvPr>
            <p:custDataLst>
              <p:tags r:id="rId3"/>
            </p:custDataLst>
          </p:nvPr>
        </p:nvSpPr>
        <p:spPr bwMode="gray">
          <a:xfrm>
            <a:off x="3789363" y="4075113"/>
            <a:ext cx="3508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zh-CN" sz="1400" dirty="0">
                <a:effectLst/>
                <a:cs typeface="+mn-cs"/>
              </a:rPr>
              <a:t>&gt;</a:t>
            </a:r>
            <a:fld id="{2757261A-3181-4463-8333-0ED1F2DB49E5}" type="datetime'''''''''3''3'''''''''''''''''''''''''''''''''''''''''''''">
              <a:rPr lang="zh-CN" altLang="en-US" sz="1400" smtClean="0">
                <a:effectLst/>
                <a:cs typeface="+mn-cs"/>
              </a:rPr>
              <a:pPr lvl="0" algn="ctr">
                <a:spcBef>
                  <a:spcPct val="0"/>
                </a:spcBef>
                <a:spcAft>
                  <a:spcPct val="0"/>
                </a:spcAft>
              </a:pPr>
              <a:t>33</a:t>
            </a:fld>
            <a:endParaRPr lang="zh-CN" altLang="en-US" sz="1400" dirty="0">
              <a:cs typeface="+mn-cs"/>
            </a:endParaRPr>
          </a:p>
        </p:txBody>
      </p:sp>
      <p:sp>
        <p:nvSpPr>
          <p:cNvPr id="61" name="文本框 60">
            <a:extLst>
              <a:ext uri="{FF2B5EF4-FFF2-40B4-BE49-F238E27FC236}">
                <a16:creationId xmlns:a16="http://schemas.microsoft.com/office/drawing/2014/main" id="{EAF0FDD1-AA3B-B255-C9E5-12158FBE4F2E}"/>
              </a:ext>
            </a:extLst>
          </p:cNvPr>
          <p:cNvSpPr txBox="1"/>
          <p:nvPr/>
        </p:nvSpPr>
        <p:spPr>
          <a:xfrm>
            <a:off x="628650" y="2122488"/>
            <a:ext cx="5626100" cy="307975"/>
          </a:xfrm>
          <a:prstGeom prst="rect">
            <a:avLst/>
          </a:prstGeom>
          <a:noFill/>
        </p:spPr>
        <p:txBody>
          <a:bodyPr wrap="square">
            <a:spAutoFit/>
          </a:bodyPr>
          <a:lstStyle/>
          <a:p>
            <a:r>
              <a:rPr lang="zh-CN" altLang="en-US" sz="1400" dirty="0">
                <a:solidFill>
                  <a:srgbClr val="000000"/>
                </a:solidFill>
                <a:latin typeface="PingFang SC"/>
              </a:rPr>
              <a:t>出货量占比（</a:t>
            </a:r>
            <a:r>
              <a:rPr lang="en-US" altLang="zh-CN" sz="1400" dirty="0">
                <a:solidFill>
                  <a:srgbClr val="000000"/>
                </a:solidFill>
                <a:latin typeface="PingFang SC"/>
              </a:rPr>
              <a:t>%</a:t>
            </a:r>
            <a:r>
              <a:rPr lang="zh-CN" altLang="en-US" sz="1400" dirty="0">
                <a:solidFill>
                  <a:srgbClr val="000000"/>
                </a:solidFill>
                <a:latin typeface="PingFang SC"/>
              </a:rPr>
              <a:t>）</a:t>
            </a:r>
          </a:p>
        </p:txBody>
      </p:sp>
      <p:sp>
        <p:nvSpPr>
          <p:cNvPr id="121" name="文本框 120">
            <a:extLst>
              <a:ext uri="{FF2B5EF4-FFF2-40B4-BE49-F238E27FC236}">
                <a16:creationId xmlns:a16="http://schemas.microsoft.com/office/drawing/2014/main" id="{A8CDAD01-36A1-CF67-846C-CAABF8345DFC}"/>
              </a:ext>
            </a:extLst>
          </p:cNvPr>
          <p:cNvSpPr txBox="1"/>
          <p:nvPr/>
        </p:nvSpPr>
        <p:spPr>
          <a:xfrm>
            <a:off x="5337175" y="2929202"/>
            <a:ext cx="5626100" cy="307975"/>
          </a:xfrm>
          <a:prstGeom prst="rect">
            <a:avLst/>
          </a:prstGeom>
          <a:noFill/>
        </p:spPr>
        <p:txBody>
          <a:bodyPr wrap="square">
            <a:spAutoFit/>
          </a:bodyPr>
          <a:lstStyle/>
          <a:p>
            <a:r>
              <a:rPr lang="en-US" altLang="zh-CN" sz="1400" dirty="0">
                <a:solidFill>
                  <a:schemeClr val="accent6">
                    <a:lumMod val="10000"/>
                  </a:schemeClr>
                </a:solidFill>
                <a:latin typeface="PingFang SC"/>
              </a:rPr>
              <a:t>26</a:t>
            </a:r>
            <a:r>
              <a:rPr lang="zh-CN" altLang="en-US" sz="1400" dirty="0">
                <a:solidFill>
                  <a:schemeClr val="accent6">
                    <a:lumMod val="10000"/>
                  </a:schemeClr>
                </a:solidFill>
                <a:latin typeface="PingFang SC"/>
              </a:rPr>
              <a:t>年</a:t>
            </a:r>
            <a:r>
              <a:rPr lang="en-US" altLang="zh-CN" sz="1400" dirty="0">
                <a:solidFill>
                  <a:schemeClr val="accent6">
                    <a:lumMod val="10000"/>
                  </a:schemeClr>
                </a:solidFill>
                <a:latin typeface="PingFang SC"/>
              </a:rPr>
              <a:t>ASIC</a:t>
            </a:r>
            <a:r>
              <a:rPr lang="zh-CN" altLang="en-US" sz="1400" dirty="0">
                <a:solidFill>
                  <a:schemeClr val="accent6">
                    <a:lumMod val="10000"/>
                  </a:schemeClr>
                </a:solidFill>
                <a:latin typeface="PingFang SC"/>
              </a:rPr>
              <a:t>反超</a:t>
            </a:r>
            <a:r>
              <a:rPr lang="en-US" altLang="zh-CN" sz="1400" dirty="0">
                <a:solidFill>
                  <a:schemeClr val="accent6">
                    <a:lumMod val="10000"/>
                  </a:schemeClr>
                </a:solidFill>
                <a:latin typeface="PingFang SC"/>
              </a:rPr>
              <a:t>GPU</a:t>
            </a:r>
            <a:endParaRPr lang="zh-CN" altLang="en-US" sz="1400" dirty="0">
              <a:solidFill>
                <a:schemeClr val="accent6">
                  <a:lumMod val="10000"/>
                </a:schemeClr>
              </a:solidFill>
              <a:latin typeface="PingFang SC"/>
            </a:endParaRPr>
          </a:p>
        </p:txBody>
      </p:sp>
      <p:sp>
        <p:nvSpPr>
          <p:cNvPr id="123" name="文本框 122">
            <a:extLst>
              <a:ext uri="{FF2B5EF4-FFF2-40B4-BE49-F238E27FC236}">
                <a16:creationId xmlns:a16="http://schemas.microsoft.com/office/drawing/2014/main" id="{24AEC0F4-E29C-AD43-22E2-4740D7678743}"/>
              </a:ext>
            </a:extLst>
          </p:cNvPr>
          <p:cNvSpPr txBox="1"/>
          <p:nvPr/>
        </p:nvSpPr>
        <p:spPr>
          <a:xfrm>
            <a:off x="4008438" y="5000625"/>
            <a:ext cx="1660525" cy="646113"/>
          </a:xfrm>
          <a:prstGeom prst="rect">
            <a:avLst/>
          </a:prstGeom>
          <a:noFill/>
        </p:spPr>
        <p:txBody>
          <a:bodyPr wrap="square">
            <a:spAutoFit/>
          </a:bodyPr>
          <a:lstStyle/>
          <a:p>
            <a:r>
              <a:rPr lang="en-US" altLang="zh-CN" sz="1200" dirty="0">
                <a:solidFill>
                  <a:schemeClr val="accent6">
                    <a:lumMod val="10000"/>
                  </a:schemeClr>
                </a:solidFill>
                <a:latin typeface="PingFang SC"/>
              </a:rPr>
              <a:t>Google</a:t>
            </a:r>
          </a:p>
          <a:p>
            <a:r>
              <a:rPr lang="en-US" altLang="zh-CN" sz="1200" dirty="0">
                <a:solidFill>
                  <a:schemeClr val="accent6">
                    <a:lumMod val="10000"/>
                  </a:schemeClr>
                </a:solidFill>
                <a:latin typeface="PingFang SC"/>
              </a:rPr>
              <a:t>Meta</a:t>
            </a:r>
          </a:p>
          <a:p>
            <a:r>
              <a:rPr lang="en-US" altLang="zh-CN" sz="1200" dirty="0">
                <a:solidFill>
                  <a:srgbClr val="0052D9"/>
                </a:solidFill>
                <a:latin typeface="PingFang SC"/>
              </a:rPr>
              <a:t>ByteDance</a:t>
            </a:r>
          </a:p>
        </p:txBody>
      </p:sp>
      <p:sp>
        <p:nvSpPr>
          <p:cNvPr id="124" name="文本框 123">
            <a:extLst>
              <a:ext uri="{FF2B5EF4-FFF2-40B4-BE49-F238E27FC236}">
                <a16:creationId xmlns:a16="http://schemas.microsoft.com/office/drawing/2014/main" id="{943DA313-5994-5C1E-B018-417A0A4C3D3B}"/>
              </a:ext>
            </a:extLst>
          </p:cNvPr>
          <p:cNvSpPr txBox="1"/>
          <p:nvPr/>
        </p:nvSpPr>
        <p:spPr>
          <a:xfrm>
            <a:off x="6089650" y="4587080"/>
            <a:ext cx="1660525" cy="1014413"/>
          </a:xfrm>
          <a:prstGeom prst="rect">
            <a:avLst/>
          </a:prstGeom>
          <a:noFill/>
        </p:spPr>
        <p:txBody>
          <a:bodyPr wrap="square">
            <a:spAutoFit/>
          </a:bodyPr>
          <a:lstStyle/>
          <a:p>
            <a:r>
              <a:rPr lang="en-US" altLang="zh-CN" sz="1200" dirty="0">
                <a:solidFill>
                  <a:schemeClr val="accent6">
                    <a:lumMod val="10000"/>
                  </a:schemeClr>
                </a:solidFill>
                <a:latin typeface="PingFang SC"/>
              </a:rPr>
              <a:t>Google</a:t>
            </a:r>
          </a:p>
          <a:p>
            <a:r>
              <a:rPr lang="en-US" altLang="zh-CN" sz="1200" dirty="0">
                <a:solidFill>
                  <a:schemeClr val="accent6">
                    <a:lumMod val="10000"/>
                  </a:schemeClr>
                </a:solidFill>
                <a:latin typeface="PingFang SC"/>
              </a:rPr>
              <a:t>Meta</a:t>
            </a:r>
          </a:p>
          <a:p>
            <a:r>
              <a:rPr lang="en-US" altLang="zh-CN" sz="1200" dirty="0">
                <a:solidFill>
                  <a:schemeClr val="accent6">
                    <a:lumMod val="10000"/>
                  </a:schemeClr>
                </a:solidFill>
                <a:latin typeface="PingFang SC"/>
              </a:rPr>
              <a:t>ByteDance</a:t>
            </a:r>
          </a:p>
          <a:p>
            <a:r>
              <a:rPr lang="en-US" altLang="zh-CN" sz="1200" dirty="0">
                <a:solidFill>
                  <a:srgbClr val="0052D9"/>
                </a:solidFill>
                <a:latin typeface="PingFang SC"/>
              </a:rPr>
              <a:t>OpenAI</a:t>
            </a:r>
          </a:p>
          <a:p>
            <a:r>
              <a:rPr lang="en-US" altLang="zh-CN" sz="1200" dirty="0" err="1">
                <a:solidFill>
                  <a:srgbClr val="0052D9"/>
                </a:solidFill>
                <a:latin typeface="PingFang SC"/>
              </a:rPr>
              <a:t>xAI</a:t>
            </a:r>
            <a:endParaRPr lang="en-US" altLang="zh-CN" sz="1200" dirty="0">
              <a:solidFill>
                <a:srgbClr val="0052D9"/>
              </a:solidFill>
              <a:latin typeface="PingFang SC"/>
            </a:endParaRPr>
          </a:p>
        </p:txBody>
      </p:sp>
      <p:cxnSp>
        <p:nvCxnSpPr>
          <p:cNvPr id="130" name="直接连接符 129">
            <a:extLst>
              <a:ext uri="{FF2B5EF4-FFF2-40B4-BE49-F238E27FC236}">
                <a16:creationId xmlns:a16="http://schemas.microsoft.com/office/drawing/2014/main" id="{BD3D585D-EB84-F7EC-1AC4-AE4F0BB57E76}"/>
              </a:ext>
            </a:extLst>
          </p:cNvPr>
          <p:cNvCxnSpPr/>
          <p:nvPr>
            <p:custDataLst>
              <p:tags r:id="rId4"/>
            </p:custDataLst>
          </p:nvPr>
        </p:nvCxnSpPr>
        <p:spPr bwMode="gray">
          <a:xfrm>
            <a:off x="2054225" y="6126163"/>
            <a:ext cx="231775"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5" name="直接连接符 74">
            <a:extLst>
              <a:ext uri="{FF2B5EF4-FFF2-40B4-BE49-F238E27FC236}">
                <a16:creationId xmlns:a16="http://schemas.microsoft.com/office/drawing/2014/main" id="{48163FD0-FFF7-9ABC-9D0A-768743A88758}"/>
              </a:ext>
            </a:extLst>
          </p:cNvPr>
          <p:cNvCxnSpPr/>
          <p:nvPr>
            <p:custDataLst>
              <p:tags r:id="rId5"/>
            </p:custDataLst>
          </p:nvPr>
        </p:nvCxnSpPr>
        <p:spPr bwMode="gray">
          <a:xfrm>
            <a:off x="2873375" y="6126163"/>
            <a:ext cx="231775" cy="0"/>
          </a:xfrm>
          <a:prstGeom prst="line">
            <a:avLst/>
          </a:prstGeom>
          <a:ln w="19050" cap="rnd" cmpd="sng" algn="ctr">
            <a:solidFill>
              <a:srgbClr val="C0C0C0"/>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2" name="直接连接符 131">
            <a:extLst>
              <a:ext uri="{FF2B5EF4-FFF2-40B4-BE49-F238E27FC236}">
                <a16:creationId xmlns:a16="http://schemas.microsoft.com/office/drawing/2014/main" id="{855E862C-E865-CE47-D969-4ED73BF96A88}"/>
              </a:ext>
            </a:extLst>
          </p:cNvPr>
          <p:cNvCxnSpPr/>
          <p:nvPr>
            <p:custDataLst>
              <p:tags r:id="rId6"/>
            </p:custDataLst>
          </p:nvPr>
        </p:nvCxnSpPr>
        <p:spPr bwMode="gray">
          <a:xfrm>
            <a:off x="3683000" y="6126163"/>
            <a:ext cx="190500" cy="0"/>
          </a:xfrm>
          <a:prstGeom prst="line">
            <a:avLst/>
          </a:prstGeom>
          <a:ln w="19050" cap="rnd" cmpd="sng" algn="ctr">
            <a:solidFill>
              <a:schemeClr val="accent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7" name="Text Placeholder 4">
            <a:extLst>
              <a:ext uri="{FF2B5EF4-FFF2-40B4-BE49-F238E27FC236}">
                <a16:creationId xmlns:a16="http://schemas.microsoft.com/office/drawing/2014/main" id="{4432D324-70FA-F8C1-0A33-97C916F10E38}"/>
              </a:ext>
            </a:extLst>
          </p:cNvPr>
          <p:cNvSpPr>
            <a:spLocks/>
          </p:cNvSpPr>
          <p:nvPr>
            <p:custDataLst>
              <p:tags r:id="rId7"/>
            </p:custDataLst>
          </p:nvPr>
        </p:nvSpPr>
        <p:spPr bwMode="auto">
          <a:xfrm>
            <a:off x="2346325" y="6027738"/>
            <a:ext cx="415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CA14096-24AE-49D8-9F9F-FD7E7C057D2D}" type="datetime'''''''''''''''''''''''''''''''A''''S''IC'''''''''">
              <a:rPr lang="en-US" altLang="en-US" sz="1400" smtClean="0">
                <a:effectLst/>
                <a:cs typeface="+mn-cs"/>
              </a:rPr>
              <a:pPr lvl="0">
                <a:spcBef>
                  <a:spcPct val="0"/>
                </a:spcBef>
                <a:spcAft>
                  <a:spcPct val="0"/>
                </a:spcAft>
              </a:pPr>
              <a:t>ASIC</a:t>
            </a:fld>
            <a:endParaRPr lang="zh-CN" altLang="en-US" sz="1400" dirty="0">
              <a:cs typeface="+mn-cs"/>
            </a:endParaRPr>
          </a:p>
        </p:txBody>
      </p:sp>
      <p:sp>
        <p:nvSpPr>
          <p:cNvPr id="72" name="Text Placeholder 4">
            <a:extLst>
              <a:ext uri="{FF2B5EF4-FFF2-40B4-BE49-F238E27FC236}">
                <a16:creationId xmlns:a16="http://schemas.microsoft.com/office/drawing/2014/main" id="{8828DF58-8F6B-50C8-8A1F-70A0C4A238BF}"/>
              </a:ext>
            </a:extLst>
          </p:cNvPr>
          <p:cNvSpPr>
            <a:spLocks/>
          </p:cNvSpPr>
          <p:nvPr>
            <p:custDataLst>
              <p:tags r:id="rId8"/>
            </p:custDataLst>
          </p:nvPr>
        </p:nvSpPr>
        <p:spPr bwMode="auto">
          <a:xfrm>
            <a:off x="3165475" y="6027738"/>
            <a:ext cx="3857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C764266F-E44F-445E-86DA-50010A4C62D3}" type="datetime'''''''''G''''''''''''''P''''''''''''''''U'">
              <a:rPr lang="en-US" altLang="en-US" sz="1400" smtClean="0">
                <a:cs typeface="+mn-cs"/>
              </a:rPr>
              <a:pPr/>
              <a:t>GPU</a:t>
            </a:fld>
            <a:endParaRPr lang="zh-CN" altLang="en-US" sz="1400" dirty="0">
              <a:cs typeface="+mn-cs"/>
            </a:endParaRPr>
          </a:p>
        </p:txBody>
      </p:sp>
      <p:sp>
        <p:nvSpPr>
          <p:cNvPr id="125" name="Text Placeholder 4">
            <a:extLst>
              <a:ext uri="{FF2B5EF4-FFF2-40B4-BE49-F238E27FC236}">
                <a16:creationId xmlns:a16="http://schemas.microsoft.com/office/drawing/2014/main" id="{715DE486-F67D-3D0F-E1FB-C973BBA91A41}"/>
              </a:ext>
            </a:extLst>
          </p:cNvPr>
          <p:cNvSpPr>
            <a:spLocks/>
          </p:cNvSpPr>
          <p:nvPr>
            <p:custDataLst>
              <p:tags r:id="rId9"/>
            </p:custDataLst>
          </p:nvPr>
        </p:nvSpPr>
        <p:spPr bwMode="auto">
          <a:xfrm>
            <a:off x="3954463" y="6027738"/>
            <a:ext cx="7715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B7D7CDD-3FCF-45C5-A7E5-98D102F27F29}" type="datetime'''博''''''''''''''''''通''''AS''''I''''''''C'''''''''''''''">
              <a:rPr lang="zh-CN" altLang="en-US" sz="1400" smtClean="0">
                <a:effectLst/>
                <a:cs typeface="+mn-cs"/>
              </a:rPr>
              <a:pPr lvl="0">
                <a:spcBef>
                  <a:spcPct val="0"/>
                </a:spcBef>
                <a:spcAft>
                  <a:spcPct val="0"/>
                </a:spcAft>
              </a:pPr>
              <a:t>博通ASIC</a:t>
            </a:fld>
            <a:endParaRPr lang="zh-CN" altLang="en-US" sz="1400" dirty="0">
              <a:cs typeface="+mn-cs"/>
            </a:endParaRPr>
          </a:p>
        </p:txBody>
      </p:sp>
      <p:sp>
        <p:nvSpPr>
          <p:cNvPr id="9" name="文本框 8">
            <a:extLst>
              <a:ext uri="{FF2B5EF4-FFF2-40B4-BE49-F238E27FC236}">
                <a16:creationId xmlns:a16="http://schemas.microsoft.com/office/drawing/2014/main" id="{B9B018FD-CABA-9F0D-4320-90336A0C6383}"/>
              </a:ext>
            </a:extLst>
          </p:cNvPr>
          <p:cNvSpPr txBox="1"/>
          <p:nvPr/>
        </p:nvSpPr>
        <p:spPr>
          <a:xfrm>
            <a:off x="8224679" y="2316150"/>
            <a:ext cx="2991908" cy="307975"/>
          </a:xfrm>
          <a:prstGeom prst="rect">
            <a:avLst/>
          </a:prstGeom>
          <a:noFill/>
        </p:spPr>
        <p:txBody>
          <a:bodyPr wrap="square">
            <a:spAutoFit/>
          </a:bodyPr>
          <a:lstStyle>
            <a:defPPr>
              <a:defRPr lang="zh-CN"/>
            </a:defPPr>
            <a:lvl1pPr>
              <a:defRPr sz="1400">
                <a:solidFill>
                  <a:srgbClr val="0052D9"/>
                </a:solidFill>
                <a:latin typeface="PingFang SC"/>
              </a:defRPr>
            </a:lvl1pPr>
          </a:lstStyle>
          <a:p>
            <a:r>
              <a:rPr lang="en-US" altLang="zh-CN" b="1" dirty="0">
                <a:solidFill>
                  <a:schemeClr val="accent6">
                    <a:lumMod val="10000"/>
                  </a:schemeClr>
                </a:solidFill>
              </a:rPr>
              <a:t>2025E </a:t>
            </a:r>
            <a:r>
              <a:rPr lang="zh-CN" altLang="en-US" b="1" dirty="0">
                <a:solidFill>
                  <a:schemeClr val="accent6">
                    <a:lumMod val="10000"/>
                  </a:schemeClr>
                </a:solidFill>
              </a:rPr>
              <a:t>主要</a:t>
            </a:r>
            <a:r>
              <a:rPr lang="en-US" altLang="zh-CN" b="1" dirty="0">
                <a:solidFill>
                  <a:schemeClr val="accent6">
                    <a:lumMod val="10000"/>
                  </a:schemeClr>
                </a:solidFill>
              </a:rPr>
              <a:t>ASIC</a:t>
            </a:r>
            <a:r>
              <a:rPr lang="zh-CN" altLang="en-US" b="1" dirty="0">
                <a:solidFill>
                  <a:schemeClr val="accent6">
                    <a:lumMod val="10000"/>
                  </a:schemeClr>
                </a:solidFill>
              </a:rPr>
              <a:t>厂商出货量</a:t>
            </a:r>
            <a:endParaRPr lang="en-US" altLang="zh-CN" b="1" dirty="0">
              <a:solidFill>
                <a:schemeClr val="accent6">
                  <a:lumMod val="10000"/>
                </a:schemeClr>
              </a:solidFill>
            </a:endParaRPr>
          </a:p>
        </p:txBody>
      </p:sp>
      <p:sp>
        <p:nvSpPr>
          <p:cNvPr id="54" name="文本框 53">
            <a:extLst>
              <a:ext uri="{FF2B5EF4-FFF2-40B4-BE49-F238E27FC236}">
                <a16:creationId xmlns:a16="http://schemas.microsoft.com/office/drawing/2014/main" id="{904E9696-50D4-422E-7328-86E1EFE26E7E}"/>
              </a:ext>
            </a:extLst>
          </p:cNvPr>
          <p:cNvSpPr txBox="1"/>
          <p:nvPr/>
        </p:nvSpPr>
        <p:spPr>
          <a:xfrm>
            <a:off x="4008438" y="4273550"/>
            <a:ext cx="1660525" cy="646113"/>
          </a:xfrm>
          <a:prstGeom prst="rect">
            <a:avLst/>
          </a:prstGeom>
          <a:noFill/>
        </p:spPr>
        <p:txBody>
          <a:bodyPr wrap="square">
            <a:spAutoFit/>
          </a:bodyPr>
          <a:lstStyle/>
          <a:p>
            <a:r>
              <a:rPr lang="en-US" altLang="zh-CN" sz="1200" dirty="0">
                <a:solidFill>
                  <a:schemeClr val="accent6">
                    <a:lumMod val="10000"/>
                  </a:schemeClr>
                </a:solidFill>
                <a:latin typeface="PingFang SC"/>
              </a:rPr>
              <a:t>Amazon</a:t>
            </a:r>
          </a:p>
          <a:p>
            <a:r>
              <a:rPr lang="en-US" altLang="zh-CN" sz="1200" dirty="0">
                <a:solidFill>
                  <a:schemeClr val="accent6">
                    <a:lumMod val="10000"/>
                  </a:schemeClr>
                </a:solidFill>
                <a:latin typeface="PingFang SC"/>
              </a:rPr>
              <a:t>MSFT</a:t>
            </a:r>
          </a:p>
          <a:p>
            <a:r>
              <a:rPr lang="en-US" altLang="zh-CN" sz="1200" dirty="0">
                <a:solidFill>
                  <a:schemeClr val="accent6">
                    <a:lumMod val="10000"/>
                  </a:schemeClr>
                </a:solidFill>
                <a:latin typeface="PingFang SC"/>
              </a:rPr>
              <a:t>Intel</a:t>
            </a:r>
          </a:p>
        </p:txBody>
      </p:sp>
      <p:sp>
        <p:nvSpPr>
          <p:cNvPr id="986" name="矩形 985">
            <a:extLst>
              <a:ext uri="{FF2B5EF4-FFF2-40B4-BE49-F238E27FC236}">
                <a16:creationId xmlns:a16="http://schemas.microsoft.com/office/drawing/2014/main" id="{BAE37BE9-FE2A-7B0D-051E-278867DB87D0}"/>
              </a:ext>
            </a:extLst>
          </p:cNvPr>
          <p:cNvSpPr/>
          <p:nvPr/>
        </p:nvSpPr>
        <p:spPr>
          <a:xfrm>
            <a:off x="649816" y="804665"/>
            <a:ext cx="10894483" cy="1289891"/>
          </a:xfrm>
          <a:prstGeom prst="rect">
            <a:avLst/>
          </a:prstGeom>
          <a:solidFill>
            <a:srgbClr val="EC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kumimoji="1" lang="zh-CN" altLang="en-US" sz="1600" b="1" dirty="0">
                <a:solidFill>
                  <a:schemeClr val="tx1">
                    <a:lumMod val="50000"/>
                  </a:schemeClr>
                </a:solidFill>
                <a:cs typeface="+mn-ea"/>
                <a:sym typeface="+mn-lt"/>
              </a:rPr>
              <a:t>① </a:t>
            </a:r>
            <a:r>
              <a:rPr kumimoji="1" lang="en-US" altLang="zh-CN" sz="1600" b="1" dirty="0">
                <a:solidFill>
                  <a:schemeClr val="tx1">
                    <a:lumMod val="50000"/>
                  </a:schemeClr>
                </a:solidFill>
                <a:cs typeface="+mn-ea"/>
                <a:sym typeface="+mn-lt"/>
              </a:rPr>
              <a:t>ASIC</a:t>
            </a:r>
            <a:r>
              <a:rPr kumimoji="1" lang="zh-CN" altLang="en-US" sz="1600" b="1" dirty="0">
                <a:solidFill>
                  <a:schemeClr val="tx1">
                    <a:lumMod val="50000"/>
                  </a:schemeClr>
                </a:solidFill>
                <a:cs typeface="+mn-ea"/>
                <a:sym typeface="+mn-lt"/>
              </a:rPr>
              <a:t>大势所趋，份额有望迅速赶上</a:t>
            </a:r>
            <a:r>
              <a:rPr kumimoji="1" lang="en-US" altLang="zh-CN" sz="1600" b="1" dirty="0">
                <a:solidFill>
                  <a:schemeClr val="tx1">
                    <a:lumMod val="50000"/>
                  </a:schemeClr>
                </a:solidFill>
                <a:cs typeface="+mn-ea"/>
                <a:sym typeface="+mn-lt"/>
              </a:rPr>
              <a:t>GPU</a:t>
            </a:r>
            <a:r>
              <a:rPr kumimoji="1" lang="zh-CN" altLang="en-US" sz="1600" b="1" dirty="0">
                <a:solidFill>
                  <a:schemeClr val="tx1">
                    <a:lumMod val="50000"/>
                  </a:schemeClr>
                </a:solidFill>
                <a:cs typeface="+mn-ea"/>
                <a:sym typeface="+mn-lt"/>
              </a:rPr>
              <a:t>，博通为核心</a:t>
            </a:r>
            <a:endParaRPr lang="en-US" altLang="zh-CN" sz="1600" dirty="0">
              <a:solidFill>
                <a:schemeClr val="accent6">
                  <a:lumMod val="10000"/>
                </a:schemeClr>
              </a:solidFill>
            </a:endParaRPr>
          </a:p>
          <a:p>
            <a:pPr marL="285750" indent="-285750">
              <a:spcBef>
                <a:spcPts val="140"/>
              </a:spcBef>
              <a:spcAft>
                <a:spcPts val="140"/>
              </a:spcAft>
              <a:buFont typeface="Arial" panose="020B0604020202020204" pitchFamily="34" charset="0"/>
              <a:buChar char="•"/>
            </a:pPr>
            <a:r>
              <a:rPr lang="en-US" altLang="zh-CN" sz="1600" dirty="0">
                <a:solidFill>
                  <a:srgbClr val="000000"/>
                </a:solidFill>
                <a:latin typeface="PingFang SC"/>
              </a:rPr>
              <a:t>HPC</a:t>
            </a:r>
            <a:r>
              <a:rPr lang="zh-CN" altLang="en-US" sz="1600" dirty="0">
                <a:solidFill>
                  <a:srgbClr val="000000"/>
                </a:solidFill>
                <a:latin typeface="PingFang SC"/>
              </a:rPr>
              <a:t>考虑</a:t>
            </a:r>
            <a:r>
              <a:rPr lang="zh-CN" altLang="en-US" sz="1600" b="1" dirty="0">
                <a:solidFill>
                  <a:srgbClr val="0052D9"/>
                </a:solidFill>
                <a:latin typeface="PingFang SC"/>
              </a:rPr>
              <a:t>算力自主</a:t>
            </a:r>
            <a:r>
              <a:rPr lang="en-US" altLang="zh-CN" sz="1600" b="1" dirty="0">
                <a:solidFill>
                  <a:srgbClr val="0052D9"/>
                </a:solidFill>
                <a:latin typeface="PingFang SC"/>
              </a:rPr>
              <a:t>+</a:t>
            </a:r>
            <a:r>
              <a:rPr lang="zh-CN" altLang="en-US" sz="1600" b="1" dirty="0">
                <a:solidFill>
                  <a:srgbClr val="0052D9"/>
                </a:solidFill>
                <a:latin typeface="PingFang SC"/>
              </a:rPr>
              <a:t>成本优化</a:t>
            </a:r>
            <a:r>
              <a:rPr lang="zh-CN" altLang="en-US" sz="1600" dirty="0">
                <a:solidFill>
                  <a:srgbClr val="000000"/>
                </a:solidFill>
                <a:latin typeface="PingFang SC"/>
              </a:rPr>
              <a:t>，</a:t>
            </a:r>
            <a:r>
              <a:rPr lang="zh-CN" altLang="en-US" sz="1600" dirty="0">
                <a:solidFill>
                  <a:schemeClr val="accent6">
                    <a:lumMod val="10000"/>
                  </a:schemeClr>
                </a:solidFill>
                <a:latin typeface="PingFang SC"/>
              </a:rPr>
              <a:t>越来越多厂商联合博通自研</a:t>
            </a:r>
            <a:r>
              <a:rPr lang="en-US" altLang="zh-CN" sz="1600" dirty="0">
                <a:solidFill>
                  <a:schemeClr val="accent6">
                    <a:lumMod val="10000"/>
                  </a:schemeClr>
                </a:solidFill>
                <a:latin typeface="PingFang SC"/>
              </a:rPr>
              <a:t>ASIC</a:t>
            </a:r>
            <a:r>
              <a:rPr lang="zh-CN" altLang="en-US" sz="1600" dirty="0">
                <a:solidFill>
                  <a:srgbClr val="000000"/>
                </a:solidFill>
                <a:latin typeface="PingFang SC"/>
              </a:rPr>
              <a:t>与英伟达解绑</a:t>
            </a:r>
            <a:endParaRPr lang="en-US" altLang="zh-CN" sz="1600" dirty="0">
              <a:solidFill>
                <a:srgbClr val="000000"/>
              </a:solidFill>
              <a:latin typeface="PingFang SC"/>
            </a:endParaRPr>
          </a:p>
          <a:p>
            <a:pPr marL="285750" indent="-285750">
              <a:spcBef>
                <a:spcPts val="140"/>
              </a:spcBef>
              <a:spcAft>
                <a:spcPts val="140"/>
              </a:spcAft>
              <a:buFont typeface="Arial" panose="020B0604020202020204" pitchFamily="34" charset="0"/>
              <a:buChar char="•"/>
            </a:pPr>
            <a:r>
              <a:rPr lang="zh-CN" altLang="en-US" sz="1600" dirty="0">
                <a:solidFill>
                  <a:schemeClr val="accent6">
                    <a:lumMod val="10000"/>
                  </a:schemeClr>
                </a:solidFill>
                <a:latin typeface="PingFang SC"/>
              </a:rPr>
              <a:t>谷歌、</a:t>
            </a:r>
            <a:r>
              <a:rPr lang="en-US" altLang="zh-CN" sz="1600" dirty="0">
                <a:solidFill>
                  <a:schemeClr val="accent6">
                    <a:lumMod val="10000"/>
                  </a:schemeClr>
                </a:solidFill>
                <a:latin typeface="PingFang SC"/>
              </a:rPr>
              <a:t>Amazon 25-26</a:t>
            </a:r>
            <a:r>
              <a:rPr lang="zh-CN" altLang="en-US" sz="1600" dirty="0">
                <a:solidFill>
                  <a:schemeClr val="accent6">
                    <a:lumMod val="10000"/>
                  </a:schemeClr>
                </a:solidFill>
                <a:latin typeface="PingFang SC"/>
              </a:rPr>
              <a:t>年稳定量产；</a:t>
            </a:r>
            <a:r>
              <a:rPr lang="en-US" altLang="zh-CN" sz="1600" dirty="0">
                <a:solidFill>
                  <a:schemeClr val="accent6">
                    <a:lumMod val="10000"/>
                  </a:schemeClr>
                </a:solidFill>
                <a:latin typeface="PingFang SC"/>
              </a:rPr>
              <a:t>26</a:t>
            </a:r>
            <a:r>
              <a:rPr lang="zh-CN" altLang="en-US" sz="1600" dirty="0">
                <a:solidFill>
                  <a:schemeClr val="accent6">
                    <a:lumMod val="10000"/>
                  </a:schemeClr>
                </a:solidFill>
                <a:latin typeface="PingFang SC"/>
              </a:rPr>
              <a:t>年</a:t>
            </a:r>
            <a:r>
              <a:rPr lang="en-US" altLang="zh-CN" sz="1600" dirty="0">
                <a:solidFill>
                  <a:schemeClr val="accent6">
                    <a:lumMod val="10000"/>
                  </a:schemeClr>
                </a:solidFill>
                <a:latin typeface="PingFang SC"/>
              </a:rPr>
              <a:t>OpenAI</a:t>
            </a:r>
            <a:r>
              <a:rPr lang="zh-CN" altLang="en-US" sz="1600" dirty="0">
                <a:solidFill>
                  <a:schemeClr val="accent6">
                    <a:lumMod val="10000"/>
                  </a:schemeClr>
                </a:solidFill>
                <a:latin typeface="PingFang SC"/>
              </a:rPr>
              <a:t>、</a:t>
            </a:r>
            <a:r>
              <a:rPr lang="en-US" altLang="zh-CN" sz="1600" dirty="0" err="1">
                <a:solidFill>
                  <a:schemeClr val="accent6">
                    <a:lumMod val="10000"/>
                  </a:schemeClr>
                </a:solidFill>
                <a:latin typeface="PingFang SC"/>
              </a:rPr>
              <a:t>xAI</a:t>
            </a:r>
            <a:r>
              <a:rPr lang="zh-CN" altLang="en-US" sz="1600" dirty="0">
                <a:solidFill>
                  <a:schemeClr val="accent6">
                    <a:lumMod val="10000"/>
                  </a:schemeClr>
                </a:solidFill>
                <a:latin typeface="PingFang SC"/>
              </a:rPr>
              <a:t>新量产订单将“</a:t>
            </a:r>
            <a:r>
              <a:rPr lang="en-US" altLang="zh-CN" sz="1600" dirty="0">
                <a:solidFill>
                  <a:schemeClr val="accent6">
                    <a:lumMod val="10000"/>
                  </a:schemeClr>
                </a:solidFill>
                <a:latin typeface="PingFang SC"/>
              </a:rPr>
              <a:t>AISC</a:t>
            </a:r>
            <a:r>
              <a:rPr lang="zh-CN" altLang="en-US" sz="1600" dirty="0">
                <a:solidFill>
                  <a:schemeClr val="accent6">
                    <a:lumMod val="10000"/>
                  </a:schemeClr>
                </a:solidFill>
                <a:latin typeface="PingFang SC"/>
              </a:rPr>
              <a:t>出货量超越</a:t>
            </a:r>
            <a:r>
              <a:rPr lang="en-US" altLang="zh-CN" sz="1600" dirty="0">
                <a:solidFill>
                  <a:schemeClr val="accent6">
                    <a:lumMod val="10000"/>
                  </a:schemeClr>
                </a:solidFill>
                <a:latin typeface="PingFang SC"/>
              </a:rPr>
              <a:t>GPU</a:t>
            </a:r>
            <a:r>
              <a:rPr lang="zh-CN" altLang="en-US" sz="1600" dirty="0">
                <a:solidFill>
                  <a:schemeClr val="accent6">
                    <a:lumMod val="10000"/>
                  </a:schemeClr>
                </a:solidFill>
                <a:latin typeface="PingFang SC"/>
              </a:rPr>
              <a:t>”时点从</a:t>
            </a:r>
            <a:r>
              <a:rPr lang="en-US" altLang="zh-CN" sz="1600" dirty="0">
                <a:solidFill>
                  <a:schemeClr val="accent6">
                    <a:lumMod val="10000"/>
                  </a:schemeClr>
                </a:solidFill>
                <a:latin typeface="PingFang SC"/>
              </a:rPr>
              <a:t>27-28</a:t>
            </a:r>
            <a:r>
              <a:rPr lang="zh-CN" altLang="en-US" sz="1600" dirty="0">
                <a:solidFill>
                  <a:schemeClr val="accent6">
                    <a:lumMod val="10000"/>
                  </a:schemeClr>
                </a:solidFill>
                <a:latin typeface="PingFang SC"/>
              </a:rPr>
              <a:t>年提前至</a:t>
            </a:r>
            <a:r>
              <a:rPr lang="en-US" altLang="zh-CN" sz="1600" b="1" dirty="0">
                <a:solidFill>
                  <a:srgbClr val="0052D9"/>
                </a:solidFill>
                <a:latin typeface="PingFang SC"/>
              </a:rPr>
              <a:t>26</a:t>
            </a:r>
            <a:r>
              <a:rPr lang="zh-CN" altLang="en-US" sz="1600" b="1" dirty="0">
                <a:solidFill>
                  <a:srgbClr val="0052D9"/>
                </a:solidFill>
                <a:latin typeface="PingFang SC"/>
              </a:rPr>
              <a:t>年</a:t>
            </a:r>
            <a:endParaRPr lang="en-US" altLang="zh-CN" sz="1600" b="1" dirty="0">
              <a:solidFill>
                <a:srgbClr val="0052D9"/>
              </a:solidFill>
              <a:latin typeface="PingFang SC"/>
            </a:endParaRPr>
          </a:p>
          <a:p>
            <a:pPr marL="285750" indent="-285750">
              <a:spcBef>
                <a:spcPts val="140"/>
              </a:spcBef>
              <a:spcAft>
                <a:spcPts val="140"/>
              </a:spcAft>
              <a:buFont typeface="Arial" panose="020B0604020202020204" pitchFamily="34" charset="0"/>
              <a:buChar char="•"/>
            </a:pPr>
            <a:r>
              <a:rPr lang="zh-CN" altLang="en-US" sz="1600" dirty="0">
                <a:solidFill>
                  <a:schemeClr val="accent6">
                    <a:lumMod val="10000"/>
                  </a:schemeClr>
                </a:solidFill>
                <a:latin typeface="PingFang SC"/>
              </a:rPr>
              <a:t>博通主要合作方</a:t>
            </a:r>
            <a:r>
              <a:rPr lang="en-US" altLang="zh-CN" sz="1600" dirty="0">
                <a:solidFill>
                  <a:schemeClr val="accent6">
                    <a:lumMod val="10000"/>
                  </a:schemeClr>
                </a:solidFill>
                <a:latin typeface="PingFang SC"/>
              </a:rPr>
              <a:t>Google</a:t>
            </a:r>
            <a:r>
              <a:rPr lang="zh-CN" altLang="en-US" sz="1600" dirty="0">
                <a:solidFill>
                  <a:schemeClr val="accent6">
                    <a:lumMod val="10000"/>
                  </a:schemeClr>
                </a:solidFill>
                <a:latin typeface="PingFang SC"/>
              </a:rPr>
              <a:t>、</a:t>
            </a:r>
            <a:r>
              <a:rPr lang="en-US" altLang="zh-CN" sz="1600" dirty="0">
                <a:solidFill>
                  <a:schemeClr val="accent6">
                    <a:lumMod val="10000"/>
                  </a:schemeClr>
                </a:solidFill>
                <a:latin typeface="PingFang SC"/>
              </a:rPr>
              <a:t>Meta</a:t>
            </a:r>
            <a:r>
              <a:rPr lang="zh-CN" altLang="en-US" sz="1600" dirty="0">
                <a:solidFill>
                  <a:schemeClr val="accent6">
                    <a:lumMod val="10000"/>
                  </a:schemeClr>
                </a:solidFill>
                <a:latin typeface="PingFang SC"/>
              </a:rPr>
              <a:t>预计占</a:t>
            </a:r>
            <a:r>
              <a:rPr lang="en-US" altLang="zh-CN" sz="1600" dirty="0">
                <a:solidFill>
                  <a:schemeClr val="accent6">
                    <a:lumMod val="10000"/>
                  </a:schemeClr>
                </a:solidFill>
                <a:latin typeface="PingFang SC"/>
              </a:rPr>
              <a:t>25</a:t>
            </a:r>
            <a:r>
              <a:rPr lang="zh-CN" altLang="en-US" sz="1600" dirty="0">
                <a:solidFill>
                  <a:schemeClr val="accent6">
                    <a:lumMod val="10000"/>
                  </a:schemeClr>
                </a:solidFill>
                <a:latin typeface="PingFang SC"/>
              </a:rPr>
              <a:t>年</a:t>
            </a:r>
            <a:r>
              <a:rPr lang="en-US" altLang="zh-CN" sz="1600" dirty="0">
                <a:solidFill>
                  <a:schemeClr val="accent6">
                    <a:lumMod val="10000"/>
                  </a:schemeClr>
                </a:solidFill>
                <a:latin typeface="PingFang SC"/>
              </a:rPr>
              <a:t>ASIC</a:t>
            </a:r>
            <a:r>
              <a:rPr lang="zh-CN" altLang="en-US" sz="1600" dirty="0">
                <a:solidFill>
                  <a:schemeClr val="accent6">
                    <a:lumMod val="10000"/>
                  </a:schemeClr>
                </a:solidFill>
                <a:latin typeface="PingFang SC"/>
              </a:rPr>
              <a:t>出货量</a:t>
            </a:r>
            <a:r>
              <a:rPr lang="en-US" altLang="zh-CN" sz="1600" b="1" dirty="0">
                <a:solidFill>
                  <a:srgbClr val="0052D9"/>
                </a:solidFill>
                <a:latin typeface="PingFang SC"/>
              </a:rPr>
              <a:t>~60%</a:t>
            </a:r>
            <a:r>
              <a:rPr lang="zh-CN" altLang="en-US" sz="1600" dirty="0">
                <a:solidFill>
                  <a:schemeClr val="accent6">
                    <a:lumMod val="10000"/>
                  </a:schemeClr>
                </a:solidFill>
                <a:latin typeface="PingFang SC"/>
              </a:rPr>
              <a:t>，博通强生态卡位</a:t>
            </a:r>
          </a:p>
        </p:txBody>
      </p:sp>
      <p:graphicFrame>
        <p:nvGraphicFramePr>
          <p:cNvPr id="1037" name="Chart 3">
            <a:extLst>
              <a:ext uri="{FF2B5EF4-FFF2-40B4-BE49-F238E27FC236}">
                <a16:creationId xmlns:a16="http://schemas.microsoft.com/office/drawing/2014/main" id="{1EB0A3BD-C493-117D-7087-AD8A70B0E6D1}"/>
              </a:ext>
            </a:extLst>
          </p:cNvPr>
          <p:cNvGraphicFramePr/>
          <p:nvPr>
            <p:custDataLst>
              <p:tags r:id="rId10"/>
            </p:custDataLst>
            <p:extLst>
              <p:ext uri="{D42A27DB-BD31-4B8C-83A1-F6EECF244321}">
                <p14:modId xmlns:p14="http://schemas.microsoft.com/office/powerpoint/2010/main" val="2871480184"/>
              </p:ext>
            </p:extLst>
          </p:nvPr>
        </p:nvGraphicFramePr>
        <p:xfrm>
          <a:off x="8145463" y="3005138"/>
          <a:ext cx="2681287" cy="2949575"/>
        </p:xfrm>
        <a:graphic>
          <a:graphicData uri="http://schemas.openxmlformats.org/drawingml/2006/chart">
            <c:chart xmlns:c="http://schemas.openxmlformats.org/drawingml/2006/chart" xmlns:r="http://schemas.openxmlformats.org/officeDocument/2006/relationships" r:id="rId19"/>
          </a:graphicData>
        </a:graphic>
      </p:graphicFrame>
      <p:sp>
        <p:nvSpPr>
          <p:cNvPr id="993" name="Text Placeholder 4">
            <a:extLst>
              <a:ext uri="{FF2B5EF4-FFF2-40B4-BE49-F238E27FC236}">
                <a16:creationId xmlns:a16="http://schemas.microsoft.com/office/drawing/2014/main" id="{72510644-12DD-8B05-2EAA-33747E79196C}"/>
              </a:ext>
            </a:extLst>
          </p:cNvPr>
          <p:cNvSpPr>
            <a:spLocks/>
          </p:cNvSpPr>
          <p:nvPr>
            <p:custDataLst>
              <p:tags r:id="rId11"/>
            </p:custDataLst>
          </p:nvPr>
        </p:nvSpPr>
        <p:spPr bwMode="auto">
          <a:xfrm>
            <a:off x="10577513" y="3968750"/>
            <a:ext cx="6508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C64BDAC4-288A-4BD7-9E68-6148510A5DDB}" type="datetime'''A''''''''''''''''''ma''''''''z''o''''''''''''''''''''''n'''">
              <a:rPr lang="en-US" altLang="en-US" sz="1400" smtClean="0">
                <a:cs typeface="+mn-cs"/>
              </a:rPr>
              <a:pPr/>
              <a:t>Amazon</a:t>
            </a:fld>
            <a:endParaRPr lang="zh-CN" altLang="en-US" sz="1400" dirty="0">
              <a:cs typeface="+mn-cs"/>
            </a:endParaRPr>
          </a:p>
        </p:txBody>
      </p:sp>
      <p:sp>
        <p:nvSpPr>
          <p:cNvPr id="994" name="Text Placeholder 4">
            <a:extLst>
              <a:ext uri="{FF2B5EF4-FFF2-40B4-BE49-F238E27FC236}">
                <a16:creationId xmlns:a16="http://schemas.microsoft.com/office/drawing/2014/main" id="{C9F2E315-66A9-0EC9-1AFD-6C45ACD181FE}"/>
              </a:ext>
            </a:extLst>
          </p:cNvPr>
          <p:cNvSpPr>
            <a:spLocks/>
          </p:cNvSpPr>
          <p:nvPr>
            <p:custDataLst>
              <p:tags r:id="rId12"/>
            </p:custDataLst>
          </p:nvPr>
        </p:nvSpPr>
        <p:spPr bwMode="auto">
          <a:xfrm>
            <a:off x="7950200" y="5060950"/>
            <a:ext cx="5715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F01C0738-3EE2-4505-B79A-4516277350D1}" type="datetime'G''''''oog''''''''''''''''''''''l''''''''''''''''''''''e'">
              <a:rPr lang="en-US" altLang="en-US" sz="1400" smtClean="0">
                <a:cs typeface="+mn-cs"/>
              </a:rPr>
              <a:pPr/>
              <a:t>Google</a:t>
            </a:fld>
            <a:endParaRPr lang="zh-CN" altLang="en-US" sz="1400" dirty="0">
              <a:cs typeface="+mn-cs"/>
            </a:endParaRPr>
          </a:p>
        </p:txBody>
      </p:sp>
      <p:sp>
        <p:nvSpPr>
          <p:cNvPr id="995" name="Text Placeholder 4">
            <a:extLst>
              <a:ext uri="{FF2B5EF4-FFF2-40B4-BE49-F238E27FC236}">
                <a16:creationId xmlns:a16="http://schemas.microsoft.com/office/drawing/2014/main" id="{E9F40228-5429-4545-FCDD-4FFE85605CF2}"/>
              </a:ext>
            </a:extLst>
          </p:cNvPr>
          <p:cNvSpPr>
            <a:spLocks/>
          </p:cNvSpPr>
          <p:nvPr>
            <p:custDataLst>
              <p:tags r:id="rId13"/>
            </p:custDataLst>
          </p:nvPr>
        </p:nvSpPr>
        <p:spPr bwMode="auto">
          <a:xfrm>
            <a:off x="8894763" y="3173413"/>
            <a:ext cx="3937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3685E308-D38A-491F-9826-5B717361118F}" type="datetime'M''''''''''''''''''''''''''''''e''''''''''''''ta'">
              <a:rPr lang="en-US" altLang="en-US" sz="1400" smtClean="0">
                <a:cs typeface="+mn-cs"/>
              </a:rPr>
              <a:pPr/>
              <a:t>Meta</a:t>
            </a:fld>
            <a:endParaRPr lang="zh-CN" altLang="en-US" sz="1400" dirty="0">
              <a:cs typeface="+mn-cs"/>
            </a:endParaRPr>
          </a:p>
        </p:txBody>
      </p:sp>
      <p:sp>
        <p:nvSpPr>
          <p:cNvPr id="1018" name="文本框 1017">
            <a:extLst>
              <a:ext uri="{FF2B5EF4-FFF2-40B4-BE49-F238E27FC236}">
                <a16:creationId xmlns:a16="http://schemas.microsoft.com/office/drawing/2014/main" id="{8073F76C-E6A4-0018-4D76-8F318BFCE52A}"/>
              </a:ext>
            </a:extLst>
          </p:cNvPr>
          <p:cNvSpPr txBox="1"/>
          <p:nvPr/>
        </p:nvSpPr>
        <p:spPr>
          <a:xfrm>
            <a:off x="8791151" y="2943226"/>
            <a:ext cx="2991908" cy="307975"/>
          </a:xfrm>
          <a:prstGeom prst="rect">
            <a:avLst/>
          </a:prstGeom>
          <a:noFill/>
        </p:spPr>
        <p:txBody>
          <a:bodyPr wrap="square">
            <a:spAutoFit/>
          </a:bodyPr>
          <a:lstStyle>
            <a:defPPr>
              <a:defRPr lang="zh-CN"/>
            </a:defPPr>
            <a:lvl1pPr>
              <a:defRPr sz="1400">
                <a:solidFill>
                  <a:srgbClr val="0052D9"/>
                </a:solidFill>
                <a:latin typeface="PingFang SC"/>
              </a:defRPr>
            </a:lvl1pPr>
          </a:lstStyle>
          <a:p>
            <a:r>
              <a:rPr lang="en-US" altLang="zh-CN" dirty="0">
                <a:solidFill>
                  <a:schemeClr val="tx1"/>
                </a:solidFill>
              </a:rPr>
              <a:t>10-30</a:t>
            </a:r>
            <a:r>
              <a:rPr lang="zh-CN" altLang="en-US" dirty="0">
                <a:solidFill>
                  <a:schemeClr val="tx1"/>
                </a:solidFill>
              </a:rPr>
              <a:t>万张</a:t>
            </a:r>
            <a:endParaRPr lang="en-US" altLang="zh-CN" dirty="0">
              <a:solidFill>
                <a:schemeClr val="tx1"/>
              </a:solidFill>
            </a:endParaRPr>
          </a:p>
        </p:txBody>
      </p:sp>
      <p:sp>
        <p:nvSpPr>
          <p:cNvPr id="1022" name="文本框 1021">
            <a:extLst>
              <a:ext uri="{FF2B5EF4-FFF2-40B4-BE49-F238E27FC236}">
                <a16:creationId xmlns:a16="http://schemas.microsoft.com/office/drawing/2014/main" id="{BAF251EB-D043-0852-4E82-8EAEBBF6E444}"/>
              </a:ext>
            </a:extLst>
          </p:cNvPr>
          <p:cNvSpPr txBox="1"/>
          <p:nvPr/>
        </p:nvSpPr>
        <p:spPr>
          <a:xfrm>
            <a:off x="10474431" y="3747156"/>
            <a:ext cx="2991908" cy="307975"/>
          </a:xfrm>
          <a:prstGeom prst="rect">
            <a:avLst/>
          </a:prstGeom>
          <a:noFill/>
        </p:spPr>
        <p:txBody>
          <a:bodyPr wrap="square">
            <a:spAutoFit/>
          </a:bodyPr>
          <a:lstStyle>
            <a:defPPr>
              <a:defRPr lang="zh-CN"/>
            </a:defPPr>
            <a:lvl1pPr>
              <a:defRPr sz="1400">
                <a:solidFill>
                  <a:srgbClr val="0052D9"/>
                </a:solidFill>
                <a:latin typeface="PingFang SC"/>
              </a:defRPr>
            </a:lvl1pPr>
          </a:lstStyle>
          <a:p>
            <a:r>
              <a:rPr lang="en-US" altLang="zh-CN" dirty="0">
                <a:solidFill>
                  <a:schemeClr val="tx1"/>
                </a:solidFill>
              </a:rPr>
              <a:t>140-150</a:t>
            </a:r>
            <a:r>
              <a:rPr lang="zh-CN" altLang="en-US" dirty="0">
                <a:solidFill>
                  <a:schemeClr val="tx1"/>
                </a:solidFill>
              </a:rPr>
              <a:t>万张</a:t>
            </a:r>
            <a:endParaRPr lang="en-US" altLang="zh-CN" dirty="0">
              <a:solidFill>
                <a:schemeClr val="tx1"/>
              </a:solidFill>
            </a:endParaRPr>
          </a:p>
        </p:txBody>
      </p:sp>
      <p:sp>
        <p:nvSpPr>
          <p:cNvPr id="1023" name="文本框 1022">
            <a:extLst>
              <a:ext uri="{FF2B5EF4-FFF2-40B4-BE49-F238E27FC236}">
                <a16:creationId xmlns:a16="http://schemas.microsoft.com/office/drawing/2014/main" id="{E11EB400-8654-69BA-2A6A-22A13588DD25}"/>
              </a:ext>
            </a:extLst>
          </p:cNvPr>
          <p:cNvSpPr txBox="1"/>
          <p:nvPr/>
        </p:nvSpPr>
        <p:spPr>
          <a:xfrm>
            <a:off x="7531100" y="5216960"/>
            <a:ext cx="2991908" cy="307975"/>
          </a:xfrm>
          <a:prstGeom prst="rect">
            <a:avLst/>
          </a:prstGeom>
          <a:noFill/>
        </p:spPr>
        <p:txBody>
          <a:bodyPr wrap="square">
            <a:spAutoFit/>
          </a:bodyPr>
          <a:lstStyle>
            <a:defPPr>
              <a:defRPr lang="zh-CN"/>
            </a:defPPr>
            <a:lvl1pPr>
              <a:defRPr sz="1400">
                <a:solidFill>
                  <a:srgbClr val="0052D9"/>
                </a:solidFill>
                <a:latin typeface="PingFang SC"/>
              </a:defRPr>
            </a:lvl1pPr>
          </a:lstStyle>
          <a:p>
            <a:r>
              <a:rPr lang="en-US" altLang="zh-CN" dirty="0">
                <a:solidFill>
                  <a:schemeClr val="tx1"/>
                </a:solidFill>
              </a:rPr>
              <a:t>150-200</a:t>
            </a:r>
            <a:r>
              <a:rPr lang="zh-CN" altLang="en-US" dirty="0">
                <a:solidFill>
                  <a:schemeClr val="tx1"/>
                </a:solidFill>
              </a:rPr>
              <a:t>万张</a:t>
            </a:r>
            <a:endParaRPr lang="en-US" altLang="zh-CN" dirty="0">
              <a:solidFill>
                <a:schemeClr val="tx1"/>
              </a:solidFill>
            </a:endParaRPr>
          </a:p>
        </p:txBody>
      </p:sp>
    </p:spTree>
    <p:extLst>
      <p:ext uri="{BB962C8B-B14F-4D97-AF65-F5344CB8AC3E}">
        <p14:creationId xmlns:p14="http://schemas.microsoft.com/office/powerpoint/2010/main" val="1667616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4D8D8-7C1A-0348-DAD6-EBCFA7A04F9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31D8489-94F6-87DD-8224-C8747CE674F1}"/>
              </a:ext>
            </a:extLst>
          </p:cNvPr>
          <p:cNvGraphicFramePr>
            <a:graphicFrameLocks noChangeAspect="1"/>
          </p:cNvGraphicFramePr>
          <p:nvPr>
            <p:custDataLst>
              <p:tags r:id="rId1"/>
            </p:custDataLst>
            <p:extLst>
              <p:ext uri="{D42A27DB-BD31-4B8C-83A1-F6EECF244321}">
                <p14:modId xmlns:p14="http://schemas.microsoft.com/office/powerpoint/2010/main" val="35490517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9" imgW="401" imgH="401" progId="TCLayout.ActiveDocument.1">
                  <p:embed/>
                </p:oleObj>
              </mc:Choice>
              <mc:Fallback>
                <p:oleObj name="think-cell 幻灯片" r:id="rId49" imgW="401" imgH="401" progId="TCLayout.ActiveDocument.1">
                  <p:embed/>
                  <p:pic>
                    <p:nvPicPr>
                      <p:cNvPr id="6" name="think-cell data - do not delete" hidden="1">
                        <a:extLst>
                          <a:ext uri="{FF2B5EF4-FFF2-40B4-BE49-F238E27FC236}">
                            <a16:creationId xmlns:a16="http://schemas.microsoft.com/office/drawing/2014/main" id="{C53E37C2-7C71-A419-BAAE-6D2D2B4FA584}"/>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2" name="标题 1">
            <a:extLst>
              <a:ext uri="{FF2B5EF4-FFF2-40B4-BE49-F238E27FC236}">
                <a16:creationId xmlns:a16="http://schemas.microsoft.com/office/drawing/2014/main" id="{D1F44BCD-E96A-EC37-D488-0C77B9DB400B}"/>
              </a:ext>
            </a:extLst>
          </p:cNvPr>
          <p:cNvSpPr>
            <a:spLocks noGrp="1"/>
          </p:cNvSpPr>
          <p:nvPr>
            <p:ph type="title"/>
          </p:nvPr>
        </p:nvSpPr>
        <p:spPr>
          <a:xfrm>
            <a:off x="158749" y="172212"/>
            <a:ext cx="10751185" cy="731520"/>
          </a:xfrm>
        </p:spPr>
        <p:txBody>
          <a:bodyPr vert="horz"/>
          <a:lstStyle/>
          <a:p>
            <a:r>
              <a:rPr lang="zh-CN" altLang="en-US" dirty="0">
                <a:cs typeface="+mn-ea"/>
                <a:sym typeface="+mn-lt"/>
              </a:rPr>
              <a:t>博通为何押注</a:t>
            </a:r>
            <a:r>
              <a:rPr lang="en-US" altLang="zh-CN" dirty="0">
                <a:cs typeface="+mn-ea"/>
                <a:sym typeface="+mn-lt"/>
              </a:rPr>
              <a:t>CPO</a:t>
            </a:r>
            <a:r>
              <a:rPr lang="zh-CN" altLang="en-US" dirty="0">
                <a:cs typeface="+mn-ea"/>
                <a:sym typeface="+mn-lt"/>
              </a:rPr>
              <a:t>？顺应</a:t>
            </a:r>
            <a:r>
              <a:rPr lang="en-US" altLang="zh-CN" dirty="0">
                <a:cs typeface="+mn-ea"/>
                <a:sym typeface="+mn-lt"/>
              </a:rPr>
              <a:t>HPC</a:t>
            </a:r>
            <a:r>
              <a:rPr lang="zh-CN" altLang="en-US" dirty="0">
                <a:cs typeface="+mn-ea"/>
                <a:sym typeface="+mn-lt"/>
              </a:rPr>
              <a:t>自研</a:t>
            </a:r>
            <a:r>
              <a:rPr lang="en-US" altLang="zh-CN" dirty="0">
                <a:cs typeface="+mn-ea"/>
                <a:sym typeface="+mn-lt"/>
              </a:rPr>
              <a:t>ASIC</a:t>
            </a:r>
            <a:r>
              <a:rPr lang="zh-CN" altLang="en-US" dirty="0">
                <a:cs typeface="+mn-ea"/>
                <a:sym typeface="+mn-lt"/>
              </a:rPr>
              <a:t>趋势、网络配套形成生态卡位</a:t>
            </a:r>
            <a:endParaRPr lang="zh-CN" altLang="en-US" dirty="0">
              <a:latin typeface="+mn-lt"/>
              <a:ea typeface="+mn-ea"/>
              <a:cs typeface="+mn-ea"/>
              <a:sym typeface="+mn-lt"/>
            </a:endParaRPr>
          </a:p>
        </p:txBody>
      </p:sp>
      <p:sp>
        <p:nvSpPr>
          <p:cNvPr id="7" name="文本框 6">
            <a:extLst>
              <a:ext uri="{FF2B5EF4-FFF2-40B4-BE49-F238E27FC236}">
                <a16:creationId xmlns:a16="http://schemas.microsoft.com/office/drawing/2014/main" id="{4CA5B5CC-A4A3-CBEA-E2B8-2D34DA9346AD}"/>
              </a:ext>
            </a:extLst>
          </p:cNvPr>
          <p:cNvSpPr txBox="1"/>
          <p:nvPr/>
        </p:nvSpPr>
        <p:spPr>
          <a:xfrm>
            <a:off x="292212" y="6397417"/>
            <a:ext cx="7859218"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200" i="1" dirty="0">
                <a:solidFill>
                  <a:schemeClr val="tx1">
                    <a:lumMod val="50000"/>
                  </a:schemeClr>
                </a:solidFill>
                <a:cs typeface="+mn-ea"/>
                <a:sym typeface="+mn-lt"/>
              </a:rPr>
              <a:t>Source: Fubon Research</a:t>
            </a:r>
            <a:r>
              <a:rPr kumimoji="1" lang="zh-CN" altLang="en-US" sz="1200" i="1" dirty="0">
                <a:solidFill>
                  <a:schemeClr val="tx1">
                    <a:lumMod val="50000"/>
                  </a:schemeClr>
                </a:solidFill>
                <a:cs typeface="+mn-ea"/>
                <a:sym typeface="+mn-lt"/>
              </a:rPr>
              <a:t>、半导体综研、</a:t>
            </a:r>
            <a:r>
              <a:rPr kumimoji="1" lang="en-US" altLang="zh-CN" sz="1200" i="1" dirty="0" err="1">
                <a:solidFill>
                  <a:schemeClr val="tx1">
                    <a:lumMod val="50000"/>
                  </a:schemeClr>
                </a:solidFill>
                <a:cs typeface="+mn-ea"/>
                <a:sym typeface="+mn-lt"/>
              </a:rPr>
              <a:t>Lightcounting</a:t>
            </a:r>
            <a:endParaRPr kumimoji="1" lang="en-US" altLang="zh-CN" sz="1200" i="1" dirty="0">
              <a:solidFill>
                <a:schemeClr val="tx1">
                  <a:lumMod val="50000"/>
                </a:schemeClr>
              </a:solidFill>
              <a:cs typeface="+mn-ea"/>
              <a:sym typeface="+mn-lt"/>
            </a:endParaRPr>
          </a:p>
        </p:txBody>
      </p:sp>
      <p:cxnSp>
        <p:nvCxnSpPr>
          <p:cNvPr id="814" name="直接连接符 813">
            <a:extLst>
              <a:ext uri="{FF2B5EF4-FFF2-40B4-BE49-F238E27FC236}">
                <a16:creationId xmlns:a16="http://schemas.microsoft.com/office/drawing/2014/main" id="{6BA333D5-F8C5-5BA4-EE96-FE67AB471FD2}"/>
              </a:ext>
            </a:extLst>
          </p:cNvPr>
          <p:cNvCxnSpPr/>
          <p:nvPr>
            <p:custDataLst>
              <p:tags r:id="rId2"/>
            </p:custDataLst>
          </p:nvPr>
        </p:nvCxnSpPr>
        <p:spPr bwMode="auto">
          <a:xfrm>
            <a:off x="1800225" y="5511800"/>
            <a:ext cx="0" cy="5873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07" name="直接连接符 906">
            <a:extLst>
              <a:ext uri="{FF2B5EF4-FFF2-40B4-BE49-F238E27FC236}">
                <a16:creationId xmlns:a16="http://schemas.microsoft.com/office/drawing/2014/main" id="{8791C4A9-CA1B-6B05-53E0-9033156CFA8C}"/>
              </a:ext>
            </a:extLst>
          </p:cNvPr>
          <p:cNvCxnSpPr/>
          <p:nvPr>
            <p:custDataLst>
              <p:tags r:id="rId3"/>
            </p:custDataLst>
          </p:nvPr>
        </p:nvCxnSpPr>
        <p:spPr bwMode="auto">
          <a:xfrm>
            <a:off x="11093450" y="5511800"/>
            <a:ext cx="0" cy="5873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18" name="直接连接符 817">
            <a:extLst>
              <a:ext uri="{FF2B5EF4-FFF2-40B4-BE49-F238E27FC236}">
                <a16:creationId xmlns:a16="http://schemas.microsoft.com/office/drawing/2014/main" id="{587F34D2-B35A-0BDC-1812-7DB808755EC0}"/>
              </a:ext>
            </a:extLst>
          </p:cNvPr>
          <p:cNvCxnSpPr/>
          <p:nvPr>
            <p:custDataLst>
              <p:tags r:id="rId4"/>
            </p:custDataLst>
          </p:nvPr>
        </p:nvCxnSpPr>
        <p:spPr bwMode="auto">
          <a:xfrm>
            <a:off x="4121150" y="5511800"/>
            <a:ext cx="0" cy="5873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26" name="直接连接符 825">
            <a:extLst>
              <a:ext uri="{FF2B5EF4-FFF2-40B4-BE49-F238E27FC236}">
                <a16:creationId xmlns:a16="http://schemas.microsoft.com/office/drawing/2014/main" id="{629AA187-0606-0262-954C-18398BDA5298}"/>
              </a:ext>
            </a:extLst>
          </p:cNvPr>
          <p:cNvCxnSpPr/>
          <p:nvPr>
            <p:custDataLst>
              <p:tags r:id="rId5"/>
            </p:custDataLst>
          </p:nvPr>
        </p:nvCxnSpPr>
        <p:spPr bwMode="auto">
          <a:xfrm>
            <a:off x="8772525" y="5511800"/>
            <a:ext cx="0" cy="5873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22" name="直接连接符 821">
            <a:extLst>
              <a:ext uri="{FF2B5EF4-FFF2-40B4-BE49-F238E27FC236}">
                <a16:creationId xmlns:a16="http://schemas.microsoft.com/office/drawing/2014/main" id="{53FB589F-DF18-8761-9D0F-F255734A661D}"/>
              </a:ext>
            </a:extLst>
          </p:cNvPr>
          <p:cNvCxnSpPr/>
          <p:nvPr>
            <p:custDataLst>
              <p:tags r:id="rId6"/>
            </p:custDataLst>
          </p:nvPr>
        </p:nvCxnSpPr>
        <p:spPr bwMode="auto">
          <a:xfrm>
            <a:off x="6443663" y="5511800"/>
            <a:ext cx="0" cy="5873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991" name="Chart 3">
            <a:extLst>
              <a:ext uri="{FF2B5EF4-FFF2-40B4-BE49-F238E27FC236}">
                <a16:creationId xmlns:a16="http://schemas.microsoft.com/office/drawing/2014/main" id="{53F68F21-8FD8-8A84-76BB-61491A883630}"/>
              </a:ext>
            </a:extLst>
          </p:cNvPr>
          <p:cNvGraphicFramePr/>
          <p:nvPr>
            <p:custDataLst>
              <p:tags r:id="rId7"/>
            </p:custDataLst>
            <p:extLst>
              <p:ext uri="{D42A27DB-BD31-4B8C-83A1-F6EECF244321}">
                <p14:modId xmlns:p14="http://schemas.microsoft.com/office/powerpoint/2010/main" val="2384888456"/>
              </p:ext>
            </p:extLst>
          </p:nvPr>
        </p:nvGraphicFramePr>
        <p:xfrm>
          <a:off x="1057275" y="2520950"/>
          <a:ext cx="10118725" cy="3197225"/>
        </p:xfrm>
        <a:graphic>
          <a:graphicData uri="http://schemas.openxmlformats.org/drawingml/2006/chart">
            <c:chart xmlns:c="http://schemas.openxmlformats.org/drawingml/2006/chart" xmlns:r="http://schemas.openxmlformats.org/officeDocument/2006/relationships" r:id="rId51"/>
          </a:graphicData>
        </a:graphic>
      </p:graphicFrame>
      <p:sp>
        <p:nvSpPr>
          <p:cNvPr id="801" name="Text Placeholder 4">
            <a:extLst>
              <a:ext uri="{FF2B5EF4-FFF2-40B4-BE49-F238E27FC236}">
                <a16:creationId xmlns:a16="http://schemas.microsoft.com/office/drawing/2014/main" id="{D626AE86-D9C6-16DD-707D-7EE55D3A3B62}"/>
              </a:ext>
            </a:extLst>
          </p:cNvPr>
          <p:cNvSpPr>
            <a:spLocks/>
          </p:cNvSpPr>
          <p:nvPr>
            <p:custDataLst>
              <p:tags r:id="rId8"/>
            </p:custDataLst>
          </p:nvPr>
        </p:nvSpPr>
        <p:spPr bwMode="gray">
          <a:xfrm>
            <a:off x="4022725" y="562927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64146F4F-47BE-4702-B85B-421FE5EF85BD}" type="datetime'2''''''''''''''''''''3'''''''''">
              <a:rPr lang="en-US" altLang="en-US" sz="1400" smtClean="0">
                <a:cs typeface="+mn-cs"/>
              </a:rPr>
              <a:pPr/>
              <a:t>23</a:t>
            </a:fld>
            <a:endParaRPr lang="zh-CN" altLang="en-US" sz="1400" dirty="0">
              <a:cs typeface="+mn-cs"/>
            </a:endParaRPr>
          </a:p>
        </p:txBody>
      </p:sp>
      <p:sp>
        <p:nvSpPr>
          <p:cNvPr id="805" name="Text Placeholder 4">
            <a:extLst>
              <a:ext uri="{FF2B5EF4-FFF2-40B4-BE49-F238E27FC236}">
                <a16:creationId xmlns:a16="http://schemas.microsoft.com/office/drawing/2014/main" id="{5DD3198D-87DC-2C94-BCF8-11371B22036D}"/>
              </a:ext>
            </a:extLst>
          </p:cNvPr>
          <p:cNvSpPr>
            <a:spLocks/>
          </p:cNvSpPr>
          <p:nvPr>
            <p:custDataLst>
              <p:tags r:id="rId9"/>
            </p:custDataLst>
          </p:nvPr>
        </p:nvSpPr>
        <p:spPr bwMode="gray">
          <a:xfrm>
            <a:off x="6345238" y="562927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9CB6826-960E-4612-8416-AEE121A086FC}" type="datetime'''''''''''''''''''''''''''2''''4'''">
              <a:rPr lang="en-US" altLang="en-US" sz="1400" smtClean="0">
                <a:cs typeface="+mn-cs"/>
              </a:rPr>
              <a:pPr/>
              <a:t>24</a:t>
            </a:fld>
            <a:endParaRPr lang="zh-CN" altLang="en-US" sz="1400" dirty="0">
              <a:cs typeface="+mn-cs"/>
            </a:endParaRPr>
          </a:p>
        </p:txBody>
      </p:sp>
      <p:sp>
        <p:nvSpPr>
          <p:cNvPr id="809" name="Text Placeholder 4">
            <a:extLst>
              <a:ext uri="{FF2B5EF4-FFF2-40B4-BE49-F238E27FC236}">
                <a16:creationId xmlns:a16="http://schemas.microsoft.com/office/drawing/2014/main" id="{C435B255-D5AC-9F6F-133A-4D19749F6E0A}"/>
              </a:ext>
            </a:extLst>
          </p:cNvPr>
          <p:cNvSpPr>
            <a:spLocks/>
          </p:cNvSpPr>
          <p:nvPr>
            <p:custDataLst>
              <p:tags r:id="rId10"/>
            </p:custDataLst>
          </p:nvPr>
        </p:nvSpPr>
        <p:spPr bwMode="gray">
          <a:xfrm>
            <a:off x="8674100" y="562927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C04D0655-3735-4378-A611-64403D9586AD}" type="datetime'''''''2''''''''''''''''''''''''''''5'''''''''''''''''">
              <a:rPr lang="en-US" altLang="en-US" sz="1400" smtClean="0">
                <a:cs typeface="+mn-cs"/>
              </a:rPr>
              <a:pPr/>
              <a:t>25</a:t>
            </a:fld>
            <a:endParaRPr lang="zh-CN" altLang="en-US" sz="1400" dirty="0">
              <a:cs typeface="+mn-cs"/>
            </a:endParaRPr>
          </a:p>
        </p:txBody>
      </p:sp>
      <p:sp>
        <p:nvSpPr>
          <p:cNvPr id="906" name="Text Placeholder 4">
            <a:extLst>
              <a:ext uri="{FF2B5EF4-FFF2-40B4-BE49-F238E27FC236}">
                <a16:creationId xmlns:a16="http://schemas.microsoft.com/office/drawing/2014/main" id="{163F13E7-F076-1D8F-E154-3C211098B543}"/>
              </a:ext>
            </a:extLst>
          </p:cNvPr>
          <p:cNvSpPr>
            <a:spLocks/>
          </p:cNvSpPr>
          <p:nvPr>
            <p:custDataLst>
              <p:tags r:id="rId11"/>
            </p:custDataLst>
          </p:nvPr>
        </p:nvSpPr>
        <p:spPr bwMode="gray">
          <a:xfrm>
            <a:off x="10995025" y="562927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415F0CF3-16E9-4197-AEE5-CF017D0A7ADA}" type="datetime'''''''''''''''''2''''''''''6'''''''''''''''''">
              <a:rPr lang="zh-CN" altLang="en-US" sz="1400" smtClean="0">
                <a:effectLst/>
                <a:cs typeface="+mn-cs"/>
              </a:rPr>
              <a:pPr lvl="0" algn="ctr">
                <a:spcBef>
                  <a:spcPct val="0"/>
                </a:spcBef>
                <a:spcAft>
                  <a:spcPct val="0"/>
                </a:spcAft>
              </a:pPr>
              <a:t>26</a:t>
            </a:fld>
            <a:endParaRPr lang="zh-CN" altLang="en-US" sz="1400" dirty="0">
              <a:cs typeface="+mn-cs"/>
            </a:endParaRPr>
          </a:p>
        </p:txBody>
      </p:sp>
      <p:sp>
        <p:nvSpPr>
          <p:cNvPr id="797" name="Text Placeholder 4">
            <a:extLst>
              <a:ext uri="{FF2B5EF4-FFF2-40B4-BE49-F238E27FC236}">
                <a16:creationId xmlns:a16="http://schemas.microsoft.com/office/drawing/2014/main" id="{94687F30-9527-A256-205D-14536713EE21}"/>
              </a:ext>
            </a:extLst>
          </p:cNvPr>
          <p:cNvSpPr>
            <a:spLocks/>
          </p:cNvSpPr>
          <p:nvPr>
            <p:custDataLst>
              <p:tags r:id="rId12"/>
            </p:custDataLst>
          </p:nvPr>
        </p:nvSpPr>
        <p:spPr bwMode="gray">
          <a:xfrm>
            <a:off x="1701800" y="562927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FB89ED49-E183-4C30-8FFF-D92644A6C394}" type="datetime'''''''''''''''''2''''''2'''">
              <a:rPr lang="en-US" altLang="en-US" sz="1400" smtClean="0">
                <a:cs typeface="+mn-cs"/>
              </a:rPr>
              <a:pPr/>
              <a:t>22</a:t>
            </a:fld>
            <a:endParaRPr lang="zh-CN" altLang="en-US" sz="1400" dirty="0">
              <a:cs typeface="+mn-cs"/>
            </a:endParaRPr>
          </a:p>
        </p:txBody>
      </p:sp>
      <p:cxnSp>
        <p:nvCxnSpPr>
          <p:cNvPr id="496" name="直接连接符 495">
            <a:extLst>
              <a:ext uri="{FF2B5EF4-FFF2-40B4-BE49-F238E27FC236}">
                <a16:creationId xmlns:a16="http://schemas.microsoft.com/office/drawing/2014/main" id="{901A1F97-F6C5-E17F-E1FD-A9BC2ED8276D}"/>
              </a:ext>
            </a:extLst>
          </p:cNvPr>
          <p:cNvCxnSpPr>
            <a:cxnSpLocks/>
          </p:cNvCxnSpPr>
          <p:nvPr>
            <p:custDataLst>
              <p:tags r:id="rId13"/>
            </p:custDataLst>
          </p:nvPr>
        </p:nvCxnSpPr>
        <p:spPr bwMode="auto">
          <a:xfrm flipH="1">
            <a:off x="8821738" y="3189288"/>
            <a:ext cx="392113" cy="1588"/>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16" name="直接连接符 915">
            <a:extLst>
              <a:ext uri="{FF2B5EF4-FFF2-40B4-BE49-F238E27FC236}">
                <a16:creationId xmlns:a16="http://schemas.microsoft.com/office/drawing/2014/main" id="{A95F7A86-D382-BC07-B263-10F919EEC962}"/>
              </a:ext>
            </a:extLst>
          </p:cNvPr>
          <p:cNvCxnSpPr>
            <a:cxnSpLocks/>
          </p:cNvCxnSpPr>
          <p:nvPr>
            <p:custDataLst>
              <p:tags r:id="rId14"/>
            </p:custDataLst>
          </p:nvPr>
        </p:nvCxnSpPr>
        <p:spPr bwMode="auto">
          <a:xfrm flipH="1">
            <a:off x="4170363" y="5413375"/>
            <a:ext cx="47625" cy="3175"/>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3" name="直接连接符 82">
            <a:extLst>
              <a:ext uri="{FF2B5EF4-FFF2-40B4-BE49-F238E27FC236}">
                <a16:creationId xmlns:a16="http://schemas.microsoft.com/office/drawing/2014/main" id="{2523A816-CF35-DCF4-A607-3C74BF7DAB4F}"/>
              </a:ext>
            </a:extLst>
          </p:cNvPr>
          <p:cNvCxnSpPr/>
          <p:nvPr>
            <p:custDataLst>
              <p:tags r:id="rId15"/>
            </p:custDataLst>
          </p:nvPr>
        </p:nvCxnSpPr>
        <p:spPr bwMode="auto">
          <a:xfrm>
            <a:off x="3906838" y="5461000"/>
            <a:ext cx="165100" cy="20638"/>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62" name="直接连接符 961">
            <a:extLst>
              <a:ext uri="{FF2B5EF4-FFF2-40B4-BE49-F238E27FC236}">
                <a16:creationId xmlns:a16="http://schemas.microsoft.com/office/drawing/2014/main" id="{9B74301A-A0CA-E78E-1C2A-F9368306858E}"/>
              </a:ext>
            </a:extLst>
          </p:cNvPr>
          <p:cNvCxnSpPr>
            <a:cxnSpLocks/>
          </p:cNvCxnSpPr>
          <p:nvPr>
            <p:custDataLst>
              <p:tags r:id="rId16"/>
            </p:custDataLst>
          </p:nvPr>
        </p:nvCxnSpPr>
        <p:spPr bwMode="auto">
          <a:xfrm flipH="1">
            <a:off x="8821738" y="3106738"/>
            <a:ext cx="417513" cy="76200"/>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7" name="直接连接符 56">
            <a:extLst>
              <a:ext uri="{FF2B5EF4-FFF2-40B4-BE49-F238E27FC236}">
                <a16:creationId xmlns:a16="http://schemas.microsoft.com/office/drawing/2014/main" id="{78009B48-F0E9-E8BE-4B17-A6B6DEACB168}"/>
              </a:ext>
            </a:extLst>
          </p:cNvPr>
          <p:cNvCxnSpPr/>
          <p:nvPr>
            <p:custDataLst>
              <p:tags r:id="rId17"/>
            </p:custDataLst>
          </p:nvPr>
        </p:nvCxnSpPr>
        <p:spPr bwMode="auto">
          <a:xfrm>
            <a:off x="3890963" y="5308600"/>
            <a:ext cx="182563" cy="42863"/>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Text Placeholder 4">
            <a:extLst>
              <a:ext uri="{FF2B5EF4-FFF2-40B4-BE49-F238E27FC236}">
                <a16:creationId xmlns:a16="http://schemas.microsoft.com/office/drawing/2014/main" id="{7299C790-AD75-89F6-F4A2-5A8820148D18}"/>
              </a:ext>
            </a:extLst>
          </p:cNvPr>
          <p:cNvSpPr>
            <a:spLocks/>
          </p:cNvSpPr>
          <p:nvPr>
            <p:custDataLst>
              <p:tags r:id="rId18"/>
            </p:custDataLst>
          </p:nvPr>
        </p:nvSpPr>
        <p:spPr bwMode="auto">
          <a:xfrm>
            <a:off x="9769475" y="5984875"/>
            <a:ext cx="14224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9177C0A2-69AB-4ED3-89F2-CEF0766041DE}" type="datetime'''''''​''''（预''''''计''''''）量''''''产''''年''份''''''''''​'">
              <a:rPr lang="zh-CN" altLang="en-US" sz="1400" smtClean="0">
                <a:cs typeface="+mn-cs"/>
              </a:rPr>
              <a:pPr/>
              <a:t>​（预计）量产年份​</a:t>
            </a:fld>
            <a:endParaRPr lang="zh-CN" altLang="en-US" sz="1400" dirty="0">
              <a:cs typeface="+mn-cs"/>
            </a:endParaRPr>
          </a:p>
        </p:txBody>
      </p:sp>
      <p:sp>
        <p:nvSpPr>
          <p:cNvPr id="20" name="Text Placeholder 4">
            <a:extLst>
              <a:ext uri="{FF2B5EF4-FFF2-40B4-BE49-F238E27FC236}">
                <a16:creationId xmlns:a16="http://schemas.microsoft.com/office/drawing/2014/main" id="{92418442-AFCC-0A99-65D0-6A124D2C1CAA}"/>
              </a:ext>
            </a:extLst>
          </p:cNvPr>
          <p:cNvSpPr>
            <a:spLocks/>
          </p:cNvSpPr>
          <p:nvPr>
            <p:custDataLst>
              <p:tags r:id="rId19"/>
            </p:custDataLst>
          </p:nvPr>
        </p:nvSpPr>
        <p:spPr bwMode="auto">
          <a:xfrm>
            <a:off x="923925" y="2265363"/>
            <a:ext cx="17541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9822A73-411B-476A-AEEB-C0B1CC742D35}" type="datetime'BF''''16/''''FP1''''''''6'''' ''''''(T''''F''''''LOP''S'')'">
              <a:rPr lang="en-US" altLang="en-US" sz="1400" smtClean="0">
                <a:cs typeface="+mn-cs"/>
              </a:rPr>
              <a:pPr/>
              <a:t>BF16/FP16 (TFLOPS)</a:t>
            </a:fld>
            <a:endParaRPr lang="zh-CN" altLang="en-US" sz="1400" dirty="0">
              <a:cs typeface="+mn-cs"/>
            </a:endParaRPr>
          </a:p>
        </p:txBody>
      </p:sp>
      <p:sp>
        <p:nvSpPr>
          <p:cNvPr id="86" name="Text Placeholder 4">
            <a:extLst>
              <a:ext uri="{FF2B5EF4-FFF2-40B4-BE49-F238E27FC236}">
                <a16:creationId xmlns:a16="http://schemas.microsoft.com/office/drawing/2014/main" id="{49E57FC1-7408-E267-799D-DA97F5ACAE17}"/>
              </a:ext>
            </a:extLst>
          </p:cNvPr>
          <p:cNvSpPr>
            <a:spLocks/>
          </p:cNvSpPr>
          <p:nvPr>
            <p:custDataLst>
              <p:tags r:id="rId20"/>
            </p:custDataLst>
          </p:nvPr>
        </p:nvSpPr>
        <p:spPr bwMode="gray">
          <a:xfrm>
            <a:off x="9213850" y="3097213"/>
            <a:ext cx="517525"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97DBA623-2D57-45ED-9761-80715C6B107D}" type="datetime'''''''G''''''''''''''''''B''2''''''''''''''0''''''''''0'">
              <a:rPr lang="en-US" altLang="en-US" sz="1200" smtClean="0">
                <a:cs typeface="+mn-cs"/>
              </a:rPr>
              <a:pPr/>
              <a:t>GB200</a:t>
            </a:fld>
            <a:endParaRPr lang="zh-CN" altLang="en-US" sz="1200" dirty="0">
              <a:cs typeface="+mn-cs"/>
            </a:endParaRPr>
          </a:p>
        </p:txBody>
      </p:sp>
      <p:sp>
        <p:nvSpPr>
          <p:cNvPr id="87" name="Text Placeholder 4">
            <a:extLst>
              <a:ext uri="{FF2B5EF4-FFF2-40B4-BE49-F238E27FC236}">
                <a16:creationId xmlns:a16="http://schemas.microsoft.com/office/drawing/2014/main" id="{790E4437-7606-BA43-E6C9-2178BD743778}"/>
              </a:ext>
            </a:extLst>
          </p:cNvPr>
          <p:cNvSpPr>
            <a:spLocks/>
          </p:cNvSpPr>
          <p:nvPr>
            <p:custDataLst>
              <p:tags r:id="rId21"/>
            </p:custDataLst>
          </p:nvPr>
        </p:nvSpPr>
        <p:spPr bwMode="gray">
          <a:xfrm>
            <a:off x="6508750" y="4400550"/>
            <a:ext cx="398463"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C89CF6F8-3DFE-41A7-819D-604BB69C1970}" type="datetime'''''''''''''''''''''''''''''''''''''B''''''''''''2''''0''0'">
              <a:rPr lang="en-US" altLang="en-US" sz="1200" smtClean="0">
                <a:cs typeface="+mn-cs"/>
              </a:rPr>
              <a:pPr/>
              <a:t>B200</a:t>
            </a:fld>
            <a:endParaRPr lang="zh-CN" altLang="en-US" sz="1200" dirty="0">
              <a:cs typeface="+mn-cs"/>
            </a:endParaRPr>
          </a:p>
        </p:txBody>
      </p:sp>
      <p:sp>
        <p:nvSpPr>
          <p:cNvPr id="476" name="Text Placeholder 4">
            <a:extLst>
              <a:ext uri="{FF2B5EF4-FFF2-40B4-BE49-F238E27FC236}">
                <a16:creationId xmlns:a16="http://schemas.microsoft.com/office/drawing/2014/main" id="{DC9215FF-21FE-361E-2AA1-1A92B564316A}"/>
              </a:ext>
            </a:extLst>
          </p:cNvPr>
          <p:cNvSpPr>
            <a:spLocks/>
          </p:cNvSpPr>
          <p:nvPr>
            <p:custDataLst>
              <p:tags r:id="rId22"/>
            </p:custDataLst>
          </p:nvPr>
        </p:nvSpPr>
        <p:spPr bwMode="gray">
          <a:xfrm>
            <a:off x="4187825" y="4506913"/>
            <a:ext cx="787400"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256EE73-22E1-4F10-9011-73DDDDBB05A6}" type="datetime'H''20''''''''''''''0''-''''''''''''''''''''S''''XM'">
              <a:rPr lang="en-US" altLang="en-US" sz="1200" smtClean="0">
                <a:cs typeface="+mn-cs"/>
              </a:rPr>
              <a:pPr/>
              <a:t>H200-SXM</a:t>
            </a:fld>
            <a:endParaRPr lang="zh-CN" altLang="en-US" sz="1200" dirty="0">
              <a:cs typeface="+mn-cs"/>
            </a:endParaRPr>
          </a:p>
        </p:txBody>
      </p:sp>
      <p:sp>
        <p:nvSpPr>
          <p:cNvPr id="481" name="Text Placeholder 4">
            <a:extLst>
              <a:ext uri="{FF2B5EF4-FFF2-40B4-BE49-F238E27FC236}">
                <a16:creationId xmlns:a16="http://schemas.microsoft.com/office/drawing/2014/main" id="{7FE1F7C9-EA98-ECC4-A096-C3DA78E511F8}"/>
              </a:ext>
            </a:extLst>
          </p:cNvPr>
          <p:cNvSpPr>
            <a:spLocks/>
          </p:cNvSpPr>
          <p:nvPr>
            <p:custDataLst>
              <p:tags r:id="rId23"/>
            </p:custDataLst>
          </p:nvPr>
        </p:nvSpPr>
        <p:spPr bwMode="gray">
          <a:xfrm>
            <a:off x="1865313" y="4502150"/>
            <a:ext cx="871538"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4E2C4B8-52BE-4587-B4DA-F237F6C4335D}" type="datetime'''H''''''1''''''''0''''''''''''''''''''''''0-''''''''SXM'''''">
              <a:rPr lang="en-US" altLang="en-US" sz="1200" smtClean="0">
                <a:cs typeface="+mn-cs"/>
              </a:rPr>
              <a:pPr/>
              <a:t>H100-SXM</a:t>
            </a:fld>
            <a:r>
              <a:rPr lang="en-US" altLang="en-US" sz="1200">
                <a:cs typeface="+mn-cs"/>
              </a:rPr>
              <a:t>1</a:t>
            </a:r>
            <a:endParaRPr lang="zh-CN" altLang="en-US" sz="1200" dirty="0">
              <a:cs typeface="+mn-cs"/>
            </a:endParaRPr>
          </a:p>
        </p:txBody>
      </p:sp>
      <p:sp>
        <p:nvSpPr>
          <p:cNvPr id="95" name="Text Placeholder 4">
            <a:extLst>
              <a:ext uri="{FF2B5EF4-FFF2-40B4-BE49-F238E27FC236}">
                <a16:creationId xmlns:a16="http://schemas.microsoft.com/office/drawing/2014/main" id="{3899AD3B-E689-EA49-2D3C-E5E143E066CE}"/>
              </a:ext>
            </a:extLst>
          </p:cNvPr>
          <p:cNvSpPr>
            <a:spLocks/>
          </p:cNvSpPr>
          <p:nvPr>
            <p:custDataLst>
              <p:tags r:id="rId24"/>
            </p:custDataLst>
          </p:nvPr>
        </p:nvSpPr>
        <p:spPr bwMode="gray">
          <a:xfrm>
            <a:off x="1865313" y="5321300"/>
            <a:ext cx="779463"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CE76C85E-D886-4470-BC5E-E5213013439C}" type="datetime'A8''''''''''''''''0''''''0-S''''''X''M'''''''''">
              <a:rPr lang="en-US" altLang="en-US" sz="1200" smtClean="0">
                <a:cs typeface="+mn-cs"/>
              </a:rPr>
              <a:pPr/>
              <a:t>A800-SXM</a:t>
            </a:fld>
            <a:endParaRPr lang="zh-CN" altLang="en-US" sz="1200" dirty="0">
              <a:cs typeface="+mn-cs"/>
            </a:endParaRPr>
          </a:p>
        </p:txBody>
      </p:sp>
      <p:sp>
        <p:nvSpPr>
          <p:cNvPr id="719" name="Text Placeholder 4">
            <a:extLst>
              <a:ext uri="{FF2B5EF4-FFF2-40B4-BE49-F238E27FC236}">
                <a16:creationId xmlns:a16="http://schemas.microsoft.com/office/drawing/2014/main" id="{ED456583-EFC9-2941-1E18-4E0778B16566}"/>
              </a:ext>
            </a:extLst>
          </p:cNvPr>
          <p:cNvSpPr>
            <a:spLocks/>
          </p:cNvSpPr>
          <p:nvPr>
            <p:custDataLst>
              <p:tags r:id="rId25"/>
            </p:custDataLst>
          </p:nvPr>
        </p:nvSpPr>
        <p:spPr bwMode="gray">
          <a:xfrm>
            <a:off x="6508750" y="4995863"/>
            <a:ext cx="1176338"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C1995ECD-5DBD-46B8-B0C9-5C5973EDBC8C}" type="datetime'G''''''o''''''''''o''''''''gl''''e-''TPU'''' v6''''''''''e'''">
              <a:rPr lang="en-US" altLang="en-US" sz="1200" smtClean="0">
                <a:cs typeface="+mn-cs"/>
              </a:rPr>
              <a:pPr/>
              <a:t>Google-TPU v6e</a:t>
            </a:fld>
            <a:endParaRPr lang="zh-CN" altLang="en-US" sz="1200" dirty="0">
              <a:cs typeface="+mn-cs"/>
            </a:endParaRPr>
          </a:p>
        </p:txBody>
      </p:sp>
      <p:sp>
        <p:nvSpPr>
          <p:cNvPr id="721" name="Text Placeholder 4">
            <a:extLst>
              <a:ext uri="{FF2B5EF4-FFF2-40B4-BE49-F238E27FC236}">
                <a16:creationId xmlns:a16="http://schemas.microsoft.com/office/drawing/2014/main" id="{0BEF2BF8-A636-222B-2C00-DBE94E8EB1F6}"/>
              </a:ext>
            </a:extLst>
          </p:cNvPr>
          <p:cNvSpPr>
            <a:spLocks/>
          </p:cNvSpPr>
          <p:nvPr>
            <p:custDataLst>
              <p:tags r:id="rId26"/>
            </p:custDataLst>
          </p:nvPr>
        </p:nvSpPr>
        <p:spPr bwMode="gray">
          <a:xfrm>
            <a:off x="4217988" y="5276850"/>
            <a:ext cx="1176338"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3B09CC43-4DEE-4AC8-9A62-42BDFB0C872A}" type="datetime'''G''o''''o''g''''''le-''''''''TP''''''''U'''''' v''''5p'''">
              <a:rPr lang="en-US" altLang="en-US" sz="1200" smtClean="0">
                <a:effectLst/>
                <a:cs typeface="+mn-cs"/>
              </a:rPr>
              <a:pPr/>
              <a:t>Google-TPU v5p</a:t>
            </a:fld>
            <a:endParaRPr lang="zh-CN" altLang="en-US" sz="1200" dirty="0">
              <a:cs typeface="+mn-cs"/>
            </a:endParaRPr>
          </a:p>
        </p:txBody>
      </p:sp>
      <p:sp>
        <p:nvSpPr>
          <p:cNvPr id="903" name="Text Placeholder 4">
            <a:extLst>
              <a:ext uri="{FF2B5EF4-FFF2-40B4-BE49-F238E27FC236}">
                <a16:creationId xmlns:a16="http://schemas.microsoft.com/office/drawing/2014/main" id="{C6C79884-1157-B94F-B143-3E155E753D56}"/>
              </a:ext>
            </a:extLst>
          </p:cNvPr>
          <p:cNvSpPr>
            <a:spLocks/>
          </p:cNvSpPr>
          <p:nvPr>
            <p:custDataLst>
              <p:tags r:id="rId27"/>
            </p:custDataLst>
          </p:nvPr>
        </p:nvSpPr>
        <p:spPr bwMode="gray">
          <a:xfrm>
            <a:off x="9955213" y="4813300"/>
            <a:ext cx="1073150"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3C44BA8-37EB-4785-B47D-491B3BF827B7}" type="datetime'''''''''A''WS''''''''-T''r''a''i''n''''''''u''m''3'''''">
              <a:rPr lang="en-US" altLang="en-US" sz="1200" smtClean="0">
                <a:cs typeface="+mn-cs"/>
              </a:rPr>
              <a:pPr/>
              <a:t>AWS-Trainum3</a:t>
            </a:fld>
            <a:endParaRPr lang="zh-CN" altLang="en-US" sz="1200" dirty="0">
              <a:cs typeface="+mn-cs"/>
            </a:endParaRPr>
          </a:p>
        </p:txBody>
      </p:sp>
      <p:sp>
        <p:nvSpPr>
          <p:cNvPr id="776" name="Text Placeholder 4">
            <a:extLst>
              <a:ext uri="{FF2B5EF4-FFF2-40B4-BE49-F238E27FC236}">
                <a16:creationId xmlns:a16="http://schemas.microsoft.com/office/drawing/2014/main" id="{4CB33C7E-58F2-87C5-A030-B355C3C094FF}"/>
              </a:ext>
            </a:extLst>
          </p:cNvPr>
          <p:cNvSpPr>
            <a:spLocks/>
          </p:cNvSpPr>
          <p:nvPr>
            <p:custDataLst>
              <p:tags r:id="rId28"/>
            </p:custDataLst>
          </p:nvPr>
        </p:nvSpPr>
        <p:spPr bwMode="gray">
          <a:xfrm>
            <a:off x="4148138" y="5089525"/>
            <a:ext cx="1073150"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75193A0-1B9C-458B-9725-9E41D0E322EA}" type="datetime'''A''W''''''S''''''''''-T''''''''''''r''''an''''iu''m2'''">
              <a:rPr lang="en-US" altLang="en-US" sz="1200" smtClean="0">
                <a:cs typeface="+mn-cs"/>
              </a:rPr>
              <a:pPr/>
              <a:t>AWS-Tranium2</a:t>
            </a:fld>
            <a:endParaRPr lang="zh-CN" altLang="en-US" sz="1200" dirty="0">
              <a:cs typeface="+mn-cs"/>
            </a:endParaRPr>
          </a:p>
        </p:txBody>
      </p:sp>
      <p:sp useBgFill="1">
        <p:nvSpPr>
          <p:cNvPr id="777" name="Text Placeholder 4">
            <a:extLst>
              <a:ext uri="{FF2B5EF4-FFF2-40B4-BE49-F238E27FC236}">
                <a16:creationId xmlns:a16="http://schemas.microsoft.com/office/drawing/2014/main" id="{E98B94FD-306F-3CF1-4E96-49A821D92747}"/>
              </a:ext>
            </a:extLst>
          </p:cNvPr>
          <p:cNvSpPr>
            <a:spLocks/>
          </p:cNvSpPr>
          <p:nvPr>
            <p:custDataLst>
              <p:tags r:id="rId29"/>
            </p:custDataLst>
          </p:nvPr>
        </p:nvSpPr>
        <p:spPr bwMode="gray">
          <a:xfrm>
            <a:off x="5753100" y="5287963"/>
            <a:ext cx="1019175" cy="182563"/>
          </a:xfrm>
          <a:prstGeom prst="rect">
            <a:avLst/>
          </a:prstGeom>
          <a:ln>
            <a:noFill/>
          </a:ln>
          <a:effectLst/>
        </p:spPr>
        <p:txBody>
          <a:bodyPr vert="horz" wrap="none" lIns="22225" tIns="0" rIns="22225"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BD81C13-0B36-4EE4-AD3B-BAC462CE44E9}" type="datetime'''''''''M''''e''''''ta''-''M''''TI''A ''''V''2'''''''''''">
              <a:rPr lang="en-US" altLang="en-US" sz="1200" smtClean="0">
                <a:cs typeface="+mn-cs"/>
              </a:rPr>
              <a:pPr/>
              <a:t>Meta-MTIA V2</a:t>
            </a:fld>
            <a:endParaRPr lang="zh-CN" altLang="en-US" sz="1200" dirty="0">
              <a:cs typeface="+mn-cs"/>
            </a:endParaRPr>
          </a:p>
        </p:txBody>
      </p:sp>
      <p:sp>
        <p:nvSpPr>
          <p:cNvPr id="778" name="Text Placeholder 4">
            <a:extLst>
              <a:ext uri="{FF2B5EF4-FFF2-40B4-BE49-F238E27FC236}">
                <a16:creationId xmlns:a16="http://schemas.microsoft.com/office/drawing/2014/main" id="{5A109F75-CD81-6FBD-10C4-46D24855A279}"/>
              </a:ext>
            </a:extLst>
          </p:cNvPr>
          <p:cNvSpPr>
            <a:spLocks/>
          </p:cNvSpPr>
          <p:nvPr>
            <p:custDataLst>
              <p:tags r:id="rId30"/>
            </p:custDataLst>
          </p:nvPr>
        </p:nvSpPr>
        <p:spPr bwMode="gray">
          <a:xfrm>
            <a:off x="2887663" y="5305425"/>
            <a:ext cx="1019175"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18FAF74-62C6-4C98-80A5-D0BF6C5C2F3D}" type="datetime'Meta-''''''''''''M''T''''''I''A'''''''' ''''V''''1'''">
              <a:rPr lang="en-US" altLang="en-US" sz="1200" smtClean="0">
                <a:cs typeface="+mn-cs"/>
              </a:rPr>
              <a:pPr/>
              <a:t>Meta-MTIA V1</a:t>
            </a:fld>
            <a:endParaRPr lang="zh-CN" altLang="en-US" sz="1200" dirty="0">
              <a:cs typeface="+mn-cs"/>
            </a:endParaRPr>
          </a:p>
        </p:txBody>
      </p:sp>
      <p:sp>
        <p:nvSpPr>
          <p:cNvPr id="780" name="Text Placeholder 4">
            <a:extLst>
              <a:ext uri="{FF2B5EF4-FFF2-40B4-BE49-F238E27FC236}">
                <a16:creationId xmlns:a16="http://schemas.microsoft.com/office/drawing/2014/main" id="{D886B005-FDCB-2966-54C3-3A32B664BFDB}"/>
              </a:ext>
            </a:extLst>
          </p:cNvPr>
          <p:cNvSpPr>
            <a:spLocks/>
          </p:cNvSpPr>
          <p:nvPr>
            <p:custDataLst>
              <p:tags r:id="rId31"/>
            </p:custDataLst>
          </p:nvPr>
        </p:nvSpPr>
        <p:spPr bwMode="gray">
          <a:xfrm>
            <a:off x="6508750" y="4208463"/>
            <a:ext cx="931863"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9BD21EBC-5A05-484F-B854-FF6FB66FEE31}" type="datetime'''''A''''MD-M''''''''''''''''I3''25''''x'''''''''''''">
              <a:rPr lang="en-US" altLang="en-US" sz="1200" smtClean="0">
                <a:cs typeface="+mn-cs"/>
              </a:rPr>
              <a:pPr/>
              <a:t>AMD-MI325x</a:t>
            </a:fld>
            <a:endParaRPr lang="zh-CN" altLang="en-US" sz="1200" dirty="0">
              <a:cs typeface="+mn-cs"/>
            </a:endParaRPr>
          </a:p>
        </p:txBody>
      </p:sp>
      <p:sp>
        <p:nvSpPr>
          <p:cNvPr id="781" name="Text Placeholder 4">
            <a:extLst>
              <a:ext uri="{FF2B5EF4-FFF2-40B4-BE49-F238E27FC236}">
                <a16:creationId xmlns:a16="http://schemas.microsoft.com/office/drawing/2014/main" id="{C414824F-1196-F93E-3563-5DEC24650A92}"/>
              </a:ext>
            </a:extLst>
          </p:cNvPr>
          <p:cNvSpPr>
            <a:spLocks/>
          </p:cNvSpPr>
          <p:nvPr>
            <p:custDataLst>
              <p:tags r:id="rId32"/>
            </p:custDataLst>
          </p:nvPr>
        </p:nvSpPr>
        <p:spPr bwMode="gray">
          <a:xfrm>
            <a:off x="9239250" y="2928938"/>
            <a:ext cx="957263"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07B8667-5208-40F9-AC86-FD59038E6E0D}" type="datetime'''''''AM''''D''-M''''''''I''''''''''''''''3''''''''5''5X'''">
              <a:rPr lang="en-US" altLang="en-US" sz="1200" smtClean="0">
                <a:cs typeface="+mn-cs"/>
              </a:rPr>
              <a:pPr/>
              <a:t>AMD-MI355X</a:t>
            </a:fld>
            <a:endParaRPr lang="zh-CN" altLang="en-US" sz="1200" dirty="0">
              <a:cs typeface="+mn-cs"/>
            </a:endParaRPr>
          </a:p>
        </p:txBody>
      </p:sp>
      <p:sp>
        <p:nvSpPr>
          <p:cNvPr id="782" name="Text Placeholder 4">
            <a:extLst>
              <a:ext uri="{FF2B5EF4-FFF2-40B4-BE49-F238E27FC236}">
                <a16:creationId xmlns:a16="http://schemas.microsoft.com/office/drawing/2014/main" id="{5F465B63-F343-8F8D-DF94-A4E74C0D81CB}"/>
              </a:ext>
            </a:extLst>
          </p:cNvPr>
          <p:cNvSpPr>
            <a:spLocks/>
          </p:cNvSpPr>
          <p:nvPr>
            <p:custDataLst>
              <p:tags r:id="rId33"/>
            </p:custDataLst>
          </p:nvPr>
        </p:nvSpPr>
        <p:spPr bwMode="gray">
          <a:xfrm>
            <a:off x="8837613" y="3286125"/>
            <a:ext cx="957263"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9A01359-1439-4648-A683-72B279A68492}" type="datetime'AMD-''''''M''I3''''5''''''''''''''''0''X'''''''''''''''''">
              <a:rPr lang="en-US" altLang="en-US" sz="1200" smtClean="0">
                <a:cs typeface="+mn-cs"/>
              </a:rPr>
              <a:pPr/>
              <a:t>AMD-MI350X</a:t>
            </a:fld>
            <a:endParaRPr lang="zh-CN" altLang="en-US" sz="1200" dirty="0">
              <a:cs typeface="+mn-cs"/>
            </a:endParaRPr>
          </a:p>
        </p:txBody>
      </p:sp>
      <p:sp>
        <p:nvSpPr>
          <p:cNvPr id="783" name="Text Placeholder 4">
            <a:extLst>
              <a:ext uri="{FF2B5EF4-FFF2-40B4-BE49-F238E27FC236}">
                <a16:creationId xmlns:a16="http://schemas.microsoft.com/office/drawing/2014/main" id="{35535685-F5BB-DCBC-EB44-F38C5B472CB6}"/>
              </a:ext>
            </a:extLst>
          </p:cNvPr>
          <p:cNvSpPr>
            <a:spLocks/>
          </p:cNvSpPr>
          <p:nvPr>
            <p:custDataLst>
              <p:tags r:id="rId34"/>
            </p:custDataLst>
          </p:nvPr>
        </p:nvSpPr>
        <p:spPr bwMode="gray">
          <a:xfrm>
            <a:off x="5507038" y="4579938"/>
            <a:ext cx="871538"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EDE3590-D6D1-434B-B988-960D47C45346}" type="datetime'''''''''''''I''n''''t''el''''''-''Ga''''u''di3'''">
              <a:rPr lang="en-US" altLang="en-US" sz="1200" smtClean="0">
                <a:cs typeface="+mn-cs"/>
              </a:rPr>
              <a:pPr/>
              <a:t>Intel-Gaudi3</a:t>
            </a:fld>
            <a:endParaRPr lang="zh-CN" altLang="en-US" sz="1200" dirty="0">
              <a:cs typeface="+mn-cs"/>
            </a:endParaRPr>
          </a:p>
        </p:txBody>
      </p:sp>
      <p:sp>
        <p:nvSpPr>
          <p:cNvPr id="784" name="Text Placeholder 4">
            <a:extLst>
              <a:ext uri="{FF2B5EF4-FFF2-40B4-BE49-F238E27FC236}">
                <a16:creationId xmlns:a16="http://schemas.microsoft.com/office/drawing/2014/main" id="{2123150F-E7D7-2441-974E-669E757F4517}"/>
              </a:ext>
            </a:extLst>
          </p:cNvPr>
          <p:cNvSpPr>
            <a:spLocks/>
          </p:cNvSpPr>
          <p:nvPr>
            <p:custDataLst>
              <p:tags r:id="rId35"/>
            </p:custDataLst>
          </p:nvPr>
        </p:nvSpPr>
        <p:spPr bwMode="gray">
          <a:xfrm>
            <a:off x="1865313" y="5121275"/>
            <a:ext cx="871538"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AC0DD1A-8534-4EBE-AB0F-7228FE072712}" type="datetime'''I''''nt''e''''''l''''-''G''''a''''''''''''''u''''''''d''i2'">
              <a:rPr lang="en-US" altLang="en-US" sz="1200" smtClean="0">
                <a:cs typeface="+mn-cs"/>
              </a:rPr>
              <a:pPr/>
              <a:t>Intel-Gaudi2</a:t>
            </a:fld>
            <a:endParaRPr lang="zh-CN" altLang="en-US" sz="1200" dirty="0">
              <a:cs typeface="+mn-cs"/>
            </a:endParaRPr>
          </a:p>
        </p:txBody>
      </p:sp>
      <p:sp>
        <p:nvSpPr>
          <p:cNvPr id="896" name="Text Placeholder 4">
            <a:extLst>
              <a:ext uri="{FF2B5EF4-FFF2-40B4-BE49-F238E27FC236}">
                <a16:creationId xmlns:a16="http://schemas.microsoft.com/office/drawing/2014/main" id="{780EE3A0-16BB-1165-434C-1AD61F92C97E}"/>
              </a:ext>
            </a:extLst>
          </p:cNvPr>
          <p:cNvSpPr>
            <a:spLocks/>
          </p:cNvSpPr>
          <p:nvPr>
            <p:custDataLst>
              <p:tags r:id="rId36"/>
            </p:custDataLst>
          </p:nvPr>
        </p:nvSpPr>
        <p:spPr bwMode="gray">
          <a:xfrm>
            <a:off x="8837613" y="5049838"/>
            <a:ext cx="711200"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9BA943C-C6D0-4383-9516-013F32C027AB}" type="datetime'''''''''''''''''''''昇''腾''''910''C'''''''''''''''">
              <a:rPr lang="zh-CN" altLang="en-US" sz="1200" smtClean="0">
                <a:cs typeface="+mn-cs"/>
              </a:rPr>
              <a:pPr/>
              <a:t>昇腾910C</a:t>
            </a:fld>
            <a:endParaRPr lang="zh-CN" altLang="en-US" sz="1200" dirty="0">
              <a:cs typeface="+mn-cs"/>
            </a:endParaRPr>
          </a:p>
        </p:txBody>
      </p:sp>
      <p:sp>
        <p:nvSpPr>
          <p:cNvPr id="897" name="Text Placeholder 4">
            <a:extLst>
              <a:ext uri="{FF2B5EF4-FFF2-40B4-BE49-F238E27FC236}">
                <a16:creationId xmlns:a16="http://schemas.microsoft.com/office/drawing/2014/main" id="{449AC1F5-9358-17AF-2879-668579C26DCE}"/>
              </a:ext>
            </a:extLst>
          </p:cNvPr>
          <p:cNvSpPr>
            <a:spLocks/>
          </p:cNvSpPr>
          <p:nvPr>
            <p:custDataLst>
              <p:tags r:id="rId37"/>
            </p:custDataLst>
          </p:nvPr>
        </p:nvSpPr>
        <p:spPr bwMode="gray">
          <a:xfrm>
            <a:off x="3187700" y="5135563"/>
            <a:ext cx="703263"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11499BF6-EC6A-4AC2-A725-AF5B6ECB5A1B}" type="datetime'''''''昇''''''''''腾''91''''''''''''''''''''0''''''B'">
              <a:rPr lang="zh-CN" altLang="en-US" sz="1200" smtClean="0">
                <a:cs typeface="+mn-cs"/>
              </a:rPr>
              <a:pPr/>
              <a:t>昇腾910B</a:t>
            </a:fld>
            <a:endParaRPr lang="zh-CN" altLang="en-US" sz="1200" dirty="0">
              <a:cs typeface="+mn-cs"/>
            </a:endParaRPr>
          </a:p>
        </p:txBody>
      </p:sp>
      <p:sp>
        <p:nvSpPr>
          <p:cNvPr id="97" name="Text Placeholder 4">
            <a:extLst>
              <a:ext uri="{FF2B5EF4-FFF2-40B4-BE49-F238E27FC236}">
                <a16:creationId xmlns:a16="http://schemas.microsoft.com/office/drawing/2014/main" id="{10421857-0C81-D96D-D2F6-B17991258009}"/>
              </a:ext>
            </a:extLst>
          </p:cNvPr>
          <p:cNvSpPr>
            <a:spLocks/>
          </p:cNvSpPr>
          <p:nvPr>
            <p:custDataLst>
              <p:tags r:id="rId38"/>
            </p:custDataLst>
          </p:nvPr>
        </p:nvSpPr>
        <p:spPr bwMode="gray">
          <a:xfrm>
            <a:off x="8837613" y="4351338"/>
            <a:ext cx="1176338"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F0AB4BA-C576-4D40-9D80-775FEA499703}" type="datetime'''Go''o''''''gl''''''''e-''​''''''''''T''P''''''''U v7p​'''''">
              <a:rPr lang="en-US" altLang="en-US" sz="1200" smtClean="0">
                <a:cs typeface="+mn-cs"/>
              </a:rPr>
              <a:pPr/>
              <a:t>Google-​TPU v7p​</a:t>
            </a:fld>
            <a:endParaRPr lang="zh-CN" altLang="en-US" sz="1200" dirty="0">
              <a:cs typeface="+mn-cs"/>
            </a:endParaRPr>
          </a:p>
        </p:txBody>
      </p:sp>
      <p:sp>
        <p:nvSpPr>
          <p:cNvPr id="868" name="椭圆 867">
            <a:extLst>
              <a:ext uri="{FF2B5EF4-FFF2-40B4-BE49-F238E27FC236}">
                <a16:creationId xmlns:a16="http://schemas.microsoft.com/office/drawing/2014/main" id="{0CD2D7AC-C7C1-0F0A-3C7B-D26B4ADA8C84}"/>
              </a:ext>
            </a:extLst>
          </p:cNvPr>
          <p:cNvSpPr/>
          <p:nvPr>
            <p:custDataLst>
              <p:tags r:id="rId39"/>
            </p:custDataLst>
          </p:nvPr>
        </p:nvSpPr>
        <p:spPr bwMode="auto">
          <a:xfrm>
            <a:off x="4419600" y="6030913"/>
            <a:ext cx="88900" cy="88900"/>
          </a:xfrm>
          <a:prstGeom prst="ellipse">
            <a:avLst/>
          </a:prstGeom>
          <a:solidFill>
            <a:schemeClr val="accent5"/>
          </a:solidFill>
          <a:ln w="9525" cap="flat" cmpd="sng" algn="ctr">
            <a:solidFill>
              <a:schemeClr val="accent5"/>
            </a:solid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9" name="椭圆 868">
            <a:extLst>
              <a:ext uri="{FF2B5EF4-FFF2-40B4-BE49-F238E27FC236}">
                <a16:creationId xmlns:a16="http://schemas.microsoft.com/office/drawing/2014/main" id="{D89B3136-58F2-FF2B-79F2-5C256BF54228}"/>
              </a:ext>
            </a:extLst>
          </p:cNvPr>
          <p:cNvSpPr/>
          <p:nvPr>
            <p:custDataLst>
              <p:tags r:id="rId40"/>
            </p:custDataLst>
          </p:nvPr>
        </p:nvSpPr>
        <p:spPr bwMode="auto">
          <a:xfrm>
            <a:off x="5208588" y="6030913"/>
            <a:ext cx="88900" cy="88900"/>
          </a:xfrm>
          <a:prstGeom prst="ellipse">
            <a:avLst/>
          </a:prstGeom>
          <a:solidFill>
            <a:srgbClr val="0052D9"/>
          </a:solidFill>
          <a:ln w="9525" cap="flat" cmpd="sng" algn="ctr">
            <a:solidFill>
              <a:srgbClr val="0052D9"/>
            </a:solid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0" name="椭圆 869">
            <a:extLst>
              <a:ext uri="{FF2B5EF4-FFF2-40B4-BE49-F238E27FC236}">
                <a16:creationId xmlns:a16="http://schemas.microsoft.com/office/drawing/2014/main" id="{405800EB-BD20-C600-40A5-8FA6BF6750EC}"/>
              </a:ext>
            </a:extLst>
          </p:cNvPr>
          <p:cNvSpPr/>
          <p:nvPr>
            <p:custDataLst>
              <p:tags r:id="rId41"/>
            </p:custDataLst>
          </p:nvPr>
        </p:nvSpPr>
        <p:spPr bwMode="auto">
          <a:xfrm>
            <a:off x="6413500" y="6030913"/>
            <a:ext cx="88900" cy="88900"/>
          </a:xfrm>
          <a:prstGeom prst="ellipse">
            <a:avLst/>
          </a:prstGeom>
          <a:solidFill>
            <a:srgbClr val="C0C0C0"/>
          </a:solidFill>
          <a:ln w="9525" cap="flat" cmpd="sng" algn="ctr">
            <a:solidFill>
              <a:srgbClr val="C0C0C0"/>
            </a:solid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5" name="椭圆 904">
            <a:extLst>
              <a:ext uri="{FF2B5EF4-FFF2-40B4-BE49-F238E27FC236}">
                <a16:creationId xmlns:a16="http://schemas.microsoft.com/office/drawing/2014/main" id="{55C0D5DC-0681-9DAC-812B-469FE2B6311B}"/>
              </a:ext>
            </a:extLst>
          </p:cNvPr>
          <p:cNvSpPr/>
          <p:nvPr>
            <p:custDataLst>
              <p:tags r:id="rId42"/>
            </p:custDataLst>
          </p:nvPr>
        </p:nvSpPr>
        <p:spPr bwMode="auto">
          <a:xfrm>
            <a:off x="7705725" y="6030913"/>
            <a:ext cx="88900" cy="88900"/>
          </a:xfrm>
          <a:prstGeom prst="ellipse">
            <a:avLst/>
          </a:prstGeom>
          <a:solidFill>
            <a:srgbClr val="C30C3E"/>
          </a:solidFill>
          <a:ln w="9525" cap="flat" cmpd="sng" algn="ctr">
            <a:solidFill>
              <a:srgbClr val="C30C3E"/>
            </a:solid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6" name="Text Placeholder 4">
            <a:extLst>
              <a:ext uri="{FF2B5EF4-FFF2-40B4-BE49-F238E27FC236}">
                <a16:creationId xmlns:a16="http://schemas.microsoft.com/office/drawing/2014/main" id="{C5CC4AEB-6B3A-BF36-82D4-C1C2833D4922}"/>
              </a:ext>
            </a:extLst>
          </p:cNvPr>
          <p:cNvSpPr>
            <a:spLocks/>
          </p:cNvSpPr>
          <p:nvPr>
            <p:custDataLst>
              <p:tags r:id="rId43"/>
            </p:custDataLst>
          </p:nvPr>
        </p:nvSpPr>
        <p:spPr bwMode="auto">
          <a:xfrm>
            <a:off x="4640263" y="5976938"/>
            <a:ext cx="3857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448F5BC-ABAF-4C21-8BE7-72C186D7AD6D}" type="datetime'''''''''''G''''''P''''''''''''''''''''''U'''''''">
              <a:rPr lang="en-US" altLang="en-US" sz="1400" smtClean="0">
                <a:effectLst/>
                <a:cs typeface="+mn-cs"/>
              </a:rPr>
              <a:pPr lvl="0">
                <a:spcBef>
                  <a:spcPct val="0"/>
                </a:spcBef>
                <a:spcAft>
                  <a:spcPct val="0"/>
                </a:spcAft>
              </a:pPr>
              <a:t>GPU</a:t>
            </a:fld>
            <a:endParaRPr lang="zh-CN" altLang="en-US" sz="1400" dirty="0">
              <a:cs typeface="+mn-cs"/>
            </a:endParaRPr>
          </a:p>
        </p:txBody>
      </p:sp>
      <p:sp>
        <p:nvSpPr>
          <p:cNvPr id="867" name="Text Placeholder 4">
            <a:extLst>
              <a:ext uri="{FF2B5EF4-FFF2-40B4-BE49-F238E27FC236}">
                <a16:creationId xmlns:a16="http://schemas.microsoft.com/office/drawing/2014/main" id="{E1CB842C-FA8D-C574-ECDC-1BA7C694D794}"/>
              </a:ext>
            </a:extLst>
          </p:cNvPr>
          <p:cNvSpPr>
            <a:spLocks/>
          </p:cNvSpPr>
          <p:nvPr>
            <p:custDataLst>
              <p:tags r:id="rId44"/>
            </p:custDataLst>
          </p:nvPr>
        </p:nvSpPr>
        <p:spPr bwMode="auto">
          <a:xfrm>
            <a:off x="5429250" y="5976938"/>
            <a:ext cx="8016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273C0FD-FFEF-43A6-A7F8-49925299CAA2}" type="datetime'''''A''''''SI''''''''''''''C/x''''''PU'''''''''">
              <a:rPr lang="en-US" altLang="en-US" sz="1400" smtClean="0">
                <a:cs typeface="+mn-cs"/>
              </a:rPr>
              <a:pPr/>
              <a:t>ASIC/xPU</a:t>
            </a:fld>
            <a:endParaRPr lang="zh-CN" altLang="en-US" sz="1400" dirty="0">
              <a:cs typeface="+mn-cs"/>
            </a:endParaRPr>
          </a:p>
        </p:txBody>
      </p:sp>
      <p:sp>
        <p:nvSpPr>
          <p:cNvPr id="864" name="Text Placeholder 4">
            <a:extLst>
              <a:ext uri="{FF2B5EF4-FFF2-40B4-BE49-F238E27FC236}">
                <a16:creationId xmlns:a16="http://schemas.microsoft.com/office/drawing/2014/main" id="{38F9F285-AD6F-772B-DDB8-4022EAA23921}"/>
              </a:ext>
            </a:extLst>
          </p:cNvPr>
          <p:cNvSpPr>
            <a:spLocks/>
          </p:cNvSpPr>
          <p:nvPr>
            <p:custDataLst>
              <p:tags r:id="rId45"/>
            </p:custDataLst>
          </p:nvPr>
        </p:nvSpPr>
        <p:spPr bwMode="auto">
          <a:xfrm>
            <a:off x="6634163" y="5976938"/>
            <a:ext cx="8890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F6C1F86-734B-4609-85A8-284250F265A2}" type="datetime'''''''''''''''''''通''用''''''计''''''算''''卡'''''''''''">
              <a:rPr lang="zh-CN" altLang="en-US" sz="1400" smtClean="0">
                <a:effectLst/>
                <a:cs typeface="+mn-cs"/>
              </a:rPr>
              <a:pPr lvl="0">
                <a:spcBef>
                  <a:spcPct val="0"/>
                </a:spcBef>
                <a:spcAft>
                  <a:spcPct val="0"/>
                </a:spcAft>
              </a:pPr>
              <a:t>通用计算卡</a:t>
            </a:fld>
            <a:endParaRPr lang="zh-CN" altLang="en-US" sz="1400" dirty="0">
              <a:cs typeface="+mn-cs"/>
            </a:endParaRPr>
          </a:p>
        </p:txBody>
      </p:sp>
      <p:sp>
        <p:nvSpPr>
          <p:cNvPr id="902" name="Text Placeholder 4">
            <a:extLst>
              <a:ext uri="{FF2B5EF4-FFF2-40B4-BE49-F238E27FC236}">
                <a16:creationId xmlns:a16="http://schemas.microsoft.com/office/drawing/2014/main" id="{48464A32-A818-AD2C-AB46-A951EF4A860B}"/>
              </a:ext>
            </a:extLst>
          </p:cNvPr>
          <p:cNvSpPr>
            <a:spLocks/>
          </p:cNvSpPr>
          <p:nvPr>
            <p:custDataLst>
              <p:tags r:id="rId46"/>
            </p:custDataLst>
          </p:nvPr>
        </p:nvSpPr>
        <p:spPr bwMode="auto">
          <a:xfrm>
            <a:off x="7926388" y="5976938"/>
            <a:ext cx="3556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F617F2B-DB00-48D4-986C-20FC332F527A}" type="datetime'''''''''''''华''''为'''''''''''''''''''''''''''''">
              <a:rPr lang="zh-CN" altLang="en-US" sz="1400" smtClean="0">
                <a:cs typeface="+mn-cs"/>
              </a:rPr>
              <a:pPr/>
              <a:t>华为</a:t>
            </a:fld>
            <a:endParaRPr lang="zh-CN" altLang="en-US" sz="1400" dirty="0">
              <a:cs typeface="+mn-cs"/>
            </a:endParaRPr>
          </a:p>
        </p:txBody>
      </p:sp>
      <p:sp>
        <p:nvSpPr>
          <p:cNvPr id="912" name="文本框 911">
            <a:extLst>
              <a:ext uri="{FF2B5EF4-FFF2-40B4-BE49-F238E27FC236}">
                <a16:creationId xmlns:a16="http://schemas.microsoft.com/office/drawing/2014/main" id="{9EE6D535-F7E8-4A81-D9BB-4787F239E06B}"/>
              </a:ext>
            </a:extLst>
          </p:cNvPr>
          <p:cNvSpPr txBox="1"/>
          <p:nvPr/>
        </p:nvSpPr>
        <p:spPr>
          <a:xfrm>
            <a:off x="7266006" y="4644501"/>
            <a:ext cx="790575" cy="307975"/>
          </a:xfrm>
          <a:prstGeom prst="rect">
            <a:avLst/>
          </a:prstGeom>
          <a:noFill/>
        </p:spPr>
        <p:txBody>
          <a:bodyPr wrap="square" rtlCol="0">
            <a:spAutoFit/>
          </a:bodyPr>
          <a:lstStyle/>
          <a:p>
            <a:r>
              <a:rPr lang="en-US" altLang="zh-CN" sz="1400" dirty="0">
                <a:solidFill>
                  <a:srgbClr val="0052D9"/>
                </a:solidFill>
              </a:rPr>
              <a:t>42%</a:t>
            </a:r>
            <a:endParaRPr lang="zh-CN" altLang="en-US" sz="1400" dirty="0">
              <a:solidFill>
                <a:srgbClr val="0052D9"/>
              </a:solidFill>
            </a:endParaRPr>
          </a:p>
        </p:txBody>
      </p:sp>
      <p:cxnSp>
        <p:nvCxnSpPr>
          <p:cNvPr id="947" name="连接符: 肘形 946">
            <a:extLst>
              <a:ext uri="{FF2B5EF4-FFF2-40B4-BE49-F238E27FC236}">
                <a16:creationId xmlns:a16="http://schemas.microsoft.com/office/drawing/2014/main" id="{33F0689E-E118-46A0-CC7E-8BAACD6EE147}"/>
              </a:ext>
            </a:extLst>
          </p:cNvPr>
          <p:cNvCxnSpPr>
            <a:cxnSpLocks/>
            <a:stCxn id="719" idx="3"/>
            <a:endCxn id="87" idx="3"/>
          </p:cNvCxnSpPr>
          <p:nvPr/>
        </p:nvCxnSpPr>
        <p:spPr>
          <a:xfrm flipH="1" flipV="1">
            <a:off x="6907213" y="4491832"/>
            <a:ext cx="777875" cy="595313"/>
          </a:xfrm>
          <a:prstGeom prst="bentConnector3">
            <a:avLst>
              <a:gd name="adj1" fmla="val -12408"/>
            </a:avLst>
          </a:prstGeom>
        </p:spPr>
        <p:style>
          <a:lnRef idx="1">
            <a:schemeClr val="accent1"/>
          </a:lnRef>
          <a:fillRef idx="0">
            <a:schemeClr val="accent1"/>
          </a:fillRef>
          <a:effectRef idx="0">
            <a:schemeClr val="accent1"/>
          </a:effectRef>
          <a:fontRef idx="minor">
            <a:schemeClr val="tx1"/>
          </a:fontRef>
        </p:style>
      </p:cxnSp>
      <p:cxnSp>
        <p:nvCxnSpPr>
          <p:cNvPr id="951" name="连接符: 肘形 950">
            <a:extLst>
              <a:ext uri="{FF2B5EF4-FFF2-40B4-BE49-F238E27FC236}">
                <a16:creationId xmlns:a16="http://schemas.microsoft.com/office/drawing/2014/main" id="{0094DC3F-C63C-EEFE-480E-958FE179659A}"/>
              </a:ext>
            </a:extLst>
          </p:cNvPr>
          <p:cNvCxnSpPr>
            <a:cxnSpLocks/>
          </p:cNvCxnSpPr>
          <p:nvPr/>
        </p:nvCxnSpPr>
        <p:spPr>
          <a:xfrm flipH="1" flipV="1">
            <a:off x="9661526" y="3193497"/>
            <a:ext cx="282576" cy="1254125"/>
          </a:xfrm>
          <a:prstGeom prst="bentConnector3">
            <a:avLst>
              <a:gd name="adj1" fmla="val -131236"/>
            </a:avLst>
          </a:prstGeom>
        </p:spPr>
        <p:style>
          <a:lnRef idx="1">
            <a:schemeClr val="accent1"/>
          </a:lnRef>
          <a:fillRef idx="0">
            <a:schemeClr val="accent1"/>
          </a:fillRef>
          <a:effectRef idx="0">
            <a:schemeClr val="accent1"/>
          </a:effectRef>
          <a:fontRef idx="minor">
            <a:schemeClr val="tx1"/>
          </a:fontRef>
        </p:style>
      </p:cxnSp>
      <p:sp>
        <p:nvSpPr>
          <p:cNvPr id="955" name="文本框 954">
            <a:extLst>
              <a:ext uri="{FF2B5EF4-FFF2-40B4-BE49-F238E27FC236}">
                <a16:creationId xmlns:a16="http://schemas.microsoft.com/office/drawing/2014/main" id="{95BB4DFD-9867-151B-8C07-F9DDFADBF003}"/>
              </a:ext>
            </a:extLst>
          </p:cNvPr>
          <p:cNvSpPr txBox="1"/>
          <p:nvPr/>
        </p:nvSpPr>
        <p:spPr>
          <a:xfrm>
            <a:off x="9802814" y="3677256"/>
            <a:ext cx="788988" cy="307975"/>
          </a:xfrm>
          <a:prstGeom prst="rect">
            <a:avLst/>
          </a:prstGeom>
          <a:noFill/>
        </p:spPr>
        <p:txBody>
          <a:bodyPr wrap="square" rtlCol="0">
            <a:spAutoFit/>
          </a:bodyPr>
          <a:lstStyle/>
          <a:p>
            <a:r>
              <a:rPr lang="en-US" altLang="zh-CN" sz="1400" dirty="0">
                <a:solidFill>
                  <a:srgbClr val="0052D9"/>
                </a:solidFill>
              </a:rPr>
              <a:t>46%</a:t>
            </a:r>
            <a:endParaRPr lang="zh-CN" altLang="en-US" sz="1400" dirty="0">
              <a:solidFill>
                <a:srgbClr val="0052D9"/>
              </a:solidFill>
            </a:endParaRPr>
          </a:p>
        </p:txBody>
      </p:sp>
      <p:cxnSp>
        <p:nvCxnSpPr>
          <p:cNvPr id="956" name="连接符: 肘形 955">
            <a:extLst>
              <a:ext uri="{FF2B5EF4-FFF2-40B4-BE49-F238E27FC236}">
                <a16:creationId xmlns:a16="http://schemas.microsoft.com/office/drawing/2014/main" id="{8F752E18-7FBB-7FAC-EABA-ED204E278B1F}"/>
              </a:ext>
            </a:extLst>
          </p:cNvPr>
          <p:cNvCxnSpPr>
            <a:cxnSpLocks/>
            <a:stCxn id="776" idx="3"/>
            <a:endCxn id="476" idx="3"/>
          </p:cNvCxnSpPr>
          <p:nvPr/>
        </p:nvCxnSpPr>
        <p:spPr>
          <a:xfrm flipH="1" flipV="1">
            <a:off x="4975225" y="4598195"/>
            <a:ext cx="246063" cy="582612"/>
          </a:xfrm>
          <a:prstGeom prst="bentConnector3">
            <a:avLst>
              <a:gd name="adj1" fmla="val -92903"/>
            </a:avLst>
          </a:prstGeom>
        </p:spPr>
        <p:style>
          <a:lnRef idx="1">
            <a:schemeClr val="accent1"/>
          </a:lnRef>
          <a:fillRef idx="0">
            <a:schemeClr val="accent1"/>
          </a:fillRef>
          <a:effectRef idx="0">
            <a:schemeClr val="accent1"/>
          </a:effectRef>
          <a:fontRef idx="minor">
            <a:schemeClr val="tx1"/>
          </a:fontRef>
        </p:style>
      </p:cxnSp>
      <p:sp>
        <p:nvSpPr>
          <p:cNvPr id="985" name="文本框 984">
            <a:extLst>
              <a:ext uri="{FF2B5EF4-FFF2-40B4-BE49-F238E27FC236}">
                <a16:creationId xmlns:a16="http://schemas.microsoft.com/office/drawing/2014/main" id="{1FAAC649-19A7-195E-1B37-570470E4DFF5}"/>
              </a:ext>
            </a:extLst>
          </p:cNvPr>
          <p:cNvSpPr txBox="1"/>
          <p:nvPr/>
        </p:nvSpPr>
        <p:spPr>
          <a:xfrm>
            <a:off x="4942682" y="4732338"/>
            <a:ext cx="790575" cy="307975"/>
          </a:xfrm>
          <a:prstGeom prst="rect">
            <a:avLst/>
          </a:prstGeom>
          <a:noFill/>
        </p:spPr>
        <p:txBody>
          <a:bodyPr wrap="square" rtlCol="0">
            <a:spAutoFit/>
          </a:bodyPr>
          <a:lstStyle/>
          <a:p>
            <a:r>
              <a:rPr lang="en-US" altLang="zh-CN" sz="1400" dirty="0">
                <a:solidFill>
                  <a:srgbClr val="0052D9"/>
                </a:solidFill>
              </a:rPr>
              <a:t>34%</a:t>
            </a:r>
            <a:endParaRPr lang="zh-CN" altLang="en-US" sz="1400" dirty="0">
              <a:solidFill>
                <a:srgbClr val="0052D9"/>
              </a:solidFill>
            </a:endParaRPr>
          </a:p>
        </p:txBody>
      </p:sp>
      <p:sp>
        <p:nvSpPr>
          <p:cNvPr id="4" name="矩形 3">
            <a:extLst>
              <a:ext uri="{FF2B5EF4-FFF2-40B4-BE49-F238E27FC236}">
                <a16:creationId xmlns:a16="http://schemas.microsoft.com/office/drawing/2014/main" id="{9EC82F18-D95D-4F0C-F567-7C17BD8222E7}"/>
              </a:ext>
            </a:extLst>
          </p:cNvPr>
          <p:cNvSpPr/>
          <p:nvPr/>
        </p:nvSpPr>
        <p:spPr>
          <a:xfrm>
            <a:off x="711199" y="855521"/>
            <a:ext cx="10751185" cy="1138380"/>
          </a:xfrm>
          <a:prstGeom prst="rect">
            <a:avLst/>
          </a:prstGeom>
          <a:solidFill>
            <a:srgbClr val="EC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kumimoji="1" lang="zh-CN" altLang="en-US" sz="1600" b="1" dirty="0">
                <a:solidFill>
                  <a:schemeClr val="tx1">
                    <a:lumMod val="50000"/>
                  </a:schemeClr>
                </a:solidFill>
                <a:cs typeface="+mn-ea"/>
                <a:sym typeface="+mn-lt"/>
              </a:rPr>
              <a:t>② </a:t>
            </a:r>
            <a:r>
              <a:rPr kumimoji="1" lang="en-US" altLang="zh-CN" sz="1600" b="1" dirty="0">
                <a:solidFill>
                  <a:schemeClr val="tx1">
                    <a:lumMod val="50000"/>
                  </a:schemeClr>
                </a:solidFill>
                <a:cs typeface="+mn-ea"/>
                <a:sym typeface="+mn-lt"/>
              </a:rPr>
              <a:t>ASIC</a:t>
            </a:r>
            <a:r>
              <a:rPr kumimoji="1" lang="zh-CN" altLang="en-US" sz="1600" b="1" dirty="0">
                <a:solidFill>
                  <a:schemeClr val="tx1">
                    <a:lumMod val="50000"/>
                  </a:schemeClr>
                </a:solidFill>
                <a:cs typeface="+mn-ea"/>
                <a:sym typeface="+mn-lt"/>
              </a:rPr>
              <a:t>单卡性能更弱，堆卡需光互连与</a:t>
            </a:r>
            <a:r>
              <a:rPr kumimoji="1" lang="en-US" altLang="zh-CN" sz="1600" b="1" dirty="0">
                <a:solidFill>
                  <a:schemeClr val="tx1">
                    <a:lumMod val="50000"/>
                  </a:schemeClr>
                </a:solidFill>
                <a:cs typeface="+mn-ea"/>
                <a:sym typeface="+mn-lt"/>
              </a:rPr>
              <a:t>CPO</a:t>
            </a:r>
            <a:endParaRPr lang="en-US" altLang="zh-CN" sz="1600" dirty="0">
              <a:solidFill>
                <a:schemeClr val="accent6">
                  <a:lumMod val="10000"/>
                </a:schemeClr>
              </a:solidFill>
            </a:endParaRPr>
          </a:p>
          <a:p>
            <a:pPr marL="285750" indent="-285750">
              <a:spcBef>
                <a:spcPts val="140"/>
              </a:spcBef>
              <a:spcAft>
                <a:spcPts val="140"/>
              </a:spcAft>
              <a:buFont typeface="Arial" panose="020B0604020202020204" pitchFamily="34" charset="0"/>
              <a:buChar char="•"/>
            </a:pPr>
            <a:r>
              <a:rPr lang="zh-CN" altLang="en-US" sz="1600" dirty="0">
                <a:solidFill>
                  <a:srgbClr val="000000"/>
                </a:solidFill>
                <a:latin typeface="PingFang SC"/>
              </a:rPr>
              <a:t>最强</a:t>
            </a:r>
            <a:r>
              <a:rPr lang="en-US" altLang="zh-CN" sz="1600" dirty="0">
                <a:solidFill>
                  <a:srgbClr val="000000"/>
                </a:solidFill>
                <a:latin typeface="PingFang SC"/>
              </a:rPr>
              <a:t>ASIC</a:t>
            </a:r>
            <a:r>
              <a:rPr lang="zh-CN" altLang="en-US" sz="1600" dirty="0">
                <a:solidFill>
                  <a:srgbClr val="000000"/>
                </a:solidFill>
                <a:latin typeface="PingFang SC"/>
              </a:rPr>
              <a:t>单卡性能为同代际</a:t>
            </a:r>
            <a:r>
              <a:rPr lang="en-US" altLang="zh-CN" sz="1600" dirty="0">
                <a:solidFill>
                  <a:srgbClr val="000000"/>
                </a:solidFill>
                <a:latin typeface="PingFang SC"/>
              </a:rPr>
              <a:t>GPU </a:t>
            </a:r>
            <a:r>
              <a:rPr lang="en-US" altLang="zh-CN" sz="1600" dirty="0">
                <a:solidFill>
                  <a:srgbClr val="0052D9"/>
                </a:solidFill>
                <a:latin typeface="PingFang SC"/>
              </a:rPr>
              <a:t>~</a:t>
            </a:r>
            <a:r>
              <a:rPr lang="en-US" altLang="zh-CN" sz="1600" b="1" dirty="0">
                <a:solidFill>
                  <a:srgbClr val="0052D9"/>
                </a:solidFill>
                <a:latin typeface="PingFang SC"/>
              </a:rPr>
              <a:t>40%</a:t>
            </a:r>
            <a:r>
              <a:rPr lang="zh-CN" altLang="en-US" sz="1600" dirty="0">
                <a:solidFill>
                  <a:srgbClr val="000000"/>
                </a:solidFill>
                <a:latin typeface="PingFang SC"/>
              </a:rPr>
              <a:t>，需堆卡补性能差距 </a:t>
            </a:r>
            <a:r>
              <a:rPr lang="en-US" altLang="zh-CN" sz="1600" dirty="0">
                <a:solidFill>
                  <a:srgbClr val="000000"/>
                </a:solidFill>
                <a:latin typeface="PingFang SC"/>
              </a:rPr>
              <a:t>=&gt; </a:t>
            </a:r>
            <a:r>
              <a:rPr lang="zh-CN" altLang="en-US" sz="1600" dirty="0">
                <a:solidFill>
                  <a:srgbClr val="000000"/>
                </a:solidFill>
                <a:latin typeface="PingFang SC"/>
              </a:rPr>
              <a:t>刚需光互连并积极探索</a:t>
            </a:r>
            <a:r>
              <a:rPr lang="en-US" altLang="zh-CN" sz="1600" dirty="0">
                <a:solidFill>
                  <a:srgbClr val="000000"/>
                </a:solidFill>
                <a:latin typeface="PingFang SC"/>
              </a:rPr>
              <a:t>CPO</a:t>
            </a:r>
            <a:r>
              <a:rPr lang="zh-CN" altLang="en-US" sz="1600" dirty="0">
                <a:solidFill>
                  <a:srgbClr val="000000"/>
                </a:solidFill>
                <a:latin typeface="PingFang SC"/>
              </a:rPr>
              <a:t>（与国内</a:t>
            </a:r>
            <a:r>
              <a:rPr lang="en-US" altLang="zh-CN" sz="1600" dirty="0">
                <a:solidFill>
                  <a:srgbClr val="000000"/>
                </a:solidFill>
                <a:latin typeface="PingFang SC"/>
              </a:rPr>
              <a:t>Scale Up</a:t>
            </a:r>
            <a:r>
              <a:rPr lang="zh-CN" altLang="en-US" sz="1600" dirty="0">
                <a:solidFill>
                  <a:srgbClr val="000000"/>
                </a:solidFill>
                <a:latin typeface="PingFang SC"/>
              </a:rPr>
              <a:t>逻辑类似）</a:t>
            </a:r>
            <a:endParaRPr lang="en-US" altLang="zh-CN" sz="1600" dirty="0">
              <a:solidFill>
                <a:srgbClr val="000000"/>
              </a:solidFill>
              <a:latin typeface="PingFang SC"/>
            </a:endParaRPr>
          </a:p>
          <a:p>
            <a:pPr marL="285750" indent="-285750">
              <a:spcBef>
                <a:spcPts val="140"/>
              </a:spcBef>
              <a:spcAft>
                <a:spcPts val="140"/>
              </a:spcAft>
              <a:buFont typeface="Arial" panose="020B0604020202020204" pitchFamily="34" charset="0"/>
              <a:buChar char="•"/>
            </a:pPr>
            <a:r>
              <a:rPr lang="zh-CN" altLang="en-US" sz="1600" dirty="0">
                <a:solidFill>
                  <a:srgbClr val="000000"/>
                </a:solidFill>
                <a:latin typeface="PingFang SC"/>
              </a:rPr>
              <a:t>预计云厂商</a:t>
            </a:r>
            <a:r>
              <a:rPr lang="en-US" altLang="zh-CN" sz="1600" dirty="0">
                <a:solidFill>
                  <a:srgbClr val="000000"/>
                </a:solidFill>
                <a:latin typeface="PingFang SC"/>
              </a:rPr>
              <a:t>ASIC</a:t>
            </a:r>
            <a:r>
              <a:rPr lang="zh-CN" altLang="en-US" sz="1600" dirty="0">
                <a:solidFill>
                  <a:srgbClr val="000000"/>
                </a:solidFill>
                <a:latin typeface="PingFang SC"/>
              </a:rPr>
              <a:t>将贡献光模块市场</a:t>
            </a:r>
            <a:r>
              <a:rPr lang="en-US" altLang="zh-CN" sz="1600" b="1" dirty="0">
                <a:solidFill>
                  <a:srgbClr val="0052D9"/>
                </a:solidFill>
                <a:latin typeface="PingFang SC"/>
              </a:rPr>
              <a:t>~80%</a:t>
            </a:r>
            <a:r>
              <a:rPr lang="zh-CN" altLang="en-US" sz="1600" dirty="0">
                <a:solidFill>
                  <a:srgbClr val="000000"/>
                </a:solidFill>
                <a:latin typeface="PingFang SC"/>
              </a:rPr>
              <a:t>增长，且头部厂商</a:t>
            </a:r>
            <a:r>
              <a:rPr lang="en-US" altLang="zh-CN" sz="1600" dirty="0">
                <a:solidFill>
                  <a:srgbClr val="000000"/>
                </a:solidFill>
                <a:latin typeface="PingFang SC"/>
              </a:rPr>
              <a:t>Google</a:t>
            </a:r>
            <a:r>
              <a:rPr lang="zh-CN" altLang="en-US" sz="1600" dirty="0">
                <a:solidFill>
                  <a:srgbClr val="000000"/>
                </a:solidFill>
                <a:latin typeface="PingFang SC"/>
              </a:rPr>
              <a:t>、</a:t>
            </a:r>
            <a:r>
              <a:rPr lang="en-US" altLang="zh-CN" sz="1600" dirty="0">
                <a:solidFill>
                  <a:srgbClr val="000000"/>
                </a:solidFill>
                <a:latin typeface="PingFang SC"/>
              </a:rPr>
              <a:t>Amazon</a:t>
            </a:r>
            <a:r>
              <a:rPr lang="zh-CN" altLang="en-US" sz="1600" dirty="0">
                <a:solidFill>
                  <a:srgbClr val="000000"/>
                </a:solidFill>
                <a:latin typeface="PingFang SC"/>
              </a:rPr>
              <a:t>的最新</a:t>
            </a:r>
            <a:r>
              <a:rPr lang="en-US" altLang="zh-CN" sz="1600" dirty="0">
                <a:solidFill>
                  <a:srgbClr val="000000"/>
                </a:solidFill>
                <a:latin typeface="PingFang SC"/>
              </a:rPr>
              <a:t>ASIC</a:t>
            </a:r>
            <a:r>
              <a:rPr lang="zh-CN" altLang="en-US" sz="1600" dirty="0">
                <a:solidFill>
                  <a:srgbClr val="000000"/>
                </a:solidFill>
                <a:latin typeface="PingFang SC"/>
              </a:rPr>
              <a:t>开始</a:t>
            </a:r>
            <a:r>
              <a:rPr lang="zh-CN" altLang="en-US" sz="1600" b="1" dirty="0">
                <a:solidFill>
                  <a:srgbClr val="0052D9"/>
                </a:solidFill>
                <a:latin typeface="PingFang SC"/>
              </a:rPr>
              <a:t>向</a:t>
            </a:r>
            <a:r>
              <a:rPr lang="en-US" altLang="zh-CN" sz="1600" b="1" dirty="0">
                <a:solidFill>
                  <a:srgbClr val="0052D9"/>
                </a:solidFill>
                <a:latin typeface="PingFang SC"/>
              </a:rPr>
              <a:t>CPO</a:t>
            </a:r>
            <a:r>
              <a:rPr lang="zh-CN" altLang="en-US" sz="1600" b="1" dirty="0">
                <a:solidFill>
                  <a:srgbClr val="0052D9"/>
                </a:solidFill>
                <a:latin typeface="PingFang SC"/>
              </a:rPr>
              <a:t>演进</a:t>
            </a:r>
            <a:endParaRPr lang="en-US" altLang="zh-CN" sz="1600" b="1" dirty="0">
              <a:solidFill>
                <a:srgbClr val="0052D9"/>
              </a:solidFill>
              <a:latin typeface="PingFang SC"/>
            </a:endParaRPr>
          </a:p>
        </p:txBody>
      </p:sp>
      <p:sp>
        <p:nvSpPr>
          <p:cNvPr id="970" name="椭圆 969">
            <a:extLst>
              <a:ext uri="{FF2B5EF4-FFF2-40B4-BE49-F238E27FC236}">
                <a16:creationId xmlns:a16="http://schemas.microsoft.com/office/drawing/2014/main" id="{5289E6A9-D493-F31A-9DE2-B6F2E426B6BC}"/>
              </a:ext>
            </a:extLst>
          </p:cNvPr>
          <p:cNvSpPr/>
          <p:nvPr/>
        </p:nvSpPr>
        <p:spPr>
          <a:xfrm rot="922616">
            <a:off x="8579227" y="4328133"/>
            <a:ext cx="2564839" cy="729053"/>
          </a:xfrm>
          <a:prstGeom prst="ellipse">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3" name="文本框 972">
            <a:extLst>
              <a:ext uri="{FF2B5EF4-FFF2-40B4-BE49-F238E27FC236}">
                <a16:creationId xmlns:a16="http://schemas.microsoft.com/office/drawing/2014/main" id="{5149B298-0469-865F-021D-44604F556D39}"/>
              </a:ext>
            </a:extLst>
          </p:cNvPr>
          <p:cNvSpPr txBox="1"/>
          <p:nvPr/>
        </p:nvSpPr>
        <p:spPr>
          <a:xfrm>
            <a:off x="9140155" y="4530824"/>
            <a:ext cx="2317149" cy="307777"/>
          </a:xfrm>
          <a:prstGeom prst="rect">
            <a:avLst/>
          </a:prstGeom>
          <a:noFill/>
        </p:spPr>
        <p:txBody>
          <a:bodyPr wrap="square" rtlCol="0">
            <a:spAutoFit/>
          </a:bodyPr>
          <a:lstStyle/>
          <a:p>
            <a:r>
              <a:rPr lang="zh-CN" altLang="en-US" sz="1400" dirty="0">
                <a:solidFill>
                  <a:srgbClr val="0052D9"/>
                </a:solidFill>
              </a:rPr>
              <a:t>计划留出</a:t>
            </a:r>
            <a:r>
              <a:rPr lang="en-US" altLang="zh-CN" sz="1400" dirty="0">
                <a:solidFill>
                  <a:srgbClr val="0052D9"/>
                </a:solidFill>
              </a:rPr>
              <a:t>CPO</a:t>
            </a:r>
            <a:r>
              <a:rPr lang="zh-CN" altLang="en-US" sz="1400" dirty="0">
                <a:solidFill>
                  <a:srgbClr val="0052D9"/>
                </a:solidFill>
              </a:rPr>
              <a:t>接口</a:t>
            </a:r>
          </a:p>
        </p:txBody>
      </p:sp>
    </p:spTree>
    <p:extLst>
      <p:ext uri="{BB962C8B-B14F-4D97-AF65-F5344CB8AC3E}">
        <p14:creationId xmlns:p14="http://schemas.microsoft.com/office/powerpoint/2010/main" val="2198733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85219-A3EA-102C-35FE-28B42AC6ABD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E722B01-5C71-28E6-B385-632746D98F14}"/>
              </a:ext>
            </a:extLst>
          </p:cNvPr>
          <p:cNvGraphicFramePr>
            <a:graphicFrameLocks noChangeAspect="1"/>
          </p:cNvGraphicFramePr>
          <p:nvPr>
            <p:custDataLst>
              <p:tags r:id="rId1"/>
            </p:custDataLst>
            <p:extLst>
              <p:ext uri="{D42A27DB-BD31-4B8C-83A1-F6EECF244321}">
                <p14:modId xmlns:p14="http://schemas.microsoft.com/office/powerpoint/2010/main" val="7345593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1" imgH="401" progId="TCLayout.ActiveDocument.1">
                  <p:embed/>
                </p:oleObj>
              </mc:Choice>
              <mc:Fallback>
                <p:oleObj name="think-cell 幻灯片" r:id="rId4" imgW="401" imgH="401" progId="TCLayout.ActiveDocument.1">
                  <p:embed/>
                  <p:pic>
                    <p:nvPicPr>
                      <p:cNvPr id="6" name="think-cell data - do not delete" hidden="1">
                        <a:extLst>
                          <a:ext uri="{FF2B5EF4-FFF2-40B4-BE49-F238E27FC236}">
                            <a16:creationId xmlns:a16="http://schemas.microsoft.com/office/drawing/2014/main" id="{B48EFA6E-A2A4-CA1D-1B52-3BFFCCA39D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5" name="文本框 94">
            <a:extLst>
              <a:ext uri="{FF2B5EF4-FFF2-40B4-BE49-F238E27FC236}">
                <a16:creationId xmlns:a16="http://schemas.microsoft.com/office/drawing/2014/main" id="{E3E93333-C2DA-51E9-F8F2-0D234A8DBA1C}"/>
              </a:ext>
            </a:extLst>
          </p:cNvPr>
          <p:cNvSpPr txBox="1"/>
          <p:nvPr/>
        </p:nvSpPr>
        <p:spPr>
          <a:xfrm>
            <a:off x="9418476" y="3763774"/>
            <a:ext cx="1499560" cy="738664"/>
          </a:xfrm>
          <a:prstGeom prst="rect">
            <a:avLst/>
          </a:prstGeom>
          <a:noFill/>
        </p:spPr>
        <p:txBody>
          <a:bodyPr wrap="square">
            <a:spAutoFit/>
          </a:bodyPr>
          <a:lstStyle/>
          <a:p>
            <a:r>
              <a:rPr lang="zh-CN" altLang="zh-CN" sz="1200" dirty="0">
                <a:solidFill>
                  <a:srgbClr val="000000"/>
                </a:solidFill>
                <a:cs typeface="+mn-ea"/>
                <a:sym typeface="+mn-lt"/>
              </a:rPr>
              <a:t>产能</a:t>
            </a:r>
            <a:r>
              <a:rPr lang="zh-CN" altLang="zh-CN" sz="1400" b="1" dirty="0">
                <a:solidFill>
                  <a:srgbClr val="0052D9"/>
                </a:solidFill>
                <a:cs typeface="+mn-ea"/>
                <a:sym typeface="+mn-lt"/>
              </a:rPr>
              <a:t>94</a:t>
            </a:r>
            <a:r>
              <a:rPr lang="zh-CN" altLang="zh-CN" sz="1200" dirty="0">
                <a:solidFill>
                  <a:srgbClr val="000000"/>
                </a:solidFill>
                <a:cs typeface="+mn-ea"/>
                <a:sym typeface="+mn-lt"/>
              </a:rPr>
              <a:t>台</a:t>
            </a:r>
            <a:endParaRPr lang="en-US" altLang="zh-CN" sz="1200" dirty="0">
              <a:solidFill>
                <a:srgbClr val="000000"/>
              </a:solidFill>
              <a:cs typeface="+mn-ea"/>
              <a:sym typeface="+mn-lt"/>
            </a:endParaRPr>
          </a:p>
          <a:p>
            <a:r>
              <a:rPr lang="zh-CN" altLang="zh-CN" sz="1200" dirty="0">
                <a:solidFill>
                  <a:srgbClr val="000000"/>
                </a:solidFill>
                <a:cs typeface="+mn-ea"/>
                <a:sym typeface="+mn-lt"/>
              </a:rPr>
              <a:t>产量</a:t>
            </a:r>
            <a:r>
              <a:rPr lang="zh-CN" altLang="zh-CN" sz="1400" b="1" dirty="0">
                <a:solidFill>
                  <a:srgbClr val="0052D9"/>
                </a:solidFill>
                <a:cs typeface="+mn-ea"/>
                <a:sym typeface="+mn-lt"/>
              </a:rPr>
              <a:t>80</a:t>
            </a:r>
            <a:r>
              <a:rPr lang="zh-CN" altLang="zh-CN" sz="1200" dirty="0">
                <a:solidFill>
                  <a:srgbClr val="000000"/>
                </a:solidFill>
                <a:cs typeface="+mn-ea"/>
                <a:sym typeface="+mn-lt"/>
              </a:rPr>
              <a:t>台</a:t>
            </a:r>
            <a:endParaRPr lang="en-US" altLang="zh-CN" sz="1200" dirty="0">
              <a:solidFill>
                <a:srgbClr val="000000"/>
              </a:solidFill>
              <a:cs typeface="+mn-ea"/>
              <a:sym typeface="+mn-lt"/>
            </a:endParaRPr>
          </a:p>
          <a:p>
            <a:r>
              <a:rPr lang="zh-CN" altLang="zh-CN" sz="1200" dirty="0">
                <a:solidFill>
                  <a:srgbClr val="000000"/>
                </a:solidFill>
                <a:cs typeface="+mn-ea"/>
                <a:sym typeface="+mn-lt"/>
              </a:rPr>
              <a:t>销量</a:t>
            </a:r>
            <a:r>
              <a:rPr lang="zh-CN" altLang="zh-CN" sz="1400" b="1" dirty="0">
                <a:solidFill>
                  <a:srgbClr val="0052D9"/>
                </a:solidFill>
                <a:cs typeface="+mn-ea"/>
                <a:sym typeface="+mn-lt"/>
              </a:rPr>
              <a:t>96</a:t>
            </a:r>
            <a:r>
              <a:rPr lang="zh-CN" altLang="zh-CN" sz="1200" dirty="0">
                <a:solidFill>
                  <a:srgbClr val="000000"/>
                </a:solidFill>
                <a:cs typeface="+mn-ea"/>
                <a:sym typeface="+mn-lt"/>
              </a:rPr>
              <a:t>台 </a:t>
            </a:r>
            <a:endParaRPr lang="zh-CN" altLang="en-US" sz="1200" dirty="0">
              <a:cs typeface="+mn-ea"/>
              <a:sym typeface="+mn-lt"/>
            </a:endParaRPr>
          </a:p>
        </p:txBody>
      </p:sp>
      <p:sp>
        <p:nvSpPr>
          <p:cNvPr id="2" name="标题 1">
            <a:extLst>
              <a:ext uri="{FF2B5EF4-FFF2-40B4-BE49-F238E27FC236}">
                <a16:creationId xmlns:a16="http://schemas.microsoft.com/office/drawing/2014/main" id="{E79D7DC7-C968-E660-FBE4-767DAA80661E}"/>
              </a:ext>
            </a:extLst>
          </p:cNvPr>
          <p:cNvSpPr>
            <a:spLocks noGrp="1"/>
          </p:cNvSpPr>
          <p:nvPr>
            <p:ph type="title"/>
          </p:nvPr>
        </p:nvSpPr>
        <p:spPr/>
        <p:txBody>
          <a:bodyPr vert="horz"/>
          <a:lstStyle/>
          <a:p>
            <a:r>
              <a:rPr lang="en-US" altLang="zh-CN" dirty="0" err="1">
                <a:latin typeface="+mn-lt"/>
                <a:ea typeface="+mn-ea"/>
                <a:cs typeface="+mn-ea"/>
                <a:sym typeface="+mn-lt"/>
              </a:rPr>
              <a:t>ficonTEC</a:t>
            </a:r>
            <a:r>
              <a:rPr lang="zh-CN" altLang="en-US" dirty="0">
                <a:latin typeface="+mn-lt"/>
                <a:ea typeface="+mn-ea"/>
                <a:cs typeface="+mn-ea"/>
                <a:sym typeface="+mn-lt"/>
              </a:rPr>
              <a:t>：德国老牌光子装配测试龙头，中企收购卡位国产替代</a:t>
            </a:r>
          </a:p>
        </p:txBody>
      </p:sp>
      <p:sp>
        <p:nvSpPr>
          <p:cNvPr id="7" name="文本框 6">
            <a:extLst>
              <a:ext uri="{FF2B5EF4-FFF2-40B4-BE49-F238E27FC236}">
                <a16:creationId xmlns:a16="http://schemas.microsoft.com/office/drawing/2014/main" id="{5E996DFD-DB9D-0F5C-9F6A-1AABD8A0CA33}"/>
              </a:ext>
            </a:extLst>
          </p:cNvPr>
          <p:cNvSpPr txBox="1"/>
          <p:nvPr/>
        </p:nvSpPr>
        <p:spPr>
          <a:xfrm>
            <a:off x="291221" y="6542459"/>
            <a:ext cx="2999995" cy="25259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200" i="1" dirty="0">
                <a:solidFill>
                  <a:schemeClr val="tx1">
                    <a:lumMod val="50000"/>
                  </a:schemeClr>
                </a:solidFill>
                <a:cs typeface="+mn-ea"/>
                <a:sym typeface="+mn-lt"/>
              </a:rPr>
              <a:t>Source: </a:t>
            </a:r>
            <a:r>
              <a:rPr kumimoji="1" lang="zh-CN" altLang="en-US" sz="1200" i="1" dirty="0">
                <a:solidFill>
                  <a:schemeClr val="tx1">
                    <a:lumMod val="50000"/>
                  </a:schemeClr>
                </a:solidFill>
                <a:cs typeface="+mn-ea"/>
                <a:sym typeface="+mn-lt"/>
              </a:rPr>
              <a:t>公司官网、深交所最新文件</a:t>
            </a:r>
            <a:endParaRPr kumimoji="1" lang="zh-CN" altLang="zh-CN" sz="1200" i="1" dirty="0">
              <a:solidFill>
                <a:schemeClr val="tx1">
                  <a:lumMod val="50000"/>
                </a:schemeClr>
              </a:solidFill>
              <a:cs typeface="+mn-ea"/>
              <a:sym typeface="+mn-lt"/>
            </a:endParaRPr>
          </a:p>
          <a:p>
            <a:pPr>
              <a:spcBef>
                <a:spcPts val="300"/>
              </a:spcBef>
              <a:spcAft>
                <a:spcPts val="300"/>
              </a:spcAft>
            </a:pPr>
            <a:endParaRPr kumimoji="1" lang="zh-CN" altLang="en-US" sz="1200" i="1" dirty="0">
              <a:solidFill>
                <a:schemeClr val="tx1">
                  <a:lumMod val="50000"/>
                </a:schemeClr>
              </a:solidFill>
              <a:cs typeface="+mn-ea"/>
              <a:sym typeface="+mn-lt"/>
            </a:endParaRPr>
          </a:p>
        </p:txBody>
      </p:sp>
      <p:grpSp>
        <p:nvGrpSpPr>
          <p:cNvPr id="83" name="组合 82">
            <a:extLst>
              <a:ext uri="{FF2B5EF4-FFF2-40B4-BE49-F238E27FC236}">
                <a16:creationId xmlns:a16="http://schemas.microsoft.com/office/drawing/2014/main" id="{6EB19848-9D68-08F5-C2C7-2A996090D4E4}"/>
              </a:ext>
            </a:extLst>
          </p:cNvPr>
          <p:cNvGrpSpPr/>
          <p:nvPr/>
        </p:nvGrpSpPr>
        <p:grpSpPr>
          <a:xfrm>
            <a:off x="7429705" y="3769324"/>
            <a:ext cx="1733694" cy="727564"/>
            <a:chOff x="6959734" y="4207316"/>
            <a:chExt cx="1733694" cy="727564"/>
          </a:xfrm>
        </p:grpSpPr>
        <p:pic>
          <p:nvPicPr>
            <p:cNvPr id="49" name="图形 48" descr="USB 纯色填充">
              <a:extLst>
                <a:ext uri="{FF2B5EF4-FFF2-40B4-BE49-F238E27FC236}">
                  <a16:creationId xmlns:a16="http://schemas.microsoft.com/office/drawing/2014/main" id="{5CBB0C1F-1419-39CB-99F8-FD1C008D068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57255" y="4207316"/>
              <a:ext cx="472681" cy="472681"/>
            </a:xfrm>
            <a:prstGeom prst="rect">
              <a:avLst/>
            </a:prstGeom>
          </p:spPr>
        </p:pic>
        <p:sp>
          <p:nvSpPr>
            <p:cNvPr id="51" name="文本框 50">
              <a:extLst>
                <a:ext uri="{FF2B5EF4-FFF2-40B4-BE49-F238E27FC236}">
                  <a16:creationId xmlns:a16="http://schemas.microsoft.com/office/drawing/2014/main" id="{9A33FA5D-AF12-AEDE-BF2A-14A3F1F71718}"/>
                </a:ext>
              </a:extLst>
            </p:cNvPr>
            <p:cNvSpPr txBox="1"/>
            <p:nvPr/>
          </p:nvSpPr>
          <p:spPr>
            <a:xfrm>
              <a:off x="6959734" y="4657881"/>
              <a:ext cx="1536288" cy="276999"/>
            </a:xfrm>
            <a:prstGeom prst="rect">
              <a:avLst/>
            </a:prstGeom>
            <a:noFill/>
          </p:spPr>
          <p:txBody>
            <a:bodyPr wrap="square">
              <a:spAutoFit/>
            </a:bodyPr>
            <a:lstStyle/>
            <a:p>
              <a:pPr algn="ctr"/>
              <a:r>
                <a:rPr kumimoji="0" lang="zh-CN" altLang="zh-CN" sz="1200" b="0" i="0" u="none" strike="noStrike" cap="none" normalizeH="0" baseline="0" dirty="0">
                  <a:ln>
                    <a:noFill/>
                  </a:ln>
                  <a:solidFill>
                    <a:srgbClr val="000000"/>
                  </a:solidFill>
                  <a:effectLst/>
                  <a:cs typeface="+mn-ea"/>
                  <a:sym typeface="+mn-lt"/>
                </a:rPr>
                <a:t>全球交付</a:t>
              </a:r>
              <a:endParaRPr lang="zh-CN" altLang="en-US" sz="1200" dirty="0">
                <a:cs typeface="+mn-ea"/>
                <a:sym typeface="+mn-lt"/>
              </a:endParaRPr>
            </a:p>
          </p:txBody>
        </p:sp>
        <p:sp>
          <p:nvSpPr>
            <p:cNvPr id="53" name="文本框 52">
              <a:extLst>
                <a:ext uri="{FF2B5EF4-FFF2-40B4-BE49-F238E27FC236}">
                  <a16:creationId xmlns:a16="http://schemas.microsoft.com/office/drawing/2014/main" id="{E1CC8B27-833B-CC11-9AAB-EB903FD5F1DA}"/>
                </a:ext>
              </a:extLst>
            </p:cNvPr>
            <p:cNvSpPr txBox="1"/>
            <p:nvPr/>
          </p:nvSpPr>
          <p:spPr>
            <a:xfrm>
              <a:off x="7817128" y="4341443"/>
              <a:ext cx="876300" cy="307777"/>
            </a:xfrm>
            <a:prstGeom prst="rect">
              <a:avLst/>
            </a:prstGeom>
            <a:noFill/>
          </p:spPr>
          <p:txBody>
            <a:bodyPr wrap="square">
              <a:spAutoFit/>
            </a:bodyPr>
            <a:lstStyle/>
            <a:p>
              <a:r>
                <a:rPr kumimoji="0" lang="zh-CN" altLang="zh-CN" sz="1400" b="1" i="0" u="none" strike="noStrike" cap="none" normalizeH="0" baseline="0" dirty="0">
                  <a:ln>
                    <a:noFill/>
                  </a:ln>
                  <a:solidFill>
                    <a:srgbClr val="0052D9"/>
                  </a:solidFill>
                  <a:effectLst/>
                  <a:cs typeface="+mn-ea"/>
                  <a:sym typeface="+mn-lt"/>
                </a:rPr>
                <a:t>700+</a:t>
              </a:r>
              <a:r>
                <a:rPr kumimoji="0" lang="zh-CN" altLang="en-US" sz="1200" b="0" i="0" u="none" strike="noStrike" cap="none" normalizeH="0" baseline="0" dirty="0">
                  <a:ln>
                    <a:noFill/>
                  </a:ln>
                  <a:solidFill>
                    <a:srgbClr val="000000"/>
                  </a:solidFill>
                  <a:effectLst/>
                  <a:cs typeface="+mn-ea"/>
                  <a:sym typeface="+mn-lt"/>
                </a:rPr>
                <a:t>台</a:t>
              </a:r>
              <a:endParaRPr lang="zh-CN" altLang="en-US" sz="1200" dirty="0">
                <a:cs typeface="+mn-ea"/>
                <a:sym typeface="+mn-lt"/>
              </a:endParaRPr>
            </a:p>
          </p:txBody>
        </p:sp>
      </p:grpSp>
      <p:grpSp>
        <p:nvGrpSpPr>
          <p:cNvPr id="82" name="组合 81">
            <a:extLst>
              <a:ext uri="{FF2B5EF4-FFF2-40B4-BE49-F238E27FC236}">
                <a16:creationId xmlns:a16="http://schemas.microsoft.com/office/drawing/2014/main" id="{608F035B-C693-C9D2-0CDA-B424A364E561}"/>
              </a:ext>
            </a:extLst>
          </p:cNvPr>
          <p:cNvGrpSpPr/>
          <p:nvPr/>
        </p:nvGrpSpPr>
        <p:grpSpPr>
          <a:xfrm>
            <a:off x="6270295" y="3739181"/>
            <a:ext cx="1975459" cy="787851"/>
            <a:chOff x="9332675" y="4153814"/>
            <a:chExt cx="1975459" cy="787851"/>
          </a:xfrm>
        </p:grpSpPr>
        <p:pic>
          <p:nvPicPr>
            <p:cNvPr id="55" name="图形 54" descr="标签 轮廓">
              <a:extLst>
                <a:ext uri="{FF2B5EF4-FFF2-40B4-BE49-F238E27FC236}">
                  <a16:creationId xmlns:a16="http://schemas.microsoft.com/office/drawing/2014/main" id="{1AEC6F0E-3F2B-217A-F3AA-113E3102C51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98197" y="4153814"/>
              <a:ext cx="510852" cy="510852"/>
            </a:xfrm>
            <a:prstGeom prst="rect">
              <a:avLst/>
            </a:prstGeom>
          </p:spPr>
        </p:pic>
        <p:sp>
          <p:nvSpPr>
            <p:cNvPr id="57" name="文本框 56">
              <a:extLst>
                <a:ext uri="{FF2B5EF4-FFF2-40B4-BE49-F238E27FC236}">
                  <a16:creationId xmlns:a16="http://schemas.microsoft.com/office/drawing/2014/main" id="{6D79BFB2-DC58-1312-158C-251EE0EE6A26}"/>
                </a:ext>
              </a:extLst>
            </p:cNvPr>
            <p:cNvSpPr txBox="1"/>
            <p:nvPr/>
          </p:nvSpPr>
          <p:spPr>
            <a:xfrm>
              <a:off x="9332675" y="4664666"/>
              <a:ext cx="1006441" cy="276999"/>
            </a:xfrm>
            <a:prstGeom prst="rect">
              <a:avLst/>
            </a:prstGeom>
            <a:noFill/>
          </p:spPr>
          <p:txBody>
            <a:bodyPr wrap="square">
              <a:spAutoFit/>
            </a:bodyPr>
            <a:lstStyle/>
            <a:p>
              <a:pPr algn="ctr"/>
              <a:r>
                <a:rPr kumimoji="0" lang="zh-CN" altLang="zh-CN" sz="1200" b="0" i="0" u="none" strike="noStrike" cap="none" normalizeH="0" baseline="0" dirty="0">
                  <a:ln>
                    <a:noFill/>
                  </a:ln>
                  <a:solidFill>
                    <a:srgbClr val="000000"/>
                  </a:solidFill>
                  <a:effectLst/>
                  <a:cs typeface="+mn-ea"/>
                  <a:sym typeface="+mn-lt"/>
                </a:rPr>
                <a:t>平均ASP</a:t>
              </a:r>
              <a:endParaRPr lang="zh-CN" altLang="en-US" sz="1200" dirty="0">
                <a:cs typeface="+mn-ea"/>
                <a:sym typeface="+mn-lt"/>
              </a:endParaRPr>
            </a:p>
          </p:txBody>
        </p:sp>
        <p:sp>
          <p:nvSpPr>
            <p:cNvPr id="59" name="文本框 58">
              <a:extLst>
                <a:ext uri="{FF2B5EF4-FFF2-40B4-BE49-F238E27FC236}">
                  <a16:creationId xmlns:a16="http://schemas.microsoft.com/office/drawing/2014/main" id="{F3F49F91-9576-C1A5-7026-ED1C6C5C66D4}"/>
                </a:ext>
              </a:extLst>
            </p:cNvPr>
            <p:cNvSpPr txBox="1"/>
            <p:nvPr/>
          </p:nvSpPr>
          <p:spPr>
            <a:xfrm>
              <a:off x="9878454" y="4346175"/>
              <a:ext cx="1429680" cy="307777"/>
            </a:xfrm>
            <a:prstGeom prst="rect">
              <a:avLst/>
            </a:prstGeom>
            <a:noFill/>
          </p:spPr>
          <p:txBody>
            <a:bodyPr wrap="square">
              <a:spAutoFit/>
            </a:bodyPr>
            <a:lstStyle/>
            <a:p>
              <a:r>
                <a:rPr kumimoji="0" lang="zh-CN" altLang="zh-CN" sz="1400" b="1" i="0" u="none" strike="noStrike" cap="none" normalizeH="0" baseline="0" dirty="0">
                  <a:ln>
                    <a:noFill/>
                  </a:ln>
                  <a:solidFill>
                    <a:srgbClr val="0052D9"/>
                  </a:solidFill>
                  <a:effectLst/>
                  <a:cs typeface="+mn-ea"/>
                  <a:sym typeface="+mn-lt"/>
                </a:rPr>
                <a:t>235</a:t>
              </a:r>
              <a:r>
                <a:rPr kumimoji="0" lang="zh-CN" altLang="zh-CN" sz="1200" b="0" i="0" u="none" strike="noStrike" cap="none" normalizeH="0" baseline="0" dirty="0">
                  <a:ln>
                    <a:noFill/>
                  </a:ln>
                  <a:solidFill>
                    <a:srgbClr val="000000"/>
                  </a:solidFill>
                  <a:effectLst/>
                  <a:cs typeface="+mn-ea"/>
                  <a:sym typeface="+mn-lt"/>
                </a:rPr>
                <a:t>万/台</a:t>
              </a:r>
              <a:endParaRPr lang="zh-CN" altLang="en-US" sz="1200" dirty="0">
                <a:cs typeface="+mn-ea"/>
                <a:sym typeface="+mn-lt"/>
              </a:endParaRPr>
            </a:p>
          </p:txBody>
        </p:sp>
      </p:grpSp>
      <p:sp>
        <p:nvSpPr>
          <p:cNvPr id="75" name="文本框 74">
            <a:extLst>
              <a:ext uri="{FF2B5EF4-FFF2-40B4-BE49-F238E27FC236}">
                <a16:creationId xmlns:a16="http://schemas.microsoft.com/office/drawing/2014/main" id="{D919944B-853D-E731-257B-222A179CF891}"/>
              </a:ext>
            </a:extLst>
          </p:cNvPr>
          <p:cNvSpPr txBox="1"/>
          <p:nvPr/>
        </p:nvSpPr>
        <p:spPr>
          <a:xfrm>
            <a:off x="10407292" y="5349824"/>
            <a:ext cx="1536288"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cs typeface="+mn-ea"/>
                <a:sym typeface="+mn-lt"/>
              </a:rPr>
              <a:t>Tech Group AS</a:t>
            </a:r>
            <a:endParaRPr kumimoji="0" lang="en-US" altLang="zh-CN" sz="1400" b="0" i="0" u="none" strike="noStrike" cap="none" normalizeH="0" baseline="0" dirty="0">
              <a:ln>
                <a:noFill/>
              </a:ln>
              <a:solidFill>
                <a:srgbClr val="000000"/>
              </a:solidFill>
              <a:effectLst/>
              <a:cs typeface="+mn-ea"/>
              <a:sym typeface="+mn-lt"/>
            </a:endParaRPr>
          </a:p>
          <a:p>
            <a:pPr lvl="0" eaLnBrk="0" fontAlgn="base" hangingPunct="0">
              <a:spcBef>
                <a:spcPct val="0"/>
              </a:spcBef>
              <a:spcAft>
                <a:spcPct val="0"/>
              </a:spcAft>
            </a:pPr>
            <a:r>
              <a:rPr lang="zh-CN" altLang="en-US" sz="1400" dirty="0">
                <a:solidFill>
                  <a:srgbClr val="000000"/>
                </a:solidFill>
                <a:cs typeface="+mn-ea"/>
                <a:sym typeface="+mn-lt"/>
              </a:rPr>
              <a:t>标准机硬件</a:t>
            </a:r>
            <a:r>
              <a:rPr lang="zh-CN" altLang="zh-CN" sz="1400" dirty="0">
                <a:solidFill>
                  <a:srgbClr val="000000"/>
                </a:solidFill>
                <a:cs typeface="+mn-ea"/>
                <a:sym typeface="+mn-lt"/>
              </a:rPr>
              <a:t>长期委外</a:t>
            </a:r>
            <a:endParaRPr kumimoji="0" lang="zh-CN" altLang="zh-CN" sz="1400" b="0" i="0" u="none" strike="noStrike" cap="none" normalizeH="0" baseline="0" dirty="0">
              <a:ln>
                <a:noFill/>
              </a:ln>
              <a:solidFill>
                <a:schemeClr val="tx1"/>
              </a:solidFill>
              <a:effectLst/>
              <a:cs typeface="+mn-ea"/>
              <a:sym typeface="+mn-lt"/>
            </a:endParaRPr>
          </a:p>
        </p:txBody>
      </p:sp>
      <p:sp>
        <p:nvSpPr>
          <p:cNvPr id="78" name="文本框 77">
            <a:extLst>
              <a:ext uri="{FF2B5EF4-FFF2-40B4-BE49-F238E27FC236}">
                <a16:creationId xmlns:a16="http://schemas.microsoft.com/office/drawing/2014/main" id="{E1FCB49C-BE05-04CC-C65F-FB113715C03F}"/>
              </a:ext>
            </a:extLst>
          </p:cNvPr>
          <p:cNvSpPr txBox="1"/>
          <p:nvPr/>
        </p:nvSpPr>
        <p:spPr>
          <a:xfrm>
            <a:off x="249936" y="799727"/>
            <a:ext cx="11783313" cy="584775"/>
          </a:xfrm>
          <a:prstGeom prst="rect">
            <a:avLst/>
          </a:prstGeom>
          <a:noFill/>
        </p:spPr>
        <p:txBody>
          <a:bodyPr wrap="square">
            <a:spAutoFit/>
          </a:bodyPr>
          <a:lstStyle/>
          <a:p>
            <a:pPr marL="285750" indent="-285750">
              <a:buFont typeface="Arial" panose="020B0604020202020204" pitchFamily="34" charset="0"/>
              <a:buChar char="•"/>
            </a:pPr>
            <a:r>
              <a:rPr lang="zh-CN" altLang="en-US" sz="1600" b="1" dirty="0">
                <a:solidFill>
                  <a:schemeClr val="accent6">
                    <a:lumMod val="10000"/>
                  </a:schemeClr>
                </a:solidFill>
                <a:cs typeface="+mn-ea"/>
                <a:sym typeface="+mn-lt"/>
              </a:rPr>
              <a:t>市场地位：</a:t>
            </a:r>
            <a:r>
              <a:rPr lang="zh-CN" altLang="en-US" sz="1600" u="sng" dirty="0">
                <a:solidFill>
                  <a:schemeClr val="accent6">
                    <a:lumMod val="10000"/>
                  </a:schemeClr>
                </a:solidFill>
                <a:cs typeface="+mn-ea"/>
                <a:sym typeface="+mn-lt"/>
              </a:rPr>
              <a:t>全球极少数</a:t>
            </a:r>
            <a:r>
              <a:rPr lang="zh-CN" altLang="en-US" sz="1600" dirty="0">
                <a:solidFill>
                  <a:schemeClr val="accent6">
                    <a:lumMod val="10000"/>
                  </a:schemeClr>
                </a:solidFill>
                <a:cs typeface="+mn-ea"/>
                <a:sym typeface="+mn-lt"/>
              </a:rPr>
              <a:t>能够为</a:t>
            </a:r>
            <a:r>
              <a:rPr lang="en-US" altLang="zh-CN" sz="1600" dirty="0">
                <a:solidFill>
                  <a:schemeClr val="accent6">
                    <a:lumMod val="10000"/>
                  </a:schemeClr>
                </a:solidFill>
                <a:cs typeface="+mn-ea"/>
                <a:sym typeface="+mn-lt"/>
              </a:rPr>
              <a:t>800G</a:t>
            </a:r>
            <a:r>
              <a:rPr lang="zh-CN" altLang="en-US" sz="1600" dirty="0">
                <a:solidFill>
                  <a:schemeClr val="accent6">
                    <a:lumMod val="10000"/>
                  </a:schemeClr>
                </a:solidFill>
                <a:cs typeface="+mn-ea"/>
                <a:sym typeface="+mn-lt"/>
              </a:rPr>
              <a:t>以上硅光电子、</a:t>
            </a:r>
            <a:r>
              <a:rPr lang="en-US" altLang="zh-CN" sz="1600" dirty="0">
                <a:solidFill>
                  <a:schemeClr val="accent6">
                    <a:lumMod val="10000"/>
                  </a:schemeClr>
                </a:solidFill>
                <a:cs typeface="+mn-ea"/>
                <a:sym typeface="+mn-lt"/>
              </a:rPr>
              <a:t>CPO </a:t>
            </a:r>
            <a:r>
              <a:rPr lang="zh-CN" altLang="en-US" sz="1600" dirty="0">
                <a:solidFill>
                  <a:schemeClr val="accent6">
                    <a:lumMod val="10000"/>
                  </a:schemeClr>
                </a:solidFill>
                <a:cs typeface="+mn-ea"/>
                <a:sym typeface="+mn-lt"/>
              </a:rPr>
              <a:t>光模块提供</a:t>
            </a:r>
            <a:r>
              <a:rPr lang="zh-CN" altLang="en-US" sz="1600" u="sng" dirty="0">
                <a:solidFill>
                  <a:schemeClr val="accent6">
                    <a:lumMod val="10000"/>
                  </a:schemeClr>
                </a:solidFill>
                <a:cs typeface="+mn-ea"/>
                <a:sym typeface="+mn-lt"/>
              </a:rPr>
              <a:t>全自动封装耦合设备</a:t>
            </a:r>
            <a:r>
              <a:rPr lang="zh-CN" altLang="en-US" sz="1600" dirty="0">
                <a:solidFill>
                  <a:schemeClr val="accent6">
                    <a:lumMod val="10000"/>
                  </a:schemeClr>
                </a:solidFill>
                <a:cs typeface="+mn-ea"/>
                <a:sym typeface="+mn-lt"/>
              </a:rPr>
              <a:t>的企业</a:t>
            </a:r>
            <a:endParaRPr lang="en-US" altLang="zh-CN" sz="1600" dirty="0">
              <a:solidFill>
                <a:schemeClr val="accent6">
                  <a:lumMod val="10000"/>
                </a:schemeClr>
              </a:solidFill>
              <a:cs typeface="+mn-ea"/>
              <a:sym typeface="+mn-lt"/>
            </a:endParaRPr>
          </a:p>
          <a:p>
            <a:pPr marL="285750" indent="-285750">
              <a:buFont typeface="Arial" panose="020B0604020202020204" pitchFamily="34" charset="0"/>
              <a:buChar char="•"/>
            </a:pPr>
            <a:r>
              <a:rPr lang="zh-CN" altLang="en-US" sz="1600" b="1" dirty="0">
                <a:solidFill>
                  <a:schemeClr val="accent6">
                    <a:lumMod val="10000"/>
                  </a:schemeClr>
                </a:solidFill>
                <a:cs typeface="+mn-ea"/>
                <a:sym typeface="+mn-lt"/>
              </a:rPr>
              <a:t>前景：</a:t>
            </a:r>
            <a:r>
              <a:rPr lang="zh-CN" altLang="zh-CN" sz="1600" dirty="0">
                <a:solidFill>
                  <a:schemeClr val="accent6">
                    <a:lumMod val="10000"/>
                  </a:schemeClr>
                </a:solidFill>
                <a:cs typeface="+mn-ea"/>
                <a:sym typeface="+mn-lt"/>
              </a:rPr>
              <a:t>高精度封装能力的重要性在更重视光学的</a:t>
            </a:r>
            <a:r>
              <a:rPr lang="en-US" altLang="zh-CN" sz="1600" dirty="0">
                <a:solidFill>
                  <a:schemeClr val="accent6">
                    <a:lumMod val="10000"/>
                  </a:schemeClr>
                </a:solidFill>
                <a:cs typeface="+mn-ea"/>
                <a:sym typeface="+mn-lt"/>
              </a:rPr>
              <a:t>CPO</a:t>
            </a:r>
            <a:r>
              <a:rPr lang="zh-CN" altLang="zh-CN" sz="1600" dirty="0">
                <a:solidFill>
                  <a:schemeClr val="accent6">
                    <a:lumMod val="10000"/>
                  </a:schemeClr>
                </a:solidFill>
                <a:cs typeface="+mn-ea"/>
                <a:sym typeface="+mn-lt"/>
              </a:rPr>
              <a:t>时代会提升</a:t>
            </a:r>
          </a:p>
        </p:txBody>
      </p:sp>
      <p:sp>
        <p:nvSpPr>
          <p:cNvPr id="84" name="文本框 83">
            <a:extLst>
              <a:ext uri="{FF2B5EF4-FFF2-40B4-BE49-F238E27FC236}">
                <a16:creationId xmlns:a16="http://schemas.microsoft.com/office/drawing/2014/main" id="{C3DA17BF-D6BA-66A2-06AF-C9AE7DFE0159}"/>
              </a:ext>
            </a:extLst>
          </p:cNvPr>
          <p:cNvSpPr txBox="1"/>
          <p:nvPr/>
        </p:nvSpPr>
        <p:spPr>
          <a:xfrm>
            <a:off x="6274160" y="3296273"/>
            <a:ext cx="5269570" cy="328613"/>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zh-CN" altLang="en-US" sz="1600" b="1" dirty="0">
                <a:solidFill>
                  <a:schemeClr val="accent6">
                    <a:lumMod val="10000"/>
                  </a:schemeClr>
                </a:solidFill>
                <a:cs typeface="+mn-ea"/>
                <a:sym typeface="+mn-lt"/>
              </a:rPr>
              <a:t>交付：</a:t>
            </a:r>
            <a:r>
              <a:rPr kumimoji="1" lang="zh-CN" altLang="en-US" sz="1600" dirty="0">
                <a:solidFill>
                  <a:schemeClr val="accent6">
                    <a:lumMod val="10000"/>
                  </a:schemeClr>
                </a:solidFill>
                <a:cs typeface="+mn-ea"/>
                <a:sym typeface="+mn-lt"/>
              </a:rPr>
              <a:t>低量高价，重交付，</a:t>
            </a:r>
            <a:r>
              <a:rPr lang="zh-CN" altLang="zh-CN" sz="1600" dirty="0">
                <a:solidFill>
                  <a:srgbClr val="000000"/>
                </a:solidFill>
                <a:cs typeface="+mn-ea"/>
                <a:sym typeface="+mn-lt"/>
              </a:rPr>
              <a:t>产能利用率85%（销量&gt;产能，靠去库存发货，产能利用率大概率是交付节奏束缚）</a:t>
            </a:r>
            <a:endParaRPr kumimoji="1" lang="en-US" altLang="zh-CN" sz="1600" dirty="0">
              <a:solidFill>
                <a:schemeClr val="accent6">
                  <a:lumMod val="10000"/>
                </a:schemeClr>
              </a:solidFill>
              <a:cs typeface="+mn-ea"/>
              <a:sym typeface="+mn-lt"/>
            </a:endParaRPr>
          </a:p>
        </p:txBody>
      </p:sp>
      <p:sp>
        <p:nvSpPr>
          <p:cNvPr id="34" name="文本框 33">
            <a:extLst>
              <a:ext uri="{FF2B5EF4-FFF2-40B4-BE49-F238E27FC236}">
                <a16:creationId xmlns:a16="http://schemas.microsoft.com/office/drawing/2014/main" id="{B97600D4-8EFC-4BEB-F372-2AC496A90423}"/>
              </a:ext>
            </a:extLst>
          </p:cNvPr>
          <p:cNvSpPr txBox="1"/>
          <p:nvPr/>
        </p:nvSpPr>
        <p:spPr>
          <a:xfrm>
            <a:off x="238261" y="1610833"/>
            <a:ext cx="5768454" cy="338554"/>
          </a:xfrm>
          <a:prstGeom prst="rect">
            <a:avLst/>
          </a:prstGeom>
          <a:noFill/>
        </p:spPr>
        <p:txBody>
          <a:bodyPr wrap="square">
            <a:spAutoFit/>
          </a:bodyPr>
          <a:lstStyle/>
          <a:p>
            <a:pPr marL="285750" indent="-285750">
              <a:buFont typeface="Arial" panose="020B0604020202020204" pitchFamily="34" charset="0"/>
              <a:buChar char="•"/>
            </a:pPr>
            <a:r>
              <a:rPr lang="zh-CN" altLang="en-US" sz="1600" dirty="0">
                <a:solidFill>
                  <a:srgbClr val="000000"/>
                </a:solidFill>
                <a:cs typeface="+mn-ea"/>
                <a:sym typeface="+mn-lt"/>
              </a:rPr>
              <a:t>中企收购弥补国内技术空白</a:t>
            </a:r>
            <a:endParaRPr kumimoji="0" lang="en-US" altLang="zh-CN" sz="1600" b="0" i="0" u="none" strike="noStrike" cap="none" normalizeH="0" baseline="0" dirty="0">
              <a:ln>
                <a:noFill/>
              </a:ln>
              <a:solidFill>
                <a:srgbClr val="000000"/>
              </a:solidFill>
              <a:effectLst/>
              <a:cs typeface="+mn-ea"/>
              <a:sym typeface="+mn-lt"/>
            </a:endParaRPr>
          </a:p>
        </p:txBody>
      </p:sp>
      <p:grpSp>
        <p:nvGrpSpPr>
          <p:cNvPr id="35" name="组合 34">
            <a:extLst>
              <a:ext uri="{FF2B5EF4-FFF2-40B4-BE49-F238E27FC236}">
                <a16:creationId xmlns:a16="http://schemas.microsoft.com/office/drawing/2014/main" id="{6BDC90A3-7CAF-E5F6-70E3-C28E50B2F340}"/>
              </a:ext>
            </a:extLst>
          </p:cNvPr>
          <p:cNvGrpSpPr/>
          <p:nvPr/>
        </p:nvGrpSpPr>
        <p:grpSpPr>
          <a:xfrm>
            <a:off x="-26308" y="1967324"/>
            <a:ext cx="5948680" cy="1104923"/>
            <a:chOff x="27699" y="2598831"/>
            <a:chExt cx="5948680" cy="1104923"/>
          </a:xfrm>
        </p:grpSpPr>
        <p:grpSp>
          <p:nvGrpSpPr>
            <p:cNvPr id="4" name="组合 3">
              <a:extLst>
                <a:ext uri="{FF2B5EF4-FFF2-40B4-BE49-F238E27FC236}">
                  <a16:creationId xmlns:a16="http://schemas.microsoft.com/office/drawing/2014/main" id="{495F44A2-C061-5D7D-8391-320D4C0B5020}"/>
                </a:ext>
              </a:extLst>
            </p:cNvPr>
            <p:cNvGrpSpPr/>
            <p:nvPr/>
          </p:nvGrpSpPr>
          <p:grpSpPr>
            <a:xfrm>
              <a:off x="27699" y="2598831"/>
              <a:ext cx="5948680" cy="684606"/>
              <a:chOff x="-21769" y="3068770"/>
              <a:chExt cx="5948680" cy="684606"/>
            </a:xfrm>
          </p:grpSpPr>
          <p:sp>
            <p:nvSpPr>
              <p:cNvPr id="18" name="文本框 17">
                <a:extLst>
                  <a:ext uri="{FF2B5EF4-FFF2-40B4-BE49-F238E27FC236}">
                    <a16:creationId xmlns:a16="http://schemas.microsoft.com/office/drawing/2014/main" id="{20678657-096D-B78D-191E-F3A961E120A8}"/>
                  </a:ext>
                </a:extLst>
              </p:cNvPr>
              <p:cNvSpPr txBox="1"/>
              <p:nvPr/>
            </p:nvSpPr>
            <p:spPr>
              <a:xfrm>
                <a:off x="3379076" y="3073288"/>
                <a:ext cx="2547835"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400" b="0" i="0" u="none" strike="noStrike" cap="none" normalizeH="0" baseline="0" dirty="0">
                    <a:ln>
                      <a:noFill/>
                    </a:ln>
                    <a:solidFill>
                      <a:srgbClr val="000000"/>
                    </a:solidFill>
                    <a:effectLst/>
                    <a:cs typeface="+mn-ea"/>
                    <a:sym typeface="+mn-lt"/>
                  </a:rPr>
                  <a:t>被中国上市公司RoboTechnik以10.11亿</a:t>
                </a:r>
                <a:r>
                  <a:rPr kumimoji="0" lang="en-US" altLang="zh-CN" sz="1400" b="0" i="0" u="none" strike="noStrike" cap="none" normalizeH="0" baseline="0" dirty="0">
                    <a:ln>
                      <a:noFill/>
                    </a:ln>
                    <a:solidFill>
                      <a:srgbClr val="000000"/>
                    </a:solidFill>
                    <a:effectLst/>
                    <a:cs typeface="+mn-ea"/>
                    <a:sym typeface="+mn-lt"/>
                  </a:rPr>
                  <a:t> RMB</a:t>
                </a:r>
                <a:r>
                  <a:rPr lang="en-US" altLang="zh-CN" sz="1400" dirty="0">
                    <a:solidFill>
                      <a:srgbClr val="000000"/>
                    </a:solidFill>
                    <a:cs typeface="+mn-ea"/>
                    <a:sym typeface="+mn-lt"/>
                  </a:rPr>
                  <a:t> 100%</a:t>
                </a:r>
                <a:r>
                  <a:rPr lang="zh-CN" altLang="en-US" sz="1400" dirty="0">
                    <a:solidFill>
                      <a:srgbClr val="000000"/>
                    </a:solidFill>
                    <a:cs typeface="+mn-ea"/>
                    <a:sym typeface="+mn-lt"/>
                  </a:rPr>
                  <a:t>收购</a:t>
                </a:r>
                <a:endParaRPr kumimoji="0" lang="zh-CN" altLang="zh-CN" sz="1400" b="0" i="0" u="none" strike="noStrike" cap="none" normalizeH="0" baseline="0" dirty="0">
                  <a:ln>
                    <a:noFill/>
                  </a:ln>
                  <a:solidFill>
                    <a:schemeClr val="tx1"/>
                  </a:solidFill>
                  <a:effectLst/>
                  <a:cs typeface="+mn-ea"/>
                  <a:sym typeface="+mn-lt"/>
                </a:endParaRPr>
              </a:p>
            </p:txBody>
          </p:sp>
          <p:sp>
            <p:nvSpPr>
              <p:cNvPr id="22" name="文本框 21">
                <a:extLst>
                  <a:ext uri="{FF2B5EF4-FFF2-40B4-BE49-F238E27FC236}">
                    <a16:creationId xmlns:a16="http://schemas.microsoft.com/office/drawing/2014/main" id="{80B5CBD8-B142-509A-526A-B947849110E3}"/>
                  </a:ext>
                </a:extLst>
              </p:cNvPr>
              <p:cNvSpPr txBox="1"/>
              <p:nvPr/>
            </p:nvSpPr>
            <p:spPr>
              <a:xfrm>
                <a:off x="1685745" y="3068770"/>
                <a:ext cx="1396254" cy="523220"/>
              </a:xfrm>
              <a:prstGeom prst="rect">
                <a:avLst/>
              </a:prstGeom>
              <a:noFill/>
            </p:spPr>
            <p:txBody>
              <a:bodyPr wrap="square">
                <a:spAutoFit/>
              </a:bodyPr>
              <a:lstStyle/>
              <a:p>
                <a:pPr algn="ctr"/>
                <a:r>
                  <a:rPr kumimoji="0" lang="zh-CN" altLang="zh-CN" sz="1400" b="0" i="0" u="none" strike="noStrike" cap="none" normalizeH="0" baseline="0" dirty="0">
                    <a:ln>
                      <a:noFill/>
                    </a:ln>
                    <a:solidFill>
                      <a:srgbClr val="000000"/>
                    </a:solidFill>
                    <a:effectLst/>
                    <a:cs typeface="+mn-ea"/>
                    <a:sym typeface="+mn-lt"/>
                  </a:rPr>
                  <a:t>获德国mic</a:t>
                </a:r>
                <a:r>
                  <a:rPr kumimoji="0" lang="en-US" altLang="zh-CN" sz="1400" b="0" i="0" u="none" strike="noStrike" cap="none" normalizeH="0" baseline="0" dirty="0">
                    <a:ln>
                      <a:noFill/>
                    </a:ln>
                    <a:solidFill>
                      <a:srgbClr val="000000"/>
                    </a:solidFill>
                    <a:effectLst/>
                    <a:cs typeface="+mn-ea"/>
                    <a:sym typeface="+mn-lt"/>
                  </a:rPr>
                  <a:t> </a:t>
                </a:r>
                <a:r>
                  <a:rPr kumimoji="0" lang="zh-CN" altLang="zh-CN" sz="1400" b="0" i="0" u="none" strike="noStrike" cap="none" normalizeH="0" baseline="0" dirty="0">
                    <a:ln>
                      <a:noFill/>
                    </a:ln>
                    <a:solidFill>
                      <a:srgbClr val="000000"/>
                    </a:solidFill>
                    <a:effectLst/>
                    <a:cs typeface="+mn-ea"/>
                    <a:sym typeface="+mn-lt"/>
                  </a:rPr>
                  <a:t>seed轮投资</a:t>
                </a:r>
                <a:endParaRPr lang="zh-CN" altLang="en-US" sz="1400" dirty="0">
                  <a:cs typeface="+mn-ea"/>
                  <a:sym typeface="+mn-lt"/>
                </a:endParaRPr>
              </a:p>
            </p:txBody>
          </p:sp>
          <p:sp>
            <p:nvSpPr>
              <p:cNvPr id="24" name="文本框 23">
                <a:extLst>
                  <a:ext uri="{FF2B5EF4-FFF2-40B4-BE49-F238E27FC236}">
                    <a16:creationId xmlns:a16="http://schemas.microsoft.com/office/drawing/2014/main" id="{886D9C25-13C6-F2D7-5457-4E1AB9466572}"/>
                  </a:ext>
                </a:extLst>
              </p:cNvPr>
              <p:cNvSpPr txBox="1"/>
              <p:nvPr/>
            </p:nvSpPr>
            <p:spPr>
              <a:xfrm>
                <a:off x="-21769" y="3073404"/>
                <a:ext cx="2202198" cy="523220"/>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zh-CN" altLang="zh-CN" sz="1400" b="0" i="0" u="none" strike="noStrike" cap="none" normalizeH="0" baseline="0" dirty="0">
                    <a:ln>
                      <a:noFill/>
                    </a:ln>
                    <a:solidFill>
                      <a:srgbClr val="000000"/>
                    </a:solidFill>
                    <a:effectLst/>
                    <a:cs typeface="+mn-ea"/>
                    <a:sym typeface="+mn-lt"/>
                  </a:rPr>
                  <a:t>于德国成立</a:t>
                </a:r>
                <a:endParaRPr kumimoji="0" lang="en-US" altLang="zh-CN" sz="1400" b="0" i="0" u="none" strike="noStrike" cap="none" normalizeH="0" baseline="0" dirty="0">
                  <a:ln>
                    <a:noFill/>
                  </a:ln>
                  <a:solidFill>
                    <a:srgbClr val="000000"/>
                  </a:solidFill>
                  <a:effectLst/>
                  <a:cs typeface="+mn-ea"/>
                  <a:sym typeface="+mn-lt"/>
                </a:endParaRPr>
              </a:p>
              <a:p>
                <a:pPr marL="0" marR="0" lvl="0" indent="0" algn="ctr" defTabSz="914400" rtl="0" eaLnBrk="0" fontAlgn="base" latinLnBrk="0" hangingPunct="0">
                  <a:lnSpc>
                    <a:spcPct val="100000"/>
                  </a:lnSpc>
                  <a:spcBef>
                    <a:spcPct val="0"/>
                  </a:spcBef>
                  <a:spcAft>
                    <a:spcPct val="0"/>
                  </a:spcAft>
                  <a:buClrTx/>
                  <a:buSzTx/>
                  <a:tabLst/>
                </a:pPr>
                <a:r>
                  <a:rPr kumimoji="0" lang="zh-CN" altLang="zh-CN" sz="1400" b="0" i="0" u="none" strike="noStrike" cap="none" normalizeH="0" baseline="0" dirty="0">
                    <a:ln>
                      <a:noFill/>
                    </a:ln>
                    <a:solidFill>
                      <a:srgbClr val="000000"/>
                    </a:solidFill>
                    <a:effectLst/>
                    <a:cs typeface="+mn-ea"/>
                    <a:sym typeface="+mn-lt"/>
                  </a:rPr>
                  <a:t>专用设备供应商</a:t>
                </a:r>
                <a:endParaRPr kumimoji="0" lang="zh-CN" altLang="zh-CN" sz="1400" b="0" i="0" u="none" strike="noStrike" cap="none" normalizeH="0" baseline="0" dirty="0">
                  <a:ln>
                    <a:noFill/>
                  </a:ln>
                  <a:solidFill>
                    <a:schemeClr val="tx1"/>
                  </a:solidFill>
                  <a:effectLst/>
                  <a:cs typeface="+mn-ea"/>
                  <a:sym typeface="+mn-lt"/>
                </a:endParaRPr>
              </a:p>
            </p:txBody>
          </p:sp>
          <p:cxnSp>
            <p:nvCxnSpPr>
              <p:cNvPr id="41" name="直接箭头连接符 40">
                <a:extLst>
                  <a:ext uri="{FF2B5EF4-FFF2-40B4-BE49-F238E27FC236}">
                    <a16:creationId xmlns:a16="http://schemas.microsoft.com/office/drawing/2014/main" id="{2733F027-A8A6-A925-8AD6-9E76BA7DC9A4}"/>
                  </a:ext>
                </a:extLst>
              </p:cNvPr>
              <p:cNvCxnSpPr/>
              <p:nvPr/>
            </p:nvCxnSpPr>
            <p:spPr>
              <a:xfrm>
                <a:off x="688894" y="3753376"/>
                <a:ext cx="49828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3B5D8CDE-AE66-371A-E90F-DA8720FF0DEE}"/>
                </a:ext>
              </a:extLst>
            </p:cNvPr>
            <p:cNvGrpSpPr/>
            <p:nvPr/>
          </p:nvGrpSpPr>
          <p:grpSpPr>
            <a:xfrm>
              <a:off x="799791" y="3181688"/>
              <a:ext cx="754380" cy="508801"/>
              <a:chOff x="2380429" y="5497808"/>
              <a:chExt cx="754380" cy="508801"/>
            </a:xfrm>
          </p:grpSpPr>
          <p:sp>
            <p:nvSpPr>
              <p:cNvPr id="19" name="iconfont-1018-792472">
                <a:extLst>
                  <a:ext uri="{FF2B5EF4-FFF2-40B4-BE49-F238E27FC236}">
                    <a16:creationId xmlns:a16="http://schemas.microsoft.com/office/drawing/2014/main" id="{EA814B08-CD52-C99A-FC8F-44F9D9CF41C3}"/>
                  </a:ext>
                </a:extLst>
              </p:cNvPr>
              <p:cNvSpPr/>
              <p:nvPr/>
            </p:nvSpPr>
            <p:spPr>
              <a:xfrm>
                <a:off x="2573461" y="5497808"/>
                <a:ext cx="205783" cy="205783"/>
              </a:xfrm>
              <a:custGeom>
                <a:avLst/>
                <a:gdLst>
                  <a:gd name="T0" fmla="*/ 1876 w 12800"/>
                  <a:gd name="T1" fmla="*/ 1876 h 12800"/>
                  <a:gd name="T2" fmla="*/ 6400 w 12800"/>
                  <a:gd name="T3" fmla="*/ 0 h 12800"/>
                  <a:gd name="T4" fmla="*/ 10924 w 12800"/>
                  <a:gd name="T5" fmla="*/ 1876 h 12800"/>
                  <a:gd name="T6" fmla="*/ 12800 w 12800"/>
                  <a:gd name="T7" fmla="*/ 6400 h 12800"/>
                  <a:gd name="T8" fmla="*/ 10924 w 12800"/>
                  <a:gd name="T9" fmla="*/ 10924 h 12800"/>
                  <a:gd name="T10" fmla="*/ 6400 w 12800"/>
                  <a:gd name="T11" fmla="*/ 12800 h 12800"/>
                  <a:gd name="T12" fmla="*/ 1876 w 12800"/>
                  <a:gd name="T13" fmla="*/ 10924 h 12800"/>
                  <a:gd name="T14" fmla="*/ 0 w 12800"/>
                  <a:gd name="T15" fmla="*/ 6400 h 12800"/>
                  <a:gd name="T16" fmla="*/ 1876 w 12800"/>
                  <a:gd name="T17" fmla="*/ 1876 h 12800"/>
                  <a:gd name="T18" fmla="*/ 6400 w 12800"/>
                  <a:gd name="T19" fmla="*/ 524 h 12800"/>
                  <a:gd name="T20" fmla="*/ 3446 w 12800"/>
                  <a:gd name="T21" fmla="*/ 1308 h 12800"/>
                  <a:gd name="T22" fmla="*/ 1308 w 12800"/>
                  <a:gd name="T23" fmla="*/ 3446 h 12800"/>
                  <a:gd name="T24" fmla="*/ 524 w 12800"/>
                  <a:gd name="T25" fmla="*/ 6400 h 12800"/>
                  <a:gd name="T26" fmla="*/ 2246 w 12800"/>
                  <a:gd name="T27" fmla="*/ 10554 h 12800"/>
                  <a:gd name="T28" fmla="*/ 6400 w 12800"/>
                  <a:gd name="T29" fmla="*/ 12276 h 12800"/>
                  <a:gd name="T30" fmla="*/ 10554 w 12800"/>
                  <a:gd name="T31" fmla="*/ 10554 h 12800"/>
                  <a:gd name="T32" fmla="*/ 12276 w 12800"/>
                  <a:gd name="T33" fmla="*/ 6400 h 12800"/>
                  <a:gd name="T34" fmla="*/ 10554 w 12800"/>
                  <a:gd name="T35" fmla="*/ 2246 h 12800"/>
                  <a:gd name="T36" fmla="*/ 6400 w 12800"/>
                  <a:gd name="T37" fmla="*/ 524 h 12800"/>
                  <a:gd name="T38" fmla="*/ 6400 w 12800"/>
                  <a:gd name="T39" fmla="*/ 3200 h 12800"/>
                  <a:gd name="T40" fmla="*/ 5123 w 12800"/>
                  <a:gd name="T41" fmla="*/ 3461 h 12800"/>
                  <a:gd name="T42" fmla="*/ 4061 w 12800"/>
                  <a:gd name="T43" fmla="*/ 4154 h 12800"/>
                  <a:gd name="T44" fmla="*/ 3369 w 12800"/>
                  <a:gd name="T45" fmla="*/ 5215 h 12800"/>
                  <a:gd name="T46" fmla="*/ 3108 w 12800"/>
                  <a:gd name="T47" fmla="*/ 6492 h 12800"/>
                  <a:gd name="T48" fmla="*/ 3369 w 12800"/>
                  <a:gd name="T49" fmla="*/ 7770 h 12800"/>
                  <a:gd name="T50" fmla="*/ 4061 w 12800"/>
                  <a:gd name="T51" fmla="*/ 8831 h 12800"/>
                  <a:gd name="T52" fmla="*/ 5123 w 12800"/>
                  <a:gd name="T53" fmla="*/ 9523 h 12800"/>
                  <a:gd name="T54" fmla="*/ 6400 w 12800"/>
                  <a:gd name="T55" fmla="*/ 9784 h 12800"/>
                  <a:gd name="T56" fmla="*/ 7677 w 12800"/>
                  <a:gd name="T57" fmla="*/ 9523 h 12800"/>
                  <a:gd name="T58" fmla="*/ 8739 w 12800"/>
                  <a:gd name="T59" fmla="*/ 8831 h 12800"/>
                  <a:gd name="T60" fmla="*/ 9431 w 12800"/>
                  <a:gd name="T61" fmla="*/ 7770 h 12800"/>
                  <a:gd name="T62" fmla="*/ 9692 w 12800"/>
                  <a:gd name="T63" fmla="*/ 6492 h 12800"/>
                  <a:gd name="T64" fmla="*/ 9431 w 12800"/>
                  <a:gd name="T65" fmla="*/ 5215 h 12800"/>
                  <a:gd name="T66" fmla="*/ 8739 w 12800"/>
                  <a:gd name="T67" fmla="*/ 4154 h 12800"/>
                  <a:gd name="T68" fmla="*/ 7677 w 12800"/>
                  <a:gd name="T69" fmla="*/ 3461 h 12800"/>
                  <a:gd name="T70" fmla="*/ 6400 w 12800"/>
                  <a:gd name="T71" fmla="*/ 32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2800">
                    <a:moveTo>
                      <a:pt x="1876" y="1876"/>
                    </a:moveTo>
                    <a:cubicBezTo>
                      <a:pt x="3128" y="626"/>
                      <a:pt x="4636" y="0"/>
                      <a:pt x="6400" y="0"/>
                    </a:cubicBezTo>
                    <a:cubicBezTo>
                      <a:pt x="8164" y="0"/>
                      <a:pt x="9672" y="626"/>
                      <a:pt x="10924" y="1876"/>
                    </a:cubicBezTo>
                    <a:cubicBezTo>
                      <a:pt x="12174" y="3128"/>
                      <a:pt x="12800" y="4636"/>
                      <a:pt x="12800" y="6400"/>
                    </a:cubicBezTo>
                    <a:cubicBezTo>
                      <a:pt x="12800" y="8165"/>
                      <a:pt x="12174" y="9673"/>
                      <a:pt x="10924" y="10924"/>
                    </a:cubicBezTo>
                    <a:cubicBezTo>
                      <a:pt x="9672" y="12174"/>
                      <a:pt x="8164" y="12800"/>
                      <a:pt x="6400" y="12800"/>
                    </a:cubicBezTo>
                    <a:cubicBezTo>
                      <a:pt x="4636" y="12800"/>
                      <a:pt x="3128" y="12174"/>
                      <a:pt x="1876" y="10924"/>
                    </a:cubicBezTo>
                    <a:cubicBezTo>
                      <a:pt x="626" y="9673"/>
                      <a:pt x="0" y="8165"/>
                      <a:pt x="0" y="6400"/>
                    </a:cubicBezTo>
                    <a:cubicBezTo>
                      <a:pt x="0" y="4636"/>
                      <a:pt x="626" y="3128"/>
                      <a:pt x="1876" y="1876"/>
                    </a:cubicBezTo>
                    <a:close/>
                    <a:moveTo>
                      <a:pt x="6400" y="524"/>
                    </a:moveTo>
                    <a:cubicBezTo>
                      <a:pt x="5334" y="524"/>
                      <a:pt x="4348" y="785"/>
                      <a:pt x="3446" y="1308"/>
                    </a:cubicBezTo>
                    <a:cubicBezTo>
                      <a:pt x="2543" y="1830"/>
                      <a:pt x="1830" y="2543"/>
                      <a:pt x="1308" y="3446"/>
                    </a:cubicBezTo>
                    <a:cubicBezTo>
                      <a:pt x="785" y="4349"/>
                      <a:pt x="524" y="5334"/>
                      <a:pt x="524" y="6400"/>
                    </a:cubicBezTo>
                    <a:cubicBezTo>
                      <a:pt x="524" y="8020"/>
                      <a:pt x="1098" y="9405"/>
                      <a:pt x="2246" y="10554"/>
                    </a:cubicBezTo>
                    <a:cubicBezTo>
                      <a:pt x="3395" y="11703"/>
                      <a:pt x="4780" y="12276"/>
                      <a:pt x="6400" y="12276"/>
                    </a:cubicBezTo>
                    <a:cubicBezTo>
                      <a:pt x="8020" y="12276"/>
                      <a:pt x="9405" y="11703"/>
                      <a:pt x="10554" y="10554"/>
                    </a:cubicBezTo>
                    <a:cubicBezTo>
                      <a:pt x="11703" y="9405"/>
                      <a:pt x="12276" y="8020"/>
                      <a:pt x="12276" y="6400"/>
                    </a:cubicBezTo>
                    <a:cubicBezTo>
                      <a:pt x="12276" y="4780"/>
                      <a:pt x="11702" y="3396"/>
                      <a:pt x="10554" y="2246"/>
                    </a:cubicBezTo>
                    <a:cubicBezTo>
                      <a:pt x="9405" y="1097"/>
                      <a:pt x="8020" y="524"/>
                      <a:pt x="6400" y="524"/>
                    </a:cubicBezTo>
                    <a:close/>
                    <a:moveTo>
                      <a:pt x="6400" y="3200"/>
                    </a:moveTo>
                    <a:cubicBezTo>
                      <a:pt x="5948" y="3200"/>
                      <a:pt x="5523" y="3288"/>
                      <a:pt x="5123" y="3461"/>
                    </a:cubicBezTo>
                    <a:cubicBezTo>
                      <a:pt x="4723" y="3636"/>
                      <a:pt x="4369" y="3867"/>
                      <a:pt x="4061" y="4154"/>
                    </a:cubicBezTo>
                    <a:cubicBezTo>
                      <a:pt x="3775" y="4461"/>
                      <a:pt x="3543" y="4815"/>
                      <a:pt x="3369" y="5215"/>
                    </a:cubicBezTo>
                    <a:cubicBezTo>
                      <a:pt x="3195" y="5614"/>
                      <a:pt x="3108" y="6042"/>
                      <a:pt x="3108" y="6492"/>
                    </a:cubicBezTo>
                    <a:cubicBezTo>
                      <a:pt x="3108" y="6944"/>
                      <a:pt x="3195" y="7369"/>
                      <a:pt x="3369" y="7770"/>
                    </a:cubicBezTo>
                    <a:cubicBezTo>
                      <a:pt x="3543" y="8170"/>
                      <a:pt x="3775" y="8524"/>
                      <a:pt x="4061" y="8831"/>
                    </a:cubicBezTo>
                    <a:cubicBezTo>
                      <a:pt x="4369" y="9119"/>
                      <a:pt x="4723" y="9349"/>
                      <a:pt x="5123" y="9523"/>
                    </a:cubicBezTo>
                    <a:cubicBezTo>
                      <a:pt x="5523" y="9697"/>
                      <a:pt x="5948" y="9784"/>
                      <a:pt x="6400" y="9784"/>
                    </a:cubicBezTo>
                    <a:cubicBezTo>
                      <a:pt x="6852" y="9784"/>
                      <a:pt x="7277" y="9697"/>
                      <a:pt x="7677" y="9523"/>
                    </a:cubicBezTo>
                    <a:cubicBezTo>
                      <a:pt x="8077" y="9349"/>
                      <a:pt x="8431" y="9119"/>
                      <a:pt x="8739" y="8831"/>
                    </a:cubicBezTo>
                    <a:cubicBezTo>
                      <a:pt x="9025" y="8524"/>
                      <a:pt x="9257" y="8169"/>
                      <a:pt x="9431" y="7770"/>
                    </a:cubicBezTo>
                    <a:cubicBezTo>
                      <a:pt x="9605" y="7370"/>
                      <a:pt x="9692" y="6944"/>
                      <a:pt x="9692" y="6492"/>
                    </a:cubicBezTo>
                    <a:cubicBezTo>
                      <a:pt x="9692" y="6042"/>
                      <a:pt x="9605" y="5615"/>
                      <a:pt x="9431" y="5215"/>
                    </a:cubicBezTo>
                    <a:cubicBezTo>
                      <a:pt x="9257" y="4814"/>
                      <a:pt x="9025" y="4462"/>
                      <a:pt x="8739" y="4154"/>
                    </a:cubicBezTo>
                    <a:cubicBezTo>
                      <a:pt x="8431" y="3867"/>
                      <a:pt x="8077" y="3636"/>
                      <a:pt x="7677" y="3461"/>
                    </a:cubicBezTo>
                    <a:cubicBezTo>
                      <a:pt x="7277" y="3288"/>
                      <a:pt x="6852" y="3200"/>
                      <a:pt x="6400" y="3200"/>
                    </a:cubicBezTo>
                    <a:close/>
                  </a:path>
                </a:pathLst>
              </a:custGeom>
              <a:solidFill>
                <a:schemeClr val="accent1"/>
              </a:solidFill>
              <a:ln>
                <a:solidFill>
                  <a:srgbClr val="0052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cs typeface="+mn-ea"/>
                  <a:sym typeface="+mn-lt"/>
                </a:endParaRPr>
              </a:p>
            </p:txBody>
          </p:sp>
          <p:sp>
            <p:nvSpPr>
              <p:cNvPr id="20" name="文本框 19">
                <a:extLst>
                  <a:ext uri="{FF2B5EF4-FFF2-40B4-BE49-F238E27FC236}">
                    <a16:creationId xmlns:a16="http://schemas.microsoft.com/office/drawing/2014/main" id="{B13A64F3-F6F8-C5E7-1730-DC0120AEDA39}"/>
                  </a:ext>
                </a:extLst>
              </p:cNvPr>
              <p:cNvSpPr txBox="1"/>
              <p:nvPr/>
            </p:nvSpPr>
            <p:spPr>
              <a:xfrm>
                <a:off x="2380429" y="5698832"/>
                <a:ext cx="754380" cy="307777"/>
              </a:xfrm>
              <a:prstGeom prst="rect">
                <a:avLst/>
              </a:prstGeom>
              <a:noFill/>
            </p:spPr>
            <p:txBody>
              <a:bodyPr wrap="square" rtlCol="0">
                <a:spAutoFit/>
              </a:bodyPr>
              <a:lstStyle/>
              <a:p>
                <a:r>
                  <a:rPr lang="en-US" altLang="zh-CN" sz="1400" dirty="0">
                    <a:cs typeface="+mn-ea"/>
                    <a:sym typeface="+mn-lt"/>
                  </a:rPr>
                  <a:t>2001</a:t>
                </a:r>
                <a:endParaRPr lang="zh-CN" altLang="en-US" sz="1400" dirty="0">
                  <a:cs typeface="+mn-ea"/>
                  <a:sym typeface="+mn-lt"/>
                </a:endParaRPr>
              </a:p>
            </p:txBody>
          </p:sp>
        </p:grpSp>
        <p:grpSp>
          <p:nvGrpSpPr>
            <p:cNvPr id="21" name="组合 20">
              <a:extLst>
                <a:ext uri="{FF2B5EF4-FFF2-40B4-BE49-F238E27FC236}">
                  <a16:creationId xmlns:a16="http://schemas.microsoft.com/office/drawing/2014/main" id="{0F82009A-1C4D-7B9A-C8FC-7ED364E2601A}"/>
                </a:ext>
              </a:extLst>
            </p:cNvPr>
            <p:cNvGrpSpPr/>
            <p:nvPr/>
          </p:nvGrpSpPr>
          <p:grpSpPr>
            <a:xfrm>
              <a:off x="2079898" y="3180229"/>
              <a:ext cx="754380" cy="508801"/>
              <a:chOff x="2380429" y="5497808"/>
              <a:chExt cx="754380" cy="508801"/>
            </a:xfrm>
          </p:grpSpPr>
          <p:sp>
            <p:nvSpPr>
              <p:cNvPr id="23" name="iconfont-1018-792472">
                <a:extLst>
                  <a:ext uri="{FF2B5EF4-FFF2-40B4-BE49-F238E27FC236}">
                    <a16:creationId xmlns:a16="http://schemas.microsoft.com/office/drawing/2014/main" id="{519F1AE7-5299-0A4E-7D76-85AA281803A3}"/>
                  </a:ext>
                </a:extLst>
              </p:cNvPr>
              <p:cNvSpPr/>
              <p:nvPr/>
            </p:nvSpPr>
            <p:spPr>
              <a:xfrm>
                <a:off x="2573461" y="5497808"/>
                <a:ext cx="205783" cy="205783"/>
              </a:xfrm>
              <a:custGeom>
                <a:avLst/>
                <a:gdLst>
                  <a:gd name="T0" fmla="*/ 1876 w 12800"/>
                  <a:gd name="T1" fmla="*/ 1876 h 12800"/>
                  <a:gd name="T2" fmla="*/ 6400 w 12800"/>
                  <a:gd name="T3" fmla="*/ 0 h 12800"/>
                  <a:gd name="T4" fmla="*/ 10924 w 12800"/>
                  <a:gd name="T5" fmla="*/ 1876 h 12800"/>
                  <a:gd name="T6" fmla="*/ 12800 w 12800"/>
                  <a:gd name="T7" fmla="*/ 6400 h 12800"/>
                  <a:gd name="T8" fmla="*/ 10924 w 12800"/>
                  <a:gd name="T9" fmla="*/ 10924 h 12800"/>
                  <a:gd name="T10" fmla="*/ 6400 w 12800"/>
                  <a:gd name="T11" fmla="*/ 12800 h 12800"/>
                  <a:gd name="T12" fmla="*/ 1876 w 12800"/>
                  <a:gd name="T13" fmla="*/ 10924 h 12800"/>
                  <a:gd name="T14" fmla="*/ 0 w 12800"/>
                  <a:gd name="T15" fmla="*/ 6400 h 12800"/>
                  <a:gd name="T16" fmla="*/ 1876 w 12800"/>
                  <a:gd name="T17" fmla="*/ 1876 h 12800"/>
                  <a:gd name="T18" fmla="*/ 6400 w 12800"/>
                  <a:gd name="T19" fmla="*/ 524 h 12800"/>
                  <a:gd name="T20" fmla="*/ 3446 w 12800"/>
                  <a:gd name="T21" fmla="*/ 1308 h 12800"/>
                  <a:gd name="T22" fmla="*/ 1308 w 12800"/>
                  <a:gd name="T23" fmla="*/ 3446 h 12800"/>
                  <a:gd name="T24" fmla="*/ 524 w 12800"/>
                  <a:gd name="T25" fmla="*/ 6400 h 12800"/>
                  <a:gd name="T26" fmla="*/ 2246 w 12800"/>
                  <a:gd name="T27" fmla="*/ 10554 h 12800"/>
                  <a:gd name="T28" fmla="*/ 6400 w 12800"/>
                  <a:gd name="T29" fmla="*/ 12276 h 12800"/>
                  <a:gd name="T30" fmla="*/ 10554 w 12800"/>
                  <a:gd name="T31" fmla="*/ 10554 h 12800"/>
                  <a:gd name="T32" fmla="*/ 12276 w 12800"/>
                  <a:gd name="T33" fmla="*/ 6400 h 12800"/>
                  <a:gd name="T34" fmla="*/ 10554 w 12800"/>
                  <a:gd name="T35" fmla="*/ 2246 h 12800"/>
                  <a:gd name="T36" fmla="*/ 6400 w 12800"/>
                  <a:gd name="T37" fmla="*/ 524 h 12800"/>
                  <a:gd name="T38" fmla="*/ 6400 w 12800"/>
                  <a:gd name="T39" fmla="*/ 3200 h 12800"/>
                  <a:gd name="T40" fmla="*/ 5123 w 12800"/>
                  <a:gd name="T41" fmla="*/ 3461 h 12800"/>
                  <a:gd name="T42" fmla="*/ 4061 w 12800"/>
                  <a:gd name="T43" fmla="*/ 4154 h 12800"/>
                  <a:gd name="T44" fmla="*/ 3369 w 12800"/>
                  <a:gd name="T45" fmla="*/ 5215 h 12800"/>
                  <a:gd name="T46" fmla="*/ 3108 w 12800"/>
                  <a:gd name="T47" fmla="*/ 6492 h 12800"/>
                  <a:gd name="T48" fmla="*/ 3369 w 12800"/>
                  <a:gd name="T49" fmla="*/ 7770 h 12800"/>
                  <a:gd name="T50" fmla="*/ 4061 w 12800"/>
                  <a:gd name="T51" fmla="*/ 8831 h 12800"/>
                  <a:gd name="T52" fmla="*/ 5123 w 12800"/>
                  <a:gd name="T53" fmla="*/ 9523 h 12800"/>
                  <a:gd name="T54" fmla="*/ 6400 w 12800"/>
                  <a:gd name="T55" fmla="*/ 9784 h 12800"/>
                  <a:gd name="T56" fmla="*/ 7677 w 12800"/>
                  <a:gd name="T57" fmla="*/ 9523 h 12800"/>
                  <a:gd name="T58" fmla="*/ 8739 w 12800"/>
                  <a:gd name="T59" fmla="*/ 8831 h 12800"/>
                  <a:gd name="T60" fmla="*/ 9431 w 12800"/>
                  <a:gd name="T61" fmla="*/ 7770 h 12800"/>
                  <a:gd name="T62" fmla="*/ 9692 w 12800"/>
                  <a:gd name="T63" fmla="*/ 6492 h 12800"/>
                  <a:gd name="T64" fmla="*/ 9431 w 12800"/>
                  <a:gd name="T65" fmla="*/ 5215 h 12800"/>
                  <a:gd name="T66" fmla="*/ 8739 w 12800"/>
                  <a:gd name="T67" fmla="*/ 4154 h 12800"/>
                  <a:gd name="T68" fmla="*/ 7677 w 12800"/>
                  <a:gd name="T69" fmla="*/ 3461 h 12800"/>
                  <a:gd name="T70" fmla="*/ 6400 w 12800"/>
                  <a:gd name="T71" fmla="*/ 32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2800">
                    <a:moveTo>
                      <a:pt x="1876" y="1876"/>
                    </a:moveTo>
                    <a:cubicBezTo>
                      <a:pt x="3128" y="626"/>
                      <a:pt x="4636" y="0"/>
                      <a:pt x="6400" y="0"/>
                    </a:cubicBezTo>
                    <a:cubicBezTo>
                      <a:pt x="8164" y="0"/>
                      <a:pt x="9672" y="626"/>
                      <a:pt x="10924" y="1876"/>
                    </a:cubicBezTo>
                    <a:cubicBezTo>
                      <a:pt x="12174" y="3128"/>
                      <a:pt x="12800" y="4636"/>
                      <a:pt x="12800" y="6400"/>
                    </a:cubicBezTo>
                    <a:cubicBezTo>
                      <a:pt x="12800" y="8165"/>
                      <a:pt x="12174" y="9673"/>
                      <a:pt x="10924" y="10924"/>
                    </a:cubicBezTo>
                    <a:cubicBezTo>
                      <a:pt x="9672" y="12174"/>
                      <a:pt x="8164" y="12800"/>
                      <a:pt x="6400" y="12800"/>
                    </a:cubicBezTo>
                    <a:cubicBezTo>
                      <a:pt x="4636" y="12800"/>
                      <a:pt x="3128" y="12174"/>
                      <a:pt x="1876" y="10924"/>
                    </a:cubicBezTo>
                    <a:cubicBezTo>
                      <a:pt x="626" y="9673"/>
                      <a:pt x="0" y="8165"/>
                      <a:pt x="0" y="6400"/>
                    </a:cubicBezTo>
                    <a:cubicBezTo>
                      <a:pt x="0" y="4636"/>
                      <a:pt x="626" y="3128"/>
                      <a:pt x="1876" y="1876"/>
                    </a:cubicBezTo>
                    <a:close/>
                    <a:moveTo>
                      <a:pt x="6400" y="524"/>
                    </a:moveTo>
                    <a:cubicBezTo>
                      <a:pt x="5334" y="524"/>
                      <a:pt x="4348" y="785"/>
                      <a:pt x="3446" y="1308"/>
                    </a:cubicBezTo>
                    <a:cubicBezTo>
                      <a:pt x="2543" y="1830"/>
                      <a:pt x="1830" y="2543"/>
                      <a:pt x="1308" y="3446"/>
                    </a:cubicBezTo>
                    <a:cubicBezTo>
                      <a:pt x="785" y="4349"/>
                      <a:pt x="524" y="5334"/>
                      <a:pt x="524" y="6400"/>
                    </a:cubicBezTo>
                    <a:cubicBezTo>
                      <a:pt x="524" y="8020"/>
                      <a:pt x="1098" y="9405"/>
                      <a:pt x="2246" y="10554"/>
                    </a:cubicBezTo>
                    <a:cubicBezTo>
                      <a:pt x="3395" y="11703"/>
                      <a:pt x="4780" y="12276"/>
                      <a:pt x="6400" y="12276"/>
                    </a:cubicBezTo>
                    <a:cubicBezTo>
                      <a:pt x="8020" y="12276"/>
                      <a:pt x="9405" y="11703"/>
                      <a:pt x="10554" y="10554"/>
                    </a:cubicBezTo>
                    <a:cubicBezTo>
                      <a:pt x="11703" y="9405"/>
                      <a:pt x="12276" y="8020"/>
                      <a:pt x="12276" y="6400"/>
                    </a:cubicBezTo>
                    <a:cubicBezTo>
                      <a:pt x="12276" y="4780"/>
                      <a:pt x="11702" y="3396"/>
                      <a:pt x="10554" y="2246"/>
                    </a:cubicBezTo>
                    <a:cubicBezTo>
                      <a:pt x="9405" y="1097"/>
                      <a:pt x="8020" y="524"/>
                      <a:pt x="6400" y="524"/>
                    </a:cubicBezTo>
                    <a:close/>
                    <a:moveTo>
                      <a:pt x="6400" y="3200"/>
                    </a:moveTo>
                    <a:cubicBezTo>
                      <a:pt x="5948" y="3200"/>
                      <a:pt x="5523" y="3288"/>
                      <a:pt x="5123" y="3461"/>
                    </a:cubicBezTo>
                    <a:cubicBezTo>
                      <a:pt x="4723" y="3636"/>
                      <a:pt x="4369" y="3867"/>
                      <a:pt x="4061" y="4154"/>
                    </a:cubicBezTo>
                    <a:cubicBezTo>
                      <a:pt x="3775" y="4461"/>
                      <a:pt x="3543" y="4815"/>
                      <a:pt x="3369" y="5215"/>
                    </a:cubicBezTo>
                    <a:cubicBezTo>
                      <a:pt x="3195" y="5614"/>
                      <a:pt x="3108" y="6042"/>
                      <a:pt x="3108" y="6492"/>
                    </a:cubicBezTo>
                    <a:cubicBezTo>
                      <a:pt x="3108" y="6944"/>
                      <a:pt x="3195" y="7369"/>
                      <a:pt x="3369" y="7770"/>
                    </a:cubicBezTo>
                    <a:cubicBezTo>
                      <a:pt x="3543" y="8170"/>
                      <a:pt x="3775" y="8524"/>
                      <a:pt x="4061" y="8831"/>
                    </a:cubicBezTo>
                    <a:cubicBezTo>
                      <a:pt x="4369" y="9119"/>
                      <a:pt x="4723" y="9349"/>
                      <a:pt x="5123" y="9523"/>
                    </a:cubicBezTo>
                    <a:cubicBezTo>
                      <a:pt x="5523" y="9697"/>
                      <a:pt x="5948" y="9784"/>
                      <a:pt x="6400" y="9784"/>
                    </a:cubicBezTo>
                    <a:cubicBezTo>
                      <a:pt x="6852" y="9784"/>
                      <a:pt x="7277" y="9697"/>
                      <a:pt x="7677" y="9523"/>
                    </a:cubicBezTo>
                    <a:cubicBezTo>
                      <a:pt x="8077" y="9349"/>
                      <a:pt x="8431" y="9119"/>
                      <a:pt x="8739" y="8831"/>
                    </a:cubicBezTo>
                    <a:cubicBezTo>
                      <a:pt x="9025" y="8524"/>
                      <a:pt x="9257" y="8169"/>
                      <a:pt x="9431" y="7770"/>
                    </a:cubicBezTo>
                    <a:cubicBezTo>
                      <a:pt x="9605" y="7370"/>
                      <a:pt x="9692" y="6944"/>
                      <a:pt x="9692" y="6492"/>
                    </a:cubicBezTo>
                    <a:cubicBezTo>
                      <a:pt x="9692" y="6042"/>
                      <a:pt x="9605" y="5615"/>
                      <a:pt x="9431" y="5215"/>
                    </a:cubicBezTo>
                    <a:cubicBezTo>
                      <a:pt x="9257" y="4814"/>
                      <a:pt x="9025" y="4462"/>
                      <a:pt x="8739" y="4154"/>
                    </a:cubicBezTo>
                    <a:cubicBezTo>
                      <a:pt x="8431" y="3867"/>
                      <a:pt x="8077" y="3636"/>
                      <a:pt x="7677" y="3461"/>
                    </a:cubicBezTo>
                    <a:cubicBezTo>
                      <a:pt x="7277" y="3288"/>
                      <a:pt x="6852" y="3200"/>
                      <a:pt x="6400" y="3200"/>
                    </a:cubicBezTo>
                    <a:close/>
                  </a:path>
                </a:pathLst>
              </a:custGeom>
              <a:solidFill>
                <a:schemeClr val="accent1"/>
              </a:solidFill>
              <a:ln>
                <a:solidFill>
                  <a:srgbClr val="0052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cs typeface="+mn-ea"/>
                  <a:sym typeface="+mn-lt"/>
                </a:endParaRPr>
              </a:p>
            </p:txBody>
          </p:sp>
          <p:sp>
            <p:nvSpPr>
              <p:cNvPr id="25" name="文本框 24">
                <a:extLst>
                  <a:ext uri="{FF2B5EF4-FFF2-40B4-BE49-F238E27FC236}">
                    <a16:creationId xmlns:a16="http://schemas.microsoft.com/office/drawing/2014/main" id="{CBD83B27-AFD4-55EA-5D0E-5F07B18765DA}"/>
                  </a:ext>
                </a:extLst>
              </p:cNvPr>
              <p:cNvSpPr txBox="1"/>
              <p:nvPr/>
            </p:nvSpPr>
            <p:spPr>
              <a:xfrm>
                <a:off x="2380429" y="5698832"/>
                <a:ext cx="754380" cy="307777"/>
              </a:xfrm>
              <a:prstGeom prst="rect">
                <a:avLst/>
              </a:prstGeom>
              <a:noFill/>
            </p:spPr>
            <p:txBody>
              <a:bodyPr wrap="square" rtlCol="0">
                <a:spAutoFit/>
              </a:bodyPr>
              <a:lstStyle/>
              <a:p>
                <a:r>
                  <a:rPr lang="en-US" altLang="zh-CN" sz="1400" dirty="0">
                    <a:cs typeface="+mn-ea"/>
                    <a:sym typeface="+mn-lt"/>
                  </a:rPr>
                  <a:t>2002</a:t>
                </a:r>
                <a:endParaRPr lang="zh-CN" altLang="en-US" sz="1400" dirty="0">
                  <a:cs typeface="+mn-ea"/>
                  <a:sym typeface="+mn-lt"/>
                </a:endParaRPr>
              </a:p>
            </p:txBody>
          </p:sp>
        </p:grpSp>
        <p:grpSp>
          <p:nvGrpSpPr>
            <p:cNvPr id="26" name="组合 25">
              <a:extLst>
                <a:ext uri="{FF2B5EF4-FFF2-40B4-BE49-F238E27FC236}">
                  <a16:creationId xmlns:a16="http://schemas.microsoft.com/office/drawing/2014/main" id="{D1114B66-5026-3686-F582-3B3346627BEE}"/>
                </a:ext>
              </a:extLst>
            </p:cNvPr>
            <p:cNvGrpSpPr/>
            <p:nvPr/>
          </p:nvGrpSpPr>
          <p:grpSpPr>
            <a:xfrm>
              <a:off x="4299663" y="3194953"/>
              <a:ext cx="754380" cy="508801"/>
              <a:chOff x="2380429" y="5497808"/>
              <a:chExt cx="754380" cy="508801"/>
            </a:xfrm>
          </p:grpSpPr>
          <p:sp>
            <p:nvSpPr>
              <p:cNvPr id="30" name="iconfont-1018-792472">
                <a:extLst>
                  <a:ext uri="{FF2B5EF4-FFF2-40B4-BE49-F238E27FC236}">
                    <a16:creationId xmlns:a16="http://schemas.microsoft.com/office/drawing/2014/main" id="{0BEE1C87-1BCF-4B35-4846-2AF0E32B8080}"/>
                  </a:ext>
                </a:extLst>
              </p:cNvPr>
              <p:cNvSpPr/>
              <p:nvPr/>
            </p:nvSpPr>
            <p:spPr>
              <a:xfrm>
                <a:off x="2573461" y="5497808"/>
                <a:ext cx="205783" cy="205783"/>
              </a:xfrm>
              <a:custGeom>
                <a:avLst/>
                <a:gdLst>
                  <a:gd name="T0" fmla="*/ 1876 w 12800"/>
                  <a:gd name="T1" fmla="*/ 1876 h 12800"/>
                  <a:gd name="T2" fmla="*/ 6400 w 12800"/>
                  <a:gd name="T3" fmla="*/ 0 h 12800"/>
                  <a:gd name="T4" fmla="*/ 10924 w 12800"/>
                  <a:gd name="T5" fmla="*/ 1876 h 12800"/>
                  <a:gd name="T6" fmla="*/ 12800 w 12800"/>
                  <a:gd name="T7" fmla="*/ 6400 h 12800"/>
                  <a:gd name="T8" fmla="*/ 10924 w 12800"/>
                  <a:gd name="T9" fmla="*/ 10924 h 12800"/>
                  <a:gd name="T10" fmla="*/ 6400 w 12800"/>
                  <a:gd name="T11" fmla="*/ 12800 h 12800"/>
                  <a:gd name="T12" fmla="*/ 1876 w 12800"/>
                  <a:gd name="T13" fmla="*/ 10924 h 12800"/>
                  <a:gd name="T14" fmla="*/ 0 w 12800"/>
                  <a:gd name="T15" fmla="*/ 6400 h 12800"/>
                  <a:gd name="T16" fmla="*/ 1876 w 12800"/>
                  <a:gd name="T17" fmla="*/ 1876 h 12800"/>
                  <a:gd name="T18" fmla="*/ 6400 w 12800"/>
                  <a:gd name="T19" fmla="*/ 524 h 12800"/>
                  <a:gd name="T20" fmla="*/ 3446 w 12800"/>
                  <a:gd name="T21" fmla="*/ 1308 h 12800"/>
                  <a:gd name="T22" fmla="*/ 1308 w 12800"/>
                  <a:gd name="T23" fmla="*/ 3446 h 12800"/>
                  <a:gd name="T24" fmla="*/ 524 w 12800"/>
                  <a:gd name="T25" fmla="*/ 6400 h 12800"/>
                  <a:gd name="T26" fmla="*/ 2246 w 12800"/>
                  <a:gd name="T27" fmla="*/ 10554 h 12800"/>
                  <a:gd name="T28" fmla="*/ 6400 w 12800"/>
                  <a:gd name="T29" fmla="*/ 12276 h 12800"/>
                  <a:gd name="T30" fmla="*/ 10554 w 12800"/>
                  <a:gd name="T31" fmla="*/ 10554 h 12800"/>
                  <a:gd name="T32" fmla="*/ 12276 w 12800"/>
                  <a:gd name="T33" fmla="*/ 6400 h 12800"/>
                  <a:gd name="T34" fmla="*/ 10554 w 12800"/>
                  <a:gd name="T35" fmla="*/ 2246 h 12800"/>
                  <a:gd name="T36" fmla="*/ 6400 w 12800"/>
                  <a:gd name="T37" fmla="*/ 524 h 12800"/>
                  <a:gd name="T38" fmla="*/ 6400 w 12800"/>
                  <a:gd name="T39" fmla="*/ 3200 h 12800"/>
                  <a:gd name="T40" fmla="*/ 5123 w 12800"/>
                  <a:gd name="T41" fmla="*/ 3461 h 12800"/>
                  <a:gd name="T42" fmla="*/ 4061 w 12800"/>
                  <a:gd name="T43" fmla="*/ 4154 h 12800"/>
                  <a:gd name="T44" fmla="*/ 3369 w 12800"/>
                  <a:gd name="T45" fmla="*/ 5215 h 12800"/>
                  <a:gd name="T46" fmla="*/ 3108 w 12800"/>
                  <a:gd name="T47" fmla="*/ 6492 h 12800"/>
                  <a:gd name="T48" fmla="*/ 3369 w 12800"/>
                  <a:gd name="T49" fmla="*/ 7770 h 12800"/>
                  <a:gd name="T50" fmla="*/ 4061 w 12800"/>
                  <a:gd name="T51" fmla="*/ 8831 h 12800"/>
                  <a:gd name="T52" fmla="*/ 5123 w 12800"/>
                  <a:gd name="T53" fmla="*/ 9523 h 12800"/>
                  <a:gd name="T54" fmla="*/ 6400 w 12800"/>
                  <a:gd name="T55" fmla="*/ 9784 h 12800"/>
                  <a:gd name="T56" fmla="*/ 7677 w 12800"/>
                  <a:gd name="T57" fmla="*/ 9523 h 12800"/>
                  <a:gd name="T58" fmla="*/ 8739 w 12800"/>
                  <a:gd name="T59" fmla="*/ 8831 h 12800"/>
                  <a:gd name="T60" fmla="*/ 9431 w 12800"/>
                  <a:gd name="T61" fmla="*/ 7770 h 12800"/>
                  <a:gd name="T62" fmla="*/ 9692 w 12800"/>
                  <a:gd name="T63" fmla="*/ 6492 h 12800"/>
                  <a:gd name="T64" fmla="*/ 9431 w 12800"/>
                  <a:gd name="T65" fmla="*/ 5215 h 12800"/>
                  <a:gd name="T66" fmla="*/ 8739 w 12800"/>
                  <a:gd name="T67" fmla="*/ 4154 h 12800"/>
                  <a:gd name="T68" fmla="*/ 7677 w 12800"/>
                  <a:gd name="T69" fmla="*/ 3461 h 12800"/>
                  <a:gd name="T70" fmla="*/ 6400 w 12800"/>
                  <a:gd name="T71" fmla="*/ 32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2800">
                    <a:moveTo>
                      <a:pt x="1876" y="1876"/>
                    </a:moveTo>
                    <a:cubicBezTo>
                      <a:pt x="3128" y="626"/>
                      <a:pt x="4636" y="0"/>
                      <a:pt x="6400" y="0"/>
                    </a:cubicBezTo>
                    <a:cubicBezTo>
                      <a:pt x="8164" y="0"/>
                      <a:pt x="9672" y="626"/>
                      <a:pt x="10924" y="1876"/>
                    </a:cubicBezTo>
                    <a:cubicBezTo>
                      <a:pt x="12174" y="3128"/>
                      <a:pt x="12800" y="4636"/>
                      <a:pt x="12800" y="6400"/>
                    </a:cubicBezTo>
                    <a:cubicBezTo>
                      <a:pt x="12800" y="8165"/>
                      <a:pt x="12174" y="9673"/>
                      <a:pt x="10924" y="10924"/>
                    </a:cubicBezTo>
                    <a:cubicBezTo>
                      <a:pt x="9672" y="12174"/>
                      <a:pt x="8164" y="12800"/>
                      <a:pt x="6400" y="12800"/>
                    </a:cubicBezTo>
                    <a:cubicBezTo>
                      <a:pt x="4636" y="12800"/>
                      <a:pt x="3128" y="12174"/>
                      <a:pt x="1876" y="10924"/>
                    </a:cubicBezTo>
                    <a:cubicBezTo>
                      <a:pt x="626" y="9673"/>
                      <a:pt x="0" y="8165"/>
                      <a:pt x="0" y="6400"/>
                    </a:cubicBezTo>
                    <a:cubicBezTo>
                      <a:pt x="0" y="4636"/>
                      <a:pt x="626" y="3128"/>
                      <a:pt x="1876" y="1876"/>
                    </a:cubicBezTo>
                    <a:close/>
                    <a:moveTo>
                      <a:pt x="6400" y="524"/>
                    </a:moveTo>
                    <a:cubicBezTo>
                      <a:pt x="5334" y="524"/>
                      <a:pt x="4348" y="785"/>
                      <a:pt x="3446" y="1308"/>
                    </a:cubicBezTo>
                    <a:cubicBezTo>
                      <a:pt x="2543" y="1830"/>
                      <a:pt x="1830" y="2543"/>
                      <a:pt x="1308" y="3446"/>
                    </a:cubicBezTo>
                    <a:cubicBezTo>
                      <a:pt x="785" y="4349"/>
                      <a:pt x="524" y="5334"/>
                      <a:pt x="524" y="6400"/>
                    </a:cubicBezTo>
                    <a:cubicBezTo>
                      <a:pt x="524" y="8020"/>
                      <a:pt x="1098" y="9405"/>
                      <a:pt x="2246" y="10554"/>
                    </a:cubicBezTo>
                    <a:cubicBezTo>
                      <a:pt x="3395" y="11703"/>
                      <a:pt x="4780" y="12276"/>
                      <a:pt x="6400" y="12276"/>
                    </a:cubicBezTo>
                    <a:cubicBezTo>
                      <a:pt x="8020" y="12276"/>
                      <a:pt x="9405" y="11703"/>
                      <a:pt x="10554" y="10554"/>
                    </a:cubicBezTo>
                    <a:cubicBezTo>
                      <a:pt x="11703" y="9405"/>
                      <a:pt x="12276" y="8020"/>
                      <a:pt x="12276" y="6400"/>
                    </a:cubicBezTo>
                    <a:cubicBezTo>
                      <a:pt x="12276" y="4780"/>
                      <a:pt x="11702" y="3396"/>
                      <a:pt x="10554" y="2246"/>
                    </a:cubicBezTo>
                    <a:cubicBezTo>
                      <a:pt x="9405" y="1097"/>
                      <a:pt x="8020" y="524"/>
                      <a:pt x="6400" y="524"/>
                    </a:cubicBezTo>
                    <a:close/>
                    <a:moveTo>
                      <a:pt x="6400" y="3200"/>
                    </a:moveTo>
                    <a:cubicBezTo>
                      <a:pt x="5948" y="3200"/>
                      <a:pt x="5523" y="3288"/>
                      <a:pt x="5123" y="3461"/>
                    </a:cubicBezTo>
                    <a:cubicBezTo>
                      <a:pt x="4723" y="3636"/>
                      <a:pt x="4369" y="3867"/>
                      <a:pt x="4061" y="4154"/>
                    </a:cubicBezTo>
                    <a:cubicBezTo>
                      <a:pt x="3775" y="4461"/>
                      <a:pt x="3543" y="4815"/>
                      <a:pt x="3369" y="5215"/>
                    </a:cubicBezTo>
                    <a:cubicBezTo>
                      <a:pt x="3195" y="5614"/>
                      <a:pt x="3108" y="6042"/>
                      <a:pt x="3108" y="6492"/>
                    </a:cubicBezTo>
                    <a:cubicBezTo>
                      <a:pt x="3108" y="6944"/>
                      <a:pt x="3195" y="7369"/>
                      <a:pt x="3369" y="7770"/>
                    </a:cubicBezTo>
                    <a:cubicBezTo>
                      <a:pt x="3543" y="8170"/>
                      <a:pt x="3775" y="8524"/>
                      <a:pt x="4061" y="8831"/>
                    </a:cubicBezTo>
                    <a:cubicBezTo>
                      <a:pt x="4369" y="9119"/>
                      <a:pt x="4723" y="9349"/>
                      <a:pt x="5123" y="9523"/>
                    </a:cubicBezTo>
                    <a:cubicBezTo>
                      <a:pt x="5523" y="9697"/>
                      <a:pt x="5948" y="9784"/>
                      <a:pt x="6400" y="9784"/>
                    </a:cubicBezTo>
                    <a:cubicBezTo>
                      <a:pt x="6852" y="9784"/>
                      <a:pt x="7277" y="9697"/>
                      <a:pt x="7677" y="9523"/>
                    </a:cubicBezTo>
                    <a:cubicBezTo>
                      <a:pt x="8077" y="9349"/>
                      <a:pt x="8431" y="9119"/>
                      <a:pt x="8739" y="8831"/>
                    </a:cubicBezTo>
                    <a:cubicBezTo>
                      <a:pt x="9025" y="8524"/>
                      <a:pt x="9257" y="8169"/>
                      <a:pt x="9431" y="7770"/>
                    </a:cubicBezTo>
                    <a:cubicBezTo>
                      <a:pt x="9605" y="7370"/>
                      <a:pt x="9692" y="6944"/>
                      <a:pt x="9692" y="6492"/>
                    </a:cubicBezTo>
                    <a:cubicBezTo>
                      <a:pt x="9692" y="6042"/>
                      <a:pt x="9605" y="5615"/>
                      <a:pt x="9431" y="5215"/>
                    </a:cubicBezTo>
                    <a:cubicBezTo>
                      <a:pt x="9257" y="4814"/>
                      <a:pt x="9025" y="4462"/>
                      <a:pt x="8739" y="4154"/>
                    </a:cubicBezTo>
                    <a:cubicBezTo>
                      <a:pt x="8431" y="3867"/>
                      <a:pt x="8077" y="3636"/>
                      <a:pt x="7677" y="3461"/>
                    </a:cubicBezTo>
                    <a:cubicBezTo>
                      <a:pt x="7277" y="3288"/>
                      <a:pt x="6852" y="3200"/>
                      <a:pt x="6400" y="3200"/>
                    </a:cubicBezTo>
                    <a:close/>
                  </a:path>
                </a:pathLst>
              </a:custGeom>
              <a:solidFill>
                <a:schemeClr val="accent1"/>
              </a:solidFill>
              <a:ln>
                <a:solidFill>
                  <a:srgbClr val="0052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cs typeface="+mn-ea"/>
                  <a:sym typeface="+mn-lt"/>
                </a:endParaRPr>
              </a:p>
            </p:txBody>
          </p:sp>
          <p:sp>
            <p:nvSpPr>
              <p:cNvPr id="33" name="文本框 32">
                <a:extLst>
                  <a:ext uri="{FF2B5EF4-FFF2-40B4-BE49-F238E27FC236}">
                    <a16:creationId xmlns:a16="http://schemas.microsoft.com/office/drawing/2014/main" id="{D95C5602-CF13-CA75-F2EB-4D1EF5788514}"/>
                  </a:ext>
                </a:extLst>
              </p:cNvPr>
              <p:cNvSpPr txBox="1"/>
              <p:nvPr/>
            </p:nvSpPr>
            <p:spPr>
              <a:xfrm>
                <a:off x="2380429" y="5698832"/>
                <a:ext cx="754380" cy="307777"/>
              </a:xfrm>
              <a:prstGeom prst="rect">
                <a:avLst/>
              </a:prstGeom>
              <a:noFill/>
            </p:spPr>
            <p:txBody>
              <a:bodyPr wrap="square" rtlCol="0">
                <a:spAutoFit/>
              </a:bodyPr>
              <a:lstStyle/>
              <a:p>
                <a:r>
                  <a:rPr lang="en-US" altLang="zh-CN" sz="1400" dirty="0">
                    <a:cs typeface="+mn-ea"/>
                    <a:sym typeface="+mn-lt"/>
                  </a:rPr>
                  <a:t>2025</a:t>
                </a:r>
                <a:endParaRPr lang="zh-CN" altLang="en-US" sz="1400" dirty="0">
                  <a:cs typeface="+mn-ea"/>
                  <a:sym typeface="+mn-lt"/>
                </a:endParaRPr>
              </a:p>
            </p:txBody>
          </p:sp>
        </p:grpSp>
      </p:grpSp>
      <p:grpSp>
        <p:nvGrpSpPr>
          <p:cNvPr id="72" name="组合 71">
            <a:extLst>
              <a:ext uri="{FF2B5EF4-FFF2-40B4-BE49-F238E27FC236}">
                <a16:creationId xmlns:a16="http://schemas.microsoft.com/office/drawing/2014/main" id="{9483532E-9B8E-1E85-4E93-4768BD7896E5}"/>
              </a:ext>
            </a:extLst>
          </p:cNvPr>
          <p:cNvGrpSpPr/>
          <p:nvPr/>
        </p:nvGrpSpPr>
        <p:grpSpPr>
          <a:xfrm>
            <a:off x="-1977" y="3623765"/>
            <a:ext cx="4395613" cy="2453028"/>
            <a:chOff x="1052162" y="4115937"/>
            <a:chExt cx="4395613" cy="2453028"/>
          </a:xfrm>
        </p:grpSpPr>
        <p:grpSp>
          <p:nvGrpSpPr>
            <p:cNvPr id="61" name="组合 60">
              <a:extLst>
                <a:ext uri="{FF2B5EF4-FFF2-40B4-BE49-F238E27FC236}">
                  <a16:creationId xmlns:a16="http://schemas.microsoft.com/office/drawing/2014/main" id="{CB5EBA0D-2B3A-290F-3741-98922B9DB6EE}"/>
                </a:ext>
              </a:extLst>
            </p:cNvPr>
            <p:cNvGrpSpPr/>
            <p:nvPr/>
          </p:nvGrpSpPr>
          <p:grpSpPr>
            <a:xfrm>
              <a:off x="1052162" y="4115937"/>
              <a:ext cx="3690025" cy="2453028"/>
              <a:chOff x="923365" y="3978459"/>
              <a:chExt cx="3690025" cy="2453028"/>
            </a:xfrm>
          </p:grpSpPr>
          <p:grpSp>
            <p:nvGrpSpPr>
              <p:cNvPr id="50" name="组合 49">
                <a:extLst>
                  <a:ext uri="{FF2B5EF4-FFF2-40B4-BE49-F238E27FC236}">
                    <a16:creationId xmlns:a16="http://schemas.microsoft.com/office/drawing/2014/main" id="{0A3DF5BA-B1FA-6BD0-9C7F-F1438270F2D9}"/>
                  </a:ext>
                </a:extLst>
              </p:cNvPr>
              <p:cNvGrpSpPr/>
              <p:nvPr/>
            </p:nvGrpSpPr>
            <p:grpSpPr>
              <a:xfrm>
                <a:off x="923365" y="4019930"/>
                <a:ext cx="2867096" cy="2411557"/>
                <a:chOff x="-606906" y="3683598"/>
                <a:chExt cx="4077225" cy="2411557"/>
              </a:xfrm>
            </p:grpSpPr>
            <p:graphicFrame>
              <p:nvGraphicFramePr>
                <p:cNvPr id="48" name="图表 47">
                  <a:extLst>
                    <a:ext uri="{FF2B5EF4-FFF2-40B4-BE49-F238E27FC236}">
                      <a16:creationId xmlns:a16="http://schemas.microsoft.com/office/drawing/2014/main" id="{9CA2B7F5-636B-74F6-F003-C7DBB258993A}"/>
                    </a:ext>
                  </a:extLst>
                </p:cNvPr>
                <p:cNvGraphicFramePr>
                  <a:graphicFrameLocks/>
                </p:cNvGraphicFramePr>
                <p:nvPr>
                  <p:extLst>
                    <p:ext uri="{D42A27DB-BD31-4B8C-83A1-F6EECF244321}">
                      <p14:modId xmlns:p14="http://schemas.microsoft.com/office/powerpoint/2010/main" val="454454941"/>
                    </p:ext>
                  </p:extLst>
                </p:nvPr>
              </p:nvGraphicFramePr>
              <p:xfrm>
                <a:off x="-606906" y="3683598"/>
                <a:ext cx="4077225" cy="2411557"/>
              </p:xfrm>
              <a:graphic>
                <a:graphicData uri="http://schemas.openxmlformats.org/drawingml/2006/chart">
                  <c:chart xmlns:c="http://schemas.openxmlformats.org/drawingml/2006/chart" xmlns:r="http://schemas.openxmlformats.org/officeDocument/2006/relationships" r:id="rId10"/>
                </a:graphicData>
              </a:graphic>
            </p:graphicFrame>
            <p:sp>
              <p:nvSpPr>
                <p:cNvPr id="44" name="文本框 43">
                  <a:extLst>
                    <a:ext uri="{FF2B5EF4-FFF2-40B4-BE49-F238E27FC236}">
                      <a16:creationId xmlns:a16="http://schemas.microsoft.com/office/drawing/2014/main" id="{DA16EADF-E9DD-99F1-5404-4C1109ED7A7F}"/>
                    </a:ext>
                  </a:extLst>
                </p:cNvPr>
                <p:cNvSpPr txBox="1"/>
                <p:nvPr/>
              </p:nvSpPr>
              <p:spPr>
                <a:xfrm>
                  <a:off x="1594251" y="5046125"/>
                  <a:ext cx="1025489" cy="307777"/>
                </a:xfrm>
                <a:prstGeom prst="rect">
                  <a:avLst/>
                </a:prstGeom>
                <a:noFill/>
              </p:spPr>
              <p:txBody>
                <a:bodyPr wrap="square">
                  <a:spAutoFit/>
                </a:bodyPr>
                <a:lstStyle/>
                <a:p>
                  <a:r>
                    <a:rPr kumimoji="0" lang="zh-CN" altLang="en-US" sz="1400" b="1" i="0" u="none" strike="noStrike" cap="none" normalizeH="0" baseline="0" dirty="0">
                      <a:ln>
                        <a:noFill/>
                      </a:ln>
                      <a:solidFill>
                        <a:schemeClr val="bg1"/>
                      </a:solidFill>
                      <a:effectLst/>
                      <a:cs typeface="+mn-ea"/>
                      <a:sym typeface="+mn-lt"/>
                    </a:rPr>
                    <a:t>微组装</a:t>
                  </a:r>
                  <a:endParaRPr lang="zh-CN" altLang="en-US" sz="1400" b="1" dirty="0">
                    <a:solidFill>
                      <a:schemeClr val="bg1"/>
                    </a:solidFill>
                    <a:cs typeface="+mn-ea"/>
                    <a:sym typeface="+mn-lt"/>
                  </a:endParaRPr>
                </a:p>
              </p:txBody>
            </p:sp>
          </p:grpSp>
          <p:sp>
            <p:nvSpPr>
              <p:cNvPr id="47" name="文本框 46">
                <a:extLst>
                  <a:ext uri="{FF2B5EF4-FFF2-40B4-BE49-F238E27FC236}">
                    <a16:creationId xmlns:a16="http://schemas.microsoft.com/office/drawing/2014/main" id="{0206B548-D3F7-F5B0-24B2-E58C56F958A0}"/>
                  </a:ext>
                </a:extLst>
              </p:cNvPr>
              <p:cNvSpPr txBox="1"/>
              <p:nvPr/>
            </p:nvSpPr>
            <p:spPr>
              <a:xfrm>
                <a:off x="1613395" y="3978459"/>
                <a:ext cx="2999995" cy="307777"/>
              </a:xfrm>
              <a:prstGeom prst="rect">
                <a:avLst/>
              </a:prstGeom>
              <a:noFill/>
            </p:spPr>
            <p:txBody>
              <a:bodyPr wrap="square">
                <a:spAutoFit/>
              </a:bodyPr>
              <a:lstStyle/>
              <a:p>
                <a:r>
                  <a:rPr kumimoji="0" lang="en-US" altLang="zh-CN" sz="1400" b="0" i="0" u="none" strike="noStrike" cap="none" normalizeH="0" baseline="0" dirty="0">
                    <a:ln>
                      <a:noFill/>
                    </a:ln>
                    <a:solidFill>
                      <a:srgbClr val="000000"/>
                    </a:solidFill>
                    <a:effectLst/>
                    <a:cs typeface="+mn-ea"/>
                    <a:sym typeface="+mn-lt"/>
                  </a:rPr>
                  <a:t>2023A </a:t>
                </a:r>
                <a:r>
                  <a:rPr kumimoji="0" lang="zh-CN" altLang="en-US" sz="1400" b="0" i="0" u="none" strike="noStrike" cap="none" normalizeH="0" baseline="0" dirty="0">
                    <a:ln>
                      <a:noFill/>
                    </a:ln>
                    <a:solidFill>
                      <a:srgbClr val="000000"/>
                    </a:solidFill>
                    <a:effectLst/>
                    <a:cs typeface="+mn-ea"/>
                    <a:sym typeface="+mn-lt"/>
                  </a:rPr>
                  <a:t>营收拆分</a:t>
                </a:r>
                <a:endParaRPr lang="zh-CN" altLang="en-US" sz="1400" dirty="0">
                  <a:cs typeface="+mn-ea"/>
                  <a:sym typeface="+mn-lt"/>
                </a:endParaRPr>
              </a:p>
            </p:txBody>
          </p:sp>
        </p:grpSp>
        <p:sp>
          <p:nvSpPr>
            <p:cNvPr id="54" name="Rectangle 1">
              <a:extLst>
                <a:ext uri="{FF2B5EF4-FFF2-40B4-BE49-F238E27FC236}">
                  <a16:creationId xmlns:a16="http://schemas.microsoft.com/office/drawing/2014/main" id="{238384CD-D569-DECA-49ED-B8DB7C347EDE}"/>
                </a:ext>
              </a:extLst>
            </p:cNvPr>
            <p:cNvSpPr>
              <a:spLocks noChangeArrowheads="1"/>
            </p:cNvSpPr>
            <p:nvPr/>
          </p:nvSpPr>
          <p:spPr bwMode="auto">
            <a:xfrm>
              <a:off x="2570064" y="4679637"/>
              <a:ext cx="2877711" cy="307777"/>
            </a:xfrm>
            <a:prstGeom prst="rect">
              <a:avLst/>
            </a:prstGeom>
            <a:noFill/>
          </p:spPr>
          <p:txBody>
            <a:bodyPr wrap="square">
              <a:spAutoFit/>
            </a:bodyPr>
            <a:lstStyle/>
            <a:p>
              <a:r>
                <a:rPr lang="zh-CN" altLang="zh-CN" sz="1400" dirty="0">
                  <a:solidFill>
                    <a:schemeClr val="bg1">
                      <a:lumMod val="50000"/>
                    </a:schemeClr>
                  </a:solidFill>
                  <a:cs typeface="+mn-ea"/>
                  <a:sym typeface="+mn-lt"/>
                </a:rPr>
                <a:t>测试设备</a:t>
              </a:r>
              <a:r>
                <a:rPr lang="zh-CN" altLang="en-US" sz="1400" dirty="0">
                  <a:solidFill>
                    <a:schemeClr val="bg1">
                      <a:lumMod val="50000"/>
                    </a:schemeClr>
                  </a:solidFill>
                  <a:cs typeface="+mn-ea"/>
                  <a:sym typeface="+mn-lt"/>
                </a:rPr>
                <a:t>等</a:t>
              </a:r>
              <a:endParaRPr lang="en-US" altLang="zh-CN" sz="1400" dirty="0">
                <a:solidFill>
                  <a:schemeClr val="bg1">
                    <a:lumMod val="50000"/>
                  </a:schemeClr>
                </a:solidFill>
                <a:cs typeface="+mn-ea"/>
                <a:sym typeface="+mn-lt"/>
              </a:endParaRPr>
            </a:p>
          </p:txBody>
        </p:sp>
      </p:grpSp>
      <p:grpSp>
        <p:nvGrpSpPr>
          <p:cNvPr id="74" name="组合 73">
            <a:extLst>
              <a:ext uri="{FF2B5EF4-FFF2-40B4-BE49-F238E27FC236}">
                <a16:creationId xmlns:a16="http://schemas.microsoft.com/office/drawing/2014/main" id="{857A45E6-15A6-97FB-DE1D-2FCB5BB56D57}"/>
              </a:ext>
            </a:extLst>
          </p:cNvPr>
          <p:cNvGrpSpPr/>
          <p:nvPr/>
        </p:nvGrpSpPr>
        <p:grpSpPr>
          <a:xfrm>
            <a:off x="3106241" y="3433912"/>
            <a:ext cx="3124462" cy="1391828"/>
            <a:chOff x="3402950" y="3532009"/>
            <a:chExt cx="3124462" cy="1391828"/>
          </a:xfrm>
        </p:grpSpPr>
        <p:sp>
          <p:nvSpPr>
            <p:cNvPr id="69" name="文本框 68">
              <a:extLst>
                <a:ext uri="{FF2B5EF4-FFF2-40B4-BE49-F238E27FC236}">
                  <a16:creationId xmlns:a16="http://schemas.microsoft.com/office/drawing/2014/main" id="{E39043B5-5736-EAAC-43D6-478C75A51656}"/>
                </a:ext>
              </a:extLst>
            </p:cNvPr>
            <p:cNvSpPr txBox="1"/>
            <p:nvPr/>
          </p:nvSpPr>
          <p:spPr>
            <a:xfrm>
              <a:off x="3402950" y="4547131"/>
              <a:ext cx="3124462" cy="376706"/>
            </a:xfrm>
            <a:prstGeom prst="rect">
              <a:avLst/>
            </a:prstGeom>
            <a:noFill/>
          </p:spPr>
          <p:txBody>
            <a:bodyPr wrap="square">
              <a:spAutoFit/>
            </a:bodyPr>
            <a:lstStyle/>
            <a:p>
              <a:pPr algn="l">
                <a:lnSpc>
                  <a:spcPts val="2475"/>
                </a:lnSpc>
                <a:spcAft>
                  <a:spcPts val="1125"/>
                </a:spcAft>
              </a:pPr>
              <a:r>
                <a:rPr lang="zh-CN" altLang="en-US" sz="1400" b="0" i="0" dirty="0">
                  <a:solidFill>
                    <a:srgbClr val="333333"/>
                  </a:solidFill>
                  <a:effectLst/>
                  <a:cs typeface="+mn-ea"/>
                  <a:sym typeface="+mn-lt"/>
                </a:rPr>
                <a:t>测试</a:t>
              </a:r>
              <a:r>
                <a:rPr lang="en-US" altLang="zh-CN" sz="1400" b="0" i="0" dirty="0">
                  <a:solidFill>
                    <a:srgbClr val="333333"/>
                  </a:solidFill>
                  <a:effectLst/>
                  <a:cs typeface="+mn-ea"/>
                  <a:sym typeface="+mn-lt"/>
                </a:rPr>
                <a:t>+</a:t>
              </a:r>
              <a:r>
                <a:rPr lang="zh-CN" altLang="en-US" sz="1400" dirty="0">
                  <a:solidFill>
                    <a:srgbClr val="333333"/>
                  </a:solidFill>
                  <a:cs typeface="+mn-ea"/>
                  <a:sym typeface="+mn-lt"/>
                </a:rPr>
                <a:t>清洁</a:t>
              </a:r>
              <a:r>
                <a:rPr lang="en-US" altLang="zh-CN" sz="1400" dirty="0">
                  <a:solidFill>
                    <a:srgbClr val="333333"/>
                  </a:solidFill>
                  <a:cs typeface="+mn-ea"/>
                  <a:sym typeface="+mn-lt"/>
                </a:rPr>
                <a:t>+</a:t>
              </a:r>
              <a:r>
                <a:rPr lang="zh-CN" altLang="en-US" sz="1400" dirty="0">
                  <a:solidFill>
                    <a:srgbClr val="333333"/>
                  </a:solidFill>
                  <a:cs typeface="+mn-ea"/>
                  <a:sym typeface="+mn-lt"/>
                </a:rPr>
                <a:t>修复三合一设备</a:t>
              </a:r>
              <a:endParaRPr lang="zh-CN" altLang="en-US" sz="1400" b="0" i="0" dirty="0">
                <a:solidFill>
                  <a:srgbClr val="333333"/>
                </a:solidFill>
                <a:effectLst/>
                <a:cs typeface="+mn-ea"/>
                <a:sym typeface="+mn-lt"/>
              </a:endParaRPr>
            </a:p>
          </p:txBody>
        </p:sp>
        <p:sp>
          <p:nvSpPr>
            <p:cNvPr id="71" name="文本框 70">
              <a:extLst>
                <a:ext uri="{FF2B5EF4-FFF2-40B4-BE49-F238E27FC236}">
                  <a16:creationId xmlns:a16="http://schemas.microsoft.com/office/drawing/2014/main" id="{6FDB0F42-0C94-1A8D-4A9A-2ED09947B9B1}"/>
                </a:ext>
              </a:extLst>
            </p:cNvPr>
            <p:cNvSpPr txBox="1"/>
            <p:nvPr/>
          </p:nvSpPr>
          <p:spPr>
            <a:xfrm>
              <a:off x="4457376" y="3532009"/>
              <a:ext cx="1778493" cy="1384995"/>
            </a:xfrm>
            <a:prstGeom prst="rect">
              <a:avLst/>
            </a:prstGeom>
            <a:noFill/>
          </p:spPr>
          <p:txBody>
            <a:bodyPr wrap="square">
              <a:spAutoFit/>
            </a:bodyPr>
            <a:lstStyle/>
            <a:p>
              <a:pPr marL="285750" indent="-285750">
                <a:buFont typeface="Arial" panose="020B0604020202020204" pitchFamily="34" charset="0"/>
                <a:buChar char="•"/>
              </a:pPr>
              <a:r>
                <a:rPr lang="zh-CN" altLang="en-US" sz="1400" dirty="0">
                  <a:solidFill>
                    <a:srgbClr val="333333"/>
                  </a:solidFill>
                  <a:cs typeface="+mn-ea"/>
                  <a:sym typeface="+mn-lt"/>
                </a:rPr>
                <a:t>硅光修复</a:t>
              </a:r>
              <a:r>
                <a:rPr lang="en-US" altLang="zh-CN" sz="1400" dirty="0">
                  <a:solidFill>
                    <a:srgbClr val="333333"/>
                  </a:solidFill>
                  <a:cs typeface="+mn-ea"/>
                  <a:sym typeface="+mn-lt"/>
                </a:rPr>
                <a:t>0-1</a:t>
              </a:r>
              <a:r>
                <a:rPr lang="zh-CN" altLang="en-US" sz="1400" dirty="0">
                  <a:solidFill>
                    <a:srgbClr val="333333"/>
                  </a:solidFill>
                  <a:cs typeface="+mn-ea"/>
                  <a:sym typeface="+mn-lt"/>
                </a:rPr>
                <a:t>突破</a:t>
              </a:r>
              <a:endParaRPr lang="en-US" altLang="zh-CN" sz="1400" dirty="0">
                <a:solidFill>
                  <a:srgbClr val="333333"/>
                </a:solidFill>
                <a:cs typeface="+mn-ea"/>
                <a:sym typeface="+mn-lt"/>
              </a:endParaRPr>
            </a:p>
            <a:p>
              <a:pPr marL="285750" indent="-285750">
                <a:buFont typeface="Arial" panose="020B0604020202020204" pitchFamily="34" charset="0"/>
                <a:buChar char="•"/>
              </a:pPr>
              <a:r>
                <a:rPr lang="zh-CN" altLang="en-US" sz="1400" u="sng" dirty="0">
                  <a:solidFill>
                    <a:srgbClr val="333333"/>
                  </a:solidFill>
                  <a:cs typeface="+mn-ea"/>
                  <a:sym typeface="+mn-lt"/>
                </a:rPr>
                <a:t>台积电迫切想要但产能被英伟达包圆</a:t>
              </a:r>
              <a:endParaRPr lang="en-US" altLang="zh-CN" sz="1400" u="sng" dirty="0">
                <a:solidFill>
                  <a:srgbClr val="333333"/>
                </a:solidFill>
                <a:cs typeface="+mn-ea"/>
                <a:sym typeface="+mn-lt"/>
              </a:endParaRPr>
            </a:p>
            <a:p>
              <a:pPr marL="285750" indent="-285750">
                <a:buFont typeface="Arial" panose="020B0604020202020204" pitchFamily="34" charset="0"/>
                <a:buChar char="•"/>
              </a:pPr>
              <a:endParaRPr lang="zh-CN" altLang="en-US" sz="1400" dirty="0">
                <a:cs typeface="+mn-ea"/>
                <a:sym typeface="+mn-lt"/>
              </a:endParaRPr>
            </a:p>
          </p:txBody>
        </p:sp>
      </p:grpSp>
      <p:sp>
        <p:nvSpPr>
          <p:cNvPr id="76" name="箭头: 右 75">
            <a:extLst>
              <a:ext uri="{FF2B5EF4-FFF2-40B4-BE49-F238E27FC236}">
                <a16:creationId xmlns:a16="http://schemas.microsoft.com/office/drawing/2014/main" id="{04AA4F32-38A1-7B54-5FB8-4F12418B8799}"/>
              </a:ext>
            </a:extLst>
          </p:cNvPr>
          <p:cNvSpPr/>
          <p:nvPr/>
        </p:nvSpPr>
        <p:spPr>
          <a:xfrm>
            <a:off x="2603556" y="5276780"/>
            <a:ext cx="397658" cy="117520"/>
          </a:xfrm>
          <a:prstGeom prst="rightArrow">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7" name="箭头: 右 76">
            <a:extLst>
              <a:ext uri="{FF2B5EF4-FFF2-40B4-BE49-F238E27FC236}">
                <a16:creationId xmlns:a16="http://schemas.microsoft.com/office/drawing/2014/main" id="{7D79DE0E-2BDD-E994-D5C4-F6DB200F2D13}"/>
              </a:ext>
            </a:extLst>
          </p:cNvPr>
          <p:cNvSpPr/>
          <p:nvPr/>
        </p:nvSpPr>
        <p:spPr>
          <a:xfrm>
            <a:off x="2603556" y="4247623"/>
            <a:ext cx="395821" cy="117520"/>
          </a:xfrm>
          <a:prstGeom prst="rightArrow">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9" name="组合 78">
            <a:extLst>
              <a:ext uri="{FF2B5EF4-FFF2-40B4-BE49-F238E27FC236}">
                <a16:creationId xmlns:a16="http://schemas.microsoft.com/office/drawing/2014/main" id="{35EB4309-6DB0-3A01-8B1B-2E4EEAEBD593}"/>
              </a:ext>
            </a:extLst>
          </p:cNvPr>
          <p:cNvGrpSpPr/>
          <p:nvPr/>
        </p:nvGrpSpPr>
        <p:grpSpPr>
          <a:xfrm>
            <a:off x="3104432" y="4925713"/>
            <a:ext cx="2805323" cy="1229926"/>
            <a:chOff x="3613696" y="3795302"/>
            <a:chExt cx="2805323" cy="1229926"/>
          </a:xfrm>
        </p:grpSpPr>
        <p:pic>
          <p:nvPicPr>
            <p:cNvPr id="85" name="图片 84">
              <a:extLst>
                <a:ext uri="{FF2B5EF4-FFF2-40B4-BE49-F238E27FC236}">
                  <a16:creationId xmlns:a16="http://schemas.microsoft.com/office/drawing/2014/main" id="{F5E6549A-406A-1198-A9FE-001AA2FD82AC}"/>
                </a:ext>
              </a:extLst>
            </p:cNvPr>
            <p:cNvPicPr>
              <a:picLocks noChangeAspect="1"/>
            </p:cNvPicPr>
            <p:nvPr/>
          </p:nvPicPr>
          <p:blipFill>
            <a:blip r:embed="rId11"/>
            <a:stretch>
              <a:fillRect/>
            </a:stretch>
          </p:blipFill>
          <p:spPr>
            <a:xfrm>
              <a:off x="3680668" y="3820493"/>
              <a:ext cx="794640" cy="838986"/>
            </a:xfrm>
            <a:prstGeom prst="rect">
              <a:avLst/>
            </a:prstGeom>
          </p:spPr>
        </p:pic>
        <p:sp>
          <p:nvSpPr>
            <p:cNvPr id="86" name="文本框 85">
              <a:extLst>
                <a:ext uri="{FF2B5EF4-FFF2-40B4-BE49-F238E27FC236}">
                  <a16:creationId xmlns:a16="http://schemas.microsoft.com/office/drawing/2014/main" id="{5BCA0442-1230-9A00-EB53-12F4962257B3}"/>
                </a:ext>
              </a:extLst>
            </p:cNvPr>
            <p:cNvSpPr txBox="1"/>
            <p:nvPr/>
          </p:nvSpPr>
          <p:spPr>
            <a:xfrm>
              <a:off x="3613696" y="4653523"/>
              <a:ext cx="2066744" cy="371705"/>
            </a:xfrm>
            <a:prstGeom prst="rect">
              <a:avLst/>
            </a:prstGeom>
            <a:noFill/>
          </p:spPr>
          <p:txBody>
            <a:bodyPr wrap="square">
              <a:spAutoFit/>
            </a:bodyPr>
            <a:lstStyle/>
            <a:p>
              <a:pPr algn="l">
                <a:lnSpc>
                  <a:spcPts val="2475"/>
                </a:lnSpc>
                <a:spcAft>
                  <a:spcPts val="1125"/>
                </a:spcAft>
              </a:pPr>
              <a:r>
                <a:rPr lang="en-US" altLang="zh-CN" sz="1400" b="0" i="0" dirty="0">
                  <a:solidFill>
                    <a:srgbClr val="333333"/>
                  </a:solidFill>
                  <a:effectLst/>
                  <a:cs typeface="+mn-ea"/>
                  <a:sym typeface="+mn-lt"/>
                </a:rPr>
                <a:t>ASSEMBLYLINE </a:t>
              </a:r>
              <a:r>
                <a:rPr lang="zh-CN" altLang="en-US" sz="1400" b="0" i="0" dirty="0">
                  <a:solidFill>
                    <a:srgbClr val="333333"/>
                  </a:solidFill>
                  <a:effectLst/>
                  <a:cs typeface="+mn-ea"/>
                  <a:sym typeface="+mn-lt"/>
                </a:rPr>
                <a:t>系列</a:t>
              </a:r>
            </a:p>
          </p:txBody>
        </p:sp>
        <p:sp>
          <p:nvSpPr>
            <p:cNvPr id="87" name="文本框 86">
              <a:extLst>
                <a:ext uri="{FF2B5EF4-FFF2-40B4-BE49-F238E27FC236}">
                  <a16:creationId xmlns:a16="http://schemas.microsoft.com/office/drawing/2014/main" id="{C449F9DE-04A3-C679-0A3E-51CD7E98111D}"/>
                </a:ext>
              </a:extLst>
            </p:cNvPr>
            <p:cNvSpPr txBox="1"/>
            <p:nvPr/>
          </p:nvSpPr>
          <p:spPr>
            <a:xfrm>
              <a:off x="4640526" y="3795302"/>
              <a:ext cx="1778493" cy="954107"/>
            </a:xfrm>
            <a:prstGeom prst="rect">
              <a:avLst/>
            </a:prstGeom>
            <a:noFill/>
          </p:spPr>
          <p:txBody>
            <a:bodyPr wrap="square">
              <a:spAutoFit/>
            </a:bodyPr>
            <a:lstStyle/>
            <a:p>
              <a:pPr marL="285750" indent="-285750">
                <a:buFont typeface="Arial" panose="020B0604020202020204" pitchFamily="34" charset="0"/>
                <a:buChar char="•"/>
              </a:pPr>
              <a:r>
                <a:rPr lang="zh-CN" altLang="en-US" sz="1400" b="0" i="0" dirty="0">
                  <a:solidFill>
                    <a:srgbClr val="333333"/>
                  </a:solidFill>
                  <a:effectLst/>
                  <a:cs typeface="+mn-ea"/>
                  <a:sym typeface="+mn-lt"/>
                </a:rPr>
                <a:t>自动微光学组装</a:t>
              </a:r>
              <a:endParaRPr lang="en-US" altLang="zh-CN" sz="1400" b="0" i="0" dirty="0">
                <a:solidFill>
                  <a:srgbClr val="333333"/>
                </a:solidFill>
                <a:effectLst/>
                <a:cs typeface="+mn-ea"/>
                <a:sym typeface="+mn-lt"/>
              </a:endParaRPr>
            </a:p>
            <a:p>
              <a:pPr marL="285750" indent="-285750">
                <a:buFont typeface="Arial" panose="020B0604020202020204" pitchFamily="34" charset="0"/>
                <a:buChar char="•"/>
              </a:pPr>
              <a:r>
                <a:rPr lang="en-US" altLang="zh-CN" sz="1400" dirty="0">
                  <a:cs typeface="+mn-ea"/>
                  <a:sym typeface="+mn-lt"/>
                </a:rPr>
                <a:t>5nm</a:t>
              </a:r>
              <a:r>
                <a:rPr lang="zh-CN" altLang="en-US" sz="1400" dirty="0">
                  <a:cs typeface="+mn-ea"/>
                  <a:sym typeface="+mn-lt"/>
                </a:rPr>
                <a:t>精度光耦</a:t>
              </a:r>
              <a:endParaRPr lang="en-US" altLang="zh-CN" sz="1400" dirty="0">
                <a:cs typeface="+mn-ea"/>
                <a:sym typeface="+mn-lt"/>
              </a:endParaRPr>
            </a:p>
            <a:p>
              <a:pPr marL="285750" indent="-285750">
                <a:buFont typeface="Arial" panose="020B0604020202020204" pitchFamily="34" charset="0"/>
                <a:buChar char="•"/>
              </a:pPr>
              <a:r>
                <a:rPr lang="zh-CN" altLang="en-US" sz="1400" dirty="0">
                  <a:cs typeface="+mn-ea"/>
                  <a:sym typeface="+mn-lt"/>
                </a:rPr>
                <a:t>精度</a:t>
              </a:r>
              <a:r>
                <a:rPr lang="en-US" altLang="zh-CN" sz="1400" dirty="0">
                  <a:cs typeface="+mn-ea"/>
                  <a:sym typeface="+mn-lt"/>
                </a:rPr>
                <a:t>+</a:t>
              </a:r>
              <a:r>
                <a:rPr lang="zh-CN" altLang="en-US" sz="1400" dirty="0">
                  <a:cs typeface="+mn-ea"/>
                  <a:sym typeface="+mn-lt"/>
                </a:rPr>
                <a:t>集成度全球领先</a:t>
              </a:r>
            </a:p>
          </p:txBody>
        </p:sp>
      </p:grpSp>
      <p:pic>
        <p:nvPicPr>
          <p:cNvPr id="89" name="图片 88">
            <a:extLst>
              <a:ext uri="{FF2B5EF4-FFF2-40B4-BE49-F238E27FC236}">
                <a16:creationId xmlns:a16="http://schemas.microsoft.com/office/drawing/2014/main" id="{7ED8AD2C-D4AA-53A1-2423-BC0E4BAB4DD8}"/>
              </a:ext>
            </a:extLst>
          </p:cNvPr>
          <p:cNvPicPr>
            <a:picLocks noChangeAspect="1"/>
          </p:cNvPicPr>
          <p:nvPr/>
        </p:nvPicPr>
        <p:blipFill>
          <a:blip r:embed="rId12"/>
          <a:stretch>
            <a:fillRect/>
          </a:stretch>
        </p:blipFill>
        <p:spPr>
          <a:xfrm>
            <a:off x="3168608" y="3866264"/>
            <a:ext cx="937518" cy="517588"/>
          </a:xfrm>
          <a:prstGeom prst="rect">
            <a:avLst/>
          </a:prstGeom>
        </p:spPr>
      </p:pic>
      <p:sp>
        <p:nvSpPr>
          <p:cNvPr id="91" name="文本框 90">
            <a:extLst>
              <a:ext uri="{FF2B5EF4-FFF2-40B4-BE49-F238E27FC236}">
                <a16:creationId xmlns:a16="http://schemas.microsoft.com/office/drawing/2014/main" id="{4B95D73D-B278-12E8-8578-B4E1B797A478}"/>
              </a:ext>
            </a:extLst>
          </p:cNvPr>
          <p:cNvSpPr txBox="1"/>
          <p:nvPr/>
        </p:nvSpPr>
        <p:spPr>
          <a:xfrm>
            <a:off x="3239082" y="3568429"/>
            <a:ext cx="929223" cy="307777"/>
          </a:xfrm>
          <a:prstGeom prst="rect">
            <a:avLst/>
          </a:prstGeom>
          <a:noFill/>
        </p:spPr>
        <p:txBody>
          <a:bodyPr wrap="square">
            <a:spAutoFit/>
          </a:bodyPr>
          <a:lstStyle/>
          <a:p>
            <a:r>
              <a:rPr lang="en-US" altLang="zh-CN" sz="1400" dirty="0">
                <a:solidFill>
                  <a:srgbClr val="333333"/>
                </a:solidFill>
                <a:cs typeface="+mn-ea"/>
                <a:sym typeface="+mn-lt"/>
              </a:rPr>
              <a:t>2025.06</a:t>
            </a:r>
            <a:endParaRPr lang="zh-CN" altLang="en-US" sz="1400" dirty="0">
              <a:cs typeface="+mn-ea"/>
              <a:sym typeface="+mn-lt"/>
            </a:endParaRPr>
          </a:p>
        </p:txBody>
      </p:sp>
      <p:graphicFrame>
        <p:nvGraphicFramePr>
          <p:cNvPr id="92" name="图表 91">
            <a:extLst>
              <a:ext uri="{FF2B5EF4-FFF2-40B4-BE49-F238E27FC236}">
                <a16:creationId xmlns:a16="http://schemas.microsoft.com/office/drawing/2014/main" id="{7BDE8422-A032-BADE-C38B-4A7C505B9E8F}"/>
              </a:ext>
            </a:extLst>
          </p:cNvPr>
          <p:cNvGraphicFramePr>
            <a:graphicFrameLocks/>
          </p:cNvGraphicFramePr>
          <p:nvPr>
            <p:extLst>
              <p:ext uri="{D42A27DB-BD31-4B8C-83A1-F6EECF244321}">
                <p14:modId xmlns:p14="http://schemas.microsoft.com/office/powerpoint/2010/main" val="2101279378"/>
              </p:ext>
            </p:extLst>
          </p:nvPr>
        </p:nvGraphicFramePr>
        <p:xfrm>
          <a:off x="6458084" y="1974032"/>
          <a:ext cx="5129857" cy="1235439"/>
        </p:xfrm>
        <a:graphic>
          <a:graphicData uri="http://schemas.openxmlformats.org/drawingml/2006/chart">
            <c:chart xmlns:c="http://schemas.openxmlformats.org/drawingml/2006/chart" xmlns:r="http://schemas.openxmlformats.org/officeDocument/2006/relationships" r:id="rId13"/>
          </a:graphicData>
        </a:graphic>
      </p:graphicFrame>
      <p:sp>
        <p:nvSpPr>
          <p:cNvPr id="93" name="文本框 92">
            <a:extLst>
              <a:ext uri="{FF2B5EF4-FFF2-40B4-BE49-F238E27FC236}">
                <a16:creationId xmlns:a16="http://schemas.microsoft.com/office/drawing/2014/main" id="{CDB7C8FB-2497-6267-B3E8-7C588F7D8706}"/>
              </a:ext>
            </a:extLst>
          </p:cNvPr>
          <p:cNvSpPr txBox="1"/>
          <p:nvPr/>
        </p:nvSpPr>
        <p:spPr>
          <a:xfrm>
            <a:off x="6271284" y="1567676"/>
            <a:ext cx="5527016" cy="328613"/>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zh-CN" altLang="en-US" sz="1600" b="1" dirty="0">
                <a:solidFill>
                  <a:schemeClr val="accent6">
                    <a:lumMod val="10000"/>
                  </a:schemeClr>
                </a:solidFill>
                <a:cs typeface="+mn-ea"/>
                <a:sym typeface="+mn-lt"/>
              </a:rPr>
              <a:t>盈利：</a:t>
            </a:r>
            <a:r>
              <a:rPr kumimoji="1" lang="zh-CN" altLang="en-US" sz="1600" dirty="0">
                <a:solidFill>
                  <a:schemeClr val="accent6">
                    <a:lumMod val="10000"/>
                  </a:schemeClr>
                </a:solidFill>
                <a:cs typeface="+mn-ea"/>
                <a:sym typeface="+mn-lt"/>
              </a:rPr>
              <a:t>毛利超封测行业平均值（</a:t>
            </a:r>
            <a:r>
              <a:rPr kumimoji="1" lang="en-US" altLang="zh-CN" sz="1600" dirty="0">
                <a:solidFill>
                  <a:schemeClr val="accent6">
                    <a:lumMod val="10000"/>
                  </a:schemeClr>
                </a:solidFill>
                <a:cs typeface="+mn-ea"/>
                <a:sym typeface="+mn-lt"/>
              </a:rPr>
              <a:t> ~30% </a:t>
            </a:r>
            <a:r>
              <a:rPr kumimoji="1" lang="zh-CN" altLang="en-US" sz="1600" dirty="0">
                <a:solidFill>
                  <a:schemeClr val="accent6">
                    <a:lumMod val="10000"/>
                  </a:schemeClr>
                </a:solidFill>
                <a:cs typeface="+mn-ea"/>
                <a:sym typeface="+mn-lt"/>
              </a:rPr>
              <a:t>），亏损持续收窄</a:t>
            </a:r>
            <a:endParaRPr kumimoji="1" lang="en-US" altLang="zh-CN" sz="1600" dirty="0">
              <a:solidFill>
                <a:schemeClr val="accent6">
                  <a:lumMod val="10000"/>
                </a:schemeClr>
              </a:solidFill>
              <a:cs typeface="+mn-ea"/>
              <a:sym typeface="+mn-lt"/>
            </a:endParaRPr>
          </a:p>
        </p:txBody>
      </p:sp>
      <p:grpSp>
        <p:nvGrpSpPr>
          <p:cNvPr id="99" name="组合 98">
            <a:extLst>
              <a:ext uri="{FF2B5EF4-FFF2-40B4-BE49-F238E27FC236}">
                <a16:creationId xmlns:a16="http://schemas.microsoft.com/office/drawing/2014/main" id="{F30BF220-4359-8CC2-7E44-546FD86E08B1}"/>
              </a:ext>
            </a:extLst>
          </p:cNvPr>
          <p:cNvGrpSpPr/>
          <p:nvPr/>
        </p:nvGrpSpPr>
        <p:grpSpPr>
          <a:xfrm>
            <a:off x="10706523" y="3840556"/>
            <a:ext cx="1536288" cy="585101"/>
            <a:chOff x="10926477" y="4990752"/>
            <a:chExt cx="1536288" cy="585101"/>
          </a:xfrm>
        </p:grpSpPr>
        <p:sp>
          <p:nvSpPr>
            <p:cNvPr id="96" name="recycling_95966">
              <a:extLst>
                <a:ext uri="{FF2B5EF4-FFF2-40B4-BE49-F238E27FC236}">
                  <a16:creationId xmlns:a16="http://schemas.microsoft.com/office/drawing/2014/main" id="{9ACACC4B-4082-0599-A9C3-506CC36B5034}"/>
                </a:ext>
              </a:extLst>
            </p:cNvPr>
            <p:cNvSpPr/>
            <p:nvPr/>
          </p:nvSpPr>
          <p:spPr>
            <a:xfrm>
              <a:off x="11025775" y="4990752"/>
              <a:ext cx="341259" cy="307177"/>
            </a:xfrm>
            <a:custGeom>
              <a:avLst/>
              <a:gdLst>
                <a:gd name="connsiteX0" fmla="*/ 138150 w 606227"/>
                <a:gd name="connsiteY0" fmla="*/ 242463 h 545683"/>
                <a:gd name="connsiteX1" fmla="*/ 170297 w 606227"/>
                <a:gd name="connsiteY1" fmla="*/ 378135 h 545683"/>
                <a:gd name="connsiteX2" fmla="*/ 132533 w 606227"/>
                <a:gd name="connsiteY2" fmla="*/ 355702 h 545683"/>
                <a:gd name="connsiteX3" fmla="*/ 107556 w 606227"/>
                <a:gd name="connsiteY3" fmla="*/ 399256 h 545683"/>
                <a:gd name="connsiteX4" fmla="*/ 265185 w 606227"/>
                <a:gd name="connsiteY4" fmla="*/ 400568 h 545683"/>
                <a:gd name="connsiteX5" fmla="*/ 264348 w 606227"/>
                <a:gd name="connsiteY5" fmla="*/ 510824 h 545683"/>
                <a:gd name="connsiteX6" fmla="*/ 90705 w 606227"/>
                <a:gd name="connsiteY6" fmla="*/ 509631 h 545683"/>
                <a:gd name="connsiteX7" fmla="*/ 72899 w 606227"/>
                <a:gd name="connsiteY7" fmla="*/ 480396 h 545683"/>
                <a:gd name="connsiteX8" fmla="*/ 5258 w 606227"/>
                <a:gd name="connsiteY8" fmla="*/ 362265 h 545683"/>
                <a:gd name="connsiteX9" fmla="*/ 39676 w 606227"/>
                <a:gd name="connsiteY9" fmla="*/ 299858 h 545683"/>
                <a:gd name="connsiteX10" fmla="*/ 0 w 606227"/>
                <a:gd name="connsiteY10" fmla="*/ 275993 h 545683"/>
                <a:gd name="connsiteX11" fmla="*/ 522226 w 606227"/>
                <a:gd name="connsiteY11" fmla="*/ 201253 h 545683"/>
                <a:gd name="connsiteX12" fmla="*/ 606227 w 606227"/>
                <a:gd name="connsiteY12" fmla="*/ 352105 h 545683"/>
                <a:gd name="connsiteX13" fmla="*/ 587706 w 606227"/>
                <a:gd name="connsiteY13" fmla="*/ 383374 h 545683"/>
                <a:gd name="connsiteX14" fmla="*/ 516849 w 606227"/>
                <a:gd name="connsiteY14" fmla="*/ 499496 h 545683"/>
                <a:gd name="connsiteX15" fmla="*/ 445515 w 606227"/>
                <a:gd name="connsiteY15" fmla="*/ 499496 h 545683"/>
                <a:gd name="connsiteX16" fmla="*/ 443603 w 606227"/>
                <a:gd name="connsiteY16" fmla="*/ 545683 h 545683"/>
                <a:gd name="connsiteX17" fmla="*/ 347534 w 606227"/>
                <a:gd name="connsiteY17" fmla="*/ 441137 h 545683"/>
                <a:gd name="connsiteX18" fmla="*/ 451131 w 606227"/>
                <a:gd name="connsiteY18" fmla="*/ 347451 h 545683"/>
                <a:gd name="connsiteX19" fmla="*/ 449697 w 606227"/>
                <a:gd name="connsiteY19" fmla="*/ 391370 h 545683"/>
                <a:gd name="connsiteX20" fmla="*/ 499882 w 606227"/>
                <a:gd name="connsiteY20" fmla="*/ 392205 h 545683"/>
                <a:gd name="connsiteX21" fmla="*/ 424963 w 606227"/>
                <a:gd name="connsiteY21" fmla="*/ 253646 h 545683"/>
                <a:gd name="connsiteX22" fmla="*/ 224895 w 606227"/>
                <a:gd name="connsiteY22" fmla="*/ 0 h 545683"/>
                <a:gd name="connsiteX23" fmla="*/ 393884 w 606227"/>
                <a:gd name="connsiteY23" fmla="*/ 119 h 545683"/>
                <a:gd name="connsiteX24" fmla="*/ 430933 w 606227"/>
                <a:gd name="connsiteY24" fmla="*/ 60975 h 545683"/>
                <a:gd name="connsiteX25" fmla="*/ 471447 w 606227"/>
                <a:gd name="connsiteY25" fmla="*/ 38422 h 545683"/>
                <a:gd name="connsiteX26" fmla="*/ 432008 w 606227"/>
                <a:gd name="connsiteY26" fmla="*/ 174810 h 545683"/>
                <a:gd name="connsiteX27" fmla="*/ 298036 w 606227"/>
                <a:gd name="connsiteY27" fmla="*/ 135194 h 545683"/>
                <a:gd name="connsiteX28" fmla="*/ 336399 w 606227"/>
                <a:gd name="connsiteY28" fmla="*/ 113597 h 545683"/>
                <a:gd name="connsiteX29" fmla="*/ 310943 w 606227"/>
                <a:gd name="connsiteY29" fmla="*/ 70401 h 545683"/>
                <a:gd name="connsiteX30" fmla="*/ 231468 w 606227"/>
                <a:gd name="connsiteY30" fmla="*/ 206192 h 545683"/>
                <a:gd name="connsiteX31" fmla="*/ 135979 w 606227"/>
                <a:gd name="connsiteY31" fmla="*/ 150587 h 545683"/>
                <a:gd name="connsiteX32" fmla="*/ 211032 w 606227"/>
                <a:gd name="connsiteY32" fmla="*/ 22194 h 545683"/>
                <a:gd name="connsiteX33" fmla="*/ 224178 w 606227"/>
                <a:gd name="connsiteY33" fmla="*/ 1074 h 545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27" h="545683">
                  <a:moveTo>
                    <a:pt x="138150" y="242463"/>
                  </a:moveTo>
                  <a:lnTo>
                    <a:pt x="170297" y="378135"/>
                  </a:lnTo>
                  <a:lnTo>
                    <a:pt x="132533" y="355702"/>
                  </a:lnTo>
                  <a:lnTo>
                    <a:pt x="107556" y="399256"/>
                  </a:lnTo>
                  <a:lnTo>
                    <a:pt x="265185" y="400568"/>
                  </a:lnTo>
                  <a:lnTo>
                    <a:pt x="264348" y="510824"/>
                  </a:lnTo>
                  <a:lnTo>
                    <a:pt x="90705" y="509631"/>
                  </a:lnTo>
                  <a:lnTo>
                    <a:pt x="72899" y="480396"/>
                  </a:lnTo>
                  <a:lnTo>
                    <a:pt x="5258" y="362265"/>
                  </a:lnTo>
                  <a:lnTo>
                    <a:pt x="39676" y="299858"/>
                  </a:lnTo>
                  <a:lnTo>
                    <a:pt x="0" y="275993"/>
                  </a:lnTo>
                  <a:close/>
                  <a:moveTo>
                    <a:pt x="522226" y="201253"/>
                  </a:moveTo>
                  <a:lnTo>
                    <a:pt x="606227" y="352105"/>
                  </a:lnTo>
                  <a:lnTo>
                    <a:pt x="587706" y="383374"/>
                  </a:lnTo>
                  <a:lnTo>
                    <a:pt x="516849" y="499496"/>
                  </a:lnTo>
                  <a:lnTo>
                    <a:pt x="445515" y="499496"/>
                  </a:lnTo>
                  <a:lnTo>
                    <a:pt x="443603" y="545683"/>
                  </a:lnTo>
                  <a:lnTo>
                    <a:pt x="347534" y="441137"/>
                  </a:lnTo>
                  <a:lnTo>
                    <a:pt x="451131" y="347451"/>
                  </a:lnTo>
                  <a:lnTo>
                    <a:pt x="449697" y="391370"/>
                  </a:lnTo>
                  <a:lnTo>
                    <a:pt x="499882" y="392205"/>
                  </a:lnTo>
                  <a:lnTo>
                    <a:pt x="424963" y="253646"/>
                  </a:lnTo>
                  <a:close/>
                  <a:moveTo>
                    <a:pt x="224895" y="0"/>
                  </a:moveTo>
                  <a:lnTo>
                    <a:pt x="393884" y="119"/>
                  </a:lnTo>
                  <a:lnTo>
                    <a:pt x="430933" y="60975"/>
                  </a:lnTo>
                  <a:lnTo>
                    <a:pt x="471447" y="38422"/>
                  </a:lnTo>
                  <a:lnTo>
                    <a:pt x="432008" y="174810"/>
                  </a:lnTo>
                  <a:lnTo>
                    <a:pt x="298036" y="135194"/>
                  </a:lnTo>
                  <a:lnTo>
                    <a:pt x="336399" y="113597"/>
                  </a:lnTo>
                  <a:lnTo>
                    <a:pt x="310943" y="70401"/>
                  </a:lnTo>
                  <a:lnTo>
                    <a:pt x="231468" y="206192"/>
                  </a:lnTo>
                  <a:lnTo>
                    <a:pt x="135979" y="150587"/>
                  </a:lnTo>
                  <a:lnTo>
                    <a:pt x="211032" y="22194"/>
                  </a:lnTo>
                  <a:cubicBezTo>
                    <a:pt x="218322" y="9785"/>
                    <a:pt x="224178" y="1074"/>
                    <a:pt x="224178" y="1074"/>
                  </a:cubicBezTo>
                  <a:close/>
                </a:path>
              </a:pathLst>
            </a:cu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cs typeface="+mn-ea"/>
                <a:sym typeface="+mn-lt"/>
              </a:endParaRPr>
            </a:p>
          </p:txBody>
        </p:sp>
        <p:sp>
          <p:nvSpPr>
            <p:cNvPr id="97" name="文本框 96">
              <a:extLst>
                <a:ext uri="{FF2B5EF4-FFF2-40B4-BE49-F238E27FC236}">
                  <a16:creationId xmlns:a16="http://schemas.microsoft.com/office/drawing/2014/main" id="{6432E317-E7B9-701E-A911-28C5ABBBBE35}"/>
                </a:ext>
              </a:extLst>
            </p:cNvPr>
            <p:cNvSpPr txBox="1"/>
            <p:nvPr/>
          </p:nvSpPr>
          <p:spPr>
            <a:xfrm>
              <a:off x="10926477" y="5298854"/>
              <a:ext cx="1536288" cy="276999"/>
            </a:xfrm>
            <a:prstGeom prst="rect">
              <a:avLst/>
            </a:prstGeom>
            <a:noFill/>
          </p:spPr>
          <p:txBody>
            <a:bodyPr wrap="square">
              <a:spAutoFit/>
            </a:bodyPr>
            <a:lstStyle/>
            <a:p>
              <a:r>
                <a:rPr kumimoji="0" lang="zh-CN" altLang="en-US" sz="1200" b="0" i="0" u="none" strike="noStrike" cap="none" normalizeH="0" baseline="0" dirty="0">
                  <a:ln>
                    <a:noFill/>
                  </a:ln>
                  <a:solidFill>
                    <a:srgbClr val="000000"/>
                  </a:solidFill>
                  <a:effectLst/>
                  <a:cs typeface="+mn-ea"/>
                  <a:sym typeface="+mn-lt"/>
                </a:rPr>
                <a:t>产能利用率</a:t>
              </a:r>
              <a:endParaRPr lang="zh-CN" altLang="en-US" sz="1200" dirty="0">
                <a:cs typeface="+mn-ea"/>
                <a:sym typeface="+mn-lt"/>
              </a:endParaRPr>
            </a:p>
          </p:txBody>
        </p:sp>
        <p:sp>
          <p:nvSpPr>
            <p:cNvPr id="98" name="文本框 97">
              <a:extLst>
                <a:ext uri="{FF2B5EF4-FFF2-40B4-BE49-F238E27FC236}">
                  <a16:creationId xmlns:a16="http://schemas.microsoft.com/office/drawing/2014/main" id="{8B1550BD-1D69-EC16-44B1-065FE1BB6B04}"/>
                </a:ext>
              </a:extLst>
            </p:cNvPr>
            <p:cNvSpPr txBox="1"/>
            <p:nvPr/>
          </p:nvSpPr>
          <p:spPr>
            <a:xfrm>
              <a:off x="11384413" y="4990752"/>
              <a:ext cx="876300" cy="307777"/>
            </a:xfrm>
            <a:prstGeom prst="rect">
              <a:avLst/>
            </a:prstGeom>
            <a:noFill/>
          </p:spPr>
          <p:txBody>
            <a:bodyPr wrap="square">
              <a:spAutoFit/>
            </a:bodyPr>
            <a:lstStyle/>
            <a:p>
              <a:r>
                <a:rPr kumimoji="0" lang="en-US" altLang="zh-CN" sz="1400" b="1" i="0" u="none" strike="noStrike" cap="none" normalizeH="0" baseline="0" dirty="0">
                  <a:ln>
                    <a:noFill/>
                  </a:ln>
                  <a:solidFill>
                    <a:srgbClr val="0052D9"/>
                  </a:solidFill>
                  <a:effectLst/>
                  <a:cs typeface="+mn-ea"/>
                  <a:sym typeface="+mn-lt"/>
                </a:rPr>
                <a:t>85%</a:t>
              </a:r>
              <a:endParaRPr lang="zh-CN" altLang="en-US" sz="1200" dirty="0">
                <a:cs typeface="+mn-ea"/>
                <a:sym typeface="+mn-lt"/>
              </a:endParaRPr>
            </a:p>
          </p:txBody>
        </p:sp>
      </p:grpSp>
      <p:sp>
        <p:nvSpPr>
          <p:cNvPr id="101" name="流程图: 摘录 100">
            <a:extLst>
              <a:ext uri="{FF2B5EF4-FFF2-40B4-BE49-F238E27FC236}">
                <a16:creationId xmlns:a16="http://schemas.microsoft.com/office/drawing/2014/main" id="{306CD657-DB77-3194-3368-C2D64FB788C4}"/>
              </a:ext>
            </a:extLst>
          </p:cNvPr>
          <p:cNvSpPr/>
          <p:nvPr/>
        </p:nvSpPr>
        <p:spPr>
          <a:xfrm rot="16200000">
            <a:off x="8903129" y="4062312"/>
            <a:ext cx="508635" cy="141589"/>
          </a:xfrm>
          <a:prstGeom prst="flowChartExtract">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102" name="箭头: 右 101">
            <a:extLst>
              <a:ext uri="{FF2B5EF4-FFF2-40B4-BE49-F238E27FC236}">
                <a16:creationId xmlns:a16="http://schemas.microsoft.com/office/drawing/2014/main" id="{FC442DF0-BADE-8275-3AB9-49B2EB9FACCE}"/>
              </a:ext>
            </a:extLst>
          </p:cNvPr>
          <p:cNvSpPr/>
          <p:nvPr/>
        </p:nvSpPr>
        <p:spPr>
          <a:xfrm>
            <a:off x="10350154" y="4073447"/>
            <a:ext cx="269664" cy="119318"/>
          </a:xfrm>
          <a:prstGeom prst="rightArrow">
            <a:avLst/>
          </a:prstGeom>
          <a:solidFill>
            <a:srgbClr val="005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103" name="文本框 102">
            <a:extLst>
              <a:ext uri="{FF2B5EF4-FFF2-40B4-BE49-F238E27FC236}">
                <a16:creationId xmlns:a16="http://schemas.microsoft.com/office/drawing/2014/main" id="{010AC663-CC66-FF6B-3712-A1AFCCA8DBAD}"/>
              </a:ext>
            </a:extLst>
          </p:cNvPr>
          <p:cNvSpPr txBox="1"/>
          <p:nvPr/>
        </p:nvSpPr>
        <p:spPr>
          <a:xfrm>
            <a:off x="6271284" y="4692291"/>
            <a:ext cx="5269570" cy="328613"/>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zh-CN" altLang="en-US" sz="1600" b="1" dirty="0">
                <a:solidFill>
                  <a:schemeClr val="accent6">
                    <a:lumMod val="10000"/>
                  </a:schemeClr>
                </a:solidFill>
                <a:cs typeface="+mn-ea"/>
                <a:sym typeface="+mn-lt"/>
              </a:rPr>
              <a:t>上下游：</a:t>
            </a:r>
            <a:r>
              <a:rPr kumimoji="1" lang="zh-CN" altLang="en-US" sz="1600" dirty="0">
                <a:solidFill>
                  <a:schemeClr val="accent6">
                    <a:lumMod val="10000"/>
                  </a:schemeClr>
                </a:solidFill>
                <a:cs typeface="+mn-ea"/>
                <a:sym typeface="+mn-lt"/>
              </a:rPr>
              <a:t>巨头客户占比大，供应商集中</a:t>
            </a:r>
            <a:endParaRPr kumimoji="1" lang="en-US" altLang="zh-CN" sz="1600" dirty="0">
              <a:solidFill>
                <a:schemeClr val="accent6">
                  <a:lumMod val="10000"/>
                </a:schemeClr>
              </a:solidFill>
              <a:cs typeface="+mn-ea"/>
              <a:sym typeface="+mn-lt"/>
            </a:endParaRPr>
          </a:p>
        </p:txBody>
      </p:sp>
      <p:sp>
        <p:nvSpPr>
          <p:cNvPr id="106" name="圆角矩形 1636">
            <a:extLst>
              <a:ext uri="{FF2B5EF4-FFF2-40B4-BE49-F238E27FC236}">
                <a16:creationId xmlns:a16="http://schemas.microsoft.com/office/drawing/2014/main" id="{083FE0B3-A52B-9965-A9F0-9A5055540272}"/>
              </a:ext>
            </a:extLst>
          </p:cNvPr>
          <p:cNvSpPr/>
          <p:nvPr/>
        </p:nvSpPr>
        <p:spPr>
          <a:xfrm>
            <a:off x="238261" y="1473290"/>
            <a:ext cx="5712301" cy="4992746"/>
          </a:xfrm>
          <a:prstGeom prst="roundRect">
            <a:avLst>
              <a:gd name="adj" fmla="val 3523"/>
            </a:avLst>
          </a:prstGeom>
          <a:noFill/>
          <a:ln w="6350" cap="sq">
            <a:solidFill>
              <a:schemeClr val="tx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300"/>
              </a:spcBef>
              <a:spcAft>
                <a:spcPts val="300"/>
              </a:spcAft>
            </a:pPr>
            <a:endParaRPr kumimoji="1" lang="zh-CN" altLang="en-US" sz="1600" dirty="0" err="1">
              <a:solidFill>
                <a:schemeClr val="bg1"/>
              </a:solidFill>
              <a:cs typeface="+mn-ea"/>
              <a:sym typeface="+mn-lt"/>
            </a:endParaRPr>
          </a:p>
        </p:txBody>
      </p:sp>
      <p:sp>
        <p:nvSpPr>
          <p:cNvPr id="108" name="文本框 107">
            <a:extLst>
              <a:ext uri="{FF2B5EF4-FFF2-40B4-BE49-F238E27FC236}">
                <a16:creationId xmlns:a16="http://schemas.microsoft.com/office/drawing/2014/main" id="{00763911-E411-2B21-6E2A-8FB9F5CBF7F9}"/>
              </a:ext>
            </a:extLst>
          </p:cNvPr>
          <p:cNvSpPr txBox="1"/>
          <p:nvPr/>
        </p:nvSpPr>
        <p:spPr>
          <a:xfrm>
            <a:off x="291221" y="3203909"/>
            <a:ext cx="9097700" cy="338554"/>
          </a:xfrm>
          <a:prstGeom prst="rect">
            <a:avLst/>
          </a:prstGeom>
          <a:noFill/>
        </p:spPr>
        <p:txBody>
          <a:bodyPr wrap="square">
            <a:spAutoFit/>
          </a:bodyPr>
          <a:lstStyle/>
          <a:p>
            <a:pPr marL="285750" indent="-285750">
              <a:buFont typeface="Arial" panose="020B0604020202020204" pitchFamily="34" charset="0"/>
              <a:buChar char="•"/>
            </a:pPr>
            <a:r>
              <a:rPr kumimoji="0" lang="zh-CN" altLang="zh-CN" sz="1600" b="0" i="0" u="none" strike="noStrike" cap="none" normalizeH="0" baseline="0" dirty="0">
                <a:ln>
                  <a:noFill/>
                </a:ln>
                <a:solidFill>
                  <a:srgbClr val="000000"/>
                </a:solidFill>
                <a:effectLst/>
                <a:cs typeface="+mn-ea"/>
                <a:sym typeface="+mn-lt"/>
              </a:rPr>
              <a:t>光电器件微组装</a:t>
            </a:r>
            <a:r>
              <a:rPr kumimoji="0" lang="en-US" altLang="zh-CN" sz="1600" b="0" i="0" u="none" strike="noStrike" cap="none" normalizeH="0" baseline="0" dirty="0">
                <a:ln>
                  <a:noFill/>
                </a:ln>
                <a:solidFill>
                  <a:srgbClr val="000000"/>
                </a:solidFill>
                <a:effectLst/>
                <a:cs typeface="+mn-ea"/>
                <a:sym typeface="+mn-lt"/>
              </a:rPr>
              <a:t>+</a:t>
            </a:r>
            <a:r>
              <a:rPr kumimoji="0" lang="zh-CN" altLang="zh-CN" sz="1600" b="0" i="0" u="none" strike="noStrike" cap="none" normalizeH="0" baseline="0" dirty="0">
                <a:ln>
                  <a:noFill/>
                </a:ln>
                <a:solidFill>
                  <a:srgbClr val="000000"/>
                </a:solidFill>
                <a:effectLst/>
                <a:cs typeface="+mn-ea"/>
                <a:sym typeface="+mn-lt"/>
              </a:rPr>
              <a:t>自动化测试</a:t>
            </a:r>
            <a:r>
              <a:rPr kumimoji="0" lang="zh-CN" altLang="en-US" sz="1600" b="0" i="0" u="none" strike="noStrike" cap="none" normalizeH="0" baseline="0" dirty="0">
                <a:ln>
                  <a:noFill/>
                </a:ln>
                <a:solidFill>
                  <a:srgbClr val="000000"/>
                </a:solidFill>
                <a:effectLst/>
                <a:cs typeface="+mn-ea"/>
                <a:sym typeface="+mn-lt"/>
              </a:rPr>
              <a:t>垄断地位</a:t>
            </a:r>
            <a:endParaRPr lang="zh-CN" altLang="en-US" sz="1600" dirty="0">
              <a:cs typeface="+mn-ea"/>
              <a:sym typeface="+mn-lt"/>
            </a:endParaRPr>
          </a:p>
        </p:txBody>
      </p:sp>
      <p:sp>
        <p:nvSpPr>
          <p:cNvPr id="109" name="圆角矩形 1636">
            <a:extLst>
              <a:ext uri="{FF2B5EF4-FFF2-40B4-BE49-F238E27FC236}">
                <a16:creationId xmlns:a16="http://schemas.microsoft.com/office/drawing/2014/main" id="{AD0371B0-D2D6-0324-BB5A-277C944BF757}"/>
              </a:ext>
            </a:extLst>
          </p:cNvPr>
          <p:cNvSpPr/>
          <p:nvPr/>
        </p:nvSpPr>
        <p:spPr>
          <a:xfrm>
            <a:off x="6130599" y="1473290"/>
            <a:ext cx="5712301" cy="4992746"/>
          </a:xfrm>
          <a:prstGeom prst="roundRect">
            <a:avLst>
              <a:gd name="adj" fmla="val 3523"/>
            </a:avLst>
          </a:prstGeom>
          <a:noFill/>
          <a:ln w="6350" cap="sq">
            <a:solidFill>
              <a:schemeClr val="tx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300"/>
              </a:spcBef>
              <a:spcAft>
                <a:spcPts val="300"/>
              </a:spcAft>
            </a:pPr>
            <a:endParaRPr kumimoji="1" lang="zh-CN" altLang="en-US" sz="1600" dirty="0" err="1">
              <a:solidFill>
                <a:schemeClr val="bg1"/>
              </a:solidFill>
              <a:cs typeface="+mn-ea"/>
              <a:sym typeface="+mn-lt"/>
            </a:endParaRPr>
          </a:p>
        </p:txBody>
      </p:sp>
      <p:sp>
        <p:nvSpPr>
          <p:cNvPr id="110" name="文本框 109">
            <a:extLst>
              <a:ext uri="{FF2B5EF4-FFF2-40B4-BE49-F238E27FC236}">
                <a16:creationId xmlns:a16="http://schemas.microsoft.com/office/drawing/2014/main" id="{E00BD308-531F-5D9B-D859-6BBCD44F85F2}"/>
              </a:ext>
            </a:extLst>
          </p:cNvPr>
          <p:cNvSpPr txBox="1"/>
          <p:nvPr/>
        </p:nvSpPr>
        <p:spPr>
          <a:xfrm>
            <a:off x="6297675" y="1782548"/>
            <a:ext cx="1429680" cy="261610"/>
          </a:xfrm>
          <a:prstGeom prst="rect">
            <a:avLst/>
          </a:prstGeom>
          <a:noFill/>
        </p:spPr>
        <p:txBody>
          <a:bodyPr wrap="square">
            <a:spAutoFit/>
          </a:bodyPr>
          <a:lstStyle/>
          <a:p>
            <a:r>
              <a:rPr kumimoji="0" lang="zh-CN" altLang="en-US" sz="1100" b="1" i="0" u="none" strike="noStrike" cap="none" normalizeH="0" baseline="0" dirty="0">
                <a:ln>
                  <a:noFill/>
                </a:ln>
                <a:solidFill>
                  <a:schemeClr val="bg1">
                    <a:lumMod val="50000"/>
                  </a:schemeClr>
                </a:solidFill>
                <a:effectLst/>
                <a:cs typeface="+mn-ea"/>
                <a:sym typeface="+mn-lt"/>
              </a:rPr>
              <a:t>亿美元</a:t>
            </a:r>
            <a:endParaRPr lang="zh-CN" altLang="en-US" sz="1050" dirty="0">
              <a:solidFill>
                <a:schemeClr val="bg1">
                  <a:lumMod val="50000"/>
                </a:schemeClr>
              </a:solidFill>
              <a:cs typeface="+mn-ea"/>
              <a:sym typeface="+mn-lt"/>
            </a:endParaRPr>
          </a:p>
        </p:txBody>
      </p:sp>
      <p:grpSp>
        <p:nvGrpSpPr>
          <p:cNvPr id="121" name="组合 120">
            <a:extLst>
              <a:ext uri="{FF2B5EF4-FFF2-40B4-BE49-F238E27FC236}">
                <a16:creationId xmlns:a16="http://schemas.microsoft.com/office/drawing/2014/main" id="{F6E869D7-9532-DA1C-EE6B-46E52FFD3DF7}"/>
              </a:ext>
            </a:extLst>
          </p:cNvPr>
          <p:cNvGrpSpPr/>
          <p:nvPr/>
        </p:nvGrpSpPr>
        <p:grpSpPr>
          <a:xfrm>
            <a:off x="5844455" y="5023358"/>
            <a:ext cx="2508785" cy="1575336"/>
            <a:chOff x="5814358" y="4940035"/>
            <a:chExt cx="2508785" cy="1575336"/>
          </a:xfrm>
        </p:grpSpPr>
        <p:graphicFrame>
          <p:nvGraphicFramePr>
            <p:cNvPr id="111" name="图表 110">
              <a:extLst>
                <a:ext uri="{FF2B5EF4-FFF2-40B4-BE49-F238E27FC236}">
                  <a16:creationId xmlns:a16="http://schemas.microsoft.com/office/drawing/2014/main" id="{C62B12CD-DEA7-D4E4-84A2-81C21616FD18}"/>
                </a:ext>
              </a:extLst>
            </p:cNvPr>
            <p:cNvGraphicFramePr>
              <a:graphicFrameLocks/>
            </p:cNvGraphicFramePr>
            <p:nvPr>
              <p:extLst>
                <p:ext uri="{D42A27DB-BD31-4B8C-83A1-F6EECF244321}">
                  <p14:modId xmlns:p14="http://schemas.microsoft.com/office/powerpoint/2010/main" val="1300961070"/>
                </p:ext>
              </p:extLst>
            </p:nvPr>
          </p:nvGraphicFramePr>
          <p:xfrm>
            <a:off x="5814358" y="4940035"/>
            <a:ext cx="2326067" cy="1575336"/>
          </p:xfrm>
          <a:graphic>
            <a:graphicData uri="http://schemas.openxmlformats.org/drawingml/2006/chart">
              <c:chart xmlns:c="http://schemas.openxmlformats.org/drawingml/2006/chart" xmlns:r="http://schemas.openxmlformats.org/officeDocument/2006/relationships" r:id="rId14"/>
            </a:graphicData>
          </a:graphic>
        </p:graphicFrame>
        <p:sp>
          <p:nvSpPr>
            <p:cNvPr id="112" name="文本框 111">
              <a:extLst>
                <a:ext uri="{FF2B5EF4-FFF2-40B4-BE49-F238E27FC236}">
                  <a16:creationId xmlns:a16="http://schemas.microsoft.com/office/drawing/2014/main" id="{0208D120-F248-D8FE-B872-D1C9ACC1571F}"/>
                </a:ext>
              </a:extLst>
            </p:cNvPr>
            <p:cNvSpPr txBox="1"/>
            <p:nvPr/>
          </p:nvSpPr>
          <p:spPr>
            <a:xfrm>
              <a:off x="6977391" y="5297086"/>
              <a:ext cx="1345752" cy="307777"/>
            </a:xfrm>
            <a:prstGeom prst="rect">
              <a:avLst/>
            </a:prstGeom>
            <a:noFill/>
          </p:spPr>
          <p:txBody>
            <a:bodyPr wrap="square">
              <a:spAutoFit/>
            </a:bodyPr>
            <a:lstStyle/>
            <a:p>
              <a:r>
                <a:rPr kumimoji="0" lang="en-US" altLang="zh-CN" sz="1400" b="1" i="0" u="none" strike="noStrike" cap="none" normalizeH="0" baseline="0" dirty="0">
                  <a:ln>
                    <a:noFill/>
                  </a:ln>
                  <a:solidFill>
                    <a:schemeClr val="bg1"/>
                  </a:solidFill>
                  <a:effectLst/>
                  <a:cs typeface="+mn-ea"/>
                  <a:sym typeface="+mn-lt"/>
                </a:rPr>
                <a:t>CR5</a:t>
              </a:r>
              <a:endParaRPr lang="zh-CN" altLang="en-US" sz="1400" b="1" dirty="0">
                <a:solidFill>
                  <a:schemeClr val="bg1"/>
                </a:solidFill>
                <a:cs typeface="+mn-ea"/>
                <a:sym typeface="+mn-lt"/>
              </a:endParaRPr>
            </a:p>
          </p:txBody>
        </p:sp>
      </p:grpSp>
      <p:sp>
        <p:nvSpPr>
          <p:cNvPr id="122" name="文本框 121">
            <a:extLst>
              <a:ext uri="{FF2B5EF4-FFF2-40B4-BE49-F238E27FC236}">
                <a16:creationId xmlns:a16="http://schemas.microsoft.com/office/drawing/2014/main" id="{EEEC84D2-0E0F-BC65-9770-3EB1A8687544}"/>
              </a:ext>
            </a:extLst>
          </p:cNvPr>
          <p:cNvSpPr txBox="1"/>
          <p:nvPr/>
        </p:nvSpPr>
        <p:spPr>
          <a:xfrm>
            <a:off x="6561747" y="4946889"/>
            <a:ext cx="1387791" cy="307777"/>
          </a:xfrm>
          <a:prstGeom prst="rect">
            <a:avLst/>
          </a:prstGeom>
          <a:noFill/>
        </p:spPr>
        <p:txBody>
          <a:bodyPr wrap="square">
            <a:spAutoFit/>
          </a:bodyPr>
          <a:lstStyle/>
          <a:p>
            <a:r>
              <a:rPr kumimoji="0" lang="zh-CN" altLang="en-US" sz="1400" b="0" i="0" u="none" strike="noStrike" cap="none" normalizeH="0" baseline="0" dirty="0">
                <a:ln>
                  <a:noFill/>
                </a:ln>
                <a:solidFill>
                  <a:srgbClr val="000000"/>
                </a:solidFill>
                <a:effectLst/>
                <a:cs typeface="+mn-ea"/>
                <a:sym typeface="+mn-lt"/>
              </a:rPr>
              <a:t>客户占比</a:t>
            </a:r>
            <a:endParaRPr lang="zh-CN" altLang="en-US" sz="1400" dirty="0">
              <a:cs typeface="+mn-ea"/>
              <a:sym typeface="+mn-lt"/>
            </a:endParaRPr>
          </a:p>
        </p:txBody>
      </p:sp>
      <p:sp>
        <p:nvSpPr>
          <p:cNvPr id="123" name="左大括号 122">
            <a:extLst>
              <a:ext uri="{FF2B5EF4-FFF2-40B4-BE49-F238E27FC236}">
                <a16:creationId xmlns:a16="http://schemas.microsoft.com/office/drawing/2014/main" id="{2A01A2D0-1BA7-691B-2D62-0DE10A07590E}"/>
              </a:ext>
            </a:extLst>
          </p:cNvPr>
          <p:cNvSpPr/>
          <p:nvPr/>
        </p:nvSpPr>
        <p:spPr>
          <a:xfrm>
            <a:off x="7652532" y="5414281"/>
            <a:ext cx="244731" cy="790243"/>
          </a:xfrm>
          <a:prstGeom prst="leftBrace">
            <a:avLst/>
          </a:prstGeom>
          <a:ln>
            <a:solidFill>
              <a:srgbClr val="0052D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pic>
        <p:nvPicPr>
          <p:cNvPr id="127" name="图像" descr="图像">
            <a:extLst>
              <a:ext uri="{FF2B5EF4-FFF2-40B4-BE49-F238E27FC236}">
                <a16:creationId xmlns:a16="http://schemas.microsoft.com/office/drawing/2014/main" id="{56711EB7-779D-687C-2D46-ACC9EBC20E17}"/>
              </a:ext>
            </a:extLst>
          </p:cNvPr>
          <p:cNvPicPr>
            <a:picLocks noChangeAspect="1"/>
          </p:cNvPicPr>
          <p:nvPr/>
        </p:nvPicPr>
        <p:blipFill>
          <a:blip r:embed="rId15"/>
          <a:stretch>
            <a:fillRect/>
          </a:stretch>
        </p:blipFill>
        <p:spPr>
          <a:xfrm>
            <a:off x="8556330" y="5693540"/>
            <a:ext cx="328497" cy="158383"/>
          </a:xfrm>
          <a:prstGeom prst="rect">
            <a:avLst/>
          </a:prstGeom>
          <a:ln w="12700">
            <a:miter lim="400000"/>
          </a:ln>
        </p:spPr>
      </p:pic>
      <p:pic>
        <p:nvPicPr>
          <p:cNvPr id="128" name="图像" descr="图像">
            <a:extLst>
              <a:ext uri="{FF2B5EF4-FFF2-40B4-BE49-F238E27FC236}">
                <a16:creationId xmlns:a16="http://schemas.microsoft.com/office/drawing/2014/main" id="{CCC31D5B-5C11-3CCA-5F1F-B960072E2B8B}"/>
              </a:ext>
            </a:extLst>
          </p:cNvPr>
          <p:cNvPicPr>
            <a:picLocks noChangeAspect="1"/>
          </p:cNvPicPr>
          <p:nvPr/>
        </p:nvPicPr>
        <p:blipFill>
          <a:blip r:embed="rId16"/>
          <a:stretch>
            <a:fillRect/>
          </a:stretch>
        </p:blipFill>
        <p:spPr>
          <a:xfrm>
            <a:off x="7976483" y="5670621"/>
            <a:ext cx="349749" cy="188864"/>
          </a:xfrm>
          <a:prstGeom prst="rect">
            <a:avLst/>
          </a:prstGeom>
          <a:ln w="12700">
            <a:miter lim="400000"/>
          </a:ln>
        </p:spPr>
      </p:pic>
      <p:pic>
        <p:nvPicPr>
          <p:cNvPr id="133" name="图片 132">
            <a:extLst>
              <a:ext uri="{FF2B5EF4-FFF2-40B4-BE49-F238E27FC236}">
                <a16:creationId xmlns:a16="http://schemas.microsoft.com/office/drawing/2014/main" id="{3505F9A0-8D42-91F8-00F6-D04A26784C4D}"/>
              </a:ext>
            </a:extLst>
          </p:cNvPr>
          <p:cNvPicPr>
            <a:picLocks noChangeAspect="1"/>
          </p:cNvPicPr>
          <p:nvPr/>
        </p:nvPicPr>
        <p:blipFill>
          <a:blip r:embed="rId17"/>
          <a:stretch>
            <a:fillRect/>
          </a:stretch>
        </p:blipFill>
        <p:spPr>
          <a:xfrm>
            <a:off x="7965972" y="5272458"/>
            <a:ext cx="424641" cy="150013"/>
          </a:xfrm>
          <a:prstGeom prst="rect">
            <a:avLst/>
          </a:prstGeom>
        </p:spPr>
      </p:pic>
      <p:pic>
        <p:nvPicPr>
          <p:cNvPr id="134" name="图片 133">
            <a:extLst>
              <a:ext uri="{FF2B5EF4-FFF2-40B4-BE49-F238E27FC236}">
                <a16:creationId xmlns:a16="http://schemas.microsoft.com/office/drawing/2014/main" id="{7E52CD9D-56D1-36B2-1406-1B685F9A0A4B}"/>
              </a:ext>
            </a:extLst>
          </p:cNvPr>
          <p:cNvPicPr>
            <a:picLocks noChangeAspect="1"/>
          </p:cNvPicPr>
          <p:nvPr/>
        </p:nvPicPr>
        <p:blipFill>
          <a:blip r:embed="rId18"/>
          <a:stretch>
            <a:fillRect/>
          </a:stretch>
        </p:blipFill>
        <p:spPr>
          <a:xfrm>
            <a:off x="8568343" y="5279508"/>
            <a:ext cx="283204" cy="181777"/>
          </a:xfrm>
          <a:prstGeom prst="rect">
            <a:avLst/>
          </a:prstGeom>
        </p:spPr>
      </p:pic>
      <p:pic>
        <p:nvPicPr>
          <p:cNvPr id="136" name="图片 135">
            <a:extLst>
              <a:ext uri="{FF2B5EF4-FFF2-40B4-BE49-F238E27FC236}">
                <a16:creationId xmlns:a16="http://schemas.microsoft.com/office/drawing/2014/main" id="{D2E31E35-034B-9EC4-2D14-AA717B9E047F}"/>
              </a:ext>
            </a:extLst>
          </p:cNvPr>
          <p:cNvPicPr>
            <a:picLocks noChangeAspect="1"/>
          </p:cNvPicPr>
          <p:nvPr/>
        </p:nvPicPr>
        <p:blipFill>
          <a:blip r:embed="rId19"/>
          <a:stretch>
            <a:fillRect/>
          </a:stretch>
        </p:blipFill>
        <p:spPr>
          <a:xfrm>
            <a:off x="8296554" y="6012823"/>
            <a:ext cx="246629" cy="295634"/>
          </a:xfrm>
          <a:prstGeom prst="rect">
            <a:avLst/>
          </a:prstGeom>
        </p:spPr>
      </p:pic>
      <p:graphicFrame>
        <p:nvGraphicFramePr>
          <p:cNvPr id="142" name="图表 141">
            <a:extLst>
              <a:ext uri="{FF2B5EF4-FFF2-40B4-BE49-F238E27FC236}">
                <a16:creationId xmlns:a16="http://schemas.microsoft.com/office/drawing/2014/main" id="{34375ADA-0D9F-CA4A-2A46-8FBBB873A179}"/>
              </a:ext>
            </a:extLst>
          </p:cNvPr>
          <p:cNvGraphicFramePr>
            <a:graphicFrameLocks/>
          </p:cNvGraphicFramePr>
          <p:nvPr>
            <p:extLst>
              <p:ext uri="{D42A27DB-BD31-4B8C-83A1-F6EECF244321}">
                <p14:modId xmlns:p14="http://schemas.microsoft.com/office/powerpoint/2010/main" val="1831643370"/>
              </p:ext>
            </p:extLst>
          </p:nvPr>
        </p:nvGraphicFramePr>
        <p:xfrm>
          <a:off x="8524091" y="5012895"/>
          <a:ext cx="2645530" cy="1587318"/>
        </p:xfrm>
        <a:graphic>
          <a:graphicData uri="http://schemas.openxmlformats.org/drawingml/2006/chart">
            <c:chart xmlns:c="http://schemas.openxmlformats.org/drawingml/2006/chart" xmlns:r="http://schemas.openxmlformats.org/officeDocument/2006/relationships" r:id="rId20"/>
          </a:graphicData>
        </a:graphic>
      </p:graphicFrame>
      <p:sp>
        <p:nvSpPr>
          <p:cNvPr id="143" name="文本框 142">
            <a:extLst>
              <a:ext uri="{FF2B5EF4-FFF2-40B4-BE49-F238E27FC236}">
                <a16:creationId xmlns:a16="http://schemas.microsoft.com/office/drawing/2014/main" id="{9FA1ED81-34B6-8BDF-ED5A-0DF9E89CBF5B}"/>
              </a:ext>
            </a:extLst>
          </p:cNvPr>
          <p:cNvSpPr txBox="1"/>
          <p:nvPr/>
        </p:nvSpPr>
        <p:spPr>
          <a:xfrm>
            <a:off x="9317262" y="4957447"/>
            <a:ext cx="1387791" cy="307777"/>
          </a:xfrm>
          <a:prstGeom prst="rect">
            <a:avLst/>
          </a:prstGeom>
          <a:noFill/>
        </p:spPr>
        <p:txBody>
          <a:bodyPr wrap="square">
            <a:spAutoFit/>
          </a:bodyPr>
          <a:lstStyle/>
          <a:p>
            <a:r>
              <a:rPr kumimoji="0" lang="zh-CN" altLang="en-US" sz="1400" b="0" i="0" u="none" strike="noStrike" cap="none" normalizeH="0" baseline="0" dirty="0">
                <a:ln>
                  <a:noFill/>
                </a:ln>
                <a:solidFill>
                  <a:srgbClr val="000000"/>
                </a:solidFill>
                <a:effectLst/>
                <a:cs typeface="+mn-ea"/>
                <a:sym typeface="+mn-lt"/>
              </a:rPr>
              <a:t>供应商占比</a:t>
            </a:r>
            <a:endParaRPr lang="zh-CN" altLang="en-US" sz="1400" dirty="0">
              <a:cs typeface="+mn-ea"/>
              <a:sym typeface="+mn-lt"/>
            </a:endParaRPr>
          </a:p>
        </p:txBody>
      </p:sp>
      <p:sp>
        <p:nvSpPr>
          <p:cNvPr id="3" name="矩形: 圆角 2">
            <a:extLst>
              <a:ext uri="{FF2B5EF4-FFF2-40B4-BE49-F238E27FC236}">
                <a16:creationId xmlns:a16="http://schemas.microsoft.com/office/drawing/2014/main" id="{D136130C-B2D6-D184-0017-5C119DF2725C}"/>
              </a:ext>
            </a:extLst>
          </p:cNvPr>
          <p:cNvSpPr/>
          <p:nvPr/>
        </p:nvSpPr>
        <p:spPr>
          <a:xfrm>
            <a:off x="12033249" y="978180"/>
            <a:ext cx="9144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标题衔接</a:t>
            </a:r>
          </a:p>
        </p:txBody>
      </p:sp>
    </p:spTree>
    <p:extLst>
      <p:ext uri="{BB962C8B-B14F-4D97-AF65-F5344CB8AC3E}">
        <p14:creationId xmlns:p14="http://schemas.microsoft.com/office/powerpoint/2010/main" val="2010343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hink-cell data - do not delete" hidden="1">
            <a:extLst>
              <a:ext uri="{FF2B5EF4-FFF2-40B4-BE49-F238E27FC236}">
                <a16:creationId xmlns:a16="http://schemas.microsoft.com/office/drawing/2014/main" id="{F48045EE-3F8C-A4F8-0B54-F9AE0FBB317A}"/>
              </a:ext>
            </a:extLst>
          </p:cNvPr>
          <p:cNvGraphicFramePr>
            <a:graphicFrameLocks noChangeAspect="1"/>
          </p:cNvGraphicFramePr>
          <p:nvPr>
            <p:custDataLst>
              <p:tags r:id="rId1"/>
            </p:custDataLst>
            <p:extLst>
              <p:ext uri="{D42A27DB-BD31-4B8C-83A1-F6EECF244321}">
                <p14:modId xmlns:p14="http://schemas.microsoft.com/office/powerpoint/2010/main" val="2346743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0" imgW="401" imgH="401" progId="TCLayout.ActiveDocument.1">
                  <p:embed/>
                </p:oleObj>
              </mc:Choice>
              <mc:Fallback>
                <p:oleObj name="think-cell 幻灯片" r:id="rId10" imgW="401" imgH="401" progId="TCLayout.ActiveDocument.1">
                  <p:embed/>
                  <p:pic>
                    <p:nvPicPr>
                      <p:cNvPr id="0" name=""/>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258FC10A-6E48-BF6C-E338-E510C5B04ADC}"/>
              </a:ext>
            </a:extLst>
          </p:cNvPr>
          <p:cNvSpPr txBox="1"/>
          <p:nvPr/>
        </p:nvSpPr>
        <p:spPr>
          <a:xfrm>
            <a:off x="461963" y="1486366"/>
            <a:ext cx="936625" cy="1125421"/>
          </a:xfrm>
          <a:prstGeom prst="rect">
            <a:avLst/>
          </a:prstGeom>
          <a:solidFill>
            <a:schemeClr val="accent4">
              <a:lumMod val="40000"/>
              <a:lumOff val="60000"/>
            </a:schemeClr>
          </a:solidFill>
          <a:ln w="6350">
            <a:noFill/>
            <a:miter lim="800000"/>
          </a:ln>
        </p:spPr>
        <p:txBody>
          <a:bodyPr vert="horz" wrap="square" lIns="0" tIns="0" rIns="0" bIns="0" rtlCol="0" anchor="ctr">
            <a:noAutofit/>
          </a:bodyPr>
          <a:lstStyle/>
          <a:p>
            <a:pPr algn="ctr">
              <a:buNone/>
            </a:pPr>
            <a:r>
              <a:rPr kumimoji="1" lang="zh-CN" altLang="en-US" sz="1600" b="1" dirty="0">
                <a:solidFill>
                  <a:schemeClr val="tx1">
                    <a:lumMod val="50000"/>
                  </a:schemeClr>
                </a:solidFill>
                <a:cs typeface="+mn-ea"/>
                <a:sym typeface="+mn-lt"/>
              </a:rPr>
              <a:t>业务</a:t>
            </a:r>
            <a:endParaRPr kumimoji="1" lang="en-US" altLang="zh-CN" sz="1600" b="1" dirty="0">
              <a:solidFill>
                <a:schemeClr val="tx1">
                  <a:lumMod val="50000"/>
                </a:schemeClr>
              </a:solidFill>
              <a:cs typeface="+mn-ea"/>
              <a:sym typeface="+mn-lt"/>
            </a:endParaRPr>
          </a:p>
          <a:p>
            <a:pPr algn="ctr">
              <a:buNone/>
            </a:pPr>
            <a:r>
              <a:rPr kumimoji="1" lang="en-US" altLang="zh-CN" sz="1600" b="1" dirty="0">
                <a:solidFill>
                  <a:schemeClr val="tx1">
                    <a:lumMod val="50000"/>
                  </a:schemeClr>
                </a:solidFill>
                <a:cs typeface="+mn-ea"/>
                <a:sym typeface="+mn-lt"/>
              </a:rPr>
              <a:t>&amp;</a:t>
            </a:r>
          </a:p>
          <a:p>
            <a:pPr algn="ctr">
              <a:buNone/>
            </a:pPr>
            <a:r>
              <a:rPr kumimoji="1" lang="zh-CN" altLang="en-US" sz="1600" b="1" dirty="0">
                <a:solidFill>
                  <a:schemeClr val="tx1">
                    <a:lumMod val="50000"/>
                  </a:schemeClr>
                </a:solidFill>
                <a:cs typeface="+mn-ea"/>
                <a:sym typeface="+mn-lt"/>
              </a:rPr>
              <a:t>核心产品</a:t>
            </a:r>
          </a:p>
        </p:txBody>
      </p:sp>
      <p:sp>
        <p:nvSpPr>
          <p:cNvPr id="9" name="文本框 8">
            <a:extLst>
              <a:ext uri="{FF2B5EF4-FFF2-40B4-BE49-F238E27FC236}">
                <a16:creationId xmlns:a16="http://schemas.microsoft.com/office/drawing/2014/main" id="{A44DE523-707B-F6F1-6098-29369A44CF08}"/>
              </a:ext>
            </a:extLst>
          </p:cNvPr>
          <p:cNvSpPr txBox="1"/>
          <p:nvPr/>
        </p:nvSpPr>
        <p:spPr>
          <a:xfrm>
            <a:off x="461963" y="3850640"/>
            <a:ext cx="936625" cy="960482"/>
          </a:xfrm>
          <a:prstGeom prst="rect">
            <a:avLst/>
          </a:prstGeom>
          <a:solidFill>
            <a:schemeClr val="accent4">
              <a:lumMod val="40000"/>
              <a:lumOff val="60000"/>
            </a:schemeClr>
          </a:solidFill>
          <a:ln w="6350">
            <a:noFill/>
            <a:miter lim="800000"/>
          </a:ln>
        </p:spPr>
        <p:txBody>
          <a:bodyPr vert="horz" wrap="square" lIns="0" tIns="0" rIns="0" bIns="0" rtlCol="0" anchor="ctr">
            <a:noAutofit/>
          </a:bodyPr>
          <a:lstStyle/>
          <a:p>
            <a:pPr algn="ctr">
              <a:buNone/>
            </a:pPr>
            <a:r>
              <a:rPr kumimoji="1" lang="zh-CN" altLang="en-US" sz="1600" b="1" dirty="0">
                <a:solidFill>
                  <a:schemeClr val="tx1">
                    <a:lumMod val="50000"/>
                  </a:schemeClr>
                </a:solidFill>
                <a:cs typeface="+mn-ea"/>
                <a:sym typeface="+mn-lt"/>
              </a:rPr>
              <a:t>核心优势</a:t>
            </a:r>
          </a:p>
        </p:txBody>
      </p:sp>
      <p:sp>
        <p:nvSpPr>
          <p:cNvPr id="10" name="文本框 9">
            <a:extLst>
              <a:ext uri="{FF2B5EF4-FFF2-40B4-BE49-F238E27FC236}">
                <a16:creationId xmlns:a16="http://schemas.microsoft.com/office/drawing/2014/main" id="{21194B2D-9F90-B8AC-9359-DF7456CD05EC}"/>
              </a:ext>
            </a:extLst>
          </p:cNvPr>
          <p:cNvSpPr txBox="1"/>
          <p:nvPr/>
        </p:nvSpPr>
        <p:spPr>
          <a:xfrm>
            <a:off x="461963" y="4875698"/>
            <a:ext cx="936625" cy="1494346"/>
          </a:xfrm>
          <a:prstGeom prst="rect">
            <a:avLst/>
          </a:prstGeom>
          <a:solidFill>
            <a:schemeClr val="accent4">
              <a:lumMod val="40000"/>
              <a:lumOff val="60000"/>
            </a:schemeClr>
          </a:solidFill>
          <a:ln w="6350">
            <a:noFill/>
            <a:miter lim="800000"/>
          </a:ln>
        </p:spPr>
        <p:txBody>
          <a:bodyPr vert="horz" wrap="square" lIns="0" tIns="0" rIns="0" bIns="0" rtlCol="0" anchor="ctr">
            <a:noAutofit/>
          </a:bodyPr>
          <a:lstStyle/>
          <a:p>
            <a:pPr algn="ctr">
              <a:buNone/>
            </a:pPr>
            <a:r>
              <a:rPr kumimoji="1" lang="zh-CN" altLang="en-US" sz="1600" b="1" dirty="0">
                <a:solidFill>
                  <a:schemeClr val="tx1">
                    <a:lumMod val="50000"/>
                  </a:schemeClr>
                </a:solidFill>
                <a:cs typeface="+mn-ea"/>
                <a:sym typeface="+mn-lt"/>
              </a:rPr>
              <a:t>落地进展</a:t>
            </a:r>
          </a:p>
        </p:txBody>
      </p:sp>
      <p:cxnSp>
        <p:nvCxnSpPr>
          <p:cNvPr id="21" name="直线连接符 8">
            <a:extLst>
              <a:ext uri="{FF2B5EF4-FFF2-40B4-BE49-F238E27FC236}">
                <a16:creationId xmlns:a16="http://schemas.microsoft.com/office/drawing/2014/main" id="{42B7A158-75DD-349F-D01C-DE1C1004D9D3}"/>
              </a:ext>
            </a:extLst>
          </p:cNvPr>
          <p:cNvCxnSpPr>
            <a:cxnSpLocks/>
          </p:cNvCxnSpPr>
          <p:nvPr/>
        </p:nvCxnSpPr>
        <p:spPr>
          <a:xfrm>
            <a:off x="1636713" y="1308628"/>
            <a:ext cx="3027363"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A3064033-D000-FE10-E7DE-5DC21087055C}"/>
              </a:ext>
            </a:extLst>
          </p:cNvPr>
          <p:cNvSpPr txBox="1"/>
          <p:nvPr/>
        </p:nvSpPr>
        <p:spPr>
          <a:xfrm>
            <a:off x="1644650" y="5362143"/>
            <a:ext cx="3057525" cy="701274"/>
          </a:xfrm>
          <a:prstGeom prst="rect">
            <a:avLst/>
          </a:prstGeom>
          <a:ln w="6350">
            <a:noFill/>
            <a:miter lim="800000"/>
          </a:ln>
        </p:spPr>
        <p:txBody>
          <a:bodyPr vert="horz" wrap="square" lIns="0" tIns="0" rIns="0" bIns="0" rtlCol="0">
            <a:noAutofit/>
          </a:bodyPr>
          <a:lstStyle/>
          <a:p>
            <a:pPr marL="285750" indent="-285750">
              <a:spcBef>
                <a:spcPts val="300"/>
              </a:spcBef>
              <a:spcAft>
                <a:spcPts val="300"/>
              </a:spcAft>
              <a:buFont typeface="Arial" panose="020B0604020202020204" pitchFamily="34" charset="0"/>
              <a:buChar char="•"/>
            </a:pPr>
            <a:r>
              <a:rPr kumimoji="1" lang="en-US" altLang="zh-CN" sz="1400" dirty="0">
                <a:solidFill>
                  <a:schemeClr val="accent6">
                    <a:lumMod val="10000"/>
                  </a:schemeClr>
                </a:solidFill>
                <a:cs typeface="+mn-ea"/>
                <a:sym typeface="+mn-lt"/>
              </a:rPr>
              <a:t>2024.10</a:t>
            </a:r>
            <a:r>
              <a:rPr kumimoji="1" lang="zh-CN" altLang="en-US" sz="1400" dirty="0">
                <a:solidFill>
                  <a:schemeClr val="accent6">
                    <a:lumMod val="10000"/>
                  </a:schemeClr>
                </a:solidFill>
                <a:cs typeface="+mn-ea"/>
                <a:sym typeface="+mn-lt"/>
              </a:rPr>
              <a:t>：过去 </a:t>
            </a:r>
            <a:r>
              <a:rPr kumimoji="1" lang="en-US" altLang="zh-CN" sz="1400" dirty="0">
                <a:solidFill>
                  <a:schemeClr val="accent6">
                    <a:lumMod val="10000"/>
                  </a:schemeClr>
                </a:solidFill>
                <a:cs typeface="+mn-ea"/>
                <a:sym typeface="+mn-lt"/>
              </a:rPr>
              <a:t>18 </a:t>
            </a:r>
            <a:r>
              <a:rPr kumimoji="1" lang="zh-CN" altLang="en-US" sz="1400" dirty="0">
                <a:solidFill>
                  <a:schemeClr val="accent6">
                    <a:lumMod val="10000"/>
                  </a:schemeClr>
                </a:solidFill>
                <a:cs typeface="+mn-ea"/>
                <a:sym typeface="+mn-lt"/>
              </a:rPr>
              <a:t>个月已小批量出货 </a:t>
            </a:r>
            <a:r>
              <a:rPr kumimoji="1" lang="en-US" altLang="zh-CN" sz="1400" dirty="0">
                <a:solidFill>
                  <a:schemeClr val="accent6">
                    <a:lumMod val="10000"/>
                  </a:schemeClr>
                </a:solidFill>
                <a:cs typeface="+mn-ea"/>
                <a:sym typeface="+mn-lt"/>
              </a:rPr>
              <a:t>15k</a:t>
            </a:r>
            <a:r>
              <a:rPr kumimoji="1" lang="zh-CN" altLang="en-US" sz="1400" dirty="0">
                <a:solidFill>
                  <a:schemeClr val="accent6">
                    <a:lumMod val="10000"/>
                  </a:schemeClr>
                </a:solidFill>
                <a:cs typeface="+mn-ea"/>
                <a:sym typeface="+mn-lt"/>
              </a:rPr>
              <a:t>颗芯粒</a:t>
            </a:r>
            <a:endParaRPr kumimoji="1" lang="en-US" altLang="zh-CN" sz="1400" dirty="0">
              <a:solidFill>
                <a:schemeClr val="accent6">
                  <a:lumMod val="10000"/>
                </a:schemeClr>
              </a:solidFill>
              <a:cs typeface="+mn-ea"/>
              <a:sym typeface="+mn-lt"/>
            </a:endParaRPr>
          </a:p>
          <a:p>
            <a:pPr marL="285750" indent="-285750">
              <a:spcBef>
                <a:spcPts val="300"/>
              </a:spcBef>
              <a:spcAft>
                <a:spcPts val="300"/>
              </a:spcAft>
              <a:buFont typeface="Arial" panose="020B0604020202020204" pitchFamily="34" charset="0"/>
              <a:buChar char="•"/>
            </a:pPr>
            <a:r>
              <a:rPr kumimoji="1" lang="en-US" altLang="zh-CN" sz="1400" dirty="0">
                <a:solidFill>
                  <a:schemeClr val="accent6">
                    <a:lumMod val="10000"/>
                  </a:schemeClr>
                </a:solidFill>
                <a:cs typeface="+mn-ea"/>
                <a:sym typeface="+mn-lt"/>
              </a:rPr>
              <a:t>26E</a:t>
            </a:r>
            <a:r>
              <a:rPr kumimoji="1" lang="zh-CN" altLang="en-US" sz="1400" dirty="0">
                <a:solidFill>
                  <a:schemeClr val="accent6">
                    <a:lumMod val="10000"/>
                  </a:schemeClr>
                </a:solidFill>
                <a:cs typeface="+mn-ea"/>
                <a:sym typeface="+mn-lt"/>
              </a:rPr>
              <a:t>：首批高量产客户（</a:t>
            </a:r>
            <a:r>
              <a:rPr kumimoji="1" lang="en-US" altLang="zh-CN" sz="1400" dirty="0">
                <a:solidFill>
                  <a:schemeClr val="accent6">
                    <a:lumMod val="10000"/>
                  </a:schemeClr>
                </a:solidFill>
                <a:cs typeface="+mn-ea"/>
                <a:sym typeface="+mn-lt"/>
              </a:rPr>
              <a:t>AI </a:t>
            </a:r>
            <a:r>
              <a:rPr kumimoji="1" lang="zh-CN" altLang="en-US" sz="1400" dirty="0">
                <a:solidFill>
                  <a:schemeClr val="accent6">
                    <a:lumMod val="10000"/>
                  </a:schemeClr>
                </a:solidFill>
                <a:cs typeface="+mn-ea"/>
                <a:sym typeface="+mn-lt"/>
              </a:rPr>
              <a:t>加速卡 </a:t>
            </a:r>
            <a:r>
              <a:rPr kumimoji="1" lang="en-US" altLang="zh-CN" sz="1400" dirty="0">
                <a:solidFill>
                  <a:schemeClr val="accent6">
                    <a:lumMod val="10000"/>
                  </a:schemeClr>
                </a:solidFill>
                <a:cs typeface="+mn-ea"/>
                <a:sym typeface="+mn-lt"/>
              </a:rPr>
              <a:t>/ </a:t>
            </a:r>
            <a:r>
              <a:rPr kumimoji="1" lang="zh-CN" altLang="en-US" sz="1400" dirty="0">
                <a:solidFill>
                  <a:schemeClr val="accent6">
                    <a:lumMod val="10000"/>
                  </a:schemeClr>
                </a:solidFill>
                <a:cs typeface="+mn-ea"/>
                <a:sym typeface="+mn-lt"/>
              </a:rPr>
              <a:t>交换机）上机</a:t>
            </a:r>
            <a:endParaRPr kumimoji="1" lang="en-US" altLang="zh-CN" sz="1400" dirty="0">
              <a:solidFill>
                <a:schemeClr val="tx1">
                  <a:lumMod val="50000"/>
                </a:schemeClr>
              </a:solidFill>
              <a:cs typeface="+mn-ea"/>
              <a:sym typeface="+mn-lt"/>
            </a:endParaRPr>
          </a:p>
        </p:txBody>
      </p:sp>
      <p:sp>
        <p:nvSpPr>
          <p:cNvPr id="24" name="文本框 23">
            <a:extLst>
              <a:ext uri="{FF2B5EF4-FFF2-40B4-BE49-F238E27FC236}">
                <a16:creationId xmlns:a16="http://schemas.microsoft.com/office/drawing/2014/main" id="{04A1B8F5-D0BC-3FA4-D0DA-9ABACEB52E9C}"/>
              </a:ext>
            </a:extLst>
          </p:cNvPr>
          <p:cNvSpPr txBox="1"/>
          <p:nvPr/>
        </p:nvSpPr>
        <p:spPr>
          <a:xfrm>
            <a:off x="1636713" y="1486366"/>
            <a:ext cx="2376488" cy="353229"/>
          </a:xfrm>
          <a:prstGeom prst="rect">
            <a:avLst/>
          </a:prstGeom>
          <a:ln w="6350">
            <a:noFill/>
            <a:miter lim="800000"/>
          </a:ln>
        </p:spPr>
        <p:txBody>
          <a:bodyPr vert="horz" wrap="square" lIns="0" tIns="0" rIns="0" bIns="0" rtlCol="0">
            <a:noAutofit/>
          </a:bodyPr>
          <a:lstStyle/>
          <a:p>
            <a:pPr>
              <a:spcBef>
                <a:spcPts val="300"/>
              </a:spcBef>
              <a:spcAft>
                <a:spcPts val="300"/>
              </a:spcAft>
            </a:pPr>
            <a:r>
              <a:rPr lang="en-US" altLang="zh-CN" sz="1400" dirty="0">
                <a:solidFill>
                  <a:schemeClr val="accent6">
                    <a:lumMod val="10000"/>
                  </a:schemeClr>
                </a:solidFill>
                <a:cs typeface="+mn-ea"/>
                <a:sym typeface="+mn-lt"/>
              </a:rPr>
              <a:t>OIO</a:t>
            </a:r>
            <a:r>
              <a:rPr lang="zh-CN" altLang="en-US" sz="1400" u="sng" dirty="0">
                <a:solidFill>
                  <a:schemeClr val="accent6">
                    <a:lumMod val="10000"/>
                  </a:schemeClr>
                </a:solidFill>
                <a:cs typeface="+mn-ea"/>
                <a:sym typeface="+mn-lt"/>
              </a:rPr>
              <a:t>芯粒</a:t>
            </a:r>
            <a:r>
              <a:rPr lang="zh-CN" altLang="en-US" sz="1400" dirty="0">
                <a:solidFill>
                  <a:schemeClr val="accent6">
                    <a:lumMod val="10000"/>
                  </a:schemeClr>
                </a:solidFill>
                <a:cs typeface="+mn-ea"/>
                <a:sym typeface="+mn-lt"/>
              </a:rPr>
              <a:t>制造</a:t>
            </a:r>
            <a:endParaRPr kumimoji="1" lang="en-US" altLang="zh-CN" sz="1400" dirty="0">
              <a:solidFill>
                <a:schemeClr val="accent6">
                  <a:lumMod val="10000"/>
                </a:schemeClr>
              </a:solidFill>
              <a:cs typeface="+mn-ea"/>
              <a:sym typeface="+mn-lt"/>
            </a:endParaRPr>
          </a:p>
        </p:txBody>
      </p:sp>
      <p:sp>
        <p:nvSpPr>
          <p:cNvPr id="25" name="文本框 24">
            <a:extLst>
              <a:ext uri="{FF2B5EF4-FFF2-40B4-BE49-F238E27FC236}">
                <a16:creationId xmlns:a16="http://schemas.microsoft.com/office/drawing/2014/main" id="{A75A6610-4812-1CF8-1C74-D7202344167B}"/>
              </a:ext>
            </a:extLst>
          </p:cNvPr>
          <p:cNvSpPr txBox="1"/>
          <p:nvPr/>
        </p:nvSpPr>
        <p:spPr>
          <a:xfrm>
            <a:off x="1644649" y="3934764"/>
            <a:ext cx="3154565" cy="1068002"/>
          </a:xfrm>
          <a:prstGeom prst="rect">
            <a:avLst/>
          </a:prstGeom>
          <a:ln w="6350">
            <a:noFill/>
            <a:miter lim="800000"/>
          </a:ln>
        </p:spPr>
        <p:txBody>
          <a:bodyPr vert="horz" wrap="square" lIns="0" tIns="0" rIns="0" bIns="0" rtlCol="0">
            <a:noAutofit/>
          </a:bodyPr>
          <a:lstStyle/>
          <a:p>
            <a:pPr marL="182563" indent="-182563">
              <a:spcBef>
                <a:spcPts val="300"/>
              </a:spcBef>
              <a:spcAft>
                <a:spcPts val="300"/>
              </a:spcAft>
              <a:buFont typeface="Arial" panose="020B0604020202020204" pitchFamily="34" charset="0"/>
              <a:buChar char="•"/>
            </a:pPr>
            <a:r>
              <a:rPr lang="zh-CN" altLang="en-US" sz="1400" dirty="0">
                <a:solidFill>
                  <a:schemeClr val="accent6">
                    <a:lumMod val="10000"/>
                  </a:schemeClr>
                </a:solidFill>
                <a:cs typeface="+mn-ea"/>
                <a:sym typeface="+mn-lt"/>
              </a:rPr>
              <a:t>硅光子单片集成 </a:t>
            </a:r>
            <a:r>
              <a:rPr lang="en-US" altLang="zh-CN" sz="1400" dirty="0">
                <a:solidFill>
                  <a:schemeClr val="accent6">
                    <a:lumMod val="10000"/>
                  </a:schemeClr>
                </a:solidFill>
                <a:cs typeface="+mn-ea"/>
                <a:sym typeface="+mn-lt"/>
              </a:rPr>
              <a:t>+ </a:t>
            </a:r>
            <a:r>
              <a:rPr lang="en-US" altLang="zh-CN" sz="1400" dirty="0" err="1">
                <a:solidFill>
                  <a:schemeClr val="accent6">
                    <a:lumMod val="10000"/>
                  </a:schemeClr>
                </a:solidFill>
                <a:cs typeface="+mn-ea"/>
                <a:sym typeface="+mn-lt"/>
              </a:rPr>
              <a:t>Chiplet</a:t>
            </a:r>
            <a:r>
              <a:rPr lang="en-US" altLang="zh-CN" sz="1400" dirty="0">
                <a:solidFill>
                  <a:schemeClr val="accent6">
                    <a:lumMod val="10000"/>
                  </a:schemeClr>
                </a:solidFill>
                <a:cs typeface="+mn-ea"/>
                <a:sym typeface="+mn-lt"/>
              </a:rPr>
              <a:t> </a:t>
            </a:r>
            <a:r>
              <a:rPr lang="zh-CN" altLang="en-US" sz="1400" dirty="0">
                <a:solidFill>
                  <a:schemeClr val="accent6">
                    <a:lumMod val="10000"/>
                  </a:schemeClr>
                </a:solidFill>
                <a:cs typeface="+mn-ea"/>
                <a:sym typeface="+mn-lt"/>
              </a:rPr>
              <a:t>标准化生态</a:t>
            </a:r>
            <a:endParaRPr lang="en-US" altLang="zh-CN" sz="1400" dirty="0">
              <a:solidFill>
                <a:schemeClr val="accent6">
                  <a:lumMod val="10000"/>
                </a:schemeClr>
              </a:solidFill>
              <a:cs typeface="+mn-ea"/>
              <a:sym typeface="+mn-lt"/>
            </a:endParaRPr>
          </a:p>
          <a:p>
            <a:pPr marL="182563" indent="-182563">
              <a:spcBef>
                <a:spcPts val="300"/>
              </a:spcBef>
              <a:spcAft>
                <a:spcPts val="300"/>
              </a:spcAft>
              <a:buFont typeface="Arial" panose="020B0604020202020204" pitchFamily="34" charset="0"/>
              <a:buChar char="•"/>
            </a:pPr>
            <a:r>
              <a:rPr lang="zh-CN" altLang="en-US" sz="1400" dirty="0">
                <a:solidFill>
                  <a:schemeClr val="accent6">
                    <a:lumMod val="10000"/>
                  </a:schemeClr>
                </a:solidFill>
                <a:cs typeface="+mn-ea"/>
                <a:sym typeface="+mn-lt"/>
              </a:rPr>
              <a:t>技术被纳入 </a:t>
            </a:r>
            <a:r>
              <a:rPr lang="en-US" altLang="zh-CN" sz="1400" dirty="0">
                <a:solidFill>
                  <a:schemeClr val="accent6">
                    <a:lumMod val="10000"/>
                  </a:schemeClr>
                </a:solidFill>
                <a:cs typeface="+mn-ea"/>
                <a:sym typeface="+mn-lt"/>
              </a:rPr>
              <a:t>PCIe 6.0 </a:t>
            </a:r>
            <a:r>
              <a:rPr lang="zh-CN" altLang="en-US" sz="1400" dirty="0">
                <a:solidFill>
                  <a:schemeClr val="accent6">
                    <a:lumMod val="10000"/>
                  </a:schemeClr>
                </a:solidFill>
                <a:cs typeface="+mn-ea"/>
                <a:sym typeface="+mn-lt"/>
              </a:rPr>
              <a:t>标准，形成生态壁垒</a:t>
            </a:r>
            <a:endParaRPr kumimoji="1" lang="en-US" altLang="zh-CN" sz="1400" dirty="0">
              <a:solidFill>
                <a:schemeClr val="accent6">
                  <a:lumMod val="10000"/>
                </a:schemeClr>
              </a:solidFill>
              <a:cs typeface="+mn-ea"/>
              <a:sym typeface="+mn-lt"/>
            </a:endParaRPr>
          </a:p>
        </p:txBody>
      </p:sp>
      <p:grpSp>
        <p:nvGrpSpPr>
          <p:cNvPr id="43" name="组合 42">
            <a:extLst>
              <a:ext uri="{FF2B5EF4-FFF2-40B4-BE49-F238E27FC236}">
                <a16:creationId xmlns:a16="http://schemas.microsoft.com/office/drawing/2014/main" id="{E2D226C5-B38E-E0E7-1A77-1F5FA7951C5A}"/>
              </a:ext>
            </a:extLst>
          </p:cNvPr>
          <p:cNvGrpSpPr/>
          <p:nvPr/>
        </p:nvGrpSpPr>
        <p:grpSpPr>
          <a:xfrm>
            <a:off x="1701800" y="915608"/>
            <a:ext cx="1779588" cy="338554"/>
            <a:chOff x="4871320" y="978623"/>
            <a:chExt cx="1779748" cy="338554"/>
          </a:xfrm>
        </p:grpSpPr>
        <p:pic>
          <p:nvPicPr>
            <p:cNvPr id="36" name="图片 35">
              <a:extLst>
                <a:ext uri="{FF2B5EF4-FFF2-40B4-BE49-F238E27FC236}">
                  <a16:creationId xmlns:a16="http://schemas.microsoft.com/office/drawing/2014/main" id="{E774ABCF-B9C8-DEB5-E991-EFE99AFF9B10}"/>
                </a:ext>
              </a:extLst>
            </p:cNvPr>
            <p:cNvPicPr>
              <a:picLocks noChangeAspect="1"/>
            </p:cNvPicPr>
            <p:nvPr/>
          </p:nvPicPr>
          <p:blipFill>
            <a:blip r:embed="rId12"/>
            <a:stretch>
              <a:fillRect/>
            </a:stretch>
          </p:blipFill>
          <p:spPr>
            <a:xfrm>
              <a:off x="4871320" y="1000764"/>
              <a:ext cx="775992" cy="216870"/>
            </a:xfrm>
            <a:prstGeom prst="rect">
              <a:avLst/>
            </a:prstGeom>
          </p:spPr>
        </p:pic>
        <p:sp>
          <p:nvSpPr>
            <p:cNvPr id="37" name="Rectangle 13">
              <a:extLst>
                <a:ext uri="{FF2B5EF4-FFF2-40B4-BE49-F238E27FC236}">
                  <a16:creationId xmlns:a16="http://schemas.microsoft.com/office/drawing/2014/main" id="{5933F121-97EB-551B-9981-34C7F07548D3}"/>
                </a:ext>
              </a:extLst>
            </p:cNvPr>
            <p:cNvSpPr>
              <a:spLocks noChangeArrowheads="1"/>
            </p:cNvSpPr>
            <p:nvPr/>
          </p:nvSpPr>
          <p:spPr bwMode="auto">
            <a:xfrm>
              <a:off x="5718157" y="978623"/>
              <a:ext cx="932911" cy="338554"/>
            </a:xfrm>
            <a:prstGeom prst="rect">
              <a:avLst/>
            </a:prstGeom>
            <a:noFill/>
          </p:spPr>
          <p:txBody>
            <a:bodyPr wrap="square" rtlCol="0">
              <a:spAutoFit/>
            </a:bodyPr>
            <a:lstStyle/>
            <a:p>
              <a:pPr algn="ctr"/>
              <a:r>
                <a:rPr lang="zh-CN" altLang="zh-CN" sz="1600" dirty="0">
                  <a:solidFill>
                    <a:schemeClr val="accent6">
                      <a:lumMod val="10000"/>
                    </a:schemeClr>
                  </a:solidFill>
                  <a:cs typeface="+mn-ea"/>
                  <a:sym typeface="+mn-lt"/>
                </a:rPr>
                <a:t>20</a:t>
              </a:r>
              <a:r>
                <a:rPr lang="en-US" altLang="zh-CN" sz="1600" dirty="0">
                  <a:solidFill>
                    <a:schemeClr val="accent6">
                      <a:lumMod val="10000"/>
                    </a:schemeClr>
                  </a:solidFill>
                  <a:cs typeface="+mn-ea"/>
                  <a:sym typeface="+mn-lt"/>
                </a:rPr>
                <a:t>15</a:t>
              </a:r>
              <a:r>
                <a:rPr lang="en-US" altLang="zh-CN" sz="1600" baseline="-25000" dirty="0">
                  <a:solidFill>
                    <a:schemeClr val="accent6">
                      <a:lumMod val="10000"/>
                    </a:schemeClr>
                  </a:solidFill>
                  <a:cs typeface="+mn-ea"/>
                  <a:sym typeface="+mn-lt"/>
                </a:rPr>
                <a:t>US</a:t>
              </a:r>
              <a:endParaRPr lang="zh-CN" altLang="zh-CN" sz="1600" baseline="-25000" dirty="0">
                <a:solidFill>
                  <a:schemeClr val="accent6">
                    <a:lumMod val="10000"/>
                  </a:schemeClr>
                </a:solidFill>
                <a:cs typeface="+mn-ea"/>
                <a:sym typeface="+mn-lt"/>
              </a:endParaRPr>
            </a:p>
          </p:txBody>
        </p:sp>
      </p:grpSp>
      <p:grpSp>
        <p:nvGrpSpPr>
          <p:cNvPr id="44" name="组合 43">
            <a:extLst>
              <a:ext uri="{FF2B5EF4-FFF2-40B4-BE49-F238E27FC236}">
                <a16:creationId xmlns:a16="http://schemas.microsoft.com/office/drawing/2014/main" id="{40B2241A-E239-5296-5E0C-6CA6D4B1BE28}"/>
              </a:ext>
            </a:extLst>
          </p:cNvPr>
          <p:cNvGrpSpPr/>
          <p:nvPr/>
        </p:nvGrpSpPr>
        <p:grpSpPr>
          <a:xfrm>
            <a:off x="5105400" y="870274"/>
            <a:ext cx="2054225" cy="366882"/>
            <a:chOff x="7574598" y="916125"/>
            <a:chExt cx="2054042" cy="366882"/>
          </a:xfrm>
        </p:grpSpPr>
        <p:pic>
          <p:nvPicPr>
            <p:cNvPr id="38" name="图片 37">
              <a:extLst>
                <a:ext uri="{FF2B5EF4-FFF2-40B4-BE49-F238E27FC236}">
                  <a16:creationId xmlns:a16="http://schemas.microsoft.com/office/drawing/2014/main" id="{6F3C28AB-26FD-E807-11D4-16D3A5BFDEC5}"/>
                </a:ext>
              </a:extLst>
            </p:cNvPr>
            <p:cNvPicPr>
              <a:picLocks noChangeAspect="1"/>
            </p:cNvPicPr>
            <p:nvPr/>
          </p:nvPicPr>
          <p:blipFill>
            <a:blip r:embed="rId13"/>
            <a:stretch>
              <a:fillRect/>
            </a:stretch>
          </p:blipFill>
          <p:spPr>
            <a:xfrm>
              <a:off x="7574598" y="916125"/>
              <a:ext cx="1229948" cy="279934"/>
            </a:xfrm>
            <a:prstGeom prst="rect">
              <a:avLst/>
            </a:prstGeom>
          </p:spPr>
        </p:pic>
        <p:sp>
          <p:nvSpPr>
            <p:cNvPr id="39" name="Rectangle 13">
              <a:extLst>
                <a:ext uri="{FF2B5EF4-FFF2-40B4-BE49-F238E27FC236}">
                  <a16:creationId xmlns:a16="http://schemas.microsoft.com/office/drawing/2014/main" id="{1A493E5D-976D-1969-CD52-F15156262CD5}"/>
                </a:ext>
              </a:extLst>
            </p:cNvPr>
            <p:cNvSpPr>
              <a:spLocks noChangeArrowheads="1"/>
            </p:cNvSpPr>
            <p:nvPr/>
          </p:nvSpPr>
          <p:spPr bwMode="auto">
            <a:xfrm>
              <a:off x="8750294" y="944453"/>
              <a:ext cx="878346" cy="338554"/>
            </a:xfrm>
            <a:prstGeom prst="rect">
              <a:avLst/>
            </a:prstGeom>
            <a:noFill/>
          </p:spPr>
          <p:txBody>
            <a:bodyPr wrap="square" rtlCol="0">
              <a:spAutoFit/>
            </a:bodyPr>
            <a:lstStyle/>
            <a:p>
              <a:pPr algn="ctr"/>
              <a:r>
                <a:rPr lang="zh-CN" altLang="zh-CN" sz="1600" dirty="0">
                  <a:solidFill>
                    <a:schemeClr val="accent6">
                      <a:lumMod val="10000"/>
                    </a:schemeClr>
                  </a:solidFill>
                  <a:cs typeface="+mn-ea"/>
                  <a:sym typeface="+mn-lt"/>
                </a:rPr>
                <a:t>20</a:t>
              </a:r>
              <a:r>
                <a:rPr lang="en-US" altLang="zh-CN" sz="1600" dirty="0">
                  <a:solidFill>
                    <a:schemeClr val="accent6">
                      <a:lumMod val="10000"/>
                    </a:schemeClr>
                  </a:solidFill>
                  <a:cs typeface="+mn-ea"/>
                  <a:sym typeface="+mn-lt"/>
                </a:rPr>
                <a:t>20</a:t>
              </a:r>
              <a:r>
                <a:rPr lang="en-US" altLang="zh-CN" sz="1600" baseline="-25000" dirty="0">
                  <a:solidFill>
                    <a:schemeClr val="accent6">
                      <a:lumMod val="10000"/>
                    </a:schemeClr>
                  </a:solidFill>
                  <a:cs typeface="+mn-ea"/>
                  <a:sym typeface="+mn-lt"/>
                </a:rPr>
                <a:t>US</a:t>
              </a:r>
              <a:endParaRPr lang="zh-CN" altLang="zh-CN" sz="1600" baseline="-25000" dirty="0">
                <a:solidFill>
                  <a:schemeClr val="accent6">
                    <a:lumMod val="10000"/>
                  </a:schemeClr>
                </a:solidFill>
                <a:cs typeface="+mn-ea"/>
                <a:sym typeface="+mn-lt"/>
              </a:endParaRPr>
            </a:p>
          </p:txBody>
        </p:sp>
      </p:grpSp>
      <p:grpSp>
        <p:nvGrpSpPr>
          <p:cNvPr id="40" name="组合 39">
            <a:extLst>
              <a:ext uri="{FF2B5EF4-FFF2-40B4-BE49-F238E27FC236}">
                <a16:creationId xmlns:a16="http://schemas.microsoft.com/office/drawing/2014/main" id="{D87C040F-25B6-0304-0507-B8FCC732CC67}"/>
              </a:ext>
            </a:extLst>
          </p:cNvPr>
          <p:cNvGrpSpPr/>
          <p:nvPr/>
        </p:nvGrpSpPr>
        <p:grpSpPr>
          <a:xfrm>
            <a:off x="8672513" y="894588"/>
            <a:ext cx="2016125" cy="338554"/>
            <a:chOff x="1471613" y="4870565"/>
            <a:chExt cx="2015690" cy="338554"/>
          </a:xfrm>
        </p:grpSpPr>
        <p:pic>
          <p:nvPicPr>
            <p:cNvPr id="41" name="图片 40">
              <a:extLst>
                <a:ext uri="{FF2B5EF4-FFF2-40B4-BE49-F238E27FC236}">
                  <a16:creationId xmlns:a16="http://schemas.microsoft.com/office/drawing/2014/main" id="{7453A26C-8BE4-EA01-9579-8E86CCDCFED1}"/>
                </a:ext>
              </a:extLst>
            </p:cNvPr>
            <p:cNvPicPr>
              <a:picLocks noChangeAspect="1"/>
            </p:cNvPicPr>
            <p:nvPr/>
          </p:nvPicPr>
          <p:blipFill>
            <a:blip r:embed="rId14"/>
            <a:stretch>
              <a:fillRect/>
            </a:stretch>
          </p:blipFill>
          <p:spPr>
            <a:xfrm>
              <a:off x="1471613" y="4886103"/>
              <a:ext cx="1108830" cy="230637"/>
            </a:xfrm>
            <a:prstGeom prst="rect">
              <a:avLst/>
            </a:prstGeom>
          </p:spPr>
        </p:pic>
        <p:sp>
          <p:nvSpPr>
            <p:cNvPr id="42" name="Rectangle 13">
              <a:extLst>
                <a:ext uri="{FF2B5EF4-FFF2-40B4-BE49-F238E27FC236}">
                  <a16:creationId xmlns:a16="http://schemas.microsoft.com/office/drawing/2014/main" id="{A06B55FA-4D2C-EDAE-36C9-3C12F2223546}"/>
                </a:ext>
              </a:extLst>
            </p:cNvPr>
            <p:cNvSpPr>
              <a:spLocks noChangeArrowheads="1"/>
            </p:cNvSpPr>
            <p:nvPr/>
          </p:nvSpPr>
          <p:spPr bwMode="auto">
            <a:xfrm>
              <a:off x="2608957" y="4870565"/>
              <a:ext cx="878346" cy="338554"/>
            </a:xfrm>
            <a:prstGeom prst="rect">
              <a:avLst/>
            </a:prstGeom>
            <a:noFill/>
          </p:spPr>
          <p:txBody>
            <a:bodyPr wrap="square" rtlCol="0">
              <a:spAutoFit/>
            </a:bodyPr>
            <a:lstStyle/>
            <a:p>
              <a:pPr algn="ctr"/>
              <a:r>
                <a:rPr lang="zh-CN" altLang="zh-CN" sz="1600" dirty="0">
                  <a:solidFill>
                    <a:schemeClr val="accent6">
                      <a:lumMod val="10000"/>
                    </a:schemeClr>
                  </a:solidFill>
                  <a:cs typeface="+mn-ea"/>
                  <a:sym typeface="+mn-lt"/>
                </a:rPr>
                <a:t>20</a:t>
              </a:r>
              <a:r>
                <a:rPr lang="en-US" altLang="zh-CN" sz="1600" dirty="0">
                  <a:solidFill>
                    <a:schemeClr val="accent6">
                      <a:lumMod val="10000"/>
                    </a:schemeClr>
                  </a:solidFill>
                  <a:cs typeface="+mn-ea"/>
                  <a:sym typeface="+mn-lt"/>
                </a:rPr>
                <a:t>17</a:t>
              </a:r>
              <a:r>
                <a:rPr lang="en-US" altLang="zh-CN" sz="1600" baseline="-25000" dirty="0">
                  <a:solidFill>
                    <a:schemeClr val="accent6">
                      <a:lumMod val="10000"/>
                    </a:schemeClr>
                  </a:solidFill>
                  <a:cs typeface="+mn-ea"/>
                  <a:sym typeface="+mn-lt"/>
                </a:rPr>
                <a:t>US</a:t>
              </a:r>
              <a:endParaRPr lang="zh-CN" altLang="zh-CN" sz="1600" baseline="-25000" dirty="0">
                <a:solidFill>
                  <a:schemeClr val="accent6">
                    <a:lumMod val="10000"/>
                  </a:schemeClr>
                </a:solidFill>
                <a:cs typeface="+mn-ea"/>
                <a:sym typeface="+mn-lt"/>
              </a:endParaRPr>
            </a:p>
          </p:txBody>
        </p:sp>
      </p:grpSp>
      <p:sp>
        <p:nvSpPr>
          <p:cNvPr id="45" name="文本框 44">
            <a:extLst>
              <a:ext uri="{FF2B5EF4-FFF2-40B4-BE49-F238E27FC236}">
                <a16:creationId xmlns:a16="http://schemas.microsoft.com/office/drawing/2014/main" id="{BB41C948-5BE5-98E3-AE9D-EFF7476EC14A}"/>
              </a:ext>
            </a:extLst>
          </p:cNvPr>
          <p:cNvSpPr txBox="1"/>
          <p:nvPr/>
        </p:nvSpPr>
        <p:spPr>
          <a:xfrm>
            <a:off x="461963" y="2724903"/>
            <a:ext cx="936625" cy="1008897"/>
          </a:xfrm>
          <a:prstGeom prst="rect">
            <a:avLst/>
          </a:prstGeom>
          <a:solidFill>
            <a:schemeClr val="accent4">
              <a:lumMod val="40000"/>
              <a:lumOff val="60000"/>
            </a:schemeClr>
          </a:solidFill>
          <a:ln w="6350">
            <a:noFill/>
            <a:miter lim="800000"/>
          </a:ln>
        </p:spPr>
        <p:txBody>
          <a:bodyPr vert="horz" wrap="square" lIns="0" tIns="0" rIns="0" bIns="0" rtlCol="0" anchor="ctr">
            <a:noAutofit/>
          </a:bodyPr>
          <a:lstStyle/>
          <a:p>
            <a:pPr algn="ctr">
              <a:buNone/>
            </a:pPr>
            <a:r>
              <a:rPr kumimoji="1" lang="zh-CN" altLang="en-US" sz="1600" b="1" dirty="0">
                <a:solidFill>
                  <a:schemeClr val="tx1">
                    <a:lumMod val="50000"/>
                  </a:schemeClr>
                </a:solidFill>
                <a:cs typeface="+mn-ea"/>
                <a:sym typeface="+mn-lt"/>
              </a:rPr>
              <a:t>估值</a:t>
            </a:r>
            <a:endParaRPr kumimoji="1" lang="en-US" altLang="zh-CN" sz="1600" b="1" dirty="0">
              <a:solidFill>
                <a:schemeClr val="tx1">
                  <a:lumMod val="50000"/>
                </a:schemeClr>
              </a:solidFill>
              <a:cs typeface="+mn-ea"/>
              <a:sym typeface="+mn-lt"/>
            </a:endParaRPr>
          </a:p>
          <a:p>
            <a:pPr algn="ctr">
              <a:buNone/>
            </a:pPr>
            <a:r>
              <a:rPr kumimoji="1" lang="en-US" altLang="zh-CN" sz="1600" b="1" dirty="0">
                <a:solidFill>
                  <a:schemeClr val="tx1">
                    <a:lumMod val="50000"/>
                  </a:schemeClr>
                </a:solidFill>
                <a:cs typeface="+mn-ea"/>
                <a:sym typeface="+mn-lt"/>
              </a:rPr>
              <a:t>&amp;</a:t>
            </a:r>
          </a:p>
          <a:p>
            <a:pPr algn="ctr">
              <a:buNone/>
            </a:pPr>
            <a:r>
              <a:rPr kumimoji="1" lang="zh-CN" altLang="en-US" sz="1600" b="1" dirty="0">
                <a:solidFill>
                  <a:schemeClr val="tx1">
                    <a:lumMod val="50000"/>
                  </a:schemeClr>
                </a:solidFill>
                <a:cs typeface="+mn-ea"/>
                <a:sym typeface="+mn-lt"/>
              </a:rPr>
              <a:t>融资</a:t>
            </a:r>
          </a:p>
        </p:txBody>
      </p:sp>
      <p:pic>
        <p:nvPicPr>
          <p:cNvPr id="48" name="图片 47">
            <a:extLst>
              <a:ext uri="{FF2B5EF4-FFF2-40B4-BE49-F238E27FC236}">
                <a16:creationId xmlns:a16="http://schemas.microsoft.com/office/drawing/2014/main" id="{2740787D-1C41-228C-5546-E6DD974C0123}"/>
              </a:ext>
            </a:extLst>
          </p:cNvPr>
          <p:cNvPicPr>
            <a:picLocks noChangeAspect="1"/>
          </p:cNvPicPr>
          <p:nvPr/>
        </p:nvPicPr>
        <p:blipFill>
          <a:blip r:embed="rId15"/>
          <a:stretch>
            <a:fillRect/>
          </a:stretch>
        </p:blipFill>
        <p:spPr>
          <a:xfrm>
            <a:off x="1600200" y="1768049"/>
            <a:ext cx="823913" cy="605005"/>
          </a:xfrm>
          <a:prstGeom prst="rect">
            <a:avLst/>
          </a:prstGeom>
        </p:spPr>
      </p:pic>
      <p:sp>
        <p:nvSpPr>
          <p:cNvPr id="51" name="文本框 50">
            <a:extLst>
              <a:ext uri="{FF2B5EF4-FFF2-40B4-BE49-F238E27FC236}">
                <a16:creationId xmlns:a16="http://schemas.microsoft.com/office/drawing/2014/main" id="{69AF700F-B4A4-6E59-D887-E8164F4034F3}"/>
              </a:ext>
            </a:extLst>
          </p:cNvPr>
          <p:cNvSpPr txBox="1"/>
          <p:nvPr/>
        </p:nvSpPr>
        <p:spPr>
          <a:xfrm>
            <a:off x="2592388" y="1836401"/>
            <a:ext cx="1949450" cy="605285"/>
          </a:xfrm>
          <a:prstGeom prst="rect">
            <a:avLst/>
          </a:prstGeom>
          <a:ln w="6350">
            <a:noFill/>
            <a:miter lim="800000"/>
          </a:ln>
        </p:spPr>
        <p:txBody>
          <a:bodyPr vert="horz" wrap="square" lIns="0" tIns="0" rIns="0" bIns="0" rtlCol="0">
            <a:noAutofit/>
          </a:bodyPr>
          <a:lstStyle/>
          <a:p>
            <a:pPr marL="182563" indent="-182563">
              <a:spcBef>
                <a:spcPts val="300"/>
              </a:spcBef>
              <a:spcAft>
                <a:spcPts val="300"/>
              </a:spcAft>
              <a:buFont typeface="Arial" panose="020B0604020202020204" pitchFamily="34" charset="0"/>
              <a:buChar char="•"/>
            </a:pPr>
            <a:r>
              <a:rPr lang="en-US" altLang="zh-CN" sz="1400" dirty="0">
                <a:solidFill>
                  <a:schemeClr val="accent6">
                    <a:lumMod val="10000"/>
                  </a:schemeClr>
                </a:solidFill>
                <a:cs typeface="+mn-ea"/>
                <a:sym typeface="+mn-lt"/>
              </a:rPr>
              <a:t>512Gbps </a:t>
            </a:r>
            <a:r>
              <a:rPr lang="zh-CN" altLang="en-US" sz="1400" dirty="0">
                <a:solidFill>
                  <a:schemeClr val="accent6">
                    <a:lumMod val="10000"/>
                  </a:schemeClr>
                </a:solidFill>
                <a:cs typeface="+mn-ea"/>
                <a:sym typeface="+mn-lt"/>
              </a:rPr>
              <a:t>光 </a:t>
            </a:r>
            <a:r>
              <a:rPr lang="en-US" altLang="zh-CN" sz="1400" dirty="0">
                <a:solidFill>
                  <a:schemeClr val="accent6">
                    <a:lumMod val="10000"/>
                  </a:schemeClr>
                </a:solidFill>
                <a:cs typeface="+mn-ea"/>
                <a:sym typeface="+mn-lt"/>
              </a:rPr>
              <a:t>I/O </a:t>
            </a:r>
            <a:r>
              <a:rPr lang="zh-CN" altLang="en-US" sz="1400" dirty="0">
                <a:solidFill>
                  <a:schemeClr val="accent6">
                    <a:lumMod val="10000"/>
                  </a:schemeClr>
                </a:solidFill>
                <a:cs typeface="+mn-ea"/>
                <a:sym typeface="+mn-lt"/>
              </a:rPr>
              <a:t>带宽</a:t>
            </a:r>
            <a:endParaRPr lang="en-US" altLang="zh-CN" sz="1400" dirty="0">
              <a:solidFill>
                <a:schemeClr val="accent6">
                  <a:lumMod val="10000"/>
                </a:schemeClr>
              </a:solidFill>
              <a:cs typeface="+mn-ea"/>
              <a:sym typeface="+mn-lt"/>
            </a:endParaRPr>
          </a:p>
          <a:p>
            <a:pPr marL="182563" indent="-182563">
              <a:spcBef>
                <a:spcPts val="300"/>
              </a:spcBef>
              <a:spcAft>
                <a:spcPts val="300"/>
              </a:spcAft>
              <a:buFont typeface="Arial" panose="020B0604020202020204" pitchFamily="34" charset="0"/>
              <a:buChar char="•"/>
            </a:pPr>
            <a:r>
              <a:rPr lang="zh-CN" altLang="en-US" sz="1400" dirty="0">
                <a:solidFill>
                  <a:schemeClr val="accent6">
                    <a:lumMod val="10000"/>
                  </a:schemeClr>
                </a:solidFill>
                <a:cs typeface="+mn-ea"/>
                <a:sym typeface="+mn-lt"/>
              </a:rPr>
              <a:t>功耗低至 </a:t>
            </a:r>
            <a:r>
              <a:rPr lang="en-US" altLang="zh-CN" sz="1400" dirty="0">
                <a:solidFill>
                  <a:schemeClr val="accent6">
                    <a:lumMod val="10000"/>
                  </a:schemeClr>
                </a:solidFill>
                <a:cs typeface="+mn-ea"/>
                <a:sym typeface="+mn-lt"/>
              </a:rPr>
              <a:t>4.9pJ/bit</a:t>
            </a:r>
            <a:endParaRPr kumimoji="1" lang="en-US" altLang="zh-CN" sz="1400" dirty="0">
              <a:solidFill>
                <a:schemeClr val="accent6">
                  <a:lumMod val="10000"/>
                </a:schemeClr>
              </a:solidFill>
              <a:cs typeface="+mn-ea"/>
              <a:sym typeface="+mn-lt"/>
            </a:endParaRPr>
          </a:p>
        </p:txBody>
      </p:sp>
      <p:sp>
        <p:nvSpPr>
          <p:cNvPr id="53" name="Rectangle 3">
            <a:extLst>
              <a:ext uri="{FF2B5EF4-FFF2-40B4-BE49-F238E27FC236}">
                <a16:creationId xmlns:a16="http://schemas.microsoft.com/office/drawing/2014/main" id="{419CFA3E-0A90-B5CC-D463-A5802821CBFE}"/>
              </a:ext>
            </a:extLst>
          </p:cNvPr>
          <p:cNvSpPr>
            <a:spLocks noChangeArrowheads="1"/>
          </p:cNvSpPr>
          <p:nvPr/>
        </p:nvSpPr>
        <p:spPr bwMode="auto">
          <a:xfrm>
            <a:off x="1644650" y="3267610"/>
            <a:ext cx="3081338" cy="307777"/>
          </a:xfrm>
          <a:prstGeom prst="rect">
            <a:avLst/>
          </a:prstGeom>
          <a:ln w="6350">
            <a:noFill/>
            <a:miter lim="800000"/>
          </a:ln>
        </p:spPr>
        <p:txBody>
          <a:bodyPr vert="horz" wrap="square" lIns="0" tIns="0" rIns="0" bIns="0" rtlCol="0">
            <a:noAutofit/>
          </a:bodyPr>
          <a:lstStyle/>
          <a:p>
            <a:pPr marL="285750" indent="-285750">
              <a:spcBef>
                <a:spcPts val="300"/>
              </a:spcBef>
              <a:spcAft>
                <a:spcPts val="300"/>
              </a:spcAft>
              <a:buFont typeface="Arial" panose="020B0604020202020204" pitchFamily="34" charset="0"/>
              <a:buChar char="•"/>
            </a:pPr>
            <a:r>
              <a:rPr lang="zh-CN" altLang="en-US" sz="1400" dirty="0">
                <a:solidFill>
                  <a:schemeClr val="accent6">
                    <a:lumMod val="10000"/>
                  </a:schemeClr>
                </a:solidFill>
                <a:cs typeface="+mn-ea"/>
                <a:sym typeface="+mn-lt"/>
              </a:rPr>
              <a:t>产业资本：</a:t>
            </a:r>
            <a:r>
              <a:rPr lang="zh-CN" altLang="zh-CN" sz="1400" dirty="0">
                <a:solidFill>
                  <a:schemeClr val="accent6">
                    <a:lumMod val="10000"/>
                  </a:schemeClr>
                </a:solidFill>
                <a:cs typeface="+mn-ea"/>
                <a:sym typeface="+mn-lt"/>
              </a:rPr>
              <a:t>Intel Capital、Nvidia、AMD、GlobalFoundries</a:t>
            </a:r>
          </a:p>
        </p:txBody>
      </p:sp>
      <p:grpSp>
        <p:nvGrpSpPr>
          <p:cNvPr id="59" name="组合 58">
            <a:extLst>
              <a:ext uri="{FF2B5EF4-FFF2-40B4-BE49-F238E27FC236}">
                <a16:creationId xmlns:a16="http://schemas.microsoft.com/office/drawing/2014/main" id="{25E24262-AB4B-C86E-19A4-9CC7609326E8}"/>
              </a:ext>
            </a:extLst>
          </p:cNvPr>
          <p:cNvGrpSpPr/>
          <p:nvPr/>
        </p:nvGrpSpPr>
        <p:grpSpPr>
          <a:xfrm>
            <a:off x="1037636" y="2930962"/>
            <a:ext cx="1327150" cy="276999"/>
            <a:chOff x="1273261" y="3094553"/>
            <a:chExt cx="1327328" cy="276999"/>
          </a:xfrm>
        </p:grpSpPr>
        <p:sp>
          <p:nvSpPr>
            <p:cNvPr id="54" name="椭圆 53">
              <a:extLst>
                <a:ext uri="{FF2B5EF4-FFF2-40B4-BE49-F238E27FC236}">
                  <a16:creationId xmlns:a16="http://schemas.microsoft.com/office/drawing/2014/main" id="{09D56FF0-0966-1199-4264-B8CC4002FA50}"/>
                </a:ext>
              </a:extLst>
            </p:cNvPr>
            <p:cNvSpPr/>
            <p:nvPr/>
          </p:nvSpPr>
          <p:spPr>
            <a:xfrm>
              <a:off x="1822017" y="3112143"/>
              <a:ext cx="241271" cy="241271"/>
            </a:xfrm>
            <a:prstGeom prst="ellipse">
              <a:avLst/>
            </a:prstGeom>
            <a:solidFill>
              <a:srgbClr val="0052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00" dirty="0">
                <a:cs typeface="+mn-ea"/>
                <a:sym typeface="+mn-lt"/>
              </a:endParaRPr>
            </a:p>
          </p:txBody>
        </p:sp>
        <p:sp>
          <p:nvSpPr>
            <p:cNvPr id="56" name="文本框 55">
              <a:extLst>
                <a:ext uri="{FF2B5EF4-FFF2-40B4-BE49-F238E27FC236}">
                  <a16:creationId xmlns:a16="http://schemas.microsoft.com/office/drawing/2014/main" id="{322C58AC-E8A5-5485-3388-FC0E87A44BD1}"/>
                </a:ext>
              </a:extLst>
            </p:cNvPr>
            <p:cNvSpPr txBox="1"/>
            <p:nvPr/>
          </p:nvSpPr>
          <p:spPr>
            <a:xfrm>
              <a:off x="1273261" y="3094553"/>
              <a:ext cx="1327328" cy="276999"/>
            </a:xfrm>
            <a:prstGeom prst="rect">
              <a:avLst/>
            </a:prstGeom>
            <a:noFill/>
          </p:spPr>
          <p:txBody>
            <a:bodyPr wrap="square">
              <a:spAutoFit/>
            </a:bodyPr>
            <a:lstStyle/>
            <a:p>
              <a:pPr algn="ctr"/>
              <a:r>
                <a:rPr lang="en-US" altLang="zh-CN" sz="1200" b="1" dirty="0">
                  <a:solidFill>
                    <a:schemeClr val="bg1"/>
                  </a:solidFill>
                  <a:cs typeface="+mn-ea"/>
                  <a:sym typeface="+mn-lt"/>
                </a:rPr>
                <a:t>1B</a:t>
              </a:r>
              <a:endParaRPr lang="zh-CN" altLang="en-US" sz="1200" b="1" dirty="0">
                <a:solidFill>
                  <a:schemeClr val="bg1"/>
                </a:solidFill>
                <a:cs typeface="+mn-ea"/>
                <a:sym typeface="+mn-lt"/>
              </a:endParaRPr>
            </a:p>
          </p:txBody>
        </p:sp>
      </p:grpSp>
      <p:sp>
        <p:nvSpPr>
          <p:cNvPr id="58" name="文本框 57">
            <a:extLst>
              <a:ext uri="{FF2B5EF4-FFF2-40B4-BE49-F238E27FC236}">
                <a16:creationId xmlns:a16="http://schemas.microsoft.com/office/drawing/2014/main" id="{E18C78DE-9EA7-95F6-75F6-C9402BD3D9AC}"/>
              </a:ext>
            </a:extLst>
          </p:cNvPr>
          <p:cNvSpPr txBox="1"/>
          <p:nvPr/>
        </p:nvSpPr>
        <p:spPr>
          <a:xfrm>
            <a:off x="1858374" y="2899841"/>
            <a:ext cx="2428875" cy="307777"/>
          </a:xfrm>
          <a:prstGeom prst="rect">
            <a:avLst/>
          </a:prstGeom>
          <a:noFill/>
        </p:spPr>
        <p:txBody>
          <a:bodyPr wrap="square">
            <a:spAutoFit/>
          </a:bodyPr>
          <a:lstStyle/>
          <a:p>
            <a:r>
              <a:rPr kumimoji="0" lang="zh-CN" altLang="zh-CN" sz="1400" b="0" i="0" u="none" strike="noStrike" cap="none" normalizeH="0" baseline="0" dirty="0">
                <a:ln>
                  <a:noFill/>
                </a:ln>
                <a:solidFill>
                  <a:srgbClr val="000000"/>
                </a:solidFill>
                <a:effectLst/>
                <a:cs typeface="+mn-ea"/>
                <a:sym typeface="+mn-lt"/>
              </a:rPr>
              <a:t>2024</a:t>
            </a:r>
            <a:r>
              <a:rPr lang="en-US" altLang="zh-CN" sz="1400" dirty="0">
                <a:solidFill>
                  <a:srgbClr val="000000"/>
                </a:solidFill>
                <a:cs typeface="+mn-ea"/>
                <a:sym typeface="+mn-lt"/>
              </a:rPr>
              <a:t>.</a:t>
            </a:r>
            <a:r>
              <a:rPr kumimoji="0" lang="zh-CN" altLang="zh-CN" sz="1400" b="0" i="0" u="none" strike="noStrike" cap="none" normalizeH="0" baseline="0" dirty="0">
                <a:ln>
                  <a:noFill/>
                </a:ln>
                <a:solidFill>
                  <a:srgbClr val="000000"/>
                </a:solidFill>
                <a:effectLst/>
                <a:cs typeface="+mn-ea"/>
                <a:sym typeface="+mn-lt"/>
              </a:rPr>
              <a:t>12</a:t>
            </a:r>
            <a:r>
              <a:rPr kumimoji="0" lang="en-US" altLang="zh-CN" sz="1400" b="0" i="0" u="none" strike="noStrike" cap="none" normalizeH="0" baseline="0" dirty="0">
                <a:ln>
                  <a:noFill/>
                </a:ln>
                <a:solidFill>
                  <a:srgbClr val="000000"/>
                </a:solidFill>
                <a:effectLst/>
                <a:cs typeface="+mn-ea"/>
                <a:sym typeface="+mn-lt"/>
              </a:rPr>
              <a:t> D</a:t>
            </a:r>
            <a:r>
              <a:rPr kumimoji="0" lang="zh-CN" altLang="en-US" sz="1400" b="0" i="0" u="none" strike="noStrike" cap="none" normalizeH="0" baseline="0" dirty="0">
                <a:ln>
                  <a:noFill/>
                </a:ln>
                <a:solidFill>
                  <a:srgbClr val="000000"/>
                </a:solidFill>
                <a:effectLst/>
                <a:cs typeface="+mn-ea"/>
                <a:sym typeface="+mn-lt"/>
              </a:rPr>
              <a:t>轮，融资</a:t>
            </a:r>
            <a:r>
              <a:rPr kumimoji="0" lang="en-US" altLang="zh-CN" sz="1400" b="0" i="0" u="none" strike="noStrike" cap="none" normalizeH="0" baseline="0" dirty="0">
                <a:ln>
                  <a:noFill/>
                </a:ln>
                <a:solidFill>
                  <a:srgbClr val="000000"/>
                </a:solidFill>
                <a:effectLst/>
                <a:cs typeface="+mn-ea"/>
                <a:sym typeface="+mn-lt"/>
              </a:rPr>
              <a:t>$1.55</a:t>
            </a:r>
            <a:r>
              <a:rPr kumimoji="0" lang="zh-CN" altLang="en-US" sz="1400" b="0" i="0" u="none" strike="noStrike" cap="none" normalizeH="0" baseline="0" dirty="0">
                <a:ln>
                  <a:noFill/>
                </a:ln>
                <a:solidFill>
                  <a:srgbClr val="000000"/>
                </a:solidFill>
                <a:effectLst/>
                <a:cs typeface="+mn-ea"/>
                <a:sym typeface="+mn-lt"/>
              </a:rPr>
              <a:t>亿</a:t>
            </a:r>
            <a:endParaRPr lang="zh-CN" altLang="en-US" sz="1400" dirty="0">
              <a:cs typeface="+mn-ea"/>
              <a:sym typeface="+mn-lt"/>
            </a:endParaRPr>
          </a:p>
        </p:txBody>
      </p:sp>
      <p:sp>
        <p:nvSpPr>
          <p:cNvPr id="67" name="文本框 66">
            <a:extLst>
              <a:ext uri="{FF2B5EF4-FFF2-40B4-BE49-F238E27FC236}">
                <a16:creationId xmlns:a16="http://schemas.microsoft.com/office/drawing/2014/main" id="{189C4BBC-1B9A-3768-0BDA-3C0DE94B5E01}"/>
              </a:ext>
            </a:extLst>
          </p:cNvPr>
          <p:cNvSpPr txBox="1"/>
          <p:nvPr/>
        </p:nvSpPr>
        <p:spPr>
          <a:xfrm>
            <a:off x="1938338" y="4892075"/>
            <a:ext cx="2787650" cy="306388"/>
          </a:xfrm>
          <a:prstGeom prst="rect">
            <a:avLst/>
          </a:prstGeom>
          <a:noFill/>
        </p:spPr>
        <p:txBody>
          <a:bodyPr wrap="square" rtlCol="0" anchor="ctr">
            <a:spAutoFit/>
          </a:bodyPr>
          <a:lstStyle/>
          <a:p>
            <a:r>
              <a:rPr lang="en-US" altLang="zh-CN" sz="1400" dirty="0">
                <a:solidFill>
                  <a:schemeClr val="accent6">
                    <a:lumMod val="10000"/>
                  </a:schemeClr>
                </a:solidFill>
                <a:cs typeface="+mn-ea"/>
                <a:sym typeface="+mn-lt"/>
              </a:rPr>
              <a:t>POC</a:t>
            </a:r>
            <a:r>
              <a:rPr lang="zh-CN" altLang="zh-CN" sz="1400" dirty="0">
                <a:solidFill>
                  <a:schemeClr val="accent6">
                    <a:lumMod val="10000"/>
                  </a:schemeClr>
                </a:solidFill>
                <a:cs typeface="+mn-ea"/>
                <a:sym typeface="+mn-lt"/>
              </a:rPr>
              <a:t> </a:t>
            </a:r>
            <a:r>
              <a:rPr lang="en-US" altLang="zh-CN" sz="1400" dirty="0">
                <a:solidFill>
                  <a:schemeClr val="accent6">
                    <a:lumMod val="10000"/>
                  </a:schemeClr>
                </a:solidFill>
                <a:cs typeface="+mn-ea"/>
                <a:sym typeface="+mn-lt"/>
              </a:rPr>
              <a:t>-&gt; </a:t>
            </a:r>
            <a:r>
              <a:rPr lang="zh-CN" altLang="en-US" sz="1400" dirty="0">
                <a:solidFill>
                  <a:schemeClr val="accent6">
                    <a:lumMod val="10000"/>
                  </a:schemeClr>
                </a:solidFill>
                <a:cs typeface="+mn-ea"/>
                <a:sym typeface="+mn-lt"/>
              </a:rPr>
              <a:t>量产之间</a:t>
            </a:r>
            <a:endParaRPr lang="zh-CN" altLang="zh-CN" sz="1400" dirty="0">
              <a:solidFill>
                <a:srgbClr val="0052D9"/>
              </a:solidFill>
              <a:cs typeface="+mn-ea"/>
              <a:sym typeface="+mn-lt"/>
            </a:endParaRPr>
          </a:p>
        </p:txBody>
      </p:sp>
      <p:sp>
        <p:nvSpPr>
          <p:cNvPr id="68" name="椭圆 67">
            <a:extLst>
              <a:ext uri="{FF2B5EF4-FFF2-40B4-BE49-F238E27FC236}">
                <a16:creationId xmlns:a16="http://schemas.microsoft.com/office/drawing/2014/main" id="{68987912-A982-02D0-2828-5A83FC0EF287}"/>
              </a:ext>
            </a:extLst>
          </p:cNvPr>
          <p:cNvSpPr/>
          <p:nvPr>
            <p:custDataLst>
              <p:tags r:id="rId2"/>
            </p:custDataLst>
          </p:nvPr>
        </p:nvSpPr>
        <p:spPr bwMode="auto">
          <a:xfrm>
            <a:off x="1655763" y="4960938"/>
            <a:ext cx="187325" cy="187325"/>
          </a:xfrm>
          <a:prstGeom prst="ellipse">
            <a:avLst/>
          </a:prstGeom>
          <a:solidFill>
            <a:schemeClr val="bg1"/>
          </a:solidFill>
          <a:ln w="9525" cap="sq" cmpd="sng">
            <a:solidFill>
              <a:srgbClr val="4D4D4D"/>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300"/>
              </a:spcBef>
              <a:spcAft>
                <a:spcPts val="300"/>
              </a:spcAft>
            </a:pPr>
            <a:endParaRPr kumimoji="1" lang="zh-CN" altLang="en-US" sz="1600" dirty="0" err="1">
              <a:solidFill>
                <a:schemeClr val="bg1"/>
              </a:solidFill>
              <a:cs typeface="+mn-ea"/>
              <a:sym typeface="+mn-lt"/>
            </a:endParaRPr>
          </a:p>
        </p:txBody>
      </p:sp>
      <p:sp>
        <p:nvSpPr>
          <p:cNvPr id="69" name="弧 155">
            <a:extLst>
              <a:ext uri="{FF2B5EF4-FFF2-40B4-BE49-F238E27FC236}">
                <a16:creationId xmlns:a16="http://schemas.microsoft.com/office/drawing/2014/main" id="{179DB382-7110-2064-3FD5-9E55A0AAECA0}"/>
              </a:ext>
            </a:extLst>
          </p:cNvPr>
          <p:cNvSpPr/>
          <p:nvPr>
            <p:custDataLst>
              <p:tags r:id="rId3"/>
            </p:custDataLst>
          </p:nvPr>
        </p:nvSpPr>
        <p:spPr bwMode="gray">
          <a:xfrm>
            <a:off x="1655763" y="4960938"/>
            <a:ext cx="187325" cy="187325"/>
          </a:xfrm>
          <a:prstGeom prst="arc">
            <a:avLst>
              <a:gd name="adj1" fmla="val 16200000"/>
              <a:gd name="adj2" fmla="val 5400000"/>
            </a:avLst>
          </a:prstGeom>
          <a:solidFill>
            <a:schemeClr val="accent1"/>
          </a:solidFill>
          <a:ln w="9525" cap="flat" cmpd="sng" algn="ctr">
            <a:solidFill>
              <a:srgbClr val="4D4D4D"/>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cs typeface="+mn-ea"/>
              <a:sym typeface="+mn-lt"/>
            </a:endParaRPr>
          </a:p>
        </p:txBody>
      </p:sp>
      <p:cxnSp>
        <p:nvCxnSpPr>
          <p:cNvPr id="71" name="直线连接符 8">
            <a:extLst>
              <a:ext uri="{FF2B5EF4-FFF2-40B4-BE49-F238E27FC236}">
                <a16:creationId xmlns:a16="http://schemas.microsoft.com/office/drawing/2014/main" id="{64344FB6-DFC6-B58F-3334-A76CC6193946}"/>
              </a:ext>
            </a:extLst>
          </p:cNvPr>
          <p:cNvCxnSpPr>
            <a:cxnSpLocks/>
          </p:cNvCxnSpPr>
          <p:nvPr/>
        </p:nvCxnSpPr>
        <p:spPr>
          <a:xfrm>
            <a:off x="5080000" y="1308628"/>
            <a:ext cx="3027363"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2" name="直线连接符 8">
            <a:extLst>
              <a:ext uri="{FF2B5EF4-FFF2-40B4-BE49-F238E27FC236}">
                <a16:creationId xmlns:a16="http://schemas.microsoft.com/office/drawing/2014/main" id="{468BC916-BDF7-630D-6A02-4D900E2E7FCC}"/>
              </a:ext>
            </a:extLst>
          </p:cNvPr>
          <p:cNvCxnSpPr>
            <a:cxnSpLocks/>
          </p:cNvCxnSpPr>
          <p:nvPr/>
        </p:nvCxnSpPr>
        <p:spPr>
          <a:xfrm>
            <a:off x="8645525" y="1308628"/>
            <a:ext cx="3027363"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69A26B94-4056-BC1F-E0A2-ABB627D795D3}"/>
              </a:ext>
            </a:extLst>
          </p:cNvPr>
          <p:cNvSpPr txBox="1"/>
          <p:nvPr/>
        </p:nvSpPr>
        <p:spPr>
          <a:xfrm>
            <a:off x="5094288" y="5362575"/>
            <a:ext cx="3057525" cy="700088"/>
          </a:xfrm>
          <a:prstGeom prst="rect">
            <a:avLst/>
          </a:prstGeom>
          <a:ln w="6350">
            <a:noFill/>
            <a:miter lim="800000"/>
          </a:ln>
        </p:spPr>
        <p:txBody>
          <a:bodyPr vert="horz" wrap="square" lIns="0" tIns="0" rIns="0" bIns="0" rtlCol="0">
            <a:noAutofit/>
          </a:bodyPr>
          <a:lstStyle/>
          <a:p>
            <a:pPr marL="285750" indent="-285750">
              <a:spcBef>
                <a:spcPts val="300"/>
              </a:spcBef>
              <a:spcAft>
                <a:spcPts val="300"/>
              </a:spcAft>
              <a:buFont typeface="Arial" panose="020B0604020202020204" pitchFamily="34" charset="0"/>
              <a:buChar char="•"/>
            </a:pPr>
            <a:r>
              <a:rPr lang="zh-CN" altLang="zh-CN" sz="1400" dirty="0">
                <a:solidFill>
                  <a:srgbClr val="000000"/>
                </a:solidFill>
                <a:cs typeface="+mn-ea"/>
                <a:sym typeface="+mn-lt"/>
              </a:rPr>
              <a:t>公司宣称已与匿名头部制造商开始设计导入阶段</a:t>
            </a:r>
            <a:endParaRPr kumimoji="1" lang="en-US" altLang="zh-CN" sz="1400" dirty="0">
              <a:solidFill>
                <a:schemeClr val="accent6">
                  <a:lumMod val="10000"/>
                </a:schemeClr>
              </a:solidFill>
              <a:cs typeface="+mn-ea"/>
              <a:sym typeface="+mn-lt"/>
            </a:endParaRPr>
          </a:p>
          <a:p>
            <a:pPr marL="285750" indent="-285750">
              <a:spcBef>
                <a:spcPts val="300"/>
              </a:spcBef>
              <a:spcAft>
                <a:spcPts val="300"/>
              </a:spcAft>
              <a:buFont typeface="Arial" panose="020B0604020202020204" pitchFamily="34" charset="0"/>
              <a:buChar char="•"/>
            </a:pPr>
            <a:r>
              <a:rPr lang="zh-CN" altLang="zh-CN" sz="1400" dirty="0">
                <a:solidFill>
                  <a:srgbClr val="000000"/>
                </a:solidFill>
                <a:cs typeface="+mn-ea"/>
                <a:sym typeface="+mn-lt"/>
              </a:rPr>
              <a:t>2025 H2开始送样、2026年后见到搭载产品、2027年量产爬坡</a:t>
            </a:r>
            <a:endParaRPr kumimoji="1" lang="en-US" altLang="zh-CN" sz="1400" dirty="0">
              <a:solidFill>
                <a:schemeClr val="tx1">
                  <a:lumMod val="50000"/>
                </a:schemeClr>
              </a:solidFill>
              <a:cs typeface="+mn-ea"/>
              <a:sym typeface="+mn-lt"/>
            </a:endParaRPr>
          </a:p>
        </p:txBody>
      </p:sp>
      <p:sp>
        <p:nvSpPr>
          <p:cNvPr id="78" name="文本框 77">
            <a:extLst>
              <a:ext uri="{FF2B5EF4-FFF2-40B4-BE49-F238E27FC236}">
                <a16:creationId xmlns:a16="http://schemas.microsoft.com/office/drawing/2014/main" id="{44AF2211-68D9-70E5-9D3A-F7A1FB0D2150}"/>
              </a:ext>
            </a:extLst>
          </p:cNvPr>
          <p:cNvSpPr txBox="1"/>
          <p:nvPr/>
        </p:nvSpPr>
        <p:spPr>
          <a:xfrm>
            <a:off x="5094288" y="3935413"/>
            <a:ext cx="3081338" cy="1066800"/>
          </a:xfrm>
          <a:prstGeom prst="rect">
            <a:avLst/>
          </a:prstGeom>
          <a:ln w="6350">
            <a:noFill/>
            <a:miter lim="800000"/>
          </a:ln>
        </p:spPr>
        <p:txBody>
          <a:bodyPr vert="horz" wrap="square" lIns="0" tIns="0" rIns="0" bIns="0" rtlCol="0">
            <a:noAutofit/>
          </a:bodyPr>
          <a:lstStyle/>
          <a:p>
            <a:pPr marL="182563" indent="-182563">
              <a:spcBef>
                <a:spcPts val="300"/>
              </a:spcBef>
              <a:spcAft>
                <a:spcPts val="300"/>
              </a:spcAft>
              <a:buFont typeface="Arial" panose="020B0604020202020204" pitchFamily="34" charset="0"/>
              <a:buChar char="•"/>
            </a:pPr>
            <a:r>
              <a:rPr lang="zh-CN" altLang="en-US" sz="1400" dirty="0">
                <a:solidFill>
                  <a:schemeClr val="accent6">
                    <a:lumMod val="10000"/>
                  </a:schemeClr>
                </a:solidFill>
                <a:cs typeface="+mn-ea"/>
                <a:sym typeface="+mn-lt"/>
              </a:rPr>
              <a:t>系统级</a:t>
            </a:r>
            <a:r>
              <a:rPr lang="en-US" altLang="zh-CN" sz="1400" dirty="0">
                <a:solidFill>
                  <a:schemeClr val="accent6">
                    <a:lumMod val="10000"/>
                  </a:schemeClr>
                </a:solidFill>
                <a:cs typeface="+mn-ea"/>
                <a:sym typeface="+mn-lt"/>
              </a:rPr>
              <a:t>OIO</a:t>
            </a:r>
            <a:r>
              <a:rPr lang="zh-CN" altLang="en-US" sz="1400" dirty="0">
                <a:solidFill>
                  <a:schemeClr val="accent6">
                    <a:lumMod val="10000"/>
                  </a:schemeClr>
                </a:solidFill>
                <a:cs typeface="+mn-ea"/>
                <a:sym typeface="+mn-lt"/>
              </a:rPr>
              <a:t>方案，验证周期长</a:t>
            </a:r>
            <a:endParaRPr lang="en-US" altLang="zh-CN" sz="1400" dirty="0">
              <a:solidFill>
                <a:schemeClr val="accent6">
                  <a:lumMod val="10000"/>
                </a:schemeClr>
              </a:solidFill>
              <a:cs typeface="+mn-ea"/>
              <a:sym typeface="+mn-lt"/>
            </a:endParaRPr>
          </a:p>
          <a:p>
            <a:pPr marL="182563" indent="-182563">
              <a:spcBef>
                <a:spcPts val="300"/>
              </a:spcBef>
              <a:spcAft>
                <a:spcPts val="300"/>
              </a:spcAft>
              <a:buFont typeface="Arial" panose="020B0604020202020204" pitchFamily="34" charset="0"/>
              <a:buChar char="•"/>
            </a:pPr>
            <a:r>
              <a:rPr lang="zh-CN" altLang="zh-CN" sz="1400" dirty="0">
                <a:solidFill>
                  <a:schemeClr val="accent6">
                    <a:lumMod val="10000"/>
                  </a:schemeClr>
                </a:solidFill>
                <a:cs typeface="+mn-ea"/>
                <a:sym typeface="+mn-lt"/>
              </a:rPr>
              <a:t>跨越控制/交换芯片、硅光芯片、封装热-机械协同等多个环节</a:t>
            </a:r>
          </a:p>
          <a:p>
            <a:pPr marL="182563" indent="-182563">
              <a:spcBef>
                <a:spcPts val="300"/>
              </a:spcBef>
              <a:spcAft>
                <a:spcPts val="300"/>
              </a:spcAft>
              <a:buFont typeface="Arial" panose="020B0604020202020204" pitchFamily="34" charset="0"/>
              <a:buChar char="•"/>
            </a:pPr>
            <a:endParaRPr kumimoji="1" lang="en-US" altLang="zh-CN" sz="1400" dirty="0">
              <a:solidFill>
                <a:schemeClr val="accent6">
                  <a:lumMod val="10000"/>
                </a:schemeClr>
              </a:solidFill>
              <a:cs typeface="+mn-ea"/>
              <a:sym typeface="+mn-lt"/>
            </a:endParaRPr>
          </a:p>
        </p:txBody>
      </p:sp>
      <p:sp>
        <p:nvSpPr>
          <p:cNvPr id="81" name="Rectangle 3">
            <a:extLst>
              <a:ext uri="{FF2B5EF4-FFF2-40B4-BE49-F238E27FC236}">
                <a16:creationId xmlns:a16="http://schemas.microsoft.com/office/drawing/2014/main" id="{5B80E58D-453E-F82F-6561-D8B2B87A1FC4}"/>
              </a:ext>
            </a:extLst>
          </p:cNvPr>
          <p:cNvSpPr>
            <a:spLocks noChangeArrowheads="1"/>
          </p:cNvSpPr>
          <p:nvPr/>
        </p:nvSpPr>
        <p:spPr bwMode="auto">
          <a:xfrm>
            <a:off x="5151438" y="3379091"/>
            <a:ext cx="3624263" cy="307975"/>
          </a:xfrm>
          <a:prstGeom prst="rect">
            <a:avLst/>
          </a:prstGeom>
          <a:ln w="6350">
            <a:noFill/>
            <a:miter lim="800000"/>
          </a:ln>
        </p:spPr>
        <p:txBody>
          <a:bodyPr vert="horz" wrap="square" lIns="0" tIns="0" rIns="0" bIns="0" rtlCol="0">
            <a:noAutofit/>
          </a:bodyPr>
          <a:lstStyle/>
          <a:p>
            <a:pPr marL="285750" indent="-285750">
              <a:spcBef>
                <a:spcPts val="300"/>
              </a:spcBef>
              <a:spcAft>
                <a:spcPts val="300"/>
              </a:spcAft>
              <a:buFont typeface="Arial" panose="020B0604020202020204" pitchFamily="34" charset="0"/>
              <a:buChar char="•"/>
            </a:pPr>
            <a:r>
              <a:rPr lang="zh-CN" altLang="en-US" sz="1400" dirty="0">
                <a:solidFill>
                  <a:schemeClr val="accent6">
                    <a:lumMod val="10000"/>
                  </a:schemeClr>
                </a:solidFill>
                <a:cs typeface="+mn-ea"/>
                <a:sym typeface="+mn-lt"/>
              </a:rPr>
              <a:t>产业资本：</a:t>
            </a:r>
            <a:r>
              <a:rPr lang="en-US" altLang="zh-CN" sz="1400" dirty="0">
                <a:solidFill>
                  <a:schemeClr val="accent6">
                    <a:lumMod val="10000"/>
                  </a:schemeClr>
                </a:solidFill>
                <a:cs typeface="+mn-ea"/>
                <a:sym typeface="+mn-lt"/>
              </a:rPr>
              <a:t>AMD Ventures</a:t>
            </a:r>
            <a:r>
              <a:rPr lang="zh-CN" altLang="en-US" sz="1400" dirty="0">
                <a:solidFill>
                  <a:schemeClr val="accent6">
                    <a:lumMod val="10000"/>
                  </a:schemeClr>
                </a:solidFill>
                <a:cs typeface="+mn-ea"/>
                <a:sym typeface="+mn-lt"/>
              </a:rPr>
              <a:t>、</a:t>
            </a:r>
            <a:r>
              <a:rPr lang="en-US" altLang="zh-CN" sz="1400" dirty="0">
                <a:solidFill>
                  <a:schemeClr val="accent6">
                    <a:lumMod val="10000"/>
                  </a:schemeClr>
                </a:solidFill>
                <a:cs typeface="+mn-ea"/>
                <a:sym typeface="+mn-lt"/>
              </a:rPr>
              <a:t>Samsung</a:t>
            </a:r>
            <a:endParaRPr lang="zh-CN" altLang="zh-CN" sz="1400" dirty="0">
              <a:solidFill>
                <a:schemeClr val="accent6">
                  <a:lumMod val="10000"/>
                </a:schemeClr>
              </a:solidFill>
              <a:cs typeface="+mn-ea"/>
              <a:sym typeface="+mn-lt"/>
            </a:endParaRPr>
          </a:p>
        </p:txBody>
      </p:sp>
      <p:sp>
        <p:nvSpPr>
          <p:cNvPr id="82" name="文本框 81">
            <a:extLst>
              <a:ext uri="{FF2B5EF4-FFF2-40B4-BE49-F238E27FC236}">
                <a16:creationId xmlns:a16="http://schemas.microsoft.com/office/drawing/2014/main" id="{EA941743-B058-8529-42C0-C198AB8446FD}"/>
              </a:ext>
            </a:extLst>
          </p:cNvPr>
          <p:cNvSpPr txBox="1"/>
          <p:nvPr/>
        </p:nvSpPr>
        <p:spPr>
          <a:xfrm>
            <a:off x="5567363" y="2916966"/>
            <a:ext cx="2428875" cy="307975"/>
          </a:xfrm>
          <a:prstGeom prst="rect">
            <a:avLst/>
          </a:prstGeom>
          <a:noFill/>
        </p:spPr>
        <p:txBody>
          <a:bodyPr wrap="square">
            <a:spAutoFit/>
          </a:bodyPr>
          <a:lstStyle/>
          <a:p>
            <a:r>
              <a:rPr kumimoji="0" lang="zh-CN" altLang="zh-CN" sz="1400" b="0" i="0" u="none" strike="noStrike" cap="none" normalizeH="0" baseline="0" dirty="0">
                <a:ln>
                  <a:noFill/>
                </a:ln>
                <a:solidFill>
                  <a:srgbClr val="000000"/>
                </a:solidFill>
                <a:effectLst/>
                <a:cs typeface="+mn-ea"/>
                <a:sym typeface="+mn-lt"/>
              </a:rPr>
              <a:t>202</a:t>
            </a:r>
            <a:r>
              <a:rPr kumimoji="0" lang="en-US" altLang="zh-CN" sz="1400" b="0" i="0" u="none" strike="noStrike" cap="none" normalizeH="0" baseline="0" dirty="0">
                <a:ln>
                  <a:noFill/>
                </a:ln>
                <a:solidFill>
                  <a:srgbClr val="000000"/>
                </a:solidFill>
                <a:effectLst/>
                <a:cs typeface="+mn-ea"/>
                <a:sym typeface="+mn-lt"/>
              </a:rPr>
              <a:t>5</a:t>
            </a:r>
            <a:r>
              <a:rPr lang="en-US" altLang="zh-CN" sz="1400" dirty="0">
                <a:solidFill>
                  <a:srgbClr val="000000"/>
                </a:solidFill>
                <a:cs typeface="+mn-ea"/>
                <a:sym typeface="+mn-lt"/>
              </a:rPr>
              <a:t>.02</a:t>
            </a:r>
            <a:r>
              <a:rPr kumimoji="0" lang="en-US" altLang="zh-CN" sz="1400" b="0" i="0" u="none" strike="noStrike" cap="none" normalizeH="0" baseline="0" dirty="0">
                <a:ln>
                  <a:noFill/>
                </a:ln>
                <a:solidFill>
                  <a:srgbClr val="000000"/>
                </a:solidFill>
                <a:effectLst/>
                <a:cs typeface="+mn-ea"/>
                <a:sym typeface="+mn-lt"/>
              </a:rPr>
              <a:t> </a:t>
            </a:r>
            <a:r>
              <a:rPr lang="en-US" altLang="zh-CN" sz="1400" dirty="0">
                <a:solidFill>
                  <a:srgbClr val="000000"/>
                </a:solidFill>
                <a:cs typeface="+mn-ea"/>
                <a:sym typeface="+mn-lt"/>
              </a:rPr>
              <a:t>C1</a:t>
            </a:r>
            <a:r>
              <a:rPr kumimoji="0" lang="zh-CN" altLang="en-US" sz="1400" b="0" i="0" u="none" strike="noStrike" cap="none" normalizeH="0" baseline="0" dirty="0">
                <a:ln>
                  <a:noFill/>
                </a:ln>
                <a:solidFill>
                  <a:srgbClr val="000000"/>
                </a:solidFill>
                <a:effectLst/>
                <a:cs typeface="+mn-ea"/>
                <a:sym typeface="+mn-lt"/>
              </a:rPr>
              <a:t>轮，融资</a:t>
            </a:r>
            <a:r>
              <a:rPr kumimoji="0" lang="en-US" altLang="zh-CN" sz="1400" b="0" i="0" u="none" strike="noStrike" cap="none" normalizeH="0" baseline="0" dirty="0">
                <a:ln>
                  <a:noFill/>
                </a:ln>
                <a:solidFill>
                  <a:srgbClr val="000000"/>
                </a:solidFill>
                <a:effectLst/>
                <a:cs typeface="+mn-ea"/>
                <a:sym typeface="+mn-lt"/>
              </a:rPr>
              <a:t>$2.5</a:t>
            </a:r>
            <a:r>
              <a:rPr kumimoji="0" lang="zh-CN" altLang="en-US" sz="1400" b="0" i="0" u="none" strike="noStrike" cap="none" normalizeH="0" baseline="0" dirty="0">
                <a:ln>
                  <a:noFill/>
                </a:ln>
                <a:solidFill>
                  <a:srgbClr val="000000"/>
                </a:solidFill>
                <a:effectLst/>
                <a:cs typeface="+mn-ea"/>
                <a:sym typeface="+mn-lt"/>
              </a:rPr>
              <a:t>亿</a:t>
            </a:r>
            <a:endParaRPr lang="zh-CN" altLang="en-US" sz="1400" dirty="0">
              <a:cs typeface="+mn-ea"/>
              <a:sym typeface="+mn-lt"/>
            </a:endParaRPr>
          </a:p>
        </p:txBody>
      </p:sp>
      <p:sp>
        <p:nvSpPr>
          <p:cNvPr id="83" name="文本框 82">
            <a:extLst>
              <a:ext uri="{FF2B5EF4-FFF2-40B4-BE49-F238E27FC236}">
                <a16:creationId xmlns:a16="http://schemas.microsoft.com/office/drawing/2014/main" id="{FD676E2D-99E8-7C9A-0B6F-398D345A1656}"/>
              </a:ext>
            </a:extLst>
          </p:cNvPr>
          <p:cNvSpPr txBox="1"/>
          <p:nvPr/>
        </p:nvSpPr>
        <p:spPr>
          <a:xfrm>
            <a:off x="5387975" y="4891981"/>
            <a:ext cx="2787650" cy="307777"/>
          </a:xfrm>
          <a:prstGeom prst="rect">
            <a:avLst/>
          </a:prstGeom>
          <a:noFill/>
        </p:spPr>
        <p:txBody>
          <a:bodyPr wrap="square" rtlCol="0" anchor="ctr">
            <a:spAutoFit/>
          </a:bodyPr>
          <a:lstStyle/>
          <a:p>
            <a:r>
              <a:rPr lang="zh-CN" altLang="zh-CN" sz="1400" dirty="0">
                <a:solidFill>
                  <a:schemeClr val="accent6">
                    <a:lumMod val="10000"/>
                  </a:schemeClr>
                </a:solidFill>
                <a:cs typeface="+mn-ea"/>
                <a:sym typeface="+mn-lt"/>
              </a:rPr>
              <a:t>验证</a:t>
            </a:r>
            <a:r>
              <a:rPr lang="en-US" altLang="zh-CN" sz="1400" dirty="0">
                <a:solidFill>
                  <a:schemeClr val="accent6">
                    <a:lumMod val="10000"/>
                  </a:schemeClr>
                </a:solidFill>
                <a:cs typeface="+mn-ea"/>
                <a:sym typeface="+mn-lt"/>
              </a:rPr>
              <a:t> -&gt;</a:t>
            </a:r>
            <a:r>
              <a:rPr lang="zh-CN" altLang="zh-CN" sz="1400" dirty="0">
                <a:solidFill>
                  <a:srgbClr val="000000"/>
                </a:solidFill>
                <a:cs typeface="+mn-ea"/>
                <a:sym typeface="+mn-lt"/>
              </a:rPr>
              <a:t>设计导入</a:t>
            </a:r>
            <a:r>
              <a:rPr lang="en-US" altLang="zh-CN" sz="1400" dirty="0">
                <a:solidFill>
                  <a:srgbClr val="000000"/>
                </a:solidFill>
                <a:cs typeface="+mn-ea"/>
                <a:sym typeface="+mn-lt"/>
              </a:rPr>
              <a:t>/</a:t>
            </a:r>
            <a:r>
              <a:rPr lang="zh-CN" altLang="zh-CN" sz="1400" dirty="0">
                <a:solidFill>
                  <a:schemeClr val="accent6">
                    <a:lumMod val="10000"/>
                  </a:schemeClr>
                </a:solidFill>
                <a:cs typeface="+mn-ea"/>
                <a:sym typeface="+mn-lt"/>
              </a:rPr>
              <a:t>早期送样</a:t>
            </a:r>
          </a:p>
        </p:txBody>
      </p:sp>
      <p:sp>
        <p:nvSpPr>
          <p:cNvPr id="84" name="椭圆 83">
            <a:extLst>
              <a:ext uri="{FF2B5EF4-FFF2-40B4-BE49-F238E27FC236}">
                <a16:creationId xmlns:a16="http://schemas.microsoft.com/office/drawing/2014/main" id="{2D829332-790A-E490-D346-C1A4CC61A474}"/>
              </a:ext>
            </a:extLst>
          </p:cNvPr>
          <p:cNvSpPr/>
          <p:nvPr>
            <p:custDataLst>
              <p:tags r:id="rId4"/>
            </p:custDataLst>
          </p:nvPr>
        </p:nvSpPr>
        <p:spPr bwMode="auto">
          <a:xfrm>
            <a:off x="5105400" y="4960938"/>
            <a:ext cx="187325" cy="187325"/>
          </a:xfrm>
          <a:prstGeom prst="ellipse">
            <a:avLst/>
          </a:prstGeom>
          <a:solidFill>
            <a:schemeClr val="bg1"/>
          </a:solidFill>
          <a:ln w="9525" cap="sq" cmpd="sng">
            <a:solidFill>
              <a:srgbClr val="4D4D4D"/>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300"/>
              </a:spcBef>
              <a:spcAft>
                <a:spcPts val="300"/>
              </a:spcAft>
            </a:pPr>
            <a:endParaRPr kumimoji="1" lang="zh-CN" altLang="en-US" sz="1600" dirty="0" err="1">
              <a:solidFill>
                <a:schemeClr val="bg1"/>
              </a:solidFill>
              <a:cs typeface="+mn-ea"/>
              <a:sym typeface="+mn-lt"/>
            </a:endParaRPr>
          </a:p>
        </p:txBody>
      </p:sp>
      <p:sp>
        <p:nvSpPr>
          <p:cNvPr id="85" name="弧 155">
            <a:extLst>
              <a:ext uri="{FF2B5EF4-FFF2-40B4-BE49-F238E27FC236}">
                <a16:creationId xmlns:a16="http://schemas.microsoft.com/office/drawing/2014/main" id="{8643D068-FE9C-2B31-B7A1-70D8909EB09F}"/>
              </a:ext>
            </a:extLst>
          </p:cNvPr>
          <p:cNvSpPr/>
          <p:nvPr>
            <p:custDataLst>
              <p:tags r:id="rId5"/>
            </p:custDataLst>
          </p:nvPr>
        </p:nvSpPr>
        <p:spPr bwMode="gray">
          <a:xfrm>
            <a:off x="5105400" y="4960938"/>
            <a:ext cx="187324" cy="187324"/>
          </a:xfrm>
          <a:prstGeom prst="arc">
            <a:avLst>
              <a:gd name="adj1" fmla="val 16200000"/>
              <a:gd name="adj2" fmla="val 0"/>
            </a:avLst>
          </a:prstGeom>
          <a:solidFill>
            <a:schemeClr val="accent1"/>
          </a:solidFill>
          <a:ln w="9525" cap="flat" cmpd="sng" algn="ctr">
            <a:solidFill>
              <a:srgbClr val="4D4D4D"/>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cs typeface="+mn-ea"/>
              <a:sym typeface="+mn-lt"/>
            </a:endParaRPr>
          </a:p>
        </p:txBody>
      </p:sp>
      <p:sp>
        <p:nvSpPr>
          <p:cNvPr id="86" name="文本框 85">
            <a:extLst>
              <a:ext uri="{FF2B5EF4-FFF2-40B4-BE49-F238E27FC236}">
                <a16:creationId xmlns:a16="http://schemas.microsoft.com/office/drawing/2014/main" id="{56A92FA1-6A3D-3E9A-217E-A6914A65D79D}"/>
              </a:ext>
            </a:extLst>
          </p:cNvPr>
          <p:cNvSpPr txBox="1"/>
          <p:nvPr/>
        </p:nvSpPr>
        <p:spPr>
          <a:xfrm>
            <a:off x="8661400" y="5362575"/>
            <a:ext cx="3057525" cy="700088"/>
          </a:xfrm>
          <a:prstGeom prst="rect">
            <a:avLst/>
          </a:prstGeom>
          <a:ln w="6350">
            <a:noFill/>
            <a:miter lim="800000"/>
          </a:ln>
        </p:spPr>
        <p:txBody>
          <a:bodyPr vert="horz" wrap="square" lIns="0" tIns="0" rIns="0" bIns="0" rtlCol="0">
            <a:noAutofit/>
          </a:bodyPr>
          <a:lstStyle/>
          <a:p>
            <a:pPr marL="285750" indent="-285750">
              <a:spcBef>
                <a:spcPts val="300"/>
              </a:spcBef>
              <a:spcAft>
                <a:spcPts val="300"/>
              </a:spcAft>
              <a:buFont typeface="Arial" panose="020B0604020202020204" pitchFamily="34" charset="0"/>
              <a:buChar char="•"/>
            </a:pPr>
            <a:r>
              <a:rPr lang="zh-CN" altLang="zh-CN" sz="1400" dirty="0">
                <a:solidFill>
                  <a:srgbClr val="000000"/>
                </a:solidFill>
                <a:cs typeface="+mn-ea"/>
                <a:sym typeface="+mn-lt"/>
              </a:rPr>
              <a:t>Passage中介层先行、与 OSAT/代工/SerDes伙伴协同推进</a:t>
            </a:r>
            <a:endParaRPr kumimoji="1" lang="en-US" altLang="zh-CN" sz="1400" dirty="0">
              <a:solidFill>
                <a:schemeClr val="accent6">
                  <a:lumMod val="10000"/>
                </a:schemeClr>
              </a:solidFill>
              <a:cs typeface="+mn-ea"/>
              <a:sym typeface="+mn-lt"/>
            </a:endParaRPr>
          </a:p>
          <a:p>
            <a:pPr marL="285750" indent="-285750">
              <a:spcBef>
                <a:spcPts val="300"/>
              </a:spcBef>
              <a:spcAft>
                <a:spcPts val="300"/>
              </a:spcAft>
              <a:buFont typeface="Arial" panose="020B0604020202020204" pitchFamily="34" charset="0"/>
              <a:buChar char="•"/>
            </a:pPr>
            <a:r>
              <a:rPr lang="zh-CN" altLang="zh-CN" sz="1400" dirty="0">
                <a:solidFill>
                  <a:srgbClr val="000000"/>
                </a:solidFill>
                <a:cs typeface="+mn-ea"/>
                <a:sym typeface="+mn-lt"/>
              </a:rPr>
              <a:t>25年夏供货</a:t>
            </a:r>
            <a:r>
              <a:rPr lang="zh-CN" altLang="en-US" sz="1400" dirty="0">
                <a:solidFill>
                  <a:srgbClr val="000000"/>
                </a:solidFill>
                <a:cs typeface="+mn-ea"/>
                <a:sym typeface="+mn-lt"/>
              </a:rPr>
              <a:t>；</a:t>
            </a:r>
            <a:r>
              <a:rPr lang="zh-CN" altLang="zh-CN" sz="1400" dirty="0">
                <a:solidFill>
                  <a:srgbClr val="000000"/>
                </a:solidFill>
                <a:cs typeface="+mn-ea"/>
                <a:sym typeface="+mn-lt"/>
              </a:rPr>
              <a:t>2026 L200 CPO芯粒计划面向客户</a:t>
            </a:r>
            <a:endParaRPr kumimoji="1" lang="en-US" altLang="zh-CN" sz="1400" dirty="0">
              <a:solidFill>
                <a:schemeClr val="tx1">
                  <a:lumMod val="50000"/>
                </a:schemeClr>
              </a:solidFill>
              <a:cs typeface="+mn-ea"/>
              <a:sym typeface="+mn-lt"/>
            </a:endParaRPr>
          </a:p>
        </p:txBody>
      </p:sp>
      <p:sp>
        <p:nvSpPr>
          <p:cNvPr id="88" name="文本框 87">
            <a:extLst>
              <a:ext uri="{FF2B5EF4-FFF2-40B4-BE49-F238E27FC236}">
                <a16:creationId xmlns:a16="http://schemas.microsoft.com/office/drawing/2014/main" id="{B611AC5F-5F3B-E82A-F692-B854476F64C1}"/>
              </a:ext>
            </a:extLst>
          </p:cNvPr>
          <p:cNvSpPr txBox="1"/>
          <p:nvPr/>
        </p:nvSpPr>
        <p:spPr>
          <a:xfrm>
            <a:off x="8661400" y="3935413"/>
            <a:ext cx="3081338" cy="1066800"/>
          </a:xfrm>
          <a:prstGeom prst="rect">
            <a:avLst/>
          </a:prstGeom>
          <a:ln w="6350">
            <a:noFill/>
            <a:miter lim="800000"/>
          </a:ln>
        </p:spPr>
        <p:txBody>
          <a:bodyPr vert="horz" wrap="square" lIns="0" tIns="0" rIns="0" bIns="0" rtlCol="0">
            <a:noAutofit/>
          </a:bodyPr>
          <a:lstStyle>
            <a:defPPr>
              <a:defRPr lang="zh-CN"/>
            </a:defPPr>
            <a:lvl1pPr marL="182563" indent="-182563">
              <a:spcBef>
                <a:spcPts val="300"/>
              </a:spcBef>
              <a:spcAft>
                <a:spcPts val="300"/>
              </a:spcAft>
              <a:buFont typeface="Arial" panose="020B0604020202020204" pitchFamily="34" charset="0"/>
              <a:buChar char="•"/>
              <a:defRPr sz="1400">
                <a:solidFill>
                  <a:schemeClr val="accent6">
                    <a:lumMod val="10000"/>
                  </a:schemeClr>
                </a:solidFill>
                <a:latin typeface="Inter"/>
              </a:defRPr>
            </a:lvl1pPr>
          </a:lstStyle>
          <a:p>
            <a:r>
              <a:rPr lang="zh-CN" altLang="zh-CN" dirty="0">
                <a:latin typeface="+mn-lt"/>
                <a:cs typeface="+mn-ea"/>
                <a:sym typeface="+mn-lt"/>
              </a:rPr>
              <a:t>兼容 Broadcom CPO 生态，链条成熟</a:t>
            </a:r>
            <a:endParaRPr lang="en-US" altLang="zh-CN" dirty="0">
              <a:latin typeface="+mn-lt"/>
              <a:cs typeface="+mn-ea"/>
              <a:sym typeface="+mn-lt"/>
            </a:endParaRPr>
          </a:p>
          <a:p>
            <a:r>
              <a:rPr lang="zh-CN" altLang="zh-CN" dirty="0">
                <a:latin typeface="+mn-lt"/>
                <a:cs typeface="+mn-ea"/>
                <a:sym typeface="+mn-lt"/>
              </a:rPr>
              <a:t>封装层抽</a:t>
            </a:r>
            <a:r>
              <a:rPr lang="zh-CN" altLang="en-US" dirty="0">
                <a:latin typeface="+mn-lt"/>
                <a:cs typeface="+mn-ea"/>
                <a:sym typeface="+mn-lt"/>
              </a:rPr>
              <a:t>象</a:t>
            </a:r>
            <a:r>
              <a:rPr lang="zh-CN" altLang="zh-CN" dirty="0">
                <a:latin typeface="+mn-lt"/>
                <a:cs typeface="+mn-ea"/>
                <a:sym typeface="+mn-lt"/>
              </a:rPr>
              <a:t>成硬件，</a:t>
            </a:r>
            <a:r>
              <a:rPr lang="zh-CN" altLang="en-US" dirty="0">
                <a:latin typeface="+mn-lt"/>
                <a:cs typeface="+mn-ea"/>
                <a:sym typeface="+mn-lt"/>
              </a:rPr>
              <a:t>交付</a:t>
            </a:r>
            <a:r>
              <a:rPr lang="zh-CN" altLang="zh-CN" dirty="0">
                <a:latin typeface="+mn-lt"/>
                <a:cs typeface="+mn-ea"/>
                <a:sym typeface="+mn-lt"/>
              </a:rPr>
              <a:t>更可控</a:t>
            </a:r>
          </a:p>
          <a:p>
            <a:endParaRPr lang="en-US" altLang="zh-CN" dirty="0">
              <a:latin typeface="+mn-lt"/>
              <a:cs typeface="+mn-ea"/>
              <a:sym typeface="+mn-lt"/>
            </a:endParaRPr>
          </a:p>
          <a:p>
            <a:endParaRPr lang="zh-CN" altLang="zh-CN" dirty="0">
              <a:latin typeface="+mn-lt"/>
              <a:cs typeface="+mn-ea"/>
              <a:sym typeface="+mn-lt"/>
            </a:endParaRPr>
          </a:p>
          <a:p>
            <a:endParaRPr lang="en-US" altLang="zh-CN" dirty="0">
              <a:latin typeface="+mn-lt"/>
              <a:cs typeface="+mn-ea"/>
              <a:sym typeface="+mn-lt"/>
            </a:endParaRPr>
          </a:p>
        </p:txBody>
      </p:sp>
      <p:sp>
        <p:nvSpPr>
          <p:cNvPr id="91" name="Rectangle 3">
            <a:extLst>
              <a:ext uri="{FF2B5EF4-FFF2-40B4-BE49-F238E27FC236}">
                <a16:creationId xmlns:a16="http://schemas.microsoft.com/office/drawing/2014/main" id="{341B75F0-F07E-E3EF-11C6-EA414970A8C3}"/>
              </a:ext>
            </a:extLst>
          </p:cNvPr>
          <p:cNvSpPr>
            <a:spLocks noChangeArrowheads="1"/>
          </p:cNvSpPr>
          <p:nvPr/>
        </p:nvSpPr>
        <p:spPr bwMode="auto">
          <a:xfrm>
            <a:off x="8707438" y="3371204"/>
            <a:ext cx="3624263" cy="307975"/>
          </a:xfrm>
          <a:prstGeom prst="rect">
            <a:avLst/>
          </a:prstGeom>
          <a:ln w="6350">
            <a:noFill/>
            <a:miter lim="800000"/>
          </a:ln>
        </p:spPr>
        <p:txBody>
          <a:bodyPr vert="horz" wrap="square" lIns="0" tIns="0" rIns="0" bIns="0" rtlCol="0">
            <a:noAutofit/>
          </a:bodyPr>
          <a:lstStyle/>
          <a:p>
            <a:pPr marL="285750" indent="-285750">
              <a:spcBef>
                <a:spcPts val="300"/>
              </a:spcBef>
              <a:spcAft>
                <a:spcPts val="300"/>
              </a:spcAft>
              <a:buFont typeface="Arial" panose="020B0604020202020204" pitchFamily="34" charset="0"/>
              <a:buChar char="•"/>
            </a:pPr>
            <a:r>
              <a:rPr lang="zh-CN" altLang="en-US" sz="1400" dirty="0">
                <a:solidFill>
                  <a:schemeClr val="accent6">
                    <a:lumMod val="10000"/>
                  </a:schemeClr>
                </a:solidFill>
                <a:cs typeface="+mn-ea"/>
                <a:sym typeface="+mn-lt"/>
              </a:rPr>
              <a:t>产业资本：</a:t>
            </a:r>
            <a:r>
              <a:rPr lang="en-US" altLang="zh-CN" sz="1400" dirty="0">
                <a:solidFill>
                  <a:schemeClr val="accent6">
                    <a:lumMod val="10000"/>
                  </a:schemeClr>
                </a:solidFill>
                <a:cs typeface="+mn-ea"/>
                <a:sym typeface="+mn-lt"/>
              </a:rPr>
              <a:t>Google Ventures</a:t>
            </a:r>
            <a:endParaRPr lang="zh-CN" altLang="zh-CN" sz="1400" dirty="0">
              <a:solidFill>
                <a:schemeClr val="accent6">
                  <a:lumMod val="10000"/>
                </a:schemeClr>
              </a:solidFill>
              <a:cs typeface="+mn-ea"/>
              <a:sym typeface="+mn-lt"/>
            </a:endParaRPr>
          </a:p>
        </p:txBody>
      </p:sp>
      <p:sp>
        <p:nvSpPr>
          <p:cNvPr id="92" name="文本框 91">
            <a:extLst>
              <a:ext uri="{FF2B5EF4-FFF2-40B4-BE49-F238E27FC236}">
                <a16:creationId xmlns:a16="http://schemas.microsoft.com/office/drawing/2014/main" id="{D9E7D85C-02C0-7F73-1270-C01EB70788B2}"/>
              </a:ext>
            </a:extLst>
          </p:cNvPr>
          <p:cNvSpPr txBox="1"/>
          <p:nvPr/>
        </p:nvSpPr>
        <p:spPr>
          <a:xfrm>
            <a:off x="9174163" y="2923330"/>
            <a:ext cx="2428875" cy="307975"/>
          </a:xfrm>
          <a:prstGeom prst="rect">
            <a:avLst/>
          </a:prstGeom>
          <a:noFill/>
        </p:spPr>
        <p:txBody>
          <a:bodyPr wrap="square">
            <a:spAutoFit/>
          </a:bodyPr>
          <a:lstStyle/>
          <a:p>
            <a:r>
              <a:rPr kumimoji="0" lang="zh-CN" altLang="zh-CN" sz="1400" b="0" i="0" u="none" strike="noStrike" cap="none" normalizeH="0" baseline="0" dirty="0">
                <a:ln>
                  <a:noFill/>
                </a:ln>
                <a:solidFill>
                  <a:srgbClr val="000000"/>
                </a:solidFill>
                <a:effectLst/>
                <a:cs typeface="+mn-ea"/>
                <a:sym typeface="+mn-lt"/>
              </a:rPr>
              <a:t>2024</a:t>
            </a:r>
            <a:r>
              <a:rPr lang="en-US" altLang="zh-CN" sz="1400" dirty="0">
                <a:solidFill>
                  <a:srgbClr val="000000"/>
                </a:solidFill>
                <a:cs typeface="+mn-ea"/>
                <a:sym typeface="+mn-lt"/>
              </a:rPr>
              <a:t>.10</a:t>
            </a:r>
            <a:r>
              <a:rPr kumimoji="0" lang="en-US" altLang="zh-CN" sz="1400" b="0" i="0" u="none" strike="noStrike" cap="none" normalizeH="0" baseline="0" dirty="0">
                <a:ln>
                  <a:noFill/>
                </a:ln>
                <a:solidFill>
                  <a:srgbClr val="000000"/>
                </a:solidFill>
                <a:effectLst/>
                <a:cs typeface="+mn-ea"/>
                <a:sym typeface="+mn-lt"/>
              </a:rPr>
              <a:t> D</a:t>
            </a:r>
            <a:r>
              <a:rPr kumimoji="0" lang="zh-CN" altLang="en-US" sz="1400" b="0" i="0" u="none" strike="noStrike" cap="none" normalizeH="0" baseline="0" dirty="0">
                <a:ln>
                  <a:noFill/>
                </a:ln>
                <a:solidFill>
                  <a:srgbClr val="000000"/>
                </a:solidFill>
                <a:effectLst/>
                <a:cs typeface="+mn-ea"/>
                <a:sym typeface="+mn-lt"/>
              </a:rPr>
              <a:t>轮，融资</a:t>
            </a:r>
            <a:r>
              <a:rPr kumimoji="0" lang="en-US" altLang="zh-CN" sz="1400" b="0" i="0" u="none" strike="noStrike" cap="none" normalizeH="0" baseline="0" dirty="0">
                <a:ln>
                  <a:noFill/>
                </a:ln>
                <a:solidFill>
                  <a:srgbClr val="000000"/>
                </a:solidFill>
                <a:effectLst/>
                <a:cs typeface="+mn-ea"/>
                <a:sym typeface="+mn-lt"/>
              </a:rPr>
              <a:t>$4</a:t>
            </a:r>
            <a:r>
              <a:rPr kumimoji="0" lang="zh-CN" altLang="en-US" sz="1400" b="0" i="0" u="none" strike="noStrike" cap="none" normalizeH="0" baseline="0" dirty="0">
                <a:ln>
                  <a:noFill/>
                </a:ln>
                <a:solidFill>
                  <a:srgbClr val="000000"/>
                </a:solidFill>
                <a:effectLst/>
                <a:cs typeface="+mn-ea"/>
                <a:sym typeface="+mn-lt"/>
              </a:rPr>
              <a:t>亿</a:t>
            </a:r>
            <a:endParaRPr lang="zh-CN" altLang="en-US" sz="1400" dirty="0">
              <a:cs typeface="+mn-ea"/>
              <a:sym typeface="+mn-lt"/>
            </a:endParaRPr>
          </a:p>
        </p:txBody>
      </p:sp>
      <p:sp>
        <p:nvSpPr>
          <p:cNvPr id="93" name="文本框 92">
            <a:extLst>
              <a:ext uri="{FF2B5EF4-FFF2-40B4-BE49-F238E27FC236}">
                <a16:creationId xmlns:a16="http://schemas.microsoft.com/office/drawing/2014/main" id="{32A83826-B3F1-624C-0729-DB811B97141E}"/>
              </a:ext>
            </a:extLst>
          </p:cNvPr>
          <p:cNvSpPr txBox="1"/>
          <p:nvPr/>
        </p:nvSpPr>
        <p:spPr>
          <a:xfrm>
            <a:off x="8955088" y="4891980"/>
            <a:ext cx="2787650" cy="307777"/>
          </a:xfrm>
          <a:prstGeom prst="rect">
            <a:avLst/>
          </a:prstGeom>
          <a:noFill/>
        </p:spPr>
        <p:txBody>
          <a:bodyPr wrap="square" rtlCol="0" anchor="ctr">
            <a:spAutoFit/>
          </a:bodyPr>
          <a:lstStyle/>
          <a:p>
            <a:r>
              <a:rPr lang="zh-CN" altLang="zh-CN" sz="1400" dirty="0">
                <a:solidFill>
                  <a:schemeClr val="accent6">
                    <a:lumMod val="10000"/>
                  </a:schemeClr>
                </a:solidFill>
                <a:cs typeface="+mn-ea"/>
                <a:sym typeface="+mn-lt"/>
              </a:rPr>
              <a:t>验证 → 设计导入阶段</a:t>
            </a:r>
          </a:p>
        </p:txBody>
      </p:sp>
      <p:sp>
        <p:nvSpPr>
          <p:cNvPr id="94" name="椭圆 93">
            <a:extLst>
              <a:ext uri="{FF2B5EF4-FFF2-40B4-BE49-F238E27FC236}">
                <a16:creationId xmlns:a16="http://schemas.microsoft.com/office/drawing/2014/main" id="{00469C01-E62F-C7FE-4E90-FCF2BFA040E9}"/>
              </a:ext>
            </a:extLst>
          </p:cNvPr>
          <p:cNvSpPr/>
          <p:nvPr>
            <p:custDataLst>
              <p:tags r:id="rId6"/>
            </p:custDataLst>
          </p:nvPr>
        </p:nvSpPr>
        <p:spPr bwMode="auto">
          <a:xfrm>
            <a:off x="8672513" y="4960938"/>
            <a:ext cx="187325" cy="187325"/>
          </a:xfrm>
          <a:prstGeom prst="ellipse">
            <a:avLst/>
          </a:prstGeom>
          <a:solidFill>
            <a:schemeClr val="bg1"/>
          </a:solidFill>
          <a:ln w="9525" cap="sq" cmpd="sng">
            <a:solidFill>
              <a:srgbClr val="4D4D4D"/>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300"/>
              </a:spcBef>
              <a:spcAft>
                <a:spcPts val="300"/>
              </a:spcAft>
            </a:pPr>
            <a:endParaRPr kumimoji="1" lang="zh-CN" altLang="en-US" sz="1600" dirty="0" err="1">
              <a:solidFill>
                <a:schemeClr val="bg1"/>
              </a:solidFill>
              <a:cs typeface="+mn-ea"/>
              <a:sym typeface="+mn-lt"/>
            </a:endParaRPr>
          </a:p>
        </p:txBody>
      </p:sp>
      <p:sp>
        <p:nvSpPr>
          <p:cNvPr id="95" name="弧 155">
            <a:extLst>
              <a:ext uri="{FF2B5EF4-FFF2-40B4-BE49-F238E27FC236}">
                <a16:creationId xmlns:a16="http://schemas.microsoft.com/office/drawing/2014/main" id="{11EFAFA0-D9C9-C20C-4647-54BA0999893A}"/>
              </a:ext>
            </a:extLst>
          </p:cNvPr>
          <p:cNvSpPr/>
          <p:nvPr>
            <p:custDataLst>
              <p:tags r:id="rId7"/>
            </p:custDataLst>
          </p:nvPr>
        </p:nvSpPr>
        <p:spPr bwMode="gray">
          <a:xfrm>
            <a:off x="8672513" y="4960938"/>
            <a:ext cx="187324" cy="187324"/>
          </a:xfrm>
          <a:prstGeom prst="arc">
            <a:avLst>
              <a:gd name="adj1" fmla="val 16200000"/>
              <a:gd name="adj2" fmla="val 0"/>
            </a:avLst>
          </a:prstGeom>
          <a:solidFill>
            <a:schemeClr val="accent1"/>
          </a:solidFill>
          <a:ln w="9525" cap="flat" cmpd="sng" algn="ctr">
            <a:solidFill>
              <a:srgbClr val="4D4D4D"/>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cs typeface="+mn-ea"/>
              <a:sym typeface="+mn-lt"/>
            </a:endParaRPr>
          </a:p>
        </p:txBody>
      </p:sp>
      <p:sp>
        <p:nvSpPr>
          <p:cNvPr id="97" name="文本框 96">
            <a:extLst>
              <a:ext uri="{FF2B5EF4-FFF2-40B4-BE49-F238E27FC236}">
                <a16:creationId xmlns:a16="http://schemas.microsoft.com/office/drawing/2014/main" id="{ACDA7873-203F-94DB-9669-2A442C0F4343}"/>
              </a:ext>
            </a:extLst>
          </p:cNvPr>
          <p:cNvSpPr txBox="1"/>
          <p:nvPr/>
        </p:nvSpPr>
        <p:spPr>
          <a:xfrm>
            <a:off x="1571625" y="2388822"/>
            <a:ext cx="1327150" cy="307777"/>
          </a:xfrm>
          <a:prstGeom prst="rect">
            <a:avLst/>
          </a:prstGeom>
          <a:noFill/>
        </p:spPr>
        <p:txBody>
          <a:bodyPr wrap="square">
            <a:spAutoFit/>
          </a:bodyPr>
          <a:lstStyle/>
          <a:p>
            <a:r>
              <a:rPr lang="zh-CN" altLang="zh-CN" sz="1400" dirty="0">
                <a:solidFill>
                  <a:srgbClr val="000000"/>
                </a:solidFill>
                <a:cs typeface="+mn-ea"/>
                <a:sym typeface="+mn-lt"/>
              </a:rPr>
              <a:t>TeraPHY芯粒</a:t>
            </a:r>
            <a:endParaRPr lang="zh-CN" altLang="en-US" sz="1400" dirty="0">
              <a:cs typeface="+mn-ea"/>
              <a:sym typeface="+mn-lt"/>
            </a:endParaRPr>
          </a:p>
        </p:txBody>
      </p:sp>
      <p:sp>
        <p:nvSpPr>
          <p:cNvPr id="98" name="文本框 97">
            <a:extLst>
              <a:ext uri="{FF2B5EF4-FFF2-40B4-BE49-F238E27FC236}">
                <a16:creationId xmlns:a16="http://schemas.microsoft.com/office/drawing/2014/main" id="{C5EA0FD5-41DB-BB51-A835-19A4FB8372E4}"/>
              </a:ext>
            </a:extLst>
          </p:cNvPr>
          <p:cNvSpPr txBox="1"/>
          <p:nvPr/>
        </p:nvSpPr>
        <p:spPr>
          <a:xfrm>
            <a:off x="5083175" y="1476692"/>
            <a:ext cx="2660650" cy="353229"/>
          </a:xfrm>
          <a:prstGeom prst="rect">
            <a:avLst/>
          </a:prstGeom>
          <a:ln w="6350">
            <a:noFill/>
            <a:miter lim="800000"/>
          </a:ln>
        </p:spPr>
        <p:txBody>
          <a:bodyPr vert="horz" wrap="square" lIns="0" tIns="0" rIns="0" bIns="0" rtlCol="0">
            <a:noAutofit/>
          </a:bodyPr>
          <a:lstStyle>
            <a:defPPr>
              <a:defRPr lang="zh-CN"/>
            </a:defPPr>
            <a:lvl1pPr>
              <a:spcBef>
                <a:spcPts val="300"/>
              </a:spcBef>
              <a:spcAft>
                <a:spcPts val="300"/>
              </a:spcAft>
              <a:defRPr sz="1400">
                <a:solidFill>
                  <a:schemeClr val="accent6">
                    <a:lumMod val="10000"/>
                  </a:schemeClr>
                </a:solidFill>
              </a:defRPr>
            </a:lvl1pPr>
          </a:lstStyle>
          <a:p>
            <a:r>
              <a:rPr lang="en-US" altLang="zh-CN" dirty="0">
                <a:cs typeface="+mn-ea"/>
                <a:sym typeface="+mn-lt"/>
              </a:rPr>
              <a:t>S</a:t>
            </a:r>
            <a:r>
              <a:rPr lang="zh-CN" altLang="zh-CN" dirty="0">
                <a:cs typeface="+mn-ea"/>
                <a:sym typeface="+mn-lt"/>
              </a:rPr>
              <a:t>cale</a:t>
            </a:r>
            <a:r>
              <a:rPr lang="en-US" altLang="zh-CN" dirty="0">
                <a:cs typeface="+mn-ea"/>
                <a:sym typeface="+mn-lt"/>
              </a:rPr>
              <a:t> U</a:t>
            </a:r>
            <a:r>
              <a:rPr lang="zh-CN" altLang="zh-CN" dirty="0">
                <a:cs typeface="+mn-ea"/>
                <a:sym typeface="+mn-lt"/>
              </a:rPr>
              <a:t>p光学</a:t>
            </a:r>
            <a:r>
              <a:rPr lang="zh-CN" altLang="zh-CN" u="sng" dirty="0">
                <a:cs typeface="+mn-ea"/>
                <a:sym typeface="+mn-lt"/>
              </a:rPr>
              <a:t>全栈</a:t>
            </a:r>
            <a:r>
              <a:rPr lang="zh-CN" altLang="en-US" dirty="0">
                <a:cs typeface="+mn-ea"/>
                <a:sym typeface="+mn-lt"/>
              </a:rPr>
              <a:t>供应</a:t>
            </a:r>
            <a:endParaRPr lang="zh-CN" altLang="zh-CN" dirty="0">
              <a:cs typeface="+mn-ea"/>
              <a:sym typeface="+mn-lt"/>
            </a:endParaRPr>
          </a:p>
        </p:txBody>
      </p:sp>
      <p:sp>
        <p:nvSpPr>
          <p:cNvPr id="100" name="文本框 99">
            <a:extLst>
              <a:ext uri="{FF2B5EF4-FFF2-40B4-BE49-F238E27FC236}">
                <a16:creationId xmlns:a16="http://schemas.microsoft.com/office/drawing/2014/main" id="{422046B8-56DB-B1DE-F63D-EB7DDBE0B18D}"/>
              </a:ext>
            </a:extLst>
          </p:cNvPr>
          <p:cNvSpPr txBox="1"/>
          <p:nvPr/>
        </p:nvSpPr>
        <p:spPr>
          <a:xfrm>
            <a:off x="5843588" y="1803591"/>
            <a:ext cx="3019425" cy="605285"/>
          </a:xfrm>
          <a:prstGeom prst="rect">
            <a:avLst/>
          </a:prstGeom>
          <a:ln w="6350">
            <a:noFill/>
            <a:miter lim="800000"/>
          </a:ln>
        </p:spPr>
        <p:txBody>
          <a:bodyPr vert="horz" wrap="square" lIns="0" tIns="0" rIns="0" bIns="0" rtlCol="0">
            <a:noAutofit/>
          </a:bodyPr>
          <a:lstStyle/>
          <a:p>
            <a:pPr marL="182563" indent="-182563">
              <a:spcBef>
                <a:spcPts val="300"/>
              </a:spcBef>
              <a:spcAft>
                <a:spcPts val="300"/>
              </a:spcAft>
              <a:buFont typeface="Arial" panose="020B0604020202020204" pitchFamily="34" charset="0"/>
              <a:buChar char="•"/>
            </a:pPr>
            <a:r>
              <a:rPr lang="zh-CN" altLang="en-US" sz="1400" dirty="0">
                <a:solidFill>
                  <a:schemeClr val="accent6">
                    <a:lumMod val="10000"/>
                  </a:schemeClr>
                </a:solidFill>
                <a:cs typeface="+mn-ea"/>
                <a:sym typeface="+mn-lt"/>
              </a:rPr>
              <a:t>卡间：</a:t>
            </a:r>
            <a:r>
              <a:rPr lang="zh-CN" altLang="zh-CN" sz="1400" dirty="0">
                <a:solidFill>
                  <a:schemeClr val="accent6">
                    <a:lumMod val="10000"/>
                  </a:schemeClr>
                </a:solidFill>
                <a:cs typeface="+mn-ea"/>
                <a:sym typeface="+mn-lt"/>
              </a:rPr>
              <a:t>PFLink</a:t>
            </a:r>
            <a:r>
              <a:rPr lang="zh-CN" altLang="en-US" sz="1400" dirty="0">
                <a:solidFill>
                  <a:schemeClr val="accent6">
                    <a:lumMod val="10000"/>
                  </a:schemeClr>
                </a:solidFill>
                <a:cs typeface="+mn-ea"/>
                <a:sym typeface="+mn-lt"/>
              </a:rPr>
              <a:t>，</a:t>
            </a:r>
            <a:r>
              <a:rPr lang="zh-CN" altLang="zh-CN" sz="1400" dirty="0">
                <a:solidFill>
                  <a:schemeClr val="accent6">
                    <a:lumMod val="10000"/>
                  </a:schemeClr>
                </a:solidFill>
                <a:cs typeface="+mn-ea"/>
                <a:sym typeface="+mn-lt"/>
              </a:rPr>
              <a:t>14.4 Tbps</a:t>
            </a:r>
            <a:r>
              <a:rPr lang="en-US" altLang="zh-CN" sz="1400" dirty="0">
                <a:solidFill>
                  <a:schemeClr val="accent6">
                    <a:lumMod val="10000"/>
                  </a:schemeClr>
                </a:solidFill>
                <a:cs typeface="+mn-ea"/>
                <a:sym typeface="+mn-lt"/>
              </a:rPr>
              <a:t>/die</a:t>
            </a:r>
          </a:p>
          <a:p>
            <a:pPr marL="182563" indent="-182563">
              <a:spcBef>
                <a:spcPts val="300"/>
              </a:spcBef>
              <a:spcAft>
                <a:spcPts val="300"/>
              </a:spcAft>
              <a:buFont typeface="Arial" panose="020B0604020202020204" pitchFamily="34" charset="0"/>
              <a:buChar char="•"/>
            </a:pPr>
            <a:r>
              <a:rPr lang="zh-CN" altLang="en-US" sz="1400" dirty="0">
                <a:solidFill>
                  <a:schemeClr val="accent6">
                    <a:lumMod val="10000"/>
                  </a:schemeClr>
                </a:solidFill>
                <a:cs typeface="+mn-ea"/>
                <a:sym typeface="+mn-lt"/>
              </a:rPr>
              <a:t>交换机：</a:t>
            </a:r>
            <a:r>
              <a:rPr lang="zh-CN" altLang="zh-CN" sz="1400" dirty="0">
                <a:solidFill>
                  <a:schemeClr val="accent6">
                    <a:lumMod val="10000"/>
                  </a:schemeClr>
                </a:solidFill>
                <a:cs typeface="+mn-ea"/>
                <a:sym typeface="+mn-lt"/>
              </a:rPr>
              <a:t>PFSwitch</a:t>
            </a:r>
          </a:p>
        </p:txBody>
      </p:sp>
      <p:sp>
        <p:nvSpPr>
          <p:cNvPr id="101" name="文本框 100">
            <a:extLst>
              <a:ext uri="{FF2B5EF4-FFF2-40B4-BE49-F238E27FC236}">
                <a16:creationId xmlns:a16="http://schemas.microsoft.com/office/drawing/2014/main" id="{91531831-1D5B-F3AC-F72A-89CB663AF497}"/>
              </a:ext>
            </a:extLst>
          </p:cNvPr>
          <p:cNvSpPr txBox="1"/>
          <p:nvPr/>
        </p:nvSpPr>
        <p:spPr>
          <a:xfrm>
            <a:off x="4979988" y="2378171"/>
            <a:ext cx="1900238" cy="307777"/>
          </a:xfrm>
          <a:prstGeom prst="rect">
            <a:avLst/>
          </a:prstGeom>
          <a:noFill/>
        </p:spPr>
        <p:txBody>
          <a:bodyPr wrap="square">
            <a:spAutoFit/>
          </a:bodyPr>
          <a:lstStyle/>
          <a:p>
            <a:r>
              <a:rPr lang="en-US" altLang="zh-CN" sz="1400" dirty="0">
                <a:solidFill>
                  <a:srgbClr val="000000"/>
                </a:solidFill>
                <a:cs typeface="+mn-ea"/>
                <a:sym typeface="+mn-lt"/>
              </a:rPr>
              <a:t>Photonic Fabric</a:t>
            </a:r>
            <a:r>
              <a:rPr lang="zh-CN" altLang="en-US" sz="1400" dirty="0">
                <a:solidFill>
                  <a:srgbClr val="000000"/>
                </a:solidFill>
                <a:cs typeface="+mn-ea"/>
                <a:sym typeface="+mn-lt"/>
              </a:rPr>
              <a:t>方案</a:t>
            </a:r>
          </a:p>
        </p:txBody>
      </p:sp>
      <p:sp>
        <p:nvSpPr>
          <p:cNvPr id="102" name="文本框 101">
            <a:extLst>
              <a:ext uri="{FF2B5EF4-FFF2-40B4-BE49-F238E27FC236}">
                <a16:creationId xmlns:a16="http://schemas.microsoft.com/office/drawing/2014/main" id="{4556073A-01C0-DBC5-8B89-C9D4C5946C33}"/>
              </a:ext>
            </a:extLst>
          </p:cNvPr>
          <p:cNvSpPr txBox="1"/>
          <p:nvPr/>
        </p:nvSpPr>
        <p:spPr>
          <a:xfrm>
            <a:off x="8636000" y="1475715"/>
            <a:ext cx="2376488" cy="353229"/>
          </a:xfrm>
          <a:prstGeom prst="rect">
            <a:avLst/>
          </a:prstGeom>
          <a:ln w="6350">
            <a:noFill/>
            <a:miter lim="800000"/>
          </a:ln>
        </p:spPr>
        <p:txBody>
          <a:bodyPr vert="horz" wrap="square" lIns="0" tIns="0" rIns="0" bIns="0" rtlCol="0">
            <a:noAutofit/>
          </a:bodyPr>
          <a:lstStyle/>
          <a:p>
            <a:pPr>
              <a:spcBef>
                <a:spcPts val="300"/>
              </a:spcBef>
              <a:spcAft>
                <a:spcPts val="300"/>
              </a:spcAft>
            </a:pPr>
            <a:r>
              <a:rPr lang="en-US" altLang="zh-CN" sz="1400" dirty="0">
                <a:solidFill>
                  <a:schemeClr val="accent6">
                    <a:lumMod val="10000"/>
                  </a:schemeClr>
                </a:solidFill>
                <a:cs typeface="+mn-ea"/>
                <a:sym typeface="+mn-lt"/>
              </a:rPr>
              <a:t>CPO/OIO </a:t>
            </a:r>
            <a:r>
              <a:rPr lang="zh-CN" altLang="en-US" sz="1400" u="sng" dirty="0">
                <a:solidFill>
                  <a:schemeClr val="accent6">
                    <a:lumMod val="10000"/>
                  </a:schemeClr>
                </a:solidFill>
                <a:cs typeface="+mn-ea"/>
                <a:sym typeface="+mn-lt"/>
              </a:rPr>
              <a:t>连接层</a:t>
            </a:r>
            <a:r>
              <a:rPr lang="zh-CN" altLang="en-US" sz="1400" dirty="0">
                <a:solidFill>
                  <a:schemeClr val="accent6">
                    <a:lumMod val="10000"/>
                  </a:schemeClr>
                </a:solidFill>
                <a:cs typeface="+mn-ea"/>
                <a:sym typeface="+mn-lt"/>
              </a:rPr>
              <a:t>光学硬件</a:t>
            </a:r>
            <a:endParaRPr kumimoji="1" lang="en-US" altLang="zh-CN" sz="1400" dirty="0">
              <a:solidFill>
                <a:schemeClr val="accent6">
                  <a:lumMod val="10000"/>
                </a:schemeClr>
              </a:solidFill>
              <a:cs typeface="+mn-ea"/>
              <a:sym typeface="+mn-lt"/>
            </a:endParaRPr>
          </a:p>
        </p:txBody>
      </p:sp>
      <p:sp>
        <p:nvSpPr>
          <p:cNvPr id="105" name="文本框 104">
            <a:extLst>
              <a:ext uri="{FF2B5EF4-FFF2-40B4-BE49-F238E27FC236}">
                <a16:creationId xmlns:a16="http://schemas.microsoft.com/office/drawing/2014/main" id="{562BAB08-826A-EB9F-5F5B-D2AA9A949795}"/>
              </a:ext>
            </a:extLst>
          </p:cNvPr>
          <p:cNvSpPr txBox="1"/>
          <p:nvPr/>
        </p:nvSpPr>
        <p:spPr>
          <a:xfrm>
            <a:off x="8564563" y="2405772"/>
            <a:ext cx="1546225" cy="307777"/>
          </a:xfrm>
          <a:prstGeom prst="rect">
            <a:avLst/>
          </a:prstGeom>
          <a:noFill/>
        </p:spPr>
        <p:txBody>
          <a:bodyPr wrap="square">
            <a:spAutoFit/>
          </a:bodyPr>
          <a:lstStyle/>
          <a:p>
            <a:r>
              <a:rPr lang="en-US" altLang="zh-CN" sz="1400" dirty="0">
                <a:solidFill>
                  <a:srgbClr val="000000"/>
                </a:solidFill>
                <a:cs typeface="+mn-ea"/>
                <a:sym typeface="+mn-lt"/>
              </a:rPr>
              <a:t>Passage</a:t>
            </a:r>
            <a:r>
              <a:rPr lang="zh-CN" altLang="en-US" sz="1400" dirty="0">
                <a:solidFill>
                  <a:srgbClr val="000000"/>
                </a:solidFill>
                <a:cs typeface="+mn-ea"/>
                <a:sym typeface="+mn-lt"/>
              </a:rPr>
              <a:t>系列</a:t>
            </a:r>
            <a:endParaRPr lang="zh-CN" altLang="en-US" sz="1400" dirty="0">
              <a:cs typeface="+mn-ea"/>
              <a:sym typeface="+mn-lt"/>
            </a:endParaRPr>
          </a:p>
        </p:txBody>
      </p:sp>
      <p:pic>
        <p:nvPicPr>
          <p:cNvPr id="108" name="图片 107" descr="图形用户界面&#10;&#10;AI 生成的内容可能不正确。">
            <a:extLst>
              <a:ext uri="{FF2B5EF4-FFF2-40B4-BE49-F238E27FC236}">
                <a16:creationId xmlns:a16="http://schemas.microsoft.com/office/drawing/2014/main" id="{7CE49E3B-AA16-B54A-2488-5DA1BC02F005}"/>
              </a:ext>
            </a:extLst>
          </p:cNvPr>
          <p:cNvPicPr>
            <a:picLocks noChangeAspect="1"/>
          </p:cNvPicPr>
          <p:nvPr/>
        </p:nvPicPr>
        <p:blipFill>
          <a:blip r:embed="rId16" cstate="print">
            <a:extLst>
              <a:ext uri="{28A0092B-C50C-407E-A947-70E740481C1C}">
                <a14:useLocalDpi xmlns:a14="http://schemas.microsoft.com/office/drawing/2010/main" val="0"/>
              </a:ext>
            </a:extLst>
          </a:blip>
          <a:srcRect l="5258" t="26750" r="64977" b="23516"/>
          <a:stretch/>
        </p:blipFill>
        <p:spPr>
          <a:xfrm>
            <a:off x="5153025" y="1813667"/>
            <a:ext cx="561975" cy="504264"/>
          </a:xfrm>
          <a:prstGeom prst="rect">
            <a:avLst/>
          </a:prstGeom>
        </p:spPr>
      </p:pic>
      <p:grpSp>
        <p:nvGrpSpPr>
          <p:cNvPr id="111" name="组合 110">
            <a:extLst>
              <a:ext uri="{FF2B5EF4-FFF2-40B4-BE49-F238E27FC236}">
                <a16:creationId xmlns:a16="http://schemas.microsoft.com/office/drawing/2014/main" id="{D0317A9C-D233-0ECC-6C89-C86D1FC398AB}"/>
              </a:ext>
            </a:extLst>
          </p:cNvPr>
          <p:cNvGrpSpPr/>
          <p:nvPr/>
        </p:nvGrpSpPr>
        <p:grpSpPr>
          <a:xfrm>
            <a:off x="4649788" y="2893021"/>
            <a:ext cx="1327150" cy="360000"/>
            <a:chOff x="1356662" y="2963740"/>
            <a:chExt cx="1327328" cy="360000"/>
          </a:xfrm>
        </p:grpSpPr>
        <p:sp>
          <p:nvSpPr>
            <p:cNvPr id="112" name="椭圆 111">
              <a:extLst>
                <a:ext uri="{FF2B5EF4-FFF2-40B4-BE49-F238E27FC236}">
                  <a16:creationId xmlns:a16="http://schemas.microsoft.com/office/drawing/2014/main" id="{140F0C6F-6001-D662-0F30-93376921F213}"/>
                </a:ext>
              </a:extLst>
            </p:cNvPr>
            <p:cNvSpPr/>
            <p:nvPr/>
          </p:nvSpPr>
          <p:spPr>
            <a:xfrm>
              <a:off x="1840326" y="2963740"/>
              <a:ext cx="360000" cy="360000"/>
            </a:xfrm>
            <a:prstGeom prst="ellipse">
              <a:avLst/>
            </a:prstGeom>
            <a:solidFill>
              <a:srgbClr val="0052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00" dirty="0">
                <a:cs typeface="+mn-ea"/>
                <a:sym typeface="+mn-lt"/>
              </a:endParaRPr>
            </a:p>
          </p:txBody>
        </p:sp>
        <p:sp>
          <p:nvSpPr>
            <p:cNvPr id="113" name="文本框 112">
              <a:extLst>
                <a:ext uri="{FF2B5EF4-FFF2-40B4-BE49-F238E27FC236}">
                  <a16:creationId xmlns:a16="http://schemas.microsoft.com/office/drawing/2014/main" id="{EDFA2CFF-A692-CB23-28AD-ED488BB305F4}"/>
                </a:ext>
              </a:extLst>
            </p:cNvPr>
            <p:cNvSpPr txBox="1"/>
            <p:nvPr/>
          </p:nvSpPr>
          <p:spPr>
            <a:xfrm>
              <a:off x="1356662" y="3003174"/>
              <a:ext cx="1327328" cy="276999"/>
            </a:xfrm>
            <a:prstGeom prst="rect">
              <a:avLst/>
            </a:prstGeom>
            <a:noFill/>
          </p:spPr>
          <p:txBody>
            <a:bodyPr wrap="square">
              <a:spAutoFit/>
            </a:bodyPr>
            <a:lstStyle/>
            <a:p>
              <a:pPr algn="ctr"/>
              <a:r>
                <a:rPr lang="en-US" altLang="zh-CN" sz="1200" b="1" dirty="0">
                  <a:solidFill>
                    <a:schemeClr val="bg1"/>
                  </a:solidFill>
                  <a:cs typeface="+mn-ea"/>
                  <a:sym typeface="+mn-lt"/>
                </a:rPr>
                <a:t>2.5B</a:t>
              </a:r>
              <a:endParaRPr lang="zh-CN" altLang="en-US" sz="1200" b="1" dirty="0">
                <a:solidFill>
                  <a:schemeClr val="bg1"/>
                </a:solidFill>
                <a:cs typeface="+mn-ea"/>
                <a:sym typeface="+mn-lt"/>
              </a:endParaRPr>
            </a:p>
          </p:txBody>
        </p:sp>
      </p:grpSp>
      <p:grpSp>
        <p:nvGrpSpPr>
          <p:cNvPr id="123" name="组合 122">
            <a:extLst>
              <a:ext uri="{FF2B5EF4-FFF2-40B4-BE49-F238E27FC236}">
                <a16:creationId xmlns:a16="http://schemas.microsoft.com/office/drawing/2014/main" id="{ECE36DD8-20E0-8AFB-2FF8-5AE5493152DF}"/>
              </a:ext>
            </a:extLst>
          </p:cNvPr>
          <p:cNvGrpSpPr/>
          <p:nvPr/>
        </p:nvGrpSpPr>
        <p:grpSpPr>
          <a:xfrm>
            <a:off x="8215313" y="2839904"/>
            <a:ext cx="1327150" cy="475200"/>
            <a:chOff x="1351662" y="2960791"/>
            <a:chExt cx="1327328" cy="475200"/>
          </a:xfrm>
        </p:grpSpPr>
        <p:sp>
          <p:nvSpPr>
            <p:cNvPr id="124" name="椭圆 123">
              <a:extLst>
                <a:ext uri="{FF2B5EF4-FFF2-40B4-BE49-F238E27FC236}">
                  <a16:creationId xmlns:a16="http://schemas.microsoft.com/office/drawing/2014/main" id="{F81E82B5-4E56-D670-69BD-78A21C96D3F0}"/>
                </a:ext>
              </a:extLst>
            </p:cNvPr>
            <p:cNvSpPr/>
            <p:nvPr/>
          </p:nvSpPr>
          <p:spPr>
            <a:xfrm>
              <a:off x="1777726" y="2960791"/>
              <a:ext cx="475200" cy="475200"/>
            </a:xfrm>
            <a:prstGeom prst="ellipse">
              <a:avLst/>
            </a:prstGeom>
            <a:solidFill>
              <a:srgbClr val="0052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00" dirty="0">
                <a:cs typeface="+mn-ea"/>
                <a:sym typeface="+mn-lt"/>
              </a:endParaRPr>
            </a:p>
          </p:txBody>
        </p:sp>
        <p:sp>
          <p:nvSpPr>
            <p:cNvPr id="125" name="文本框 124">
              <a:extLst>
                <a:ext uri="{FF2B5EF4-FFF2-40B4-BE49-F238E27FC236}">
                  <a16:creationId xmlns:a16="http://schemas.microsoft.com/office/drawing/2014/main" id="{8EB4E003-929A-2EFF-2140-D552D89CE73D}"/>
                </a:ext>
              </a:extLst>
            </p:cNvPr>
            <p:cNvSpPr txBox="1"/>
            <p:nvPr/>
          </p:nvSpPr>
          <p:spPr>
            <a:xfrm>
              <a:off x="1351662" y="3053340"/>
              <a:ext cx="1327328" cy="276999"/>
            </a:xfrm>
            <a:prstGeom prst="rect">
              <a:avLst/>
            </a:prstGeom>
            <a:noFill/>
          </p:spPr>
          <p:txBody>
            <a:bodyPr wrap="square">
              <a:spAutoFit/>
            </a:bodyPr>
            <a:lstStyle/>
            <a:p>
              <a:pPr algn="ctr"/>
              <a:r>
                <a:rPr lang="en-US" altLang="zh-CN" sz="1200" b="1" dirty="0">
                  <a:solidFill>
                    <a:schemeClr val="bg1"/>
                  </a:solidFill>
                  <a:cs typeface="+mn-ea"/>
                  <a:sym typeface="+mn-lt"/>
                </a:rPr>
                <a:t>4.4B</a:t>
              </a:r>
              <a:endParaRPr lang="zh-CN" altLang="en-US" sz="1200" b="1" dirty="0">
                <a:solidFill>
                  <a:schemeClr val="bg1"/>
                </a:solidFill>
                <a:cs typeface="+mn-ea"/>
                <a:sym typeface="+mn-lt"/>
              </a:endParaRPr>
            </a:p>
          </p:txBody>
        </p:sp>
      </p:grpSp>
      <p:pic>
        <p:nvPicPr>
          <p:cNvPr id="6163" name="Picture 19">
            <a:extLst>
              <a:ext uri="{FF2B5EF4-FFF2-40B4-BE49-F238E27FC236}">
                <a16:creationId xmlns:a16="http://schemas.microsoft.com/office/drawing/2014/main" id="{AE74D20E-4E5D-CEA7-1F06-A5BC86F90EE7}"/>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707438" y="1782164"/>
            <a:ext cx="509588" cy="614503"/>
          </a:xfrm>
          <a:prstGeom prst="rect">
            <a:avLst/>
          </a:prstGeom>
          <a:noFill/>
          <a:extLst>
            <a:ext uri="{909E8E84-426E-40DD-AFC4-6F175D3DCCD1}">
              <a14:hiddenFill xmlns:a14="http://schemas.microsoft.com/office/drawing/2010/main">
                <a:solidFill>
                  <a:srgbClr val="FFFFFF"/>
                </a:solidFill>
              </a14:hiddenFill>
            </a:ext>
          </a:extLst>
        </p:spPr>
      </p:pic>
      <p:pic>
        <p:nvPicPr>
          <p:cNvPr id="6165" name="Picture 21">
            <a:extLst>
              <a:ext uri="{FF2B5EF4-FFF2-40B4-BE49-F238E27FC236}">
                <a16:creationId xmlns:a16="http://schemas.microsoft.com/office/drawing/2014/main" id="{0109CB79-72CC-E638-67C3-318EF815C94F}"/>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9388475" y="1851597"/>
            <a:ext cx="593725" cy="506353"/>
          </a:xfrm>
          <a:prstGeom prst="rect">
            <a:avLst/>
          </a:prstGeom>
          <a:noFill/>
          <a:extLst>
            <a:ext uri="{909E8E84-426E-40DD-AFC4-6F175D3DCCD1}">
              <a14:hiddenFill xmlns:a14="http://schemas.microsoft.com/office/drawing/2010/main">
                <a:solidFill>
                  <a:srgbClr val="FFFFFF"/>
                </a:solidFill>
              </a14:hiddenFill>
            </a:ext>
          </a:extLst>
        </p:spPr>
      </p:pic>
      <p:sp>
        <p:nvSpPr>
          <p:cNvPr id="6150" name="Rectangle 23">
            <a:extLst>
              <a:ext uri="{FF2B5EF4-FFF2-40B4-BE49-F238E27FC236}">
                <a16:creationId xmlns:a16="http://schemas.microsoft.com/office/drawing/2014/main" id="{64885C04-A843-E56C-F1A9-6074FEF32452}"/>
              </a:ext>
            </a:extLst>
          </p:cNvPr>
          <p:cNvSpPr>
            <a:spLocks noChangeArrowheads="1"/>
          </p:cNvSpPr>
          <p:nvPr/>
        </p:nvSpPr>
        <p:spPr bwMode="auto">
          <a:xfrm>
            <a:off x="10153650" y="1812402"/>
            <a:ext cx="1627188" cy="340087"/>
          </a:xfrm>
          <a:prstGeom prst="rect">
            <a:avLst/>
          </a:prstGeom>
          <a:ln w="6350">
            <a:noFill/>
            <a:miter lim="800000"/>
          </a:ln>
        </p:spPr>
        <p:txBody>
          <a:bodyPr vert="horz" wrap="square" lIns="0" tIns="0" rIns="0" bIns="0" rtlCol="0">
            <a:noAutofit/>
          </a:bodyPr>
          <a:lstStyle/>
          <a:p>
            <a:pPr marL="182563" indent="-182563">
              <a:spcBef>
                <a:spcPts val="300"/>
              </a:spcBef>
              <a:spcAft>
                <a:spcPts val="300"/>
              </a:spcAft>
              <a:buFont typeface="Arial" panose="020B0604020202020204" pitchFamily="34" charset="0"/>
              <a:buChar char="•"/>
            </a:pPr>
            <a:r>
              <a:rPr lang="zh-CN" altLang="zh-CN" sz="1400" dirty="0">
                <a:solidFill>
                  <a:schemeClr val="accent6">
                    <a:lumMod val="10000"/>
                  </a:schemeClr>
                </a:solidFill>
                <a:cs typeface="+mn-ea"/>
                <a:sym typeface="+mn-lt"/>
              </a:rPr>
              <a:t>可采购的中介层</a:t>
            </a:r>
            <a:endParaRPr lang="en-US" altLang="zh-CN" sz="1400" dirty="0">
              <a:solidFill>
                <a:schemeClr val="accent6">
                  <a:lumMod val="10000"/>
                </a:schemeClr>
              </a:solidFill>
              <a:cs typeface="+mn-ea"/>
              <a:sym typeface="+mn-lt"/>
            </a:endParaRPr>
          </a:p>
          <a:p>
            <a:pPr marL="182563" indent="-182563">
              <a:spcBef>
                <a:spcPts val="300"/>
              </a:spcBef>
              <a:spcAft>
                <a:spcPts val="300"/>
              </a:spcAft>
              <a:buFont typeface="Arial" panose="020B0604020202020204" pitchFamily="34" charset="0"/>
              <a:buChar char="•"/>
            </a:pPr>
            <a:r>
              <a:rPr lang="zh-CN" altLang="zh-CN" sz="1400" dirty="0">
                <a:solidFill>
                  <a:schemeClr val="accent6">
                    <a:lumMod val="10000"/>
                  </a:schemeClr>
                </a:solidFill>
                <a:cs typeface="+mn-ea"/>
                <a:sym typeface="+mn-lt"/>
              </a:rPr>
              <a:t>自有硅光芯片 + 模块级封装方案</a:t>
            </a:r>
          </a:p>
          <a:p>
            <a:pPr marL="182563" indent="-182563">
              <a:spcBef>
                <a:spcPts val="300"/>
              </a:spcBef>
              <a:spcAft>
                <a:spcPts val="300"/>
              </a:spcAft>
              <a:buFont typeface="Arial" panose="020B0604020202020204" pitchFamily="34" charset="0"/>
              <a:buChar char="•"/>
            </a:pPr>
            <a:endParaRPr lang="en-US" altLang="zh-CN" sz="1400" dirty="0">
              <a:solidFill>
                <a:schemeClr val="accent6">
                  <a:lumMod val="10000"/>
                </a:schemeClr>
              </a:solidFill>
              <a:cs typeface="+mn-ea"/>
              <a:sym typeface="+mn-lt"/>
            </a:endParaRPr>
          </a:p>
          <a:p>
            <a:pPr marL="182563" indent="-182563">
              <a:spcBef>
                <a:spcPts val="300"/>
              </a:spcBef>
              <a:spcAft>
                <a:spcPts val="300"/>
              </a:spcAft>
              <a:buFont typeface="Arial" panose="020B0604020202020204" pitchFamily="34" charset="0"/>
              <a:buChar char="•"/>
            </a:pPr>
            <a:endParaRPr lang="zh-CN" altLang="zh-CN" sz="1400" dirty="0">
              <a:solidFill>
                <a:schemeClr val="accent6">
                  <a:lumMod val="10000"/>
                </a:schemeClr>
              </a:solidFill>
              <a:cs typeface="+mn-ea"/>
              <a:sym typeface="+mn-lt"/>
            </a:endParaRPr>
          </a:p>
        </p:txBody>
      </p:sp>
      <p:sp>
        <p:nvSpPr>
          <p:cNvPr id="6153" name="标题 1">
            <a:extLst>
              <a:ext uri="{FF2B5EF4-FFF2-40B4-BE49-F238E27FC236}">
                <a16:creationId xmlns:a16="http://schemas.microsoft.com/office/drawing/2014/main" id="{BC0FB846-1F99-DC19-E265-2614538284BB}"/>
              </a:ext>
            </a:extLst>
          </p:cNvPr>
          <p:cNvSpPr txBox="1">
            <a:spLocks/>
          </p:cNvSpPr>
          <p:nvPr/>
        </p:nvSpPr>
        <p:spPr>
          <a:xfrm>
            <a:off x="158750" y="172212"/>
            <a:ext cx="9677146" cy="731520"/>
          </a:xfrm>
          <a:prstGeom prst="rect">
            <a:avLst/>
          </a:prstGeom>
        </p:spPr>
        <p:txBody>
          <a:bodyPr vert="horz" wrap="square" lIns="0" tIns="0" rIns="0" bIns="0" rtlCol="0" anchor="ctr" anchorCtr="0">
            <a:noAutofit/>
          </a:bodyPr>
          <a:lstStyle>
            <a:lvl1pPr algn="l" defTabSz="914400" rtl="0" eaLnBrk="1" latinLnBrk="0" hangingPunct="1">
              <a:lnSpc>
                <a:spcPct val="100000"/>
              </a:lnSpc>
              <a:spcBef>
                <a:spcPct val="1"/>
              </a:spcBef>
              <a:buNone/>
              <a:defRPr lang="en-US" sz="2500" b="0" kern="1200" spc="0" baseline="0" dirty="0">
                <a:ln w="6350" cap="flat">
                  <a:noFill/>
                  <a:miter lim="800000"/>
                </a:ln>
                <a:solidFill>
                  <a:schemeClr val="tx1"/>
                </a:solidFill>
                <a:latin typeface="+mj-lt"/>
                <a:ea typeface="+mj-ea"/>
                <a:cs typeface="+mj-cs"/>
                <a:sym typeface="微软雅黑" panose="020B0503020204020204" pitchFamily="34" charset="-122"/>
              </a:defRPr>
            </a:lvl1pPr>
          </a:lstStyle>
          <a:p>
            <a:r>
              <a:rPr lang="en-US" altLang="zh-CN" dirty="0">
                <a:latin typeface="+mn-lt"/>
                <a:ea typeface="+mn-ea"/>
                <a:cs typeface="+mn-ea"/>
                <a:sym typeface="+mn-lt"/>
              </a:rPr>
              <a:t>CPO</a:t>
            </a:r>
            <a:r>
              <a:rPr lang="zh-CN" altLang="en-US" dirty="0">
                <a:latin typeface="+mn-lt"/>
                <a:ea typeface="+mn-ea"/>
                <a:cs typeface="+mn-ea"/>
                <a:sym typeface="+mn-lt"/>
              </a:rPr>
              <a:t>核心初创对比：</a:t>
            </a:r>
            <a:r>
              <a:rPr lang="en-US" altLang="zh-CN" dirty="0" err="1">
                <a:latin typeface="+mn-lt"/>
                <a:ea typeface="+mn-ea"/>
                <a:cs typeface="+mn-ea"/>
                <a:sym typeface="+mn-lt"/>
              </a:rPr>
              <a:t>AyarLabs</a:t>
            </a:r>
            <a:r>
              <a:rPr lang="zh-CN" altLang="en-US" dirty="0">
                <a:latin typeface="+mn-lt"/>
                <a:ea typeface="+mn-ea"/>
                <a:cs typeface="+mn-ea"/>
                <a:sym typeface="+mn-lt"/>
              </a:rPr>
              <a:t>、</a:t>
            </a:r>
            <a:r>
              <a:rPr lang="en-US" altLang="zh-CN" dirty="0" err="1">
                <a:latin typeface="+mn-lt"/>
                <a:ea typeface="+mn-ea"/>
                <a:cs typeface="+mn-ea"/>
                <a:sym typeface="+mn-lt"/>
              </a:rPr>
              <a:t>Lightmatter</a:t>
            </a:r>
            <a:r>
              <a:rPr lang="zh-CN" altLang="en-US" dirty="0">
                <a:latin typeface="+mn-lt"/>
                <a:ea typeface="+mn-ea"/>
                <a:cs typeface="+mn-ea"/>
                <a:sym typeface="+mn-lt"/>
              </a:rPr>
              <a:t>、</a:t>
            </a:r>
            <a:r>
              <a:rPr lang="en-US" altLang="zh-CN" dirty="0">
                <a:latin typeface="+mn-lt"/>
                <a:ea typeface="+mn-ea"/>
                <a:cs typeface="+mn-ea"/>
                <a:sym typeface="+mn-lt"/>
              </a:rPr>
              <a:t>Celestial</a:t>
            </a:r>
            <a:endParaRPr lang="zh-CN" altLang="en-US" dirty="0">
              <a:latin typeface="+mn-lt"/>
              <a:ea typeface="+mn-ea"/>
              <a:cs typeface="+mn-ea"/>
              <a:sym typeface="+mn-lt"/>
            </a:endParaRPr>
          </a:p>
        </p:txBody>
      </p:sp>
    </p:spTree>
    <p:extLst>
      <p:ext uri="{BB962C8B-B14F-4D97-AF65-F5344CB8AC3E}">
        <p14:creationId xmlns:p14="http://schemas.microsoft.com/office/powerpoint/2010/main" val="6001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15FAC44-04A3-F476-ECB1-114806092D11}"/>
              </a:ext>
            </a:extLst>
          </p:cNvPr>
          <p:cNvGraphicFramePr>
            <a:graphicFrameLocks noChangeAspect="1"/>
          </p:cNvGraphicFramePr>
          <p:nvPr>
            <p:custDataLst>
              <p:tags r:id="rId1"/>
            </p:custDataLst>
            <p:extLst>
              <p:ext uri="{D42A27DB-BD31-4B8C-83A1-F6EECF244321}">
                <p14:modId xmlns:p14="http://schemas.microsoft.com/office/powerpoint/2010/main" val="5533482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 imgW="401" imgH="401" progId="TCLayout.ActiveDocument.1">
                  <p:embed/>
                </p:oleObj>
              </mc:Choice>
              <mc:Fallback>
                <p:oleObj name="think-cell 幻灯片" r:id="rId3" imgW="401" imgH="401"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标题 1">
            <a:extLst>
              <a:ext uri="{FF2B5EF4-FFF2-40B4-BE49-F238E27FC236}">
                <a16:creationId xmlns:a16="http://schemas.microsoft.com/office/drawing/2014/main" id="{1A3F24D1-4A69-6A72-CF36-92B5FEA31494}"/>
              </a:ext>
            </a:extLst>
          </p:cNvPr>
          <p:cNvSpPr>
            <a:spLocks noGrp="1"/>
          </p:cNvSpPr>
          <p:nvPr>
            <p:ph type="title"/>
          </p:nvPr>
        </p:nvSpPr>
        <p:spPr/>
        <p:txBody>
          <a:bodyPr vert="horz"/>
          <a:lstStyle/>
          <a:p>
            <a:r>
              <a:rPr lang="zh-CN" altLang="en-US" dirty="0">
                <a:latin typeface="+mn-lt"/>
                <a:ea typeface="+mn-ea"/>
                <a:cs typeface="+mn-ea"/>
                <a:sym typeface="+mn-lt"/>
              </a:rPr>
              <a:t>总结</a:t>
            </a:r>
          </a:p>
        </p:txBody>
      </p:sp>
      <p:sp>
        <p:nvSpPr>
          <p:cNvPr id="3" name="副标题 2">
            <a:extLst>
              <a:ext uri="{FF2B5EF4-FFF2-40B4-BE49-F238E27FC236}">
                <a16:creationId xmlns:a16="http://schemas.microsoft.com/office/drawing/2014/main" id="{94DDCB0A-C8C1-5B01-5B8E-CFE169B0212B}"/>
              </a:ext>
            </a:extLst>
          </p:cNvPr>
          <p:cNvSpPr>
            <a:spLocks noGrp="1"/>
          </p:cNvSpPr>
          <p:nvPr>
            <p:ph type="subTitle" idx="1"/>
          </p:nvPr>
        </p:nvSpPr>
        <p:spPr/>
        <p:txBody>
          <a:bodyPr/>
          <a:lstStyle/>
          <a:p>
            <a:endParaRPr lang="zh-CN" altLang="en-US">
              <a:latin typeface="+mn-lt"/>
              <a:ea typeface="+mn-ea"/>
              <a:cs typeface="+mn-ea"/>
              <a:sym typeface="+mn-lt"/>
            </a:endParaRPr>
          </a:p>
        </p:txBody>
      </p:sp>
      <p:sp>
        <p:nvSpPr>
          <p:cNvPr id="4" name="内容占位符 3">
            <a:extLst>
              <a:ext uri="{FF2B5EF4-FFF2-40B4-BE49-F238E27FC236}">
                <a16:creationId xmlns:a16="http://schemas.microsoft.com/office/drawing/2014/main" id="{5C608386-93FF-A04C-41EB-AEBE44E0205F}"/>
              </a:ext>
            </a:extLst>
          </p:cNvPr>
          <p:cNvSpPr>
            <a:spLocks noGrp="1"/>
          </p:cNvSpPr>
          <p:nvPr>
            <p:ph idx="10"/>
          </p:nvPr>
        </p:nvSpPr>
        <p:spPr>
          <a:xfrm>
            <a:off x="158750" y="2170800"/>
            <a:ext cx="2880641" cy="246221"/>
          </a:xfrm>
        </p:spPr>
        <p:txBody>
          <a:bodyPr/>
          <a:lstStyle/>
          <a:p>
            <a:endParaRPr lang="zh-CN" altLang="en-US">
              <a:cs typeface="+mn-ea"/>
              <a:sym typeface="+mn-lt"/>
            </a:endParaRPr>
          </a:p>
        </p:txBody>
      </p:sp>
    </p:spTree>
    <p:extLst>
      <p:ext uri="{BB962C8B-B14F-4D97-AF65-F5344CB8AC3E}">
        <p14:creationId xmlns:p14="http://schemas.microsoft.com/office/powerpoint/2010/main" val="593126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9187D-0497-D405-6A5F-44F0FEB66CB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355E215-8BAB-2E41-0118-7D65F37E2953}"/>
              </a:ext>
            </a:extLst>
          </p:cNvPr>
          <p:cNvGraphicFramePr>
            <a:graphicFrameLocks noChangeAspect="1"/>
          </p:cNvGraphicFramePr>
          <p:nvPr>
            <p:custDataLst>
              <p:tags r:id="rId1"/>
            </p:custDataLst>
            <p:extLst>
              <p:ext uri="{D42A27DB-BD31-4B8C-83A1-F6EECF244321}">
                <p14:modId xmlns:p14="http://schemas.microsoft.com/office/powerpoint/2010/main" val="20242563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4" imgH="405" progId="TCLayout.ActiveDocument.1">
                  <p:embed/>
                </p:oleObj>
              </mc:Choice>
              <mc:Fallback>
                <p:oleObj name="think-cell 幻灯片" r:id="rId4" imgW="404" imgH="405" progId="TCLayout.ActiveDocument.1">
                  <p:embed/>
                  <p:pic>
                    <p:nvPicPr>
                      <p:cNvPr id="5" name="think-cell data - do not delete" hidden="1">
                        <a:extLst>
                          <a:ext uri="{FF2B5EF4-FFF2-40B4-BE49-F238E27FC236}">
                            <a16:creationId xmlns:a16="http://schemas.microsoft.com/office/drawing/2014/main" id="{DC1FC24B-9E23-FCA0-83AB-7138FD1C3D5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286" name="图片 3285">
            <a:extLst>
              <a:ext uri="{FF2B5EF4-FFF2-40B4-BE49-F238E27FC236}">
                <a16:creationId xmlns:a16="http://schemas.microsoft.com/office/drawing/2014/main" id="{7893C08F-49E8-C725-5321-098D128189F9}"/>
              </a:ext>
            </a:extLst>
          </p:cNvPr>
          <p:cNvPicPr>
            <a:picLocks noChangeAspect="1"/>
          </p:cNvPicPr>
          <p:nvPr/>
        </p:nvPicPr>
        <p:blipFill>
          <a:blip r:embed="rId6"/>
          <a:stretch>
            <a:fillRect/>
          </a:stretch>
        </p:blipFill>
        <p:spPr>
          <a:xfrm>
            <a:off x="490300" y="1506227"/>
            <a:ext cx="2950412" cy="2030480"/>
          </a:xfrm>
          <a:prstGeom prst="rect">
            <a:avLst/>
          </a:prstGeom>
        </p:spPr>
      </p:pic>
      <p:sp>
        <p:nvSpPr>
          <p:cNvPr id="2" name="标题 1">
            <a:extLst>
              <a:ext uri="{FF2B5EF4-FFF2-40B4-BE49-F238E27FC236}">
                <a16:creationId xmlns:a16="http://schemas.microsoft.com/office/drawing/2014/main" id="{32409746-8D5F-E604-870C-3107F5BD97BF}"/>
              </a:ext>
            </a:extLst>
          </p:cNvPr>
          <p:cNvSpPr>
            <a:spLocks noGrp="1"/>
          </p:cNvSpPr>
          <p:nvPr>
            <p:ph type="title"/>
          </p:nvPr>
        </p:nvSpPr>
        <p:spPr>
          <a:xfrm>
            <a:off x="245110" y="156742"/>
            <a:ext cx="10433050" cy="731520"/>
          </a:xfrm>
        </p:spPr>
        <p:txBody>
          <a:bodyPr vert="horz"/>
          <a:lstStyle/>
          <a:p>
            <a:r>
              <a:rPr kumimoji="1" lang="zh-CN" altLang="en-US" dirty="0">
                <a:solidFill>
                  <a:schemeClr val="tx1">
                    <a:lumMod val="50000"/>
                  </a:schemeClr>
                </a:solidFill>
                <a:cs typeface="+mn-ea"/>
                <a:sym typeface="+mn-lt"/>
              </a:rPr>
              <a:t>附录：</a:t>
            </a:r>
            <a:r>
              <a:rPr kumimoji="1" lang="en-US" altLang="zh-CN" dirty="0" err="1">
                <a:solidFill>
                  <a:schemeClr val="tx1">
                    <a:lumMod val="50000"/>
                  </a:schemeClr>
                </a:solidFill>
                <a:cs typeface="+mn-ea"/>
                <a:sym typeface="+mn-lt"/>
              </a:rPr>
              <a:t>DeepSeek</a:t>
            </a:r>
            <a:r>
              <a:rPr kumimoji="1" lang="zh-CN" altLang="en-US" dirty="0">
                <a:solidFill>
                  <a:schemeClr val="tx1">
                    <a:lumMod val="50000"/>
                  </a:schemeClr>
                </a:solidFill>
                <a:cs typeface="+mn-ea"/>
                <a:sym typeface="+mn-lt"/>
              </a:rPr>
              <a:t>，</a:t>
            </a:r>
            <a:r>
              <a:rPr lang="zh-CN" altLang="en-US" dirty="0">
                <a:latin typeface="+mn-lt"/>
                <a:ea typeface="+mn-ea"/>
                <a:cs typeface="+mn-ea"/>
                <a:sym typeface="+mn-lt"/>
              </a:rPr>
              <a:t>国内</a:t>
            </a:r>
            <a:r>
              <a:rPr lang="en-US" altLang="zh-CN" dirty="0">
                <a:latin typeface="+mn-lt"/>
                <a:ea typeface="+mn-ea"/>
                <a:cs typeface="+mn-ea"/>
                <a:sym typeface="+mn-lt"/>
              </a:rPr>
              <a:t>LLM</a:t>
            </a:r>
            <a:r>
              <a:rPr lang="zh-CN" altLang="en-US" dirty="0">
                <a:latin typeface="+mn-lt"/>
                <a:ea typeface="+mn-ea"/>
                <a:cs typeface="+mn-ea"/>
                <a:sym typeface="+mn-lt"/>
              </a:rPr>
              <a:t>受限于</a:t>
            </a:r>
            <a:r>
              <a:rPr lang="en-US" altLang="zh-CN" dirty="0">
                <a:latin typeface="+mn-lt"/>
                <a:ea typeface="+mn-ea"/>
                <a:cs typeface="+mn-ea"/>
                <a:sym typeface="+mn-lt"/>
              </a:rPr>
              <a:t>GPU</a:t>
            </a:r>
            <a:r>
              <a:rPr lang="zh-CN" altLang="en-US" dirty="0">
                <a:latin typeface="+mn-lt"/>
                <a:ea typeface="+mn-ea"/>
                <a:cs typeface="+mn-ea"/>
                <a:sym typeface="+mn-lt"/>
              </a:rPr>
              <a:t>互连带宽，</a:t>
            </a:r>
            <a:r>
              <a:rPr lang="en-US" altLang="zh-CN" dirty="0">
                <a:latin typeface="+mn-lt"/>
                <a:ea typeface="+mn-ea"/>
                <a:cs typeface="+mn-ea"/>
                <a:sym typeface="+mn-lt"/>
              </a:rPr>
              <a:t>CPO</a:t>
            </a:r>
            <a:r>
              <a:rPr lang="zh-CN" altLang="en-US" dirty="0">
                <a:latin typeface="+mn-lt"/>
                <a:ea typeface="+mn-ea"/>
                <a:cs typeface="+mn-ea"/>
                <a:sym typeface="+mn-lt"/>
              </a:rPr>
              <a:t>为优先探索方向</a:t>
            </a:r>
          </a:p>
        </p:txBody>
      </p:sp>
      <p:sp>
        <p:nvSpPr>
          <p:cNvPr id="3212" name="文本框 3211">
            <a:extLst>
              <a:ext uri="{FF2B5EF4-FFF2-40B4-BE49-F238E27FC236}">
                <a16:creationId xmlns:a16="http://schemas.microsoft.com/office/drawing/2014/main" id="{9DF2FDFD-4D8E-C4C6-BC36-774CD80AFDDE}"/>
              </a:ext>
            </a:extLst>
          </p:cNvPr>
          <p:cNvSpPr txBox="1"/>
          <p:nvPr/>
        </p:nvSpPr>
        <p:spPr>
          <a:xfrm>
            <a:off x="170889" y="6456180"/>
            <a:ext cx="6536586" cy="281243"/>
          </a:xfrm>
          <a:prstGeom prst="rect">
            <a:avLst/>
          </a:prstGeom>
          <a:ln w="6350">
            <a:noFill/>
            <a:miter lim="800000"/>
          </a:ln>
        </p:spPr>
        <p:txBody>
          <a:bodyPr vert="horz" wrap="square" lIns="0" tIns="0" rIns="0" bIns="0" rtlCol="0" anchor="ctr">
            <a:noAutofit/>
          </a:bodyPr>
          <a:lstStyle/>
          <a:p>
            <a:pPr>
              <a:spcBef>
                <a:spcPts val="300"/>
              </a:spcBef>
              <a:spcAft>
                <a:spcPts val="300"/>
              </a:spcAft>
            </a:pPr>
            <a:r>
              <a:rPr kumimoji="1" lang="en-US" altLang="zh-CN" sz="1200" i="1" dirty="0">
                <a:solidFill>
                  <a:schemeClr val="tx1">
                    <a:lumMod val="50000"/>
                  </a:schemeClr>
                </a:solidFill>
                <a:cs typeface="+mn-ea"/>
                <a:sym typeface="+mn-lt"/>
              </a:rPr>
              <a:t>Source:</a:t>
            </a:r>
            <a:r>
              <a:rPr kumimoji="1" lang="zh-CN" altLang="en-US" sz="1200" i="1" dirty="0">
                <a:solidFill>
                  <a:schemeClr val="tx1">
                    <a:lumMod val="50000"/>
                  </a:schemeClr>
                </a:solidFill>
                <a:cs typeface="+mn-ea"/>
                <a:sym typeface="+mn-lt"/>
              </a:rPr>
              <a:t> </a:t>
            </a:r>
            <a:r>
              <a:rPr kumimoji="1" lang="en-US" altLang="zh-CN" sz="1200" i="1" dirty="0" err="1">
                <a:solidFill>
                  <a:schemeClr val="tx1">
                    <a:lumMod val="50000"/>
                  </a:schemeClr>
                </a:solidFill>
                <a:cs typeface="+mn-ea"/>
                <a:sym typeface="+mn-lt"/>
              </a:rPr>
              <a:t>Deepseek</a:t>
            </a:r>
            <a:endParaRPr kumimoji="1" lang="en-US" altLang="zh-CN" sz="1200" i="1" dirty="0">
              <a:solidFill>
                <a:schemeClr val="tx1">
                  <a:lumMod val="50000"/>
                </a:schemeClr>
              </a:solidFill>
              <a:cs typeface="+mn-ea"/>
              <a:sym typeface="+mn-lt"/>
            </a:endParaRPr>
          </a:p>
        </p:txBody>
      </p:sp>
      <p:grpSp>
        <p:nvGrpSpPr>
          <p:cNvPr id="1070" name="组合 1069">
            <a:extLst>
              <a:ext uri="{FF2B5EF4-FFF2-40B4-BE49-F238E27FC236}">
                <a16:creationId xmlns:a16="http://schemas.microsoft.com/office/drawing/2014/main" id="{18CF5BA8-680D-6B19-92E9-3E98DC3CADDE}"/>
              </a:ext>
            </a:extLst>
          </p:cNvPr>
          <p:cNvGrpSpPr/>
          <p:nvPr/>
        </p:nvGrpSpPr>
        <p:grpSpPr>
          <a:xfrm>
            <a:off x="504186" y="971862"/>
            <a:ext cx="11708217" cy="503758"/>
            <a:chOff x="504186" y="971862"/>
            <a:chExt cx="11708217" cy="503758"/>
          </a:xfrm>
        </p:grpSpPr>
        <p:sp>
          <p:nvSpPr>
            <p:cNvPr id="1071" name="文本框 1070">
              <a:extLst>
                <a:ext uri="{FF2B5EF4-FFF2-40B4-BE49-F238E27FC236}">
                  <a16:creationId xmlns:a16="http://schemas.microsoft.com/office/drawing/2014/main" id="{1A1F4844-21CA-DB50-134F-8505D719770D}"/>
                </a:ext>
              </a:extLst>
            </p:cNvPr>
            <p:cNvSpPr txBox="1"/>
            <p:nvPr/>
          </p:nvSpPr>
          <p:spPr>
            <a:xfrm>
              <a:off x="7452360" y="976464"/>
              <a:ext cx="4760043" cy="30162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b="1" dirty="0">
                  <a:solidFill>
                    <a:schemeClr val="tx1">
                      <a:lumMod val="50000"/>
                    </a:schemeClr>
                  </a:solidFill>
                  <a:cs typeface="+mn-ea"/>
                  <a:sym typeface="+mn-lt"/>
                </a:rPr>
                <a:t>CPO</a:t>
              </a:r>
              <a:r>
                <a:rPr kumimoji="1" lang="zh-CN" altLang="en-US" b="1" dirty="0">
                  <a:solidFill>
                    <a:schemeClr val="tx1">
                      <a:lumMod val="50000"/>
                    </a:schemeClr>
                  </a:solidFill>
                  <a:cs typeface="+mn-ea"/>
                  <a:sym typeface="+mn-lt"/>
                </a:rPr>
                <a:t>的高带宽、高效能可解互连限制</a:t>
              </a:r>
              <a:endParaRPr kumimoji="1" lang="zh-CN" altLang="en-US" b="1" dirty="0">
                <a:solidFill>
                  <a:schemeClr val="accent6">
                    <a:lumMod val="10000"/>
                  </a:schemeClr>
                </a:solidFill>
                <a:cs typeface="+mn-ea"/>
                <a:sym typeface="+mn-lt"/>
              </a:endParaRPr>
            </a:p>
          </p:txBody>
        </p:sp>
        <p:sp>
          <p:nvSpPr>
            <p:cNvPr id="1072" name="文本框 1071">
              <a:extLst>
                <a:ext uri="{FF2B5EF4-FFF2-40B4-BE49-F238E27FC236}">
                  <a16:creationId xmlns:a16="http://schemas.microsoft.com/office/drawing/2014/main" id="{87D7EAC2-3C6A-9983-D9A7-B032DFDA815B}"/>
                </a:ext>
              </a:extLst>
            </p:cNvPr>
            <p:cNvSpPr txBox="1"/>
            <p:nvPr/>
          </p:nvSpPr>
          <p:spPr>
            <a:xfrm>
              <a:off x="6172421" y="1173995"/>
              <a:ext cx="5130761" cy="301625"/>
            </a:xfrm>
            <a:prstGeom prst="rect">
              <a:avLst/>
            </a:prstGeom>
            <a:ln w="6350">
              <a:noFill/>
              <a:miter lim="800000"/>
            </a:ln>
          </p:spPr>
          <p:txBody>
            <a:bodyPr vert="horz" wrap="square" lIns="0" tIns="0" rIns="0" bIns="0" rtlCol="0">
              <a:noAutofit/>
            </a:bodyPr>
            <a:lstStyle/>
            <a:p>
              <a:pPr marL="285750" indent="-285750" algn="l">
                <a:spcBef>
                  <a:spcPts val="300"/>
                </a:spcBef>
                <a:spcAft>
                  <a:spcPts val="300"/>
                </a:spcAft>
                <a:buFont typeface="Arial" panose="020B0604020202020204" pitchFamily="34" charset="0"/>
                <a:buChar char="•"/>
              </a:pPr>
              <a:endParaRPr kumimoji="1" lang="zh-CN" altLang="en-US" sz="1600" dirty="0">
                <a:solidFill>
                  <a:schemeClr val="tx1">
                    <a:lumMod val="50000"/>
                  </a:schemeClr>
                </a:solidFill>
                <a:cs typeface="+mn-ea"/>
                <a:sym typeface="+mn-lt"/>
              </a:endParaRPr>
            </a:p>
          </p:txBody>
        </p:sp>
        <p:cxnSp>
          <p:nvCxnSpPr>
            <p:cNvPr id="1073" name="直线连接符 38">
              <a:extLst>
                <a:ext uri="{FF2B5EF4-FFF2-40B4-BE49-F238E27FC236}">
                  <a16:creationId xmlns:a16="http://schemas.microsoft.com/office/drawing/2014/main" id="{1A456015-8E49-B27B-DAF9-3D0441F75B4B}"/>
                </a:ext>
              </a:extLst>
            </p:cNvPr>
            <p:cNvCxnSpPr>
              <a:cxnSpLocks/>
            </p:cNvCxnSpPr>
            <p:nvPr/>
          </p:nvCxnSpPr>
          <p:spPr>
            <a:xfrm>
              <a:off x="7334466" y="1307289"/>
              <a:ext cx="4261598"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74" name="文本框 1073">
              <a:extLst>
                <a:ext uri="{FF2B5EF4-FFF2-40B4-BE49-F238E27FC236}">
                  <a16:creationId xmlns:a16="http://schemas.microsoft.com/office/drawing/2014/main" id="{3C5AF3D6-4808-2A70-B5F8-79DBF89B1C8E}"/>
                </a:ext>
              </a:extLst>
            </p:cNvPr>
            <p:cNvSpPr txBox="1"/>
            <p:nvPr/>
          </p:nvSpPr>
          <p:spPr>
            <a:xfrm>
              <a:off x="504186" y="971862"/>
              <a:ext cx="5591814" cy="327025"/>
            </a:xfrm>
            <a:prstGeom prst="rect">
              <a:avLst/>
            </a:prstGeom>
            <a:ln w="6350">
              <a:noFill/>
              <a:miter lim="800000"/>
            </a:ln>
          </p:spPr>
          <p:txBody>
            <a:bodyPr vert="horz" wrap="square" lIns="0" tIns="0" rIns="0" bIns="0" rtlCol="0" anchor="ctr">
              <a:noAutofit/>
            </a:bodyPr>
            <a:lstStyle/>
            <a:p>
              <a:pPr>
                <a:spcBef>
                  <a:spcPts val="600"/>
                </a:spcBef>
                <a:spcAft>
                  <a:spcPts val="600"/>
                </a:spcAft>
              </a:pPr>
              <a:r>
                <a:rPr kumimoji="1" lang="en-US" altLang="zh-CN" b="1" dirty="0">
                  <a:solidFill>
                    <a:schemeClr val="tx1">
                      <a:lumMod val="50000"/>
                    </a:schemeClr>
                  </a:solidFill>
                  <a:cs typeface="+mn-ea"/>
                  <a:sym typeface="+mn-lt"/>
                </a:rPr>
                <a:t>H800</a:t>
              </a:r>
              <a:r>
                <a:rPr kumimoji="1" lang="zh-CN" altLang="en-US" b="1" dirty="0">
                  <a:solidFill>
                    <a:schemeClr val="tx1">
                      <a:lumMod val="50000"/>
                    </a:schemeClr>
                  </a:solidFill>
                  <a:cs typeface="+mn-ea"/>
                  <a:sym typeface="+mn-lt"/>
                </a:rPr>
                <a:t>互连带宽限制网络架构、训练策略、推理速度</a:t>
              </a:r>
              <a:endParaRPr kumimoji="1" lang="en-US" altLang="zh-CN" b="1" dirty="0">
                <a:solidFill>
                  <a:schemeClr val="tx1">
                    <a:lumMod val="50000"/>
                  </a:schemeClr>
                </a:solidFill>
                <a:cs typeface="+mn-ea"/>
                <a:sym typeface="+mn-lt"/>
              </a:endParaRPr>
            </a:p>
          </p:txBody>
        </p:sp>
        <p:cxnSp>
          <p:nvCxnSpPr>
            <p:cNvPr id="1075" name="直线连接符 38">
              <a:extLst>
                <a:ext uri="{FF2B5EF4-FFF2-40B4-BE49-F238E27FC236}">
                  <a16:creationId xmlns:a16="http://schemas.microsoft.com/office/drawing/2014/main" id="{423E25FF-F267-421A-77E9-3E497D2D8775}"/>
                </a:ext>
              </a:extLst>
            </p:cNvPr>
            <p:cNvCxnSpPr>
              <a:cxnSpLocks/>
            </p:cNvCxnSpPr>
            <p:nvPr/>
          </p:nvCxnSpPr>
          <p:spPr>
            <a:xfrm>
              <a:off x="504186" y="1316624"/>
              <a:ext cx="6267454"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pic>
        <p:nvPicPr>
          <p:cNvPr id="1080" name="图片 1079">
            <a:extLst>
              <a:ext uri="{FF2B5EF4-FFF2-40B4-BE49-F238E27FC236}">
                <a16:creationId xmlns:a16="http://schemas.microsoft.com/office/drawing/2014/main" id="{605A53A7-4B1D-6609-5E0A-D463C54CC23E}"/>
              </a:ext>
            </a:extLst>
          </p:cNvPr>
          <p:cNvPicPr>
            <a:picLocks noChangeAspect="1"/>
          </p:cNvPicPr>
          <p:nvPr/>
        </p:nvPicPr>
        <p:blipFill>
          <a:blip r:embed="rId7"/>
          <a:stretch>
            <a:fillRect/>
          </a:stretch>
        </p:blipFill>
        <p:spPr>
          <a:xfrm>
            <a:off x="454935" y="3788697"/>
            <a:ext cx="2954826" cy="606942"/>
          </a:xfrm>
          <a:prstGeom prst="rect">
            <a:avLst/>
          </a:prstGeom>
        </p:spPr>
      </p:pic>
      <p:sp>
        <p:nvSpPr>
          <p:cNvPr id="1084" name="矩形 1083">
            <a:extLst>
              <a:ext uri="{FF2B5EF4-FFF2-40B4-BE49-F238E27FC236}">
                <a16:creationId xmlns:a16="http://schemas.microsoft.com/office/drawing/2014/main" id="{9DD49CA2-C521-ED3E-E64E-15194E4CBE7F}"/>
              </a:ext>
            </a:extLst>
          </p:cNvPr>
          <p:cNvSpPr/>
          <p:nvPr/>
        </p:nvSpPr>
        <p:spPr>
          <a:xfrm>
            <a:off x="3684893" y="1459137"/>
            <a:ext cx="3051814" cy="2178911"/>
          </a:xfrm>
          <a:prstGeom prst="rect">
            <a:avLst/>
          </a:prstGeom>
          <a:solidFill>
            <a:srgbClr val="EC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lang="en-US" altLang="zh-CN" sz="1600" dirty="0">
                <a:solidFill>
                  <a:schemeClr val="accent6">
                    <a:lumMod val="10000"/>
                  </a:schemeClr>
                </a:solidFill>
              </a:rPr>
              <a:t>H800</a:t>
            </a:r>
            <a:r>
              <a:rPr lang="zh-CN" altLang="en-US" sz="1600" dirty="0">
                <a:solidFill>
                  <a:schemeClr val="accent6">
                    <a:lumMod val="10000"/>
                  </a:schemeClr>
                </a:solidFill>
              </a:rPr>
              <a:t>带宽相对</a:t>
            </a:r>
            <a:r>
              <a:rPr lang="en-US" altLang="zh-CN" sz="1600" dirty="0">
                <a:solidFill>
                  <a:schemeClr val="accent6">
                    <a:lumMod val="10000"/>
                  </a:schemeClr>
                </a:solidFill>
              </a:rPr>
              <a:t>H100</a:t>
            </a:r>
            <a:r>
              <a:rPr lang="zh-CN" altLang="en-US" sz="1600" dirty="0">
                <a:solidFill>
                  <a:schemeClr val="accent6">
                    <a:lumMod val="10000"/>
                  </a:schemeClr>
                </a:solidFill>
              </a:rPr>
              <a:t>砍半</a:t>
            </a:r>
            <a:endParaRPr lang="en-US" altLang="zh-CN" sz="1600" dirty="0">
              <a:solidFill>
                <a:schemeClr val="accent6">
                  <a:lumMod val="10000"/>
                </a:schemeClr>
              </a:solidFill>
            </a:endParaRPr>
          </a:p>
          <a:p>
            <a:pPr>
              <a:spcBef>
                <a:spcPts val="200"/>
              </a:spcBef>
              <a:spcAft>
                <a:spcPts val="200"/>
              </a:spcAft>
            </a:pPr>
            <a:r>
              <a:rPr lang="zh-CN" altLang="en-US" sz="1600" b="1" dirty="0">
                <a:solidFill>
                  <a:schemeClr val="accent6">
                    <a:lumMod val="10000"/>
                  </a:schemeClr>
                </a:solidFill>
              </a:rPr>
              <a:t>① 网络架构</a:t>
            </a:r>
            <a:r>
              <a:rPr lang="zh-CN" altLang="en-US" sz="1600" dirty="0">
                <a:solidFill>
                  <a:schemeClr val="accent6">
                    <a:lumMod val="10000"/>
                  </a:schemeClr>
                </a:solidFill>
              </a:rPr>
              <a:t>：被迫用</a:t>
            </a:r>
            <a:r>
              <a:rPr lang="en-US" altLang="zh-CN" sz="1600" b="1" dirty="0">
                <a:solidFill>
                  <a:srgbClr val="0052D9"/>
                </a:solidFill>
              </a:rPr>
              <a:t>Scale Out</a:t>
            </a:r>
            <a:r>
              <a:rPr lang="zh-CN" altLang="en-US" sz="1600" dirty="0">
                <a:solidFill>
                  <a:schemeClr val="accent6">
                    <a:lumMod val="10000"/>
                  </a:schemeClr>
                </a:solidFill>
              </a:rPr>
              <a:t>弥补</a:t>
            </a:r>
            <a:r>
              <a:rPr lang="en-US" altLang="zh-CN" sz="1600" b="1" dirty="0">
                <a:solidFill>
                  <a:srgbClr val="0052D9"/>
                </a:solidFill>
              </a:rPr>
              <a:t>Scale Up</a:t>
            </a:r>
          </a:p>
          <a:p>
            <a:pPr>
              <a:spcBef>
                <a:spcPts val="200"/>
              </a:spcBef>
              <a:spcAft>
                <a:spcPts val="200"/>
              </a:spcAft>
            </a:pPr>
            <a:r>
              <a:rPr lang="zh-CN" altLang="en-US" sz="1600" b="1" dirty="0">
                <a:solidFill>
                  <a:schemeClr val="accent6">
                    <a:lumMod val="10000"/>
                  </a:schemeClr>
                </a:solidFill>
              </a:rPr>
              <a:t>② 训练策略</a:t>
            </a:r>
            <a:r>
              <a:rPr lang="zh-CN" altLang="en-US" sz="1600" dirty="0">
                <a:solidFill>
                  <a:schemeClr val="accent6">
                    <a:lumMod val="10000"/>
                  </a:schemeClr>
                </a:solidFill>
              </a:rPr>
              <a:t>：被迫放弃</a:t>
            </a:r>
            <a:r>
              <a:rPr lang="zh-CN" altLang="en-US" sz="1600" b="1" dirty="0">
                <a:solidFill>
                  <a:srgbClr val="0052D9"/>
                </a:solidFill>
              </a:rPr>
              <a:t>张量并行</a:t>
            </a:r>
            <a:endParaRPr lang="en-US" altLang="zh-CN" sz="1600" b="1" dirty="0">
              <a:solidFill>
                <a:srgbClr val="0052D9"/>
              </a:solidFill>
            </a:endParaRPr>
          </a:p>
          <a:p>
            <a:pPr>
              <a:spcBef>
                <a:spcPts val="200"/>
              </a:spcBef>
              <a:spcAft>
                <a:spcPts val="200"/>
              </a:spcAft>
            </a:pPr>
            <a:r>
              <a:rPr lang="zh-CN" altLang="en-US" sz="1600" b="1" dirty="0">
                <a:solidFill>
                  <a:schemeClr val="accent6">
                    <a:lumMod val="10000"/>
                  </a:schemeClr>
                </a:solidFill>
              </a:rPr>
              <a:t>③ 推理速度</a:t>
            </a:r>
            <a:r>
              <a:rPr lang="zh-CN" altLang="en-US" sz="1600" dirty="0">
                <a:solidFill>
                  <a:schemeClr val="accent6">
                    <a:lumMod val="10000"/>
                  </a:schemeClr>
                </a:solidFill>
              </a:rPr>
              <a:t>：</a:t>
            </a:r>
            <a:r>
              <a:rPr lang="en-US" altLang="zh-CN" sz="1600" dirty="0" err="1">
                <a:solidFill>
                  <a:schemeClr val="accent6">
                    <a:lumMod val="10000"/>
                  </a:schemeClr>
                </a:solidFill>
              </a:rPr>
              <a:t>MoE</a:t>
            </a:r>
            <a:r>
              <a:rPr lang="zh-CN" altLang="en-US" sz="1600" dirty="0">
                <a:solidFill>
                  <a:schemeClr val="accent6">
                    <a:lumMod val="10000"/>
                  </a:schemeClr>
                </a:solidFill>
              </a:rPr>
              <a:t>推理速率为</a:t>
            </a:r>
            <a:r>
              <a:rPr lang="en-US" altLang="zh-CN" sz="1600" dirty="0">
                <a:solidFill>
                  <a:schemeClr val="accent6">
                    <a:lumMod val="10000"/>
                  </a:schemeClr>
                </a:solidFill>
              </a:rPr>
              <a:t>H100</a:t>
            </a:r>
            <a:r>
              <a:rPr lang="zh-CN" altLang="en-US" sz="1600" dirty="0">
                <a:solidFill>
                  <a:schemeClr val="accent6">
                    <a:lumMod val="10000"/>
                  </a:schemeClr>
                </a:solidFill>
              </a:rPr>
              <a:t>的</a:t>
            </a:r>
            <a:r>
              <a:rPr lang="en-US" altLang="zh-CN" sz="1600" b="1" dirty="0">
                <a:solidFill>
                  <a:srgbClr val="0052D9"/>
                </a:solidFill>
              </a:rPr>
              <a:t>1/20</a:t>
            </a:r>
          </a:p>
        </p:txBody>
      </p:sp>
      <p:sp>
        <p:nvSpPr>
          <p:cNvPr id="3273" name="矩形 3272">
            <a:extLst>
              <a:ext uri="{FF2B5EF4-FFF2-40B4-BE49-F238E27FC236}">
                <a16:creationId xmlns:a16="http://schemas.microsoft.com/office/drawing/2014/main" id="{899AC929-5A30-A3AB-BF52-39EED3210C07}"/>
              </a:ext>
            </a:extLst>
          </p:cNvPr>
          <p:cNvSpPr/>
          <p:nvPr/>
        </p:nvSpPr>
        <p:spPr>
          <a:xfrm>
            <a:off x="2647412" y="1361951"/>
            <a:ext cx="424367" cy="4541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rgbClr val="0052D9"/>
                </a:solidFill>
              </a:rPr>
              <a:t>①</a:t>
            </a:r>
          </a:p>
        </p:txBody>
      </p:sp>
      <p:sp>
        <p:nvSpPr>
          <p:cNvPr id="3276" name="矩形 3275">
            <a:extLst>
              <a:ext uri="{FF2B5EF4-FFF2-40B4-BE49-F238E27FC236}">
                <a16:creationId xmlns:a16="http://schemas.microsoft.com/office/drawing/2014/main" id="{9F731F85-68B6-D1A4-A876-DB73F8B0E7DA}"/>
              </a:ext>
            </a:extLst>
          </p:cNvPr>
          <p:cNvSpPr/>
          <p:nvPr/>
        </p:nvSpPr>
        <p:spPr>
          <a:xfrm>
            <a:off x="2647412" y="3638048"/>
            <a:ext cx="424367" cy="4541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rgbClr val="0052D9"/>
                </a:solidFill>
              </a:rPr>
              <a:t>②</a:t>
            </a:r>
          </a:p>
        </p:txBody>
      </p:sp>
      <p:grpSp>
        <p:nvGrpSpPr>
          <p:cNvPr id="3298" name="组合 3297">
            <a:extLst>
              <a:ext uri="{FF2B5EF4-FFF2-40B4-BE49-F238E27FC236}">
                <a16:creationId xmlns:a16="http://schemas.microsoft.com/office/drawing/2014/main" id="{8152D523-2D61-850F-90A3-8158B8F50146}"/>
              </a:ext>
            </a:extLst>
          </p:cNvPr>
          <p:cNvGrpSpPr/>
          <p:nvPr/>
        </p:nvGrpSpPr>
        <p:grpSpPr>
          <a:xfrm>
            <a:off x="7667548" y="1361951"/>
            <a:ext cx="3509584" cy="4975726"/>
            <a:chOff x="7440021" y="1361951"/>
            <a:chExt cx="3509584" cy="4975726"/>
          </a:xfrm>
        </p:grpSpPr>
        <p:pic>
          <p:nvPicPr>
            <p:cNvPr id="1060" name="图片 1059">
              <a:extLst>
                <a:ext uri="{FF2B5EF4-FFF2-40B4-BE49-F238E27FC236}">
                  <a16:creationId xmlns:a16="http://schemas.microsoft.com/office/drawing/2014/main" id="{3D68BD0F-5C62-F741-AB7B-A51B8759170F}"/>
                </a:ext>
              </a:extLst>
            </p:cNvPr>
            <p:cNvPicPr>
              <a:picLocks noChangeAspect="1"/>
            </p:cNvPicPr>
            <p:nvPr/>
          </p:nvPicPr>
          <p:blipFill>
            <a:blip r:embed="rId8"/>
            <a:stretch>
              <a:fillRect/>
            </a:stretch>
          </p:blipFill>
          <p:spPr>
            <a:xfrm>
              <a:off x="7440022" y="1361951"/>
              <a:ext cx="3509583" cy="553199"/>
            </a:xfrm>
            <a:prstGeom prst="rect">
              <a:avLst/>
            </a:prstGeom>
          </p:spPr>
        </p:pic>
        <p:pic>
          <p:nvPicPr>
            <p:cNvPr id="3280" name="图片 3279">
              <a:extLst>
                <a:ext uri="{FF2B5EF4-FFF2-40B4-BE49-F238E27FC236}">
                  <a16:creationId xmlns:a16="http://schemas.microsoft.com/office/drawing/2014/main" id="{52F22F95-49AB-CEF6-78DD-17C43009E224}"/>
                </a:ext>
              </a:extLst>
            </p:cNvPr>
            <p:cNvPicPr>
              <a:picLocks noChangeAspect="1"/>
            </p:cNvPicPr>
            <p:nvPr/>
          </p:nvPicPr>
          <p:blipFill>
            <a:blip r:embed="rId9"/>
            <a:stretch>
              <a:fillRect/>
            </a:stretch>
          </p:blipFill>
          <p:spPr>
            <a:xfrm>
              <a:off x="7440021" y="1877370"/>
              <a:ext cx="3444240" cy="4460307"/>
            </a:xfrm>
            <a:prstGeom prst="rect">
              <a:avLst/>
            </a:prstGeom>
          </p:spPr>
        </p:pic>
        <p:sp>
          <p:nvSpPr>
            <p:cNvPr id="3281" name="矩形 3280">
              <a:extLst>
                <a:ext uri="{FF2B5EF4-FFF2-40B4-BE49-F238E27FC236}">
                  <a16:creationId xmlns:a16="http://schemas.microsoft.com/office/drawing/2014/main" id="{561CA96B-9778-1DDA-BC61-51E83F5BE23D}"/>
                </a:ext>
              </a:extLst>
            </p:cNvPr>
            <p:cNvSpPr/>
            <p:nvPr/>
          </p:nvSpPr>
          <p:spPr>
            <a:xfrm>
              <a:off x="7440021" y="1877370"/>
              <a:ext cx="3444240" cy="515310"/>
            </a:xfrm>
            <a:prstGeom prst="rect">
              <a:avLst/>
            </a:prstGeom>
            <a:noFill/>
            <a:ln w="12700">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283" name="图片 3282">
            <a:extLst>
              <a:ext uri="{FF2B5EF4-FFF2-40B4-BE49-F238E27FC236}">
                <a16:creationId xmlns:a16="http://schemas.microsoft.com/office/drawing/2014/main" id="{02301866-6223-7185-3C14-E424A7747724}"/>
              </a:ext>
            </a:extLst>
          </p:cNvPr>
          <p:cNvPicPr>
            <a:picLocks noChangeAspect="1"/>
          </p:cNvPicPr>
          <p:nvPr/>
        </p:nvPicPr>
        <p:blipFill>
          <a:blip r:embed="rId10"/>
          <a:stretch>
            <a:fillRect/>
          </a:stretch>
        </p:blipFill>
        <p:spPr>
          <a:xfrm>
            <a:off x="485308" y="4379459"/>
            <a:ext cx="2905010" cy="2037599"/>
          </a:xfrm>
          <a:prstGeom prst="rect">
            <a:avLst/>
          </a:prstGeom>
        </p:spPr>
      </p:pic>
      <p:sp>
        <p:nvSpPr>
          <p:cNvPr id="3284" name="矩形 3283">
            <a:extLst>
              <a:ext uri="{FF2B5EF4-FFF2-40B4-BE49-F238E27FC236}">
                <a16:creationId xmlns:a16="http://schemas.microsoft.com/office/drawing/2014/main" id="{8DAB26C1-F4C2-5AAA-6A1E-51EA76B55FC4}"/>
              </a:ext>
            </a:extLst>
          </p:cNvPr>
          <p:cNvSpPr/>
          <p:nvPr/>
        </p:nvSpPr>
        <p:spPr>
          <a:xfrm>
            <a:off x="485307" y="4453447"/>
            <a:ext cx="2924453" cy="636305"/>
          </a:xfrm>
          <a:prstGeom prst="rect">
            <a:avLst/>
          </a:prstGeom>
          <a:noFill/>
          <a:ln w="12700">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88" name="矩形 3287">
            <a:extLst>
              <a:ext uri="{FF2B5EF4-FFF2-40B4-BE49-F238E27FC236}">
                <a16:creationId xmlns:a16="http://schemas.microsoft.com/office/drawing/2014/main" id="{C071A4D3-8DAD-CFAE-C121-82EFDD1737AA}"/>
              </a:ext>
            </a:extLst>
          </p:cNvPr>
          <p:cNvSpPr/>
          <p:nvPr/>
        </p:nvSpPr>
        <p:spPr>
          <a:xfrm>
            <a:off x="485306" y="3150106"/>
            <a:ext cx="2924453" cy="411531"/>
          </a:xfrm>
          <a:prstGeom prst="rect">
            <a:avLst/>
          </a:prstGeom>
          <a:noFill/>
          <a:ln w="12700">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89" name="矩形 3288">
            <a:extLst>
              <a:ext uri="{FF2B5EF4-FFF2-40B4-BE49-F238E27FC236}">
                <a16:creationId xmlns:a16="http://schemas.microsoft.com/office/drawing/2014/main" id="{2CD404E3-8467-8F3E-99CE-D1A51AD96424}"/>
              </a:ext>
            </a:extLst>
          </p:cNvPr>
          <p:cNvSpPr/>
          <p:nvPr/>
        </p:nvSpPr>
        <p:spPr>
          <a:xfrm>
            <a:off x="485305" y="2392680"/>
            <a:ext cx="2924453" cy="265571"/>
          </a:xfrm>
          <a:prstGeom prst="rect">
            <a:avLst/>
          </a:prstGeom>
          <a:noFill/>
          <a:ln w="12700">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97" name="组合 3296">
            <a:extLst>
              <a:ext uri="{FF2B5EF4-FFF2-40B4-BE49-F238E27FC236}">
                <a16:creationId xmlns:a16="http://schemas.microsoft.com/office/drawing/2014/main" id="{50B22EB5-B02F-A552-ED13-D4940411CB7C}"/>
              </a:ext>
            </a:extLst>
          </p:cNvPr>
          <p:cNvGrpSpPr/>
          <p:nvPr/>
        </p:nvGrpSpPr>
        <p:grpSpPr>
          <a:xfrm>
            <a:off x="3575507" y="3653403"/>
            <a:ext cx="3196130" cy="2702932"/>
            <a:chOff x="3575510" y="3926676"/>
            <a:chExt cx="3196130" cy="2702932"/>
          </a:xfrm>
        </p:grpSpPr>
        <p:sp>
          <p:nvSpPr>
            <p:cNvPr id="3277" name="矩形 3276">
              <a:extLst>
                <a:ext uri="{FF2B5EF4-FFF2-40B4-BE49-F238E27FC236}">
                  <a16:creationId xmlns:a16="http://schemas.microsoft.com/office/drawing/2014/main" id="{243AD792-2C35-AB15-EB87-AE1AFCACD99A}"/>
                </a:ext>
              </a:extLst>
            </p:cNvPr>
            <p:cNvSpPr/>
            <p:nvPr/>
          </p:nvSpPr>
          <p:spPr>
            <a:xfrm>
              <a:off x="3575510" y="3926676"/>
              <a:ext cx="424367" cy="4541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rgbClr val="0052D9"/>
                  </a:solidFill>
                </a:rPr>
                <a:t>③</a:t>
              </a:r>
            </a:p>
          </p:txBody>
        </p:sp>
        <p:pic>
          <p:nvPicPr>
            <p:cNvPr id="3294" name="图片 3293">
              <a:extLst>
                <a:ext uri="{FF2B5EF4-FFF2-40B4-BE49-F238E27FC236}">
                  <a16:creationId xmlns:a16="http://schemas.microsoft.com/office/drawing/2014/main" id="{260F142E-F2AD-B6D9-F93E-8025E23F3F07}"/>
                </a:ext>
              </a:extLst>
            </p:cNvPr>
            <p:cNvPicPr>
              <a:picLocks noChangeAspect="1"/>
            </p:cNvPicPr>
            <p:nvPr/>
          </p:nvPicPr>
          <p:blipFill>
            <a:blip r:embed="rId11"/>
            <a:stretch>
              <a:fillRect/>
            </a:stretch>
          </p:blipFill>
          <p:spPr>
            <a:xfrm>
              <a:off x="3775777" y="4288289"/>
              <a:ext cx="2960933" cy="636304"/>
            </a:xfrm>
            <a:prstGeom prst="rect">
              <a:avLst/>
            </a:prstGeom>
          </p:spPr>
        </p:pic>
        <p:pic>
          <p:nvPicPr>
            <p:cNvPr id="3296" name="图片 3295">
              <a:extLst>
                <a:ext uri="{FF2B5EF4-FFF2-40B4-BE49-F238E27FC236}">
                  <a16:creationId xmlns:a16="http://schemas.microsoft.com/office/drawing/2014/main" id="{B3C67993-931E-230B-3F70-73EB43CAB05D}"/>
                </a:ext>
              </a:extLst>
            </p:cNvPr>
            <p:cNvPicPr>
              <a:picLocks noChangeAspect="1"/>
            </p:cNvPicPr>
            <p:nvPr/>
          </p:nvPicPr>
          <p:blipFill>
            <a:blip r:embed="rId12"/>
            <a:stretch>
              <a:fillRect/>
            </a:stretch>
          </p:blipFill>
          <p:spPr>
            <a:xfrm>
              <a:off x="3775777" y="4979952"/>
              <a:ext cx="2948335" cy="1566303"/>
            </a:xfrm>
            <a:prstGeom prst="rect">
              <a:avLst/>
            </a:prstGeom>
          </p:spPr>
        </p:pic>
        <p:sp>
          <p:nvSpPr>
            <p:cNvPr id="3292" name="矩形 3291">
              <a:extLst>
                <a:ext uri="{FF2B5EF4-FFF2-40B4-BE49-F238E27FC236}">
                  <a16:creationId xmlns:a16="http://schemas.microsoft.com/office/drawing/2014/main" id="{57E23BAC-E816-D665-6369-C4581282B56D}"/>
                </a:ext>
              </a:extLst>
            </p:cNvPr>
            <p:cNvSpPr/>
            <p:nvPr/>
          </p:nvSpPr>
          <p:spPr>
            <a:xfrm>
              <a:off x="3679595" y="6045745"/>
              <a:ext cx="3092045" cy="583863"/>
            </a:xfrm>
            <a:prstGeom prst="rect">
              <a:avLst/>
            </a:prstGeom>
            <a:noFill/>
            <a:ln w="12700">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4271857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F48A0-75A4-E1D2-8AA5-22D3123E2DFB}"/>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F949011-16AD-DFC9-57DA-DB3A2B34035D}"/>
              </a:ext>
            </a:extLst>
          </p:cNvPr>
          <p:cNvGraphicFramePr>
            <a:graphicFrameLocks noChangeAspect="1"/>
          </p:cNvGraphicFramePr>
          <p:nvPr>
            <p:custDataLst>
              <p:tags r:id="rId1"/>
            </p:custDataLst>
            <p:extLst>
              <p:ext uri="{D42A27DB-BD31-4B8C-83A1-F6EECF244321}">
                <p14:modId xmlns:p14="http://schemas.microsoft.com/office/powerpoint/2010/main" val="37452774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4" imgW="404" imgH="405" progId="TCLayout.ActiveDocument.1">
                  <p:embed/>
                </p:oleObj>
              </mc:Choice>
              <mc:Fallback>
                <p:oleObj name="think-cell 幻灯片" r:id="rId24" imgW="404" imgH="405" progId="TCLayout.ActiveDocument.1">
                  <p:embed/>
                  <p:pic>
                    <p:nvPicPr>
                      <p:cNvPr id="5" name="think-cell data - do not delete" hidden="1">
                        <a:extLst>
                          <a:ext uri="{FF2B5EF4-FFF2-40B4-BE49-F238E27FC236}">
                            <a16:creationId xmlns:a16="http://schemas.microsoft.com/office/drawing/2014/main" id="{2355E215-8BAB-2E41-0118-7D65F37E2953}"/>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2" name="标题 1">
            <a:extLst>
              <a:ext uri="{FF2B5EF4-FFF2-40B4-BE49-F238E27FC236}">
                <a16:creationId xmlns:a16="http://schemas.microsoft.com/office/drawing/2014/main" id="{D8ABD01E-7DBE-CC87-6FE0-09343737A76C}"/>
              </a:ext>
            </a:extLst>
          </p:cNvPr>
          <p:cNvSpPr>
            <a:spLocks noGrp="1"/>
          </p:cNvSpPr>
          <p:nvPr>
            <p:ph type="title"/>
          </p:nvPr>
        </p:nvSpPr>
        <p:spPr>
          <a:xfrm>
            <a:off x="245110" y="156742"/>
            <a:ext cx="10433050" cy="731520"/>
          </a:xfrm>
        </p:spPr>
        <p:txBody>
          <a:bodyPr vert="horz"/>
          <a:lstStyle/>
          <a:p>
            <a:r>
              <a:rPr kumimoji="1" lang="zh-CN" altLang="en-US" dirty="0">
                <a:solidFill>
                  <a:schemeClr val="tx1">
                    <a:lumMod val="50000"/>
                  </a:schemeClr>
                </a:solidFill>
                <a:cs typeface="+mn-ea"/>
                <a:sym typeface="+mn-lt"/>
              </a:rPr>
              <a:t>附录：</a:t>
            </a:r>
            <a:r>
              <a:rPr kumimoji="1" lang="en-US" altLang="zh-CN" dirty="0" err="1">
                <a:solidFill>
                  <a:schemeClr val="tx1">
                    <a:lumMod val="50000"/>
                  </a:schemeClr>
                </a:solidFill>
                <a:cs typeface="+mn-ea"/>
                <a:sym typeface="+mn-lt"/>
              </a:rPr>
              <a:t>DeepSeek</a:t>
            </a:r>
            <a:r>
              <a:rPr kumimoji="1" lang="zh-CN" altLang="en-US" dirty="0">
                <a:solidFill>
                  <a:schemeClr val="tx1">
                    <a:lumMod val="50000"/>
                  </a:schemeClr>
                </a:solidFill>
                <a:cs typeface="+mn-ea"/>
                <a:sym typeface="+mn-lt"/>
              </a:rPr>
              <a:t>，</a:t>
            </a:r>
            <a:r>
              <a:rPr lang="zh-CN" altLang="en-US" dirty="0">
                <a:cs typeface="+mn-ea"/>
                <a:sym typeface="+mn-lt"/>
              </a:rPr>
              <a:t>国内</a:t>
            </a:r>
            <a:r>
              <a:rPr lang="en-US" altLang="zh-CN" dirty="0">
                <a:cs typeface="+mn-ea"/>
                <a:sym typeface="+mn-lt"/>
              </a:rPr>
              <a:t>LLM</a:t>
            </a:r>
            <a:r>
              <a:rPr lang="zh-CN" altLang="en-US" dirty="0">
                <a:cs typeface="+mn-ea"/>
                <a:sym typeface="+mn-lt"/>
              </a:rPr>
              <a:t>受限于</a:t>
            </a:r>
            <a:r>
              <a:rPr lang="en-US" altLang="zh-CN" dirty="0">
                <a:cs typeface="+mn-ea"/>
                <a:sym typeface="+mn-lt"/>
              </a:rPr>
              <a:t>GPU</a:t>
            </a:r>
            <a:r>
              <a:rPr lang="zh-CN" altLang="en-US" dirty="0">
                <a:cs typeface="+mn-ea"/>
                <a:sym typeface="+mn-lt"/>
              </a:rPr>
              <a:t>互连带宽，</a:t>
            </a:r>
            <a:r>
              <a:rPr lang="en-US" altLang="zh-CN" dirty="0">
                <a:cs typeface="+mn-ea"/>
                <a:sym typeface="+mn-lt"/>
              </a:rPr>
              <a:t>CPO</a:t>
            </a:r>
            <a:r>
              <a:rPr lang="zh-CN" altLang="en-US" dirty="0">
                <a:cs typeface="+mn-ea"/>
                <a:sym typeface="+mn-lt"/>
              </a:rPr>
              <a:t>为优先探索方向</a:t>
            </a:r>
            <a:endParaRPr lang="zh-CN" altLang="en-US" dirty="0">
              <a:latin typeface="+mn-lt"/>
              <a:ea typeface="+mn-ea"/>
              <a:cs typeface="+mn-ea"/>
              <a:sym typeface="+mn-lt"/>
            </a:endParaRPr>
          </a:p>
        </p:txBody>
      </p:sp>
      <p:sp>
        <p:nvSpPr>
          <p:cNvPr id="3" name="文本框 2">
            <a:extLst>
              <a:ext uri="{FF2B5EF4-FFF2-40B4-BE49-F238E27FC236}">
                <a16:creationId xmlns:a16="http://schemas.microsoft.com/office/drawing/2014/main" id="{0688D2C2-4F9B-ADCB-00BD-57CEF4442C62}"/>
              </a:ext>
            </a:extLst>
          </p:cNvPr>
          <p:cNvSpPr txBox="1"/>
          <p:nvPr/>
        </p:nvSpPr>
        <p:spPr>
          <a:xfrm>
            <a:off x="362744" y="1158287"/>
            <a:ext cx="5503863" cy="327025"/>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en-US" altLang="zh-CN" dirty="0" err="1">
                <a:solidFill>
                  <a:schemeClr val="tx1">
                    <a:lumMod val="50000"/>
                  </a:schemeClr>
                </a:solidFill>
                <a:cs typeface="+mn-ea"/>
                <a:sym typeface="+mn-lt"/>
              </a:rPr>
              <a:t>MoE</a:t>
            </a:r>
            <a:r>
              <a:rPr kumimoji="1" lang="zh-CN" altLang="en-US" dirty="0">
                <a:solidFill>
                  <a:schemeClr val="tx1">
                    <a:lumMod val="50000"/>
                  </a:schemeClr>
                </a:solidFill>
                <a:cs typeface="+mn-ea"/>
                <a:sym typeface="+mn-lt"/>
              </a:rPr>
              <a:t>的</a:t>
            </a:r>
            <a:r>
              <a:rPr kumimoji="1" lang="en-US" altLang="zh-CN" dirty="0">
                <a:solidFill>
                  <a:schemeClr val="tx1">
                    <a:lumMod val="50000"/>
                  </a:schemeClr>
                </a:solidFill>
                <a:cs typeface="+mn-ea"/>
                <a:sym typeface="+mn-lt"/>
              </a:rPr>
              <a:t>All-to-All</a:t>
            </a:r>
            <a:r>
              <a:rPr kumimoji="1" lang="zh-CN" altLang="en-US" dirty="0">
                <a:solidFill>
                  <a:schemeClr val="tx1">
                    <a:lumMod val="50000"/>
                  </a:schemeClr>
                </a:solidFill>
                <a:cs typeface="+mn-ea"/>
                <a:sym typeface="+mn-lt"/>
              </a:rPr>
              <a:t>专家并行需大量节点通信，国内可得</a:t>
            </a:r>
            <a:r>
              <a:rPr kumimoji="1" lang="en-US" altLang="zh-CN" dirty="0">
                <a:solidFill>
                  <a:schemeClr val="tx1">
                    <a:lumMod val="50000"/>
                  </a:schemeClr>
                </a:solidFill>
                <a:cs typeface="+mn-ea"/>
                <a:sym typeface="+mn-lt"/>
              </a:rPr>
              <a:t>NV</a:t>
            </a:r>
            <a:r>
              <a:rPr kumimoji="1" lang="zh-CN" altLang="en-US" dirty="0">
                <a:solidFill>
                  <a:schemeClr val="tx1">
                    <a:lumMod val="50000"/>
                  </a:schemeClr>
                </a:solidFill>
                <a:cs typeface="+mn-ea"/>
                <a:sym typeface="+mn-lt"/>
              </a:rPr>
              <a:t>卡间带宽均受限 </a:t>
            </a:r>
            <a:r>
              <a:rPr kumimoji="1" lang="en-US" altLang="zh-CN" dirty="0">
                <a:solidFill>
                  <a:schemeClr val="tx1">
                    <a:lumMod val="50000"/>
                  </a:schemeClr>
                </a:solidFill>
                <a:cs typeface="+mn-ea"/>
                <a:sym typeface="+mn-lt"/>
              </a:rPr>
              <a:t>=&gt; Scale Up</a:t>
            </a:r>
            <a:r>
              <a:rPr kumimoji="1" lang="zh-CN" altLang="en-US" dirty="0">
                <a:solidFill>
                  <a:schemeClr val="tx1">
                    <a:lumMod val="50000"/>
                  </a:schemeClr>
                </a:solidFill>
                <a:cs typeface="+mn-ea"/>
                <a:sym typeface="+mn-lt"/>
              </a:rPr>
              <a:t>场景受限</a:t>
            </a:r>
            <a:endParaRPr kumimoji="1" lang="en-US" altLang="zh-CN" dirty="0">
              <a:solidFill>
                <a:schemeClr val="tx1">
                  <a:lumMod val="50000"/>
                </a:schemeClr>
              </a:solidFill>
              <a:cs typeface="+mn-ea"/>
              <a:sym typeface="+mn-lt"/>
            </a:endParaRPr>
          </a:p>
        </p:txBody>
      </p:sp>
      <p:sp>
        <p:nvSpPr>
          <p:cNvPr id="4" name="文本框 3">
            <a:extLst>
              <a:ext uri="{FF2B5EF4-FFF2-40B4-BE49-F238E27FC236}">
                <a16:creationId xmlns:a16="http://schemas.microsoft.com/office/drawing/2014/main" id="{D31535DE-CAB5-8EF9-3D1C-965D0EC3FCF8}"/>
              </a:ext>
            </a:extLst>
          </p:cNvPr>
          <p:cNvSpPr txBox="1"/>
          <p:nvPr/>
        </p:nvSpPr>
        <p:spPr>
          <a:xfrm>
            <a:off x="6485730" y="1158286"/>
            <a:ext cx="5503863" cy="327025"/>
          </a:xfrm>
          <a:prstGeom prst="rect">
            <a:avLst/>
          </a:prstGeom>
          <a:ln w="6350">
            <a:noFill/>
            <a:miter lim="800000"/>
          </a:ln>
        </p:spPr>
        <p:txBody>
          <a:bodyPr vert="horz" wrap="square" lIns="0" tIns="0" rIns="0" bIns="0" rtlCol="0">
            <a:noAutofit/>
          </a:bodyPr>
          <a:lstStyle/>
          <a:p>
            <a:pPr marL="285750" indent="-285750">
              <a:spcBef>
                <a:spcPts val="600"/>
              </a:spcBef>
              <a:spcAft>
                <a:spcPts val="600"/>
              </a:spcAft>
              <a:buFont typeface="Arial" panose="020B0604020202020204" pitchFamily="34" charset="0"/>
              <a:buChar char="•"/>
            </a:pPr>
            <a:r>
              <a:rPr kumimoji="1" lang="en-US" altLang="zh-CN" dirty="0">
                <a:solidFill>
                  <a:schemeClr val="tx1">
                    <a:lumMod val="50000"/>
                  </a:schemeClr>
                </a:solidFill>
                <a:cs typeface="+mn-ea"/>
                <a:sym typeface="+mn-lt"/>
              </a:rPr>
              <a:t>CPO</a:t>
            </a:r>
            <a:r>
              <a:rPr kumimoji="1" lang="zh-CN" altLang="en-US" dirty="0">
                <a:solidFill>
                  <a:schemeClr val="tx1">
                    <a:lumMod val="50000"/>
                  </a:schemeClr>
                </a:solidFill>
                <a:cs typeface="+mn-ea"/>
                <a:sym typeface="+mn-lt"/>
              </a:rPr>
              <a:t>可提升带宽并降低延迟 </a:t>
            </a:r>
            <a:r>
              <a:rPr kumimoji="1" lang="en-US" altLang="zh-CN" dirty="0">
                <a:solidFill>
                  <a:schemeClr val="tx1">
                    <a:lumMod val="50000"/>
                  </a:schemeClr>
                </a:solidFill>
                <a:cs typeface="+mn-ea"/>
                <a:sym typeface="+mn-lt"/>
              </a:rPr>
              <a:t>=&gt; </a:t>
            </a:r>
            <a:r>
              <a:rPr kumimoji="1" lang="zh-CN" altLang="en-US" dirty="0">
                <a:solidFill>
                  <a:schemeClr val="tx1">
                    <a:lumMod val="50000"/>
                  </a:schemeClr>
                </a:solidFill>
                <a:cs typeface="+mn-ea"/>
                <a:sym typeface="+mn-lt"/>
              </a:rPr>
              <a:t>显著提升</a:t>
            </a:r>
            <a:r>
              <a:rPr kumimoji="1" lang="en-US" altLang="zh-CN" dirty="0" err="1">
                <a:solidFill>
                  <a:schemeClr val="tx1">
                    <a:lumMod val="50000"/>
                  </a:schemeClr>
                </a:solidFill>
                <a:cs typeface="+mn-ea"/>
                <a:sym typeface="+mn-lt"/>
              </a:rPr>
              <a:t>MoE</a:t>
            </a:r>
            <a:r>
              <a:rPr kumimoji="1" lang="zh-CN" altLang="en-US" dirty="0">
                <a:solidFill>
                  <a:schemeClr val="tx1">
                    <a:lumMod val="50000"/>
                  </a:schemeClr>
                </a:solidFill>
                <a:cs typeface="+mn-ea"/>
                <a:sym typeface="+mn-lt"/>
              </a:rPr>
              <a:t>推理速度，打穿</a:t>
            </a:r>
            <a:r>
              <a:rPr kumimoji="1" lang="en-US" altLang="zh-CN" dirty="0">
                <a:solidFill>
                  <a:schemeClr val="tx1">
                    <a:lumMod val="50000"/>
                  </a:schemeClr>
                </a:solidFill>
                <a:cs typeface="+mn-ea"/>
                <a:sym typeface="+mn-lt"/>
              </a:rPr>
              <a:t>Scale Up</a:t>
            </a:r>
            <a:r>
              <a:rPr kumimoji="1" lang="zh-CN" altLang="en-US" dirty="0">
                <a:solidFill>
                  <a:schemeClr val="tx1">
                    <a:lumMod val="50000"/>
                  </a:schemeClr>
                </a:solidFill>
                <a:cs typeface="+mn-ea"/>
                <a:sym typeface="+mn-lt"/>
              </a:rPr>
              <a:t>瓶颈</a:t>
            </a:r>
            <a:endParaRPr kumimoji="1" lang="en-US" altLang="zh-CN" dirty="0">
              <a:solidFill>
                <a:schemeClr val="tx1">
                  <a:lumMod val="50000"/>
                </a:schemeClr>
              </a:solidFill>
              <a:cs typeface="+mn-ea"/>
              <a:sym typeface="+mn-lt"/>
            </a:endParaRPr>
          </a:p>
        </p:txBody>
      </p:sp>
      <p:graphicFrame>
        <p:nvGraphicFramePr>
          <p:cNvPr id="45" name="Chart 3">
            <a:extLst>
              <a:ext uri="{FF2B5EF4-FFF2-40B4-BE49-F238E27FC236}">
                <a16:creationId xmlns:a16="http://schemas.microsoft.com/office/drawing/2014/main" id="{A884C195-C692-B6F3-BA3C-AD21927B4816}"/>
              </a:ext>
            </a:extLst>
          </p:cNvPr>
          <p:cNvGraphicFramePr/>
          <p:nvPr>
            <p:custDataLst>
              <p:tags r:id="rId2"/>
            </p:custDataLst>
            <p:extLst>
              <p:ext uri="{D42A27DB-BD31-4B8C-83A1-F6EECF244321}">
                <p14:modId xmlns:p14="http://schemas.microsoft.com/office/powerpoint/2010/main" val="2961595037"/>
              </p:ext>
            </p:extLst>
          </p:nvPr>
        </p:nvGraphicFramePr>
        <p:xfrm>
          <a:off x="601663" y="2054225"/>
          <a:ext cx="4962525" cy="3876675"/>
        </p:xfrm>
        <a:graphic>
          <a:graphicData uri="http://schemas.openxmlformats.org/drawingml/2006/chart">
            <c:chart xmlns:c="http://schemas.openxmlformats.org/drawingml/2006/chart" xmlns:r="http://schemas.openxmlformats.org/officeDocument/2006/relationships" r:id="rId26"/>
          </a:graphicData>
        </a:graphic>
      </p:graphicFrame>
      <p:cxnSp>
        <p:nvCxnSpPr>
          <p:cNvPr id="3189" name="直接连接符 3188">
            <a:extLst>
              <a:ext uri="{FF2B5EF4-FFF2-40B4-BE49-F238E27FC236}">
                <a16:creationId xmlns:a16="http://schemas.microsoft.com/office/drawing/2014/main" id="{17279689-8A88-13D7-120D-CFCA19F43A74}"/>
              </a:ext>
            </a:extLst>
          </p:cNvPr>
          <p:cNvCxnSpPr/>
          <p:nvPr>
            <p:custDataLst>
              <p:tags r:id="rId3"/>
            </p:custDataLst>
          </p:nvPr>
        </p:nvCxnSpPr>
        <p:spPr bwMode="auto">
          <a:xfrm flipV="1">
            <a:off x="2895600" y="3706813"/>
            <a:ext cx="0" cy="7620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90" name="直接连接符 3189">
            <a:extLst>
              <a:ext uri="{FF2B5EF4-FFF2-40B4-BE49-F238E27FC236}">
                <a16:creationId xmlns:a16="http://schemas.microsoft.com/office/drawing/2014/main" id="{B85D1317-1610-0EBA-6F9F-B48CAFC4A303}"/>
              </a:ext>
            </a:extLst>
          </p:cNvPr>
          <p:cNvCxnSpPr/>
          <p:nvPr>
            <p:custDataLst>
              <p:tags r:id="rId4"/>
            </p:custDataLst>
          </p:nvPr>
        </p:nvCxnSpPr>
        <p:spPr bwMode="auto">
          <a:xfrm>
            <a:off x="2895600" y="3706813"/>
            <a:ext cx="1033463"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91" name="直接连接符 3190">
            <a:extLst>
              <a:ext uri="{FF2B5EF4-FFF2-40B4-BE49-F238E27FC236}">
                <a16:creationId xmlns:a16="http://schemas.microsoft.com/office/drawing/2014/main" id="{AC44FB4F-20D0-1396-69F2-40A8BF43742B}"/>
              </a:ext>
            </a:extLst>
          </p:cNvPr>
          <p:cNvCxnSpPr/>
          <p:nvPr>
            <p:custDataLst>
              <p:tags r:id="rId5"/>
            </p:custDataLst>
          </p:nvPr>
        </p:nvCxnSpPr>
        <p:spPr bwMode="auto">
          <a:xfrm>
            <a:off x="3929063" y="3706812"/>
            <a:ext cx="0" cy="946150"/>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22" name="Text Placeholder 4">
            <a:extLst>
              <a:ext uri="{FF2B5EF4-FFF2-40B4-BE49-F238E27FC236}">
                <a16:creationId xmlns:a16="http://schemas.microsoft.com/office/drawing/2014/main" id="{5CF0630B-79B5-064B-4DC6-5342A59AF50B}"/>
              </a:ext>
            </a:extLst>
          </p:cNvPr>
          <p:cNvSpPr>
            <a:spLocks/>
          </p:cNvSpPr>
          <p:nvPr>
            <p:custDataLst>
              <p:tags r:id="rId6"/>
            </p:custDataLst>
          </p:nvPr>
        </p:nvSpPr>
        <p:spPr bwMode="auto">
          <a:xfrm>
            <a:off x="1647825" y="5683250"/>
            <a:ext cx="4270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BE6837FA-80B0-482F-AC8B-DE8A5FBE4D80}" type="datetime'''''''''''''''''''''''''''''B2''''''''0''''0'''''''''''''">
              <a:rPr lang="en-US" altLang="en-US" sz="1400" smtClean="0">
                <a:cs typeface="+mn-cs"/>
              </a:rPr>
              <a:pPr/>
              <a:t>B200</a:t>
            </a:fld>
            <a:endParaRPr lang="zh-CN" altLang="en-US" sz="1400" dirty="0">
              <a:cs typeface="+mn-cs"/>
            </a:endParaRPr>
          </a:p>
        </p:txBody>
      </p:sp>
      <p:sp>
        <p:nvSpPr>
          <p:cNvPr id="25" name="Text Placeholder 4">
            <a:extLst>
              <a:ext uri="{FF2B5EF4-FFF2-40B4-BE49-F238E27FC236}">
                <a16:creationId xmlns:a16="http://schemas.microsoft.com/office/drawing/2014/main" id="{B93DC837-389C-9329-6978-FEA6CF44CA8F}"/>
              </a:ext>
            </a:extLst>
          </p:cNvPr>
          <p:cNvSpPr>
            <a:spLocks/>
          </p:cNvSpPr>
          <p:nvPr>
            <p:custDataLst>
              <p:tags r:id="rId7"/>
            </p:custDataLst>
          </p:nvPr>
        </p:nvSpPr>
        <p:spPr bwMode="auto">
          <a:xfrm>
            <a:off x="2678113" y="5683250"/>
            <a:ext cx="4365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4598D77A-0AD3-4B0F-880A-C4BD4B6BDE3B}" type="datetime'''''''''''H''''''1''''''0''0'''''''''''''''''''''''">
              <a:rPr lang="en-US" altLang="en-US" sz="1400" smtClean="0">
                <a:cs typeface="+mn-cs"/>
              </a:rPr>
              <a:pPr/>
              <a:t>H100</a:t>
            </a:fld>
            <a:endParaRPr lang="zh-CN" altLang="en-US" sz="1400" dirty="0">
              <a:cs typeface="+mn-cs"/>
            </a:endParaRPr>
          </a:p>
        </p:txBody>
      </p:sp>
      <p:sp>
        <p:nvSpPr>
          <p:cNvPr id="27" name="Text Placeholder 4">
            <a:extLst>
              <a:ext uri="{FF2B5EF4-FFF2-40B4-BE49-F238E27FC236}">
                <a16:creationId xmlns:a16="http://schemas.microsoft.com/office/drawing/2014/main" id="{DB731612-3406-ADAB-DBB8-A7621CEA4FA5}"/>
              </a:ext>
            </a:extLst>
          </p:cNvPr>
          <p:cNvSpPr>
            <a:spLocks/>
          </p:cNvSpPr>
          <p:nvPr>
            <p:custDataLst>
              <p:tags r:id="rId8"/>
            </p:custDataLst>
          </p:nvPr>
        </p:nvSpPr>
        <p:spPr bwMode="auto">
          <a:xfrm>
            <a:off x="3711575" y="5683250"/>
            <a:ext cx="4365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82FFE9A8-0B97-4A03-B85A-C5265E7436F5}" type="datetime'H''''''''''''''''''''''8''''''''''0''''0'''''">
              <a:rPr lang="en-US" altLang="en-US" sz="1400" smtClean="0">
                <a:cs typeface="+mn-cs"/>
              </a:rPr>
              <a:pPr/>
              <a:t>H800</a:t>
            </a:fld>
            <a:endParaRPr lang="zh-CN" altLang="en-US" sz="1400" dirty="0">
              <a:cs typeface="+mn-cs"/>
            </a:endParaRPr>
          </a:p>
        </p:txBody>
      </p:sp>
      <p:sp>
        <p:nvSpPr>
          <p:cNvPr id="48" name="Text Placeholder 4">
            <a:extLst>
              <a:ext uri="{FF2B5EF4-FFF2-40B4-BE49-F238E27FC236}">
                <a16:creationId xmlns:a16="http://schemas.microsoft.com/office/drawing/2014/main" id="{D3938061-DF23-39A1-DFE8-9DEFBAB5AACC}"/>
              </a:ext>
            </a:extLst>
          </p:cNvPr>
          <p:cNvSpPr>
            <a:spLocks/>
          </p:cNvSpPr>
          <p:nvPr>
            <p:custDataLst>
              <p:tags r:id="rId9"/>
            </p:custDataLst>
          </p:nvPr>
        </p:nvSpPr>
        <p:spPr bwMode="auto">
          <a:xfrm>
            <a:off x="4795838" y="5683250"/>
            <a:ext cx="3381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C83FF4F8-9EF9-43F4-BB76-728923F17331}" type="datetime'''''''''''''''H''20'''''">
              <a:rPr lang="en-US" altLang="en-US" sz="1400" smtClean="0">
                <a:cs typeface="+mn-cs"/>
              </a:rPr>
              <a:pPr/>
              <a:t>H20</a:t>
            </a:fld>
            <a:endParaRPr lang="zh-CN" altLang="en-US" sz="1400" dirty="0">
              <a:cs typeface="+mn-cs"/>
            </a:endParaRPr>
          </a:p>
        </p:txBody>
      </p:sp>
      <p:sp>
        <p:nvSpPr>
          <p:cNvPr id="3188" name="Text Placeholder 4">
            <a:extLst>
              <a:ext uri="{FF2B5EF4-FFF2-40B4-BE49-F238E27FC236}">
                <a16:creationId xmlns:a16="http://schemas.microsoft.com/office/drawing/2014/main" id="{667DC609-34F7-4B73-6A0E-7E750437B997}"/>
              </a:ext>
            </a:extLst>
          </p:cNvPr>
          <p:cNvSpPr>
            <a:spLocks/>
          </p:cNvSpPr>
          <p:nvPr>
            <p:custDataLst>
              <p:tags r:id="rId10"/>
            </p:custDataLst>
          </p:nvPr>
        </p:nvSpPr>
        <p:spPr bwMode="auto">
          <a:xfrm>
            <a:off x="3117850" y="3556000"/>
            <a:ext cx="587375" cy="301625"/>
          </a:xfrm>
          <a:prstGeom prst="ellipse">
            <a:avLst/>
          </a:prstGeom>
          <a:solidFill>
            <a:schemeClr val="bg1"/>
          </a:solidFill>
          <a:ln w="9525" cmpd="sng" algn="ctr">
            <a:solidFill>
              <a:schemeClr val="tx1"/>
            </a:solid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747CF9C-B563-46D7-A2C9-1A179AD382EC}" type="datetime'''''''''''''''-''''''''''5''6%'''''''''''''">
              <a:rPr lang="en-US" altLang="en-US" sz="1400" b="1" smtClean="0">
                <a:effectLst/>
                <a:cs typeface="+mn-cs"/>
              </a:rPr>
              <a:pPr/>
              <a:t>-56%</a:t>
            </a:fld>
            <a:endParaRPr lang="zh-CN" altLang="en-US" sz="1400" b="1" dirty="0">
              <a:cs typeface="+mn-cs"/>
            </a:endParaRPr>
          </a:p>
        </p:txBody>
      </p:sp>
      <p:sp>
        <p:nvSpPr>
          <p:cNvPr id="3208" name="文本框 3207">
            <a:extLst>
              <a:ext uri="{FF2B5EF4-FFF2-40B4-BE49-F238E27FC236}">
                <a16:creationId xmlns:a16="http://schemas.microsoft.com/office/drawing/2014/main" id="{9A00F0E1-22F8-AB54-D043-4CF37EF6CE12}"/>
              </a:ext>
            </a:extLst>
          </p:cNvPr>
          <p:cNvSpPr txBox="1"/>
          <p:nvPr/>
        </p:nvSpPr>
        <p:spPr>
          <a:xfrm>
            <a:off x="619125" y="1893193"/>
            <a:ext cx="6149975" cy="307777"/>
          </a:xfrm>
          <a:prstGeom prst="rect">
            <a:avLst/>
          </a:prstGeom>
          <a:noFill/>
        </p:spPr>
        <p:txBody>
          <a:bodyPr wrap="square">
            <a:spAutoFit/>
          </a:bodyPr>
          <a:lstStyle/>
          <a:p>
            <a:r>
              <a:rPr lang="zh-CN" altLang="en-US" sz="1400" dirty="0">
                <a:solidFill>
                  <a:schemeClr val="bg1">
                    <a:lumMod val="50000"/>
                  </a:schemeClr>
                </a:solidFill>
                <a:cs typeface="+mn-ea"/>
                <a:sym typeface="+mn-lt"/>
              </a:rPr>
              <a:t>卡间带宽（</a:t>
            </a:r>
            <a:r>
              <a:rPr lang="en-US" altLang="zh-CN" sz="1400" dirty="0">
                <a:solidFill>
                  <a:schemeClr val="bg1">
                    <a:lumMod val="50000"/>
                  </a:schemeClr>
                </a:solidFill>
                <a:cs typeface="+mn-ea"/>
                <a:sym typeface="+mn-lt"/>
              </a:rPr>
              <a:t>GB/s</a:t>
            </a:r>
            <a:r>
              <a:rPr lang="zh-CN" altLang="en-US" sz="1400" dirty="0">
                <a:solidFill>
                  <a:schemeClr val="bg1">
                    <a:lumMod val="50000"/>
                  </a:schemeClr>
                </a:solidFill>
                <a:cs typeface="+mn-ea"/>
                <a:sym typeface="+mn-lt"/>
              </a:rPr>
              <a:t>）</a:t>
            </a:r>
          </a:p>
        </p:txBody>
      </p:sp>
      <p:sp>
        <p:nvSpPr>
          <p:cNvPr id="3212" name="文本框 3211">
            <a:extLst>
              <a:ext uri="{FF2B5EF4-FFF2-40B4-BE49-F238E27FC236}">
                <a16:creationId xmlns:a16="http://schemas.microsoft.com/office/drawing/2014/main" id="{CD02F1E9-B5E8-7D9F-1D91-BE833DF93CA5}"/>
              </a:ext>
            </a:extLst>
          </p:cNvPr>
          <p:cNvSpPr txBox="1"/>
          <p:nvPr/>
        </p:nvSpPr>
        <p:spPr>
          <a:xfrm>
            <a:off x="272733" y="6251352"/>
            <a:ext cx="6536586" cy="281243"/>
          </a:xfrm>
          <a:prstGeom prst="rect">
            <a:avLst/>
          </a:prstGeom>
          <a:ln w="6350">
            <a:noFill/>
            <a:miter lim="800000"/>
          </a:ln>
        </p:spPr>
        <p:txBody>
          <a:bodyPr vert="horz" wrap="square" lIns="0" tIns="0" rIns="0" bIns="0" rtlCol="0" anchor="ctr">
            <a:noAutofit/>
          </a:bodyPr>
          <a:lstStyle/>
          <a:p>
            <a:pPr>
              <a:spcBef>
                <a:spcPts val="300"/>
              </a:spcBef>
              <a:spcAft>
                <a:spcPts val="300"/>
              </a:spcAft>
            </a:pPr>
            <a:r>
              <a:rPr kumimoji="1" lang="en-US" altLang="zh-CN" sz="1200" i="1" dirty="0">
                <a:solidFill>
                  <a:schemeClr val="tx1">
                    <a:lumMod val="50000"/>
                  </a:schemeClr>
                </a:solidFill>
                <a:cs typeface="+mn-ea"/>
                <a:sym typeface="+mn-lt"/>
              </a:rPr>
              <a:t>Source:</a:t>
            </a:r>
            <a:r>
              <a:rPr kumimoji="1" lang="zh-CN" altLang="en-US" sz="1200" i="1" dirty="0">
                <a:solidFill>
                  <a:schemeClr val="tx1">
                    <a:lumMod val="50000"/>
                  </a:schemeClr>
                </a:solidFill>
                <a:cs typeface="+mn-ea"/>
                <a:sym typeface="+mn-lt"/>
              </a:rPr>
              <a:t> </a:t>
            </a:r>
            <a:r>
              <a:rPr kumimoji="1" lang="en-US" altLang="zh-CN" sz="1200" i="1" dirty="0" err="1">
                <a:solidFill>
                  <a:schemeClr val="tx1">
                    <a:lumMod val="50000"/>
                  </a:schemeClr>
                </a:solidFill>
                <a:cs typeface="+mn-ea"/>
                <a:sym typeface="+mn-lt"/>
              </a:rPr>
              <a:t>Deepseek</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Nvidia</a:t>
            </a:r>
            <a:r>
              <a:rPr kumimoji="1" lang="zh-CN" altLang="en-US" sz="1200" i="1" dirty="0">
                <a:solidFill>
                  <a:schemeClr val="tx1">
                    <a:lumMod val="50000"/>
                  </a:schemeClr>
                </a:solidFill>
                <a:cs typeface="+mn-ea"/>
                <a:sym typeface="+mn-lt"/>
              </a:rPr>
              <a:t>、华为</a:t>
            </a:r>
            <a:endParaRPr kumimoji="1" lang="en-US" altLang="zh-CN" sz="1200" i="1" dirty="0">
              <a:solidFill>
                <a:schemeClr val="tx1">
                  <a:lumMod val="50000"/>
                </a:schemeClr>
              </a:solidFill>
              <a:cs typeface="+mn-ea"/>
              <a:sym typeface="+mn-lt"/>
            </a:endParaRPr>
          </a:p>
        </p:txBody>
      </p:sp>
      <p:graphicFrame>
        <p:nvGraphicFramePr>
          <p:cNvPr id="43" name="Chart 3">
            <a:extLst>
              <a:ext uri="{FF2B5EF4-FFF2-40B4-BE49-F238E27FC236}">
                <a16:creationId xmlns:a16="http://schemas.microsoft.com/office/drawing/2014/main" id="{B573975A-0285-3E5C-6DA7-20A43D5A4F58}"/>
              </a:ext>
            </a:extLst>
          </p:cNvPr>
          <p:cNvGraphicFramePr/>
          <p:nvPr>
            <p:custDataLst>
              <p:tags r:id="rId11"/>
            </p:custDataLst>
            <p:extLst>
              <p:ext uri="{D42A27DB-BD31-4B8C-83A1-F6EECF244321}">
                <p14:modId xmlns:p14="http://schemas.microsoft.com/office/powerpoint/2010/main" val="4035623403"/>
              </p:ext>
            </p:extLst>
          </p:nvPr>
        </p:nvGraphicFramePr>
        <p:xfrm>
          <a:off x="6629400" y="2054225"/>
          <a:ext cx="5184775" cy="3876675"/>
        </p:xfrm>
        <a:graphic>
          <a:graphicData uri="http://schemas.openxmlformats.org/drawingml/2006/chart">
            <c:chart xmlns:c="http://schemas.openxmlformats.org/drawingml/2006/chart" xmlns:r="http://schemas.openxmlformats.org/officeDocument/2006/relationships" r:id="rId27"/>
          </a:graphicData>
        </a:graphic>
      </p:graphicFrame>
      <p:cxnSp>
        <p:nvCxnSpPr>
          <p:cNvPr id="1032" name="直接连接符 1031">
            <a:extLst>
              <a:ext uri="{FF2B5EF4-FFF2-40B4-BE49-F238E27FC236}">
                <a16:creationId xmlns:a16="http://schemas.microsoft.com/office/drawing/2014/main" id="{489C291D-A898-E1B5-31F3-084C4987DCEF}"/>
              </a:ext>
            </a:extLst>
          </p:cNvPr>
          <p:cNvCxnSpPr/>
          <p:nvPr>
            <p:custDataLst>
              <p:tags r:id="rId12"/>
            </p:custDataLst>
          </p:nvPr>
        </p:nvCxnSpPr>
        <p:spPr bwMode="auto">
          <a:xfrm flipV="1">
            <a:off x="8497888" y="2063750"/>
            <a:ext cx="0" cy="31099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33" name="直接连接符 1032">
            <a:extLst>
              <a:ext uri="{FF2B5EF4-FFF2-40B4-BE49-F238E27FC236}">
                <a16:creationId xmlns:a16="http://schemas.microsoft.com/office/drawing/2014/main" id="{FF17850D-59BD-6A99-F7AB-8237D03DFC75}"/>
              </a:ext>
            </a:extLst>
          </p:cNvPr>
          <p:cNvCxnSpPr/>
          <p:nvPr>
            <p:custDataLst>
              <p:tags r:id="rId13"/>
            </p:custDataLst>
          </p:nvPr>
        </p:nvCxnSpPr>
        <p:spPr bwMode="auto">
          <a:xfrm>
            <a:off x="8497888" y="2063750"/>
            <a:ext cx="1947863"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34" name="直接连接符 1033">
            <a:extLst>
              <a:ext uri="{FF2B5EF4-FFF2-40B4-BE49-F238E27FC236}">
                <a16:creationId xmlns:a16="http://schemas.microsoft.com/office/drawing/2014/main" id="{9D19A7D8-A9B0-6CAF-D4BD-FA68C1951C75}"/>
              </a:ext>
            </a:extLst>
          </p:cNvPr>
          <p:cNvCxnSpPr/>
          <p:nvPr>
            <p:custDataLst>
              <p:tags r:id="rId14"/>
            </p:custDataLst>
          </p:nvPr>
        </p:nvCxnSpPr>
        <p:spPr bwMode="auto">
          <a:xfrm>
            <a:off x="10445750" y="2063750"/>
            <a:ext cx="0" cy="152400"/>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3236" name="Text Placeholder 4">
            <a:extLst>
              <a:ext uri="{FF2B5EF4-FFF2-40B4-BE49-F238E27FC236}">
                <a16:creationId xmlns:a16="http://schemas.microsoft.com/office/drawing/2014/main" id="{CA2AF9A1-EA8F-CDFB-945F-680E836E17D4}"/>
              </a:ext>
            </a:extLst>
          </p:cNvPr>
          <p:cNvSpPr>
            <a:spLocks/>
          </p:cNvSpPr>
          <p:nvPr>
            <p:custDataLst>
              <p:tags r:id="rId15"/>
            </p:custDataLst>
          </p:nvPr>
        </p:nvSpPr>
        <p:spPr bwMode="auto">
          <a:xfrm>
            <a:off x="7339013" y="5683250"/>
            <a:ext cx="16208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407FF8A4-CF1A-4804-9538-962E7FFA2CB7}" type="datetime'''''H80''0''（Dee''''''p''''''S''e''''''''''''ek）'''''''''''''">
              <a:rPr lang="en-US" altLang="en-US" sz="1400" smtClean="0">
                <a:cs typeface="+mn-cs"/>
              </a:rPr>
              <a:pPr/>
              <a:t>H800（DeepSeek）</a:t>
            </a:fld>
            <a:endParaRPr lang="zh-CN" altLang="en-US" sz="1400" dirty="0">
              <a:cs typeface="+mn-cs"/>
            </a:endParaRPr>
          </a:p>
        </p:txBody>
      </p:sp>
      <p:sp>
        <p:nvSpPr>
          <p:cNvPr id="3274" name="Text Placeholder 4">
            <a:extLst>
              <a:ext uri="{FF2B5EF4-FFF2-40B4-BE49-F238E27FC236}">
                <a16:creationId xmlns:a16="http://schemas.microsoft.com/office/drawing/2014/main" id="{CDE54DB7-B255-4567-B79C-01F8D665CCA4}"/>
              </a:ext>
            </a:extLst>
          </p:cNvPr>
          <p:cNvSpPr>
            <a:spLocks/>
          </p:cNvSpPr>
          <p:nvPr>
            <p:custDataLst>
              <p:tags r:id="rId16"/>
            </p:custDataLst>
          </p:nvPr>
        </p:nvSpPr>
        <p:spPr bwMode="auto">
          <a:xfrm>
            <a:off x="9518650" y="5683250"/>
            <a:ext cx="11572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6CE0737-15A9-42C4-9E59-98A7661C3EC3}" type="datetime'''''G''''''B2''''00'' ''N''''''''''''''V''''L''''''''''7''2'">
              <a:rPr lang="en-US" altLang="en-US" sz="1400" smtClean="0">
                <a:cs typeface="+mn-cs"/>
              </a:rPr>
              <a:pPr/>
              <a:t>GB200 NVL72</a:t>
            </a:fld>
            <a:endParaRPr lang="zh-CN" altLang="en-US" sz="1400" dirty="0">
              <a:cs typeface="+mn-cs"/>
            </a:endParaRPr>
          </a:p>
        </p:txBody>
      </p:sp>
      <p:sp>
        <p:nvSpPr>
          <p:cNvPr id="1031" name="Text Placeholder 4">
            <a:extLst>
              <a:ext uri="{FF2B5EF4-FFF2-40B4-BE49-F238E27FC236}">
                <a16:creationId xmlns:a16="http://schemas.microsoft.com/office/drawing/2014/main" id="{9D612BCF-D359-2703-0FED-9189AD59E616}"/>
              </a:ext>
            </a:extLst>
          </p:cNvPr>
          <p:cNvSpPr>
            <a:spLocks/>
          </p:cNvSpPr>
          <p:nvPr>
            <p:custDataLst>
              <p:tags r:id="rId17"/>
            </p:custDataLst>
          </p:nvPr>
        </p:nvSpPr>
        <p:spPr bwMode="auto">
          <a:xfrm>
            <a:off x="9190038" y="1912938"/>
            <a:ext cx="563563" cy="301625"/>
          </a:xfrm>
          <a:prstGeom prst="ellipse">
            <a:avLst/>
          </a:prstGeom>
          <a:solidFill>
            <a:schemeClr val="bg1"/>
          </a:solidFill>
          <a:ln w="9525" cmpd="sng" algn="ctr">
            <a:solidFill>
              <a:schemeClr val="tx1"/>
            </a:solid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en-US" sz="1400" b="1" dirty="0">
                <a:effectLst/>
                <a:cs typeface="+mn-cs"/>
              </a:rPr>
              <a:t>~18x</a:t>
            </a:r>
            <a:endParaRPr lang="zh-CN" altLang="en-US" sz="1400" b="1" dirty="0">
              <a:cs typeface="+mn-cs"/>
            </a:endParaRPr>
          </a:p>
        </p:txBody>
      </p:sp>
      <p:sp>
        <p:nvSpPr>
          <p:cNvPr id="3232" name="矩形 3231">
            <a:extLst>
              <a:ext uri="{FF2B5EF4-FFF2-40B4-BE49-F238E27FC236}">
                <a16:creationId xmlns:a16="http://schemas.microsoft.com/office/drawing/2014/main" id="{DD6FB50A-0F0E-AD99-4F71-B4A39453C449}"/>
              </a:ext>
            </a:extLst>
          </p:cNvPr>
          <p:cNvSpPr/>
          <p:nvPr>
            <p:custDataLst>
              <p:tags r:id="rId18"/>
            </p:custDataLst>
          </p:nvPr>
        </p:nvSpPr>
        <p:spPr bwMode="auto">
          <a:xfrm>
            <a:off x="7246938" y="6075363"/>
            <a:ext cx="250825" cy="187325"/>
          </a:xfrm>
          <a:prstGeom prst="rect">
            <a:avLst/>
          </a:prstGeom>
          <a:solidFill>
            <a:srgbClr val="C0C0C0"/>
          </a:solidFill>
          <a:ln w="10795" cap="flat" cmpd="sng" algn="ctr">
            <a:no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87" name="矩形 3286">
            <a:extLst>
              <a:ext uri="{FF2B5EF4-FFF2-40B4-BE49-F238E27FC236}">
                <a16:creationId xmlns:a16="http://schemas.microsoft.com/office/drawing/2014/main" id="{F3A8091E-0AA2-A3B7-7DF4-E30FCC185CEB}"/>
              </a:ext>
            </a:extLst>
          </p:cNvPr>
          <p:cNvSpPr/>
          <p:nvPr>
            <p:custDataLst>
              <p:tags r:id="rId19"/>
            </p:custDataLst>
          </p:nvPr>
        </p:nvSpPr>
        <p:spPr bwMode="auto">
          <a:xfrm>
            <a:off x="9112250" y="6075363"/>
            <a:ext cx="250825" cy="187325"/>
          </a:xfrm>
          <a:prstGeom prst="rect">
            <a:avLst/>
          </a:prstGeom>
          <a:solidFill>
            <a:srgbClr val="0052D9"/>
          </a:solidFill>
          <a:ln w="10795" cap="flat" cmpd="sng" algn="ctr">
            <a:no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25" name="Text Placeholder 4">
            <a:extLst>
              <a:ext uri="{FF2B5EF4-FFF2-40B4-BE49-F238E27FC236}">
                <a16:creationId xmlns:a16="http://schemas.microsoft.com/office/drawing/2014/main" id="{74138CF3-32D6-1C96-4887-850C2E408B37}"/>
              </a:ext>
            </a:extLst>
          </p:cNvPr>
          <p:cNvSpPr>
            <a:spLocks/>
          </p:cNvSpPr>
          <p:nvPr>
            <p:custDataLst>
              <p:tags r:id="rId20"/>
            </p:custDataLst>
          </p:nvPr>
        </p:nvSpPr>
        <p:spPr bwMode="auto">
          <a:xfrm>
            <a:off x="7548563" y="6070600"/>
            <a:ext cx="14620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20F57CF-62D0-476D-BDA3-336DAA2CB0A3}" type="datetime'''''卡''''''''''间带''宽''''（G''''B''/''''''''''''''''s）'''''''''">
              <a:rPr lang="zh-CN" altLang="en-US" sz="1400" smtClean="0">
                <a:cs typeface="+mn-cs"/>
              </a:rPr>
              <a:pPr/>
              <a:t>卡间带宽（GB/s）</a:t>
            </a:fld>
            <a:endParaRPr lang="zh-CN" altLang="en-US" sz="1400" dirty="0">
              <a:cs typeface="+mn-cs"/>
            </a:endParaRPr>
          </a:p>
        </p:txBody>
      </p:sp>
      <p:sp>
        <p:nvSpPr>
          <p:cNvPr id="3227" name="Text Placeholder 4">
            <a:extLst>
              <a:ext uri="{FF2B5EF4-FFF2-40B4-BE49-F238E27FC236}">
                <a16:creationId xmlns:a16="http://schemas.microsoft.com/office/drawing/2014/main" id="{6499B5B7-8740-CD48-7F3D-96227056CEE0}"/>
              </a:ext>
            </a:extLst>
          </p:cNvPr>
          <p:cNvSpPr>
            <a:spLocks/>
          </p:cNvSpPr>
          <p:nvPr>
            <p:custDataLst>
              <p:tags r:id="rId21"/>
            </p:custDataLst>
          </p:nvPr>
        </p:nvSpPr>
        <p:spPr bwMode="auto">
          <a:xfrm>
            <a:off x="9413875" y="6070600"/>
            <a:ext cx="16383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sym typeface="微软雅黑" panose="020B0503020204020204" pitchFamily="34" charset="-122"/>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sym typeface="微软雅黑" panose="020B0503020204020204" pitchFamily="34" charset="-122"/>
              </a:defRPr>
            </a:lvl2pPr>
            <a:lvl3pPr marL="438785" indent="-210185"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3pPr>
            <a:lvl4pPr marL="594360" indent="-15557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4pPr>
            <a:lvl5pPr marL="814070" indent="-14605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sym typeface="微软雅黑" panose="020B0503020204020204" pitchFamily="34" charset="-122"/>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3F3DEC2-5C84-44DD-8A91-364DF52DBB34}" type="datetime'''推''理''''速率''（''''''''to''''''''ke''''n''''''/s''''''）'">
              <a:rPr lang="zh-CN" altLang="en-US" sz="1400" smtClean="0">
                <a:solidFill>
                  <a:srgbClr val="000000"/>
                </a:solidFill>
                <a:cs typeface="+mn-cs"/>
              </a:rPr>
              <a:pPr/>
              <a:t>推理速率（token/s）</a:t>
            </a:fld>
            <a:endParaRPr lang="zh-CN" altLang="en-US" sz="1400" dirty="0">
              <a:solidFill>
                <a:srgbClr val="000000"/>
              </a:solidFill>
              <a:cs typeface="+mn-cs"/>
            </a:endParaRPr>
          </a:p>
        </p:txBody>
      </p:sp>
    </p:spTree>
    <p:extLst>
      <p:ext uri="{BB962C8B-B14F-4D97-AF65-F5344CB8AC3E}">
        <p14:creationId xmlns:p14="http://schemas.microsoft.com/office/powerpoint/2010/main" val="1198088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1850D-2873-07D1-530D-4BC613DCB159}"/>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E43ABF5-1FF2-0AE9-7070-1BB344EC8014}"/>
              </a:ext>
            </a:extLst>
          </p:cNvPr>
          <p:cNvGraphicFramePr>
            <a:graphicFrameLocks noChangeAspect="1"/>
          </p:cNvGraphicFramePr>
          <p:nvPr>
            <p:custDataLst>
              <p:tags r:id="rId1"/>
            </p:custDataLst>
            <p:extLst>
              <p:ext uri="{D42A27DB-BD31-4B8C-83A1-F6EECF244321}">
                <p14:modId xmlns:p14="http://schemas.microsoft.com/office/powerpoint/2010/main" val="23929816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4" imgH="405" progId="TCLayout.ActiveDocument.1">
                  <p:embed/>
                </p:oleObj>
              </mc:Choice>
              <mc:Fallback>
                <p:oleObj name="think-cell 幻灯片" r:id="rId4" imgW="404" imgH="405" progId="TCLayout.ActiveDocument.1">
                  <p:embed/>
                  <p:pic>
                    <p:nvPicPr>
                      <p:cNvPr id="5" name="think-cell data - do not delete" hidden="1">
                        <a:extLst>
                          <a:ext uri="{FF2B5EF4-FFF2-40B4-BE49-F238E27FC236}">
                            <a16:creationId xmlns:a16="http://schemas.microsoft.com/office/drawing/2014/main" id="{AE43ABF5-1FF2-0AE9-7070-1BB344EC80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78" name="矩形 1177">
            <a:extLst>
              <a:ext uri="{FF2B5EF4-FFF2-40B4-BE49-F238E27FC236}">
                <a16:creationId xmlns:a16="http://schemas.microsoft.com/office/drawing/2014/main" id="{766A137B-6E9D-60BB-8511-752649837184}"/>
              </a:ext>
            </a:extLst>
          </p:cNvPr>
          <p:cNvSpPr/>
          <p:nvPr/>
        </p:nvSpPr>
        <p:spPr>
          <a:xfrm>
            <a:off x="1055717" y="1412570"/>
            <a:ext cx="3264245" cy="4202202"/>
          </a:xfrm>
          <a:prstGeom prst="rect">
            <a:avLst/>
          </a:prstGeom>
          <a:solidFill>
            <a:schemeClr val="accent2">
              <a:lumMod val="20000"/>
              <a:lumOff val="80000"/>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400"/>
              </a:spcBef>
              <a:spcAft>
                <a:spcPts val="400"/>
              </a:spcAft>
            </a:pPr>
            <a:endParaRPr lang="en-US" altLang="zh-CN" sz="1600" dirty="0">
              <a:solidFill>
                <a:schemeClr val="accent6">
                  <a:lumMod val="10000"/>
                </a:schemeClr>
              </a:solidFill>
              <a:cs typeface="+mn-ea"/>
              <a:sym typeface="+mn-lt"/>
            </a:endParaRPr>
          </a:p>
        </p:txBody>
      </p:sp>
      <p:sp>
        <p:nvSpPr>
          <p:cNvPr id="22" name="文本框 21">
            <a:extLst>
              <a:ext uri="{FF2B5EF4-FFF2-40B4-BE49-F238E27FC236}">
                <a16:creationId xmlns:a16="http://schemas.microsoft.com/office/drawing/2014/main" id="{C0138FD6-C23A-0B7C-0D29-6D1A7BE959C8}"/>
              </a:ext>
            </a:extLst>
          </p:cNvPr>
          <p:cNvSpPr txBox="1"/>
          <p:nvPr/>
        </p:nvSpPr>
        <p:spPr>
          <a:xfrm>
            <a:off x="6150349" y="5702224"/>
            <a:ext cx="1666274" cy="553998"/>
          </a:xfrm>
          <a:prstGeom prst="rect">
            <a:avLst/>
          </a:prstGeom>
          <a:noFill/>
        </p:spPr>
        <p:txBody>
          <a:bodyPr wrap="square" rtlCol="0">
            <a:spAutoFit/>
          </a:bodyPr>
          <a:lstStyle/>
          <a:p>
            <a:r>
              <a:rPr lang="zh-CN" altLang="en-US" dirty="0">
                <a:solidFill>
                  <a:schemeClr val="accent6">
                    <a:lumMod val="10000"/>
                  </a:schemeClr>
                </a:solidFill>
                <a:cs typeface="+mn-ea"/>
                <a:sym typeface="+mn-lt"/>
              </a:rPr>
              <a:t>高速电芯片</a:t>
            </a:r>
            <a:r>
              <a:rPr lang="en-US" altLang="zh-CN" baseline="30000" dirty="0">
                <a:solidFill>
                  <a:schemeClr val="accent6">
                    <a:lumMod val="10000"/>
                  </a:schemeClr>
                </a:solidFill>
                <a:cs typeface="+mn-ea"/>
                <a:sym typeface="+mn-lt"/>
              </a:rPr>
              <a:t>1</a:t>
            </a:r>
            <a:endParaRPr lang="en-US" altLang="zh-CN" dirty="0">
              <a:solidFill>
                <a:schemeClr val="accent6">
                  <a:lumMod val="10000"/>
                </a:schemeClr>
              </a:solidFill>
              <a:cs typeface="+mn-ea"/>
              <a:sym typeface="+mn-lt"/>
            </a:endParaRPr>
          </a:p>
          <a:p>
            <a:r>
              <a:rPr lang="en-US" altLang="zh-CN" sz="1200" dirty="0">
                <a:solidFill>
                  <a:schemeClr val="accent6">
                    <a:lumMod val="10000"/>
                  </a:schemeClr>
                </a:solidFill>
                <a:cs typeface="+mn-ea"/>
                <a:sym typeface="+mn-lt"/>
              </a:rPr>
              <a:t>7nm-3nm</a:t>
            </a:r>
            <a:endParaRPr lang="zh-CN" altLang="en-US" sz="1200" dirty="0">
              <a:solidFill>
                <a:schemeClr val="accent6">
                  <a:lumMod val="10000"/>
                </a:schemeClr>
              </a:solidFill>
              <a:cs typeface="+mn-ea"/>
              <a:sym typeface="+mn-lt"/>
            </a:endParaRPr>
          </a:p>
        </p:txBody>
      </p:sp>
      <p:sp>
        <p:nvSpPr>
          <p:cNvPr id="40" name="文本框 39">
            <a:extLst>
              <a:ext uri="{FF2B5EF4-FFF2-40B4-BE49-F238E27FC236}">
                <a16:creationId xmlns:a16="http://schemas.microsoft.com/office/drawing/2014/main" id="{CE114883-75B7-CEE6-A305-66E44EF4A124}"/>
              </a:ext>
            </a:extLst>
          </p:cNvPr>
          <p:cNvSpPr txBox="1"/>
          <p:nvPr/>
        </p:nvSpPr>
        <p:spPr>
          <a:xfrm>
            <a:off x="792704" y="5702224"/>
            <a:ext cx="1937361" cy="553998"/>
          </a:xfrm>
          <a:prstGeom prst="rect">
            <a:avLst/>
          </a:prstGeom>
          <a:noFill/>
        </p:spPr>
        <p:txBody>
          <a:bodyPr wrap="square" rtlCol="0">
            <a:spAutoFit/>
          </a:bodyPr>
          <a:lstStyle/>
          <a:p>
            <a:pPr algn="ctr"/>
            <a:r>
              <a:rPr lang="en-US" altLang="zh-CN" dirty="0">
                <a:solidFill>
                  <a:schemeClr val="accent6">
                    <a:lumMod val="10000"/>
                  </a:schemeClr>
                </a:solidFill>
                <a:cs typeface="+mn-ea"/>
                <a:sym typeface="+mn-lt"/>
              </a:rPr>
              <a:t>800G</a:t>
            </a:r>
            <a:r>
              <a:rPr lang="zh-CN" altLang="en-US" dirty="0">
                <a:solidFill>
                  <a:schemeClr val="accent6">
                    <a:lumMod val="10000"/>
                  </a:schemeClr>
                </a:solidFill>
                <a:cs typeface="+mn-ea"/>
                <a:sym typeface="+mn-lt"/>
              </a:rPr>
              <a:t>光模块</a:t>
            </a:r>
            <a:r>
              <a:rPr lang="en-US" altLang="zh-CN" baseline="30000" dirty="0">
                <a:solidFill>
                  <a:schemeClr val="accent6">
                    <a:lumMod val="10000"/>
                  </a:schemeClr>
                </a:solidFill>
                <a:cs typeface="+mn-ea"/>
                <a:sym typeface="+mn-lt"/>
              </a:rPr>
              <a:t>1</a:t>
            </a:r>
            <a:endParaRPr lang="en-US" altLang="zh-CN" dirty="0">
              <a:solidFill>
                <a:schemeClr val="accent6">
                  <a:lumMod val="10000"/>
                </a:schemeClr>
              </a:solidFill>
              <a:cs typeface="+mn-ea"/>
              <a:sym typeface="+mn-lt"/>
            </a:endParaRPr>
          </a:p>
          <a:p>
            <a:pPr algn="ctr"/>
            <a:r>
              <a:rPr lang="zh-CN" altLang="en-US" sz="1200" dirty="0">
                <a:solidFill>
                  <a:schemeClr val="accent6">
                    <a:lumMod val="10000"/>
                  </a:schemeClr>
                </a:solidFill>
                <a:cs typeface="+mn-ea"/>
                <a:sym typeface="+mn-lt"/>
              </a:rPr>
              <a:t>纯组装 </a:t>
            </a:r>
            <a:r>
              <a:rPr lang="en-US" altLang="zh-CN" sz="1200" dirty="0">
                <a:solidFill>
                  <a:schemeClr val="accent6">
                    <a:lumMod val="10000"/>
                  </a:schemeClr>
                </a:solidFill>
                <a:cs typeface="+mn-ea"/>
                <a:sym typeface="+mn-lt"/>
              </a:rPr>
              <a:t>/ &gt;100nm</a:t>
            </a:r>
            <a:r>
              <a:rPr lang="zh-CN" altLang="en-US" sz="1200" dirty="0">
                <a:solidFill>
                  <a:schemeClr val="accent6">
                    <a:lumMod val="10000"/>
                  </a:schemeClr>
                </a:solidFill>
                <a:cs typeface="+mn-ea"/>
                <a:sym typeface="+mn-lt"/>
              </a:rPr>
              <a:t>硅光方案</a:t>
            </a:r>
          </a:p>
        </p:txBody>
      </p:sp>
      <p:sp>
        <p:nvSpPr>
          <p:cNvPr id="9" name="矩形 8">
            <a:extLst>
              <a:ext uri="{FF2B5EF4-FFF2-40B4-BE49-F238E27FC236}">
                <a16:creationId xmlns:a16="http://schemas.microsoft.com/office/drawing/2014/main" id="{8EAD2B3A-EE16-5F02-B4B5-CB5ED8546FBD}"/>
              </a:ext>
            </a:extLst>
          </p:cNvPr>
          <p:cNvSpPr/>
          <p:nvPr/>
        </p:nvSpPr>
        <p:spPr>
          <a:xfrm>
            <a:off x="7490503" y="4761871"/>
            <a:ext cx="639312" cy="6155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b="1" dirty="0">
                <a:solidFill>
                  <a:schemeClr val="accent6">
                    <a:lumMod val="10000"/>
                  </a:schemeClr>
                </a:solidFill>
                <a:cs typeface="+mn-ea"/>
                <a:sym typeface="+mn-lt"/>
              </a:rPr>
              <a:t>制程限制</a:t>
            </a:r>
            <a:endParaRPr lang="en-US" altLang="zh-CN" dirty="0">
              <a:solidFill>
                <a:schemeClr val="accent6">
                  <a:lumMod val="10000"/>
                </a:schemeClr>
              </a:solidFill>
              <a:cs typeface="+mn-ea"/>
              <a:sym typeface="+mn-lt"/>
            </a:endParaRPr>
          </a:p>
        </p:txBody>
      </p:sp>
      <p:sp>
        <p:nvSpPr>
          <p:cNvPr id="13" name="矩形 12">
            <a:extLst>
              <a:ext uri="{FF2B5EF4-FFF2-40B4-BE49-F238E27FC236}">
                <a16:creationId xmlns:a16="http://schemas.microsoft.com/office/drawing/2014/main" id="{05B60994-67D4-3FE9-A169-02E50771CFEA}"/>
              </a:ext>
            </a:extLst>
          </p:cNvPr>
          <p:cNvSpPr/>
          <p:nvPr/>
        </p:nvSpPr>
        <p:spPr>
          <a:xfrm>
            <a:off x="7448696" y="5553320"/>
            <a:ext cx="616872" cy="404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400" b="1" dirty="0">
                <a:solidFill>
                  <a:schemeClr val="accent6">
                    <a:lumMod val="10000"/>
                  </a:schemeClr>
                </a:solidFill>
                <a:cs typeface="+mn-ea"/>
                <a:sym typeface="+mn-lt"/>
              </a:rPr>
              <a:t>高</a:t>
            </a:r>
            <a:endParaRPr lang="en-US" altLang="zh-CN" sz="1400" dirty="0">
              <a:solidFill>
                <a:schemeClr val="accent6">
                  <a:lumMod val="10000"/>
                </a:schemeClr>
              </a:solidFill>
              <a:cs typeface="+mn-ea"/>
              <a:sym typeface="+mn-lt"/>
            </a:endParaRPr>
          </a:p>
        </p:txBody>
      </p:sp>
      <p:sp>
        <p:nvSpPr>
          <p:cNvPr id="25" name="矩形 24">
            <a:extLst>
              <a:ext uri="{FF2B5EF4-FFF2-40B4-BE49-F238E27FC236}">
                <a16:creationId xmlns:a16="http://schemas.microsoft.com/office/drawing/2014/main" id="{C7822525-BB48-7229-6148-831FCFB1254A}"/>
              </a:ext>
            </a:extLst>
          </p:cNvPr>
          <p:cNvSpPr/>
          <p:nvPr/>
        </p:nvSpPr>
        <p:spPr>
          <a:xfrm>
            <a:off x="1057028" y="1417920"/>
            <a:ext cx="6554469" cy="4199884"/>
          </a:xfrm>
          <a:prstGeom prst="rect">
            <a:avLst/>
          </a:prstGeom>
          <a:noFill/>
          <a:ln>
            <a:solidFill>
              <a:srgbClr val="005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EA7AF726-DA7C-A581-CAFE-FBCCA44CE89D}"/>
              </a:ext>
            </a:extLst>
          </p:cNvPr>
          <p:cNvSpPr/>
          <p:nvPr/>
        </p:nvSpPr>
        <p:spPr>
          <a:xfrm>
            <a:off x="636330" y="1018882"/>
            <a:ext cx="2647416" cy="404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400"/>
              </a:spcBef>
              <a:spcAft>
                <a:spcPts val="400"/>
              </a:spcAft>
            </a:pPr>
            <a:r>
              <a:rPr lang="zh-CN" altLang="en-US" b="1" dirty="0">
                <a:solidFill>
                  <a:schemeClr val="accent6">
                    <a:lumMod val="10000"/>
                  </a:schemeClr>
                </a:solidFill>
                <a:cs typeface="+mn-ea"/>
                <a:sym typeface="+mn-lt"/>
              </a:rPr>
              <a:t>全球市场份额</a:t>
            </a:r>
            <a:endParaRPr lang="en-US" altLang="zh-CN" b="1" dirty="0">
              <a:solidFill>
                <a:schemeClr val="accent6">
                  <a:lumMod val="10000"/>
                </a:schemeClr>
              </a:solidFill>
              <a:cs typeface="+mn-ea"/>
              <a:sym typeface="+mn-lt"/>
            </a:endParaRPr>
          </a:p>
        </p:txBody>
      </p:sp>
      <p:sp>
        <p:nvSpPr>
          <p:cNvPr id="60" name="矩形 59">
            <a:extLst>
              <a:ext uri="{FF2B5EF4-FFF2-40B4-BE49-F238E27FC236}">
                <a16:creationId xmlns:a16="http://schemas.microsoft.com/office/drawing/2014/main" id="{816A4BD6-D682-90C0-EC22-1B95E38DB751}"/>
              </a:ext>
            </a:extLst>
          </p:cNvPr>
          <p:cNvSpPr/>
          <p:nvPr/>
        </p:nvSpPr>
        <p:spPr>
          <a:xfrm>
            <a:off x="514447" y="5506898"/>
            <a:ext cx="616872" cy="404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400" b="1" dirty="0">
                <a:solidFill>
                  <a:schemeClr val="accent6">
                    <a:lumMod val="10000"/>
                  </a:schemeClr>
                </a:solidFill>
                <a:cs typeface="+mn-ea"/>
                <a:sym typeface="+mn-lt"/>
              </a:rPr>
              <a:t>低</a:t>
            </a:r>
            <a:endParaRPr lang="en-US" altLang="zh-CN" sz="1400" dirty="0">
              <a:solidFill>
                <a:schemeClr val="accent6">
                  <a:lumMod val="10000"/>
                </a:schemeClr>
              </a:solidFill>
              <a:cs typeface="+mn-ea"/>
              <a:sym typeface="+mn-lt"/>
            </a:endParaRPr>
          </a:p>
        </p:txBody>
      </p:sp>
      <p:sp>
        <p:nvSpPr>
          <p:cNvPr id="61" name="矩形 60">
            <a:extLst>
              <a:ext uri="{FF2B5EF4-FFF2-40B4-BE49-F238E27FC236}">
                <a16:creationId xmlns:a16="http://schemas.microsoft.com/office/drawing/2014/main" id="{D48ABD28-59E4-6067-45CB-166F6538C099}"/>
              </a:ext>
            </a:extLst>
          </p:cNvPr>
          <p:cNvSpPr/>
          <p:nvPr/>
        </p:nvSpPr>
        <p:spPr>
          <a:xfrm>
            <a:off x="505832" y="1340966"/>
            <a:ext cx="616872" cy="404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400" b="1" dirty="0">
                <a:solidFill>
                  <a:schemeClr val="accent6">
                    <a:lumMod val="10000"/>
                  </a:schemeClr>
                </a:solidFill>
                <a:cs typeface="+mn-ea"/>
                <a:sym typeface="+mn-lt"/>
              </a:rPr>
              <a:t>高</a:t>
            </a:r>
            <a:endParaRPr lang="en-US" altLang="zh-CN" sz="1400" dirty="0">
              <a:solidFill>
                <a:schemeClr val="accent6">
                  <a:lumMod val="10000"/>
                </a:schemeClr>
              </a:solidFill>
              <a:cs typeface="+mn-ea"/>
              <a:sym typeface="+mn-lt"/>
            </a:endParaRPr>
          </a:p>
        </p:txBody>
      </p:sp>
      <p:sp>
        <p:nvSpPr>
          <p:cNvPr id="1047" name="文本框 1046">
            <a:extLst>
              <a:ext uri="{FF2B5EF4-FFF2-40B4-BE49-F238E27FC236}">
                <a16:creationId xmlns:a16="http://schemas.microsoft.com/office/drawing/2014/main" id="{106CE5FD-87B2-A498-BCDA-2F7D9CDDE4D1}"/>
              </a:ext>
            </a:extLst>
          </p:cNvPr>
          <p:cNvSpPr txBox="1"/>
          <p:nvPr/>
        </p:nvSpPr>
        <p:spPr>
          <a:xfrm>
            <a:off x="298576" y="6414112"/>
            <a:ext cx="11446956" cy="281243"/>
          </a:xfrm>
          <a:prstGeom prst="rect">
            <a:avLst/>
          </a:prstGeom>
          <a:ln w="6350">
            <a:noFill/>
            <a:miter lim="800000"/>
          </a:ln>
        </p:spPr>
        <p:txBody>
          <a:bodyPr vert="horz" wrap="square" lIns="0" tIns="0" rIns="0" bIns="0" rtlCol="0" anchor="ctr">
            <a:noAutofit/>
          </a:bodyPr>
          <a:lstStyle/>
          <a:p>
            <a:pPr>
              <a:spcBef>
                <a:spcPts val="300"/>
              </a:spcBef>
              <a:spcAft>
                <a:spcPts val="300"/>
              </a:spcAft>
            </a:pPr>
            <a:r>
              <a:rPr kumimoji="1" lang="en-US" altLang="zh-CN" sz="1200" i="1" dirty="0">
                <a:solidFill>
                  <a:schemeClr val="tx1">
                    <a:lumMod val="50000"/>
                  </a:schemeClr>
                </a:solidFill>
                <a:cs typeface="+mn-ea"/>
                <a:sym typeface="+mn-lt"/>
              </a:rPr>
              <a:t>Source:</a:t>
            </a:r>
            <a:r>
              <a:rPr kumimoji="1" lang="zh-CN" altLang="en-US" sz="1200" i="1" dirty="0">
                <a:solidFill>
                  <a:schemeClr val="tx1">
                    <a:lumMod val="50000"/>
                  </a:schemeClr>
                </a:solidFill>
                <a:cs typeface="+mn-ea"/>
                <a:sym typeface="+mn-lt"/>
              </a:rPr>
              <a:t> 长江证券、盛科通信招股说明书、</a:t>
            </a:r>
            <a:endParaRPr kumimoji="1" lang="en-US" altLang="zh-CN" sz="1200" i="1" dirty="0">
              <a:solidFill>
                <a:schemeClr val="tx1">
                  <a:lumMod val="50000"/>
                </a:schemeClr>
              </a:solidFill>
              <a:cs typeface="+mn-ea"/>
              <a:sym typeface="+mn-lt"/>
            </a:endParaRPr>
          </a:p>
          <a:p>
            <a:pPr>
              <a:spcBef>
                <a:spcPts val="300"/>
              </a:spcBef>
              <a:spcAft>
                <a:spcPts val="300"/>
              </a:spcAft>
            </a:pPr>
            <a:r>
              <a:rPr kumimoji="1" lang="zh-CN" altLang="en-US" sz="1200" i="1" dirty="0">
                <a:solidFill>
                  <a:schemeClr val="tx1">
                    <a:lumMod val="50000"/>
                  </a:schemeClr>
                </a:solidFill>
                <a:cs typeface="+mn-ea"/>
                <a:sym typeface="+mn-lt"/>
              </a:rPr>
              <a:t>注</a:t>
            </a:r>
            <a:r>
              <a:rPr kumimoji="1" lang="en-US" altLang="zh-CN" sz="1200" i="1" dirty="0">
                <a:solidFill>
                  <a:schemeClr val="tx1">
                    <a:lumMod val="50000"/>
                  </a:schemeClr>
                </a:solidFill>
                <a:cs typeface="+mn-ea"/>
                <a:sym typeface="+mn-lt"/>
              </a:rPr>
              <a:t>1</a:t>
            </a:r>
            <a:r>
              <a:rPr kumimoji="1" lang="zh-CN" altLang="en-US" sz="1200" i="1" dirty="0">
                <a:solidFill>
                  <a:schemeClr val="tx1">
                    <a:lumMod val="50000"/>
                  </a:schemeClr>
                </a:solidFill>
                <a:cs typeface="+mn-ea"/>
                <a:sym typeface="+mn-lt"/>
              </a:rPr>
              <a:t>：</a:t>
            </a:r>
            <a:r>
              <a:rPr kumimoji="1" lang="en-US" altLang="zh-CN" sz="1200" i="1" dirty="0">
                <a:solidFill>
                  <a:schemeClr val="tx1">
                    <a:lumMod val="50000"/>
                  </a:schemeClr>
                </a:solidFill>
                <a:cs typeface="+mn-ea"/>
                <a:sym typeface="+mn-lt"/>
              </a:rPr>
              <a:t>800G</a:t>
            </a:r>
            <a:r>
              <a:rPr kumimoji="1" lang="zh-CN" altLang="en-US" sz="1200" i="1" dirty="0">
                <a:solidFill>
                  <a:schemeClr val="tx1">
                    <a:lumMod val="50000"/>
                  </a:schemeClr>
                </a:solidFill>
                <a:cs typeface="+mn-ea"/>
                <a:sym typeface="+mn-lt"/>
              </a:rPr>
              <a:t>光模块市场份额为</a:t>
            </a:r>
            <a:r>
              <a:rPr kumimoji="1" lang="en-US" altLang="zh-CN" sz="1200" i="1" dirty="0">
                <a:solidFill>
                  <a:schemeClr val="tx1">
                    <a:lumMod val="50000"/>
                  </a:schemeClr>
                </a:solidFill>
                <a:cs typeface="+mn-ea"/>
                <a:sym typeface="+mn-lt"/>
              </a:rPr>
              <a:t>2025E</a:t>
            </a:r>
            <a:r>
              <a:rPr kumimoji="1" lang="zh-CN" altLang="en-US" sz="1200" i="1" dirty="0">
                <a:solidFill>
                  <a:schemeClr val="tx1">
                    <a:lumMod val="50000"/>
                  </a:schemeClr>
                </a:solidFill>
                <a:cs typeface="+mn-ea"/>
                <a:sym typeface="+mn-lt"/>
              </a:rPr>
              <a:t>数据，封测</a:t>
            </a:r>
            <a:r>
              <a:rPr kumimoji="1" lang="en-US" altLang="zh-CN" sz="1200" i="1" dirty="0">
                <a:solidFill>
                  <a:schemeClr val="tx1">
                    <a:lumMod val="50000"/>
                  </a:schemeClr>
                </a:solidFill>
                <a:cs typeface="+mn-ea"/>
                <a:sym typeface="+mn-lt"/>
              </a:rPr>
              <a:t>OSAT</a:t>
            </a:r>
            <a:r>
              <a:rPr kumimoji="1" lang="zh-CN" altLang="en-US" sz="1200" i="1" dirty="0">
                <a:solidFill>
                  <a:schemeClr val="tx1">
                    <a:lumMod val="50000"/>
                  </a:schemeClr>
                </a:solidFill>
                <a:cs typeface="+mn-ea"/>
                <a:sym typeface="+mn-lt"/>
              </a:rPr>
              <a:t>采用</a:t>
            </a:r>
            <a:r>
              <a:rPr kumimoji="1" lang="en-US" altLang="zh-CN" sz="1200" i="1" dirty="0">
                <a:solidFill>
                  <a:schemeClr val="tx1">
                    <a:lumMod val="50000"/>
                  </a:schemeClr>
                </a:solidFill>
                <a:cs typeface="+mn-ea"/>
                <a:sym typeface="+mn-lt"/>
              </a:rPr>
              <a:t>2024A</a:t>
            </a:r>
            <a:r>
              <a:rPr kumimoji="1" lang="zh-CN" altLang="en-US" sz="1200" i="1" dirty="0">
                <a:solidFill>
                  <a:schemeClr val="tx1">
                    <a:lumMod val="50000"/>
                  </a:schemeClr>
                </a:solidFill>
                <a:cs typeface="+mn-ea"/>
                <a:sym typeface="+mn-lt"/>
              </a:rPr>
              <a:t>数据，交换机芯片采用</a:t>
            </a:r>
            <a:r>
              <a:rPr kumimoji="1" lang="en-US" altLang="zh-CN" sz="1200" i="1" dirty="0">
                <a:solidFill>
                  <a:schemeClr val="tx1">
                    <a:lumMod val="50000"/>
                  </a:schemeClr>
                </a:solidFill>
                <a:cs typeface="+mn-ea"/>
                <a:sym typeface="+mn-lt"/>
              </a:rPr>
              <a:t>2020A</a:t>
            </a:r>
            <a:r>
              <a:rPr kumimoji="1" lang="zh-CN" altLang="en-US" sz="1200" i="1" dirty="0">
                <a:solidFill>
                  <a:schemeClr val="tx1">
                    <a:lumMod val="50000"/>
                  </a:schemeClr>
                </a:solidFill>
                <a:cs typeface="+mn-ea"/>
                <a:sym typeface="+mn-lt"/>
              </a:rPr>
              <a:t>数据，电芯片采用</a:t>
            </a:r>
            <a:r>
              <a:rPr kumimoji="1" lang="en-US" altLang="zh-CN" sz="1200" i="1" dirty="0">
                <a:solidFill>
                  <a:schemeClr val="tx1">
                    <a:lumMod val="50000"/>
                  </a:schemeClr>
                </a:solidFill>
                <a:cs typeface="+mn-ea"/>
                <a:sym typeface="+mn-lt"/>
              </a:rPr>
              <a:t>2023.08 </a:t>
            </a:r>
            <a:r>
              <a:rPr kumimoji="1" lang="zh-CN" altLang="en-US" sz="1200" i="1" dirty="0">
                <a:solidFill>
                  <a:schemeClr val="tx1">
                    <a:lumMod val="50000"/>
                  </a:schemeClr>
                </a:solidFill>
                <a:cs typeface="+mn-ea"/>
                <a:sym typeface="+mn-lt"/>
              </a:rPr>
              <a:t>通信单通道</a:t>
            </a:r>
            <a:r>
              <a:rPr kumimoji="1" lang="en-US" altLang="zh-CN" sz="1200" i="1" dirty="0">
                <a:solidFill>
                  <a:schemeClr val="tx1">
                    <a:lumMod val="50000"/>
                  </a:schemeClr>
                </a:solidFill>
                <a:cs typeface="+mn-ea"/>
                <a:sym typeface="+mn-lt"/>
              </a:rPr>
              <a:t>50/100G DSP</a:t>
            </a:r>
            <a:r>
              <a:rPr kumimoji="1" lang="zh-CN" altLang="en-US" sz="1200" i="1" dirty="0">
                <a:solidFill>
                  <a:schemeClr val="tx1">
                    <a:lumMod val="50000"/>
                  </a:schemeClr>
                </a:solidFill>
                <a:cs typeface="+mn-ea"/>
                <a:sym typeface="+mn-lt"/>
              </a:rPr>
              <a:t>数据</a:t>
            </a:r>
            <a:endParaRPr kumimoji="1" lang="en-US" altLang="zh-CN" sz="1200" i="1" dirty="0">
              <a:solidFill>
                <a:schemeClr val="tx1">
                  <a:lumMod val="50000"/>
                </a:schemeClr>
              </a:solidFill>
              <a:cs typeface="+mn-ea"/>
              <a:sym typeface="+mn-lt"/>
            </a:endParaRPr>
          </a:p>
        </p:txBody>
      </p:sp>
      <p:sp>
        <p:nvSpPr>
          <p:cNvPr id="21" name="文本框 20">
            <a:extLst>
              <a:ext uri="{FF2B5EF4-FFF2-40B4-BE49-F238E27FC236}">
                <a16:creationId xmlns:a16="http://schemas.microsoft.com/office/drawing/2014/main" id="{A089ED3F-A10D-93AF-E5F7-D38F25AC8BE2}"/>
              </a:ext>
            </a:extLst>
          </p:cNvPr>
          <p:cNvSpPr txBox="1"/>
          <p:nvPr/>
        </p:nvSpPr>
        <p:spPr>
          <a:xfrm>
            <a:off x="4545192" y="5702224"/>
            <a:ext cx="1666274" cy="553998"/>
          </a:xfrm>
          <a:prstGeom prst="rect">
            <a:avLst/>
          </a:prstGeom>
          <a:noFill/>
        </p:spPr>
        <p:txBody>
          <a:bodyPr wrap="square" rtlCol="0">
            <a:spAutoFit/>
          </a:bodyPr>
          <a:lstStyle/>
          <a:p>
            <a:r>
              <a:rPr lang="zh-CN" altLang="en-US" dirty="0">
                <a:solidFill>
                  <a:schemeClr val="accent6">
                    <a:lumMod val="10000"/>
                  </a:schemeClr>
                </a:solidFill>
                <a:cs typeface="+mn-ea"/>
                <a:sym typeface="+mn-lt"/>
              </a:rPr>
              <a:t>交换机芯片</a:t>
            </a:r>
            <a:r>
              <a:rPr lang="en-US" altLang="zh-CN" baseline="30000" dirty="0">
                <a:solidFill>
                  <a:schemeClr val="accent6">
                    <a:lumMod val="10000"/>
                  </a:schemeClr>
                </a:solidFill>
                <a:cs typeface="+mn-ea"/>
                <a:sym typeface="+mn-lt"/>
              </a:rPr>
              <a:t>1</a:t>
            </a:r>
            <a:endParaRPr lang="en-US" altLang="zh-CN" dirty="0">
              <a:solidFill>
                <a:schemeClr val="accent6">
                  <a:lumMod val="10000"/>
                </a:schemeClr>
              </a:solidFill>
              <a:cs typeface="+mn-ea"/>
              <a:sym typeface="+mn-lt"/>
            </a:endParaRPr>
          </a:p>
          <a:p>
            <a:r>
              <a:rPr lang="en-US" altLang="zh-CN" sz="1200" dirty="0">
                <a:solidFill>
                  <a:schemeClr val="accent6">
                    <a:lumMod val="10000"/>
                  </a:schemeClr>
                </a:solidFill>
                <a:cs typeface="+mn-ea"/>
                <a:sym typeface="+mn-lt"/>
              </a:rPr>
              <a:t>16nm-5nm</a:t>
            </a:r>
            <a:endParaRPr lang="zh-CN" altLang="en-US" sz="1200" dirty="0">
              <a:solidFill>
                <a:schemeClr val="accent6">
                  <a:lumMod val="10000"/>
                </a:schemeClr>
              </a:solidFill>
              <a:cs typeface="+mn-ea"/>
              <a:sym typeface="+mn-lt"/>
            </a:endParaRPr>
          </a:p>
        </p:txBody>
      </p:sp>
      <p:sp>
        <p:nvSpPr>
          <p:cNvPr id="2" name="标题 1">
            <a:extLst>
              <a:ext uri="{FF2B5EF4-FFF2-40B4-BE49-F238E27FC236}">
                <a16:creationId xmlns:a16="http://schemas.microsoft.com/office/drawing/2014/main" id="{224D2C9F-3C6A-5C44-6FE5-69E4BF9DC446}"/>
              </a:ext>
            </a:extLst>
          </p:cNvPr>
          <p:cNvSpPr>
            <a:spLocks noGrp="1"/>
          </p:cNvSpPr>
          <p:nvPr>
            <p:ph type="title"/>
          </p:nvPr>
        </p:nvSpPr>
        <p:spPr>
          <a:xfrm>
            <a:off x="263143" y="159198"/>
            <a:ext cx="9677146" cy="731520"/>
          </a:xfrm>
        </p:spPr>
        <p:txBody>
          <a:bodyPr vert="horz"/>
          <a:lstStyle/>
          <a:p>
            <a:r>
              <a:rPr lang="zh-CN" altLang="en-US" dirty="0">
                <a:latin typeface="+mn-lt"/>
                <a:ea typeface="+mn-ea"/>
                <a:cs typeface="+mn-ea"/>
                <a:sym typeface="+mn-lt"/>
              </a:rPr>
              <a:t>附录：海外电强光弱、国内光强电弱</a:t>
            </a:r>
            <a:r>
              <a:rPr lang="zh-CN" altLang="en-US" dirty="0">
                <a:cs typeface="+mn-ea"/>
                <a:sym typeface="+mn-lt"/>
              </a:rPr>
              <a:t>的产业证据</a:t>
            </a:r>
            <a:endParaRPr lang="zh-CN" altLang="en-US" dirty="0">
              <a:latin typeface="+mn-lt"/>
              <a:ea typeface="+mn-ea"/>
              <a:cs typeface="+mn-ea"/>
              <a:sym typeface="+mn-lt"/>
            </a:endParaRPr>
          </a:p>
        </p:txBody>
      </p:sp>
      <p:sp>
        <p:nvSpPr>
          <p:cNvPr id="3" name="矩形 2">
            <a:extLst>
              <a:ext uri="{FF2B5EF4-FFF2-40B4-BE49-F238E27FC236}">
                <a16:creationId xmlns:a16="http://schemas.microsoft.com/office/drawing/2014/main" id="{7B25FAD6-E2C1-00CA-FAE8-1BFFF9262EE5}"/>
              </a:ext>
            </a:extLst>
          </p:cNvPr>
          <p:cNvSpPr/>
          <p:nvPr/>
        </p:nvSpPr>
        <p:spPr>
          <a:xfrm>
            <a:off x="8250804" y="1393832"/>
            <a:ext cx="3425172" cy="4236551"/>
          </a:xfrm>
          <a:prstGeom prst="rect">
            <a:avLst/>
          </a:prstGeom>
          <a:solidFill>
            <a:srgbClr val="EC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400"/>
              </a:spcBef>
              <a:spcAft>
                <a:spcPts val="400"/>
              </a:spcAft>
            </a:pPr>
            <a:endParaRPr lang="en-US" altLang="zh-CN" sz="1600" dirty="0">
              <a:solidFill>
                <a:schemeClr val="accent6">
                  <a:lumMod val="10000"/>
                </a:schemeClr>
              </a:solidFill>
              <a:cs typeface="+mn-ea"/>
              <a:sym typeface="+mn-lt"/>
            </a:endParaRPr>
          </a:p>
        </p:txBody>
      </p:sp>
      <p:sp>
        <p:nvSpPr>
          <p:cNvPr id="54" name="文本框 53">
            <a:extLst>
              <a:ext uri="{FF2B5EF4-FFF2-40B4-BE49-F238E27FC236}">
                <a16:creationId xmlns:a16="http://schemas.microsoft.com/office/drawing/2014/main" id="{A33A501B-20A6-6214-B7BB-92553CFE6FC8}"/>
              </a:ext>
            </a:extLst>
          </p:cNvPr>
          <p:cNvSpPr txBox="1"/>
          <p:nvPr/>
        </p:nvSpPr>
        <p:spPr>
          <a:xfrm>
            <a:off x="2668948" y="5702224"/>
            <a:ext cx="1937361" cy="553998"/>
          </a:xfrm>
          <a:prstGeom prst="rect">
            <a:avLst/>
          </a:prstGeom>
          <a:noFill/>
        </p:spPr>
        <p:txBody>
          <a:bodyPr wrap="square" rtlCol="0">
            <a:spAutoFit/>
          </a:bodyPr>
          <a:lstStyle/>
          <a:p>
            <a:pPr algn="ctr"/>
            <a:r>
              <a:rPr lang="zh-CN" altLang="en-US" dirty="0">
                <a:solidFill>
                  <a:schemeClr val="accent6">
                    <a:lumMod val="10000"/>
                  </a:schemeClr>
                </a:solidFill>
                <a:cs typeface="+mn-ea"/>
                <a:sym typeface="+mn-lt"/>
              </a:rPr>
              <a:t>封测</a:t>
            </a:r>
            <a:r>
              <a:rPr lang="en-US" altLang="zh-CN" dirty="0">
                <a:solidFill>
                  <a:schemeClr val="accent6">
                    <a:lumMod val="10000"/>
                  </a:schemeClr>
                </a:solidFill>
                <a:cs typeface="+mn-ea"/>
                <a:sym typeface="+mn-lt"/>
              </a:rPr>
              <a:t>OSAT</a:t>
            </a:r>
            <a:r>
              <a:rPr lang="en-US" altLang="zh-CN" baseline="30000" dirty="0">
                <a:solidFill>
                  <a:schemeClr val="accent6">
                    <a:lumMod val="10000"/>
                  </a:schemeClr>
                </a:solidFill>
                <a:cs typeface="+mn-ea"/>
                <a:sym typeface="+mn-lt"/>
              </a:rPr>
              <a:t>1</a:t>
            </a:r>
          </a:p>
          <a:p>
            <a:pPr algn="ctr"/>
            <a:r>
              <a:rPr lang="zh-CN" altLang="en-US" sz="1200" dirty="0">
                <a:solidFill>
                  <a:schemeClr val="accent6">
                    <a:lumMod val="10000"/>
                  </a:schemeClr>
                </a:solidFill>
                <a:cs typeface="+mn-ea"/>
                <a:sym typeface="+mn-lt"/>
              </a:rPr>
              <a:t>受制程限制小</a:t>
            </a:r>
          </a:p>
        </p:txBody>
      </p:sp>
      <p:grpSp>
        <p:nvGrpSpPr>
          <p:cNvPr id="1102" name="组合 1101">
            <a:extLst>
              <a:ext uri="{FF2B5EF4-FFF2-40B4-BE49-F238E27FC236}">
                <a16:creationId xmlns:a16="http://schemas.microsoft.com/office/drawing/2014/main" id="{5024EF84-C945-A336-54AA-3154EFEE117C}"/>
              </a:ext>
            </a:extLst>
          </p:cNvPr>
          <p:cNvGrpSpPr/>
          <p:nvPr/>
        </p:nvGrpSpPr>
        <p:grpSpPr>
          <a:xfrm>
            <a:off x="1199220" y="3427123"/>
            <a:ext cx="1323784" cy="279777"/>
            <a:chOff x="1199220" y="3427123"/>
            <a:chExt cx="1323784" cy="279777"/>
          </a:xfrm>
        </p:grpSpPr>
        <p:sp>
          <p:nvSpPr>
            <p:cNvPr id="39" name="椭圆 38">
              <a:extLst>
                <a:ext uri="{FF2B5EF4-FFF2-40B4-BE49-F238E27FC236}">
                  <a16:creationId xmlns:a16="http://schemas.microsoft.com/office/drawing/2014/main" id="{4483969D-BA09-89C1-F950-086883E2B888}"/>
                </a:ext>
              </a:extLst>
            </p:cNvPr>
            <p:cNvSpPr/>
            <p:nvPr/>
          </p:nvSpPr>
          <p:spPr>
            <a:xfrm>
              <a:off x="1199220" y="3516310"/>
              <a:ext cx="98624" cy="986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46" name="文本框 45">
              <a:extLst>
                <a:ext uri="{FF2B5EF4-FFF2-40B4-BE49-F238E27FC236}">
                  <a16:creationId xmlns:a16="http://schemas.microsoft.com/office/drawing/2014/main" id="{D70BAD92-ABB9-8BF7-3C89-06AF48580500}"/>
                </a:ext>
              </a:extLst>
            </p:cNvPr>
            <p:cNvSpPr txBox="1"/>
            <p:nvPr/>
          </p:nvSpPr>
          <p:spPr>
            <a:xfrm>
              <a:off x="1248532" y="3427123"/>
              <a:ext cx="983088" cy="276999"/>
            </a:xfrm>
            <a:prstGeom prst="rect">
              <a:avLst/>
            </a:prstGeom>
            <a:noFill/>
            <a:ln>
              <a:noFill/>
            </a:ln>
          </p:spPr>
          <p:txBody>
            <a:bodyPr wrap="square" rtlCol="0">
              <a:spAutoFit/>
            </a:bodyPr>
            <a:lstStyle/>
            <a:p>
              <a:r>
                <a:rPr lang="zh-CN" altLang="en-US" sz="1200" dirty="0">
                  <a:cs typeface="+mn-ea"/>
                  <a:sym typeface="+mn-lt"/>
                </a:rPr>
                <a:t>中际旭创</a:t>
              </a:r>
              <a:endParaRPr lang="en-US" altLang="zh-CN" sz="1200" dirty="0">
                <a:cs typeface="+mn-ea"/>
                <a:sym typeface="+mn-lt"/>
              </a:endParaRPr>
            </a:p>
          </p:txBody>
        </p:sp>
        <p:sp>
          <p:nvSpPr>
            <p:cNvPr id="1088" name="文本框 1087">
              <a:extLst>
                <a:ext uri="{FF2B5EF4-FFF2-40B4-BE49-F238E27FC236}">
                  <a16:creationId xmlns:a16="http://schemas.microsoft.com/office/drawing/2014/main" id="{765B199C-8422-BDF2-AA9D-608D7774B04E}"/>
                </a:ext>
              </a:extLst>
            </p:cNvPr>
            <p:cNvSpPr txBox="1"/>
            <p:nvPr/>
          </p:nvSpPr>
          <p:spPr>
            <a:xfrm>
              <a:off x="1913404" y="3429901"/>
              <a:ext cx="609600" cy="276999"/>
            </a:xfrm>
            <a:prstGeom prst="rect">
              <a:avLst/>
            </a:prstGeom>
            <a:noFill/>
          </p:spPr>
          <p:txBody>
            <a:bodyPr wrap="square">
              <a:spAutoFit/>
            </a:bodyPr>
            <a:lstStyle/>
            <a:p>
              <a:r>
                <a:rPr lang="en-US" altLang="zh-CN" sz="1200" dirty="0">
                  <a:cs typeface="+mn-ea"/>
                  <a:sym typeface="+mn-lt"/>
                </a:rPr>
                <a:t>36%</a:t>
              </a:r>
            </a:p>
          </p:txBody>
        </p:sp>
      </p:grpSp>
      <p:grpSp>
        <p:nvGrpSpPr>
          <p:cNvPr id="1103" name="组合 1102">
            <a:extLst>
              <a:ext uri="{FF2B5EF4-FFF2-40B4-BE49-F238E27FC236}">
                <a16:creationId xmlns:a16="http://schemas.microsoft.com/office/drawing/2014/main" id="{09A534F4-F8B0-3EEB-53F3-37AC1760F40A}"/>
              </a:ext>
            </a:extLst>
          </p:cNvPr>
          <p:cNvGrpSpPr/>
          <p:nvPr/>
        </p:nvGrpSpPr>
        <p:grpSpPr>
          <a:xfrm>
            <a:off x="1192184" y="4342685"/>
            <a:ext cx="1323784" cy="279777"/>
            <a:chOff x="1199220" y="3427123"/>
            <a:chExt cx="1323784" cy="279777"/>
          </a:xfrm>
        </p:grpSpPr>
        <p:sp>
          <p:nvSpPr>
            <p:cNvPr id="1104" name="椭圆 1103">
              <a:extLst>
                <a:ext uri="{FF2B5EF4-FFF2-40B4-BE49-F238E27FC236}">
                  <a16:creationId xmlns:a16="http://schemas.microsoft.com/office/drawing/2014/main" id="{02150D64-F102-4AE2-2497-C83044B02C99}"/>
                </a:ext>
              </a:extLst>
            </p:cNvPr>
            <p:cNvSpPr/>
            <p:nvPr/>
          </p:nvSpPr>
          <p:spPr>
            <a:xfrm>
              <a:off x="1199220" y="3516310"/>
              <a:ext cx="98624" cy="986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05" name="文本框 1104">
              <a:extLst>
                <a:ext uri="{FF2B5EF4-FFF2-40B4-BE49-F238E27FC236}">
                  <a16:creationId xmlns:a16="http://schemas.microsoft.com/office/drawing/2014/main" id="{3066D063-02F8-4F2A-932F-C49ED82811A6}"/>
                </a:ext>
              </a:extLst>
            </p:cNvPr>
            <p:cNvSpPr txBox="1"/>
            <p:nvPr/>
          </p:nvSpPr>
          <p:spPr>
            <a:xfrm>
              <a:off x="1248532" y="3427123"/>
              <a:ext cx="983088" cy="276999"/>
            </a:xfrm>
            <a:prstGeom prst="rect">
              <a:avLst/>
            </a:prstGeom>
            <a:noFill/>
            <a:ln>
              <a:noFill/>
            </a:ln>
          </p:spPr>
          <p:txBody>
            <a:bodyPr wrap="square" rtlCol="0">
              <a:spAutoFit/>
            </a:bodyPr>
            <a:lstStyle/>
            <a:p>
              <a:r>
                <a:rPr lang="zh-CN" altLang="en-US" sz="1200" dirty="0">
                  <a:cs typeface="+mn-ea"/>
                  <a:sym typeface="+mn-lt"/>
                </a:rPr>
                <a:t>新易盛</a:t>
              </a:r>
              <a:endParaRPr lang="en-US" altLang="zh-CN" sz="1200" dirty="0">
                <a:cs typeface="+mn-ea"/>
                <a:sym typeface="+mn-lt"/>
              </a:endParaRPr>
            </a:p>
          </p:txBody>
        </p:sp>
        <p:sp>
          <p:nvSpPr>
            <p:cNvPr id="1106" name="文本框 1105">
              <a:extLst>
                <a:ext uri="{FF2B5EF4-FFF2-40B4-BE49-F238E27FC236}">
                  <a16:creationId xmlns:a16="http://schemas.microsoft.com/office/drawing/2014/main" id="{7ACFC8E1-847F-093A-17BE-5B2BA143BCC8}"/>
                </a:ext>
              </a:extLst>
            </p:cNvPr>
            <p:cNvSpPr txBox="1"/>
            <p:nvPr/>
          </p:nvSpPr>
          <p:spPr>
            <a:xfrm>
              <a:off x="1913404" y="3429901"/>
              <a:ext cx="609600" cy="276999"/>
            </a:xfrm>
            <a:prstGeom prst="rect">
              <a:avLst/>
            </a:prstGeom>
            <a:noFill/>
          </p:spPr>
          <p:txBody>
            <a:bodyPr wrap="square">
              <a:spAutoFit/>
            </a:bodyPr>
            <a:lstStyle/>
            <a:p>
              <a:r>
                <a:rPr lang="en-US" altLang="zh-CN" sz="1200" dirty="0">
                  <a:cs typeface="+mn-ea"/>
                  <a:sym typeface="+mn-lt"/>
                </a:rPr>
                <a:t>23%</a:t>
              </a:r>
            </a:p>
          </p:txBody>
        </p:sp>
      </p:grpSp>
      <p:grpSp>
        <p:nvGrpSpPr>
          <p:cNvPr id="1107" name="组合 1106">
            <a:extLst>
              <a:ext uri="{FF2B5EF4-FFF2-40B4-BE49-F238E27FC236}">
                <a16:creationId xmlns:a16="http://schemas.microsoft.com/office/drawing/2014/main" id="{E312B6B0-D9BD-1CF4-166C-94CD1BAB6895}"/>
              </a:ext>
            </a:extLst>
          </p:cNvPr>
          <p:cNvGrpSpPr/>
          <p:nvPr/>
        </p:nvGrpSpPr>
        <p:grpSpPr>
          <a:xfrm>
            <a:off x="1191779" y="4495812"/>
            <a:ext cx="1323784" cy="279777"/>
            <a:chOff x="1199220" y="3427123"/>
            <a:chExt cx="1323784" cy="279777"/>
          </a:xfrm>
        </p:grpSpPr>
        <p:sp>
          <p:nvSpPr>
            <p:cNvPr id="1108" name="椭圆 1107">
              <a:extLst>
                <a:ext uri="{FF2B5EF4-FFF2-40B4-BE49-F238E27FC236}">
                  <a16:creationId xmlns:a16="http://schemas.microsoft.com/office/drawing/2014/main" id="{B48A8750-D14A-4001-353C-E104C37FED8B}"/>
                </a:ext>
              </a:extLst>
            </p:cNvPr>
            <p:cNvSpPr/>
            <p:nvPr/>
          </p:nvSpPr>
          <p:spPr>
            <a:xfrm>
              <a:off x="1199220" y="3516310"/>
              <a:ext cx="98624" cy="986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09" name="文本框 1108">
              <a:extLst>
                <a:ext uri="{FF2B5EF4-FFF2-40B4-BE49-F238E27FC236}">
                  <a16:creationId xmlns:a16="http://schemas.microsoft.com/office/drawing/2014/main" id="{DF42D3F1-8E55-5600-F004-49671C87229B}"/>
                </a:ext>
              </a:extLst>
            </p:cNvPr>
            <p:cNvSpPr txBox="1"/>
            <p:nvPr/>
          </p:nvSpPr>
          <p:spPr>
            <a:xfrm>
              <a:off x="1248532" y="3427123"/>
              <a:ext cx="983088" cy="276999"/>
            </a:xfrm>
            <a:prstGeom prst="rect">
              <a:avLst/>
            </a:prstGeom>
            <a:noFill/>
            <a:ln>
              <a:noFill/>
            </a:ln>
          </p:spPr>
          <p:txBody>
            <a:bodyPr wrap="square" rtlCol="0">
              <a:spAutoFit/>
            </a:bodyPr>
            <a:lstStyle/>
            <a:p>
              <a:r>
                <a:rPr lang="en-US" altLang="zh-CN" sz="1200" dirty="0">
                  <a:cs typeface="+mn-ea"/>
                  <a:sym typeface="+mn-lt"/>
                </a:rPr>
                <a:t>Coherent</a:t>
              </a:r>
            </a:p>
          </p:txBody>
        </p:sp>
        <p:sp>
          <p:nvSpPr>
            <p:cNvPr id="1110" name="文本框 1109">
              <a:extLst>
                <a:ext uri="{FF2B5EF4-FFF2-40B4-BE49-F238E27FC236}">
                  <a16:creationId xmlns:a16="http://schemas.microsoft.com/office/drawing/2014/main" id="{E522A366-CDF5-DB03-BDF5-A63DB89BE8F7}"/>
                </a:ext>
              </a:extLst>
            </p:cNvPr>
            <p:cNvSpPr txBox="1"/>
            <p:nvPr/>
          </p:nvSpPr>
          <p:spPr>
            <a:xfrm>
              <a:off x="1913404" y="3429901"/>
              <a:ext cx="609600" cy="276999"/>
            </a:xfrm>
            <a:prstGeom prst="rect">
              <a:avLst/>
            </a:prstGeom>
            <a:noFill/>
          </p:spPr>
          <p:txBody>
            <a:bodyPr wrap="square">
              <a:spAutoFit/>
            </a:bodyPr>
            <a:lstStyle/>
            <a:p>
              <a:r>
                <a:rPr lang="en-US" altLang="zh-CN" sz="1200" dirty="0">
                  <a:cs typeface="+mn-ea"/>
                  <a:sym typeface="+mn-lt"/>
                </a:rPr>
                <a:t>21%</a:t>
              </a:r>
            </a:p>
          </p:txBody>
        </p:sp>
      </p:grpSp>
      <p:grpSp>
        <p:nvGrpSpPr>
          <p:cNvPr id="1111" name="组合 1110">
            <a:extLst>
              <a:ext uri="{FF2B5EF4-FFF2-40B4-BE49-F238E27FC236}">
                <a16:creationId xmlns:a16="http://schemas.microsoft.com/office/drawing/2014/main" id="{8EC7E4E1-C015-0496-3FE7-6A1192D4D7DC}"/>
              </a:ext>
            </a:extLst>
          </p:cNvPr>
          <p:cNvGrpSpPr/>
          <p:nvPr/>
        </p:nvGrpSpPr>
        <p:grpSpPr>
          <a:xfrm>
            <a:off x="1201986" y="5247325"/>
            <a:ext cx="1323784" cy="279777"/>
            <a:chOff x="1199220" y="3427123"/>
            <a:chExt cx="1323784" cy="279777"/>
          </a:xfrm>
        </p:grpSpPr>
        <p:sp>
          <p:nvSpPr>
            <p:cNvPr id="1112" name="椭圆 1111">
              <a:extLst>
                <a:ext uri="{FF2B5EF4-FFF2-40B4-BE49-F238E27FC236}">
                  <a16:creationId xmlns:a16="http://schemas.microsoft.com/office/drawing/2014/main" id="{89CCDED0-D664-901E-E740-3076B0AD9FF0}"/>
                </a:ext>
              </a:extLst>
            </p:cNvPr>
            <p:cNvSpPr/>
            <p:nvPr/>
          </p:nvSpPr>
          <p:spPr>
            <a:xfrm>
              <a:off x="1199220" y="3516310"/>
              <a:ext cx="98624" cy="986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13" name="文本框 1112">
              <a:extLst>
                <a:ext uri="{FF2B5EF4-FFF2-40B4-BE49-F238E27FC236}">
                  <a16:creationId xmlns:a16="http://schemas.microsoft.com/office/drawing/2014/main" id="{7C786C3E-3BC3-D95C-1A42-E2CDA5D423C4}"/>
                </a:ext>
              </a:extLst>
            </p:cNvPr>
            <p:cNvSpPr txBox="1"/>
            <p:nvPr/>
          </p:nvSpPr>
          <p:spPr>
            <a:xfrm>
              <a:off x="1248532" y="3427123"/>
              <a:ext cx="983088" cy="276999"/>
            </a:xfrm>
            <a:prstGeom prst="rect">
              <a:avLst/>
            </a:prstGeom>
            <a:noFill/>
            <a:ln>
              <a:noFill/>
            </a:ln>
          </p:spPr>
          <p:txBody>
            <a:bodyPr wrap="square" rtlCol="0">
              <a:spAutoFit/>
            </a:bodyPr>
            <a:lstStyle/>
            <a:p>
              <a:r>
                <a:rPr lang="en-US" altLang="zh-CN" sz="1200" dirty="0">
                  <a:cs typeface="+mn-ea"/>
                  <a:sym typeface="+mn-lt"/>
                </a:rPr>
                <a:t>Mellanox</a:t>
              </a:r>
            </a:p>
          </p:txBody>
        </p:sp>
        <p:sp>
          <p:nvSpPr>
            <p:cNvPr id="1114" name="文本框 1113">
              <a:extLst>
                <a:ext uri="{FF2B5EF4-FFF2-40B4-BE49-F238E27FC236}">
                  <a16:creationId xmlns:a16="http://schemas.microsoft.com/office/drawing/2014/main" id="{5127584A-B658-54CC-FD42-8EA69351D5B4}"/>
                </a:ext>
              </a:extLst>
            </p:cNvPr>
            <p:cNvSpPr txBox="1"/>
            <p:nvPr/>
          </p:nvSpPr>
          <p:spPr>
            <a:xfrm>
              <a:off x="1913404" y="3429901"/>
              <a:ext cx="609600" cy="276999"/>
            </a:xfrm>
            <a:prstGeom prst="rect">
              <a:avLst/>
            </a:prstGeom>
            <a:noFill/>
          </p:spPr>
          <p:txBody>
            <a:bodyPr wrap="square">
              <a:spAutoFit/>
            </a:bodyPr>
            <a:lstStyle/>
            <a:p>
              <a:r>
                <a:rPr lang="en-US" altLang="zh-CN" sz="1200" dirty="0">
                  <a:cs typeface="+mn-ea"/>
                  <a:sym typeface="+mn-lt"/>
                </a:rPr>
                <a:t>4%</a:t>
              </a:r>
            </a:p>
          </p:txBody>
        </p:sp>
      </p:grpSp>
      <p:grpSp>
        <p:nvGrpSpPr>
          <p:cNvPr id="1115" name="组合 1114">
            <a:extLst>
              <a:ext uri="{FF2B5EF4-FFF2-40B4-BE49-F238E27FC236}">
                <a16:creationId xmlns:a16="http://schemas.microsoft.com/office/drawing/2014/main" id="{9648F1F9-AE23-E11F-D034-A317225D6682}"/>
              </a:ext>
            </a:extLst>
          </p:cNvPr>
          <p:cNvGrpSpPr/>
          <p:nvPr/>
        </p:nvGrpSpPr>
        <p:grpSpPr>
          <a:xfrm>
            <a:off x="1197924" y="5366083"/>
            <a:ext cx="1435622" cy="279230"/>
            <a:chOff x="1199220" y="3424892"/>
            <a:chExt cx="1435622" cy="279230"/>
          </a:xfrm>
        </p:grpSpPr>
        <p:sp>
          <p:nvSpPr>
            <p:cNvPr id="1116" name="椭圆 1115">
              <a:extLst>
                <a:ext uri="{FF2B5EF4-FFF2-40B4-BE49-F238E27FC236}">
                  <a16:creationId xmlns:a16="http://schemas.microsoft.com/office/drawing/2014/main" id="{4D8CF465-2A26-6E27-72E8-34D3002E7BC2}"/>
                </a:ext>
              </a:extLst>
            </p:cNvPr>
            <p:cNvSpPr/>
            <p:nvPr/>
          </p:nvSpPr>
          <p:spPr>
            <a:xfrm>
              <a:off x="1199220" y="3516310"/>
              <a:ext cx="98624" cy="986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17" name="文本框 1116">
              <a:extLst>
                <a:ext uri="{FF2B5EF4-FFF2-40B4-BE49-F238E27FC236}">
                  <a16:creationId xmlns:a16="http://schemas.microsoft.com/office/drawing/2014/main" id="{64173DB0-12D2-C9BF-49C0-31ACEF14E5D1}"/>
                </a:ext>
              </a:extLst>
            </p:cNvPr>
            <p:cNvSpPr txBox="1"/>
            <p:nvPr/>
          </p:nvSpPr>
          <p:spPr>
            <a:xfrm>
              <a:off x="1240391" y="3427123"/>
              <a:ext cx="991545" cy="276999"/>
            </a:xfrm>
            <a:prstGeom prst="rect">
              <a:avLst/>
            </a:prstGeom>
            <a:noFill/>
            <a:ln>
              <a:noFill/>
            </a:ln>
          </p:spPr>
          <p:txBody>
            <a:bodyPr wrap="square" rtlCol="0">
              <a:spAutoFit/>
            </a:bodyPr>
            <a:lstStyle/>
            <a:p>
              <a:r>
                <a:rPr lang="zh-CN" altLang="en-US" sz="1200" dirty="0">
                  <a:cs typeface="+mn-ea"/>
                  <a:sym typeface="+mn-lt"/>
                </a:rPr>
                <a:t>光迅</a:t>
              </a:r>
              <a:r>
                <a:rPr lang="en-US" altLang="zh-CN" sz="1200" dirty="0">
                  <a:cs typeface="+mn-ea"/>
                  <a:sym typeface="+mn-lt"/>
                </a:rPr>
                <a:t>&amp;</a:t>
              </a:r>
              <a:r>
                <a:rPr lang="zh-CN" altLang="en-US" sz="1200" dirty="0">
                  <a:cs typeface="+mn-ea"/>
                  <a:sym typeface="+mn-lt"/>
                </a:rPr>
                <a:t>华工</a:t>
              </a:r>
              <a:endParaRPr lang="en-US" altLang="zh-CN" sz="1200" dirty="0">
                <a:cs typeface="+mn-ea"/>
                <a:sym typeface="+mn-lt"/>
              </a:endParaRPr>
            </a:p>
          </p:txBody>
        </p:sp>
        <p:sp>
          <p:nvSpPr>
            <p:cNvPr id="1118" name="文本框 1117">
              <a:extLst>
                <a:ext uri="{FF2B5EF4-FFF2-40B4-BE49-F238E27FC236}">
                  <a16:creationId xmlns:a16="http://schemas.microsoft.com/office/drawing/2014/main" id="{D48B6659-70F2-9D92-9689-A8C8FE027F38}"/>
                </a:ext>
              </a:extLst>
            </p:cNvPr>
            <p:cNvSpPr txBox="1"/>
            <p:nvPr/>
          </p:nvSpPr>
          <p:spPr>
            <a:xfrm>
              <a:off x="2025242" y="3424892"/>
              <a:ext cx="609600" cy="276999"/>
            </a:xfrm>
            <a:prstGeom prst="rect">
              <a:avLst/>
            </a:prstGeom>
            <a:noFill/>
          </p:spPr>
          <p:txBody>
            <a:bodyPr wrap="square">
              <a:spAutoFit/>
            </a:bodyPr>
            <a:lstStyle/>
            <a:p>
              <a:r>
                <a:rPr lang="en-US" altLang="zh-CN" sz="1200" dirty="0">
                  <a:cs typeface="+mn-ea"/>
                  <a:sym typeface="+mn-lt"/>
                </a:rPr>
                <a:t>4%</a:t>
              </a:r>
            </a:p>
          </p:txBody>
        </p:sp>
      </p:grpSp>
      <p:grpSp>
        <p:nvGrpSpPr>
          <p:cNvPr id="1168" name="组合 1167">
            <a:extLst>
              <a:ext uri="{FF2B5EF4-FFF2-40B4-BE49-F238E27FC236}">
                <a16:creationId xmlns:a16="http://schemas.microsoft.com/office/drawing/2014/main" id="{1962CB7F-79B6-1634-F2BE-53AAD9C97660}"/>
              </a:ext>
            </a:extLst>
          </p:cNvPr>
          <p:cNvGrpSpPr/>
          <p:nvPr/>
        </p:nvGrpSpPr>
        <p:grpSpPr>
          <a:xfrm>
            <a:off x="3105557" y="3154643"/>
            <a:ext cx="1327426" cy="2319235"/>
            <a:chOff x="2884521" y="3150278"/>
            <a:chExt cx="1327426" cy="2319235"/>
          </a:xfrm>
        </p:grpSpPr>
        <p:grpSp>
          <p:nvGrpSpPr>
            <p:cNvPr id="1119" name="组合 1118">
              <a:extLst>
                <a:ext uri="{FF2B5EF4-FFF2-40B4-BE49-F238E27FC236}">
                  <a16:creationId xmlns:a16="http://schemas.microsoft.com/office/drawing/2014/main" id="{25C84C8D-05E7-BA24-FC42-7392C40FD70A}"/>
                </a:ext>
              </a:extLst>
            </p:cNvPr>
            <p:cNvGrpSpPr/>
            <p:nvPr/>
          </p:nvGrpSpPr>
          <p:grpSpPr>
            <a:xfrm>
              <a:off x="2884521" y="3150278"/>
              <a:ext cx="1323784" cy="279777"/>
              <a:chOff x="1199220" y="3427123"/>
              <a:chExt cx="1323784" cy="279777"/>
            </a:xfrm>
          </p:grpSpPr>
          <p:sp>
            <p:nvSpPr>
              <p:cNvPr id="1120" name="椭圆 1119">
                <a:extLst>
                  <a:ext uri="{FF2B5EF4-FFF2-40B4-BE49-F238E27FC236}">
                    <a16:creationId xmlns:a16="http://schemas.microsoft.com/office/drawing/2014/main" id="{528A4502-F399-C3C3-222A-563DBF2D0D70}"/>
                  </a:ext>
                </a:extLst>
              </p:cNvPr>
              <p:cNvSpPr/>
              <p:nvPr/>
            </p:nvSpPr>
            <p:spPr>
              <a:xfrm>
                <a:off x="1199220" y="3516310"/>
                <a:ext cx="98624" cy="986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21" name="文本框 1120">
                <a:extLst>
                  <a:ext uri="{FF2B5EF4-FFF2-40B4-BE49-F238E27FC236}">
                    <a16:creationId xmlns:a16="http://schemas.microsoft.com/office/drawing/2014/main" id="{1E08CBEB-9A57-7029-527F-A65AA15F3A42}"/>
                  </a:ext>
                </a:extLst>
              </p:cNvPr>
              <p:cNvSpPr txBox="1"/>
              <p:nvPr/>
            </p:nvSpPr>
            <p:spPr>
              <a:xfrm>
                <a:off x="1248532" y="3427123"/>
                <a:ext cx="983088" cy="276999"/>
              </a:xfrm>
              <a:prstGeom prst="rect">
                <a:avLst/>
              </a:prstGeom>
              <a:noFill/>
              <a:ln>
                <a:noFill/>
              </a:ln>
            </p:spPr>
            <p:txBody>
              <a:bodyPr wrap="square" rtlCol="0">
                <a:spAutoFit/>
              </a:bodyPr>
              <a:lstStyle/>
              <a:p>
                <a:r>
                  <a:rPr lang="zh-CN" altLang="en-US" sz="1200" dirty="0">
                    <a:cs typeface="+mn-ea"/>
                    <a:sym typeface="+mn-lt"/>
                  </a:rPr>
                  <a:t>日月光</a:t>
                </a:r>
                <a:endParaRPr lang="en-US" altLang="zh-CN" sz="1200" dirty="0">
                  <a:cs typeface="+mn-ea"/>
                  <a:sym typeface="+mn-lt"/>
                </a:endParaRPr>
              </a:p>
            </p:txBody>
          </p:sp>
          <p:sp>
            <p:nvSpPr>
              <p:cNvPr id="1122" name="文本框 1121">
                <a:extLst>
                  <a:ext uri="{FF2B5EF4-FFF2-40B4-BE49-F238E27FC236}">
                    <a16:creationId xmlns:a16="http://schemas.microsoft.com/office/drawing/2014/main" id="{B4376F1F-0129-7D64-523D-8E2086F97DD0}"/>
                  </a:ext>
                </a:extLst>
              </p:cNvPr>
              <p:cNvSpPr txBox="1"/>
              <p:nvPr/>
            </p:nvSpPr>
            <p:spPr>
              <a:xfrm>
                <a:off x="1913404" y="3429901"/>
                <a:ext cx="609600" cy="276999"/>
              </a:xfrm>
              <a:prstGeom prst="rect">
                <a:avLst/>
              </a:prstGeom>
              <a:noFill/>
            </p:spPr>
            <p:txBody>
              <a:bodyPr wrap="square">
                <a:spAutoFit/>
              </a:bodyPr>
              <a:lstStyle/>
              <a:p>
                <a:r>
                  <a:rPr lang="en-US" altLang="zh-CN" sz="1200" dirty="0">
                    <a:cs typeface="+mn-ea"/>
                    <a:sym typeface="+mn-lt"/>
                  </a:rPr>
                  <a:t>45%</a:t>
                </a:r>
              </a:p>
            </p:txBody>
          </p:sp>
        </p:grpSp>
        <p:grpSp>
          <p:nvGrpSpPr>
            <p:cNvPr id="1123" name="组合 1122">
              <a:extLst>
                <a:ext uri="{FF2B5EF4-FFF2-40B4-BE49-F238E27FC236}">
                  <a16:creationId xmlns:a16="http://schemas.microsoft.com/office/drawing/2014/main" id="{4B203E11-EFF9-DF37-D751-4250CFB257C3}"/>
                </a:ext>
              </a:extLst>
            </p:cNvPr>
            <p:cNvGrpSpPr/>
            <p:nvPr/>
          </p:nvGrpSpPr>
          <p:grpSpPr>
            <a:xfrm>
              <a:off x="2884521" y="4737617"/>
              <a:ext cx="1323784" cy="279777"/>
              <a:chOff x="1199220" y="3427123"/>
              <a:chExt cx="1323784" cy="279777"/>
            </a:xfrm>
          </p:grpSpPr>
          <p:sp>
            <p:nvSpPr>
              <p:cNvPr id="1124" name="椭圆 1123">
                <a:extLst>
                  <a:ext uri="{FF2B5EF4-FFF2-40B4-BE49-F238E27FC236}">
                    <a16:creationId xmlns:a16="http://schemas.microsoft.com/office/drawing/2014/main" id="{C4DD28A2-ECD0-1C21-A94B-61F165BCABA6}"/>
                  </a:ext>
                </a:extLst>
              </p:cNvPr>
              <p:cNvSpPr/>
              <p:nvPr/>
            </p:nvSpPr>
            <p:spPr>
              <a:xfrm>
                <a:off x="1199220" y="3516310"/>
                <a:ext cx="98624" cy="986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25" name="文本框 1124">
                <a:extLst>
                  <a:ext uri="{FF2B5EF4-FFF2-40B4-BE49-F238E27FC236}">
                    <a16:creationId xmlns:a16="http://schemas.microsoft.com/office/drawing/2014/main" id="{2525946A-27C8-77FD-92E9-936DF0A65C2F}"/>
                  </a:ext>
                </a:extLst>
              </p:cNvPr>
              <p:cNvSpPr txBox="1"/>
              <p:nvPr/>
            </p:nvSpPr>
            <p:spPr>
              <a:xfrm>
                <a:off x="1248532" y="3427123"/>
                <a:ext cx="983088" cy="276999"/>
              </a:xfrm>
              <a:prstGeom prst="rect">
                <a:avLst/>
              </a:prstGeom>
              <a:noFill/>
              <a:ln>
                <a:noFill/>
              </a:ln>
            </p:spPr>
            <p:txBody>
              <a:bodyPr wrap="square" rtlCol="0">
                <a:spAutoFit/>
              </a:bodyPr>
              <a:lstStyle/>
              <a:p>
                <a:r>
                  <a:rPr lang="en-US" altLang="zh-CN" sz="1200" dirty="0">
                    <a:cs typeface="+mn-ea"/>
                    <a:sym typeface="+mn-lt"/>
                  </a:rPr>
                  <a:t>Amkor</a:t>
                </a:r>
              </a:p>
            </p:txBody>
          </p:sp>
          <p:sp>
            <p:nvSpPr>
              <p:cNvPr id="1126" name="文本框 1125">
                <a:extLst>
                  <a:ext uri="{FF2B5EF4-FFF2-40B4-BE49-F238E27FC236}">
                    <a16:creationId xmlns:a16="http://schemas.microsoft.com/office/drawing/2014/main" id="{9A339E26-BBB2-866B-94A3-032A551BBF6F}"/>
                  </a:ext>
                </a:extLst>
              </p:cNvPr>
              <p:cNvSpPr txBox="1"/>
              <p:nvPr/>
            </p:nvSpPr>
            <p:spPr>
              <a:xfrm>
                <a:off x="1913404" y="3429901"/>
                <a:ext cx="609600" cy="276999"/>
              </a:xfrm>
              <a:prstGeom prst="rect">
                <a:avLst/>
              </a:prstGeom>
              <a:noFill/>
            </p:spPr>
            <p:txBody>
              <a:bodyPr wrap="square">
                <a:spAutoFit/>
              </a:bodyPr>
              <a:lstStyle/>
              <a:p>
                <a:r>
                  <a:rPr lang="en-US" altLang="zh-CN" sz="1200" dirty="0">
                    <a:cs typeface="+mn-ea"/>
                    <a:sym typeface="+mn-lt"/>
                  </a:rPr>
                  <a:t>16%</a:t>
                </a:r>
              </a:p>
            </p:txBody>
          </p:sp>
        </p:grpSp>
        <p:grpSp>
          <p:nvGrpSpPr>
            <p:cNvPr id="1129" name="组合 1128">
              <a:extLst>
                <a:ext uri="{FF2B5EF4-FFF2-40B4-BE49-F238E27FC236}">
                  <a16:creationId xmlns:a16="http://schemas.microsoft.com/office/drawing/2014/main" id="{73D6D191-C45F-884D-4EFC-7397EBB01645}"/>
                </a:ext>
              </a:extLst>
            </p:cNvPr>
            <p:cNvGrpSpPr/>
            <p:nvPr/>
          </p:nvGrpSpPr>
          <p:grpSpPr>
            <a:xfrm>
              <a:off x="2887497" y="5063936"/>
              <a:ext cx="1323784" cy="279777"/>
              <a:chOff x="1199220" y="3427123"/>
              <a:chExt cx="1323784" cy="279777"/>
            </a:xfrm>
          </p:grpSpPr>
          <p:sp>
            <p:nvSpPr>
              <p:cNvPr id="1130" name="椭圆 1129">
                <a:extLst>
                  <a:ext uri="{FF2B5EF4-FFF2-40B4-BE49-F238E27FC236}">
                    <a16:creationId xmlns:a16="http://schemas.microsoft.com/office/drawing/2014/main" id="{38C4871E-A370-4E98-B955-4C1E74C57C80}"/>
                  </a:ext>
                </a:extLst>
              </p:cNvPr>
              <p:cNvSpPr/>
              <p:nvPr/>
            </p:nvSpPr>
            <p:spPr>
              <a:xfrm>
                <a:off x="1199220" y="3516310"/>
                <a:ext cx="98624" cy="986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31" name="文本框 1130">
                <a:extLst>
                  <a:ext uri="{FF2B5EF4-FFF2-40B4-BE49-F238E27FC236}">
                    <a16:creationId xmlns:a16="http://schemas.microsoft.com/office/drawing/2014/main" id="{8C4CF3E2-BD15-5349-B046-162A3794C5FB}"/>
                  </a:ext>
                </a:extLst>
              </p:cNvPr>
              <p:cNvSpPr txBox="1"/>
              <p:nvPr/>
            </p:nvSpPr>
            <p:spPr>
              <a:xfrm>
                <a:off x="1248532" y="3427123"/>
                <a:ext cx="983088" cy="276999"/>
              </a:xfrm>
              <a:prstGeom prst="rect">
                <a:avLst/>
              </a:prstGeom>
              <a:noFill/>
              <a:ln>
                <a:noFill/>
              </a:ln>
            </p:spPr>
            <p:txBody>
              <a:bodyPr wrap="square" rtlCol="0">
                <a:spAutoFit/>
              </a:bodyPr>
              <a:lstStyle/>
              <a:p>
                <a:r>
                  <a:rPr lang="zh-CN" altLang="en-US" sz="1200" dirty="0">
                    <a:cs typeface="+mn-ea"/>
                    <a:sym typeface="+mn-lt"/>
                  </a:rPr>
                  <a:t>长电科技</a:t>
                </a:r>
                <a:endParaRPr lang="en-US" altLang="zh-CN" sz="1200" dirty="0">
                  <a:cs typeface="+mn-ea"/>
                  <a:sym typeface="+mn-lt"/>
                </a:endParaRPr>
              </a:p>
            </p:txBody>
          </p:sp>
          <p:sp>
            <p:nvSpPr>
              <p:cNvPr id="1132" name="文本框 1131">
                <a:extLst>
                  <a:ext uri="{FF2B5EF4-FFF2-40B4-BE49-F238E27FC236}">
                    <a16:creationId xmlns:a16="http://schemas.microsoft.com/office/drawing/2014/main" id="{2D6E1C32-866E-4302-FBAC-048CBCBAB3D8}"/>
                  </a:ext>
                </a:extLst>
              </p:cNvPr>
              <p:cNvSpPr txBox="1"/>
              <p:nvPr/>
            </p:nvSpPr>
            <p:spPr>
              <a:xfrm>
                <a:off x="1913404" y="3429901"/>
                <a:ext cx="609600" cy="276999"/>
              </a:xfrm>
              <a:prstGeom prst="rect">
                <a:avLst/>
              </a:prstGeom>
              <a:noFill/>
            </p:spPr>
            <p:txBody>
              <a:bodyPr wrap="square">
                <a:spAutoFit/>
              </a:bodyPr>
              <a:lstStyle/>
              <a:p>
                <a:r>
                  <a:rPr lang="en-US" altLang="zh-CN" sz="1200" dirty="0">
                    <a:cs typeface="+mn-ea"/>
                    <a:sym typeface="+mn-lt"/>
                  </a:rPr>
                  <a:t>11%</a:t>
                </a:r>
              </a:p>
            </p:txBody>
          </p:sp>
        </p:grpSp>
        <p:grpSp>
          <p:nvGrpSpPr>
            <p:cNvPr id="1133" name="组合 1132">
              <a:extLst>
                <a:ext uri="{FF2B5EF4-FFF2-40B4-BE49-F238E27FC236}">
                  <a16:creationId xmlns:a16="http://schemas.microsoft.com/office/drawing/2014/main" id="{ACB28073-8200-7C00-F395-1DB9B62BB407}"/>
                </a:ext>
              </a:extLst>
            </p:cNvPr>
            <p:cNvGrpSpPr/>
            <p:nvPr/>
          </p:nvGrpSpPr>
          <p:grpSpPr>
            <a:xfrm>
              <a:off x="2888163" y="5189736"/>
              <a:ext cx="1323784" cy="279777"/>
              <a:chOff x="1199220" y="3427123"/>
              <a:chExt cx="1323784" cy="279777"/>
            </a:xfrm>
          </p:grpSpPr>
          <p:sp>
            <p:nvSpPr>
              <p:cNvPr id="1134" name="椭圆 1133">
                <a:extLst>
                  <a:ext uri="{FF2B5EF4-FFF2-40B4-BE49-F238E27FC236}">
                    <a16:creationId xmlns:a16="http://schemas.microsoft.com/office/drawing/2014/main" id="{78057413-C885-2DC5-211B-1AA123481536}"/>
                  </a:ext>
                </a:extLst>
              </p:cNvPr>
              <p:cNvSpPr/>
              <p:nvPr/>
            </p:nvSpPr>
            <p:spPr>
              <a:xfrm>
                <a:off x="1199220" y="3516310"/>
                <a:ext cx="98624" cy="986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35" name="文本框 1134">
                <a:extLst>
                  <a:ext uri="{FF2B5EF4-FFF2-40B4-BE49-F238E27FC236}">
                    <a16:creationId xmlns:a16="http://schemas.microsoft.com/office/drawing/2014/main" id="{4D194E6A-6B58-2956-8D7D-726B7E69B17C}"/>
                  </a:ext>
                </a:extLst>
              </p:cNvPr>
              <p:cNvSpPr txBox="1"/>
              <p:nvPr/>
            </p:nvSpPr>
            <p:spPr>
              <a:xfrm>
                <a:off x="1248532" y="3427123"/>
                <a:ext cx="983088" cy="276999"/>
              </a:xfrm>
              <a:prstGeom prst="rect">
                <a:avLst/>
              </a:prstGeom>
              <a:noFill/>
              <a:ln>
                <a:noFill/>
              </a:ln>
            </p:spPr>
            <p:txBody>
              <a:bodyPr wrap="square" rtlCol="0">
                <a:spAutoFit/>
              </a:bodyPr>
              <a:lstStyle/>
              <a:p>
                <a:r>
                  <a:rPr lang="zh-CN" altLang="en-US" sz="1200" dirty="0">
                    <a:cs typeface="+mn-ea"/>
                    <a:sym typeface="+mn-lt"/>
                  </a:rPr>
                  <a:t>通富微电</a:t>
                </a:r>
                <a:endParaRPr lang="en-US" altLang="zh-CN" sz="1200" dirty="0">
                  <a:cs typeface="+mn-ea"/>
                  <a:sym typeface="+mn-lt"/>
                </a:endParaRPr>
              </a:p>
            </p:txBody>
          </p:sp>
          <p:sp>
            <p:nvSpPr>
              <p:cNvPr id="1136" name="文本框 1135">
                <a:extLst>
                  <a:ext uri="{FF2B5EF4-FFF2-40B4-BE49-F238E27FC236}">
                    <a16:creationId xmlns:a16="http://schemas.microsoft.com/office/drawing/2014/main" id="{252E2792-5D13-0DC6-23B3-4DE0FBFCDC78}"/>
                  </a:ext>
                </a:extLst>
              </p:cNvPr>
              <p:cNvSpPr txBox="1"/>
              <p:nvPr/>
            </p:nvSpPr>
            <p:spPr>
              <a:xfrm>
                <a:off x="1913404" y="3429901"/>
                <a:ext cx="609600" cy="276999"/>
              </a:xfrm>
              <a:prstGeom prst="rect">
                <a:avLst/>
              </a:prstGeom>
              <a:noFill/>
            </p:spPr>
            <p:txBody>
              <a:bodyPr wrap="square">
                <a:spAutoFit/>
              </a:bodyPr>
              <a:lstStyle/>
              <a:p>
                <a:r>
                  <a:rPr lang="en-US" altLang="zh-CN" sz="1200" dirty="0">
                    <a:cs typeface="+mn-ea"/>
                    <a:sym typeface="+mn-lt"/>
                  </a:rPr>
                  <a:t>8%</a:t>
                </a:r>
              </a:p>
            </p:txBody>
          </p:sp>
        </p:grpSp>
      </p:grpSp>
      <p:grpSp>
        <p:nvGrpSpPr>
          <p:cNvPr id="1167" name="组合 1166">
            <a:extLst>
              <a:ext uri="{FF2B5EF4-FFF2-40B4-BE49-F238E27FC236}">
                <a16:creationId xmlns:a16="http://schemas.microsoft.com/office/drawing/2014/main" id="{CAB3A985-C160-8A40-405E-408624D8D9F9}"/>
              </a:ext>
            </a:extLst>
          </p:cNvPr>
          <p:cNvGrpSpPr/>
          <p:nvPr/>
        </p:nvGrpSpPr>
        <p:grpSpPr>
          <a:xfrm>
            <a:off x="4658300" y="2252748"/>
            <a:ext cx="1859636" cy="3436660"/>
            <a:chOff x="4379834" y="2234081"/>
            <a:chExt cx="1859636" cy="3436660"/>
          </a:xfrm>
        </p:grpSpPr>
        <p:grpSp>
          <p:nvGrpSpPr>
            <p:cNvPr id="1137" name="组合 1136">
              <a:extLst>
                <a:ext uri="{FF2B5EF4-FFF2-40B4-BE49-F238E27FC236}">
                  <a16:creationId xmlns:a16="http://schemas.microsoft.com/office/drawing/2014/main" id="{C9704A9E-86A6-352C-6E3B-9F31056F3B6C}"/>
                </a:ext>
              </a:extLst>
            </p:cNvPr>
            <p:cNvGrpSpPr/>
            <p:nvPr/>
          </p:nvGrpSpPr>
          <p:grpSpPr>
            <a:xfrm>
              <a:off x="4379834" y="4399518"/>
              <a:ext cx="1331482" cy="351828"/>
              <a:chOff x="1199220" y="3403434"/>
              <a:chExt cx="1331482" cy="351828"/>
            </a:xfrm>
          </p:grpSpPr>
          <p:sp>
            <p:nvSpPr>
              <p:cNvPr id="1138" name="椭圆 1137">
                <a:extLst>
                  <a:ext uri="{FF2B5EF4-FFF2-40B4-BE49-F238E27FC236}">
                    <a16:creationId xmlns:a16="http://schemas.microsoft.com/office/drawing/2014/main" id="{C0434E92-B628-5D85-1C05-A73ECD48C1FD}"/>
                  </a:ext>
                </a:extLst>
              </p:cNvPr>
              <p:cNvSpPr/>
              <p:nvPr/>
            </p:nvSpPr>
            <p:spPr>
              <a:xfrm>
                <a:off x="1199220" y="3516310"/>
                <a:ext cx="98624" cy="986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39" name="文本框 1138">
                <a:extLst>
                  <a:ext uri="{FF2B5EF4-FFF2-40B4-BE49-F238E27FC236}">
                    <a16:creationId xmlns:a16="http://schemas.microsoft.com/office/drawing/2014/main" id="{AFB445B7-FD24-3655-B53E-1D14B639DC36}"/>
                  </a:ext>
                </a:extLst>
              </p:cNvPr>
              <p:cNvSpPr txBox="1"/>
              <p:nvPr/>
            </p:nvSpPr>
            <p:spPr>
              <a:xfrm>
                <a:off x="1248532" y="3427123"/>
                <a:ext cx="983088" cy="276999"/>
              </a:xfrm>
              <a:prstGeom prst="rect">
                <a:avLst/>
              </a:prstGeom>
              <a:noFill/>
              <a:ln>
                <a:noFill/>
              </a:ln>
            </p:spPr>
            <p:txBody>
              <a:bodyPr wrap="square" rtlCol="0">
                <a:spAutoFit/>
              </a:bodyPr>
              <a:lstStyle/>
              <a:p>
                <a:r>
                  <a:rPr lang="en-US" altLang="zh-CN" sz="1200" dirty="0">
                    <a:cs typeface="+mn-ea"/>
                    <a:sym typeface="+mn-lt"/>
                  </a:rPr>
                  <a:t>Marvell</a:t>
                </a:r>
              </a:p>
            </p:txBody>
          </p:sp>
          <p:sp>
            <p:nvSpPr>
              <p:cNvPr id="1140" name="文本框 1139">
                <a:extLst>
                  <a:ext uri="{FF2B5EF4-FFF2-40B4-BE49-F238E27FC236}">
                    <a16:creationId xmlns:a16="http://schemas.microsoft.com/office/drawing/2014/main" id="{29637334-0C8C-1841-023C-A1811857244F}"/>
                  </a:ext>
                </a:extLst>
              </p:cNvPr>
              <p:cNvSpPr txBox="1"/>
              <p:nvPr/>
            </p:nvSpPr>
            <p:spPr>
              <a:xfrm>
                <a:off x="1921102" y="3403434"/>
                <a:ext cx="609600" cy="351828"/>
              </a:xfrm>
              <a:prstGeom prst="rect">
                <a:avLst/>
              </a:prstGeom>
              <a:noFill/>
            </p:spPr>
            <p:txBody>
              <a:bodyPr wrap="square">
                <a:spAutoFit/>
              </a:bodyPr>
              <a:lstStyle/>
              <a:p>
                <a:pPr>
                  <a:lnSpc>
                    <a:spcPts val="1000"/>
                  </a:lnSpc>
                </a:pPr>
                <a:r>
                  <a:rPr lang="en-US" altLang="zh-CN" sz="1200" dirty="0">
                    <a:cs typeface="+mn-ea"/>
                    <a:sym typeface="+mn-lt"/>
                  </a:rPr>
                  <a:t>20%</a:t>
                </a:r>
              </a:p>
              <a:p>
                <a:pPr>
                  <a:lnSpc>
                    <a:spcPts val="1000"/>
                  </a:lnSpc>
                </a:pPr>
                <a:r>
                  <a:rPr lang="en-US" altLang="zh-CN" sz="800" dirty="0">
                    <a:cs typeface="+mn-ea"/>
                    <a:sym typeface="+mn-lt"/>
                  </a:rPr>
                  <a:t>5nm</a:t>
                </a:r>
              </a:p>
            </p:txBody>
          </p:sp>
        </p:grpSp>
        <p:grpSp>
          <p:nvGrpSpPr>
            <p:cNvPr id="1141" name="组合 1140">
              <a:extLst>
                <a:ext uri="{FF2B5EF4-FFF2-40B4-BE49-F238E27FC236}">
                  <a16:creationId xmlns:a16="http://schemas.microsoft.com/office/drawing/2014/main" id="{7196077A-245F-519D-3BA2-7509E4BAA8AF}"/>
                </a:ext>
              </a:extLst>
            </p:cNvPr>
            <p:cNvGrpSpPr/>
            <p:nvPr/>
          </p:nvGrpSpPr>
          <p:grpSpPr>
            <a:xfrm>
              <a:off x="4379834" y="2234081"/>
              <a:ext cx="1417268" cy="351828"/>
              <a:chOff x="1199220" y="3414872"/>
              <a:chExt cx="1417268" cy="351828"/>
            </a:xfrm>
          </p:grpSpPr>
          <p:sp>
            <p:nvSpPr>
              <p:cNvPr id="1142" name="椭圆 1141">
                <a:extLst>
                  <a:ext uri="{FF2B5EF4-FFF2-40B4-BE49-F238E27FC236}">
                    <a16:creationId xmlns:a16="http://schemas.microsoft.com/office/drawing/2014/main" id="{B8E42453-4320-B1EC-015F-D0F1A87F0E81}"/>
                  </a:ext>
                </a:extLst>
              </p:cNvPr>
              <p:cNvSpPr/>
              <p:nvPr/>
            </p:nvSpPr>
            <p:spPr>
              <a:xfrm>
                <a:off x="1199220" y="3516310"/>
                <a:ext cx="98624" cy="986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43" name="文本框 1142">
                <a:extLst>
                  <a:ext uri="{FF2B5EF4-FFF2-40B4-BE49-F238E27FC236}">
                    <a16:creationId xmlns:a16="http://schemas.microsoft.com/office/drawing/2014/main" id="{8C6BD56B-764C-1177-F4F5-EDCE5EC90C44}"/>
                  </a:ext>
                </a:extLst>
              </p:cNvPr>
              <p:cNvSpPr txBox="1"/>
              <p:nvPr/>
            </p:nvSpPr>
            <p:spPr>
              <a:xfrm>
                <a:off x="1248532" y="3427123"/>
                <a:ext cx="983088" cy="276999"/>
              </a:xfrm>
              <a:prstGeom prst="rect">
                <a:avLst/>
              </a:prstGeom>
              <a:noFill/>
              <a:ln>
                <a:noFill/>
              </a:ln>
            </p:spPr>
            <p:txBody>
              <a:bodyPr wrap="square" rtlCol="0">
                <a:spAutoFit/>
              </a:bodyPr>
              <a:lstStyle/>
              <a:p>
                <a:r>
                  <a:rPr lang="en-US" altLang="zh-CN" sz="1200" dirty="0">
                    <a:cs typeface="+mn-ea"/>
                    <a:sym typeface="+mn-lt"/>
                  </a:rPr>
                  <a:t>Broadcom</a:t>
                </a:r>
              </a:p>
            </p:txBody>
          </p:sp>
          <p:sp>
            <p:nvSpPr>
              <p:cNvPr id="1144" name="文本框 1143">
                <a:extLst>
                  <a:ext uri="{FF2B5EF4-FFF2-40B4-BE49-F238E27FC236}">
                    <a16:creationId xmlns:a16="http://schemas.microsoft.com/office/drawing/2014/main" id="{873AE537-811D-C97F-FB68-064675CA6C09}"/>
                  </a:ext>
                </a:extLst>
              </p:cNvPr>
              <p:cNvSpPr txBox="1"/>
              <p:nvPr/>
            </p:nvSpPr>
            <p:spPr>
              <a:xfrm>
                <a:off x="2006888" y="3414872"/>
                <a:ext cx="609600" cy="351828"/>
              </a:xfrm>
              <a:prstGeom prst="rect">
                <a:avLst/>
              </a:prstGeom>
              <a:noFill/>
            </p:spPr>
            <p:txBody>
              <a:bodyPr wrap="square">
                <a:spAutoFit/>
              </a:bodyPr>
              <a:lstStyle/>
              <a:p>
                <a:pPr>
                  <a:lnSpc>
                    <a:spcPts val="1000"/>
                  </a:lnSpc>
                </a:pPr>
                <a:r>
                  <a:rPr lang="en-US" altLang="zh-CN" sz="1200" dirty="0">
                    <a:cs typeface="+mn-ea"/>
                    <a:sym typeface="+mn-lt"/>
                  </a:rPr>
                  <a:t>62%</a:t>
                </a:r>
              </a:p>
              <a:p>
                <a:pPr>
                  <a:lnSpc>
                    <a:spcPts val="1000"/>
                  </a:lnSpc>
                </a:pPr>
                <a:r>
                  <a:rPr lang="en-US" altLang="zh-CN" sz="800" dirty="0">
                    <a:cs typeface="+mn-ea"/>
                    <a:sym typeface="+mn-lt"/>
                  </a:rPr>
                  <a:t>5nm</a:t>
                </a:r>
              </a:p>
            </p:txBody>
          </p:sp>
        </p:grpSp>
        <p:grpSp>
          <p:nvGrpSpPr>
            <p:cNvPr id="1145" name="组合 1144">
              <a:extLst>
                <a:ext uri="{FF2B5EF4-FFF2-40B4-BE49-F238E27FC236}">
                  <a16:creationId xmlns:a16="http://schemas.microsoft.com/office/drawing/2014/main" id="{32753C0D-9F89-8694-E262-0F48B63F1D22}"/>
                </a:ext>
              </a:extLst>
            </p:cNvPr>
            <p:cNvGrpSpPr/>
            <p:nvPr/>
          </p:nvGrpSpPr>
          <p:grpSpPr>
            <a:xfrm>
              <a:off x="4379834" y="4697731"/>
              <a:ext cx="1323784" cy="279777"/>
              <a:chOff x="1199220" y="3427123"/>
              <a:chExt cx="1323784" cy="279777"/>
            </a:xfrm>
          </p:grpSpPr>
          <p:sp>
            <p:nvSpPr>
              <p:cNvPr id="1146" name="椭圆 1145">
                <a:extLst>
                  <a:ext uri="{FF2B5EF4-FFF2-40B4-BE49-F238E27FC236}">
                    <a16:creationId xmlns:a16="http://schemas.microsoft.com/office/drawing/2014/main" id="{726047BC-C9E3-113D-E15E-E0947BF8F973}"/>
                  </a:ext>
                </a:extLst>
              </p:cNvPr>
              <p:cNvSpPr/>
              <p:nvPr/>
            </p:nvSpPr>
            <p:spPr>
              <a:xfrm>
                <a:off x="1199220" y="3516310"/>
                <a:ext cx="98624" cy="986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47" name="文本框 1146">
                <a:extLst>
                  <a:ext uri="{FF2B5EF4-FFF2-40B4-BE49-F238E27FC236}">
                    <a16:creationId xmlns:a16="http://schemas.microsoft.com/office/drawing/2014/main" id="{CAEBE118-21AB-2AE2-72F5-CAD2BEF6B197}"/>
                  </a:ext>
                </a:extLst>
              </p:cNvPr>
              <p:cNvSpPr txBox="1"/>
              <p:nvPr/>
            </p:nvSpPr>
            <p:spPr>
              <a:xfrm>
                <a:off x="1248532" y="3427123"/>
                <a:ext cx="983088" cy="276999"/>
              </a:xfrm>
              <a:prstGeom prst="rect">
                <a:avLst/>
              </a:prstGeom>
              <a:noFill/>
              <a:ln>
                <a:noFill/>
              </a:ln>
            </p:spPr>
            <p:txBody>
              <a:bodyPr wrap="square" rtlCol="0">
                <a:spAutoFit/>
              </a:bodyPr>
              <a:lstStyle/>
              <a:p>
                <a:r>
                  <a:rPr lang="en-US" altLang="zh-CN" sz="1200" dirty="0">
                    <a:cs typeface="+mn-ea"/>
                    <a:sym typeface="+mn-lt"/>
                  </a:rPr>
                  <a:t>Realtek</a:t>
                </a:r>
              </a:p>
            </p:txBody>
          </p:sp>
          <p:sp>
            <p:nvSpPr>
              <p:cNvPr id="1148" name="文本框 1147">
                <a:extLst>
                  <a:ext uri="{FF2B5EF4-FFF2-40B4-BE49-F238E27FC236}">
                    <a16:creationId xmlns:a16="http://schemas.microsoft.com/office/drawing/2014/main" id="{34E6D944-51AD-D913-68CD-2B8EEF68456B}"/>
                  </a:ext>
                </a:extLst>
              </p:cNvPr>
              <p:cNvSpPr txBox="1"/>
              <p:nvPr/>
            </p:nvSpPr>
            <p:spPr>
              <a:xfrm>
                <a:off x="1913404" y="3429901"/>
                <a:ext cx="609600" cy="276999"/>
              </a:xfrm>
              <a:prstGeom prst="rect">
                <a:avLst/>
              </a:prstGeom>
              <a:noFill/>
            </p:spPr>
            <p:txBody>
              <a:bodyPr wrap="square">
                <a:spAutoFit/>
              </a:bodyPr>
              <a:lstStyle/>
              <a:p>
                <a:r>
                  <a:rPr lang="en-US" altLang="zh-CN" sz="1200" dirty="0">
                    <a:cs typeface="+mn-ea"/>
                    <a:sym typeface="+mn-lt"/>
                  </a:rPr>
                  <a:t>16%</a:t>
                </a:r>
              </a:p>
            </p:txBody>
          </p:sp>
        </p:grpSp>
        <p:grpSp>
          <p:nvGrpSpPr>
            <p:cNvPr id="1149" name="组合 1148">
              <a:extLst>
                <a:ext uri="{FF2B5EF4-FFF2-40B4-BE49-F238E27FC236}">
                  <a16:creationId xmlns:a16="http://schemas.microsoft.com/office/drawing/2014/main" id="{47DE5B7F-3424-EFE8-352A-C049BBDC6106}"/>
                </a:ext>
              </a:extLst>
            </p:cNvPr>
            <p:cNvGrpSpPr/>
            <p:nvPr/>
          </p:nvGrpSpPr>
          <p:grpSpPr>
            <a:xfrm>
              <a:off x="4379834" y="5318913"/>
              <a:ext cx="1859636" cy="351828"/>
              <a:chOff x="1210383" y="3436831"/>
              <a:chExt cx="1859636" cy="351828"/>
            </a:xfrm>
          </p:grpSpPr>
          <p:sp>
            <p:nvSpPr>
              <p:cNvPr id="1150" name="椭圆 1149">
                <a:extLst>
                  <a:ext uri="{FF2B5EF4-FFF2-40B4-BE49-F238E27FC236}">
                    <a16:creationId xmlns:a16="http://schemas.microsoft.com/office/drawing/2014/main" id="{D14BDD3F-D987-4188-EF11-D1B9C26AB3D8}"/>
                  </a:ext>
                </a:extLst>
              </p:cNvPr>
              <p:cNvSpPr/>
              <p:nvPr/>
            </p:nvSpPr>
            <p:spPr>
              <a:xfrm>
                <a:off x="1210383" y="3590279"/>
                <a:ext cx="98624" cy="986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51" name="文本框 1150">
                <a:extLst>
                  <a:ext uri="{FF2B5EF4-FFF2-40B4-BE49-F238E27FC236}">
                    <a16:creationId xmlns:a16="http://schemas.microsoft.com/office/drawing/2014/main" id="{6F902F69-5FE7-DF7B-03E3-74AFB20A4E87}"/>
                  </a:ext>
                </a:extLst>
              </p:cNvPr>
              <p:cNvSpPr txBox="1"/>
              <p:nvPr/>
            </p:nvSpPr>
            <p:spPr>
              <a:xfrm>
                <a:off x="1259695" y="3501092"/>
                <a:ext cx="983088" cy="276999"/>
              </a:xfrm>
              <a:prstGeom prst="rect">
                <a:avLst/>
              </a:prstGeom>
              <a:noFill/>
              <a:ln>
                <a:noFill/>
              </a:ln>
            </p:spPr>
            <p:txBody>
              <a:bodyPr wrap="square" rtlCol="0">
                <a:spAutoFit/>
              </a:bodyPr>
              <a:lstStyle/>
              <a:p>
                <a:r>
                  <a:rPr lang="zh-CN" altLang="en-US" sz="1200" dirty="0">
                    <a:cs typeface="+mn-ea"/>
                    <a:sym typeface="+mn-lt"/>
                  </a:rPr>
                  <a:t>盛科通信</a:t>
                </a:r>
                <a:endParaRPr lang="en-US" altLang="zh-CN" sz="1200" dirty="0">
                  <a:cs typeface="+mn-ea"/>
                  <a:sym typeface="+mn-lt"/>
                </a:endParaRPr>
              </a:p>
            </p:txBody>
          </p:sp>
          <p:sp>
            <p:nvSpPr>
              <p:cNvPr id="1152" name="文本框 1151">
                <a:extLst>
                  <a:ext uri="{FF2B5EF4-FFF2-40B4-BE49-F238E27FC236}">
                    <a16:creationId xmlns:a16="http://schemas.microsoft.com/office/drawing/2014/main" id="{425FF94B-DC71-8F1E-826F-52A625C1AADE}"/>
                  </a:ext>
                </a:extLst>
              </p:cNvPr>
              <p:cNvSpPr txBox="1"/>
              <p:nvPr/>
            </p:nvSpPr>
            <p:spPr>
              <a:xfrm>
                <a:off x="1932265" y="3436831"/>
                <a:ext cx="1137754" cy="351828"/>
              </a:xfrm>
              <a:prstGeom prst="rect">
                <a:avLst/>
              </a:prstGeom>
              <a:noFill/>
            </p:spPr>
            <p:txBody>
              <a:bodyPr wrap="square">
                <a:spAutoFit/>
              </a:bodyPr>
              <a:lstStyle/>
              <a:p>
                <a:pPr>
                  <a:lnSpc>
                    <a:spcPts val="1000"/>
                  </a:lnSpc>
                </a:pPr>
                <a:r>
                  <a:rPr lang="en-US" altLang="zh-CN" sz="1200" dirty="0">
                    <a:cs typeface="+mn-ea"/>
                    <a:sym typeface="+mn-lt"/>
                  </a:rPr>
                  <a:t>1.6%</a:t>
                </a:r>
              </a:p>
              <a:p>
                <a:pPr>
                  <a:lnSpc>
                    <a:spcPts val="1000"/>
                  </a:lnSpc>
                </a:pPr>
                <a:r>
                  <a:rPr lang="en-US" altLang="zh-CN" sz="800" dirty="0">
                    <a:cs typeface="+mn-ea"/>
                    <a:sym typeface="+mn-lt"/>
                  </a:rPr>
                  <a:t>16nm</a:t>
                </a:r>
              </a:p>
            </p:txBody>
          </p:sp>
        </p:grpSp>
      </p:grpSp>
      <p:grpSp>
        <p:nvGrpSpPr>
          <p:cNvPr id="1166" name="组合 1165">
            <a:extLst>
              <a:ext uri="{FF2B5EF4-FFF2-40B4-BE49-F238E27FC236}">
                <a16:creationId xmlns:a16="http://schemas.microsoft.com/office/drawing/2014/main" id="{743D9CF9-415E-D3CB-BA1C-11A10E68C535}"/>
              </a:ext>
            </a:extLst>
          </p:cNvPr>
          <p:cNvGrpSpPr/>
          <p:nvPr/>
        </p:nvGrpSpPr>
        <p:grpSpPr>
          <a:xfrm>
            <a:off x="6234636" y="2076834"/>
            <a:ext cx="1432921" cy="3457539"/>
            <a:chOff x="6052583" y="2055025"/>
            <a:chExt cx="1432921" cy="3457539"/>
          </a:xfrm>
        </p:grpSpPr>
        <p:grpSp>
          <p:nvGrpSpPr>
            <p:cNvPr id="1153" name="组合 1152">
              <a:extLst>
                <a:ext uri="{FF2B5EF4-FFF2-40B4-BE49-F238E27FC236}">
                  <a16:creationId xmlns:a16="http://schemas.microsoft.com/office/drawing/2014/main" id="{3DC01725-8EE5-1D78-48AF-F50793970C92}"/>
                </a:ext>
              </a:extLst>
            </p:cNvPr>
            <p:cNvGrpSpPr/>
            <p:nvPr/>
          </p:nvGrpSpPr>
          <p:grpSpPr>
            <a:xfrm>
              <a:off x="6052583" y="2055025"/>
              <a:ext cx="1417268" cy="351828"/>
              <a:chOff x="1199220" y="3414872"/>
              <a:chExt cx="1417268" cy="351828"/>
            </a:xfrm>
          </p:grpSpPr>
          <p:sp>
            <p:nvSpPr>
              <p:cNvPr id="1154" name="椭圆 1153">
                <a:extLst>
                  <a:ext uri="{FF2B5EF4-FFF2-40B4-BE49-F238E27FC236}">
                    <a16:creationId xmlns:a16="http://schemas.microsoft.com/office/drawing/2014/main" id="{263F94CE-526F-3F10-A111-CBEB1697B47C}"/>
                  </a:ext>
                </a:extLst>
              </p:cNvPr>
              <p:cNvSpPr/>
              <p:nvPr/>
            </p:nvSpPr>
            <p:spPr>
              <a:xfrm>
                <a:off x="1199220" y="3516310"/>
                <a:ext cx="98624" cy="986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55" name="文本框 1154">
                <a:extLst>
                  <a:ext uri="{FF2B5EF4-FFF2-40B4-BE49-F238E27FC236}">
                    <a16:creationId xmlns:a16="http://schemas.microsoft.com/office/drawing/2014/main" id="{C4285D9C-6882-450C-6CE4-EFA1B5EC40B9}"/>
                  </a:ext>
                </a:extLst>
              </p:cNvPr>
              <p:cNvSpPr txBox="1"/>
              <p:nvPr/>
            </p:nvSpPr>
            <p:spPr>
              <a:xfrm>
                <a:off x="1248532" y="3427123"/>
                <a:ext cx="983088" cy="276999"/>
              </a:xfrm>
              <a:prstGeom prst="rect">
                <a:avLst/>
              </a:prstGeom>
              <a:noFill/>
              <a:ln>
                <a:noFill/>
              </a:ln>
            </p:spPr>
            <p:txBody>
              <a:bodyPr wrap="square" rtlCol="0">
                <a:spAutoFit/>
              </a:bodyPr>
              <a:lstStyle/>
              <a:p>
                <a:r>
                  <a:rPr lang="en-US" altLang="zh-CN" sz="1200" dirty="0">
                    <a:cs typeface="+mn-ea"/>
                    <a:sym typeface="+mn-lt"/>
                  </a:rPr>
                  <a:t>Marvell</a:t>
                </a:r>
              </a:p>
            </p:txBody>
          </p:sp>
          <p:sp>
            <p:nvSpPr>
              <p:cNvPr id="1156" name="文本框 1155">
                <a:extLst>
                  <a:ext uri="{FF2B5EF4-FFF2-40B4-BE49-F238E27FC236}">
                    <a16:creationId xmlns:a16="http://schemas.microsoft.com/office/drawing/2014/main" id="{A3926F42-1FDC-B25D-B8DB-7649232859F3}"/>
                  </a:ext>
                </a:extLst>
              </p:cNvPr>
              <p:cNvSpPr txBox="1"/>
              <p:nvPr/>
            </p:nvSpPr>
            <p:spPr>
              <a:xfrm>
                <a:off x="2006888" y="3414872"/>
                <a:ext cx="609600" cy="351828"/>
              </a:xfrm>
              <a:prstGeom prst="rect">
                <a:avLst/>
              </a:prstGeom>
              <a:noFill/>
            </p:spPr>
            <p:txBody>
              <a:bodyPr wrap="square">
                <a:spAutoFit/>
              </a:bodyPr>
              <a:lstStyle/>
              <a:p>
                <a:pPr>
                  <a:lnSpc>
                    <a:spcPts val="1000"/>
                  </a:lnSpc>
                </a:pPr>
                <a:r>
                  <a:rPr lang="en-US" altLang="zh-CN" sz="1200" dirty="0">
                    <a:cs typeface="+mn-ea"/>
                    <a:sym typeface="+mn-lt"/>
                  </a:rPr>
                  <a:t>65%</a:t>
                </a:r>
              </a:p>
              <a:p>
                <a:pPr>
                  <a:lnSpc>
                    <a:spcPts val="1000"/>
                  </a:lnSpc>
                </a:pPr>
                <a:r>
                  <a:rPr lang="en-US" altLang="zh-CN" sz="800" dirty="0">
                    <a:cs typeface="+mn-ea"/>
                    <a:sym typeface="+mn-lt"/>
                  </a:rPr>
                  <a:t>3nm</a:t>
                </a:r>
              </a:p>
            </p:txBody>
          </p:sp>
        </p:grpSp>
        <p:grpSp>
          <p:nvGrpSpPr>
            <p:cNvPr id="1157" name="组合 1156">
              <a:extLst>
                <a:ext uri="{FF2B5EF4-FFF2-40B4-BE49-F238E27FC236}">
                  <a16:creationId xmlns:a16="http://schemas.microsoft.com/office/drawing/2014/main" id="{D726E396-D07A-6258-CC6D-CFDCC7CB39B9}"/>
                </a:ext>
              </a:extLst>
            </p:cNvPr>
            <p:cNvGrpSpPr/>
            <p:nvPr/>
          </p:nvGrpSpPr>
          <p:grpSpPr>
            <a:xfrm>
              <a:off x="6052583" y="4423761"/>
              <a:ext cx="1417268" cy="351828"/>
              <a:chOff x="1199220" y="3414872"/>
              <a:chExt cx="1417268" cy="351828"/>
            </a:xfrm>
          </p:grpSpPr>
          <p:sp>
            <p:nvSpPr>
              <p:cNvPr id="1158" name="椭圆 1157">
                <a:extLst>
                  <a:ext uri="{FF2B5EF4-FFF2-40B4-BE49-F238E27FC236}">
                    <a16:creationId xmlns:a16="http://schemas.microsoft.com/office/drawing/2014/main" id="{4A028DF0-30E2-8F37-2CF7-6E10F678EC9B}"/>
                  </a:ext>
                </a:extLst>
              </p:cNvPr>
              <p:cNvSpPr/>
              <p:nvPr/>
            </p:nvSpPr>
            <p:spPr>
              <a:xfrm>
                <a:off x="1199220" y="3516310"/>
                <a:ext cx="98624" cy="986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59" name="文本框 1158">
                <a:extLst>
                  <a:ext uri="{FF2B5EF4-FFF2-40B4-BE49-F238E27FC236}">
                    <a16:creationId xmlns:a16="http://schemas.microsoft.com/office/drawing/2014/main" id="{818E76D2-8713-CC39-1C8D-4B850855ABDA}"/>
                  </a:ext>
                </a:extLst>
              </p:cNvPr>
              <p:cNvSpPr txBox="1"/>
              <p:nvPr/>
            </p:nvSpPr>
            <p:spPr>
              <a:xfrm>
                <a:off x="1248532" y="3427123"/>
                <a:ext cx="983088" cy="276999"/>
              </a:xfrm>
              <a:prstGeom prst="rect">
                <a:avLst/>
              </a:prstGeom>
              <a:noFill/>
              <a:ln>
                <a:noFill/>
              </a:ln>
            </p:spPr>
            <p:txBody>
              <a:bodyPr wrap="square" rtlCol="0">
                <a:spAutoFit/>
              </a:bodyPr>
              <a:lstStyle/>
              <a:p>
                <a:r>
                  <a:rPr lang="en-US" altLang="zh-CN" sz="1200" dirty="0">
                    <a:cs typeface="+mn-ea"/>
                    <a:sym typeface="+mn-lt"/>
                  </a:rPr>
                  <a:t>Broadcom</a:t>
                </a:r>
              </a:p>
            </p:txBody>
          </p:sp>
          <p:sp>
            <p:nvSpPr>
              <p:cNvPr id="1160" name="文本框 1159">
                <a:extLst>
                  <a:ext uri="{FF2B5EF4-FFF2-40B4-BE49-F238E27FC236}">
                    <a16:creationId xmlns:a16="http://schemas.microsoft.com/office/drawing/2014/main" id="{5501272E-FEC2-F860-1802-999DA01D21DB}"/>
                  </a:ext>
                </a:extLst>
              </p:cNvPr>
              <p:cNvSpPr txBox="1"/>
              <p:nvPr/>
            </p:nvSpPr>
            <p:spPr>
              <a:xfrm>
                <a:off x="2006888" y="3414872"/>
                <a:ext cx="609600" cy="351828"/>
              </a:xfrm>
              <a:prstGeom prst="rect">
                <a:avLst/>
              </a:prstGeom>
              <a:noFill/>
            </p:spPr>
            <p:txBody>
              <a:bodyPr wrap="square">
                <a:spAutoFit/>
              </a:bodyPr>
              <a:lstStyle/>
              <a:p>
                <a:pPr>
                  <a:lnSpc>
                    <a:spcPts val="1000"/>
                  </a:lnSpc>
                </a:pPr>
                <a:r>
                  <a:rPr lang="en-US" altLang="zh-CN" sz="1200" dirty="0">
                    <a:cs typeface="+mn-ea"/>
                    <a:sym typeface="+mn-lt"/>
                  </a:rPr>
                  <a:t>20%</a:t>
                </a:r>
              </a:p>
              <a:p>
                <a:pPr>
                  <a:lnSpc>
                    <a:spcPts val="1000"/>
                  </a:lnSpc>
                </a:pPr>
                <a:r>
                  <a:rPr lang="en-US" altLang="zh-CN" sz="800" dirty="0">
                    <a:cs typeface="+mn-ea"/>
                    <a:sym typeface="+mn-lt"/>
                  </a:rPr>
                  <a:t>3nm</a:t>
                </a:r>
              </a:p>
            </p:txBody>
          </p:sp>
        </p:grpSp>
        <p:grpSp>
          <p:nvGrpSpPr>
            <p:cNvPr id="1161" name="组合 1160">
              <a:extLst>
                <a:ext uri="{FF2B5EF4-FFF2-40B4-BE49-F238E27FC236}">
                  <a16:creationId xmlns:a16="http://schemas.microsoft.com/office/drawing/2014/main" id="{ADE11A9D-DC71-195C-21BD-02464A0849B1}"/>
                </a:ext>
              </a:extLst>
            </p:cNvPr>
            <p:cNvGrpSpPr/>
            <p:nvPr/>
          </p:nvGrpSpPr>
          <p:grpSpPr>
            <a:xfrm>
              <a:off x="6052583" y="5172471"/>
              <a:ext cx="1432921" cy="340093"/>
              <a:chOff x="1199220" y="3404600"/>
              <a:chExt cx="1432921" cy="340093"/>
            </a:xfrm>
          </p:grpSpPr>
          <p:sp>
            <p:nvSpPr>
              <p:cNvPr id="1162" name="椭圆 1161">
                <a:extLst>
                  <a:ext uri="{FF2B5EF4-FFF2-40B4-BE49-F238E27FC236}">
                    <a16:creationId xmlns:a16="http://schemas.microsoft.com/office/drawing/2014/main" id="{ABC05B9F-0333-0D7A-2B5C-C8AF53A185D0}"/>
                  </a:ext>
                </a:extLst>
              </p:cNvPr>
              <p:cNvSpPr/>
              <p:nvPr/>
            </p:nvSpPr>
            <p:spPr>
              <a:xfrm>
                <a:off x="1199220" y="3516310"/>
                <a:ext cx="98624" cy="986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63" name="文本框 1162">
                <a:extLst>
                  <a:ext uri="{FF2B5EF4-FFF2-40B4-BE49-F238E27FC236}">
                    <a16:creationId xmlns:a16="http://schemas.microsoft.com/office/drawing/2014/main" id="{7751DA20-B9B8-B87E-FBA8-8F3F8050041C}"/>
                  </a:ext>
                </a:extLst>
              </p:cNvPr>
              <p:cNvSpPr txBox="1"/>
              <p:nvPr/>
            </p:nvSpPr>
            <p:spPr>
              <a:xfrm>
                <a:off x="1248532" y="3427123"/>
                <a:ext cx="983088" cy="276999"/>
              </a:xfrm>
              <a:prstGeom prst="rect">
                <a:avLst/>
              </a:prstGeom>
              <a:noFill/>
              <a:ln>
                <a:noFill/>
              </a:ln>
            </p:spPr>
            <p:txBody>
              <a:bodyPr wrap="square" rtlCol="0">
                <a:spAutoFit/>
              </a:bodyPr>
              <a:lstStyle/>
              <a:p>
                <a:r>
                  <a:rPr lang="en-US" altLang="zh-CN" sz="1200" dirty="0">
                    <a:cs typeface="+mn-ea"/>
                    <a:sym typeface="+mn-lt"/>
                  </a:rPr>
                  <a:t>Credo</a:t>
                </a:r>
              </a:p>
            </p:txBody>
          </p:sp>
          <p:sp>
            <p:nvSpPr>
              <p:cNvPr id="1164" name="文本框 1163">
                <a:extLst>
                  <a:ext uri="{FF2B5EF4-FFF2-40B4-BE49-F238E27FC236}">
                    <a16:creationId xmlns:a16="http://schemas.microsoft.com/office/drawing/2014/main" id="{070D9814-02EB-A6B0-A428-EDD084564584}"/>
                  </a:ext>
                </a:extLst>
              </p:cNvPr>
              <p:cNvSpPr txBox="1"/>
              <p:nvPr/>
            </p:nvSpPr>
            <p:spPr>
              <a:xfrm>
                <a:off x="2022541" y="3404600"/>
                <a:ext cx="609600" cy="340093"/>
              </a:xfrm>
              <a:prstGeom prst="rect">
                <a:avLst/>
              </a:prstGeom>
              <a:noFill/>
            </p:spPr>
            <p:txBody>
              <a:bodyPr wrap="square">
                <a:spAutoFit/>
              </a:bodyPr>
              <a:lstStyle/>
              <a:p>
                <a:pPr>
                  <a:lnSpc>
                    <a:spcPts val="1000"/>
                  </a:lnSpc>
                </a:pPr>
                <a:r>
                  <a:rPr lang="en-US" altLang="zh-CN" sz="1200" dirty="0">
                    <a:cs typeface="+mn-ea"/>
                    <a:sym typeface="+mn-lt"/>
                  </a:rPr>
                  <a:t>&lt;5%</a:t>
                </a:r>
              </a:p>
              <a:p>
                <a:pPr>
                  <a:lnSpc>
                    <a:spcPts val="1000"/>
                  </a:lnSpc>
                </a:pPr>
                <a:r>
                  <a:rPr lang="en-US" altLang="zh-CN" sz="800" dirty="0">
                    <a:cs typeface="+mn-ea"/>
                    <a:sym typeface="+mn-lt"/>
                  </a:rPr>
                  <a:t>3nm</a:t>
                </a:r>
              </a:p>
            </p:txBody>
          </p:sp>
        </p:grpSp>
      </p:grpSp>
      <p:grpSp>
        <p:nvGrpSpPr>
          <p:cNvPr id="1173" name="组合 1172">
            <a:extLst>
              <a:ext uri="{FF2B5EF4-FFF2-40B4-BE49-F238E27FC236}">
                <a16:creationId xmlns:a16="http://schemas.microsoft.com/office/drawing/2014/main" id="{0402D597-D85F-2260-E126-A1D870B472BC}"/>
              </a:ext>
            </a:extLst>
          </p:cNvPr>
          <p:cNvGrpSpPr/>
          <p:nvPr/>
        </p:nvGrpSpPr>
        <p:grpSpPr>
          <a:xfrm>
            <a:off x="2421172" y="1018882"/>
            <a:ext cx="1020072" cy="404100"/>
            <a:chOff x="2416939" y="943709"/>
            <a:chExt cx="1020072" cy="404100"/>
          </a:xfrm>
        </p:grpSpPr>
        <p:sp>
          <p:nvSpPr>
            <p:cNvPr id="1171" name="椭圆 1170">
              <a:extLst>
                <a:ext uri="{FF2B5EF4-FFF2-40B4-BE49-F238E27FC236}">
                  <a16:creationId xmlns:a16="http://schemas.microsoft.com/office/drawing/2014/main" id="{F61647E0-CC7C-3015-3638-4F0FD36C8564}"/>
                </a:ext>
              </a:extLst>
            </p:cNvPr>
            <p:cNvSpPr/>
            <p:nvPr/>
          </p:nvSpPr>
          <p:spPr>
            <a:xfrm>
              <a:off x="2416939" y="1106811"/>
              <a:ext cx="98624" cy="986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72" name="矩形 1171">
              <a:extLst>
                <a:ext uri="{FF2B5EF4-FFF2-40B4-BE49-F238E27FC236}">
                  <a16:creationId xmlns:a16="http://schemas.microsoft.com/office/drawing/2014/main" id="{7BA47B3C-64B9-C6A0-B370-FF7512F2E85E}"/>
                </a:ext>
              </a:extLst>
            </p:cNvPr>
            <p:cNvSpPr/>
            <p:nvPr/>
          </p:nvSpPr>
          <p:spPr>
            <a:xfrm>
              <a:off x="2523004" y="943709"/>
              <a:ext cx="914007" cy="404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400" b="1" dirty="0">
                  <a:solidFill>
                    <a:schemeClr val="accent6">
                      <a:lumMod val="10000"/>
                    </a:schemeClr>
                  </a:solidFill>
                  <a:cs typeface="+mn-ea"/>
                  <a:sym typeface="+mn-lt"/>
                </a:rPr>
                <a:t>国内厂商</a:t>
              </a:r>
              <a:endParaRPr lang="en-US" altLang="zh-CN" sz="1400" dirty="0">
                <a:solidFill>
                  <a:schemeClr val="accent6">
                    <a:lumMod val="10000"/>
                  </a:schemeClr>
                </a:solidFill>
                <a:cs typeface="+mn-ea"/>
                <a:sym typeface="+mn-lt"/>
              </a:endParaRPr>
            </a:p>
          </p:txBody>
        </p:sp>
      </p:grpSp>
      <p:grpSp>
        <p:nvGrpSpPr>
          <p:cNvPr id="1174" name="组合 1173">
            <a:extLst>
              <a:ext uri="{FF2B5EF4-FFF2-40B4-BE49-F238E27FC236}">
                <a16:creationId xmlns:a16="http://schemas.microsoft.com/office/drawing/2014/main" id="{220117EF-F2A3-BD01-BE93-FFD164353E0F}"/>
              </a:ext>
            </a:extLst>
          </p:cNvPr>
          <p:cNvGrpSpPr/>
          <p:nvPr/>
        </p:nvGrpSpPr>
        <p:grpSpPr>
          <a:xfrm>
            <a:off x="3614505" y="1018882"/>
            <a:ext cx="1020072" cy="404100"/>
            <a:chOff x="2416939" y="943709"/>
            <a:chExt cx="1020072" cy="404100"/>
          </a:xfrm>
        </p:grpSpPr>
        <p:sp>
          <p:nvSpPr>
            <p:cNvPr id="1175" name="椭圆 1174">
              <a:extLst>
                <a:ext uri="{FF2B5EF4-FFF2-40B4-BE49-F238E27FC236}">
                  <a16:creationId xmlns:a16="http://schemas.microsoft.com/office/drawing/2014/main" id="{A154A328-3462-C30C-C1DE-D9DB595B0F95}"/>
                </a:ext>
              </a:extLst>
            </p:cNvPr>
            <p:cNvSpPr/>
            <p:nvPr/>
          </p:nvSpPr>
          <p:spPr>
            <a:xfrm>
              <a:off x="2416939" y="1106811"/>
              <a:ext cx="98624" cy="986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76" name="矩形 1175">
              <a:extLst>
                <a:ext uri="{FF2B5EF4-FFF2-40B4-BE49-F238E27FC236}">
                  <a16:creationId xmlns:a16="http://schemas.microsoft.com/office/drawing/2014/main" id="{643F414B-DB27-4355-509F-5A086BBF5D42}"/>
                </a:ext>
              </a:extLst>
            </p:cNvPr>
            <p:cNvSpPr/>
            <p:nvPr/>
          </p:nvSpPr>
          <p:spPr>
            <a:xfrm>
              <a:off x="2523004" y="943709"/>
              <a:ext cx="914007" cy="404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400" b="1" dirty="0">
                  <a:solidFill>
                    <a:schemeClr val="accent6">
                      <a:lumMod val="10000"/>
                    </a:schemeClr>
                  </a:solidFill>
                  <a:cs typeface="+mn-ea"/>
                  <a:sym typeface="+mn-lt"/>
                </a:rPr>
                <a:t>海外厂商</a:t>
              </a:r>
              <a:endParaRPr lang="en-US" altLang="zh-CN" sz="1400" dirty="0">
                <a:solidFill>
                  <a:schemeClr val="accent6">
                    <a:lumMod val="10000"/>
                  </a:schemeClr>
                </a:solidFill>
                <a:cs typeface="+mn-ea"/>
                <a:sym typeface="+mn-lt"/>
              </a:endParaRPr>
            </a:p>
          </p:txBody>
        </p:sp>
      </p:grpSp>
      <p:sp>
        <p:nvSpPr>
          <p:cNvPr id="1177" name="矩形 1176">
            <a:extLst>
              <a:ext uri="{FF2B5EF4-FFF2-40B4-BE49-F238E27FC236}">
                <a16:creationId xmlns:a16="http://schemas.microsoft.com/office/drawing/2014/main" id="{6E517197-2528-D252-9E65-7173FEAAC4A5}"/>
              </a:ext>
            </a:extLst>
          </p:cNvPr>
          <p:cNvSpPr/>
          <p:nvPr/>
        </p:nvSpPr>
        <p:spPr>
          <a:xfrm>
            <a:off x="8376601" y="1640014"/>
            <a:ext cx="3214887" cy="37219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400"/>
              </a:spcBef>
              <a:spcAft>
                <a:spcPts val="400"/>
              </a:spcAft>
            </a:pPr>
            <a:r>
              <a:rPr lang="zh-CN" altLang="en-US" sz="1600" b="1" dirty="0">
                <a:solidFill>
                  <a:schemeClr val="accent6">
                    <a:lumMod val="10000"/>
                  </a:schemeClr>
                </a:solidFill>
                <a:cs typeface="+mn-ea"/>
                <a:sym typeface="+mn-lt"/>
              </a:rPr>
              <a:t>① </a:t>
            </a:r>
            <a:r>
              <a:rPr lang="en-US" altLang="zh-CN" sz="1600" b="1" dirty="0">
                <a:solidFill>
                  <a:schemeClr val="accent6">
                    <a:lumMod val="10000"/>
                  </a:schemeClr>
                </a:solidFill>
                <a:cs typeface="+mn-ea"/>
                <a:sym typeface="+mn-lt"/>
              </a:rPr>
              <a:t>CPO</a:t>
            </a:r>
            <a:r>
              <a:rPr lang="zh-CN" altLang="en-US" sz="1600" b="1" dirty="0">
                <a:solidFill>
                  <a:schemeClr val="accent6">
                    <a:lumMod val="10000"/>
                  </a:schemeClr>
                </a:solidFill>
                <a:cs typeface="+mn-ea"/>
                <a:sym typeface="+mn-lt"/>
              </a:rPr>
              <a:t>之于国内：雪中送炭</a:t>
            </a:r>
            <a:endParaRPr lang="en-US" altLang="zh-CN" sz="1600" b="1" dirty="0">
              <a:solidFill>
                <a:schemeClr val="accent6">
                  <a:lumMod val="10000"/>
                </a:schemeClr>
              </a:solidFill>
              <a:cs typeface="+mn-ea"/>
              <a:sym typeface="+mn-lt"/>
            </a:endParaRPr>
          </a:p>
          <a:p>
            <a:pPr marL="285750" indent="-285750">
              <a:spcBef>
                <a:spcPts val="400"/>
              </a:spcBef>
              <a:spcAft>
                <a:spcPts val="400"/>
              </a:spcAft>
              <a:buFont typeface="Arial" panose="020B0604020202020204" pitchFamily="34" charset="0"/>
              <a:buChar char="•"/>
            </a:pPr>
            <a:r>
              <a:rPr lang="en-US" altLang="zh-CN" sz="1600" dirty="0">
                <a:solidFill>
                  <a:schemeClr val="accent6">
                    <a:lumMod val="10000"/>
                  </a:schemeClr>
                </a:solidFill>
                <a:cs typeface="+mn-ea"/>
                <a:sym typeface="+mn-lt"/>
              </a:rPr>
              <a:t>Scale Up</a:t>
            </a:r>
            <a:r>
              <a:rPr lang="zh-CN" altLang="en-US" sz="1600" dirty="0">
                <a:solidFill>
                  <a:schemeClr val="accent6">
                    <a:lumMod val="10000"/>
                  </a:schemeClr>
                </a:solidFill>
                <a:cs typeface="+mn-ea"/>
                <a:sym typeface="+mn-lt"/>
              </a:rPr>
              <a:t>以电（铜）互连为主</a:t>
            </a:r>
            <a:endParaRPr lang="en-US" altLang="zh-CN" sz="1600" dirty="0">
              <a:solidFill>
                <a:schemeClr val="accent6">
                  <a:lumMod val="10000"/>
                </a:schemeClr>
              </a:solidFill>
              <a:cs typeface="+mn-ea"/>
              <a:sym typeface="+mn-lt"/>
            </a:endParaRPr>
          </a:p>
          <a:p>
            <a:pPr marL="285750" indent="-285750">
              <a:spcBef>
                <a:spcPts val="400"/>
              </a:spcBef>
              <a:spcAft>
                <a:spcPts val="400"/>
              </a:spcAft>
              <a:buFont typeface="Arial" panose="020B0604020202020204" pitchFamily="34" charset="0"/>
              <a:buChar char="•"/>
            </a:pPr>
            <a:r>
              <a:rPr lang="zh-CN" altLang="en-US" sz="1600" b="1" dirty="0">
                <a:solidFill>
                  <a:schemeClr val="accent6">
                    <a:lumMod val="10000"/>
                  </a:schemeClr>
                </a:solidFill>
                <a:cs typeface="+mn-ea"/>
                <a:sym typeface="+mn-lt"/>
              </a:rPr>
              <a:t>光强：</a:t>
            </a:r>
            <a:r>
              <a:rPr lang="zh-CN" altLang="en-US" sz="1600" dirty="0">
                <a:solidFill>
                  <a:schemeClr val="accent6">
                    <a:lumMod val="10000"/>
                  </a:schemeClr>
                </a:solidFill>
                <a:cs typeface="+mn-ea"/>
                <a:sym typeface="+mn-lt"/>
              </a:rPr>
              <a:t>硅光、封测受制程限制小，国内光模块占全球</a:t>
            </a:r>
            <a:r>
              <a:rPr lang="en-US" altLang="zh-CN" sz="1600" b="1" dirty="0">
                <a:solidFill>
                  <a:srgbClr val="0052D9"/>
                </a:solidFill>
                <a:cs typeface="+mn-ea"/>
                <a:sym typeface="+mn-lt"/>
              </a:rPr>
              <a:t>&gt;60%</a:t>
            </a:r>
            <a:endParaRPr lang="en-US" altLang="zh-CN" sz="1600" b="1" dirty="0">
              <a:solidFill>
                <a:schemeClr val="accent6">
                  <a:lumMod val="10000"/>
                </a:schemeClr>
              </a:solidFill>
              <a:cs typeface="+mn-ea"/>
              <a:sym typeface="+mn-lt"/>
            </a:endParaRPr>
          </a:p>
          <a:p>
            <a:pPr marL="285750" indent="-285750">
              <a:spcBef>
                <a:spcPts val="400"/>
              </a:spcBef>
              <a:spcAft>
                <a:spcPts val="400"/>
              </a:spcAft>
              <a:buFont typeface="Arial" panose="020B0604020202020204" pitchFamily="34" charset="0"/>
              <a:buChar char="•"/>
            </a:pPr>
            <a:r>
              <a:rPr lang="zh-CN" altLang="en-US" sz="1600" b="1" dirty="0">
                <a:solidFill>
                  <a:schemeClr val="accent6">
                    <a:lumMod val="10000"/>
                  </a:schemeClr>
                </a:solidFill>
                <a:cs typeface="+mn-ea"/>
                <a:sym typeface="+mn-lt"/>
              </a:rPr>
              <a:t>电弱：</a:t>
            </a:r>
            <a:r>
              <a:rPr lang="zh-CN" altLang="en-US" sz="1600" dirty="0">
                <a:solidFill>
                  <a:schemeClr val="accent6">
                    <a:lumMod val="10000"/>
                  </a:schemeClr>
                </a:solidFill>
                <a:cs typeface="+mn-ea"/>
                <a:sym typeface="+mn-lt"/>
              </a:rPr>
              <a:t>电芯片制程落后海外，市场多</a:t>
            </a:r>
            <a:r>
              <a:rPr lang="zh-CN" altLang="en-US" sz="1600" b="1" dirty="0">
                <a:solidFill>
                  <a:srgbClr val="0052D9"/>
                </a:solidFill>
                <a:cs typeface="+mn-ea"/>
                <a:sym typeface="+mn-lt"/>
              </a:rPr>
              <a:t>“独苗”</a:t>
            </a:r>
            <a:r>
              <a:rPr lang="zh-CN" altLang="en-US" sz="1600" dirty="0">
                <a:solidFill>
                  <a:schemeClr val="accent6">
                    <a:lumMod val="10000"/>
                  </a:schemeClr>
                </a:solidFill>
                <a:cs typeface="+mn-ea"/>
                <a:sym typeface="+mn-lt"/>
              </a:rPr>
              <a:t>，份额长期</a:t>
            </a:r>
            <a:r>
              <a:rPr lang="en-US" altLang="zh-CN" sz="1600" b="1" dirty="0">
                <a:solidFill>
                  <a:srgbClr val="0052D9"/>
                </a:solidFill>
                <a:cs typeface="+mn-ea"/>
                <a:sym typeface="+mn-lt"/>
              </a:rPr>
              <a:t>&lt;5%</a:t>
            </a:r>
          </a:p>
          <a:p>
            <a:pPr marL="285750" indent="-285750">
              <a:spcBef>
                <a:spcPts val="400"/>
              </a:spcBef>
              <a:spcAft>
                <a:spcPts val="400"/>
              </a:spcAft>
              <a:buFont typeface="Arial" panose="020B0604020202020204" pitchFamily="34" charset="0"/>
              <a:buChar char="•"/>
            </a:pPr>
            <a:r>
              <a:rPr lang="en-US" altLang="zh-CN" sz="1600" dirty="0">
                <a:solidFill>
                  <a:schemeClr val="accent6">
                    <a:lumMod val="10000"/>
                  </a:schemeClr>
                </a:solidFill>
                <a:cs typeface="+mn-ea"/>
                <a:sym typeface="+mn-lt"/>
              </a:rPr>
              <a:t>CPO</a:t>
            </a:r>
            <a:r>
              <a:rPr lang="zh-CN" altLang="en-US" sz="1600" dirty="0">
                <a:solidFill>
                  <a:srgbClr val="000000"/>
                </a:solidFill>
                <a:latin typeface="-apple-system"/>
              </a:rPr>
              <a:t>绕过制程，用于</a:t>
            </a:r>
            <a:r>
              <a:rPr lang="en-US" altLang="zh-CN" sz="1600" b="1" dirty="0">
                <a:solidFill>
                  <a:srgbClr val="0052D9"/>
                </a:solidFill>
                <a:latin typeface="-apple-system"/>
              </a:rPr>
              <a:t>Scale Up</a:t>
            </a:r>
            <a:r>
              <a:rPr lang="zh-CN" altLang="en-US" sz="1600" dirty="0">
                <a:solidFill>
                  <a:srgbClr val="000000"/>
                </a:solidFill>
                <a:latin typeface="-apple-system"/>
              </a:rPr>
              <a:t>，</a:t>
            </a:r>
            <a:r>
              <a:rPr lang="zh-CN" altLang="en-US" sz="1600" dirty="0">
                <a:solidFill>
                  <a:schemeClr val="accent6">
                    <a:lumMod val="10000"/>
                  </a:schemeClr>
                </a:solidFill>
                <a:cs typeface="+mn-ea"/>
                <a:sym typeface="+mn-lt"/>
              </a:rPr>
              <a:t>进一步强光，</a:t>
            </a:r>
            <a:r>
              <a:rPr lang="zh-CN" altLang="en-US" sz="1600" b="1" dirty="0">
                <a:solidFill>
                  <a:srgbClr val="0052D9"/>
                </a:solidFill>
                <a:cs typeface="+mn-ea"/>
                <a:sym typeface="+mn-lt"/>
              </a:rPr>
              <a:t>补电弱短板</a:t>
            </a:r>
            <a:endParaRPr lang="en-US" altLang="zh-CN" sz="1600" b="1" dirty="0">
              <a:solidFill>
                <a:srgbClr val="0052D9"/>
              </a:solidFill>
              <a:cs typeface="+mn-ea"/>
              <a:sym typeface="+mn-lt"/>
            </a:endParaRPr>
          </a:p>
          <a:p>
            <a:pPr>
              <a:spcBef>
                <a:spcPts val="400"/>
              </a:spcBef>
              <a:spcAft>
                <a:spcPts val="400"/>
              </a:spcAft>
            </a:pPr>
            <a:r>
              <a:rPr lang="zh-CN" altLang="en-US" sz="1600" b="1" dirty="0">
                <a:solidFill>
                  <a:schemeClr val="accent6">
                    <a:lumMod val="10000"/>
                  </a:schemeClr>
                </a:solidFill>
                <a:cs typeface="+mn-ea"/>
                <a:sym typeface="+mn-lt"/>
              </a:rPr>
              <a:t>② </a:t>
            </a:r>
            <a:r>
              <a:rPr lang="en-US" altLang="zh-CN" sz="1600" b="1" dirty="0">
                <a:solidFill>
                  <a:schemeClr val="accent6">
                    <a:lumMod val="10000"/>
                  </a:schemeClr>
                </a:solidFill>
                <a:cs typeface="+mn-ea"/>
                <a:sym typeface="+mn-lt"/>
              </a:rPr>
              <a:t>CPO</a:t>
            </a:r>
            <a:r>
              <a:rPr lang="zh-CN" altLang="en-US" sz="1600" b="1" dirty="0">
                <a:solidFill>
                  <a:schemeClr val="accent6">
                    <a:lumMod val="10000"/>
                  </a:schemeClr>
                </a:solidFill>
                <a:cs typeface="+mn-ea"/>
                <a:sym typeface="+mn-lt"/>
              </a:rPr>
              <a:t>之于海外：锦上添花</a:t>
            </a:r>
            <a:endParaRPr lang="en-US" altLang="zh-CN" sz="1600" b="1" dirty="0">
              <a:solidFill>
                <a:schemeClr val="accent6">
                  <a:lumMod val="10000"/>
                </a:schemeClr>
              </a:solidFill>
              <a:cs typeface="+mn-ea"/>
              <a:sym typeface="+mn-lt"/>
            </a:endParaRPr>
          </a:p>
          <a:p>
            <a:pPr marL="285750" indent="-285750">
              <a:spcBef>
                <a:spcPts val="400"/>
              </a:spcBef>
              <a:spcAft>
                <a:spcPts val="400"/>
              </a:spcAft>
              <a:buFont typeface="Arial" panose="020B0604020202020204" pitchFamily="34" charset="0"/>
              <a:buChar char="•"/>
            </a:pPr>
            <a:r>
              <a:rPr lang="zh-CN" altLang="en-US" sz="1600" dirty="0">
                <a:solidFill>
                  <a:schemeClr val="accent6">
                    <a:lumMod val="10000"/>
                  </a:schemeClr>
                </a:solidFill>
                <a:cs typeface="+mn-ea"/>
                <a:sym typeface="+mn-lt"/>
              </a:rPr>
              <a:t>无制程限制，优先发展</a:t>
            </a:r>
            <a:r>
              <a:rPr lang="zh-CN" altLang="en-US" sz="1600" b="1" dirty="0">
                <a:solidFill>
                  <a:srgbClr val="0052D9"/>
                </a:solidFill>
                <a:cs typeface="+mn-ea"/>
                <a:sym typeface="+mn-lt"/>
              </a:rPr>
              <a:t>电</a:t>
            </a:r>
            <a:r>
              <a:rPr lang="zh-CN" altLang="en-US" sz="1600" dirty="0">
                <a:solidFill>
                  <a:schemeClr val="accent6">
                    <a:lumMod val="10000"/>
                  </a:schemeClr>
                </a:solidFill>
                <a:cs typeface="+mn-ea"/>
                <a:sym typeface="+mn-lt"/>
              </a:rPr>
              <a:t>芯片</a:t>
            </a:r>
            <a:r>
              <a:rPr lang="en-US" altLang="zh-CN" sz="1600" dirty="0">
                <a:solidFill>
                  <a:schemeClr val="accent6">
                    <a:lumMod val="10000"/>
                  </a:schemeClr>
                </a:solidFill>
                <a:cs typeface="+mn-ea"/>
                <a:sym typeface="+mn-lt"/>
              </a:rPr>
              <a:t>&amp;</a:t>
            </a:r>
            <a:r>
              <a:rPr lang="zh-CN" altLang="en-US" sz="1600" dirty="0">
                <a:solidFill>
                  <a:schemeClr val="accent6">
                    <a:lumMod val="10000"/>
                  </a:schemeClr>
                </a:solidFill>
                <a:cs typeface="+mn-ea"/>
                <a:sym typeface="+mn-lt"/>
              </a:rPr>
              <a:t>压榨</a:t>
            </a:r>
            <a:r>
              <a:rPr lang="zh-CN" altLang="en-US" sz="1600" b="1" dirty="0">
                <a:solidFill>
                  <a:srgbClr val="0052D9"/>
                </a:solidFill>
                <a:cs typeface="+mn-ea"/>
                <a:sym typeface="+mn-lt"/>
              </a:rPr>
              <a:t>铜</a:t>
            </a:r>
            <a:r>
              <a:rPr lang="zh-CN" altLang="en-US" sz="1600" dirty="0">
                <a:solidFill>
                  <a:schemeClr val="accent6">
                    <a:lumMod val="10000"/>
                  </a:schemeClr>
                </a:solidFill>
                <a:cs typeface="+mn-ea"/>
                <a:sym typeface="+mn-lt"/>
              </a:rPr>
              <a:t>互连</a:t>
            </a:r>
            <a:endParaRPr lang="en-US" altLang="zh-CN" sz="1600" dirty="0">
              <a:solidFill>
                <a:schemeClr val="accent6">
                  <a:lumMod val="10000"/>
                </a:schemeClr>
              </a:solidFill>
              <a:cs typeface="+mn-ea"/>
              <a:sym typeface="+mn-lt"/>
            </a:endParaRPr>
          </a:p>
          <a:p>
            <a:pPr marL="285750" indent="-285750">
              <a:spcBef>
                <a:spcPts val="400"/>
              </a:spcBef>
              <a:spcAft>
                <a:spcPts val="400"/>
              </a:spcAft>
              <a:buFont typeface="Arial" panose="020B0604020202020204" pitchFamily="34" charset="0"/>
              <a:buChar char="•"/>
            </a:pPr>
            <a:r>
              <a:rPr lang="en-US" altLang="zh-CN" sz="1600" dirty="0">
                <a:solidFill>
                  <a:schemeClr val="accent6">
                    <a:lumMod val="10000"/>
                  </a:schemeClr>
                </a:solidFill>
                <a:cs typeface="+mn-ea"/>
                <a:sym typeface="+mn-lt"/>
              </a:rPr>
              <a:t>CPO</a:t>
            </a:r>
            <a:r>
              <a:rPr lang="zh-CN" altLang="en-US" sz="1600" dirty="0">
                <a:solidFill>
                  <a:schemeClr val="accent6">
                    <a:lumMod val="10000"/>
                  </a:schemeClr>
                </a:solidFill>
                <a:cs typeface="+mn-ea"/>
                <a:sym typeface="+mn-lt"/>
              </a:rPr>
              <a:t>优先落地</a:t>
            </a:r>
            <a:r>
              <a:rPr lang="en-US" altLang="zh-CN" sz="1600" b="1" dirty="0">
                <a:solidFill>
                  <a:srgbClr val="0052D9"/>
                </a:solidFill>
                <a:cs typeface="+mn-ea"/>
                <a:sym typeface="+mn-lt"/>
              </a:rPr>
              <a:t>Scale Out</a:t>
            </a:r>
            <a:r>
              <a:rPr lang="zh-CN" altLang="en-US" sz="1600" dirty="0">
                <a:solidFill>
                  <a:schemeClr val="accent6">
                    <a:lumMod val="10000"/>
                  </a:schemeClr>
                </a:solidFill>
                <a:cs typeface="+mn-ea"/>
                <a:sym typeface="+mn-lt"/>
              </a:rPr>
              <a:t>（易商业化）</a:t>
            </a:r>
            <a:endParaRPr lang="en-US" altLang="zh-CN" sz="1600" dirty="0">
              <a:solidFill>
                <a:schemeClr val="accent6">
                  <a:lumMod val="10000"/>
                </a:schemeClr>
              </a:solidFill>
              <a:cs typeface="+mn-ea"/>
              <a:sym typeface="+mn-lt"/>
            </a:endParaRPr>
          </a:p>
        </p:txBody>
      </p:sp>
      <p:sp>
        <p:nvSpPr>
          <p:cNvPr id="1180" name="矩形 1179">
            <a:extLst>
              <a:ext uri="{FF2B5EF4-FFF2-40B4-BE49-F238E27FC236}">
                <a16:creationId xmlns:a16="http://schemas.microsoft.com/office/drawing/2014/main" id="{A53F232B-F732-F9FC-6A1D-DC1B886E0FEB}"/>
              </a:ext>
            </a:extLst>
          </p:cNvPr>
          <p:cNvSpPr/>
          <p:nvPr/>
        </p:nvSpPr>
        <p:spPr>
          <a:xfrm>
            <a:off x="1530234" y="1423396"/>
            <a:ext cx="2337164" cy="404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400" b="1" dirty="0">
                <a:solidFill>
                  <a:schemeClr val="accent6">
                    <a:lumMod val="10000"/>
                  </a:schemeClr>
                </a:solidFill>
                <a:cs typeface="+mn-ea"/>
                <a:sym typeface="+mn-lt"/>
              </a:rPr>
              <a:t>国内份额高，优势大</a:t>
            </a:r>
            <a:endParaRPr lang="en-US" altLang="zh-CN" sz="1400" dirty="0">
              <a:solidFill>
                <a:schemeClr val="accent6">
                  <a:lumMod val="10000"/>
                </a:schemeClr>
              </a:solidFill>
              <a:cs typeface="+mn-ea"/>
              <a:sym typeface="+mn-lt"/>
            </a:endParaRPr>
          </a:p>
        </p:txBody>
      </p:sp>
      <p:sp>
        <p:nvSpPr>
          <p:cNvPr id="1181" name="矩形 1180">
            <a:extLst>
              <a:ext uri="{FF2B5EF4-FFF2-40B4-BE49-F238E27FC236}">
                <a16:creationId xmlns:a16="http://schemas.microsoft.com/office/drawing/2014/main" id="{F48A401D-C1D4-8FBF-A6ED-DE48A6FA1914}"/>
              </a:ext>
            </a:extLst>
          </p:cNvPr>
          <p:cNvSpPr/>
          <p:nvPr/>
        </p:nvSpPr>
        <p:spPr>
          <a:xfrm>
            <a:off x="4727492" y="1438028"/>
            <a:ext cx="2524580" cy="404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400" b="1" dirty="0">
                <a:solidFill>
                  <a:schemeClr val="accent6">
                    <a:lumMod val="10000"/>
                  </a:schemeClr>
                </a:solidFill>
                <a:cs typeface="+mn-ea"/>
                <a:sym typeface="+mn-lt"/>
              </a:rPr>
              <a:t>国内份额极低，优势小</a:t>
            </a:r>
            <a:endParaRPr lang="en-US" altLang="zh-CN" sz="1400" dirty="0">
              <a:solidFill>
                <a:schemeClr val="accent6">
                  <a:lumMod val="10000"/>
                </a:schemeClr>
              </a:solidFill>
              <a:cs typeface="+mn-ea"/>
              <a:sym typeface="+mn-lt"/>
            </a:endParaRPr>
          </a:p>
        </p:txBody>
      </p:sp>
    </p:spTree>
    <p:extLst>
      <p:ext uri="{BB962C8B-B14F-4D97-AF65-F5344CB8AC3E}">
        <p14:creationId xmlns:p14="http://schemas.microsoft.com/office/powerpoint/2010/main" val="4046194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7EE77-1C8F-DB66-64C5-FA439EB9EFCA}"/>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6A44435-7579-619C-5697-A19EB91F3076}"/>
              </a:ext>
            </a:extLst>
          </p:cNvPr>
          <p:cNvGraphicFramePr>
            <a:graphicFrameLocks noChangeAspect="1"/>
          </p:cNvGraphicFramePr>
          <p:nvPr>
            <p:custDataLst>
              <p:tags r:id="rId1"/>
            </p:custDataLst>
            <p:extLst>
              <p:ext uri="{D42A27DB-BD31-4B8C-83A1-F6EECF244321}">
                <p14:modId xmlns:p14="http://schemas.microsoft.com/office/powerpoint/2010/main" val="386651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1" imgH="401" progId="TCLayout.ActiveDocument.1">
                  <p:embed/>
                </p:oleObj>
              </mc:Choice>
              <mc:Fallback>
                <p:oleObj name="think-cell 幻灯片" r:id="rId4" imgW="401" imgH="401" progId="TCLayout.ActiveDocument.1">
                  <p:embed/>
                  <p:pic>
                    <p:nvPicPr>
                      <p:cNvPr id="6" name="think-cell data - do not delete" hidden="1">
                        <a:extLst>
                          <a:ext uri="{FF2B5EF4-FFF2-40B4-BE49-F238E27FC236}">
                            <a16:creationId xmlns:a16="http://schemas.microsoft.com/office/drawing/2014/main" id="{5E722B01-5C71-28E6-B385-632746D98F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标题 1">
            <a:extLst>
              <a:ext uri="{FF2B5EF4-FFF2-40B4-BE49-F238E27FC236}">
                <a16:creationId xmlns:a16="http://schemas.microsoft.com/office/drawing/2014/main" id="{6B26BEBA-45D4-5A9F-54A3-D5E29DFEEE38}"/>
              </a:ext>
            </a:extLst>
          </p:cNvPr>
          <p:cNvSpPr>
            <a:spLocks noGrp="1"/>
          </p:cNvSpPr>
          <p:nvPr>
            <p:ph type="title"/>
          </p:nvPr>
        </p:nvSpPr>
        <p:spPr/>
        <p:txBody>
          <a:bodyPr vert="horz"/>
          <a:lstStyle/>
          <a:p>
            <a:r>
              <a:rPr lang="zh-CN" altLang="en-US" dirty="0">
                <a:latin typeface="+mn-lt"/>
                <a:ea typeface="+mn-ea"/>
                <a:cs typeface="+mn-ea"/>
                <a:sym typeface="+mn-lt"/>
              </a:rPr>
              <a:t>附录：博通</a:t>
            </a:r>
            <a:r>
              <a:rPr lang="en-US" altLang="zh-CN" dirty="0">
                <a:latin typeface="+mn-lt"/>
                <a:ea typeface="+mn-ea"/>
                <a:cs typeface="+mn-ea"/>
                <a:sym typeface="+mn-lt"/>
              </a:rPr>
              <a:t>CPO</a:t>
            </a:r>
            <a:r>
              <a:rPr lang="zh-CN" altLang="en-US" dirty="0">
                <a:latin typeface="+mn-lt"/>
                <a:ea typeface="+mn-ea"/>
                <a:cs typeface="+mn-ea"/>
                <a:sym typeface="+mn-lt"/>
              </a:rPr>
              <a:t>产业链</a:t>
            </a:r>
          </a:p>
        </p:txBody>
      </p:sp>
      <p:sp>
        <p:nvSpPr>
          <p:cNvPr id="7" name="文本框 6">
            <a:extLst>
              <a:ext uri="{FF2B5EF4-FFF2-40B4-BE49-F238E27FC236}">
                <a16:creationId xmlns:a16="http://schemas.microsoft.com/office/drawing/2014/main" id="{1B64B2BB-02EB-F2EB-5E33-1AC45D0FCFFF}"/>
              </a:ext>
            </a:extLst>
          </p:cNvPr>
          <p:cNvSpPr txBox="1"/>
          <p:nvPr/>
        </p:nvSpPr>
        <p:spPr>
          <a:xfrm>
            <a:off x="419231" y="6370193"/>
            <a:ext cx="7859218" cy="422275"/>
          </a:xfrm>
          <a:prstGeom prst="rect">
            <a:avLst/>
          </a:prstGeom>
          <a:ln w="6350">
            <a:noFill/>
            <a:miter lim="800000"/>
          </a:ln>
        </p:spPr>
        <p:txBody>
          <a:bodyPr vert="horz" wrap="square" lIns="0" tIns="0" rIns="0" bIns="0" rtlCol="0">
            <a:noAutofit/>
          </a:bodyPr>
          <a:lstStyle/>
          <a:p>
            <a:pPr>
              <a:spcBef>
                <a:spcPts val="300"/>
              </a:spcBef>
              <a:spcAft>
                <a:spcPts val="300"/>
              </a:spcAft>
            </a:pPr>
            <a:r>
              <a:rPr kumimoji="1" lang="en-US" altLang="zh-CN" sz="1200" i="1" dirty="0">
                <a:solidFill>
                  <a:schemeClr val="tx1">
                    <a:lumMod val="50000"/>
                  </a:schemeClr>
                </a:solidFill>
                <a:cs typeface="+mn-ea"/>
                <a:sym typeface="+mn-lt"/>
              </a:rPr>
              <a:t>Source: Broadcom</a:t>
            </a:r>
            <a:endParaRPr kumimoji="1" lang="zh-CN" altLang="zh-CN" sz="1200" i="1" dirty="0">
              <a:solidFill>
                <a:schemeClr val="tx1">
                  <a:lumMod val="50000"/>
                </a:schemeClr>
              </a:solidFill>
              <a:cs typeface="+mn-ea"/>
              <a:sym typeface="+mn-lt"/>
            </a:endParaRPr>
          </a:p>
          <a:p>
            <a:pPr>
              <a:spcBef>
                <a:spcPts val="300"/>
              </a:spcBef>
              <a:spcAft>
                <a:spcPts val="300"/>
              </a:spcAft>
            </a:pPr>
            <a:endParaRPr kumimoji="1" lang="zh-CN" altLang="en-US" sz="1200" i="1" dirty="0">
              <a:solidFill>
                <a:schemeClr val="tx1">
                  <a:lumMod val="50000"/>
                </a:schemeClr>
              </a:solidFill>
              <a:cs typeface="+mn-ea"/>
              <a:sym typeface="+mn-lt"/>
            </a:endParaRPr>
          </a:p>
        </p:txBody>
      </p:sp>
      <p:pic>
        <p:nvPicPr>
          <p:cNvPr id="3" name="图像" descr="图像">
            <a:extLst>
              <a:ext uri="{FF2B5EF4-FFF2-40B4-BE49-F238E27FC236}">
                <a16:creationId xmlns:a16="http://schemas.microsoft.com/office/drawing/2014/main" id="{BBD26E14-4CDD-302D-F65D-136D1C56D918}"/>
              </a:ext>
            </a:extLst>
          </p:cNvPr>
          <p:cNvPicPr>
            <a:picLocks noChangeAspect="1"/>
          </p:cNvPicPr>
          <p:nvPr/>
        </p:nvPicPr>
        <p:blipFill>
          <a:blip r:embed="rId6"/>
          <a:stretch>
            <a:fillRect/>
          </a:stretch>
        </p:blipFill>
        <p:spPr>
          <a:xfrm>
            <a:off x="2003513" y="4240526"/>
            <a:ext cx="689931" cy="154884"/>
          </a:xfrm>
          <a:prstGeom prst="rect">
            <a:avLst/>
          </a:prstGeom>
          <a:ln w="12700">
            <a:miter lim="400000"/>
          </a:ln>
        </p:spPr>
      </p:pic>
      <p:pic>
        <p:nvPicPr>
          <p:cNvPr id="4" name="图像" descr="图像">
            <a:extLst>
              <a:ext uri="{FF2B5EF4-FFF2-40B4-BE49-F238E27FC236}">
                <a16:creationId xmlns:a16="http://schemas.microsoft.com/office/drawing/2014/main" id="{FE0193AE-9ECD-6C59-1CD3-7DFB441AA793}"/>
              </a:ext>
            </a:extLst>
          </p:cNvPr>
          <p:cNvPicPr>
            <a:picLocks noChangeAspect="1"/>
          </p:cNvPicPr>
          <p:nvPr/>
        </p:nvPicPr>
        <p:blipFill>
          <a:blip r:embed="rId7"/>
          <a:stretch>
            <a:fillRect/>
          </a:stretch>
        </p:blipFill>
        <p:spPr>
          <a:xfrm>
            <a:off x="501691" y="1993831"/>
            <a:ext cx="640576" cy="308849"/>
          </a:xfrm>
          <a:prstGeom prst="rect">
            <a:avLst/>
          </a:prstGeom>
          <a:ln w="12700">
            <a:miter lim="400000"/>
          </a:ln>
        </p:spPr>
      </p:pic>
      <p:pic>
        <p:nvPicPr>
          <p:cNvPr id="5" name="图像" descr="图像">
            <a:extLst>
              <a:ext uri="{FF2B5EF4-FFF2-40B4-BE49-F238E27FC236}">
                <a16:creationId xmlns:a16="http://schemas.microsoft.com/office/drawing/2014/main" id="{E67EDC91-980D-2644-AFEE-3BA8BA7FC302}"/>
              </a:ext>
            </a:extLst>
          </p:cNvPr>
          <p:cNvPicPr>
            <a:picLocks noChangeAspect="1"/>
          </p:cNvPicPr>
          <p:nvPr/>
        </p:nvPicPr>
        <p:blipFill>
          <a:blip r:embed="rId8"/>
          <a:srcRect t="29736" b="29786"/>
          <a:stretch>
            <a:fillRect/>
          </a:stretch>
        </p:blipFill>
        <p:spPr>
          <a:xfrm>
            <a:off x="9582905" y="3194858"/>
            <a:ext cx="690031" cy="12501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686"/>
                </a:lnTo>
                <a:lnTo>
                  <a:pt x="4832" y="686"/>
                </a:lnTo>
                <a:cubicBezTo>
                  <a:pt x="9969" y="652"/>
                  <a:pt x="10193" y="636"/>
                  <a:pt x="9266" y="1166"/>
                </a:cubicBezTo>
                <a:cubicBezTo>
                  <a:pt x="8789" y="1438"/>
                  <a:pt x="8072" y="2110"/>
                  <a:pt x="7651" y="2674"/>
                </a:cubicBezTo>
                <a:lnTo>
                  <a:pt x="7316" y="3154"/>
                </a:lnTo>
                <a:lnTo>
                  <a:pt x="7266" y="4594"/>
                </a:lnTo>
                <a:cubicBezTo>
                  <a:pt x="7238" y="5380"/>
                  <a:pt x="7224" y="6007"/>
                  <a:pt x="7229" y="6034"/>
                </a:cubicBezTo>
                <a:cubicBezTo>
                  <a:pt x="7234" y="6062"/>
                  <a:pt x="7336" y="5958"/>
                  <a:pt x="7453" y="5760"/>
                </a:cubicBezTo>
                <a:cubicBezTo>
                  <a:pt x="7705" y="5332"/>
                  <a:pt x="8346" y="4367"/>
                  <a:pt x="8707" y="3909"/>
                </a:cubicBezTo>
                <a:cubicBezTo>
                  <a:pt x="9236" y="3238"/>
                  <a:pt x="10439" y="2121"/>
                  <a:pt x="10856" y="1920"/>
                </a:cubicBezTo>
                <a:cubicBezTo>
                  <a:pt x="10943" y="1878"/>
                  <a:pt x="11173" y="1815"/>
                  <a:pt x="11365" y="1714"/>
                </a:cubicBezTo>
                <a:cubicBezTo>
                  <a:pt x="11557" y="1614"/>
                  <a:pt x="11881" y="1486"/>
                  <a:pt x="12086" y="1440"/>
                </a:cubicBezTo>
                <a:cubicBezTo>
                  <a:pt x="12469" y="1354"/>
                  <a:pt x="12471" y="1240"/>
                  <a:pt x="12123" y="1029"/>
                </a:cubicBezTo>
                <a:cubicBezTo>
                  <a:pt x="12042" y="979"/>
                  <a:pt x="11974" y="891"/>
                  <a:pt x="11974" y="823"/>
                </a:cubicBezTo>
                <a:cubicBezTo>
                  <a:pt x="11974" y="700"/>
                  <a:pt x="13458" y="568"/>
                  <a:pt x="13514" y="686"/>
                </a:cubicBezTo>
                <a:cubicBezTo>
                  <a:pt x="13532" y="725"/>
                  <a:pt x="13526" y="934"/>
                  <a:pt x="13489" y="1440"/>
                </a:cubicBezTo>
                <a:cubicBezTo>
                  <a:pt x="13460" y="1837"/>
                  <a:pt x="13396" y="2762"/>
                  <a:pt x="13353" y="3429"/>
                </a:cubicBezTo>
                <a:lnTo>
                  <a:pt x="13278" y="4594"/>
                </a:lnTo>
                <a:lnTo>
                  <a:pt x="13986" y="4594"/>
                </a:lnTo>
                <a:lnTo>
                  <a:pt x="14694" y="4526"/>
                </a:lnTo>
                <a:lnTo>
                  <a:pt x="14731" y="3771"/>
                </a:lnTo>
                <a:cubicBezTo>
                  <a:pt x="14781" y="2480"/>
                  <a:pt x="14813" y="2644"/>
                  <a:pt x="14309" y="2606"/>
                </a:cubicBezTo>
                <a:cubicBezTo>
                  <a:pt x="13799" y="2567"/>
                  <a:pt x="13832" y="2667"/>
                  <a:pt x="13936" y="1371"/>
                </a:cubicBezTo>
                <a:lnTo>
                  <a:pt x="13986" y="617"/>
                </a:lnTo>
                <a:lnTo>
                  <a:pt x="14682" y="617"/>
                </a:lnTo>
                <a:cubicBezTo>
                  <a:pt x="15063" y="617"/>
                  <a:pt x="15384" y="653"/>
                  <a:pt x="15390" y="686"/>
                </a:cubicBezTo>
                <a:cubicBezTo>
                  <a:pt x="15399" y="738"/>
                  <a:pt x="15378" y="1498"/>
                  <a:pt x="15327" y="3086"/>
                </a:cubicBezTo>
                <a:lnTo>
                  <a:pt x="15315" y="3497"/>
                </a:lnTo>
                <a:lnTo>
                  <a:pt x="15539" y="3497"/>
                </a:lnTo>
                <a:lnTo>
                  <a:pt x="15762" y="3497"/>
                </a:lnTo>
                <a:lnTo>
                  <a:pt x="15824" y="2126"/>
                </a:lnTo>
                <a:lnTo>
                  <a:pt x="15899" y="686"/>
                </a:lnTo>
                <a:lnTo>
                  <a:pt x="16073" y="686"/>
                </a:lnTo>
                <a:cubicBezTo>
                  <a:pt x="16170" y="666"/>
                  <a:pt x="16260" y="690"/>
                  <a:pt x="16271" y="754"/>
                </a:cubicBezTo>
                <a:cubicBezTo>
                  <a:pt x="16285" y="827"/>
                  <a:pt x="16270" y="1350"/>
                  <a:pt x="16234" y="2126"/>
                </a:cubicBezTo>
                <a:cubicBezTo>
                  <a:pt x="16202" y="2811"/>
                  <a:pt x="16172" y="3390"/>
                  <a:pt x="16172" y="3429"/>
                </a:cubicBezTo>
                <a:cubicBezTo>
                  <a:pt x="16172" y="3467"/>
                  <a:pt x="16287" y="3498"/>
                  <a:pt x="16420" y="3497"/>
                </a:cubicBezTo>
                <a:lnTo>
                  <a:pt x="16656" y="3497"/>
                </a:lnTo>
                <a:lnTo>
                  <a:pt x="16743" y="2126"/>
                </a:lnTo>
                <a:lnTo>
                  <a:pt x="16843" y="686"/>
                </a:lnTo>
                <a:lnTo>
                  <a:pt x="17551" y="686"/>
                </a:lnTo>
                <a:lnTo>
                  <a:pt x="18259" y="686"/>
                </a:lnTo>
                <a:lnTo>
                  <a:pt x="18246" y="1029"/>
                </a:lnTo>
                <a:cubicBezTo>
                  <a:pt x="18242" y="1198"/>
                  <a:pt x="18223" y="1477"/>
                  <a:pt x="18209" y="1714"/>
                </a:cubicBezTo>
                <a:cubicBezTo>
                  <a:pt x="18180" y="2201"/>
                  <a:pt x="18224" y="2145"/>
                  <a:pt x="17725" y="2743"/>
                </a:cubicBezTo>
                <a:cubicBezTo>
                  <a:pt x="17542" y="2962"/>
                  <a:pt x="17369" y="3217"/>
                  <a:pt x="17352" y="3291"/>
                </a:cubicBezTo>
                <a:cubicBezTo>
                  <a:pt x="17326" y="3409"/>
                  <a:pt x="17228" y="5196"/>
                  <a:pt x="17228" y="5554"/>
                </a:cubicBezTo>
                <a:cubicBezTo>
                  <a:pt x="17228" y="5625"/>
                  <a:pt x="17387" y="5443"/>
                  <a:pt x="17576" y="5143"/>
                </a:cubicBezTo>
                <a:cubicBezTo>
                  <a:pt x="17956" y="4538"/>
                  <a:pt x="18085" y="4434"/>
                  <a:pt x="18072" y="4731"/>
                </a:cubicBezTo>
                <a:cubicBezTo>
                  <a:pt x="18068" y="4834"/>
                  <a:pt x="18047" y="5422"/>
                  <a:pt x="18023" y="6034"/>
                </a:cubicBezTo>
                <a:cubicBezTo>
                  <a:pt x="17999" y="6647"/>
                  <a:pt x="17964" y="7192"/>
                  <a:pt x="17948" y="7269"/>
                </a:cubicBezTo>
                <a:cubicBezTo>
                  <a:pt x="17933" y="7345"/>
                  <a:pt x="17792" y="7624"/>
                  <a:pt x="17638" y="7886"/>
                </a:cubicBezTo>
                <a:cubicBezTo>
                  <a:pt x="17483" y="8147"/>
                  <a:pt x="17341" y="8430"/>
                  <a:pt x="17327" y="8503"/>
                </a:cubicBezTo>
                <a:cubicBezTo>
                  <a:pt x="17299" y="8647"/>
                  <a:pt x="17198" y="10945"/>
                  <a:pt x="17215" y="11040"/>
                </a:cubicBezTo>
                <a:cubicBezTo>
                  <a:pt x="17221" y="11072"/>
                  <a:pt x="17358" y="10831"/>
                  <a:pt x="17514" y="10560"/>
                </a:cubicBezTo>
                <a:cubicBezTo>
                  <a:pt x="17669" y="10289"/>
                  <a:pt x="17794" y="10168"/>
                  <a:pt x="17799" y="10217"/>
                </a:cubicBezTo>
                <a:cubicBezTo>
                  <a:pt x="17805" y="10266"/>
                  <a:pt x="17771" y="11153"/>
                  <a:pt x="17725" y="12206"/>
                </a:cubicBezTo>
                <a:lnTo>
                  <a:pt x="17650" y="14126"/>
                </a:lnTo>
                <a:lnTo>
                  <a:pt x="17315" y="14194"/>
                </a:lnTo>
                <a:lnTo>
                  <a:pt x="16979" y="14194"/>
                </a:lnTo>
                <a:lnTo>
                  <a:pt x="16930" y="15291"/>
                </a:lnTo>
                <a:lnTo>
                  <a:pt x="16880" y="16389"/>
                </a:lnTo>
                <a:lnTo>
                  <a:pt x="17377" y="16389"/>
                </a:lnTo>
                <a:cubicBezTo>
                  <a:pt x="17926" y="16389"/>
                  <a:pt x="18001" y="16305"/>
                  <a:pt x="18072" y="15703"/>
                </a:cubicBezTo>
                <a:cubicBezTo>
                  <a:pt x="18094" y="15525"/>
                  <a:pt x="18229" y="12893"/>
                  <a:pt x="18371" y="9806"/>
                </a:cubicBezTo>
                <a:cubicBezTo>
                  <a:pt x="18512" y="6719"/>
                  <a:pt x="18639" y="4053"/>
                  <a:pt x="18656" y="3909"/>
                </a:cubicBezTo>
                <a:cubicBezTo>
                  <a:pt x="18680" y="3705"/>
                  <a:pt x="18731" y="3612"/>
                  <a:pt x="18867" y="3497"/>
                </a:cubicBezTo>
                <a:cubicBezTo>
                  <a:pt x="19492" y="2970"/>
                  <a:pt x="19789" y="2764"/>
                  <a:pt x="19811" y="2811"/>
                </a:cubicBezTo>
                <a:cubicBezTo>
                  <a:pt x="19840" y="2870"/>
                  <a:pt x="19822" y="3713"/>
                  <a:pt x="19787" y="3909"/>
                </a:cubicBezTo>
                <a:cubicBezTo>
                  <a:pt x="19776" y="3967"/>
                  <a:pt x="19586" y="4027"/>
                  <a:pt x="19364" y="4046"/>
                </a:cubicBezTo>
                <a:lnTo>
                  <a:pt x="18954" y="4046"/>
                </a:lnTo>
                <a:lnTo>
                  <a:pt x="18942" y="4389"/>
                </a:lnTo>
                <a:cubicBezTo>
                  <a:pt x="18934" y="4559"/>
                  <a:pt x="18913" y="4887"/>
                  <a:pt x="18905" y="5143"/>
                </a:cubicBezTo>
                <a:lnTo>
                  <a:pt x="18892" y="5623"/>
                </a:lnTo>
                <a:lnTo>
                  <a:pt x="19302" y="5623"/>
                </a:lnTo>
                <a:cubicBezTo>
                  <a:pt x="19525" y="5623"/>
                  <a:pt x="19706" y="5640"/>
                  <a:pt x="19712" y="5691"/>
                </a:cubicBezTo>
                <a:cubicBezTo>
                  <a:pt x="19718" y="5743"/>
                  <a:pt x="19716" y="5952"/>
                  <a:pt x="19700" y="6171"/>
                </a:cubicBezTo>
                <a:lnTo>
                  <a:pt x="19662" y="6583"/>
                </a:lnTo>
                <a:lnTo>
                  <a:pt x="19252" y="6651"/>
                </a:lnTo>
                <a:lnTo>
                  <a:pt x="18843" y="6651"/>
                </a:lnTo>
                <a:lnTo>
                  <a:pt x="18818" y="7131"/>
                </a:lnTo>
                <a:cubicBezTo>
                  <a:pt x="18804" y="7404"/>
                  <a:pt x="18789" y="7835"/>
                  <a:pt x="18780" y="8023"/>
                </a:cubicBezTo>
                <a:lnTo>
                  <a:pt x="18756" y="8297"/>
                </a:lnTo>
                <a:lnTo>
                  <a:pt x="19165" y="8297"/>
                </a:lnTo>
                <a:cubicBezTo>
                  <a:pt x="19507" y="8297"/>
                  <a:pt x="19577" y="8345"/>
                  <a:pt x="19588" y="8503"/>
                </a:cubicBezTo>
                <a:cubicBezTo>
                  <a:pt x="19595" y="8606"/>
                  <a:pt x="19591" y="8813"/>
                  <a:pt x="19575" y="8914"/>
                </a:cubicBezTo>
                <a:cubicBezTo>
                  <a:pt x="19553" y="9065"/>
                  <a:pt x="19464" y="9051"/>
                  <a:pt x="19128" y="9051"/>
                </a:cubicBezTo>
                <a:lnTo>
                  <a:pt x="18718" y="9051"/>
                </a:lnTo>
                <a:lnTo>
                  <a:pt x="18681" y="9874"/>
                </a:lnTo>
                <a:cubicBezTo>
                  <a:pt x="18661" y="10315"/>
                  <a:pt x="18644" y="10730"/>
                  <a:pt x="18644" y="10766"/>
                </a:cubicBezTo>
                <a:cubicBezTo>
                  <a:pt x="18644" y="10801"/>
                  <a:pt x="18828" y="10816"/>
                  <a:pt x="19054" y="10834"/>
                </a:cubicBezTo>
                <a:lnTo>
                  <a:pt x="19476" y="10903"/>
                </a:lnTo>
                <a:lnTo>
                  <a:pt x="19476" y="11177"/>
                </a:lnTo>
                <a:cubicBezTo>
                  <a:pt x="19476" y="11336"/>
                  <a:pt x="19446" y="12026"/>
                  <a:pt x="19414" y="12754"/>
                </a:cubicBezTo>
                <a:cubicBezTo>
                  <a:pt x="19358" y="14004"/>
                  <a:pt x="19353" y="14087"/>
                  <a:pt x="19302" y="14057"/>
                </a:cubicBezTo>
                <a:cubicBezTo>
                  <a:pt x="19272" y="14040"/>
                  <a:pt x="19201" y="13786"/>
                  <a:pt x="19153" y="13509"/>
                </a:cubicBezTo>
                <a:cubicBezTo>
                  <a:pt x="19064" y="12990"/>
                  <a:pt x="19067" y="12850"/>
                  <a:pt x="19116" y="11931"/>
                </a:cubicBezTo>
                <a:cubicBezTo>
                  <a:pt x="19126" y="11734"/>
                  <a:pt x="19101" y="11657"/>
                  <a:pt x="18867" y="11657"/>
                </a:cubicBezTo>
                <a:lnTo>
                  <a:pt x="18607" y="11657"/>
                </a:lnTo>
                <a:lnTo>
                  <a:pt x="18507" y="13920"/>
                </a:lnTo>
                <a:cubicBezTo>
                  <a:pt x="18450" y="15138"/>
                  <a:pt x="18395" y="16173"/>
                  <a:pt x="18395" y="16251"/>
                </a:cubicBezTo>
                <a:cubicBezTo>
                  <a:pt x="18395" y="16351"/>
                  <a:pt x="18472" y="16389"/>
                  <a:pt x="18644" y="16389"/>
                </a:cubicBezTo>
                <a:cubicBezTo>
                  <a:pt x="18889" y="16389"/>
                  <a:pt x="18896" y="16427"/>
                  <a:pt x="18917" y="16114"/>
                </a:cubicBezTo>
                <a:lnTo>
                  <a:pt x="18942" y="15771"/>
                </a:lnTo>
                <a:lnTo>
                  <a:pt x="19041" y="16114"/>
                </a:lnTo>
                <a:lnTo>
                  <a:pt x="19141" y="16389"/>
                </a:lnTo>
                <a:lnTo>
                  <a:pt x="19960" y="16389"/>
                </a:lnTo>
                <a:lnTo>
                  <a:pt x="20768" y="16320"/>
                </a:lnTo>
                <a:lnTo>
                  <a:pt x="20805" y="15497"/>
                </a:lnTo>
                <a:cubicBezTo>
                  <a:pt x="20825" y="15053"/>
                  <a:pt x="20852" y="14622"/>
                  <a:pt x="20867" y="14469"/>
                </a:cubicBezTo>
                <a:lnTo>
                  <a:pt x="20904" y="14194"/>
                </a:lnTo>
                <a:lnTo>
                  <a:pt x="20395" y="14194"/>
                </a:lnTo>
                <a:cubicBezTo>
                  <a:pt x="20113" y="14194"/>
                  <a:pt x="19881" y="14121"/>
                  <a:pt x="19873" y="14057"/>
                </a:cubicBezTo>
                <a:cubicBezTo>
                  <a:pt x="19866" y="13995"/>
                  <a:pt x="19874" y="13820"/>
                  <a:pt x="19886" y="13646"/>
                </a:cubicBezTo>
                <a:lnTo>
                  <a:pt x="19911" y="13303"/>
                </a:lnTo>
                <a:lnTo>
                  <a:pt x="20259" y="13234"/>
                </a:lnTo>
                <a:lnTo>
                  <a:pt x="20619" y="13234"/>
                </a:lnTo>
                <a:lnTo>
                  <a:pt x="20656" y="12480"/>
                </a:lnTo>
                <a:lnTo>
                  <a:pt x="20693" y="11726"/>
                </a:lnTo>
                <a:lnTo>
                  <a:pt x="20333" y="11657"/>
                </a:lnTo>
                <a:cubicBezTo>
                  <a:pt x="20002" y="11599"/>
                  <a:pt x="19987" y="11617"/>
                  <a:pt x="19985" y="11383"/>
                </a:cubicBezTo>
                <a:cubicBezTo>
                  <a:pt x="19981" y="10731"/>
                  <a:pt x="20003" y="10698"/>
                  <a:pt x="20358" y="10697"/>
                </a:cubicBezTo>
                <a:cubicBezTo>
                  <a:pt x="20779" y="10697"/>
                  <a:pt x="20800" y="10642"/>
                  <a:pt x="20880" y="9326"/>
                </a:cubicBezTo>
                <a:cubicBezTo>
                  <a:pt x="20934" y="8429"/>
                  <a:pt x="20943" y="8358"/>
                  <a:pt x="21029" y="8297"/>
                </a:cubicBezTo>
                <a:cubicBezTo>
                  <a:pt x="21111" y="8238"/>
                  <a:pt x="21113" y="8271"/>
                  <a:pt x="21140" y="7680"/>
                </a:cubicBezTo>
                <a:cubicBezTo>
                  <a:pt x="21185" y="6719"/>
                  <a:pt x="21183" y="6446"/>
                  <a:pt x="21116" y="6446"/>
                </a:cubicBezTo>
                <a:cubicBezTo>
                  <a:pt x="21084" y="6446"/>
                  <a:pt x="21047" y="6398"/>
                  <a:pt x="21041" y="6309"/>
                </a:cubicBezTo>
                <a:cubicBezTo>
                  <a:pt x="21035" y="6220"/>
                  <a:pt x="21053" y="5651"/>
                  <a:pt x="21078" y="5074"/>
                </a:cubicBezTo>
                <a:cubicBezTo>
                  <a:pt x="21103" y="4498"/>
                  <a:pt x="21128" y="4028"/>
                  <a:pt x="21128" y="3977"/>
                </a:cubicBezTo>
                <a:cubicBezTo>
                  <a:pt x="21128" y="3926"/>
                  <a:pt x="20946" y="3840"/>
                  <a:pt x="20731" y="3840"/>
                </a:cubicBezTo>
                <a:cubicBezTo>
                  <a:pt x="20499" y="3840"/>
                  <a:pt x="20329" y="3843"/>
                  <a:pt x="20321" y="3771"/>
                </a:cubicBezTo>
                <a:cubicBezTo>
                  <a:pt x="20297" y="3558"/>
                  <a:pt x="20361" y="2605"/>
                  <a:pt x="20408" y="2469"/>
                </a:cubicBezTo>
                <a:cubicBezTo>
                  <a:pt x="20435" y="2388"/>
                  <a:pt x="20665" y="2347"/>
                  <a:pt x="21016" y="2331"/>
                </a:cubicBezTo>
                <a:lnTo>
                  <a:pt x="21600" y="2331"/>
                </a:lnTo>
                <a:lnTo>
                  <a:pt x="21600" y="0"/>
                </a:lnTo>
                <a:lnTo>
                  <a:pt x="0" y="0"/>
                </a:lnTo>
                <a:close/>
                <a:moveTo>
                  <a:pt x="783" y="1303"/>
                </a:moveTo>
                <a:lnTo>
                  <a:pt x="696" y="2400"/>
                </a:lnTo>
                <a:lnTo>
                  <a:pt x="609" y="3429"/>
                </a:lnTo>
                <a:lnTo>
                  <a:pt x="1851" y="3497"/>
                </a:lnTo>
                <a:cubicBezTo>
                  <a:pt x="3226" y="3566"/>
                  <a:pt x="3181" y="3534"/>
                  <a:pt x="3341" y="4389"/>
                </a:cubicBezTo>
                <a:cubicBezTo>
                  <a:pt x="3399" y="4696"/>
                  <a:pt x="3416" y="4902"/>
                  <a:pt x="3416" y="5280"/>
                </a:cubicBezTo>
                <a:cubicBezTo>
                  <a:pt x="3416" y="5684"/>
                  <a:pt x="3397" y="5834"/>
                  <a:pt x="3304" y="6377"/>
                </a:cubicBezTo>
                <a:cubicBezTo>
                  <a:pt x="3115" y="7478"/>
                  <a:pt x="2813" y="8359"/>
                  <a:pt x="2211" y="9463"/>
                </a:cubicBezTo>
                <a:lnTo>
                  <a:pt x="1888" y="10011"/>
                </a:lnTo>
                <a:lnTo>
                  <a:pt x="2372" y="12686"/>
                </a:lnTo>
                <a:lnTo>
                  <a:pt x="2869" y="15291"/>
                </a:lnTo>
                <a:lnTo>
                  <a:pt x="3403" y="15291"/>
                </a:lnTo>
                <a:cubicBezTo>
                  <a:pt x="3753" y="15294"/>
                  <a:pt x="3937" y="15237"/>
                  <a:pt x="3937" y="15154"/>
                </a:cubicBezTo>
                <a:cubicBezTo>
                  <a:pt x="3937" y="14929"/>
                  <a:pt x="3467" y="12404"/>
                  <a:pt x="3205" y="11246"/>
                </a:cubicBezTo>
                <a:cubicBezTo>
                  <a:pt x="3064" y="10627"/>
                  <a:pt x="2958" y="10137"/>
                  <a:pt x="2969" y="10080"/>
                </a:cubicBezTo>
                <a:cubicBezTo>
                  <a:pt x="2979" y="10023"/>
                  <a:pt x="3069" y="9874"/>
                  <a:pt x="3167" y="9806"/>
                </a:cubicBezTo>
                <a:cubicBezTo>
                  <a:pt x="3654" y="9466"/>
                  <a:pt x="4036" y="8338"/>
                  <a:pt x="4198" y="6720"/>
                </a:cubicBezTo>
                <a:cubicBezTo>
                  <a:pt x="4257" y="6130"/>
                  <a:pt x="4260" y="5943"/>
                  <a:pt x="4260" y="5006"/>
                </a:cubicBezTo>
                <a:cubicBezTo>
                  <a:pt x="4260" y="4075"/>
                  <a:pt x="4256" y="3862"/>
                  <a:pt x="4198" y="3291"/>
                </a:cubicBezTo>
                <a:cubicBezTo>
                  <a:pt x="4088" y="2194"/>
                  <a:pt x="3884" y="1595"/>
                  <a:pt x="3528" y="1371"/>
                </a:cubicBezTo>
                <a:cubicBezTo>
                  <a:pt x="3430" y="1310"/>
                  <a:pt x="3092" y="1307"/>
                  <a:pt x="2596" y="1303"/>
                </a:cubicBezTo>
                <a:cubicBezTo>
                  <a:pt x="2431" y="1301"/>
                  <a:pt x="2247" y="1297"/>
                  <a:pt x="2049" y="1303"/>
                </a:cubicBezTo>
                <a:lnTo>
                  <a:pt x="783" y="1303"/>
                </a:lnTo>
                <a:close/>
                <a:moveTo>
                  <a:pt x="14992" y="4114"/>
                </a:moveTo>
                <a:lnTo>
                  <a:pt x="14918" y="5897"/>
                </a:lnTo>
                <a:cubicBezTo>
                  <a:pt x="14831" y="7969"/>
                  <a:pt x="14731" y="10401"/>
                  <a:pt x="14731" y="10560"/>
                </a:cubicBezTo>
                <a:cubicBezTo>
                  <a:pt x="14731" y="10622"/>
                  <a:pt x="14946" y="10697"/>
                  <a:pt x="15216" y="10697"/>
                </a:cubicBezTo>
                <a:cubicBezTo>
                  <a:pt x="15481" y="10697"/>
                  <a:pt x="15706" y="10711"/>
                  <a:pt x="15712" y="10766"/>
                </a:cubicBezTo>
                <a:cubicBezTo>
                  <a:pt x="15719" y="10821"/>
                  <a:pt x="15711" y="11114"/>
                  <a:pt x="15700" y="11383"/>
                </a:cubicBezTo>
                <a:cubicBezTo>
                  <a:pt x="15689" y="11652"/>
                  <a:pt x="15682" y="12054"/>
                  <a:pt x="15675" y="12274"/>
                </a:cubicBezTo>
                <a:cubicBezTo>
                  <a:pt x="15668" y="12495"/>
                  <a:pt x="15631" y="13219"/>
                  <a:pt x="15601" y="13920"/>
                </a:cubicBezTo>
                <a:cubicBezTo>
                  <a:pt x="15533" y="15450"/>
                  <a:pt x="15533" y="16075"/>
                  <a:pt x="15588" y="16251"/>
                </a:cubicBezTo>
                <a:cubicBezTo>
                  <a:pt x="15612" y="16327"/>
                  <a:pt x="15840" y="16386"/>
                  <a:pt x="16160" y="16389"/>
                </a:cubicBezTo>
                <a:lnTo>
                  <a:pt x="16681" y="16389"/>
                </a:lnTo>
                <a:lnTo>
                  <a:pt x="16731" y="15497"/>
                </a:lnTo>
                <a:cubicBezTo>
                  <a:pt x="16753" y="15002"/>
                  <a:pt x="16787" y="14519"/>
                  <a:pt x="16806" y="14400"/>
                </a:cubicBezTo>
                <a:cubicBezTo>
                  <a:pt x="16838" y="14194"/>
                  <a:pt x="16816" y="14194"/>
                  <a:pt x="16495" y="14194"/>
                </a:cubicBezTo>
                <a:cubicBezTo>
                  <a:pt x="16308" y="14194"/>
                  <a:pt x="16153" y="14108"/>
                  <a:pt x="16147" y="14057"/>
                </a:cubicBezTo>
                <a:cubicBezTo>
                  <a:pt x="16132" y="13919"/>
                  <a:pt x="16244" y="11015"/>
                  <a:pt x="16271" y="10834"/>
                </a:cubicBezTo>
                <a:cubicBezTo>
                  <a:pt x="16285" y="10741"/>
                  <a:pt x="16350" y="10698"/>
                  <a:pt x="16433" y="10697"/>
                </a:cubicBezTo>
                <a:cubicBezTo>
                  <a:pt x="16615" y="10696"/>
                  <a:pt x="16720" y="10503"/>
                  <a:pt x="16793" y="10080"/>
                </a:cubicBezTo>
                <a:cubicBezTo>
                  <a:pt x="16843" y="9790"/>
                  <a:pt x="16863" y="9423"/>
                  <a:pt x="16917" y="7954"/>
                </a:cubicBezTo>
                <a:cubicBezTo>
                  <a:pt x="16960" y="6789"/>
                  <a:pt x="16971" y="6241"/>
                  <a:pt x="16955" y="6240"/>
                </a:cubicBezTo>
                <a:cubicBezTo>
                  <a:pt x="16926" y="6239"/>
                  <a:pt x="16509" y="6859"/>
                  <a:pt x="16495" y="6926"/>
                </a:cubicBezTo>
                <a:cubicBezTo>
                  <a:pt x="16490" y="6950"/>
                  <a:pt x="16466" y="7426"/>
                  <a:pt x="16445" y="7954"/>
                </a:cubicBezTo>
                <a:lnTo>
                  <a:pt x="16408" y="8914"/>
                </a:lnTo>
                <a:lnTo>
                  <a:pt x="15824" y="8983"/>
                </a:lnTo>
                <a:cubicBezTo>
                  <a:pt x="15423" y="9026"/>
                  <a:pt x="15223" y="9080"/>
                  <a:pt x="15178" y="9189"/>
                </a:cubicBezTo>
                <a:cubicBezTo>
                  <a:pt x="15136" y="9291"/>
                  <a:pt x="15105" y="9266"/>
                  <a:pt x="15091" y="9189"/>
                </a:cubicBezTo>
                <a:cubicBezTo>
                  <a:pt x="15077" y="9111"/>
                  <a:pt x="15112" y="8918"/>
                  <a:pt x="15191" y="8640"/>
                </a:cubicBezTo>
                <a:lnTo>
                  <a:pt x="15315" y="8229"/>
                </a:lnTo>
                <a:lnTo>
                  <a:pt x="15352" y="7200"/>
                </a:lnTo>
                <a:cubicBezTo>
                  <a:pt x="15375" y="6631"/>
                  <a:pt x="15403" y="6115"/>
                  <a:pt x="15414" y="6034"/>
                </a:cubicBezTo>
                <a:cubicBezTo>
                  <a:pt x="15428" y="5933"/>
                  <a:pt x="15564" y="5856"/>
                  <a:pt x="15837" y="5829"/>
                </a:cubicBezTo>
                <a:cubicBezTo>
                  <a:pt x="16212" y="5791"/>
                  <a:pt x="16241" y="5795"/>
                  <a:pt x="16358" y="5486"/>
                </a:cubicBezTo>
                <a:cubicBezTo>
                  <a:pt x="16460" y="5217"/>
                  <a:pt x="16623" y="4822"/>
                  <a:pt x="16942" y="4183"/>
                </a:cubicBezTo>
                <a:cubicBezTo>
                  <a:pt x="16961" y="4146"/>
                  <a:pt x="16531" y="4120"/>
                  <a:pt x="15986" y="4114"/>
                </a:cubicBezTo>
                <a:lnTo>
                  <a:pt x="14992" y="4114"/>
                </a:lnTo>
                <a:close/>
                <a:moveTo>
                  <a:pt x="4596" y="4457"/>
                </a:moveTo>
                <a:lnTo>
                  <a:pt x="4571" y="4937"/>
                </a:lnTo>
                <a:cubicBezTo>
                  <a:pt x="4436" y="7970"/>
                  <a:pt x="4245" y="12569"/>
                  <a:pt x="4236" y="13029"/>
                </a:cubicBezTo>
                <a:cubicBezTo>
                  <a:pt x="4214" y="14134"/>
                  <a:pt x="4360" y="14878"/>
                  <a:pt x="4633" y="15154"/>
                </a:cubicBezTo>
                <a:cubicBezTo>
                  <a:pt x="4790" y="15313"/>
                  <a:pt x="5685" y="15168"/>
                  <a:pt x="5912" y="14949"/>
                </a:cubicBezTo>
                <a:cubicBezTo>
                  <a:pt x="6018" y="14847"/>
                  <a:pt x="6148" y="14660"/>
                  <a:pt x="6198" y="14537"/>
                </a:cubicBezTo>
                <a:cubicBezTo>
                  <a:pt x="6303" y="14280"/>
                  <a:pt x="6422" y="13606"/>
                  <a:pt x="6471" y="12960"/>
                </a:cubicBezTo>
                <a:cubicBezTo>
                  <a:pt x="6518" y="12344"/>
                  <a:pt x="6696" y="8243"/>
                  <a:pt x="6832" y="4731"/>
                </a:cubicBezTo>
                <a:lnTo>
                  <a:pt x="6844" y="4457"/>
                </a:lnTo>
                <a:lnTo>
                  <a:pt x="6484" y="4457"/>
                </a:lnTo>
                <a:lnTo>
                  <a:pt x="6124" y="4457"/>
                </a:lnTo>
                <a:lnTo>
                  <a:pt x="6061" y="6309"/>
                </a:lnTo>
                <a:cubicBezTo>
                  <a:pt x="5893" y="11101"/>
                  <a:pt x="5818" y="12346"/>
                  <a:pt x="5627" y="12891"/>
                </a:cubicBezTo>
                <a:cubicBezTo>
                  <a:pt x="5525" y="13180"/>
                  <a:pt x="5296" y="13309"/>
                  <a:pt x="5180" y="13166"/>
                </a:cubicBezTo>
                <a:cubicBezTo>
                  <a:pt x="5044" y="12998"/>
                  <a:pt x="4993" y="12759"/>
                  <a:pt x="4993" y="12206"/>
                </a:cubicBezTo>
                <a:cubicBezTo>
                  <a:pt x="4993" y="11960"/>
                  <a:pt x="5068" y="10165"/>
                  <a:pt x="5155" y="8229"/>
                </a:cubicBezTo>
                <a:cubicBezTo>
                  <a:pt x="5241" y="6292"/>
                  <a:pt x="5304" y="4655"/>
                  <a:pt x="5304" y="4594"/>
                </a:cubicBezTo>
                <a:cubicBezTo>
                  <a:pt x="5304" y="4534"/>
                  <a:pt x="5153" y="4457"/>
                  <a:pt x="4956" y="4457"/>
                </a:cubicBezTo>
                <a:lnTo>
                  <a:pt x="4596" y="4457"/>
                </a:lnTo>
                <a:close/>
                <a:moveTo>
                  <a:pt x="11837" y="4457"/>
                </a:moveTo>
                <a:cubicBezTo>
                  <a:pt x="11532" y="4467"/>
                  <a:pt x="11316" y="4643"/>
                  <a:pt x="11092" y="5143"/>
                </a:cubicBezTo>
                <a:cubicBezTo>
                  <a:pt x="10625" y="6182"/>
                  <a:pt x="10303" y="8169"/>
                  <a:pt x="10235" y="10354"/>
                </a:cubicBezTo>
                <a:cubicBezTo>
                  <a:pt x="10158" y="12820"/>
                  <a:pt x="10471" y="14758"/>
                  <a:pt x="11017" y="15154"/>
                </a:cubicBezTo>
                <a:cubicBezTo>
                  <a:pt x="11309" y="15365"/>
                  <a:pt x="11858" y="14938"/>
                  <a:pt x="12185" y="14263"/>
                </a:cubicBezTo>
                <a:lnTo>
                  <a:pt x="12297" y="14057"/>
                </a:lnTo>
                <a:lnTo>
                  <a:pt x="12359" y="12754"/>
                </a:lnTo>
                <a:cubicBezTo>
                  <a:pt x="12389" y="12058"/>
                  <a:pt x="12411" y="11473"/>
                  <a:pt x="12409" y="11451"/>
                </a:cubicBezTo>
                <a:cubicBezTo>
                  <a:pt x="12406" y="11430"/>
                  <a:pt x="12336" y="11581"/>
                  <a:pt x="12259" y="11794"/>
                </a:cubicBezTo>
                <a:cubicBezTo>
                  <a:pt x="12071" y="12318"/>
                  <a:pt x="11686" y="13036"/>
                  <a:pt x="11514" y="13166"/>
                </a:cubicBezTo>
                <a:cubicBezTo>
                  <a:pt x="11349" y="13290"/>
                  <a:pt x="11201" y="13158"/>
                  <a:pt x="11117" y="12823"/>
                </a:cubicBezTo>
                <a:cubicBezTo>
                  <a:pt x="11043" y="12529"/>
                  <a:pt x="10964" y="11741"/>
                  <a:pt x="10993" y="11589"/>
                </a:cubicBezTo>
                <a:cubicBezTo>
                  <a:pt x="11004" y="11529"/>
                  <a:pt x="11265" y="11214"/>
                  <a:pt x="11576" y="10903"/>
                </a:cubicBezTo>
                <a:cubicBezTo>
                  <a:pt x="12174" y="10304"/>
                  <a:pt x="12335" y="10054"/>
                  <a:pt x="12483" y="9463"/>
                </a:cubicBezTo>
                <a:cubicBezTo>
                  <a:pt x="12582" y="9066"/>
                  <a:pt x="12630" y="8694"/>
                  <a:pt x="12669" y="7886"/>
                </a:cubicBezTo>
                <a:cubicBezTo>
                  <a:pt x="12732" y="6603"/>
                  <a:pt x="12564" y="5287"/>
                  <a:pt x="12272" y="4731"/>
                </a:cubicBezTo>
                <a:cubicBezTo>
                  <a:pt x="12138" y="4477"/>
                  <a:pt x="12078" y="4449"/>
                  <a:pt x="11837" y="4457"/>
                </a:cubicBezTo>
                <a:close/>
                <a:moveTo>
                  <a:pt x="10235" y="4800"/>
                </a:moveTo>
                <a:lnTo>
                  <a:pt x="10073" y="4937"/>
                </a:lnTo>
                <a:cubicBezTo>
                  <a:pt x="9985" y="4982"/>
                  <a:pt x="9820" y="5068"/>
                  <a:pt x="9713" y="5143"/>
                </a:cubicBezTo>
                <a:lnTo>
                  <a:pt x="9527" y="5280"/>
                </a:lnTo>
                <a:lnTo>
                  <a:pt x="9490" y="6171"/>
                </a:lnTo>
                <a:cubicBezTo>
                  <a:pt x="9470" y="6659"/>
                  <a:pt x="9403" y="7925"/>
                  <a:pt x="9353" y="9051"/>
                </a:cubicBezTo>
                <a:cubicBezTo>
                  <a:pt x="9302" y="10178"/>
                  <a:pt x="9253" y="11660"/>
                  <a:pt x="9229" y="12274"/>
                </a:cubicBezTo>
                <a:cubicBezTo>
                  <a:pt x="9205" y="12889"/>
                  <a:pt x="9165" y="13802"/>
                  <a:pt x="9142" y="14331"/>
                </a:cubicBezTo>
                <a:lnTo>
                  <a:pt x="9092" y="15291"/>
                </a:lnTo>
                <a:lnTo>
                  <a:pt x="9440" y="15291"/>
                </a:lnTo>
                <a:lnTo>
                  <a:pt x="9775" y="15291"/>
                </a:lnTo>
                <a:lnTo>
                  <a:pt x="9912" y="12274"/>
                </a:lnTo>
                <a:cubicBezTo>
                  <a:pt x="9983" y="10619"/>
                  <a:pt x="10082" y="8284"/>
                  <a:pt x="10135" y="7063"/>
                </a:cubicBezTo>
                <a:lnTo>
                  <a:pt x="10235" y="4800"/>
                </a:lnTo>
                <a:close/>
                <a:moveTo>
                  <a:pt x="1043" y="5006"/>
                </a:moveTo>
                <a:lnTo>
                  <a:pt x="981" y="6034"/>
                </a:lnTo>
                <a:cubicBezTo>
                  <a:pt x="942" y="6631"/>
                  <a:pt x="828" y="8304"/>
                  <a:pt x="733" y="9737"/>
                </a:cubicBezTo>
                <a:cubicBezTo>
                  <a:pt x="638" y="11171"/>
                  <a:pt x="526" y="12929"/>
                  <a:pt x="484" y="13577"/>
                </a:cubicBezTo>
                <a:cubicBezTo>
                  <a:pt x="443" y="14226"/>
                  <a:pt x="406" y="14828"/>
                  <a:pt x="397" y="14949"/>
                </a:cubicBezTo>
                <a:cubicBezTo>
                  <a:pt x="382" y="15155"/>
                  <a:pt x="400" y="15186"/>
                  <a:pt x="820" y="15154"/>
                </a:cubicBezTo>
                <a:lnTo>
                  <a:pt x="1267" y="15086"/>
                </a:lnTo>
                <a:lnTo>
                  <a:pt x="1391" y="13371"/>
                </a:lnTo>
                <a:cubicBezTo>
                  <a:pt x="1511" y="11576"/>
                  <a:pt x="1753" y="7833"/>
                  <a:pt x="1851" y="6309"/>
                </a:cubicBezTo>
                <a:cubicBezTo>
                  <a:pt x="1881" y="5831"/>
                  <a:pt x="1917" y="5331"/>
                  <a:pt x="1925" y="5211"/>
                </a:cubicBezTo>
                <a:cubicBezTo>
                  <a:pt x="1940" y="5009"/>
                  <a:pt x="1907" y="5005"/>
                  <a:pt x="1491" y="5006"/>
                </a:cubicBezTo>
                <a:lnTo>
                  <a:pt x="1043" y="5006"/>
                </a:lnTo>
                <a:close/>
                <a:moveTo>
                  <a:pt x="9055" y="5623"/>
                </a:moveTo>
                <a:cubicBezTo>
                  <a:pt x="9050" y="5595"/>
                  <a:pt x="8883" y="5664"/>
                  <a:pt x="8695" y="5829"/>
                </a:cubicBezTo>
                <a:lnTo>
                  <a:pt x="8359" y="6171"/>
                </a:lnTo>
                <a:lnTo>
                  <a:pt x="8173" y="10217"/>
                </a:lnTo>
                <a:cubicBezTo>
                  <a:pt x="7927" y="15628"/>
                  <a:pt x="7867" y="16689"/>
                  <a:pt x="7726" y="17554"/>
                </a:cubicBezTo>
                <a:cubicBezTo>
                  <a:pt x="7641" y="18075"/>
                  <a:pt x="7422" y="18721"/>
                  <a:pt x="7291" y="18857"/>
                </a:cubicBezTo>
                <a:cubicBezTo>
                  <a:pt x="7224" y="18927"/>
                  <a:pt x="7227" y="18960"/>
                  <a:pt x="7204" y="19611"/>
                </a:cubicBezTo>
                <a:cubicBezTo>
                  <a:pt x="7190" y="19997"/>
                  <a:pt x="7164" y="20469"/>
                  <a:pt x="7154" y="20640"/>
                </a:cubicBezTo>
                <a:lnTo>
                  <a:pt x="7142" y="20914"/>
                </a:lnTo>
                <a:lnTo>
                  <a:pt x="6695" y="20983"/>
                </a:lnTo>
                <a:cubicBezTo>
                  <a:pt x="6449" y="21001"/>
                  <a:pt x="6234" y="20974"/>
                  <a:pt x="6223" y="20914"/>
                </a:cubicBezTo>
                <a:cubicBezTo>
                  <a:pt x="6212" y="20853"/>
                  <a:pt x="6227" y="20690"/>
                  <a:pt x="6260" y="20571"/>
                </a:cubicBezTo>
                <a:cubicBezTo>
                  <a:pt x="6352" y="20241"/>
                  <a:pt x="6346" y="19742"/>
                  <a:pt x="6235" y="19337"/>
                </a:cubicBezTo>
                <a:cubicBezTo>
                  <a:pt x="6095" y="18826"/>
                  <a:pt x="6116" y="18555"/>
                  <a:pt x="6310" y="18583"/>
                </a:cubicBezTo>
                <a:cubicBezTo>
                  <a:pt x="6409" y="18597"/>
                  <a:pt x="6437" y="18583"/>
                  <a:pt x="6446" y="18377"/>
                </a:cubicBezTo>
                <a:cubicBezTo>
                  <a:pt x="6457" y="18149"/>
                  <a:pt x="6444" y="18170"/>
                  <a:pt x="6273" y="18171"/>
                </a:cubicBezTo>
                <a:cubicBezTo>
                  <a:pt x="6049" y="18174"/>
                  <a:pt x="5972" y="18314"/>
                  <a:pt x="5962" y="18857"/>
                </a:cubicBezTo>
                <a:cubicBezTo>
                  <a:pt x="5956" y="19198"/>
                  <a:pt x="5970" y="19254"/>
                  <a:pt x="6049" y="19543"/>
                </a:cubicBezTo>
                <a:cubicBezTo>
                  <a:pt x="6150" y="19910"/>
                  <a:pt x="6161" y="20000"/>
                  <a:pt x="6111" y="20229"/>
                </a:cubicBezTo>
                <a:cubicBezTo>
                  <a:pt x="6087" y="20337"/>
                  <a:pt x="6030" y="20355"/>
                  <a:pt x="5937" y="20297"/>
                </a:cubicBezTo>
                <a:cubicBezTo>
                  <a:pt x="5804" y="20214"/>
                  <a:pt x="5808" y="20226"/>
                  <a:pt x="5801" y="20571"/>
                </a:cubicBezTo>
                <a:cubicBezTo>
                  <a:pt x="5788" y="21178"/>
                  <a:pt x="5726" y="21093"/>
                  <a:pt x="5614" y="20229"/>
                </a:cubicBezTo>
                <a:cubicBezTo>
                  <a:pt x="5557" y="19786"/>
                  <a:pt x="5515" y="19368"/>
                  <a:pt x="5515" y="19337"/>
                </a:cubicBezTo>
                <a:cubicBezTo>
                  <a:pt x="5515" y="19306"/>
                  <a:pt x="5581" y="19018"/>
                  <a:pt x="5664" y="18720"/>
                </a:cubicBezTo>
                <a:lnTo>
                  <a:pt x="5813" y="18171"/>
                </a:lnTo>
                <a:lnTo>
                  <a:pt x="5714" y="18171"/>
                </a:lnTo>
                <a:cubicBezTo>
                  <a:pt x="5623" y="18139"/>
                  <a:pt x="5590" y="18187"/>
                  <a:pt x="5490" y="18583"/>
                </a:cubicBezTo>
                <a:cubicBezTo>
                  <a:pt x="5314" y="19280"/>
                  <a:pt x="5299" y="19045"/>
                  <a:pt x="5428" y="17349"/>
                </a:cubicBezTo>
                <a:cubicBezTo>
                  <a:pt x="5442" y="17161"/>
                  <a:pt x="5441" y="17143"/>
                  <a:pt x="5353" y="17143"/>
                </a:cubicBezTo>
                <a:lnTo>
                  <a:pt x="5242" y="17143"/>
                </a:lnTo>
                <a:lnTo>
                  <a:pt x="5192" y="18103"/>
                </a:lnTo>
                <a:cubicBezTo>
                  <a:pt x="5108" y="19428"/>
                  <a:pt x="5008" y="20654"/>
                  <a:pt x="4981" y="20846"/>
                </a:cubicBezTo>
                <a:cubicBezTo>
                  <a:pt x="4965" y="20957"/>
                  <a:pt x="4917" y="21008"/>
                  <a:pt x="4807" y="20983"/>
                </a:cubicBezTo>
                <a:lnTo>
                  <a:pt x="4645" y="20914"/>
                </a:lnTo>
                <a:lnTo>
                  <a:pt x="4658" y="20571"/>
                </a:lnTo>
                <a:cubicBezTo>
                  <a:pt x="4678" y="19543"/>
                  <a:pt x="4828" y="18557"/>
                  <a:pt x="4956" y="18651"/>
                </a:cubicBezTo>
                <a:cubicBezTo>
                  <a:pt x="5012" y="18693"/>
                  <a:pt x="5043" y="18555"/>
                  <a:pt x="5043" y="18240"/>
                </a:cubicBezTo>
                <a:cubicBezTo>
                  <a:pt x="5043" y="18180"/>
                  <a:pt x="4939" y="18157"/>
                  <a:pt x="4819" y="18171"/>
                </a:cubicBezTo>
                <a:lnTo>
                  <a:pt x="4608" y="18171"/>
                </a:lnTo>
                <a:lnTo>
                  <a:pt x="4558" y="18857"/>
                </a:lnTo>
                <a:cubicBezTo>
                  <a:pt x="4538" y="19233"/>
                  <a:pt x="4503" y="19905"/>
                  <a:pt x="4472" y="20297"/>
                </a:cubicBezTo>
                <a:lnTo>
                  <a:pt x="4409" y="20983"/>
                </a:lnTo>
                <a:lnTo>
                  <a:pt x="4298" y="20983"/>
                </a:lnTo>
                <a:cubicBezTo>
                  <a:pt x="4155" y="20983"/>
                  <a:pt x="4140" y="20809"/>
                  <a:pt x="4248" y="20503"/>
                </a:cubicBezTo>
                <a:cubicBezTo>
                  <a:pt x="4414" y="20031"/>
                  <a:pt x="4486" y="18952"/>
                  <a:pt x="4385" y="18446"/>
                </a:cubicBezTo>
                <a:cubicBezTo>
                  <a:pt x="4348" y="18262"/>
                  <a:pt x="4296" y="18206"/>
                  <a:pt x="4149" y="18171"/>
                </a:cubicBezTo>
                <a:cubicBezTo>
                  <a:pt x="3980" y="18132"/>
                  <a:pt x="3945" y="18156"/>
                  <a:pt x="3838" y="18446"/>
                </a:cubicBezTo>
                <a:cubicBezTo>
                  <a:pt x="3652" y="18947"/>
                  <a:pt x="3586" y="19984"/>
                  <a:pt x="3701" y="20571"/>
                </a:cubicBezTo>
                <a:cubicBezTo>
                  <a:pt x="3732" y="20729"/>
                  <a:pt x="3747" y="20870"/>
                  <a:pt x="3739" y="20914"/>
                </a:cubicBezTo>
                <a:cubicBezTo>
                  <a:pt x="3718" y="21027"/>
                  <a:pt x="3267" y="21028"/>
                  <a:pt x="3254" y="20914"/>
                </a:cubicBezTo>
                <a:cubicBezTo>
                  <a:pt x="3249" y="20863"/>
                  <a:pt x="3344" y="20191"/>
                  <a:pt x="3465" y="19474"/>
                </a:cubicBezTo>
                <a:lnTo>
                  <a:pt x="3689" y="18171"/>
                </a:lnTo>
                <a:lnTo>
                  <a:pt x="3590" y="18171"/>
                </a:lnTo>
                <a:cubicBezTo>
                  <a:pt x="3500" y="18133"/>
                  <a:pt x="3493" y="18142"/>
                  <a:pt x="3366" y="18926"/>
                </a:cubicBezTo>
                <a:cubicBezTo>
                  <a:pt x="3293" y="19374"/>
                  <a:pt x="3227" y="19713"/>
                  <a:pt x="3217" y="19680"/>
                </a:cubicBezTo>
                <a:cubicBezTo>
                  <a:pt x="3207" y="19647"/>
                  <a:pt x="3188" y="19268"/>
                  <a:pt x="3180" y="18857"/>
                </a:cubicBezTo>
                <a:lnTo>
                  <a:pt x="3167" y="18103"/>
                </a:lnTo>
                <a:lnTo>
                  <a:pt x="3068" y="18103"/>
                </a:lnTo>
                <a:cubicBezTo>
                  <a:pt x="2974" y="18103"/>
                  <a:pt x="2967" y="18157"/>
                  <a:pt x="2844" y="18994"/>
                </a:cubicBezTo>
                <a:cubicBezTo>
                  <a:pt x="2714" y="19886"/>
                  <a:pt x="2683" y="19994"/>
                  <a:pt x="2683" y="19406"/>
                </a:cubicBezTo>
                <a:cubicBezTo>
                  <a:pt x="2683" y="19222"/>
                  <a:pt x="2666" y="18839"/>
                  <a:pt x="2658" y="18583"/>
                </a:cubicBezTo>
                <a:cubicBezTo>
                  <a:pt x="2645" y="18139"/>
                  <a:pt x="2642" y="18103"/>
                  <a:pt x="2559" y="18103"/>
                </a:cubicBezTo>
                <a:cubicBezTo>
                  <a:pt x="2456" y="18103"/>
                  <a:pt x="2460" y="18130"/>
                  <a:pt x="2509" y="19680"/>
                </a:cubicBezTo>
                <a:cubicBezTo>
                  <a:pt x="2528" y="20279"/>
                  <a:pt x="2541" y="20780"/>
                  <a:pt x="2534" y="20846"/>
                </a:cubicBezTo>
                <a:cubicBezTo>
                  <a:pt x="2515" y="21011"/>
                  <a:pt x="2254" y="21013"/>
                  <a:pt x="2236" y="20846"/>
                </a:cubicBezTo>
                <a:cubicBezTo>
                  <a:pt x="2227" y="20772"/>
                  <a:pt x="2234" y="20647"/>
                  <a:pt x="2248" y="20571"/>
                </a:cubicBezTo>
                <a:cubicBezTo>
                  <a:pt x="2291" y="20337"/>
                  <a:pt x="2277" y="20224"/>
                  <a:pt x="2211" y="20297"/>
                </a:cubicBezTo>
                <a:cubicBezTo>
                  <a:pt x="2108" y="20411"/>
                  <a:pt x="2091" y="20200"/>
                  <a:pt x="2149" y="19406"/>
                </a:cubicBezTo>
                <a:cubicBezTo>
                  <a:pt x="2197" y="18748"/>
                  <a:pt x="2197" y="18688"/>
                  <a:pt x="2285" y="18651"/>
                </a:cubicBezTo>
                <a:cubicBezTo>
                  <a:pt x="2354" y="18623"/>
                  <a:pt x="2389" y="18558"/>
                  <a:pt x="2397" y="18377"/>
                </a:cubicBezTo>
                <a:cubicBezTo>
                  <a:pt x="2407" y="18174"/>
                  <a:pt x="2396" y="18103"/>
                  <a:pt x="2335" y="18103"/>
                </a:cubicBezTo>
                <a:cubicBezTo>
                  <a:pt x="2245" y="18103"/>
                  <a:pt x="2219" y="18059"/>
                  <a:pt x="2248" y="17760"/>
                </a:cubicBezTo>
                <a:cubicBezTo>
                  <a:pt x="2267" y="17565"/>
                  <a:pt x="2267" y="17484"/>
                  <a:pt x="2223" y="17486"/>
                </a:cubicBezTo>
                <a:cubicBezTo>
                  <a:pt x="2132" y="17489"/>
                  <a:pt x="2073" y="17655"/>
                  <a:pt x="2062" y="17897"/>
                </a:cubicBezTo>
                <a:cubicBezTo>
                  <a:pt x="2054" y="18053"/>
                  <a:pt x="2026" y="18103"/>
                  <a:pt x="1987" y="18103"/>
                </a:cubicBezTo>
                <a:cubicBezTo>
                  <a:pt x="1955" y="18103"/>
                  <a:pt x="1938" y="18143"/>
                  <a:pt x="1938" y="18171"/>
                </a:cubicBezTo>
                <a:cubicBezTo>
                  <a:pt x="1938" y="18200"/>
                  <a:pt x="1932" y="18347"/>
                  <a:pt x="1925" y="18446"/>
                </a:cubicBezTo>
                <a:cubicBezTo>
                  <a:pt x="1917" y="18558"/>
                  <a:pt x="1922" y="18610"/>
                  <a:pt x="1950" y="18651"/>
                </a:cubicBezTo>
                <a:cubicBezTo>
                  <a:pt x="1995" y="18716"/>
                  <a:pt x="2006" y="18713"/>
                  <a:pt x="1950" y="19474"/>
                </a:cubicBezTo>
                <a:cubicBezTo>
                  <a:pt x="1919" y="19899"/>
                  <a:pt x="1884" y="20392"/>
                  <a:pt x="1888" y="20571"/>
                </a:cubicBezTo>
                <a:cubicBezTo>
                  <a:pt x="1894" y="20869"/>
                  <a:pt x="1892" y="20947"/>
                  <a:pt x="1813" y="20983"/>
                </a:cubicBezTo>
                <a:cubicBezTo>
                  <a:pt x="1681" y="21043"/>
                  <a:pt x="1658" y="20941"/>
                  <a:pt x="1702" y="20571"/>
                </a:cubicBezTo>
                <a:lnTo>
                  <a:pt x="1739" y="20297"/>
                </a:lnTo>
                <a:lnTo>
                  <a:pt x="1565" y="20366"/>
                </a:lnTo>
                <a:cubicBezTo>
                  <a:pt x="1413" y="20429"/>
                  <a:pt x="1399" y="20408"/>
                  <a:pt x="1354" y="20160"/>
                </a:cubicBezTo>
                <a:cubicBezTo>
                  <a:pt x="1269" y="19689"/>
                  <a:pt x="1316" y="19514"/>
                  <a:pt x="1590" y="19474"/>
                </a:cubicBezTo>
                <a:lnTo>
                  <a:pt x="1838" y="19406"/>
                </a:lnTo>
                <a:lnTo>
                  <a:pt x="1838" y="18926"/>
                </a:lnTo>
                <a:cubicBezTo>
                  <a:pt x="1844" y="18567"/>
                  <a:pt x="1842" y="18426"/>
                  <a:pt x="1813" y="18309"/>
                </a:cubicBezTo>
                <a:cubicBezTo>
                  <a:pt x="1760" y="18092"/>
                  <a:pt x="1435" y="18089"/>
                  <a:pt x="1341" y="18309"/>
                </a:cubicBezTo>
                <a:cubicBezTo>
                  <a:pt x="1224" y="18586"/>
                  <a:pt x="1143" y="19186"/>
                  <a:pt x="1130" y="19817"/>
                </a:cubicBezTo>
                <a:cubicBezTo>
                  <a:pt x="1120" y="20313"/>
                  <a:pt x="1128" y="20382"/>
                  <a:pt x="1180" y="20571"/>
                </a:cubicBezTo>
                <a:cubicBezTo>
                  <a:pt x="1212" y="20688"/>
                  <a:pt x="1236" y="20785"/>
                  <a:pt x="1230" y="20846"/>
                </a:cubicBezTo>
                <a:cubicBezTo>
                  <a:pt x="1216" y="20967"/>
                  <a:pt x="940" y="21032"/>
                  <a:pt x="919" y="20914"/>
                </a:cubicBezTo>
                <a:cubicBezTo>
                  <a:pt x="904" y="20832"/>
                  <a:pt x="925" y="20501"/>
                  <a:pt x="1068" y="18514"/>
                </a:cubicBezTo>
                <a:lnTo>
                  <a:pt x="1168" y="17143"/>
                </a:lnTo>
                <a:lnTo>
                  <a:pt x="1068" y="17143"/>
                </a:lnTo>
                <a:cubicBezTo>
                  <a:pt x="984" y="17143"/>
                  <a:pt x="965" y="17187"/>
                  <a:pt x="944" y="17486"/>
                </a:cubicBezTo>
                <a:cubicBezTo>
                  <a:pt x="931" y="17673"/>
                  <a:pt x="903" y="18242"/>
                  <a:pt x="869" y="18720"/>
                </a:cubicBezTo>
                <a:cubicBezTo>
                  <a:pt x="836" y="19198"/>
                  <a:pt x="792" y="19622"/>
                  <a:pt x="783" y="19680"/>
                </a:cubicBezTo>
                <a:cubicBezTo>
                  <a:pt x="773" y="19738"/>
                  <a:pt x="716" y="19169"/>
                  <a:pt x="646" y="18446"/>
                </a:cubicBezTo>
                <a:lnTo>
                  <a:pt x="509" y="17143"/>
                </a:lnTo>
                <a:lnTo>
                  <a:pt x="385" y="17143"/>
                </a:lnTo>
                <a:lnTo>
                  <a:pt x="261" y="17143"/>
                </a:lnTo>
                <a:lnTo>
                  <a:pt x="186" y="18377"/>
                </a:lnTo>
                <a:cubicBezTo>
                  <a:pt x="80" y="20088"/>
                  <a:pt x="51" y="20386"/>
                  <a:pt x="25" y="20297"/>
                </a:cubicBezTo>
                <a:cubicBezTo>
                  <a:pt x="22" y="20289"/>
                  <a:pt x="27" y="21477"/>
                  <a:pt x="25" y="21600"/>
                </a:cubicBezTo>
                <a:lnTo>
                  <a:pt x="21600" y="21600"/>
                </a:lnTo>
                <a:lnTo>
                  <a:pt x="21600" y="20914"/>
                </a:lnTo>
                <a:lnTo>
                  <a:pt x="14545" y="20914"/>
                </a:lnTo>
                <a:cubicBezTo>
                  <a:pt x="9866" y="20914"/>
                  <a:pt x="7506" y="20860"/>
                  <a:pt x="7502" y="20777"/>
                </a:cubicBezTo>
                <a:cubicBezTo>
                  <a:pt x="7499" y="20709"/>
                  <a:pt x="7549" y="20593"/>
                  <a:pt x="7614" y="20503"/>
                </a:cubicBezTo>
                <a:cubicBezTo>
                  <a:pt x="7806" y="20237"/>
                  <a:pt x="8120" y="19356"/>
                  <a:pt x="8247" y="18720"/>
                </a:cubicBezTo>
                <a:cubicBezTo>
                  <a:pt x="8375" y="18083"/>
                  <a:pt x="8493" y="17116"/>
                  <a:pt x="8570" y="16046"/>
                </a:cubicBezTo>
                <a:cubicBezTo>
                  <a:pt x="8622" y="15338"/>
                  <a:pt x="9069" y="5712"/>
                  <a:pt x="9055" y="5623"/>
                </a:cubicBezTo>
                <a:close/>
                <a:moveTo>
                  <a:pt x="13241" y="5691"/>
                </a:moveTo>
                <a:lnTo>
                  <a:pt x="13203" y="6651"/>
                </a:lnTo>
                <a:cubicBezTo>
                  <a:pt x="13182" y="7146"/>
                  <a:pt x="13154" y="7560"/>
                  <a:pt x="13154" y="7611"/>
                </a:cubicBezTo>
                <a:cubicBezTo>
                  <a:pt x="13154" y="7663"/>
                  <a:pt x="13254" y="7680"/>
                  <a:pt x="13365" y="7680"/>
                </a:cubicBezTo>
                <a:cubicBezTo>
                  <a:pt x="13476" y="7680"/>
                  <a:pt x="13569" y="7755"/>
                  <a:pt x="13576" y="7817"/>
                </a:cubicBezTo>
                <a:cubicBezTo>
                  <a:pt x="13592" y="7957"/>
                  <a:pt x="13543" y="9182"/>
                  <a:pt x="13514" y="9394"/>
                </a:cubicBezTo>
                <a:cubicBezTo>
                  <a:pt x="13500" y="9499"/>
                  <a:pt x="13420" y="9600"/>
                  <a:pt x="13278" y="9600"/>
                </a:cubicBezTo>
                <a:lnTo>
                  <a:pt x="13067" y="9600"/>
                </a:lnTo>
                <a:lnTo>
                  <a:pt x="13054" y="10011"/>
                </a:lnTo>
                <a:cubicBezTo>
                  <a:pt x="13043" y="10267"/>
                  <a:pt x="13024" y="10715"/>
                  <a:pt x="13017" y="10971"/>
                </a:cubicBezTo>
                <a:lnTo>
                  <a:pt x="13005" y="11451"/>
                </a:lnTo>
                <a:lnTo>
                  <a:pt x="13203" y="11451"/>
                </a:lnTo>
                <a:cubicBezTo>
                  <a:pt x="13356" y="11451"/>
                  <a:pt x="13418" y="11456"/>
                  <a:pt x="13427" y="11589"/>
                </a:cubicBezTo>
                <a:cubicBezTo>
                  <a:pt x="13434" y="11685"/>
                  <a:pt x="13415" y="12307"/>
                  <a:pt x="13390" y="12960"/>
                </a:cubicBezTo>
                <a:cubicBezTo>
                  <a:pt x="13364" y="13613"/>
                  <a:pt x="13340" y="14514"/>
                  <a:pt x="13340" y="14949"/>
                </a:cubicBezTo>
                <a:cubicBezTo>
                  <a:pt x="13340" y="15616"/>
                  <a:pt x="13343" y="15769"/>
                  <a:pt x="13390" y="16046"/>
                </a:cubicBezTo>
                <a:lnTo>
                  <a:pt x="13452" y="16389"/>
                </a:lnTo>
                <a:lnTo>
                  <a:pt x="13874" y="16389"/>
                </a:lnTo>
                <a:lnTo>
                  <a:pt x="14309" y="16389"/>
                </a:lnTo>
                <a:lnTo>
                  <a:pt x="14346" y="15497"/>
                </a:lnTo>
                <a:cubicBezTo>
                  <a:pt x="14366" y="15002"/>
                  <a:pt x="14377" y="14519"/>
                  <a:pt x="14383" y="14400"/>
                </a:cubicBezTo>
                <a:cubicBezTo>
                  <a:pt x="14394" y="14202"/>
                  <a:pt x="14382" y="14194"/>
                  <a:pt x="14135" y="14194"/>
                </a:cubicBezTo>
                <a:cubicBezTo>
                  <a:pt x="13986" y="14194"/>
                  <a:pt x="13856" y="14117"/>
                  <a:pt x="13849" y="14057"/>
                </a:cubicBezTo>
                <a:cubicBezTo>
                  <a:pt x="13837" y="13951"/>
                  <a:pt x="13913" y="11726"/>
                  <a:pt x="13936" y="11520"/>
                </a:cubicBezTo>
                <a:cubicBezTo>
                  <a:pt x="13943" y="11463"/>
                  <a:pt x="14058" y="11451"/>
                  <a:pt x="14185" y="11451"/>
                </a:cubicBezTo>
                <a:lnTo>
                  <a:pt x="14408" y="11451"/>
                </a:lnTo>
                <a:lnTo>
                  <a:pt x="14433" y="10697"/>
                </a:lnTo>
                <a:cubicBezTo>
                  <a:pt x="14449" y="10285"/>
                  <a:pt x="14476" y="9837"/>
                  <a:pt x="14483" y="9737"/>
                </a:cubicBezTo>
                <a:cubicBezTo>
                  <a:pt x="14493" y="9586"/>
                  <a:pt x="14450" y="9600"/>
                  <a:pt x="14259" y="9600"/>
                </a:cubicBezTo>
                <a:cubicBezTo>
                  <a:pt x="14097" y="9600"/>
                  <a:pt x="14030" y="9505"/>
                  <a:pt x="14023" y="9394"/>
                </a:cubicBezTo>
                <a:cubicBezTo>
                  <a:pt x="14018" y="9309"/>
                  <a:pt x="14033" y="8912"/>
                  <a:pt x="14048" y="8503"/>
                </a:cubicBezTo>
                <a:lnTo>
                  <a:pt x="14073" y="7749"/>
                </a:lnTo>
                <a:lnTo>
                  <a:pt x="14321" y="7680"/>
                </a:lnTo>
                <a:lnTo>
                  <a:pt x="14557" y="7680"/>
                </a:lnTo>
                <a:lnTo>
                  <a:pt x="14607" y="6789"/>
                </a:lnTo>
                <a:cubicBezTo>
                  <a:pt x="14629" y="6311"/>
                  <a:pt x="14644" y="5880"/>
                  <a:pt x="14644" y="5829"/>
                </a:cubicBezTo>
                <a:cubicBezTo>
                  <a:pt x="14645" y="5777"/>
                  <a:pt x="14324" y="5691"/>
                  <a:pt x="13936" y="5691"/>
                </a:cubicBezTo>
                <a:lnTo>
                  <a:pt x="13241" y="5691"/>
                </a:lnTo>
                <a:close/>
                <a:moveTo>
                  <a:pt x="11837" y="6583"/>
                </a:moveTo>
                <a:cubicBezTo>
                  <a:pt x="11888" y="6587"/>
                  <a:pt x="11932" y="6702"/>
                  <a:pt x="11961" y="6857"/>
                </a:cubicBezTo>
                <a:cubicBezTo>
                  <a:pt x="12041" y="7270"/>
                  <a:pt x="12041" y="7669"/>
                  <a:pt x="11986" y="8297"/>
                </a:cubicBezTo>
                <a:cubicBezTo>
                  <a:pt x="11936" y="8869"/>
                  <a:pt x="11810" y="9503"/>
                  <a:pt x="11701" y="9737"/>
                </a:cubicBezTo>
                <a:cubicBezTo>
                  <a:pt x="11665" y="9814"/>
                  <a:pt x="11519" y="9984"/>
                  <a:pt x="11365" y="10149"/>
                </a:cubicBezTo>
                <a:cubicBezTo>
                  <a:pt x="11211" y="10313"/>
                  <a:pt x="11071" y="10423"/>
                  <a:pt x="11055" y="10423"/>
                </a:cubicBezTo>
                <a:cubicBezTo>
                  <a:pt x="10994" y="10423"/>
                  <a:pt x="10994" y="10069"/>
                  <a:pt x="11067" y="9394"/>
                </a:cubicBezTo>
                <a:cubicBezTo>
                  <a:pt x="11232" y="7883"/>
                  <a:pt x="11617" y="6564"/>
                  <a:pt x="11837" y="6583"/>
                </a:cubicBezTo>
                <a:close/>
                <a:moveTo>
                  <a:pt x="7862" y="6720"/>
                </a:moveTo>
                <a:cubicBezTo>
                  <a:pt x="7790" y="6704"/>
                  <a:pt x="7214" y="7221"/>
                  <a:pt x="7192" y="7337"/>
                </a:cubicBezTo>
                <a:cubicBezTo>
                  <a:pt x="7164" y="7479"/>
                  <a:pt x="6844" y="14684"/>
                  <a:pt x="6844" y="15154"/>
                </a:cubicBezTo>
                <a:cubicBezTo>
                  <a:pt x="6844" y="15210"/>
                  <a:pt x="6995" y="15291"/>
                  <a:pt x="7179" y="15291"/>
                </a:cubicBezTo>
                <a:lnTo>
                  <a:pt x="7502" y="15291"/>
                </a:lnTo>
                <a:lnTo>
                  <a:pt x="7602" y="13234"/>
                </a:lnTo>
                <a:cubicBezTo>
                  <a:pt x="7725" y="10425"/>
                  <a:pt x="7875" y="6810"/>
                  <a:pt x="7875" y="6720"/>
                </a:cubicBezTo>
                <a:cubicBezTo>
                  <a:pt x="7875" y="6714"/>
                  <a:pt x="7867" y="6721"/>
                  <a:pt x="7862" y="6720"/>
                </a:cubicBezTo>
                <a:close/>
                <a:moveTo>
                  <a:pt x="15054" y="11314"/>
                </a:moveTo>
                <a:lnTo>
                  <a:pt x="14980" y="12274"/>
                </a:lnTo>
                <a:cubicBezTo>
                  <a:pt x="14940" y="12803"/>
                  <a:pt x="14895" y="13407"/>
                  <a:pt x="14880" y="13646"/>
                </a:cubicBezTo>
                <a:lnTo>
                  <a:pt x="14855" y="14126"/>
                </a:lnTo>
                <a:lnTo>
                  <a:pt x="14694" y="14126"/>
                </a:lnTo>
                <a:lnTo>
                  <a:pt x="14532" y="14194"/>
                </a:lnTo>
                <a:lnTo>
                  <a:pt x="14508" y="14811"/>
                </a:lnTo>
                <a:cubicBezTo>
                  <a:pt x="14495" y="15167"/>
                  <a:pt x="14478" y="15653"/>
                  <a:pt x="14470" y="15909"/>
                </a:cubicBezTo>
                <a:lnTo>
                  <a:pt x="14458" y="16389"/>
                </a:lnTo>
                <a:lnTo>
                  <a:pt x="14744" y="16389"/>
                </a:lnTo>
                <a:cubicBezTo>
                  <a:pt x="14898" y="16389"/>
                  <a:pt x="15054" y="16324"/>
                  <a:pt x="15091" y="16251"/>
                </a:cubicBezTo>
                <a:cubicBezTo>
                  <a:pt x="15152" y="16135"/>
                  <a:pt x="15278" y="15361"/>
                  <a:pt x="15278" y="15086"/>
                </a:cubicBezTo>
                <a:cubicBezTo>
                  <a:pt x="15278" y="14904"/>
                  <a:pt x="15502" y="11609"/>
                  <a:pt x="15526" y="11451"/>
                </a:cubicBezTo>
                <a:cubicBezTo>
                  <a:pt x="15545" y="11327"/>
                  <a:pt x="15500" y="11314"/>
                  <a:pt x="15303" y="11314"/>
                </a:cubicBezTo>
                <a:lnTo>
                  <a:pt x="15054" y="11314"/>
                </a:lnTo>
                <a:close/>
              </a:path>
            </a:pathLst>
          </a:custGeom>
          <a:ln w="12700">
            <a:miter lim="400000"/>
          </a:ln>
        </p:spPr>
      </p:pic>
      <p:pic>
        <p:nvPicPr>
          <p:cNvPr id="8" name="图像" descr="图像">
            <a:extLst>
              <a:ext uri="{FF2B5EF4-FFF2-40B4-BE49-F238E27FC236}">
                <a16:creationId xmlns:a16="http://schemas.microsoft.com/office/drawing/2014/main" id="{4F39512B-B284-D71D-F01B-262F5E8EDF58}"/>
              </a:ext>
            </a:extLst>
          </p:cNvPr>
          <p:cNvPicPr>
            <a:picLocks noChangeAspect="1"/>
          </p:cNvPicPr>
          <p:nvPr/>
        </p:nvPicPr>
        <p:blipFill>
          <a:blip r:embed="rId9"/>
          <a:stretch>
            <a:fillRect/>
          </a:stretch>
        </p:blipFill>
        <p:spPr>
          <a:xfrm>
            <a:off x="4738227" y="3126189"/>
            <a:ext cx="675217" cy="249081"/>
          </a:xfrm>
          <a:prstGeom prst="rect">
            <a:avLst/>
          </a:prstGeom>
          <a:ln w="12700">
            <a:miter lim="400000"/>
          </a:ln>
        </p:spPr>
      </p:pic>
      <p:pic>
        <p:nvPicPr>
          <p:cNvPr id="12" name="图像" descr="图像">
            <a:extLst>
              <a:ext uri="{FF2B5EF4-FFF2-40B4-BE49-F238E27FC236}">
                <a16:creationId xmlns:a16="http://schemas.microsoft.com/office/drawing/2014/main" id="{B55F81F4-980C-BD3F-D029-745F78644646}"/>
              </a:ext>
            </a:extLst>
          </p:cNvPr>
          <p:cNvPicPr>
            <a:picLocks noChangeAspect="1"/>
          </p:cNvPicPr>
          <p:nvPr/>
        </p:nvPicPr>
        <p:blipFill>
          <a:blip r:embed="rId10"/>
          <a:stretch>
            <a:fillRect/>
          </a:stretch>
        </p:blipFill>
        <p:spPr>
          <a:xfrm>
            <a:off x="2055842" y="1917804"/>
            <a:ext cx="585273" cy="460903"/>
          </a:xfrm>
          <a:prstGeom prst="rect">
            <a:avLst/>
          </a:prstGeom>
          <a:ln w="12700">
            <a:miter lim="400000"/>
          </a:ln>
        </p:spPr>
      </p:pic>
      <p:pic>
        <p:nvPicPr>
          <p:cNvPr id="13" name="图像" descr="图像">
            <a:extLst>
              <a:ext uri="{FF2B5EF4-FFF2-40B4-BE49-F238E27FC236}">
                <a16:creationId xmlns:a16="http://schemas.microsoft.com/office/drawing/2014/main" id="{6B683B03-F1C1-CE14-D5C2-829D0C6E46A1}"/>
              </a:ext>
            </a:extLst>
          </p:cNvPr>
          <p:cNvPicPr>
            <a:picLocks noChangeAspect="1"/>
          </p:cNvPicPr>
          <p:nvPr/>
        </p:nvPicPr>
        <p:blipFill>
          <a:blip r:embed="rId11"/>
          <a:stretch>
            <a:fillRect/>
          </a:stretch>
        </p:blipFill>
        <p:spPr>
          <a:xfrm>
            <a:off x="6349403" y="4517196"/>
            <a:ext cx="543158" cy="408941"/>
          </a:xfrm>
          <a:prstGeom prst="rect">
            <a:avLst/>
          </a:prstGeom>
          <a:ln w="12700">
            <a:miter lim="400000"/>
          </a:ln>
        </p:spPr>
      </p:pic>
      <p:pic>
        <p:nvPicPr>
          <p:cNvPr id="14" name="图像" descr="图像">
            <a:extLst>
              <a:ext uri="{FF2B5EF4-FFF2-40B4-BE49-F238E27FC236}">
                <a16:creationId xmlns:a16="http://schemas.microsoft.com/office/drawing/2014/main" id="{17092819-61F8-958F-8B6C-9DC3FC8DDDFB}"/>
              </a:ext>
            </a:extLst>
          </p:cNvPr>
          <p:cNvPicPr>
            <a:picLocks noChangeAspect="1"/>
          </p:cNvPicPr>
          <p:nvPr/>
        </p:nvPicPr>
        <p:blipFill>
          <a:blip r:embed="rId10"/>
          <a:stretch>
            <a:fillRect/>
          </a:stretch>
        </p:blipFill>
        <p:spPr>
          <a:xfrm>
            <a:off x="2055842" y="2987591"/>
            <a:ext cx="585273" cy="460902"/>
          </a:xfrm>
          <a:prstGeom prst="rect">
            <a:avLst/>
          </a:prstGeom>
          <a:ln w="12700">
            <a:miter lim="400000"/>
          </a:ln>
        </p:spPr>
      </p:pic>
      <p:pic>
        <p:nvPicPr>
          <p:cNvPr id="15" name="图像" descr="图像">
            <a:extLst>
              <a:ext uri="{FF2B5EF4-FFF2-40B4-BE49-F238E27FC236}">
                <a16:creationId xmlns:a16="http://schemas.microsoft.com/office/drawing/2014/main" id="{3560F203-232C-CE9D-0D14-D0670C20F699}"/>
              </a:ext>
            </a:extLst>
          </p:cNvPr>
          <p:cNvPicPr>
            <a:picLocks noChangeAspect="1"/>
          </p:cNvPicPr>
          <p:nvPr/>
        </p:nvPicPr>
        <p:blipFill>
          <a:blip r:embed="rId7"/>
          <a:stretch>
            <a:fillRect/>
          </a:stretch>
        </p:blipFill>
        <p:spPr>
          <a:xfrm>
            <a:off x="3972894" y="5652182"/>
            <a:ext cx="640576" cy="308850"/>
          </a:xfrm>
          <a:prstGeom prst="rect">
            <a:avLst/>
          </a:prstGeom>
          <a:ln w="12700">
            <a:miter lim="400000"/>
          </a:ln>
        </p:spPr>
      </p:pic>
      <p:grpSp>
        <p:nvGrpSpPr>
          <p:cNvPr id="16" name="成组">
            <a:extLst>
              <a:ext uri="{FF2B5EF4-FFF2-40B4-BE49-F238E27FC236}">
                <a16:creationId xmlns:a16="http://schemas.microsoft.com/office/drawing/2014/main" id="{BDD0FD7E-35C8-65C1-93FD-95610624652F}"/>
              </a:ext>
            </a:extLst>
          </p:cNvPr>
          <p:cNvGrpSpPr/>
          <p:nvPr/>
        </p:nvGrpSpPr>
        <p:grpSpPr>
          <a:xfrm>
            <a:off x="2001499" y="1838431"/>
            <a:ext cx="1500841" cy="619649"/>
            <a:chOff x="0" y="0"/>
            <a:chExt cx="1500840" cy="619648"/>
          </a:xfrm>
        </p:grpSpPr>
        <p:sp>
          <p:nvSpPr>
            <p:cNvPr id="17" name="圆角矩形">
              <a:extLst>
                <a:ext uri="{FF2B5EF4-FFF2-40B4-BE49-F238E27FC236}">
                  <a16:creationId xmlns:a16="http://schemas.microsoft.com/office/drawing/2014/main" id="{B21BC5F5-F664-C942-FCE1-C0C950D56254}"/>
                </a:ext>
              </a:extLst>
            </p:cNvPr>
            <p:cNvSpPr/>
            <p:nvPr/>
          </p:nvSpPr>
          <p:spPr>
            <a:xfrm>
              <a:off x="0" y="5077"/>
              <a:ext cx="1500841" cy="609495"/>
            </a:xfrm>
            <a:prstGeom prst="roundRect">
              <a:avLst>
                <a:gd name="adj" fmla="val 15903"/>
              </a:avLst>
            </a:prstGeom>
            <a:noFill/>
            <a:ln w="12700" cap="flat">
              <a:solidFill>
                <a:schemeClr val="accent1"/>
              </a:solidFill>
              <a:prstDash val="solid"/>
              <a:miter lim="800000"/>
            </a:ln>
            <a:effectLst/>
          </p:spPr>
          <p:txBody>
            <a:bodyPr wrap="square" lIns="45719" tIns="45719" rIns="45719" bIns="45719" numCol="1" anchor="ctr">
              <a:noAutofit/>
            </a:bodyPr>
            <a:lstStyle/>
            <a:p>
              <a:endParaRPr sz="1400"/>
            </a:p>
          </p:txBody>
        </p:sp>
        <p:sp>
          <p:nvSpPr>
            <p:cNvPr id="18" name="线条">
              <a:extLst>
                <a:ext uri="{FF2B5EF4-FFF2-40B4-BE49-F238E27FC236}">
                  <a16:creationId xmlns:a16="http://schemas.microsoft.com/office/drawing/2014/main" id="{ECB4DAAD-110F-C921-28F4-FF394C76D74C}"/>
                </a:ext>
              </a:extLst>
            </p:cNvPr>
            <p:cNvSpPr/>
            <p:nvPr/>
          </p:nvSpPr>
          <p:spPr>
            <a:xfrm flipV="1">
              <a:off x="778341" y="0"/>
              <a:ext cx="1" cy="619649"/>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sz="1400"/>
            </a:p>
          </p:txBody>
        </p:sp>
      </p:grpSp>
      <p:grpSp>
        <p:nvGrpSpPr>
          <p:cNvPr id="19" name="成组">
            <a:extLst>
              <a:ext uri="{FF2B5EF4-FFF2-40B4-BE49-F238E27FC236}">
                <a16:creationId xmlns:a16="http://schemas.microsoft.com/office/drawing/2014/main" id="{3DB26431-27D7-0F8C-7233-A23834192AD6}"/>
              </a:ext>
            </a:extLst>
          </p:cNvPr>
          <p:cNvGrpSpPr/>
          <p:nvPr/>
        </p:nvGrpSpPr>
        <p:grpSpPr>
          <a:xfrm>
            <a:off x="2001499" y="2908217"/>
            <a:ext cx="1500841" cy="619650"/>
            <a:chOff x="0" y="0"/>
            <a:chExt cx="1500840" cy="619648"/>
          </a:xfrm>
        </p:grpSpPr>
        <p:sp>
          <p:nvSpPr>
            <p:cNvPr id="20" name="圆角矩形">
              <a:extLst>
                <a:ext uri="{FF2B5EF4-FFF2-40B4-BE49-F238E27FC236}">
                  <a16:creationId xmlns:a16="http://schemas.microsoft.com/office/drawing/2014/main" id="{1C15988C-BB6B-AC62-604C-BA339D45B508}"/>
                </a:ext>
              </a:extLst>
            </p:cNvPr>
            <p:cNvSpPr/>
            <p:nvPr/>
          </p:nvSpPr>
          <p:spPr>
            <a:xfrm>
              <a:off x="0" y="5077"/>
              <a:ext cx="1500841" cy="609495"/>
            </a:xfrm>
            <a:prstGeom prst="roundRect">
              <a:avLst>
                <a:gd name="adj" fmla="val 15903"/>
              </a:avLst>
            </a:prstGeom>
            <a:noFill/>
            <a:ln w="12700" cap="flat">
              <a:solidFill>
                <a:schemeClr val="accent1"/>
              </a:solidFill>
              <a:prstDash val="solid"/>
              <a:miter lim="800000"/>
            </a:ln>
            <a:effectLst/>
          </p:spPr>
          <p:txBody>
            <a:bodyPr wrap="square" lIns="45719" tIns="45719" rIns="45719" bIns="45719" numCol="1" anchor="ctr">
              <a:noAutofit/>
            </a:bodyPr>
            <a:lstStyle/>
            <a:p>
              <a:endParaRPr sz="1400"/>
            </a:p>
          </p:txBody>
        </p:sp>
        <p:sp>
          <p:nvSpPr>
            <p:cNvPr id="21" name="线条">
              <a:extLst>
                <a:ext uri="{FF2B5EF4-FFF2-40B4-BE49-F238E27FC236}">
                  <a16:creationId xmlns:a16="http://schemas.microsoft.com/office/drawing/2014/main" id="{A2F7FF25-685F-9AF9-3761-8F4E029E3AD9}"/>
                </a:ext>
              </a:extLst>
            </p:cNvPr>
            <p:cNvSpPr/>
            <p:nvPr/>
          </p:nvSpPr>
          <p:spPr>
            <a:xfrm flipV="1">
              <a:off x="778341" y="0"/>
              <a:ext cx="1" cy="619649"/>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sz="1400"/>
            </a:p>
          </p:txBody>
        </p:sp>
      </p:grpSp>
      <p:grpSp>
        <p:nvGrpSpPr>
          <p:cNvPr id="22" name="成组">
            <a:extLst>
              <a:ext uri="{FF2B5EF4-FFF2-40B4-BE49-F238E27FC236}">
                <a16:creationId xmlns:a16="http://schemas.microsoft.com/office/drawing/2014/main" id="{71C088CA-0059-C559-3D06-841EE84B503B}"/>
              </a:ext>
            </a:extLst>
          </p:cNvPr>
          <p:cNvGrpSpPr/>
          <p:nvPr/>
        </p:nvGrpSpPr>
        <p:grpSpPr>
          <a:xfrm>
            <a:off x="2001499" y="4008143"/>
            <a:ext cx="1500841" cy="619650"/>
            <a:chOff x="0" y="0"/>
            <a:chExt cx="1500840" cy="619648"/>
          </a:xfrm>
        </p:grpSpPr>
        <p:sp>
          <p:nvSpPr>
            <p:cNvPr id="23" name="圆角矩形">
              <a:extLst>
                <a:ext uri="{FF2B5EF4-FFF2-40B4-BE49-F238E27FC236}">
                  <a16:creationId xmlns:a16="http://schemas.microsoft.com/office/drawing/2014/main" id="{FB5820BC-A65B-6C41-80DB-6FB20AD43D65}"/>
                </a:ext>
              </a:extLst>
            </p:cNvPr>
            <p:cNvSpPr/>
            <p:nvPr/>
          </p:nvSpPr>
          <p:spPr>
            <a:xfrm>
              <a:off x="0" y="5077"/>
              <a:ext cx="1500841" cy="609495"/>
            </a:xfrm>
            <a:prstGeom prst="roundRect">
              <a:avLst>
                <a:gd name="adj" fmla="val 15903"/>
              </a:avLst>
            </a:prstGeom>
            <a:noFill/>
            <a:ln w="12700" cap="flat">
              <a:solidFill>
                <a:schemeClr val="accent1"/>
              </a:solidFill>
              <a:prstDash val="solid"/>
              <a:miter lim="800000"/>
            </a:ln>
            <a:effectLst/>
          </p:spPr>
          <p:txBody>
            <a:bodyPr wrap="square" lIns="45719" tIns="45719" rIns="45719" bIns="45719" numCol="1" anchor="ctr">
              <a:noAutofit/>
            </a:bodyPr>
            <a:lstStyle/>
            <a:p>
              <a:endParaRPr sz="1400"/>
            </a:p>
          </p:txBody>
        </p:sp>
        <p:sp>
          <p:nvSpPr>
            <p:cNvPr id="24" name="线条">
              <a:extLst>
                <a:ext uri="{FF2B5EF4-FFF2-40B4-BE49-F238E27FC236}">
                  <a16:creationId xmlns:a16="http://schemas.microsoft.com/office/drawing/2014/main" id="{42C4FB13-8045-BEB8-961E-BDFF6763FDA2}"/>
                </a:ext>
              </a:extLst>
            </p:cNvPr>
            <p:cNvSpPr/>
            <p:nvPr/>
          </p:nvSpPr>
          <p:spPr>
            <a:xfrm flipV="1">
              <a:off x="778341" y="0"/>
              <a:ext cx="1" cy="619649"/>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sz="1400"/>
            </a:p>
          </p:txBody>
        </p:sp>
      </p:grpSp>
      <p:grpSp>
        <p:nvGrpSpPr>
          <p:cNvPr id="25" name="成组">
            <a:extLst>
              <a:ext uri="{FF2B5EF4-FFF2-40B4-BE49-F238E27FC236}">
                <a16:creationId xmlns:a16="http://schemas.microsoft.com/office/drawing/2014/main" id="{3132D7F2-E062-EA13-D8EB-DCB831B3BD4D}"/>
              </a:ext>
            </a:extLst>
          </p:cNvPr>
          <p:cNvGrpSpPr/>
          <p:nvPr/>
        </p:nvGrpSpPr>
        <p:grpSpPr>
          <a:xfrm>
            <a:off x="4684689" y="2908217"/>
            <a:ext cx="1500841" cy="619650"/>
            <a:chOff x="0" y="0"/>
            <a:chExt cx="1500840" cy="619648"/>
          </a:xfrm>
        </p:grpSpPr>
        <p:sp>
          <p:nvSpPr>
            <p:cNvPr id="26" name="圆角矩形">
              <a:extLst>
                <a:ext uri="{FF2B5EF4-FFF2-40B4-BE49-F238E27FC236}">
                  <a16:creationId xmlns:a16="http://schemas.microsoft.com/office/drawing/2014/main" id="{127E5F11-C3FA-108C-458D-98CF60595C87}"/>
                </a:ext>
              </a:extLst>
            </p:cNvPr>
            <p:cNvSpPr/>
            <p:nvPr/>
          </p:nvSpPr>
          <p:spPr>
            <a:xfrm>
              <a:off x="0" y="5077"/>
              <a:ext cx="1500841" cy="609495"/>
            </a:xfrm>
            <a:prstGeom prst="roundRect">
              <a:avLst>
                <a:gd name="adj" fmla="val 15903"/>
              </a:avLst>
            </a:prstGeom>
            <a:noFill/>
            <a:ln w="12700" cap="flat">
              <a:solidFill>
                <a:schemeClr val="accent1"/>
              </a:solidFill>
              <a:prstDash val="solid"/>
              <a:miter lim="800000"/>
            </a:ln>
            <a:effectLst/>
          </p:spPr>
          <p:txBody>
            <a:bodyPr wrap="square" lIns="45719" tIns="45719" rIns="45719" bIns="45719" numCol="1" anchor="ctr">
              <a:noAutofit/>
            </a:bodyPr>
            <a:lstStyle/>
            <a:p>
              <a:endParaRPr sz="1400"/>
            </a:p>
          </p:txBody>
        </p:sp>
        <p:sp>
          <p:nvSpPr>
            <p:cNvPr id="29" name="线条">
              <a:extLst>
                <a:ext uri="{FF2B5EF4-FFF2-40B4-BE49-F238E27FC236}">
                  <a16:creationId xmlns:a16="http://schemas.microsoft.com/office/drawing/2014/main" id="{C9EB55A6-7F31-9BB4-451C-109EE0C933C6}"/>
                </a:ext>
              </a:extLst>
            </p:cNvPr>
            <p:cNvSpPr/>
            <p:nvPr/>
          </p:nvSpPr>
          <p:spPr>
            <a:xfrm flipV="1">
              <a:off x="778341" y="0"/>
              <a:ext cx="1" cy="619649"/>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sz="1400"/>
            </a:p>
          </p:txBody>
        </p:sp>
      </p:grpSp>
      <p:grpSp>
        <p:nvGrpSpPr>
          <p:cNvPr id="30" name="成组">
            <a:extLst>
              <a:ext uri="{FF2B5EF4-FFF2-40B4-BE49-F238E27FC236}">
                <a16:creationId xmlns:a16="http://schemas.microsoft.com/office/drawing/2014/main" id="{E58D2A7A-B5A0-9640-28D6-F3D6EC00D079}"/>
              </a:ext>
            </a:extLst>
          </p:cNvPr>
          <p:cNvGrpSpPr/>
          <p:nvPr/>
        </p:nvGrpSpPr>
        <p:grpSpPr>
          <a:xfrm>
            <a:off x="9550515" y="2908217"/>
            <a:ext cx="1500842" cy="619650"/>
            <a:chOff x="0" y="0"/>
            <a:chExt cx="1500840" cy="619648"/>
          </a:xfrm>
        </p:grpSpPr>
        <p:sp>
          <p:nvSpPr>
            <p:cNvPr id="31" name="圆角矩形">
              <a:extLst>
                <a:ext uri="{FF2B5EF4-FFF2-40B4-BE49-F238E27FC236}">
                  <a16:creationId xmlns:a16="http://schemas.microsoft.com/office/drawing/2014/main" id="{86EA5054-28D7-28DD-4E45-41543B60A0B9}"/>
                </a:ext>
              </a:extLst>
            </p:cNvPr>
            <p:cNvSpPr/>
            <p:nvPr/>
          </p:nvSpPr>
          <p:spPr>
            <a:xfrm>
              <a:off x="0" y="5077"/>
              <a:ext cx="1500841" cy="609495"/>
            </a:xfrm>
            <a:prstGeom prst="roundRect">
              <a:avLst>
                <a:gd name="adj" fmla="val 15903"/>
              </a:avLst>
            </a:prstGeom>
            <a:noFill/>
            <a:ln w="12700" cap="flat">
              <a:solidFill>
                <a:schemeClr val="accent1"/>
              </a:solidFill>
              <a:prstDash val="solid"/>
              <a:miter lim="800000"/>
            </a:ln>
            <a:effectLst/>
          </p:spPr>
          <p:txBody>
            <a:bodyPr wrap="square" lIns="45719" tIns="45719" rIns="45719" bIns="45719" numCol="1" anchor="ctr">
              <a:noAutofit/>
            </a:bodyPr>
            <a:lstStyle/>
            <a:p>
              <a:endParaRPr sz="1400"/>
            </a:p>
          </p:txBody>
        </p:sp>
        <p:sp>
          <p:nvSpPr>
            <p:cNvPr id="32" name="线条">
              <a:extLst>
                <a:ext uri="{FF2B5EF4-FFF2-40B4-BE49-F238E27FC236}">
                  <a16:creationId xmlns:a16="http://schemas.microsoft.com/office/drawing/2014/main" id="{13C44AEF-28C9-2732-C9E1-769961114136}"/>
                </a:ext>
              </a:extLst>
            </p:cNvPr>
            <p:cNvSpPr/>
            <p:nvPr/>
          </p:nvSpPr>
          <p:spPr>
            <a:xfrm flipV="1">
              <a:off x="778341" y="0"/>
              <a:ext cx="1" cy="619649"/>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sz="1400"/>
            </a:p>
          </p:txBody>
        </p:sp>
      </p:grpSp>
      <p:grpSp>
        <p:nvGrpSpPr>
          <p:cNvPr id="33" name="成组">
            <a:extLst>
              <a:ext uri="{FF2B5EF4-FFF2-40B4-BE49-F238E27FC236}">
                <a16:creationId xmlns:a16="http://schemas.microsoft.com/office/drawing/2014/main" id="{23D40177-897B-0811-CB7C-6B2D00B62B15}"/>
              </a:ext>
            </a:extLst>
          </p:cNvPr>
          <p:cNvGrpSpPr/>
          <p:nvPr/>
        </p:nvGrpSpPr>
        <p:grpSpPr>
          <a:xfrm>
            <a:off x="6259571" y="4400094"/>
            <a:ext cx="1500842" cy="619650"/>
            <a:chOff x="0" y="0"/>
            <a:chExt cx="1500840" cy="619648"/>
          </a:xfrm>
        </p:grpSpPr>
        <p:sp>
          <p:nvSpPr>
            <p:cNvPr id="34" name="圆角矩形">
              <a:extLst>
                <a:ext uri="{FF2B5EF4-FFF2-40B4-BE49-F238E27FC236}">
                  <a16:creationId xmlns:a16="http://schemas.microsoft.com/office/drawing/2014/main" id="{A669F0D5-17E2-2C67-9670-4A449342EF05}"/>
                </a:ext>
              </a:extLst>
            </p:cNvPr>
            <p:cNvSpPr/>
            <p:nvPr/>
          </p:nvSpPr>
          <p:spPr>
            <a:xfrm>
              <a:off x="0" y="5077"/>
              <a:ext cx="1500841" cy="609495"/>
            </a:xfrm>
            <a:prstGeom prst="roundRect">
              <a:avLst>
                <a:gd name="adj" fmla="val 15903"/>
              </a:avLst>
            </a:prstGeom>
            <a:noFill/>
            <a:ln w="12700" cap="flat">
              <a:solidFill>
                <a:schemeClr val="accent1"/>
              </a:solidFill>
              <a:prstDash val="solid"/>
              <a:miter lim="800000"/>
            </a:ln>
            <a:effectLst/>
          </p:spPr>
          <p:txBody>
            <a:bodyPr wrap="square" lIns="45719" tIns="45719" rIns="45719" bIns="45719" numCol="1" anchor="ctr">
              <a:noAutofit/>
            </a:bodyPr>
            <a:lstStyle/>
            <a:p>
              <a:endParaRPr sz="1400"/>
            </a:p>
          </p:txBody>
        </p:sp>
        <p:sp>
          <p:nvSpPr>
            <p:cNvPr id="35" name="线条">
              <a:extLst>
                <a:ext uri="{FF2B5EF4-FFF2-40B4-BE49-F238E27FC236}">
                  <a16:creationId xmlns:a16="http://schemas.microsoft.com/office/drawing/2014/main" id="{5D71E961-E677-2B71-475D-1FE069A5925C}"/>
                </a:ext>
              </a:extLst>
            </p:cNvPr>
            <p:cNvSpPr/>
            <p:nvPr/>
          </p:nvSpPr>
          <p:spPr>
            <a:xfrm flipV="1">
              <a:off x="778341" y="0"/>
              <a:ext cx="1" cy="619649"/>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sz="1400"/>
            </a:p>
          </p:txBody>
        </p:sp>
      </p:grpSp>
      <p:grpSp>
        <p:nvGrpSpPr>
          <p:cNvPr id="36" name="成组">
            <a:extLst>
              <a:ext uri="{FF2B5EF4-FFF2-40B4-BE49-F238E27FC236}">
                <a16:creationId xmlns:a16="http://schemas.microsoft.com/office/drawing/2014/main" id="{6ED76F09-179C-7CDD-2B99-1F390A2E2D2A}"/>
              </a:ext>
            </a:extLst>
          </p:cNvPr>
          <p:cNvGrpSpPr/>
          <p:nvPr/>
        </p:nvGrpSpPr>
        <p:grpSpPr>
          <a:xfrm>
            <a:off x="6259571" y="5496782"/>
            <a:ext cx="1500842" cy="619650"/>
            <a:chOff x="0" y="0"/>
            <a:chExt cx="1500840" cy="619648"/>
          </a:xfrm>
        </p:grpSpPr>
        <p:sp>
          <p:nvSpPr>
            <p:cNvPr id="37" name="圆角矩形">
              <a:extLst>
                <a:ext uri="{FF2B5EF4-FFF2-40B4-BE49-F238E27FC236}">
                  <a16:creationId xmlns:a16="http://schemas.microsoft.com/office/drawing/2014/main" id="{B2D7A603-2FC9-1D2F-2665-D04FF7709F4D}"/>
                </a:ext>
              </a:extLst>
            </p:cNvPr>
            <p:cNvSpPr/>
            <p:nvPr/>
          </p:nvSpPr>
          <p:spPr>
            <a:xfrm>
              <a:off x="0" y="5077"/>
              <a:ext cx="1500841" cy="609495"/>
            </a:xfrm>
            <a:prstGeom prst="roundRect">
              <a:avLst>
                <a:gd name="adj" fmla="val 15903"/>
              </a:avLst>
            </a:prstGeom>
            <a:noFill/>
            <a:ln w="12700" cap="flat">
              <a:solidFill>
                <a:schemeClr val="accent1"/>
              </a:solidFill>
              <a:prstDash val="solid"/>
              <a:miter lim="800000"/>
            </a:ln>
            <a:effectLst/>
          </p:spPr>
          <p:txBody>
            <a:bodyPr wrap="square" lIns="45719" tIns="45719" rIns="45719" bIns="45719" numCol="1" anchor="ctr">
              <a:noAutofit/>
            </a:bodyPr>
            <a:lstStyle/>
            <a:p>
              <a:endParaRPr sz="1400"/>
            </a:p>
          </p:txBody>
        </p:sp>
        <p:sp>
          <p:nvSpPr>
            <p:cNvPr id="38" name="线条">
              <a:extLst>
                <a:ext uri="{FF2B5EF4-FFF2-40B4-BE49-F238E27FC236}">
                  <a16:creationId xmlns:a16="http://schemas.microsoft.com/office/drawing/2014/main" id="{3DFA44C6-2038-AD64-7FCE-FEEBF94C23EF}"/>
                </a:ext>
              </a:extLst>
            </p:cNvPr>
            <p:cNvSpPr/>
            <p:nvPr/>
          </p:nvSpPr>
          <p:spPr>
            <a:xfrm flipV="1">
              <a:off x="778341" y="0"/>
              <a:ext cx="1" cy="619649"/>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sz="1400"/>
            </a:p>
          </p:txBody>
        </p:sp>
      </p:grpSp>
      <p:pic>
        <p:nvPicPr>
          <p:cNvPr id="39" name="图像" descr="图像">
            <a:extLst>
              <a:ext uri="{FF2B5EF4-FFF2-40B4-BE49-F238E27FC236}">
                <a16:creationId xmlns:a16="http://schemas.microsoft.com/office/drawing/2014/main" id="{B84FC750-8B5A-049A-EBCD-1DB01437FDE8}"/>
              </a:ext>
            </a:extLst>
          </p:cNvPr>
          <p:cNvPicPr>
            <a:picLocks noChangeAspect="1"/>
          </p:cNvPicPr>
          <p:nvPr/>
        </p:nvPicPr>
        <p:blipFill>
          <a:blip r:embed="rId12"/>
          <a:stretch>
            <a:fillRect/>
          </a:stretch>
        </p:blipFill>
        <p:spPr>
          <a:xfrm>
            <a:off x="7210581" y="3102740"/>
            <a:ext cx="711201" cy="284481"/>
          </a:xfrm>
          <a:prstGeom prst="rect">
            <a:avLst/>
          </a:prstGeom>
          <a:ln w="12700">
            <a:miter lim="400000"/>
          </a:ln>
        </p:spPr>
      </p:pic>
      <p:grpSp>
        <p:nvGrpSpPr>
          <p:cNvPr id="40" name="成组">
            <a:extLst>
              <a:ext uri="{FF2B5EF4-FFF2-40B4-BE49-F238E27FC236}">
                <a16:creationId xmlns:a16="http://schemas.microsoft.com/office/drawing/2014/main" id="{F1EF6F9F-BCEA-1941-C4D5-ECD486EA0833}"/>
              </a:ext>
            </a:extLst>
          </p:cNvPr>
          <p:cNvGrpSpPr/>
          <p:nvPr/>
        </p:nvGrpSpPr>
        <p:grpSpPr>
          <a:xfrm>
            <a:off x="7152846" y="2908217"/>
            <a:ext cx="1500842" cy="619650"/>
            <a:chOff x="0" y="0"/>
            <a:chExt cx="1500840" cy="619648"/>
          </a:xfrm>
        </p:grpSpPr>
        <p:sp>
          <p:nvSpPr>
            <p:cNvPr id="41" name="圆角矩形">
              <a:extLst>
                <a:ext uri="{FF2B5EF4-FFF2-40B4-BE49-F238E27FC236}">
                  <a16:creationId xmlns:a16="http://schemas.microsoft.com/office/drawing/2014/main" id="{0415A513-B67B-AF18-1C40-3703AFF2B8C4}"/>
                </a:ext>
              </a:extLst>
            </p:cNvPr>
            <p:cNvSpPr/>
            <p:nvPr/>
          </p:nvSpPr>
          <p:spPr>
            <a:xfrm>
              <a:off x="0" y="5077"/>
              <a:ext cx="1500841" cy="609495"/>
            </a:xfrm>
            <a:prstGeom prst="roundRect">
              <a:avLst>
                <a:gd name="adj" fmla="val 15903"/>
              </a:avLst>
            </a:prstGeom>
            <a:noFill/>
            <a:ln w="12700" cap="flat">
              <a:solidFill>
                <a:schemeClr val="accent1"/>
              </a:solidFill>
              <a:prstDash val="solid"/>
              <a:miter lim="800000"/>
            </a:ln>
            <a:effectLst/>
          </p:spPr>
          <p:txBody>
            <a:bodyPr wrap="square" lIns="45719" tIns="45719" rIns="45719" bIns="45719" numCol="1" anchor="ctr">
              <a:noAutofit/>
            </a:bodyPr>
            <a:lstStyle/>
            <a:p>
              <a:endParaRPr sz="1400"/>
            </a:p>
          </p:txBody>
        </p:sp>
        <p:sp>
          <p:nvSpPr>
            <p:cNvPr id="42" name="线条">
              <a:extLst>
                <a:ext uri="{FF2B5EF4-FFF2-40B4-BE49-F238E27FC236}">
                  <a16:creationId xmlns:a16="http://schemas.microsoft.com/office/drawing/2014/main" id="{FDD34259-F5F6-10E9-4B93-A992395274A4}"/>
                </a:ext>
              </a:extLst>
            </p:cNvPr>
            <p:cNvSpPr/>
            <p:nvPr/>
          </p:nvSpPr>
          <p:spPr>
            <a:xfrm flipV="1">
              <a:off x="778341" y="0"/>
              <a:ext cx="1" cy="619649"/>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sz="1400"/>
            </a:p>
          </p:txBody>
        </p:sp>
      </p:grpSp>
      <p:grpSp>
        <p:nvGrpSpPr>
          <p:cNvPr id="43" name="成组">
            <a:extLst>
              <a:ext uri="{FF2B5EF4-FFF2-40B4-BE49-F238E27FC236}">
                <a16:creationId xmlns:a16="http://schemas.microsoft.com/office/drawing/2014/main" id="{7D4F8195-21BD-D7C9-4C4B-CC09D42E6C87}"/>
              </a:ext>
            </a:extLst>
          </p:cNvPr>
          <p:cNvGrpSpPr/>
          <p:nvPr/>
        </p:nvGrpSpPr>
        <p:grpSpPr>
          <a:xfrm>
            <a:off x="3920828" y="5496809"/>
            <a:ext cx="1500841" cy="619650"/>
            <a:chOff x="0" y="0"/>
            <a:chExt cx="1500840" cy="619648"/>
          </a:xfrm>
        </p:grpSpPr>
        <p:sp>
          <p:nvSpPr>
            <p:cNvPr id="44" name="圆角矩形">
              <a:extLst>
                <a:ext uri="{FF2B5EF4-FFF2-40B4-BE49-F238E27FC236}">
                  <a16:creationId xmlns:a16="http://schemas.microsoft.com/office/drawing/2014/main" id="{A87B79DB-B3C4-885E-4C78-03415896FA60}"/>
                </a:ext>
              </a:extLst>
            </p:cNvPr>
            <p:cNvSpPr/>
            <p:nvPr/>
          </p:nvSpPr>
          <p:spPr>
            <a:xfrm>
              <a:off x="0" y="5077"/>
              <a:ext cx="1500841" cy="609495"/>
            </a:xfrm>
            <a:prstGeom prst="roundRect">
              <a:avLst>
                <a:gd name="adj" fmla="val 15903"/>
              </a:avLst>
            </a:prstGeom>
            <a:noFill/>
            <a:ln w="12700" cap="flat">
              <a:solidFill>
                <a:schemeClr val="accent1"/>
              </a:solidFill>
              <a:prstDash val="solid"/>
              <a:miter lim="800000"/>
            </a:ln>
            <a:effectLst/>
          </p:spPr>
          <p:txBody>
            <a:bodyPr wrap="square" lIns="45719" tIns="45719" rIns="45719" bIns="45719" numCol="1" anchor="ctr">
              <a:noAutofit/>
            </a:bodyPr>
            <a:lstStyle/>
            <a:p>
              <a:endParaRPr sz="1400"/>
            </a:p>
          </p:txBody>
        </p:sp>
        <p:sp>
          <p:nvSpPr>
            <p:cNvPr id="45" name="线条">
              <a:extLst>
                <a:ext uri="{FF2B5EF4-FFF2-40B4-BE49-F238E27FC236}">
                  <a16:creationId xmlns:a16="http://schemas.microsoft.com/office/drawing/2014/main" id="{ED50CB0F-6F07-8079-B1F9-0C68B7477576}"/>
                </a:ext>
              </a:extLst>
            </p:cNvPr>
            <p:cNvSpPr/>
            <p:nvPr/>
          </p:nvSpPr>
          <p:spPr>
            <a:xfrm flipV="1">
              <a:off x="778341" y="0"/>
              <a:ext cx="1" cy="619649"/>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sz="1400"/>
            </a:p>
          </p:txBody>
        </p:sp>
      </p:grpSp>
      <p:sp>
        <p:nvSpPr>
          <p:cNvPr id="46" name="圆角矩形">
            <a:extLst>
              <a:ext uri="{FF2B5EF4-FFF2-40B4-BE49-F238E27FC236}">
                <a16:creationId xmlns:a16="http://schemas.microsoft.com/office/drawing/2014/main" id="{F3B16D33-0894-08E7-90E1-835C5E5EDBC5}"/>
              </a:ext>
            </a:extLst>
          </p:cNvPr>
          <p:cNvSpPr/>
          <p:nvPr/>
        </p:nvSpPr>
        <p:spPr>
          <a:xfrm>
            <a:off x="446664" y="1843508"/>
            <a:ext cx="750630" cy="609495"/>
          </a:xfrm>
          <a:prstGeom prst="roundRect">
            <a:avLst>
              <a:gd name="adj" fmla="val 15903"/>
            </a:avLst>
          </a:prstGeom>
          <a:ln w="12700">
            <a:solidFill>
              <a:schemeClr val="accent1"/>
            </a:solidFill>
            <a:miter/>
          </a:ln>
        </p:spPr>
        <p:txBody>
          <a:bodyPr lIns="45719" rIns="45719" anchor="ctr"/>
          <a:lstStyle/>
          <a:p>
            <a:endParaRPr sz="1400"/>
          </a:p>
        </p:txBody>
      </p:sp>
      <p:sp>
        <p:nvSpPr>
          <p:cNvPr id="47" name="线条">
            <a:extLst>
              <a:ext uri="{FF2B5EF4-FFF2-40B4-BE49-F238E27FC236}">
                <a16:creationId xmlns:a16="http://schemas.microsoft.com/office/drawing/2014/main" id="{69EA68BD-01DA-79E5-94B2-4D22172AE6CD}"/>
              </a:ext>
            </a:extLst>
          </p:cNvPr>
          <p:cNvSpPr/>
          <p:nvPr/>
        </p:nvSpPr>
        <p:spPr>
          <a:xfrm flipV="1">
            <a:off x="11636373" y="1693320"/>
            <a:ext cx="1" cy="4436496"/>
          </a:xfrm>
          <a:prstGeom prst="line">
            <a:avLst/>
          </a:prstGeom>
          <a:ln w="12700">
            <a:solidFill>
              <a:schemeClr val="accent1"/>
            </a:solidFill>
            <a:miter/>
          </a:ln>
        </p:spPr>
        <p:txBody>
          <a:bodyPr lIns="45719" rIns="45719"/>
          <a:lstStyle/>
          <a:p>
            <a:endParaRPr sz="1400"/>
          </a:p>
        </p:txBody>
      </p:sp>
      <p:sp>
        <p:nvSpPr>
          <p:cNvPr id="48" name="线条">
            <a:extLst>
              <a:ext uri="{FF2B5EF4-FFF2-40B4-BE49-F238E27FC236}">
                <a16:creationId xmlns:a16="http://schemas.microsoft.com/office/drawing/2014/main" id="{F9B64969-5977-B79B-EEDB-6D1FBACE9695}"/>
              </a:ext>
            </a:extLst>
          </p:cNvPr>
          <p:cNvSpPr/>
          <p:nvPr/>
        </p:nvSpPr>
        <p:spPr>
          <a:xfrm>
            <a:off x="1179334" y="2148255"/>
            <a:ext cx="839441" cy="1"/>
          </a:xfrm>
          <a:prstGeom prst="line">
            <a:avLst/>
          </a:prstGeom>
          <a:ln w="12700">
            <a:solidFill>
              <a:schemeClr val="accent1"/>
            </a:solidFill>
            <a:miter/>
            <a:tailEnd type="triangle"/>
          </a:ln>
        </p:spPr>
        <p:txBody>
          <a:bodyPr lIns="45719" rIns="45719"/>
          <a:lstStyle/>
          <a:p>
            <a:endParaRPr sz="1400"/>
          </a:p>
        </p:txBody>
      </p:sp>
      <p:sp>
        <p:nvSpPr>
          <p:cNvPr id="49" name="线条">
            <a:extLst>
              <a:ext uri="{FF2B5EF4-FFF2-40B4-BE49-F238E27FC236}">
                <a16:creationId xmlns:a16="http://schemas.microsoft.com/office/drawing/2014/main" id="{4F9D8CD4-A283-252E-677C-C3E1AFD9DE57}"/>
              </a:ext>
            </a:extLst>
          </p:cNvPr>
          <p:cNvSpPr/>
          <p:nvPr/>
        </p:nvSpPr>
        <p:spPr>
          <a:xfrm>
            <a:off x="3496803" y="2123065"/>
            <a:ext cx="1197568" cy="1039288"/>
          </a:xfrm>
          <a:prstGeom prst="line">
            <a:avLst/>
          </a:prstGeom>
          <a:ln w="12700">
            <a:solidFill>
              <a:schemeClr val="accent1"/>
            </a:solidFill>
            <a:miter/>
            <a:tailEnd type="triangle"/>
          </a:ln>
        </p:spPr>
        <p:txBody>
          <a:bodyPr lIns="45719" rIns="45719"/>
          <a:lstStyle/>
          <a:p>
            <a:endParaRPr sz="1400"/>
          </a:p>
        </p:txBody>
      </p:sp>
      <p:sp>
        <p:nvSpPr>
          <p:cNvPr id="50" name="线条">
            <a:extLst>
              <a:ext uri="{FF2B5EF4-FFF2-40B4-BE49-F238E27FC236}">
                <a16:creationId xmlns:a16="http://schemas.microsoft.com/office/drawing/2014/main" id="{B344E231-24DC-49AA-766E-B19FC93E49C1}"/>
              </a:ext>
            </a:extLst>
          </p:cNvPr>
          <p:cNvSpPr/>
          <p:nvPr/>
        </p:nvSpPr>
        <p:spPr>
          <a:xfrm flipV="1">
            <a:off x="3496702" y="3303523"/>
            <a:ext cx="1197816" cy="1013611"/>
          </a:xfrm>
          <a:prstGeom prst="line">
            <a:avLst/>
          </a:prstGeom>
          <a:ln w="12700">
            <a:solidFill>
              <a:schemeClr val="accent1"/>
            </a:solidFill>
            <a:miter/>
            <a:tailEnd type="triangle"/>
          </a:ln>
        </p:spPr>
        <p:txBody>
          <a:bodyPr lIns="45719" rIns="45719"/>
          <a:lstStyle/>
          <a:p>
            <a:endParaRPr sz="1400"/>
          </a:p>
        </p:txBody>
      </p:sp>
      <p:sp>
        <p:nvSpPr>
          <p:cNvPr id="51" name="线条">
            <a:extLst>
              <a:ext uri="{FF2B5EF4-FFF2-40B4-BE49-F238E27FC236}">
                <a16:creationId xmlns:a16="http://schemas.microsoft.com/office/drawing/2014/main" id="{7E7178DB-1510-4678-D362-8AAFF7E5A04B}"/>
              </a:ext>
            </a:extLst>
          </p:cNvPr>
          <p:cNvSpPr/>
          <p:nvPr/>
        </p:nvSpPr>
        <p:spPr>
          <a:xfrm>
            <a:off x="3493235" y="3244980"/>
            <a:ext cx="1200664" cy="1"/>
          </a:xfrm>
          <a:prstGeom prst="line">
            <a:avLst/>
          </a:prstGeom>
          <a:ln w="12700">
            <a:solidFill>
              <a:schemeClr val="accent1"/>
            </a:solidFill>
            <a:miter/>
            <a:tailEnd type="triangle"/>
          </a:ln>
        </p:spPr>
        <p:txBody>
          <a:bodyPr lIns="45719" rIns="45719"/>
          <a:lstStyle/>
          <a:p>
            <a:endParaRPr sz="1400"/>
          </a:p>
        </p:txBody>
      </p:sp>
      <p:sp>
        <p:nvSpPr>
          <p:cNvPr id="52" name="线条">
            <a:extLst>
              <a:ext uri="{FF2B5EF4-FFF2-40B4-BE49-F238E27FC236}">
                <a16:creationId xmlns:a16="http://schemas.microsoft.com/office/drawing/2014/main" id="{B8C06E0F-4039-82B1-E4D1-A4206B476862}"/>
              </a:ext>
            </a:extLst>
          </p:cNvPr>
          <p:cNvSpPr/>
          <p:nvPr/>
        </p:nvSpPr>
        <p:spPr>
          <a:xfrm>
            <a:off x="6186555" y="3244980"/>
            <a:ext cx="947339" cy="1"/>
          </a:xfrm>
          <a:prstGeom prst="line">
            <a:avLst/>
          </a:prstGeom>
          <a:ln w="12700">
            <a:solidFill>
              <a:schemeClr val="accent1"/>
            </a:solidFill>
            <a:miter/>
            <a:tailEnd type="triangle"/>
          </a:ln>
        </p:spPr>
        <p:txBody>
          <a:bodyPr lIns="45719" rIns="45719"/>
          <a:lstStyle/>
          <a:p>
            <a:endParaRPr sz="1400"/>
          </a:p>
        </p:txBody>
      </p:sp>
      <p:sp>
        <p:nvSpPr>
          <p:cNvPr id="53" name="线条">
            <a:extLst>
              <a:ext uri="{FF2B5EF4-FFF2-40B4-BE49-F238E27FC236}">
                <a16:creationId xmlns:a16="http://schemas.microsoft.com/office/drawing/2014/main" id="{43802721-9223-1D8C-2795-A36636E0C864}"/>
              </a:ext>
            </a:extLst>
          </p:cNvPr>
          <p:cNvSpPr/>
          <p:nvPr/>
        </p:nvSpPr>
        <p:spPr>
          <a:xfrm>
            <a:off x="8672640" y="3218042"/>
            <a:ext cx="839441" cy="1"/>
          </a:xfrm>
          <a:prstGeom prst="line">
            <a:avLst/>
          </a:prstGeom>
          <a:ln w="12700">
            <a:solidFill>
              <a:schemeClr val="accent1"/>
            </a:solidFill>
            <a:miter/>
            <a:tailEnd type="triangle"/>
          </a:ln>
        </p:spPr>
        <p:txBody>
          <a:bodyPr lIns="45719" rIns="45719"/>
          <a:lstStyle/>
          <a:p>
            <a:endParaRPr sz="1400"/>
          </a:p>
        </p:txBody>
      </p:sp>
      <p:sp>
        <p:nvSpPr>
          <p:cNvPr id="54" name="线条">
            <a:extLst>
              <a:ext uri="{FF2B5EF4-FFF2-40B4-BE49-F238E27FC236}">
                <a16:creationId xmlns:a16="http://schemas.microsoft.com/office/drawing/2014/main" id="{08FD284D-DE0B-2983-4F55-3A3121E6B99E}"/>
              </a:ext>
            </a:extLst>
          </p:cNvPr>
          <p:cNvSpPr/>
          <p:nvPr/>
        </p:nvSpPr>
        <p:spPr>
          <a:xfrm>
            <a:off x="5415260" y="5817133"/>
            <a:ext cx="850720" cy="1"/>
          </a:xfrm>
          <a:prstGeom prst="line">
            <a:avLst/>
          </a:prstGeom>
          <a:ln w="12700">
            <a:solidFill>
              <a:schemeClr val="accent1"/>
            </a:solidFill>
            <a:miter/>
            <a:tailEnd type="triangle"/>
          </a:ln>
        </p:spPr>
        <p:txBody>
          <a:bodyPr lIns="45719" rIns="45719"/>
          <a:lstStyle/>
          <a:p>
            <a:endParaRPr sz="1400"/>
          </a:p>
        </p:txBody>
      </p:sp>
      <p:sp>
        <p:nvSpPr>
          <p:cNvPr id="55" name="线条">
            <a:extLst>
              <a:ext uri="{FF2B5EF4-FFF2-40B4-BE49-F238E27FC236}">
                <a16:creationId xmlns:a16="http://schemas.microsoft.com/office/drawing/2014/main" id="{08C58F7A-76B7-E391-8EF4-8ECD6283D51D}"/>
              </a:ext>
            </a:extLst>
          </p:cNvPr>
          <p:cNvSpPr/>
          <p:nvPr/>
        </p:nvSpPr>
        <p:spPr>
          <a:xfrm>
            <a:off x="7766237" y="5817133"/>
            <a:ext cx="3857962" cy="1"/>
          </a:xfrm>
          <a:prstGeom prst="line">
            <a:avLst/>
          </a:prstGeom>
          <a:ln w="12700">
            <a:solidFill>
              <a:schemeClr val="accent1"/>
            </a:solidFill>
            <a:miter/>
            <a:tailEnd type="triangle"/>
          </a:ln>
        </p:spPr>
        <p:txBody>
          <a:bodyPr lIns="45719" rIns="45719"/>
          <a:lstStyle/>
          <a:p>
            <a:endParaRPr sz="1400"/>
          </a:p>
        </p:txBody>
      </p:sp>
      <p:sp>
        <p:nvSpPr>
          <p:cNvPr id="56" name="线条">
            <a:extLst>
              <a:ext uri="{FF2B5EF4-FFF2-40B4-BE49-F238E27FC236}">
                <a16:creationId xmlns:a16="http://schemas.microsoft.com/office/drawing/2014/main" id="{8498752B-E99E-769A-AF7E-9654F728732D}"/>
              </a:ext>
            </a:extLst>
          </p:cNvPr>
          <p:cNvSpPr/>
          <p:nvPr/>
        </p:nvSpPr>
        <p:spPr>
          <a:xfrm>
            <a:off x="7773956" y="3405798"/>
            <a:ext cx="1732232" cy="129555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8555" y="21600"/>
                </a:lnTo>
                <a:lnTo>
                  <a:pt x="18555" y="0"/>
                </a:lnTo>
                <a:lnTo>
                  <a:pt x="21600" y="0"/>
                </a:lnTo>
              </a:path>
            </a:pathLst>
          </a:custGeom>
          <a:ln w="12700">
            <a:solidFill>
              <a:schemeClr val="accent1"/>
            </a:solidFill>
            <a:miter/>
            <a:tailEnd type="triangle"/>
          </a:ln>
        </p:spPr>
        <p:txBody>
          <a:bodyPr lIns="45719" rIns="45719"/>
          <a:lstStyle/>
          <a:p>
            <a:endParaRPr sz="1400"/>
          </a:p>
        </p:txBody>
      </p:sp>
      <p:sp>
        <p:nvSpPr>
          <p:cNvPr id="57" name="终端用户">
            <a:extLst>
              <a:ext uri="{FF2B5EF4-FFF2-40B4-BE49-F238E27FC236}">
                <a16:creationId xmlns:a16="http://schemas.microsoft.com/office/drawing/2014/main" id="{B630544B-C738-0FF2-C48F-5134B0D13AE1}"/>
              </a:ext>
            </a:extLst>
          </p:cNvPr>
          <p:cNvSpPr txBox="1"/>
          <p:nvPr/>
        </p:nvSpPr>
        <p:spPr>
          <a:xfrm>
            <a:off x="11636373" y="3199913"/>
            <a:ext cx="305690" cy="9541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solidFill>
                  <a:schemeClr val="accent2"/>
                </a:solidFill>
              </a:defRPr>
            </a:lvl1pPr>
          </a:lstStyle>
          <a:p>
            <a:r>
              <a:rPr sz="1400"/>
              <a:t>终端用户</a:t>
            </a:r>
          </a:p>
        </p:txBody>
      </p:sp>
      <p:sp>
        <p:nvSpPr>
          <p:cNvPr id="58" name="线条">
            <a:extLst>
              <a:ext uri="{FF2B5EF4-FFF2-40B4-BE49-F238E27FC236}">
                <a16:creationId xmlns:a16="http://schemas.microsoft.com/office/drawing/2014/main" id="{28C4901F-C45B-B56F-0297-7AAD29F7407C}"/>
              </a:ext>
            </a:extLst>
          </p:cNvPr>
          <p:cNvSpPr/>
          <p:nvPr/>
        </p:nvSpPr>
        <p:spPr>
          <a:xfrm>
            <a:off x="11050826" y="3218042"/>
            <a:ext cx="534869" cy="1"/>
          </a:xfrm>
          <a:prstGeom prst="line">
            <a:avLst/>
          </a:prstGeom>
          <a:ln w="12700">
            <a:solidFill>
              <a:schemeClr val="accent1"/>
            </a:solidFill>
            <a:miter/>
            <a:tailEnd type="triangle"/>
          </a:ln>
        </p:spPr>
        <p:txBody>
          <a:bodyPr lIns="45719" rIns="45719"/>
          <a:lstStyle/>
          <a:p>
            <a:endParaRPr sz="1400"/>
          </a:p>
        </p:txBody>
      </p:sp>
      <p:pic>
        <p:nvPicPr>
          <p:cNvPr id="59" name="图像" descr="图像">
            <a:extLst>
              <a:ext uri="{FF2B5EF4-FFF2-40B4-BE49-F238E27FC236}">
                <a16:creationId xmlns:a16="http://schemas.microsoft.com/office/drawing/2014/main" id="{9FE71344-34C4-377C-82B8-85DF9CE93C92}"/>
              </a:ext>
            </a:extLst>
          </p:cNvPr>
          <p:cNvPicPr>
            <a:picLocks noChangeAspect="1"/>
          </p:cNvPicPr>
          <p:nvPr/>
        </p:nvPicPr>
        <p:blipFill>
          <a:blip r:embed="rId13"/>
          <a:stretch>
            <a:fillRect/>
          </a:stretch>
        </p:blipFill>
        <p:spPr>
          <a:xfrm>
            <a:off x="2916161" y="1956020"/>
            <a:ext cx="454026" cy="384470"/>
          </a:xfrm>
          <a:prstGeom prst="rect">
            <a:avLst/>
          </a:prstGeom>
          <a:ln w="12700">
            <a:miter lim="400000"/>
          </a:ln>
        </p:spPr>
      </p:pic>
      <p:pic>
        <p:nvPicPr>
          <p:cNvPr id="60" name="图像" descr="图像">
            <a:extLst>
              <a:ext uri="{FF2B5EF4-FFF2-40B4-BE49-F238E27FC236}">
                <a16:creationId xmlns:a16="http://schemas.microsoft.com/office/drawing/2014/main" id="{1E2877D0-A5C7-FBE2-3CF0-8A1636F6E0CB}"/>
              </a:ext>
            </a:extLst>
          </p:cNvPr>
          <p:cNvPicPr>
            <a:picLocks noChangeAspect="1"/>
          </p:cNvPicPr>
          <p:nvPr/>
        </p:nvPicPr>
        <p:blipFill>
          <a:blip r:embed="rId13"/>
          <a:stretch>
            <a:fillRect/>
          </a:stretch>
        </p:blipFill>
        <p:spPr>
          <a:xfrm>
            <a:off x="2912029" y="3025807"/>
            <a:ext cx="454026" cy="384470"/>
          </a:xfrm>
          <a:prstGeom prst="rect">
            <a:avLst/>
          </a:prstGeom>
          <a:ln w="12700">
            <a:miter lim="400000"/>
          </a:ln>
        </p:spPr>
      </p:pic>
      <p:pic>
        <p:nvPicPr>
          <p:cNvPr id="61" name="图像" descr="图像">
            <a:extLst>
              <a:ext uri="{FF2B5EF4-FFF2-40B4-BE49-F238E27FC236}">
                <a16:creationId xmlns:a16="http://schemas.microsoft.com/office/drawing/2014/main" id="{6979870F-35B4-B673-412E-550DB4092E6C}"/>
              </a:ext>
            </a:extLst>
          </p:cNvPr>
          <p:cNvPicPr>
            <a:picLocks noChangeAspect="1"/>
          </p:cNvPicPr>
          <p:nvPr/>
        </p:nvPicPr>
        <p:blipFill>
          <a:blip r:embed="rId13"/>
          <a:stretch>
            <a:fillRect/>
          </a:stretch>
        </p:blipFill>
        <p:spPr>
          <a:xfrm>
            <a:off x="2912029" y="4146394"/>
            <a:ext cx="454026" cy="384470"/>
          </a:xfrm>
          <a:prstGeom prst="rect">
            <a:avLst/>
          </a:prstGeom>
          <a:ln w="12700">
            <a:miter lim="400000"/>
          </a:ln>
        </p:spPr>
      </p:pic>
      <p:sp>
        <p:nvSpPr>
          <p:cNvPr id="62" name="交换机芯片晶圆">
            <a:extLst>
              <a:ext uri="{FF2B5EF4-FFF2-40B4-BE49-F238E27FC236}">
                <a16:creationId xmlns:a16="http://schemas.microsoft.com/office/drawing/2014/main" id="{25FB03BA-D7D0-F1EA-2D6C-C45B81B9DB13}"/>
              </a:ext>
            </a:extLst>
          </p:cNvPr>
          <p:cNvSpPr txBox="1"/>
          <p:nvPr/>
        </p:nvSpPr>
        <p:spPr>
          <a:xfrm>
            <a:off x="3495405" y="1849822"/>
            <a:ext cx="1349085"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sz="1400"/>
              <a:t>交换机芯片晶圆</a:t>
            </a:r>
          </a:p>
        </p:txBody>
      </p:sp>
      <p:sp>
        <p:nvSpPr>
          <p:cNvPr id="63" name="电芯片晶圆">
            <a:extLst>
              <a:ext uri="{FF2B5EF4-FFF2-40B4-BE49-F238E27FC236}">
                <a16:creationId xmlns:a16="http://schemas.microsoft.com/office/drawing/2014/main" id="{906D18B9-EDAB-57B8-B0F1-89AFCAECCCDE}"/>
              </a:ext>
            </a:extLst>
          </p:cNvPr>
          <p:cNvSpPr txBox="1"/>
          <p:nvPr/>
        </p:nvSpPr>
        <p:spPr>
          <a:xfrm>
            <a:off x="3495405" y="2952585"/>
            <a:ext cx="990013"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sz="1400"/>
              <a:t>电芯片晶圆</a:t>
            </a:r>
          </a:p>
        </p:txBody>
      </p:sp>
      <p:sp>
        <p:nvSpPr>
          <p:cNvPr id="64" name="硅光芯片晶圆">
            <a:extLst>
              <a:ext uri="{FF2B5EF4-FFF2-40B4-BE49-F238E27FC236}">
                <a16:creationId xmlns:a16="http://schemas.microsoft.com/office/drawing/2014/main" id="{77927AFA-B705-91C6-A93A-0E70941E2E64}"/>
              </a:ext>
            </a:extLst>
          </p:cNvPr>
          <p:cNvSpPr txBox="1"/>
          <p:nvPr/>
        </p:nvSpPr>
        <p:spPr>
          <a:xfrm>
            <a:off x="3502339" y="4371295"/>
            <a:ext cx="1169549"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sz="1400"/>
              <a:t>硅光芯片晶圆</a:t>
            </a:r>
          </a:p>
        </p:txBody>
      </p:sp>
      <p:pic>
        <p:nvPicPr>
          <p:cNvPr id="65" name="Gemini.jpg" descr="Gemini.jpg">
            <a:extLst>
              <a:ext uri="{FF2B5EF4-FFF2-40B4-BE49-F238E27FC236}">
                <a16:creationId xmlns:a16="http://schemas.microsoft.com/office/drawing/2014/main" id="{C4DB1939-0A4E-B318-00A6-9638B77FCDC1}"/>
              </a:ext>
            </a:extLst>
          </p:cNvPr>
          <p:cNvPicPr>
            <a:picLocks noChangeAspect="1"/>
          </p:cNvPicPr>
          <p:nvPr/>
        </p:nvPicPr>
        <p:blipFill>
          <a:blip r:embed="rId14"/>
          <a:stretch>
            <a:fillRect/>
          </a:stretch>
        </p:blipFill>
        <p:spPr>
          <a:xfrm>
            <a:off x="10372795" y="3097421"/>
            <a:ext cx="620085" cy="295119"/>
          </a:xfrm>
          <a:prstGeom prst="rect">
            <a:avLst/>
          </a:prstGeom>
          <a:ln w="12700">
            <a:miter lim="400000"/>
          </a:ln>
        </p:spPr>
      </p:pic>
      <p:pic>
        <p:nvPicPr>
          <p:cNvPr id="66" name="图像" descr="图像">
            <a:extLst>
              <a:ext uri="{FF2B5EF4-FFF2-40B4-BE49-F238E27FC236}">
                <a16:creationId xmlns:a16="http://schemas.microsoft.com/office/drawing/2014/main" id="{65CD0739-4BDB-CE7B-2813-F247D10A6977}"/>
              </a:ext>
            </a:extLst>
          </p:cNvPr>
          <p:cNvPicPr>
            <a:picLocks noChangeAspect="1"/>
          </p:cNvPicPr>
          <p:nvPr/>
        </p:nvPicPr>
        <p:blipFill>
          <a:blip r:embed="rId15"/>
          <a:stretch>
            <a:fillRect/>
          </a:stretch>
        </p:blipFill>
        <p:spPr>
          <a:xfrm>
            <a:off x="5548190" y="2994522"/>
            <a:ext cx="514685" cy="447041"/>
          </a:xfrm>
          <a:prstGeom prst="rect">
            <a:avLst/>
          </a:prstGeom>
          <a:ln w="12700">
            <a:miter lim="400000"/>
          </a:ln>
        </p:spPr>
      </p:pic>
      <p:pic>
        <p:nvPicPr>
          <p:cNvPr id="67" name="图像" descr="图像">
            <a:extLst>
              <a:ext uri="{FF2B5EF4-FFF2-40B4-BE49-F238E27FC236}">
                <a16:creationId xmlns:a16="http://schemas.microsoft.com/office/drawing/2014/main" id="{EA132C4D-D984-3E5B-C2D9-2CEA0DE3F856}"/>
              </a:ext>
            </a:extLst>
          </p:cNvPr>
          <p:cNvPicPr>
            <a:picLocks noChangeAspect="1"/>
          </p:cNvPicPr>
          <p:nvPr/>
        </p:nvPicPr>
        <p:blipFill>
          <a:blip r:embed="rId15"/>
          <a:stretch>
            <a:fillRect/>
          </a:stretch>
        </p:blipFill>
        <p:spPr>
          <a:xfrm>
            <a:off x="8021820" y="2991063"/>
            <a:ext cx="514685" cy="447041"/>
          </a:xfrm>
          <a:prstGeom prst="rect">
            <a:avLst/>
          </a:prstGeom>
          <a:ln w="12700">
            <a:miter lim="400000"/>
          </a:ln>
        </p:spPr>
      </p:pic>
      <p:pic>
        <p:nvPicPr>
          <p:cNvPr id="68" name="图像" descr="图像">
            <a:extLst>
              <a:ext uri="{FF2B5EF4-FFF2-40B4-BE49-F238E27FC236}">
                <a16:creationId xmlns:a16="http://schemas.microsoft.com/office/drawing/2014/main" id="{9F8D8865-6867-FD21-B861-CE11B034B0B7}"/>
              </a:ext>
            </a:extLst>
          </p:cNvPr>
          <p:cNvPicPr>
            <a:picLocks noChangeAspect="1"/>
          </p:cNvPicPr>
          <p:nvPr/>
        </p:nvPicPr>
        <p:blipFill>
          <a:blip r:embed="rId16"/>
          <a:stretch>
            <a:fillRect/>
          </a:stretch>
        </p:blipFill>
        <p:spPr>
          <a:xfrm>
            <a:off x="4848823" y="5740587"/>
            <a:ext cx="454026" cy="153094"/>
          </a:xfrm>
          <a:prstGeom prst="rect">
            <a:avLst/>
          </a:prstGeom>
          <a:ln w="12700">
            <a:miter lim="400000"/>
          </a:ln>
        </p:spPr>
      </p:pic>
      <p:pic>
        <p:nvPicPr>
          <p:cNvPr id="69" name="图像" descr="图像">
            <a:extLst>
              <a:ext uri="{FF2B5EF4-FFF2-40B4-BE49-F238E27FC236}">
                <a16:creationId xmlns:a16="http://schemas.microsoft.com/office/drawing/2014/main" id="{1D54271D-F5BA-5763-B053-3D1AE42FF9CD}"/>
              </a:ext>
            </a:extLst>
          </p:cNvPr>
          <p:cNvPicPr>
            <a:picLocks noChangeAspect="1"/>
          </p:cNvPicPr>
          <p:nvPr/>
        </p:nvPicPr>
        <p:blipFill>
          <a:blip r:embed="rId17"/>
          <a:stretch>
            <a:fillRect/>
          </a:stretch>
        </p:blipFill>
        <p:spPr>
          <a:xfrm>
            <a:off x="7095013" y="4606801"/>
            <a:ext cx="634615" cy="295409"/>
          </a:xfrm>
          <a:prstGeom prst="rect">
            <a:avLst/>
          </a:prstGeom>
          <a:ln w="12700">
            <a:miter lim="400000"/>
          </a:ln>
        </p:spPr>
      </p:pic>
      <p:pic>
        <p:nvPicPr>
          <p:cNvPr id="70" name="RLM_CUSTOMER_MODEL_REV_A 1.png" descr="RLM_CUSTOMER_MODEL_REV_A 1.png">
            <a:extLst>
              <a:ext uri="{FF2B5EF4-FFF2-40B4-BE49-F238E27FC236}">
                <a16:creationId xmlns:a16="http://schemas.microsoft.com/office/drawing/2014/main" id="{55A6E3CE-D5E4-343F-ADF5-1980CFC6B5A6}"/>
              </a:ext>
            </a:extLst>
          </p:cNvPr>
          <p:cNvPicPr>
            <a:picLocks noChangeAspect="1"/>
          </p:cNvPicPr>
          <p:nvPr/>
        </p:nvPicPr>
        <p:blipFill>
          <a:blip r:embed="rId18"/>
          <a:srcRect l="9276" t="8882" r="6682" b="11663"/>
          <a:stretch>
            <a:fillRect/>
          </a:stretch>
        </p:blipFill>
        <p:spPr>
          <a:xfrm>
            <a:off x="7080386" y="5656062"/>
            <a:ext cx="663870" cy="335360"/>
          </a:xfrm>
          <a:custGeom>
            <a:avLst/>
            <a:gdLst/>
            <a:ahLst/>
            <a:cxnLst>
              <a:cxn ang="0">
                <a:pos x="wd2" y="hd2"/>
              </a:cxn>
              <a:cxn ang="5400000">
                <a:pos x="wd2" y="hd2"/>
              </a:cxn>
              <a:cxn ang="10800000">
                <a:pos x="wd2" y="hd2"/>
              </a:cxn>
              <a:cxn ang="16200000">
                <a:pos x="wd2" y="hd2"/>
              </a:cxn>
            </a:cxnLst>
            <a:rect l="0" t="0" r="r" b="b"/>
            <a:pathLst>
              <a:path w="21579" h="21599" extrusionOk="0">
                <a:moveTo>
                  <a:pt x="19763" y="0"/>
                </a:moveTo>
                <a:cubicBezTo>
                  <a:pt x="19223" y="1"/>
                  <a:pt x="19110" y="69"/>
                  <a:pt x="16964" y="1738"/>
                </a:cubicBezTo>
                <a:cubicBezTo>
                  <a:pt x="15885" y="2576"/>
                  <a:pt x="14953" y="3295"/>
                  <a:pt x="14887" y="3348"/>
                </a:cubicBezTo>
                <a:cubicBezTo>
                  <a:pt x="14773" y="3439"/>
                  <a:pt x="14764" y="3460"/>
                  <a:pt x="14745" y="3732"/>
                </a:cubicBezTo>
                <a:cubicBezTo>
                  <a:pt x="14723" y="4047"/>
                  <a:pt x="14713" y="4077"/>
                  <a:pt x="14332" y="4345"/>
                </a:cubicBezTo>
                <a:lnTo>
                  <a:pt x="14177" y="4447"/>
                </a:lnTo>
                <a:lnTo>
                  <a:pt x="14087" y="4294"/>
                </a:lnTo>
                <a:lnTo>
                  <a:pt x="13997" y="4141"/>
                </a:lnTo>
                <a:lnTo>
                  <a:pt x="13300" y="4703"/>
                </a:lnTo>
                <a:cubicBezTo>
                  <a:pt x="12521" y="5312"/>
                  <a:pt x="12574" y="5286"/>
                  <a:pt x="12345" y="4907"/>
                </a:cubicBezTo>
                <a:cubicBezTo>
                  <a:pt x="12286" y="4809"/>
                  <a:pt x="11905" y="4289"/>
                  <a:pt x="11494" y="3757"/>
                </a:cubicBezTo>
                <a:lnTo>
                  <a:pt x="10746" y="2811"/>
                </a:lnTo>
                <a:lnTo>
                  <a:pt x="10552" y="2939"/>
                </a:lnTo>
                <a:cubicBezTo>
                  <a:pt x="10250" y="3163"/>
                  <a:pt x="1763" y="9772"/>
                  <a:pt x="1754" y="9789"/>
                </a:cubicBezTo>
                <a:cubicBezTo>
                  <a:pt x="1750" y="9798"/>
                  <a:pt x="1727" y="10227"/>
                  <a:pt x="1703" y="10761"/>
                </a:cubicBezTo>
                <a:cubicBezTo>
                  <a:pt x="1679" y="11294"/>
                  <a:pt x="1643" y="11773"/>
                  <a:pt x="1625" y="11809"/>
                </a:cubicBezTo>
                <a:cubicBezTo>
                  <a:pt x="1608" y="11844"/>
                  <a:pt x="1339" y="12055"/>
                  <a:pt x="1032" y="12294"/>
                </a:cubicBezTo>
                <a:lnTo>
                  <a:pt x="477" y="12729"/>
                </a:lnTo>
                <a:lnTo>
                  <a:pt x="490" y="13087"/>
                </a:lnTo>
                <a:cubicBezTo>
                  <a:pt x="497" y="13306"/>
                  <a:pt x="486" y="13471"/>
                  <a:pt x="464" y="13521"/>
                </a:cubicBezTo>
                <a:cubicBezTo>
                  <a:pt x="441" y="13578"/>
                  <a:pt x="434" y="13882"/>
                  <a:pt x="439" y="14492"/>
                </a:cubicBezTo>
                <a:cubicBezTo>
                  <a:pt x="442" y="14976"/>
                  <a:pt x="427" y="15625"/>
                  <a:pt x="413" y="15924"/>
                </a:cubicBezTo>
                <a:lnTo>
                  <a:pt x="387" y="16461"/>
                </a:lnTo>
                <a:lnTo>
                  <a:pt x="219" y="16588"/>
                </a:lnTo>
                <a:cubicBezTo>
                  <a:pt x="123" y="16665"/>
                  <a:pt x="38" y="16757"/>
                  <a:pt x="26" y="16793"/>
                </a:cubicBezTo>
                <a:cubicBezTo>
                  <a:pt x="14" y="16829"/>
                  <a:pt x="0" y="17012"/>
                  <a:pt x="0" y="17176"/>
                </a:cubicBezTo>
                <a:lnTo>
                  <a:pt x="0" y="17457"/>
                </a:lnTo>
                <a:lnTo>
                  <a:pt x="232" y="17815"/>
                </a:lnTo>
                <a:cubicBezTo>
                  <a:pt x="360" y="18011"/>
                  <a:pt x="464" y="18198"/>
                  <a:pt x="464" y="18224"/>
                </a:cubicBezTo>
                <a:cubicBezTo>
                  <a:pt x="464" y="18250"/>
                  <a:pt x="418" y="18305"/>
                  <a:pt x="361" y="18352"/>
                </a:cubicBezTo>
                <a:cubicBezTo>
                  <a:pt x="271" y="18427"/>
                  <a:pt x="263" y="18454"/>
                  <a:pt x="271" y="18608"/>
                </a:cubicBezTo>
                <a:cubicBezTo>
                  <a:pt x="279" y="18763"/>
                  <a:pt x="376" y="18947"/>
                  <a:pt x="1187" y="20192"/>
                </a:cubicBezTo>
                <a:cubicBezTo>
                  <a:pt x="1695" y="20973"/>
                  <a:pt x="2135" y="21599"/>
                  <a:pt x="2167" y="21598"/>
                </a:cubicBezTo>
                <a:cubicBezTo>
                  <a:pt x="2199" y="21597"/>
                  <a:pt x="2375" y="21471"/>
                  <a:pt x="2567" y="21317"/>
                </a:cubicBezTo>
                <a:cubicBezTo>
                  <a:pt x="2871" y="21074"/>
                  <a:pt x="2927" y="21042"/>
                  <a:pt x="2967" y="21113"/>
                </a:cubicBezTo>
                <a:cubicBezTo>
                  <a:pt x="3039" y="21239"/>
                  <a:pt x="3091" y="21228"/>
                  <a:pt x="3535" y="20883"/>
                </a:cubicBezTo>
                <a:lnTo>
                  <a:pt x="3947" y="20550"/>
                </a:lnTo>
                <a:lnTo>
                  <a:pt x="4051" y="20704"/>
                </a:lnTo>
                <a:cubicBezTo>
                  <a:pt x="4142" y="20842"/>
                  <a:pt x="4176" y="20866"/>
                  <a:pt x="4296" y="20831"/>
                </a:cubicBezTo>
                <a:cubicBezTo>
                  <a:pt x="4371" y="20810"/>
                  <a:pt x="4576" y="20669"/>
                  <a:pt x="4760" y="20525"/>
                </a:cubicBezTo>
                <a:cubicBezTo>
                  <a:pt x="4944" y="20381"/>
                  <a:pt x="5242" y="20174"/>
                  <a:pt x="5418" y="20039"/>
                </a:cubicBezTo>
                <a:cubicBezTo>
                  <a:pt x="5594" y="19905"/>
                  <a:pt x="6595" y="19123"/>
                  <a:pt x="7650" y="18301"/>
                </a:cubicBezTo>
                <a:cubicBezTo>
                  <a:pt x="10516" y="16067"/>
                  <a:pt x="11035" y="15667"/>
                  <a:pt x="12320" y="14671"/>
                </a:cubicBezTo>
                <a:lnTo>
                  <a:pt x="13494" y="13751"/>
                </a:lnTo>
                <a:lnTo>
                  <a:pt x="13584" y="13879"/>
                </a:lnTo>
                <a:cubicBezTo>
                  <a:pt x="13635" y="13954"/>
                  <a:pt x="13686" y="14032"/>
                  <a:pt x="13700" y="14032"/>
                </a:cubicBezTo>
                <a:cubicBezTo>
                  <a:pt x="13733" y="14032"/>
                  <a:pt x="14713" y="13254"/>
                  <a:pt x="14861" y="13112"/>
                </a:cubicBezTo>
                <a:cubicBezTo>
                  <a:pt x="14925" y="13051"/>
                  <a:pt x="15058" y="12932"/>
                  <a:pt x="15158" y="12857"/>
                </a:cubicBezTo>
                <a:cubicBezTo>
                  <a:pt x="15301" y="12749"/>
                  <a:pt x="15338" y="12704"/>
                  <a:pt x="15325" y="12627"/>
                </a:cubicBezTo>
                <a:cubicBezTo>
                  <a:pt x="15305" y="12497"/>
                  <a:pt x="15340" y="12446"/>
                  <a:pt x="15790" y="12090"/>
                </a:cubicBezTo>
                <a:cubicBezTo>
                  <a:pt x="16116" y="11832"/>
                  <a:pt x="16168" y="11778"/>
                  <a:pt x="16177" y="11655"/>
                </a:cubicBezTo>
                <a:cubicBezTo>
                  <a:pt x="16190" y="11459"/>
                  <a:pt x="16217" y="11425"/>
                  <a:pt x="16280" y="11502"/>
                </a:cubicBezTo>
                <a:cubicBezTo>
                  <a:pt x="16365" y="11606"/>
                  <a:pt x="16551" y="11430"/>
                  <a:pt x="16551" y="11246"/>
                </a:cubicBezTo>
                <a:cubicBezTo>
                  <a:pt x="16551" y="11050"/>
                  <a:pt x="16590" y="11004"/>
                  <a:pt x="16680" y="11144"/>
                </a:cubicBezTo>
                <a:lnTo>
                  <a:pt x="16757" y="11272"/>
                </a:lnTo>
                <a:lnTo>
                  <a:pt x="17067" y="11016"/>
                </a:lnTo>
                <a:cubicBezTo>
                  <a:pt x="17339" y="10796"/>
                  <a:pt x="17390" y="10748"/>
                  <a:pt x="17467" y="10531"/>
                </a:cubicBezTo>
                <a:lnTo>
                  <a:pt x="17557" y="10275"/>
                </a:lnTo>
                <a:lnTo>
                  <a:pt x="17570" y="9125"/>
                </a:lnTo>
                <a:cubicBezTo>
                  <a:pt x="17580" y="7809"/>
                  <a:pt x="17592" y="7609"/>
                  <a:pt x="17763" y="7284"/>
                </a:cubicBezTo>
                <a:cubicBezTo>
                  <a:pt x="17856" y="7110"/>
                  <a:pt x="18109" y="6913"/>
                  <a:pt x="19376" y="5930"/>
                </a:cubicBezTo>
                <a:cubicBezTo>
                  <a:pt x="20197" y="5293"/>
                  <a:pt x="20939" y="4686"/>
                  <a:pt x="21027" y="4601"/>
                </a:cubicBezTo>
                <a:cubicBezTo>
                  <a:pt x="21115" y="4515"/>
                  <a:pt x="21250" y="4349"/>
                  <a:pt x="21324" y="4217"/>
                </a:cubicBezTo>
                <a:lnTo>
                  <a:pt x="21453" y="3962"/>
                </a:lnTo>
                <a:lnTo>
                  <a:pt x="21517" y="3297"/>
                </a:lnTo>
                <a:cubicBezTo>
                  <a:pt x="21600" y="2415"/>
                  <a:pt x="21598" y="1836"/>
                  <a:pt x="21517" y="1508"/>
                </a:cubicBezTo>
                <a:cubicBezTo>
                  <a:pt x="21435" y="1170"/>
                  <a:pt x="21190" y="762"/>
                  <a:pt x="20950" y="536"/>
                </a:cubicBezTo>
                <a:cubicBezTo>
                  <a:pt x="20840" y="433"/>
                  <a:pt x="20732" y="310"/>
                  <a:pt x="20705" y="281"/>
                </a:cubicBezTo>
                <a:cubicBezTo>
                  <a:pt x="20585" y="153"/>
                  <a:pt x="20064" y="-1"/>
                  <a:pt x="19763" y="0"/>
                </a:cubicBezTo>
                <a:close/>
                <a:moveTo>
                  <a:pt x="19350" y="1636"/>
                </a:moveTo>
                <a:lnTo>
                  <a:pt x="19815" y="2351"/>
                </a:lnTo>
                <a:cubicBezTo>
                  <a:pt x="20411" y="3265"/>
                  <a:pt x="20429" y="3286"/>
                  <a:pt x="20382" y="3374"/>
                </a:cubicBezTo>
                <a:cubicBezTo>
                  <a:pt x="20362" y="3412"/>
                  <a:pt x="19512" y="4071"/>
                  <a:pt x="18499" y="4856"/>
                </a:cubicBezTo>
                <a:cubicBezTo>
                  <a:pt x="17485" y="5642"/>
                  <a:pt x="16640" y="6338"/>
                  <a:pt x="16615" y="6390"/>
                </a:cubicBezTo>
                <a:cubicBezTo>
                  <a:pt x="16574" y="6477"/>
                  <a:pt x="16533" y="6432"/>
                  <a:pt x="16138" y="5827"/>
                </a:cubicBezTo>
                <a:cubicBezTo>
                  <a:pt x="15825" y="5347"/>
                  <a:pt x="15712" y="5125"/>
                  <a:pt x="15712" y="5035"/>
                </a:cubicBezTo>
                <a:cubicBezTo>
                  <a:pt x="15712" y="4863"/>
                  <a:pt x="15850" y="4451"/>
                  <a:pt x="15945" y="4319"/>
                </a:cubicBezTo>
                <a:cubicBezTo>
                  <a:pt x="15988" y="4258"/>
                  <a:pt x="16696" y="3679"/>
                  <a:pt x="17518" y="3041"/>
                </a:cubicBezTo>
                <a:cubicBezTo>
                  <a:pt x="18341" y="2404"/>
                  <a:pt x="19088" y="1837"/>
                  <a:pt x="19182" y="1763"/>
                </a:cubicBezTo>
                <a:lnTo>
                  <a:pt x="19350" y="1636"/>
                </a:lnTo>
                <a:close/>
              </a:path>
            </a:pathLst>
          </a:custGeom>
          <a:ln w="12700">
            <a:miter lim="400000"/>
          </a:ln>
        </p:spPr>
      </p:pic>
      <p:sp>
        <p:nvSpPr>
          <p:cNvPr id="71" name="交换机芯片+CPO">
            <a:extLst>
              <a:ext uri="{FF2B5EF4-FFF2-40B4-BE49-F238E27FC236}">
                <a16:creationId xmlns:a16="http://schemas.microsoft.com/office/drawing/2014/main" id="{5BDB8277-9C5B-9D40-0A4B-89C9E3719F59}"/>
              </a:ext>
            </a:extLst>
          </p:cNvPr>
          <p:cNvSpPr txBox="1"/>
          <p:nvPr/>
        </p:nvSpPr>
        <p:spPr>
          <a:xfrm>
            <a:off x="5137245" y="2551265"/>
            <a:ext cx="1483737"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sz="1400"/>
              <a:t>交换机芯片+CPO</a:t>
            </a:r>
          </a:p>
        </p:txBody>
      </p:sp>
      <p:sp>
        <p:nvSpPr>
          <p:cNvPr id="72" name="交换机芯片+CPO+Lens">
            <a:extLst>
              <a:ext uri="{FF2B5EF4-FFF2-40B4-BE49-F238E27FC236}">
                <a16:creationId xmlns:a16="http://schemas.microsoft.com/office/drawing/2014/main" id="{B859D7AB-B097-27AB-D1B8-D09470D72729}"/>
              </a:ext>
            </a:extLst>
          </p:cNvPr>
          <p:cNvSpPr txBox="1"/>
          <p:nvPr/>
        </p:nvSpPr>
        <p:spPr>
          <a:xfrm>
            <a:off x="7348396" y="2551264"/>
            <a:ext cx="197586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sz="1400" dirty="0" err="1"/>
              <a:t>交换机芯片+CPO+Lens</a:t>
            </a:r>
            <a:endParaRPr sz="1400" dirty="0"/>
          </a:p>
        </p:txBody>
      </p:sp>
      <p:sp>
        <p:nvSpPr>
          <p:cNvPr id="73" name="CPO交换机">
            <a:extLst>
              <a:ext uri="{FF2B5EF4-FFF2-40B4-BE49-F238E27FC236}">
                <a16:creationId xmlns:a16="http://schemas.microsoft.com/office/drawing/2014/main" id="{059CF1F5-84D4-E9BD-D876-48FE0522D7FE}"/>
              </a:ext>
            </a:extLst>
          </p:cNvPr>
          <p:cNvSpPr txBox="1"/>
          <p:nvPr/>
        </p:nvSpPr>
        <p:spPr>
          <a:xfrm>
            <a:off x="10172602" y="2557743"/>
            <a:ext cx="102047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sz="1400"/>
              <a:t>CPO交换机</a:t>
            </a:r>
          </a:p>
        </p:txBody>
      </p:sp>
      <p:sp>
        <p:nvSpPr>
          <p:cNvPr id="74" name="光源芯片">
            <a:extLst>
              <a:ext uri="{FF2B5EF4-FFF2-40B4-BE49-F238E27FC236}">
                <a16:creationId xmlns:a16="http://schemas.microsoft.com/office/drawing/2014/main" id="{39909BA5-F493-CA87-A719-C5B2B0F4B256}"/>
              </a:ext>
            </a:extLst>
          </p:cNvPr>
          <p:cNvSpPr txBox="1"/>
          <p:nvPr/>
        </p:nvSpPr>
        <p:spPr>
          <a:xfrm>
            <a:off x="4635367" y="5189775"/>
            <a:ext cx="810476"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sz="1400" dirty="0" err="1"/>
              <a:t>光源芯片</a:t>
            </a:r>
            <a:endParaRPr sz="1400" dirty="0"/>
          </a:p>
        </p:txBody>
      </p:sp>
      <p:sp>
        <p:nvSpPr>
          <p:cNvPr id="75" name="ELS光源模块">
            <a:extLst>
              <a:ext uri="{FF2B5EF4-FFF2-40B4-BE49-F238E27FC236}">
                <a16:creationId xmlns:a16="http://schemas.microsoft.com/office/drawing/2014/main" id="{3C434118-5C60-A7E0-5FF8-42865B31E5C5}"/>
              </a:ext>
            </a:extLst>
          </p:cNvPr>
          <p:cNvSpPr txBox="1"/>
          <p:nvPr/>
        </p:nvSpPr>
        <p:spPr>
          <a:xfrm>
            <a:off x="6837163" y="5181946"/>
            <a:ext cx="1150313"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sz="1400"/>
              <a:t>ELS光源模块</a:t>
            </a:r>
          </a:p>
        </p:txBody>
      </p:sp>
      <p:sp>
        <p:nvSpPr>
          <p:cNvPr id="76" name="光缆">
            <a:extLst>
              <a:ext uri="{FF2B5EF4-FFF2-40B4-BE49-F238E27FC236}">
                <a16:creationId xmlns:a16="http://schemas.microsoft.com/office/drawing/2014/main" id="{8D6B0C8B-E43E-4F43-C45C-BB28A62E8425}"/>
              </a:ext>
            </a:extLst>
          </p:cNvPr>
          <p:cNvSpPr txBox="1"/>
          <p:nvPr/>
        </p:nvSpPr>
        <p:spPr>
          <a:xfrm>
            <a:off x="7139661" y="4120693"/>
            <a:ext cx="451404"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sz="1400"/>
              <a:t>光缆</a:t>
            </a:r>
          </a:p>
        </p:txBody>
      </p:sp>
      <p:pic>
        <p:nvPicPr>
          <p:cNvPr id="77" name="图像" descr="图像">
            <a:extLst>
              <a:ext uri="{FF2B5EF4-FFF2-40B4-BE49-F238E27FC236}">
                <a16:creationId xmlns:a16="http://schemas.microsoft.com/office/drawing/2014/main" id="{4126DE74-ED54-FF28-CE3E-4BF1C4C83CF1}"/>
              </a:ext>
            </a:extLst>
          </p:cNvPr>
          <p:cNvPicPr>
            <a:picLocks noChangeAspect="1"/>
          </p:cNvPicPr>
          <p:nvPr/>
        </p:nvPicPr>
        <p:blipFill>
          <a:blip r:embed="rId7"/>
          <a:stretch>
            <a:fillRect/>
          </a:stretch>
        </p:blipFill>
        <p:spPr>
          <a:xfrm>
            <a:off x="483495" y="3052687"/>
            <a:ext cx="640577" cy="308850"/>
          </a:xfrm>
          <a:prstGeom prst="rect">
            <a:avLst/>
          </a:prstGeom>
          <a:ln w="12700">
            <a:miter lim="400000"/>
          </a:ln>
        </p:spPr>
      </p:pic>
      <p:sp>
        <p:nvSpPr>
          <p:cNvPr id="79" name="圆角矩形">
            <a:extLst>
              <a:ext uri="{FF2B5EF4-FFF2-40B4-BE49-F238E27FC236}">
                <a16:creationId xmlns:a16="http://schemas.microsoft.com/office/drawing/2014/main" id="{43B3D060-3C63-D883-BDD2-741CDF011B46}"/>
              </a:ext>
            </a:extLst>
          </p:cNvPr>
          <p:cNvSpPr/>
          <p:nvPr/>
        </p:nvSpPr>
        <p:spPr>
          <a:xfrm>
            <a:off x="428468" y="2902364"/>
            <a:ext cx="750631" cy="609496"/>
          </a:xfrm>
          <a:prstGeom prst="roundRect">
            <a:avLst>
              <a:gd name="adj" fmla="val 15903"/>
            </a:avLst>
          </a:prstGeom>
          <a:ln w="12700">
            <a:solidFill>
              <a:schemeClr val="accent1"/>
            </a:solidFill>
            <a:miter/>
          </a:ln>
        </p:spPr>
        <p:txBody>
          <a:bodyPr lIns="45719" rIns="45719" anchor="ctr"/>
          <a:lstStyle/>
          <a:p>
            <a:endParaRPr sz="1400"/>
          </a:p>
        </p:txBody>
      </p:sp>
      <p:sp>
        <p:nvSpPr>
          <p:cNvPr id="80" name="线条">
            <a:extLst>
              <a:ext uri="{FF2B5EF4-FFF2-40B4-BE49-F238E27FC236}">
                <a16:creationId xmlns:a16="http://schemas.microsoft.com/office/drawing/2014/main" id="{97F5F0C1-3A29-DD4F-5029-86849558FF99}"/>
              </a:ext>
            </a:extLst>
          </p:cNvPr>
          <p:cNvSpPr/>
          <p:nvPr/>
        </p:nvSpPr>
        <p:spPr>
          <a:xfrm>
            <a:off x="1161139" y="3207111"/>
            <a:ext cx="839441" cy="1"/>
          </a:xfrm>
          <a:prstGeom prst="line">
            <a:avLst/>
          </a:prstGeom>
          <a:ln w="12700">
            <a:solidFill>
              <a:schemeClr val="accent1"/>
            </a:solidFill>
            <a:miter/>
            <a:tailEnd type="triangle"/>
          </a:ln>
        </p:spPr>
        <p:txBody>
          <a:bodyPr lIns="45719" rIns="45719"/>
          <a:lstStyle/>
          <a:p>
            <a:endParaRPr sz="1400"/>
          </a:p>
        </p:txBody>
      </p:sp>
      <p:pic>
        <p:nvPicPr>
          <p:cNvPr id="81" name="图像" descr="图像">
            <a:extLst>
              <a:ext uri="{FF2B5EF4-FFF2-40B4-BE49-F238E27FC236}">
                <a16:creationId xmlns:a16="http://schemas.microsoft.com/office/drawing/2014/main" id="{49A305B1-4D96-80DB-523F-89CF9A91A77C}"/>
              </a:ext>
            </a:extLst>
          </p:cNvPr>
          <p:cNvPicPr>
            <a:picLocks noChangeAspect="1"/>
          </p:cNvPicPr>
          <p:nvPr/>
        </p:nvPicPr>
        <p:blipFill>
          <a:blip r:embed="rId7"/>
          <a:stretch>
            <a:fillRect/>
          </a:stretch>
        </p:blipFill>
        <p:spPr>
          <a:xfrm>
            <a:off x="489154" y="4179221"/>
            <a:ext cx="640576" cy="308850"/>
          </a:xfrm>
          <a:prstGeom prst="rect">
            <a:avLst/>
          </a:prstGeom>
          <a:ln w="12700">
            <a:miter lim="400000"/>
          </a:ln>
        </p:spPr>
      </p:pic>
      <p:sp>
        <p:nvSpPr>
          <p:cNvPr id="82" name="圆角矩形">
            <a:extLst>
              <a:ext uri="{FF2B5EF4-FFF2-40B4-BE49-F238E27FC236}">
                <a16:creationId xmlns:a16="http://schemas.microsoft.com/office/drawing/2014/main" id="{503F9F72-E0BC-8E5D-FE4A-BDA794B97C42}"/>
              </a:ext>
            </a:extLst>
          </p:cNvPr>
          <p:cNvSpPr/>
          <p:nvPr/>
        </p:nvSpPr>
        <p:spPr>
          <a:xfrm>
            <a:off x="434127" y="4028898"/>
            <a:ext cx="750630" cy="609496"/>
          </a:xfrm>
          <a:prstGeom prst="roundRect">
            <a:avLst>
              <a:gd name="adj" fmla="val 15903"/>
            </a:avLst>
          </a:prstGeom>
          <a:ln w="12700">
            <a:solidFill>
              <a:schemeClr val="accent1"/>
            </a:solidFill>
            <a:miter/>
          </a:ln>
        </p:spPr>
        <p:txBody>
          <a:bodyPr lIns="45719" rIns="45719" anchor="ctr"/>
          <a:lstStyle/>
          <a:p>
            <a:endParaRPr sz="1400"/>
          </a:p>
        </p:txBody>
      </p:sp>
      <p:sp>
        <p:nvSpPr>
          <p:cNvPr id="83" name="线条">
            <a:extLst>
              <a:ext uri="{FF2B5EF4-FFF2-40B4-BE49-F238E27FC236}">
                <a16:creationId xmlns:a16="http://schemas.microsoft.com/office/drawing/2014/main" id="{54BEE894-C3DA-81F9-9441-88BBCACFF0B9}"/>
              </a:ext>
            </a:extLst>
          </p:cNvPr>
          <p:cNvSpPr/>
          <p:nvPr/>
        </p:nvSpPr>
        <p:spPr>
          <a:xfrm>
            <a:off x="1166797" y="4333645"/>
            <a:ext cx="839441" cy="1"/>
          </a:xfrm>
          <a:prstGeom prst="line">
            <a:avLst/>
          </a:prstGeom>
          <a:ln w="12700">
            <a:solidFill>
              <a:schemeClr val="accent1"/>
            </a:solidFill>
            <a:miter/>
            <a:tailEnd type="triangle"/>
          </a:ln>
        </p:spPr>
        <p:txBody>
          <a:bodyPr lIns="45719" rIns="45719"/>
          <a:lstStyle/>
          <a:p>
            <a:endParaRPr sz="1400"/>
          </a:p>
        </p:txBody>
      </p:sp>
      <p:sp>
        <p:nvSpPr>
          <p:cNvPr id="84" name="线条">
            <a:extLst>
              <a:ext uri="{FF2B5EF4-FFF2-40B4-BE49-F238E27FC236}">
                <a16:creationId xmlns:a16="http://schemas.microsoft.com/office/drawing/2014/main" id="{9C7C610A-065D-F34F-AB0E-F5CB76599CD8}"/>
              </a:ext>
            </a:extLst>
          </p:cNvPr>
          <p:cNvSpPr/>
          <p:nvPr/>
        </p:nvSpPr>
        <p:spPr>
          <a:xfrm>
            <a:off x="2710186" y="2162415"/>
            <a:ext cx="136903" cy="1"/>
          </a:xfrm>
          <a:prstGeom prst="line">
            <a:avLst/>
          </a:prstGeom>
          <a:ln w="25400">
            <a:solidFill>
              <a:schemeClr val="accent4">
                <a:lumOff val="-6980"/>
              </a:schemeClr>
            </a:solidFill>
            <a:miter/>
            <a:tailEnd type="triangle"/>
          </a:ln>
        </p:spPr>
        <p:txBody>
          <a:bodyPr lIns="45719" rIns="45719"/>
          <a:lstStyle/>
          <a:p>
            <a:endParaRPr sz="1400"/>
          </a:p>
        </p:txBody>
      </p:sp>
      <p:sp>
        <p:nvSpPr>
          <p:cNvPr id="85" name="线条">
            <a:extLst>
              <a:ext uri="{FF2B5EF4-FFF2-40B4-BE49-F238E27FC236}">
                <a16:creationId xmlns:a16="http://schemas.microsoft.com/office/drawing/2014/main" id="{7CEE02A9-4E03-A67A-5F91-2350A5FF842A}"/>
              </a:ext>
            </a:extLst>
          </p:cNvPr>
          <p:cNvSpPr/>
          <p:nvPr/>
        </p:nvSpPr>
        <p:spPr>
          <a:xfrm>
            <a:off x="2710350" y="3218042"/>
            <a:ext cx="136903" cy="1"/>
          </a:xfrm>
          <a:prstGeom prst="line">
            <a:avLst/>
          </a:prstGeom>
          <a:ln w="25400">
            <a:solidFill>
              <a:schemeClr val="accent4">
                <a:lumOff val="-6980"/>
              </a:schemeClr>
            </a:solidFill>
            <a:miter/>
            <a:tailEnd type="triangle"/>
          </a:ln>
        </p:spPr>
        <p:txBody>
          <a:bodyPr lIns="45719" rIns="45719"/>
          <a:lstStyle/>
          <a:p>
            <a:endParaRPr sz="1400"/>
          </a:p>
        </p:txBody>
      </p:sp>
      <p:sp>
        <p:nvSpPr>
          <p:cNvPr id="86" name="线条">
            <a:extLst>
              <a:ext uri="{FF2B5EF4-FFF2-40B4-BE49-F238E27FC236}">
                <a16:creationId xmlns:a16="http://schemas.microsoft.com/office/drawing/2014/main" id="{19AB965B-F9BC-6F91-2CCB-CAEF23D793AA}"/>
              </a:ext>
            </a:extLst>
          </p:cNvPr>
          <p:cNvSpPr/>
          <p:nvPr/>
        </p:nvSpPr>
        <p:spPr>
          <a:xfrm>
            <a:off x="2710350" y="4336999"/>
            <a:ext cx="136903" cy="1"/>
          </a:xfrm>
          <a:prstGeom prst="line">
            <a:avLst/>
          </a:prstGeom>
          <a:ln w="25400">
            <a:solidFill>
              <a:schemeClr val="accent4">
                <a:lumOff val="-6980"/>
              </a:schemeClr>
            </a:solidFill>
            <a:miter/>
            <a:tailEnd type="triangle"/>
          </a:ln>
        </p:spPr>
        <p:txBody>
          <a:bodyPr lIns="45719" rIns="45719"/>
          <a:lstStyle/>
          <a:p>
            <a:endParaRPr sz="1400"/>
          </a:p>
        </p:txBody>
      </p:sp>
      <p:sp>
        <p:nvSpPr>
          <p:cNvPr id="87" name="线条">
            <a:extLst>
              <a:ext uri="{FF2B5EF4-FFF2-40B4-BE49-F238E27FC236}">
                <a16:creationId xmlns:a16="http://schemas.microsoft.com/office/drawing/2014/main" id="{81342D89-D85F-6C24-8E00-0931111EE414}"/>
              </a:ext>
            </a:extLst>
          </p:cNvPr>
          <p:cNvSpPr/>
          <p:nvPr/>
        </p:nvSpPr>
        <p:spPr>
          <a:xfrm>
            <a:off x="5406845" y="3223574"/>
            <a:ext cx="136903" cy="1"/>
          </a:xfrm>
          <a:prstGeom prst="line">
            <a:avLst/>
          </a:prstGeom>
          <a:ln w="25400">
            <a:solidFill>
              <a:schemeClr val="accent4">
                <a:lumOff val="-6980"/>
              </a:schemeClr>
            </a:solidFill>
            <a:miter/>
            <a:tailEnd type="triangle"/>
          </a:ln>
        </p:spPr>
        <p:txBody>
          <a:bodyPr lIns="45719" rIns="45719"/>
          <a:lstStyle/>
          <a:p>
            <a:endParaRPr sz="1400"/>
          </a:p>
        </p:txBody>
      </p:sp>
      <p:sp>
        <p:nvSpPr>
          <p:cNvPr id="88" name="线条">
            <a:extLst>
              <a:ext uri="{FF2B5EF4-FFF2-40B4-BE49-F238E27FC236}">
                <a16:creationId xmlns:a16="http://schemas.microsoft.com/office/drawing/2014/main" id="{5F867F5A-B21C-0863-49E9-3D22C47E44F1}"/>
              </a:ext>
            </a:extLst>
          </p:cNvPr>
          <p:cNvSpPr/>
          <p:nvPr/>
        </p:nvSpPr>
        <p:spPr>
          <a:xfrm>
            <a:off x="7877867" y="3223574"/>
            <a:ext cx="136903" cy="1"/>
          </a:xfrm>
          <a:prstGeom prst="line">
            <a:avLst/>
          </a:prstGeom>
          <a:ln w="25400">
            <a:solidFill>
              <a:schemeClr val="accent4">
                <a:lumOff val="-6980"/>
              </a:schemeClr>
            </a:solidFill>
            <a:miter/>
            <a:tailEnd type="triangle"/>
          </a:ln>
        </p:spPr>
        <p:txBody>
          <a:bodyPr lIns="45719" rIns="45719"/>
          <a:lstStyle/>
          <a:p>
            <a:endParaRPr sz="1400"/>
          </a:p>
        </p:txBody>
      </p:sp>
      <p:sp>
        <p:nvSpPr>
          <p:cNvPr id="89" name="线条">
            <a:extLst>
              <a:ext uri="{FF2B5EF4-FFF2-40B4-BE49-F238E27FC236}">
                <a16:creationId xmlns:a16="http://schemas.microsoft.com/office/drawing/2014/main" id="{2CAF3A61-82BF-5636-5B5A-F0D925F3FD95}"/>
              </a:ext>
            </a:extLst>
          </p:cNvPr>
          <p:cNvSpPr/>
          <p:nvPr/>
        </p:nvSpPr>
        <p:spPr>
          <a:xfrm>
            <a:off x="6979472" y="4724445"/>
            <a:ext cx="136903" cy="1"/>
          </a:xfrm>
          <a:prstGeom prst="line">
            <a:avLst/>
          </a:prstGeom>
          <a:ln w="25400">
            <a:solidFill>
              <a:schemeClr val="accent4">
                <a:lumOff val="-6980"/>
              </a:schemeClr>
            </a:solidFill>
            <a:miter/>
            <a:tailEnd type="triangle"/>
          </a:ln>
        </p:spPr>
        <p:txBody>
          <a:bodyPr lIns="45719" rIns="45719"/>
          <a:lstStyle/>
          <a:p>
            <a:endParaRPr sz="1400"/>
          </a:p>
        </p:txBody>
      </p:sp>
      <p:sp>
        <p:nvSpPr>
          <p:cNvPr id="90" name="线条">
            <a:extLst>
              <a:ext uri="{FF2B5EF4-FFF2-40B4-BE49-F238E27FC236}">
                <a16:creationId xmlns:a16="http://schemas.microsoft.com/office/drawing/2014/main" id="{93D38F5F-B272-A1F8-D5D1-145053E601AB}"/>
              </a:ext>
            </a:extLst>
          </p:cNvPr>
          <p:cNvSpPr/>
          <p:nvPr/>
        </p:nvSpPr>
        <p:spPr>
          <a:xfrm>
            <a:off x="6979472" y="5806606"/>
            <a:ext cx="136903" cy="1"/>
          </a:xfrm>
          <a:prstGeom prst="line">
            <a:avLst/>
          </a:prstGeom>
          <a:ln w="25400">
            <a:solidFill>
              <a:schemeClr val="accent4">
                <a:lumOff val="-6980"/>
              </a:schemeClr>
            </a:solidFill>
            <a:miter/>
            <a:tailEnd type="triangle"/>
          </a:ln>
        </p:spPr>
        <p:txBody>
          <a:bodyPr lIns="45719" rIns="45719"/>
          <a:lstStyle/>
          <a:p>
            <a:endParaRPr sz="1400"/>
          </a:p>
        </p:txBody>
      </p:sp>
      <p:sp>
        <p:nvSpPr>
          <p:cNvPr id="91" name="线条">
            <a:extLst>
              <a:ext uri="{FF2B5EF4-FFF2-40B4-BE49-F238E27FC236}">
                <a16:creationId xmlns:a16="http://schemas.microsoft.com/office/drawing/2014/main" id="{50462EC7-9D93-2107-829A-4EBB92C3CAD8}"/>
              </a:ext>
            </a:extLst>
          </p:cNvPr>
          <p:cNvSpPr/>
          <p:nvPr/>
        </p:nvSpPr>
        <p:spPr>
          <a:xfrm>
            <a:off x="4643645" y="5824589"/>
            <a:ext cx="136903" cy="1"/>
          </a:xfrm>
          <a:prstGeom prst="line">
            <a:avLst/>
          </a:prstGeom>
          <a:ln w="25400">
            <a:solidFill>
              <a:schemeClr val="accent4">
                <a:lumOff val="-6980"/>
              </a:schemeClr>
            </a:solidFill>
            <a:miter/>
            <a:tailEnd type="triangle"/>
          </a:ln>
        </p:spPr>
        <p:txBody>
          <a:bodyPr lIns="45719" rIns="45719"/>
          <a:lstStyle/>
          <a:p>
            <a:endParaRPr sz="1400"/>
          </a:p>
        </p:txBody>
      </p:sp>
      <p:sp>
        <p:nvSpPr>
          <p:cNvPr id="92" name="线条">
            <a:extLst>
              <a:ext uri="{FF2B5EF4-FFF2-40B4-BE49-F238E27FC236}">
                <a16:creationId xmlns:a16="http://schemas.microsoft.com/office/drawing/2014/main" id="{22D3443A-DC59-4FC7-AB6A-6893C04D7B56}"/>
              </a:ext>
            </a:extLst>
          </p:cNvPr>
          <p:cNvSpPr/>
          <p:nvPr/>
        </p:nvSpPr>
        <p:spPr>
          <a:xfrm>
            <a:off x="10285388" y="3243694"/>
            <a:ext cx="136903" cy="1"/>
          </a:xfrm>
          <a:prstGeom prst="line">
            <a:avLst/>
          </a:prstGeom>
          <a:ln w="25400">
            <a:solidFill>
              <a:schemeClr val="accent4">
                <a:lumOff val="-6980"/>
              </a:schemeClr>
            </a:solidFill>
            <a:miter/>
            <a:tailEnd type="triangle"/>
          </a:ln>
        </p:spPr>
        <p:txBody>
          <a:bodyPr lIns="45719" rIns="45719"/>
          <a:lstStyle/>
          <a:p>
            <a:endParaRPr sz="1400"/>
          </a:p>
        </p:txBody>
      </p:sp>
      <p:pic>
        <p:nvPicPr>
          <p:cNvPr id="93" name="图像" descr="图像">
            <a:extLst>
              <a:ext uri="{FF2B5EF4-FFF2-40B4-BE49-F238E27FC236}">
                <a16:creationId xmlns:a16="http://schemas.microsoft.com/office/drawing/2014/main" id="{08898D1B-FDD2-6721-BA6C-89494C84FB61}"/>
              </a:ext>
            </a:extLst>
          </p:cNvPr>
          <p:cNvPicPr>
            <a:picLocks noChangeAspect="1"/>
          </p:cNvPicPr>
          <p:nvPr/>
        </p:nvPicPr>
        <p:blipFill>
          <a:blip r:embed="rId7"/>
          <a:stretch>
            <a:fillRect/>
          </a:stretch>
        </p:blipFill>
        <p:spPr>
          <a:xfrm>
            <a:off x="5159281" y="4550099"/>
            <a:ext cx="640576" cy="308850"/>
          </a:xfrm>
          <a:prstGeom prst="rect">
            <a:avLst/>
          </a:prstGeom>
          <a:ln w="12700">
            <a:miter lim="400000"/>
          </a:ln>
        </p:spPr>
      </p:pic>
      <p:sp>
        <p:nvSpPr>
          <p:cNvPr id="94" name="圆角矩形">
            <a:extLst>
              <a:ext uri="{FF2B5EF4-FFF2-40B4-BE49-F238E27FC236}">
                <a16:creationId xmlns:a16="http://schemas.microsoft.com/office/drawing/2014/main" id="{E9EF0045-D1BA-A8A4-9599-B1C5EA8D1C49}"/>
              </a:ext>
            </a:extLst>
          </p:cNvPr>
          <p:cNvSpPr/>
          <p:nvPr/>
        </p:nvSpPr>
        <p:spPr>
          <a:xfrm>
            <a:off x="5104254" y="4399776"/>
            <a:ext cx="750630" cy="609496"/>
          </a:xfrm>
          <a:prstGeom prst="roundRect">
            <a:avLst>
              <a:gd name="adj" fmla="val 15903"/>
            </a:avLst>
          </a:prstGeom>
          <a:ln w="12700">
            <a:solidFill>
              <a:schemeClr val="accent1"/>
            </a:solidFill>
            <a:miter/>
          </a:ln>
        </p:spPr>
        <p:txBody>
          <a:bodyPr lIns="45719" rIns="45719" anchor="ctr"/>
          <a:lstStyle/>
          <a:p>
            <a:endParaRPr sz="1400"/>
          </a:p>
        </p:txBody>
      </p:sp>
      <p:sp>
        <p:nvSpPr>
          <p:cNvPr id="95" name="线条">
            <a:extLst>
              <a:ext uri="{FF2B5EF4-FFF2-40B4-BE49-F238E27FC236}">
                <a16:creationId xmlns:a16="http://schemas.microsoft.com/office/drawing/2014/main" id="{C141C2E8-0DD4-EDFB-D7B7-F4CE47DFF16B}"/>
              </a:ext>
            </a:extLst>
          </p:cNvPr>
          <p:cNvSpPr/>
          <p:nvPr/>
        </p:nvSpPr>
        <p:spPr>
          <a:xfrm>
            <a:off x="5863644" y="4704524"/>
            <a:ext cx="409749" cy="1"/>
          </a:xfrm>
          <a:prstGeom prst="line">
            <a:avLst/>
          </a:prstGeom>
          <a:ln w="12700">
            <a:solidFill>
              <a:schemeClr val="accent1"/>
            </a:solidFill>
            <a:miter/>
            <a:tailEnd type="triangle"/>
          </a:ln>
        </p:spPr>
        <p:txBody>
          <a:bodyPr lIns="45719" rIns="45719"/>
          <a:lstStyle/>
          <a:p>
            <a:endParaRPr sz="1400"/>
          </a:p>
        </p:txBody>
      </p:sp>
      <p:pic>
        <p:nvPicPr>
          <p:cNvPr id="96" name="图像" descr="图像">
            <a:extLst>
              <a:ext uri="{FF2B5EF4-FFF2-40B4-BE49-F238E27FC236}">
                <a16:creationId xmlns:a16="http://schemas.microsoft.com/office/drawing/2014/main" id="{04BEF129-FEFF-1856-8FDA-1979A9FE70DA}"/>
              </a:ext>
            </a:extLst>
          </p:cNvPr>
          <p:cNvPicPr>
            <a:picLocks noChangeAspect="1"/>
          </p:cNvPicPr>
          <p:nvPr/>
        </p:nvPicPr>
        <p:blipFill>
          <a:blip r:embed="rId19"/>
          <a:stretch>
            <a:fillRect/>
          </a:stretch>
        </p:blipFill>
        <p:spPr>
          <a:xfrm>
            <a:off x="6324000" y="5719926"/>
            <a:ext cx="597452" cy="191839"/>
          </a:xfrm>
          <a:prstGeom prst="rect">
            <a:avLst/>
          </a:prstGeom>
          <a:ln w="12700">
            <a:miter lim="400000"/>
          </a:ln>
        </p:spPr>
      </p:pic>
      <p:sp>
        <p:nvSpPr>
          <p:cNvPr id="97" name="交换机芯片晶圆">
            <a:extLst>
              <a:ext uri="{FF2B5EF4-FFF2-40B4-BE49-F238E27FC236}">
                <a16:creationId xmlns:a16="http://schemas.microsoft.com/office/drawing/2014/main" id="{5499E43A-CE81-45D6-B9B8-2F27BFA3C927}"/>
              </a:ext>
            </a:extLst>
          </p:cNvPr>
          <p:cNvSpPr txBox="1"/>
          <p:nvPr/>
        </p:nvSpPr>
        <p:spPr>
          <a:xfrm>
            <a:off x="1338829" y="1401657"/>
            <a:ext cx="502700"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lang="zh-CN" altLang="en-US" sz="1600" dirty="0"/>
              <a:t>设计</a:t>
            </a:r>
            <a:endParaRPr sz="1600" dirty="0"/>
          </a:p>
        </p:txBody>
      </p:sp>
      <p:sp>
        <p:nvSpPr>
          <p:cNvPr id="98" name="交换机芯片晶圆">
            <a:extLst>
              <a:ext uri="{FF2B5EF4-FFF2-40B4-BE49-F238E27FC236}">
                <a16:creationId xmlns:a16="http://schemas.microsoft.com/office/drawing/2014/main" id="{C9208BC7-DD09-88BE-BF53-AE96EC853AD7}"/>
              </a:ext>
            </a:extLst>
          </p:cNvPr>
          <p:cNvSpPr txBox="1"/>
          <p:nvPr/>
        </p:nvSpPr>
        <p:spPr>
          <a:xfrm>
            <a:off x="2510959" y="1401657"/>
            <a:ext cx="502700"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lang="zh-CN" altLang="en-US" sz="1600" dirty="0"/>
              <a:t>代工</a:t>
            </a:r>
            <a:endParaRPr sz="1600" dirty="0"/>
          </a:p>
        </p:txBody>
      </p:sp>
      <p:sp>
        <p:nvSpPr>
          <p:cNvPr id="99" name="交换机芯片晶圆">
            <a:extLst>
              <a:ext uri="{FF2B5EF4-FFF2-40B4-BE49-F238E27FC236}">
                <a16:creationId xmlns:a16="http://schemas.microsoft.com/office/drawing/2014/main" id="{DB54E24A-1121-321E-AB7D-90687472E796}"/>
              </a:ext>
            </a:extLst>
          </p:cNvPr>
          <p:cNvSpPr txBox="1"/>
          <p:nvPr/>
        </p:nvSpPr>
        <p:spPr>
          <a:xfrm>
            <a:off x="5087926" y="1401657"/>
            <a:ext cx="913068"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lang="zh-CN" altLang="en-US" sz="1600" dirty="0"/>
              <a:t>集成封装</a:t>
            </a:r>
            <a:endParaRPr sz="1600" dirty="0"/>
          </a:p>
        </p:txBody>
      </p:sp>
      <p:sp>
        <p:nvSpPr>
          <p:cNvPr id="101" name="交换机芯片晶圆">
            <a:extLst>
              <a:ext uri="{FF2B5EF4-FFF2-40B4-BE49-F238E27FC236}">
                <a16:creationId xmlns:a16="http://schemas.microsoft.com/office/drawing/2014/main" id="{ABC92353-DE5C-4A15-47AA-54CCE1572C02}"/>
              </a:ext>
            </a:extLst>
          </p:cNvPr>
          <p:cNvSpPr txBox="1"/>
          <p:nvPr/>
        </p:nvSpPr>
        <p:spPr>
          <a:xfrm>
            <a:off x="7400043" y="1401657"/>
            <a:ext cx="1323437"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lang="zh-CN" altLang="en-US" sz="1600" dirty="0"/>
              <a:t>光学组件耦合</a:t>
            </a:r>
            <a:endParaRPr sz="1600" dirty="0"/>
          </a:p>
        </p:txBody>
      </p:sp>
      <p:sp>
        <p:nvSpPr>
          <p:cNvPr id="102" name="交换机芯片晶圆">
            <a:extLst>
              <a:ext uri="{FF2B5EF4-FFF2-40B4-BE49-F238E27FC236}">
                <a16:creationId xmlns:a16="http://schemas.microsoft.com/office/drawing/2014/main" id="{D63539C7-301C-68D9-0857-81A511AD973E}"/>
              </a:ext>
            </a:extLst>
          </p:cNvPr>
          <p:cNvSpPr txBox="1"/>
          <p:nvPr/>
        </p:nvSpPr>
        <p:spPr>
          <a:xfrm>
            <a:off x="9716068" y="1401657"/>
            <a:ext cx="913068"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solidFill>
                  <a:schemeClr val="accent3"/>
                </a:solidFill>
              </a:defRPr>
            </a:lvl1pPr>
          </a:lstStyle>
          <a:p>
            <a:r>
              <a:rPr lang="zh-CN" altLang="en-US" sz="1600" dirty="0"/>
              <a:t>成本拼装</a:t>
            </a:r>
            <a:endParaRPr sz="1600" dirty="0"/>
          </a:p>
        </p:txBody>
      </p:sp>
    </p:spTree>
    <p:extLst>
      <p:ext uri="{BB962C8B-B14F-4D97-AF65-F5344CB8AC3E}">
        <p14:creationId xmlns:p14="http://schemas.microsoft.com/office/powerpoint/2010/main" val="18410075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C372D8E-1BE1-3AD0-3720-AA66F803D8A8}"/>
              </a:ext>
            </a:extLst>
          </p:cNvPr>
          <p:cNvGraphicFramePr>
            <a:graphicFrameLocks noChangeAspect="1"/>
          </p:cNvGraphicFramePr>
          <p:nvPr>
            <p:custDataLst>
              <p:tags r:id="rId1"/>
            </p:custDataLst>
            <p:extLst>
              <p:ext uri="{D42A27DB-BD31-4B8C-83A1-F6EECF244321}">
                <p14:modId xmlns:p14="http://schemas.microsoft.com/office/powerpoint/2010/main" val="4174069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 imgW="401" imgH="401" progId="TCLayout.ActiveDocument.1">
                  <p:embed/>
                </p:oleObj>
              </mc:Choice>
              <mc:Fallback>
                <p:oleObj name="think-cell 幻灯片" r:id="rId3" imgW="401" imgH="401"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标题 1">
            <a:extLst>
              <a:ext uri="{FF2B5EF4-FFF2-40B4-BE49-F238E27FC236}">
                <a16:creationId xmlns:a16="http://schemas.microsoft.com/office/drawing/2014/main" id="{0DDED3A3-2FF3-D80A-0229-EDC87C2FAB0B}"/>
              </a:ext>
            </a:extLst>
          </p:cNvPr>
          <p:cNvSpPr>
            <a:spLocks noGrp="1"/>
          </p:cNvSpPr>
          <p:nvPr>
            <p:ph type="title"/>
          </p:nvPr>
        </p:nvSpPr>
        <p:spPr/>
        <p:txBody>
          <a:bodyPr vert="horz"/>
          <a:lstStyle/>
          <a:p>
            <a:r>
              <a:rPr lang="zh-CN" altLang="en-US" dirty="0">
                <a:latin typeface="+mn-lt"/>
                <a:ea typeface="+mn-ea"/>
                <a:cs typeface="+mn-ea"/>
                <a:sym typeface="+mn-lt"/>
              </a:rPr>
              <a:t>附录：产业和公司</a:t>
            </a:r>
            <a:r>
              <a:rPr lang="en-US" altLang="zh-CN" dirty="0">
                <a:latin typeface="+mn-lt"/>
                <a:ea typeface="+mn-ea"/>
                <a:cs typeface="+mn-ea"/>
                <a:sym typeface="+mn-lt"/>
              </a:rPr>
              <a:t>Map</a:t>
            </a:r>
            <a:endParaRPr lang="zh-CN" altLang="en-US" dirty="0">
              <a:latin typeface="+mn-lt"/>
              <a:ea typeface="+mn-ea"/>
              <a:cs typeface="+mn-ea"/>
              <a:sym typeface="+mn-lt"/>
            </a:endParaRPr>
          </a:p>
        </p:txBody>
      </p:sp>
      <p:pic>
        <p:nvPicPr>
          <p:cNvPr id="5" name="图像" descr="图像">
            <a:extLst>
              <a:ext uri="{FF2B5EF4-FFF2-40B4-BE49-F238E27FC236}">
                <a16:creationId xmlns:a16="http://schemas.microsoft.com/office/drawing/2014/main" id="{10B9C398-0D29-FDF9-253D-E94BA659B4F8}"/>
              </a:ext>
            </a:extLst>
          </p:cNvPr>
          <p:cNvPicPr>
            <a:picLocks noChangeAspect="1"/>
          </p:cNvPicPr>
          <p:nvPr/>
        </p:nvPicPr>
        <p:blipFill>
          <a:blip r:embed="rId5"/>
          <a:stretch>
            <a:fillRect/>
          </a:stretch>
        </p:blipFill>
        <p:spPr>
          <a:xfrm>
            <a:off x="1436105" y="929335"/>
            <a:ext cx="10610274" cy="453108"/>
          </a:xfrm>
          <a:prstGeom prst="rect">
            <a:avLst/>
          </a:prstGeom>
          <a:ln w="12700">
            <a:miter lim="400000"/>
          </a:ln>
        </p:spPr>
      </p:pic>
      <p:sp>
        <p:nvSpPr>
          <p:cNvPr id="6" name="Design House">
            <a:extLst>
              <a:ext uri="{FF2B5EF4-FFF2-40B4-BE49-F238E27FC236}">
                <a16:creationId xmlns:a16="http://schemas.microsoft.com/office/drawing/2014/main" id="{CADBE276-520A-8792-3762-C6BD2CFA051B}"/>
              </a:ext>
            </a:extLst>
          </p:cNvPr>
          <p:cNvSpPr txBox="1"/>
          <p:nvPr/>
        </p:nvSpPr>
        <p:spPr>
          <a:xfrm>
            <a:off x="1622857" y="929335"/>
            <a:ext cx="1540034"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defRPr>
                <a:solidFill>
                  <a:srgbClr val="FFFFFF"/>
                </a:solidFill>
              </a:defRPr>
            </a:lvl1pPr>
          </a:lstStyle>
          <a:p>
            <a:r>
              <a:rPr>
                <a:cs typeface="+mn-ea"/>
                <a:sym typeface="+mn-lt"/>
              </a:rPr>
              <a:t>Design House</a:t>
            </a:r>
          </a:p>
        </p:txBody>
      </p:sp>
      <p:sp>
        <p:nvSpPr>
          <p:cNvPr id="7" name="Foundry">
            <a:extLst>
              <a:ext uri="{FF2B5EF4-FFF2-40B4-BE49-F238E27FC236}">
                <a16:creationId xmlns:a16="http://schemas.microsoft.com/office/drawing/2014/main" id="{A32CBAB7-DE28-0577-BDE6-B416B89B4D95}"/>
              </a:ext>
            </a:extLst>
          </p:cNvPr>
          <p:cNvSpPr txBox="1"/>
          <p:nvPr/>
        </p:nvSpPr>
        <p:spPr>
          <a:xfrm>
            <a:off x="3561005" y="929335"/>
            <a:ext cx="942750"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defRPr>
                <a:solidFill>
                  <a:srgbClr val="FFFFFF"/>
                </a:solidFill>
              </a:defRPr>
            </a:lvl1pPr>
          </a:lstStyle>
          <a:p>
            <a:r>
              <a:rPr>
                <a:cs typeface="+mn-ea"/>
                <a:sym typeface="+mn-lt"/>
              </a:rPr>
              <a:t>Foundry</a:t>
            </a:r>
          </a:p>
        </p:txBody>
      </p:sp>
      <p:sp>
        <p:nvSpPr>
          <p:cNvPr id="8" name="OSAT">
            <a:extLst>
              <a:ext uri="{FF2B5EF4-FFF2-40B4-BE49-F238E27FC236}">
                <a16:creationId xmlns:a16="http://schemas.microsoft.com/office/drawing/2014/main" id="{231FDB93-E5F9-2B3D-9B40-6D5BF724A1E4}"/>
              </a:ext>
            </a:extLst>
          </p:cNvPr>
          <p:cNvSpPr txBox="1"/>
          <p:nvPr/>
        </p:nvSpPr>
        <p:spPr>
          <a:xfrm>
            <a:off x="5507117" y="970468"/>
            <a:ext cx="709686"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defRPr>
                <a:solidFill>
                  <a:srgbClr val="FFFFFF"/>
                </a:solidFill>
              </a:defRPr>
            </a:lvl1pPr>
          </a:lstStyle>
          <a:p>
            <a:r>
              <a:rPr>
                <a:cs typeface="+mn-ea"/>
                <a:sym typeface="+mn-lt"/>
              </a:rPr>
              <a:t>OSAT</a:t>
            </a:r>
          </a:p>
        </p:txBody>
      </p:sp>
      <p:sp>
        <p:nvSpPr>
          <p:cNvPr id="9" name="Transceiver">
            <a:extLst>
              <a:ext uri="{FF2B5EF4-FFF2-40B4-BE49-F238E27FC236}">
                <a16:creationId xmlns:a16="http://schemas.microsoft.com/office/drawing/2014/main" id="{18662E40-DEFF-3E1E-6434-F49932D26949}"/>
              </a:ext>
            </a:extLst>
          </p:cNvPr>
          <p:cNvSpPr txBox="1"/>
          <p:nvPr/>
        </p:nvSpPr>
        <p:spPr>
          <a:xfrm>
            <a:off x="6868839" y="929335"/>
            <a:ext cx="1289892"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defRPr>
                <a:solidFill>
                  <a:srgbClr val="FFFFFF"/>
                </a:solidFill>
              </a:defRPr>
            </a:lvl1pPr>
          </a:lstStyle>
          <a:p>
            <a:r>
              <a:rPr>
                <a:cs typeface="+mn-ea"/>
                <a:sym typeface="+mn-lt"/>
              </a:rPr>
              <a:t>Transceiver</a:t>
            </a:r>
          </a:p>
        </p:txBody>
      </p:sp>
      <p:sp>
        <p:nvSpPr>
          <p:cNvPr id="10" name="Equipment">
            <a:extLst>
              <a:ext uri="{FF2B5EF4-FFF2-40B4-BE49-F238E27FC236}">
                <a16:creationId xmlns:a16="http://schemas.microsoft.com/office/drawing/2014/main" id="{2453646A-DC3B-986B-6CC0-4526166DF97F}"/>
              </a:ext>
            </a:extLst>
          </p:cNvPr>
          <p:cNvSpPr txBox="1"/>
          <p:nvPr/>
        </p:nvSpPr>
        <p:spPr>
          <a:xfrm>
            <a:off x="8561029" y="929335"/>
            <a:ext cx="1197023"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defRPr>
                <a:solidFill>
                  <a:srgbClr val="FFFFFF"/>
                </a:solidFill>
              </a:defRPr>
            </a:lvl1pPr>
          </a:lstStyle>
          <a:p>
            <a:r>
              <a:rPr>
                <a:cs typeface="+mn-ea"/>
                <a:sym typeface="+mn-lt"/>
              </a:rPr>
              <a:t>Equipment</a:t>
            </a:r>
          </a:p>
        </p:txBody>
      </p:sp>
      <p:sp>
        <p:nvSpPr>
          <p:cNvPr id="11" name="Operator">
            <a:extLst>
              <a:ext uri="{FF2B5EF4-FFF2-40B4-BE49-F238E27FC236}">
                <a16:creationId xmlns:a16="http://schemas.microsoft.com/office/drawing/2014/main" id="{95622BB5-E3D0-DA7B-7977-81AC14B0C04A}"/>
              </a:ext>
            </a:extLst>
          </p:cNvPr>
          <p:cNvSpPr txBox="1"/>
          <p:nvPr/>
        </p:nvSpPr>
        <p:spPr>
          <a:xfrm>
            <a:off x="10523815" y="929335"/>
            <a:ext cx="1006262"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defRPr>
                <a:solidFill>
                  <a:srgbClr val="FFFFFF"/>
                </a:solidFill>
              </a:defRPr>
            </a:lvl1pPr>
          </a:lstStyle>
          <a:p>
            <a:r>
              <a:rPr>
                <a:cs typeface="+mn-ea"/>
                <a:sym typeface="+mn-lt"/>
              </a:rPr>
              <a:t>Operator</a:t>
            </a:r>
          </a:p>
        </p:txBody>
      </p:sp>
      <p:sp>
        <p:nvSpPr>
          <p:cNvPr id="12" name="圆角矩形">
            <a:extLst>
              <a:ext uri="{FF2B5EF4-FFF2-40B4-BE49-F238E27FC236}">
                <a16:creationId xmlns:a16="http://schemas.microsoft.com/office/drawing/2014/main" id="{B0888714-9FB4-4F09-6591-601238B11943}"/>
              </a:ext>
            </a:extLst>
          </p:cNvPr>
          <p:cNvSpPr/>
          <p:nvPr/>
        </p:nvSpPr>
        <p:spPr>
          <a:xfrm>
            <a:off x="58155" y="3121489"/>
            <a:ext cx="1197023" cy="614081"/>
          </a:xfrm>
          <a:prstGeom prst="roundRect">
            <a:avLst>
              <a:gd name="adj" fmla="val 27974"/>
            </a:avLst>
          </a:prstGeom>
          <a:solidFill>
            <a:srgbClr val="5E5E5E"/>
          </a:solidFill>
          <a:ln w="12700">
            <a:miter lim="400000"/>
          </a:ln>
        </p:spPr>
        <p:txBody>
          <a:bodyPr lIns="45719" rIns="45719" anchor="ctr"/>
          <a:lstStyle/>
          <a:p>
            <a:pPr>
              <a:defRPr>
                <a:solidFill>
                  <a:srgbClr val="FFFFFF"/>
                </a:solidFill>
              </a:defRPr>
            </a:pPr>
            <a:endParaRPr>
              <a:cs typeface="+mn-ea"/>
              <a:sym typeface="+mn-lt"/>
            </a:endParaRPr>
          </a:p>
        </p:txBody>
      </p:sp>
      <p:sp>
        <p:nvSpPr>
          <p:cNvPr id="13" name="圆角矩形">
            <a:extLst>
              <a:ext uri="{FF2B5EF4-FFF2-40B4-BE49-F238E27FC236}">
                <a16:creationId xmlns:a16="http://schemas.microsoft.com/office/drawing/2014/main" id="{406A2D47-4B94-E322-EBFC-D8E2813F0303}"/>
              </a:ext>
            </a:extLst>
          </p:cNvPr>
          <p:cNvSpPr/>
          <p:nvPr/>
        </p:nvSpPr>
        <p:spPr>
          <a:xfrm>
            <a:off x="58155" y="1787773"/>
            <a:ext cx="1197023" cy="614081"/>
          </a:xfrm>
          <a:prstGeom prst="roundRect">
            <a:avLst>
              <a:gd name="adj" fmla="val 27974"/>
            </a:avLst>
          </a:prstGeom>
          <a:solidFill>
            <a:srgbClr val="4F8F00"/>
          </a:solidFill>
          <a:ln w="12700">
            <a:miter lim="400000"/>
          </a:ln>
        </p:spPr>
        <p:txBody>
          <a:bodyPr lIns="45719" rIns="45719" anchor="ctr"/>
          <a:lstStyle/>
          <a:p>
            <a:pPr>
              <a:defRPr>
                <a:solidFill>
                  <a:srgbClr val="FFFFFF"/>
                </a:solidFill>
              </a:defRPr>
            </a:pPr>
            <a:endParaRPr>
              <a:cs typeface="+mn-ea"/>
              <a:sym typeface="+mn-lt"/>
            </a:endParaRPr>
          </a:p>
        </p:txBody>
      </p:sp>
      <p:sp>
        <p:nvSpPr>
          <p:cNvPr id="14" name="圆角矩形">
            <a:extLst>
              <a:ext uri="{FF2B5EF4-FFF2-40B4-BE49-F238E27FC236}">
                <a16:creationId xmlns:a16="http://schemas.microsoft.com/office/drawing/2014/main" id="{35CE7CDB-3169-93B9-8760-313546CE4F02}"/>
              </a:ext>
            </a:extLst>
          </p:cNvPr>
          <p:cNvSpPr/>
          <p:nvPr/>
        </p:nvSpPr>
        <p:spPr>
          <a:xfrm>
            <a:off x="58155" y="4407945"/>
            <a:ext cx="1197023" cy="614081"/>
          </a:xfrm>
          <a:prstGeom prst="roundRect">
            <a:avLst>
              <a:gd name="adj" fmla="val 27974"/>
            </a:avLst>
          </a:prstGeom>
          <a:solidFill>
            <a:srgbClr val="FF9300"/>
          </a:solidFill>
          <a:ln w="12700">
            <a:miter lim="400000"/>
          </a:ln>
        </p:spPr>
        <p:txBody>
          <a:bodyPr lIns="45719" rIns="45719" anchor="ctr"/>
          <a:lstStyle/>
          <a:p>
            <a:pPr>
              <a:defRPr>
                <a:solidFill>
                  <a:srgbClr val="FFFFFF"/>
                </a:solidFill>
              </a:defRPr>
            </a:pPr>
            <a:endParaRPr>
              <a:cs typeface="+mn-ea"/>
              <a:sym typeface="+mn-lt"/>
            </a:endParaRPr>
          </a:p>
        </p:txBody>
      </p:sp>
      <p:sp>
        <p:nvSpPr>
          <p:cNvPr id="15" name="eIC">
            <a:extLst>
              <a:ext uri="{FF2B5EF4-FFF2-40B4-BE49-F238E27FC236}">
                <a16:creationId xmlns:a16="http://schemas.microsoft.com/office/drawing/2014/main" id="{A8E3AA0E-A5AF-DA4C-C1D9-D8DE57E716DB}"/>
              </a:ext>
            </a:extLst>
          </p:cNvPr>
          <p:cNvSpPr txBox="1"/>
          <p:nvPr/>
        </p:nvSpPr>
        <p:spPr>
          <a:xfrm>
            <a:off x="351861" y="3243109"/>
            <a:ext cx="609611"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defRPr>
                <a:solidFill>
                  <a:srgbClr val="FFFFFF"/>
                </a:solidFill>
              </a:defRPr>
            </a:lvl1pPr>
          </a:lstStyle>
          <a:p>
            <a:r>
              <a:rPr dirty="0" err="1">
                <a:cs typeface="+mn-ea"/>
                <a:sym typeface="+mn-lt"/>
              </a:rPr>
              <a:t>eIC</a:t>
            </a:r>
            <a:endParaRPr dirty="0">
              <a:cs typeface="+mn-ea"/>
              <a:sym typeface="+mn-lt"/>
            </a:endParaRPr>
          </a:p>
        </p:txBody>
      </p:sp>
      <p:sp>
        <p:nvSpPr>
          <p:cNvPr id="16" name="Switch…">
            <a:extLst>
              <a:ext uri="{FF2B5EF4-FFF2-40B4-BE49-F238E27FC236}">
                <a16:creationId xmlns:a16="http://schemas.microsoft.com/office/drawing/2014/main" id="{5DEC8A1A-CFE9-4024-89E8-C8749EB994FC}"/>
              </a:ext>
            </a:extLst>
          </p:cNvPr>
          <p:cNvSpPr txBox="1"/>
          <p:nvPr/>
        </p:nvSpPr>
        <p:spPr>
          <a:xfrm>
            <a:off x="185291" y="1759185"/>
            <a:ext cx="942751" cy="6140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pPr algn="ctr">
              <a:defRPr>
                <a:solidFill>
                  <a:srgbClr val="FFFFFF"/>
                </a:solidFill>
              </a:defRPr>
            </a:pPr>
            <a:r>
              <a:rPr>
                <a:cs typeface="+mn-ea"/>
                <a:sym typeface="+mn-lt"/>
              </a:rPr>
              <a:t>Switch</a:t>
            </a:r>
          </a:p>
          <a:p>
            <a:pPr algn="ctr">
              <a:defRPr>
                <a:solidFill>
                  <a:srgbClr val="FFFFFF"/>
                </a:solidFill>
              </a:defRPr>
            </a:pPr>
            <a:r>
              <a:rPr>
                <a:cs typeface="+mn-ea"/>
                <a:sym typeface="+mn-lt"/>
              </a:rPr>
              <a:t>ASIC</a:t>
            </a:r>
          </a:p>
        </p:txBody>
      </p:sp>
      <p:sp>
        <p:nvSpPr>
          <p:cNvPr id="17" name="SiPho">
            <a:extLst>
              <a:ext uri="{FF2B5EF4-FFF2-40B4-BE49-F238E27FC236}">
                <a16:creationId xmlns:a16="http://schemas.microsoft.com/office/drawing/2014/main" id="{E9CED6CE-5F2F-1D17-3779-E4AFC3245030}"/>
              </a:ext>
            </a:extLst>
          </p:cNvPr>
          <p:cNvSpPr txBox="1"/>
          <p:nvPr/>
        </p:nvSpPr>
        <p:spPr>
          <a:xfrm>
            <a:off x="301824" y="4529565"/>
            <a:ext cx="709685"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defRPr>
                <a:solidFill>
                  <a:srgbClr val="FFFFFF"/>
                </a:solidFill>
              </a:defRPr>
            </a:lvl1pPr>
          </a:lstStyle>
          <a:p>
            <a:r>
              <a:rPr dirty="0" err="1">
                <a:cs typeface="+mn-ea"/>
                <a:sym typeface="+mn-lt"/>
              </a:rPr>
              <a:t>SiPho</a:t>
            </a:r>
            <a:endParaRPr dirty="0">
              <a:cs typeface="+mn-ea"/>
              <a:sym typeface="+mn-lt"/>
            </a:endParaRPr>
          </a:p>
        </p:txBody>
      </p:sp>
      <p:sp>
        <p:nvSpPr>
          <p:cNvPr id="18" name="圆角矩形">
            <a:extLst>
              <a:ext uri="{FF2B5EF4-FFF2-40B4-BE49-F238E27FC236}">
                <a16:creationId xmlns:a16="http://schemas.microsoft.com/office/drawing/2014/main" id="{E15A83F6-BE55-5DD4-A56C-6900621D013A}"/>
              </a:ext>
            </a:extLst>
          </p:cNvPr>
          <p:cNvSpPr/>
          <p:nvPr/>
        </p:nvSpPr>
        <p:spPr>
          <a:xfrm>
            <a:off x="1382155" y="1456549"/>
            <a:ext cx="1726992" cy="1247941"/>
          </a:xfrm>
          <a:prstGeom prst="roundRect">
            <a:avLst>
              <a:gd name="adj" fmla="val 4676"/>
            </a:avLst>
          </a:prstGeom>
          <a:ln w="12700">
            <a:solidFill>
              <a:srgbClr val="247BA3"/>
            </a:solidFill>
            <a:miter lim="400000"/>
          </a:ln>
        </p:spPr>
        <p:txBody>
          <a:bodyPr lIns="45719" rIns="45719" anchor="ctr"/>
          <a:lstStyle/>
          <a:p>
            <a:pPr>
              <a:defRPr>
                <a:solidFill>
                  <a:srgbClr val="FFFFFF"/>
                </a:solidFill>
              </a:defRPr>
            </a:pPr>
            <a:endParaRPr>
              <a:cs typeface="+mn-ea"/>
              <a:sym typeface="+mn-lt"/>
            </a:endParaRPr>
          </a:p>
        </p:txBody>
      </p:sp>
      <p:sp>
        <p:nvSpPr>
          <p:cNvPr id="19" name="圆角矩形">
            <a:extLst>
              <a:ext uri="{FF2B5EF4-FFF2-40B4-BE49-F238E27FC236}">
                <a16:creationId xmlns:a16="http://schemas.microsoft.com/office/drawing/2014/main" id="{42205C62-5834-9B9C-B493-6D45E83BE2AD}"/>
              </a:ext>
            </a:extLst>
          </p:cNvPr>
          <p:cNvSpPr/>
          <p:nvPr/>
        </p:nvSpPr>
        <p:spPr>
          <a:xfrm>
            <a:off x="1382155" y="2784946"/>
            <a:ext cx="1726992" cy="1247941"/>
          </a:xfrm>
          <a:prstGeom prst="roundRect">
            <a:avLst>
              <a:gd name="adj" fmla="val 4676"/>
            </a:avLst>
          </a:prstGeom>
          <a:ln w="12700">
            <a:solidFill>
              <a:srgbClr val="247BA3"/>
            </a:solidFill>
            <a:miter lim="400000"/>
          </a:ln>
        </p:spPr>
        <p:txBody>
          <a:bodyPr lIns="45719" rIns="45719" anchor="ctr"/>
          <a:lstStyle/>
          <a:p>
            <a:pPr>
              <a:defRPr>
                <a:solidFill>
                  <a:srgbClr val="FFFFFF"/>
                </a:solidFill>
              </a:defRPr>
            </a:pPr>
            <a:endParaRPr>
              <a:cs typeface="+mn-ea"/>
              <a:sym typeface="+mn-lt"/>
            </a:endParaRPr>
          </a:p>
        </p:txBody>
      </p:sp>
      <p:sp>
        <p:nvSpPr>
          <p:cNvPr id="20" name="圆角矩形">
            <a:extLst>
              <a:ext uri="{FF2B5EF4-FFF2-40B4-BE49-F238E27FC236}">
                <a16:creationId xmlns:a16="http://schemas.microsoft.com/office/drawing/2014/main" id="{BBD7338F-A5F5-0EEE-DD0A-4ED422B2C9A4}"/>
              </a:ext>
            </a:extLst>
          </p:cNvPr>
          <p:cNvSpPr/>
          <p:nvPr/>
        </p:nvSpPr>
        <p:spPr>
          <a:xfrm>
            <a:off x="1382155" y="4113343"/>
            <a:ext cx="1726992" cy="1247941"/>
          </a:xfrm>
          <a:prstGeom prst="roundRect">
            <a:avLst>
              <a:gd name="adj" fmla="val 4676"/>
            </a:avLst>
          </a:prstGeom>
          <a:ln w="12700">
            <a:solidFill>
              <a:srgbClr val="247BA3"/>
            </a:solidFill>
            <a:miter lim="400000"/>
          </a:ln>
        </p:spPr>
        <p:txBody>
          <a:bodyPr lIns="45719" rIns="45719" anchor="ctr"/>
          <a:lstStyle/>
          <a:p>
            <a:pPr>
              <a:defRPr>
                <a:solidFill>
                  <a:srgbClr val="FFFFFF"/>
                </a:solidFill>
              </a:defRPr>
            </a:pPr>
            <a:endParaRPr>
              <a:cs typeface="+mn-ea"/>
              <a:sym typeface="+mn-lt"/>
            </a:endParaRPr>
          </a:p>
        </p:txBody>
      </p:sp>
      <p:sp>
        <p:nvSpPr>
          <p:cNvPr id="21" name="圆角矩形">
            <a:extLst>
              <a:ext uri="{FF2B5EF4-FFF2-40B4-BE49-F238E27FC236}">
                <a16:creationId xmlns:a16="http://schemas.microsoft.com/office/drawing/2014/main" id="{00038B72-55D3-4F1C-2A10-F6DBD85EFA97}"/>
              </a:ext>
            </a:extLst>
          </p:cNvPr>
          <p:cNvSpPr/>
          <p:nvPr/>
        </p:nvSpPr>
        <p:spPr>
          <a:xfrm>
            <a:off x="3163831" y="1456549"/>
            <a:ext cx="1726992" cy="1247941"/>
          </a:xfrm>
          <a:prstGeom prst="roundRect">
            <a:avLst>
              <a:gd name="adj" fmla="val 4676"/>
            </a:avLst>
          </a:prstGeom>
          <a:ln w="12700">
            <a:solidFill>
              <a:srgbClr val="247BA3"/>
            </a:solidFill>
            <a:miter lim="400000"/>
          </a:ln>
        </p:spPr>
        <p:txBody>
          <a:bodyPr lIns="45719" rIns="45719" anchor="ctr"/>
          <a:lstStyle/>
          <a:p>
            <a:pPr>
              <a:defRPr>
                <a:solidFill>
                  <a:srgbClr val="FFFFFF"/>
                </a:solidFill>
              </a:defRPr>
            </a:pPr>
            <a:endParaRPr>
              <a:cs typeface="+mn-ea"/>
              <a:sym typeface="+mn-lt"/>
            </a:endParaRPr>
          </a:p>
        </p:txBody>
      </p:sp>
      <p:sp>
        <p:nvSpPr>
          <p:cNvPr id="22" name="圆角矩形">
            <a:extLst>
              <a:ext uri="{FF2B5EF4-FFF2-40B4-BE49-F238E27FC236}">
                <a16:creationId xmlns:a16="http://schemas.microsoft.com/office/drawing/2014/main" id="{24DDE7D5-BF1D-8427-669E-28ED14D24EB5}"/>
              </a:ext>
            </a:extLst>
          </p:cNvPr>
          <p:cNvSpPr/>
          <p:nvPr/>
        </p:nvSpPr>
        <p:spPr>
          <a:xfrm>
            <a:off x="3163831" y="2784946"/>
            <a:ext cx="1726992" cy="1247941"/>
          </a:xfrm>
          <a:prstGeom prst="roundRect">
            <a:avLst>
              <a:gd name="adj" fmla="val 4676"/>
            </a:avLst>
          </a:prstGeom>
          <a:ln w="12700">
            <a:solidFill>
              <a:srgbClr val="247BA3"/>
            </a:solidFill>
            <a:miter lim="400000"/>
          </a:ln>
        </p:spPr>
        <p:txBody>
          <a:bodyPr lIns="45719" rIns="45719" anchor="ctr"/>
          <a:lstStyle/>
          <a:p>
            <a:pPr>
              <a:defRPr>
                <a:solidFill>
                  <a:srgbClr val="FFFFFF"/>
                </a:solidFill>
              </a:defRPr>
            </a:pPr>
            <a:endParaRPr>
              <a:cs typeface="+mn-ea"/>
              <a:sym typeface="+mn-lt"/>
            </a:endParaRPr>
          </a:p>
        </p:txBody>
      </p:sp>
      <p:sp>
        <p:nvSpPr>
          <p:cNvPr id="23" name="圆角矩形">
            <a:extLst>
              <a:ext uri="{FF2B5EF4-FFF2-40B4-BE49-F238E27FC236}">
                <a16:creationId xmlns:a16="http://schemas.microsoft.com/office/drawing/2014/main" id="{191C9FAD-1280-BAEC-07C9-7BE41E259572}"/>
              </a:ext>
            </a:extLst>
          </p:cNvPr>
          <p:cNvSpPr/>
          <p:nvPr/>
        </p:nvSpPr>
        <p:spPr>
          <a:xfrm>
            <a:off x="3163831" y="4113343"/>
            <a:ext cx="1726992" cy="1247941"/>
          </a:xfrm>
          <a:prstGeom prst="roundRect">
            <a:avLst>
              <a:gd name="adj" fmla="val 4676"/>
            </a:avLst>
          </a:prstGeom>
          <a:ln w="12700">
            <a:solidFill>
              <a:srgbClr val="247BA3"/>
            </a:solidFill>
            <a:miter lim="400000"/>
          </a:ln>
        </p:spPr>
        <p:txBody>
          <a:bodyPr lIns="45719" rIns="45719" anchor="ctr"/>
          <a:lstStyle/>
          <a:p>
            <a:pPr>
              <a:defRPr>
                <a:solidFill>
                  <a:srgbClr val="FFFFFF"/>
                </a:solidFill>
              </a:defRPr>
            </a:pPr>
            <a:endParaRPr>
              <a:cs typeface="+mn-ea"/>
              <a:sym typeface="+mn-lt"/>
            </a:endParaRPr>
          </a:p>
        </p:txBody>
      </p:sp>
      <p:sp>
        <p:nvSpPr>
          <p:cNvPr id="24" name="圆角矩形">
            <a:extLst>
              <a:ext uri="{FF2B5EF4-FFF2-40B4-BE49-F238E27FC236}">
                <a16:creationId xmlns:a16="http://schemas.microsoft.com/office/drawing/2014/main" id="{37CC8CAC-E6BA-9E59-27CD-E91E7DCD7D73}"/>
              </a:ext>
            </a:extLst>
          </p:cNvPr>
          <p:cNvSpPr/>
          <p:nvPr/>
        </p:nvSpPr>
        <p:spPr>
          <a:xfrm>
            <a:off x="4933666" y="1456549"/>
            <a:ext cx="1726992" cy="1247941"/>
          </a:xfrm>
          <a:prstGeom prst="roundRect">
            <a:avLst>
              <a:gd name="adj" fmla="val 4676"/>
            </a:avLst>
          </a:prstGeom>
          <a:solidFill>
            <a:srgbClr val="929292">
              <a:alpha val="21970"/>
            </a:srgbClr>
          </a:solidFill>
          <a:ln w="25400">
            <a:solidFill>
              <a:srgbClr val="FF2600"/>
            </a:solidFill>
            <a:miter lim="400000"/>
          </a:ln>
        </p:spPr>
        <p:txBody>
          <a:bodyPr lIns="45719" rIns="45719" anchor="ctr"/>
          <a:lstStyle/>
          <a:p>
            <a:pPr>
              <a:defRPr>
                <a:solidFill>
                  <a:srgbClr val="FFFFFF"/>
                </a:solidFill>
              </a:defRPr>
            </a:pPr>
            <a:endParaRPr>
              <a:cs typeface="+mn-ea"/>
              <a:sym typeface="+mn-lt"/>
            </a:endParaRPr>
          </a:p>
        </p:txBody>
      </p:sp>
      <p:sp>
        <p:nvSpPr>
          <p:cNvPr id="25" name="圆角矩形">
            <a:extLst>
              <a:ext uri="{FF2B5EF4-FFF2-40B4-BE49-F238E27FC236}">
                <a16:creationId xmlns:a16="http://schemas.microsoft.com/office/drawing/2014/main" id="{B93E1D7F-8B33-AACD-5536-FFF149E31A65}"/>
              </a:ext>
            </a:extLst>
          </p:cNvPr>
          <p:cNvSpPr/>
          <p:nvPr/>
        </p:nvSpPr>
        <p:spPr>
          <a:xfrm>
            <a:off x="6689942" y="2784946"/>
            <a:ext cx="1726992" cy="3917255"/>
          </a:xfrm>
          <a:prstGeom prst="roundRect">
            <a:avLst>
              <a:gd name="adj" fmla="val 3379"/>
            </a:avLst>
          </a:prstGeom>
          <a:ln w="12700">
            <a:solidFill>
              <a:srgbClr val="247BA3"/>
            </a:solidFill>
            <a:miter lim="400000"/>
          </a:ln>
        </p:spPr>
        <p:txBody>
          <a:bodyPr lIns="45719" rIns="45719" anchor="ctr"/>
          <a:lstStyle/>
          <a:p>
            <a:pPr>
              <a:defRPr>
                <a:solidFill>
                  <a:srgbClr val="FFFFFF"/>
                </a:solidFill>
              </a:defRPr>
            </a:pPr>
            <a:endParaRPr>
              <a:cs typeface="+mn-ea"/>
              <a:sym typeface="+mn-lt"/>
            </a:endParaRPr>
          </a:p>
        </p:txBody>
      </p:sp>
      <p:sp>
        <p:nvSpPr>
          <p:cNvPr id="26" name="圆角矩形">
            <a:extLst>
              <a:ext uri="{FF2B5EF4-FFF2-40B4-BE49-F238E27FC236}">
                <a16:creationId xmlns:a16="http://schemas.microsoft.com/office/drawing/2014/main" id="{FDEC3622-2BD8-6A63-B4C3-0EE84BC83CDB}"/>
              </a:ext>
            </a:extLst>
          </p:cNvPr>
          <p:cNvSpPr/>
          <p:nvPr/>
        </p:nvSpPr>
        <p:spPr>
          <a:xfrm>
            <a:off x="8471618" y="1456549"/>
            <a:ext cx="1726992" cy="5242711"/>
          </a:xfrm>
          <a:prstGeom prst="roundRect">
            <a:avLst>
              <a:gd name="adj" fmla="val 3379"/>
            </a:avLst>
          </a:prstGeom>
          <a:ln w="12700">
            <a:solidFill>
              <a:srgbClr val="247BA3"/>
            </a:solidFill>
            <a:miter lim="400000"/>
          </a:ln>
        </p:spPr>
        <p:txBody>
          <a:bodyPr lIns="45719" rIns="45719" anchor="ctr"/>
          <a:lstStyle/>
          <a:p>
            <a:pPr>
              <a:defRPr>
                <a:solidFill>
                  <a:srgbClr val="FFFFFF"/>
                </a:solidFill>
              </a:defRPr>
            </a:pPr>
            <a:endParaRPr>
              <a:cs typeface="+mn-ea"/>
              <a:sym typeface="+mn-lt"/>
            </a:endParaRPr>
          </a:p>
        </p:txBody>
      </p:sp>
      <p:sp>
        <p:nvSpPr>
          <p:cNvPr id="27" name="圆角矩形">
            <a:extLst>
              <a:ext uri="{FF2B5EF4-FFF2-40B4-BE49-F238E27FC236}">
                <a16:creationId xmlns:a16="http://schemas.microsoft.com/office/drawing/2014/main" id="{1783FF78-FD17-91C1-9239-9A5B26763E99}"/>
              </a:ext>
            </a:extLst>
          </p:cNvPr>
          <p:cNvSpPr/>
          <p:nvPr/>
        </p:nvSpPr>
        <p:spPr>
          <a:xfrm>
            <a:off x="10294695" y="1456549"/>
            <a:ext cx="1726992" cy="5242711"/>
          </a:xfrm>
          <a:prstGeom prst="roundRect">
            <a:avLst>
              <a:gd name="adj" fmla="val 3379"/>
            </a:avLst>
          </a:prstGeom>
          <a:ln w="12700">
            <a:solidFill>
              <a:srgbClr val="247BA3"/>
            </a:solidFill>
            <a:miter lim="400000"/>
          </a:ln>
        </p:spPr>
        <p:txBody>
          <a:bodyPr lIns="45719" rIns="45719" anchor="ctr"/>
          <a:lstStyle/>
          <a:p>
            <a:pPr>
              <a:defRPr>
                <a:solidFill>
                  <a:srgbClr val="FFFFFF"/>
                </a:solidFill>
              </a:defRPr>
            </a:pPr>
            <a:endParaRPr>
              <a:cs typeface="+mn-ea"/>
              <a:sym typeface="+mn-lt"/>
            </a:endParaRPr>
          </a:p>
        </p:txBody>
      </p:sp>
      <p:pic>
        <p:nvPicPr>
          <p:cNvPr id="28" name="图像" descr="图像">
            <a:extLst>
              <a:ext uri="{FF2B5EF4-FFF2-40B4-BE49-F238E27FC236}">
                <a16:creationId xmlns:a16="http://schemas.microsoft.com/office/drawing/2014/main" id="{3AF9760E-1F13-0D7F-EEC4-13E6DC2ECD3F}"/>
              </a:ext>
            </a:extLst>
          </p:cNvPr>
          <p:cNvPicPr>
            <a:picLocks noChangeAspect="1"/>
          </p:cNvPicPr>
          <p:nvPr/>
        </p:nvPicPr>
        <p:blipFill>
          <a:blip r:embed="rId6"/>
          <a:stretch>
            <a:fillRect/>
          </a:stretch>
        </p:blipFill>
        <p:spPr>
          <a:xfrm>
            <a:off x="10759523" y="4683197"/>
            <a:ext cx="698501" cy="393701"/>
          </a:xfrm>
          <a:prstGeom prst="rect">
            <a:avLst/>
          </a:prstGeom>
          <a:ln w="12700">
            <a:miter lim="400000"/>
          </a:ln>
        </p:spPr>
      </p:pic>
      <p:pic>
        <p:nvPicPr>
          <p:cNvPr id="29" name="图像" descr="图像">
            <a:extLst>
              <a:ext uri="{FF2B5EF4-FFF2-40B4-BE49-F238E27FC236}">
                <a16:creationId xmlns:a16="http://schemas.microsoft.com/office/drawing/2014/main" id="{828E73D4-4482-0B53-EA2A-05E1F637A50D}"/>
              </a:ext>
            </a:extLst>
          </p:cNvPr>
          <p:cNvPicPr>
            <a:picLocks noChangeAspect="1"/>
          </p:cNvPicPr>
          <p:nvPr/>
        </p:nvPicPr>
        <p:blipFill>
          <a:blip r:embed="rId7"/>
          <a:stretch>
            <a:fillRect/>
          </a:stretch>
        </p:blipFill>
        <p:spPr>
          <a:xfrm>
            <a:off x="1473519" y="1634934"/>
            <a:ext cx="576840" cy="278120"/>
          </a:xfrm>
          <a:prstGeom prst="rect">
            <a:avLst/>
          </a:prstGeom>
          <a:ln w="12700">
            <a:miter lim="400000"/>
          </a:ln>
        </p:spPr>
      </p:pic>
      <p:pic>
        <p:nvPicPr>
          <p:cNvPr id="30" name="图像" descr="图像">
            <a:extLst>
              <a:ext uri="{FF2B5EF4-FFF2-40B4-BE49-F238E27FC236}">
                <a16:creationId xmlns:a16="http://schemas.microsoft.com/office/drawing/2014/main" id="{8286DFCC-2E46-CB35-91D5-3765271303B7}"/>
              </a:ext>
            </a:extLst>
          </p:cNvPr>
          <p:cNvPicPr>
            <a:picLocks noChangeAspect="1"/>
          </p:cNvPicPr>
          <p:nvPr/>
        </p:nvPicPr>
        <p:blipFill>
          <a:blip r:embed="rId7"/>
          <a:stretch>
            <a:fillRect/>
          </a:stretch>
        </p:blipFill>
        <p:spPr>
          <a:xfrm>
            <a:off x="1607880" y="4177291"/>
            <a:ext cx="576840" cy="278120"/>
          </a:xfrm>
          <a:prstGeom prst="rect">
            <a:avLst/>
          </a:prstGeom>
          <a:ln w="12700">
            <a:miter lim="400000"/>
          </a:ln>
        </p:spPr>
      </p:pic>
      <p:pic>
        <p:nvPicPr>
          <p:cNvPr id="31" name="图像" descr="图像">
            <a:extLst>
              <a:ext uri="{FF2B5EF4-FFF2-40B4-BE49-F238E27FC236}">
                <a16:creationId xmlns:a16="http://schemas.microsoft.com/office/drawing/2014/main" id="{960DA03A-CA0F-772B-00A8-5A3046876864}"/>
              </a:ext>
            </a:extLst>
          </p:cNvPr>
          <p:cNvPicPr>
            <a:picLocks noChangeAspect="1"/>
          </p:cNvPicPr>
          <p:nvPr/>
        </p:nvPicPr>
        <p:blipFill>
          <a:blip r:embed="rId8"/>
          <a:stretch>
            <a:fillRect/>
          </a:stretch>
        </p:blipFill>
        <p:spPr>
          <a:xfrm>
            <a:off x="6909031" y="2971082"/>
            <a:ext cx="419101" cy="241301"/>
          </a:xfrm>
          <a:prstGeom prst="rect">
            <a:avLst/>
          </a:prstGeom>
          <a:ln w="12700">
            <a:miter lim="400000"/>
          </a:ln>
        </p:spPr>
      </p:pic>
      <p:pic>
        <p:nvPicPr>
          <p:cNvPr id="32" name="图像" descr="图像">
            <a:extLst>
              <a:ext uri="{FF2B5EF4-FFF2-40B4-BE49-F238E27FC236}">
                <a16:creationId xmlns:a16="http://schemas.microsoft.com/office/drawing/2014/main" id="{A080EEA6-138A-1DA2-36E2-EBFBC56B1F0C}"/>
              </a:ext>
            </a:extLst>
          </p:cNvPr>
          <p:cNvPicPr>
            <a:picLocks noChangeAspect="1"/>
          </p:cNvPicPr>
          <p:nvPr/>
        </p:nvPicPr>
        <p:blipFill>
          <a:blip r:embed="rId9"/>
          <a:stretch>
            <a:fillRect/>
          </a:stretch>
        </p:blipFill>
        <p:spPr>
          <a:xfrm>
            <a:off x="1511619" y="2154616"/>
            <a:ext cx="540927" cy="292101"/>
          </a:xfrm>
          <a:prstGeom prst="rect">
            <a:avLst/>
          </a:prstGeom>
          <a:ln w="12700">
            <a:miter lim="400000"/>
          </a:ln>
        </p:spPr>
      </p:pic>
      <p:pic>
        <p:nvPicPr>
          <p:cNvPr id="33" name="图像" descr="图像">
            <a:extLst>
              <a:ext uri="{FF2B5EF4-FFF2-40B4-BE49-F238E27FC236}">
                <a16:creationId xmlns:a16="http://schemas.microsoft.com/office/drawing/2014/main" id="{4D942B19-8258-9A54-2C80-F777C1E320E6}"/>
              </a:ext>
            </a:extLst>
          </p:cNvPr>
          <p:cNvPicPr>
            <a:picLocks noChangeAspect="1"/>
          </p:cNvPicPr>
          <p:nvPr/>
        </p:nvPicPr>
        <p:blipFill>
          <a:blip r:embed="rId10"/>
          <a:stretch>
            <a:fillRect/>
          </a:stretch>
        </p:blipFill>
        <p:spPr>
          <a:xfrm>
            <a:off x="2166882" y="1545539"/>
            <a:ext cx="685801" cy="203201"/>
          </a:xfrm>
          <a:prstGeom prst="rect">
            <a:avLst/>
          </a:prstGeom>
          <a:ln w="12700">
            <a:miter lim="400000"/>
          </a:ln>
        </p:spPr>
      </p:pic>
      <p:pic>
        <p:nvPicPr>
          <p:cNvPr id="34" name="图像" descr="图像">
            <a:extLst>
              <a:ext uri="{FF2B5EF4-FFF2-40B4-BE49-F238E27FC236}">
                <a16:creationId xmlns:a16="http://schemas.microsoft.com/office/drawing/2014/main" id="{7AE3493F-CE17-705F-443A-439C885B8EC9}"/>
              </a:ext>
            </a:extLst>
          </p:cNvPr>
          <p:cNvPicPr>
            <a:picLocks noChangeAspect="1"/>
          </p:cNvPicPr>
          <p:nvPr/>
        </p:nvPicPr>
        <p:blipFill>
          <a:blip r:embed="rId11"/>
          <a:stretch>
            <a:fillRect/>
          </a:stretch>
        </p:blipFill>
        <p:spPr>
          <a:xfrm>
            <a:off x="2134787" y="2195899"/>
            <a:ext cx="355601" cy="355601"/>
          </a:xfrm>
          <a:prstGeom prst="rect">
            <a:avLst/>
          </a:prstGeom>
          <a:ln w="12700">
            <a:miter lim="400000"/>
          </a:ln>
        </p:spPr>
      </p:pic>
      <p:pic>
        <p:nvPicPr>
          <p:cNvPr id="35" name="图像" descr="图像">
            <a:extLst>
              <a:ext uri="{FF2B5EF4-FFF2-40B4-BE49-F238E27FC236}">
                <a16:creationId xmlns:a16="http://schemas.microsoft.com/office/drawing/2014/main" id="{315948E3-E925-3CA3-0E3E-06D37DDC4ACF}"/>
              </a:ext>
            </a:extLst>
          </p:cNvPr>
          <p:cNvPicPr>
            <a:picLocks noChangeAspect="1"/>
          </p:cNvPicPr>
          <p:nvPr/>
        </p:nvPicPr>
        <p:blipFill>
          <a:blip r:embed="rId12"/>
          <a:stretch>
            <a:fillRect/>
          </a:stretch>
        </p:blipFill>
        <p:spPr>
          <a:xfrm>
            <a:off x="3837005" y="4356962"/>
            <a:ext cx="622301" cy="139701"/>
          </a:xfrm>
          <a:prstGeom prst="rect">
            <a:avLst/>
          </a:prstGeom>
          <a:ln w="12700">
            <a:miter lim="400000"/>
          </a:ln>
        </p:spPr>
      </p:pic>
      <p:pic>
        <p:nvPicPr>
          <p:cNvPr id="36" name="图像" descr="图像">
            <a:extLst>
              <a:ext uri="{FF2B5EF4-FFF2-40B4-BE49-F238E27FC236}">
                <a16:creationId xmlns:a16="http://schemas.microsoft.com/office/drawing/2014/main" id="{8E558F5C-EA22-68EC-1915-B8C6432018DF}"/>
              </a:ext>
            </a:extLst>
          </p:cNvPr>
          <p:cNvPicPr>
            <a:picLocks noChangeAspect="1"/>
          </p:cNvPicPr>
          <p:nvPr/>
        </p:nvPicPr>
        <p:blipFill>
          <a:blip r:embed="rId13"/>
          <a:stretch>
            <a:fillRect/>
          </a:stretch>
        </p:blipFill>
        <p:spPr>
          <a:xfrm>
            <a:off x="3334341" y="4942625"/>
            <a:ext cx="419101" cy="215901"/>
          </a:xfrm>
          <a:prstGeom prst="rect">
            <a:avLst/>
          </a:prstGeom>
          <a:ln w="12700">
            <a:miter lim="400000"/>
          </a:ln>
        </p:spPr>
      </p:pic>
      <p:pic>
        <p:nvPicPr>
          <p:cNvPr id="37" name="图像" descr="图像">
            <a:extLst>
              <a:ext uri="{FF2B5EF4-FFF2-40B4-BE49-F238E27FC236}">
                <a16:creationId xmlns:a16="http://schemas.microsoft.com/office/drawing/2014/main" id="{AA7C27BF-7E9D-5A7E-B696-0A551174D40F}"/>
              </a:ext>
            </a:extLst>
          </p:cNvPr>
          <p:cNvPicPr>
            <a:picLocks noChangeAspect="1"/>
          </p:cNvPicPr>
          <p:nvPr/>
        </p:nvPicPr>
        <p:blipFill>
          <a:blip r:embed="rId14"/>
          <a:stretch>
            <a:fillRect/>
          </a:stretch>
        </p:blipFill>
        <p:spPr>
          <a:xfrm>
            <a:off x="3900327" y="2892313"/>
            <a:ext cx="254001" cy="279401"/>
          </a:xfrm>
          <a:prstGeom prst="rect">
            <a:avLst/>
          </a:prstGeom>
          <a:ln w="12700">
            <a:miter lim="400000"/>
          </a:ln>
        </p:spPr>
      </p:pic>
      <p:pic>
        <p:nvPicPr>
          <p:cNvPr id="38" name="图像" descr="图像">
            <a:extLst>
              <a:ext uri="{FF2B5EF4-FFF2-40B4-BE49-F238E27FC236}">
                <a16:creationId xmlns:a16="http://schemas.microsoft.com/office/drawing/2014/main" id="{992063A8-4ACB-B95C-8574-78150C2ADD2F}"/>
              </a:ext>
            </a:extLst>
          </p:cNvPr>
          <p:cNvPicPr>
            <a:picLocks noChangeAspect="1"/>
          </p:cNvPicPr>
          <p:nvPr/>
        </p:nvPicPr>
        <p:blipFill>
          <a:blip r:embed="rId13"/>
          <a:stretch>
            <a:fillRect/>
          </a:stretch>
        </p:blipFill>
        <p:spPr>
          <a:xfrm>
            <a:off x="3334341" y="3174357"/>
            <a:ext cx="419101" cy="215901"/>
          </a:xfrm>
          <a:prstGeom prst="rect">
            <a:avLst/>
          </a:prstGeom>
          <a:ln w="12700">
            <a:miter lim="400000"/>
          </a:ln>
        </p:spPr>
      </p:pic>
      <p:pic>
        <p:nvPicPr>
          <p:cNvPr id="39" name="图像" descr="图像">
            <a:extLst>
              <a:ext uri="{FF2B5EF4-FFF2-40B4-BE49-F238E27FC236}">
                <a16:creationId xmlns:a16="http://schemas.microsoft.com/office/drawing/2014/main" id="{A50B5F5A-0862-D0D3-C686-A18024E96B56}"/>
              </a:ext>
            </a:extLst>
          </p:cNvPr>
          <p:cNvPicPr>
            <a:picLocks noChangeAspect="1"/>
          </p:cNvPicPr>
          <p:nvPr/>
        </p:nvPicPr>
        <p:blipFill>
          <a:blip r:embed="rId7"/>
          <a:stretch>
            <a:fillRect/>
          </a:stretch>
        </p:blipFill>
        <p:spPr>
          <a:xfrm>
            <a:off x="2286146" y="3629223"/>
            <a:ext cx="711201" cy="342901"/>
          </a:xfrm>
          <a:prstGeom prst="rect">
            <a:avLst/>
          </a:prstGeom>
          <a:ln w="12700">
            <a:miter lim="400000"/>
          </a:ln>
        </p:spPr>
      </p:pic>
      <p:pic>
        <p:nvPicPr>
          <p:cNvPr id="40" name="图像" descr="图像">
            <a:extLst>
              <a:ext uri="{FF2B5EF4-FFF2-40B4-BE49-F238E27FC236}">
                <a16:creationId xmlns:a16="http://schemas.microsoft.com/office/drawing/2014/main" id="{7D044CB4-A90E-0579-DEDF-AB701C441263}"/>
              </a:ext>
            </a:extLst>
          </p:cNvPr>
          <p:cNvPicPr>
            <a:picLocks noChangeAspect="1"/>
          </p:cNvPicPr>
          <p:nvPr/>
        </p:nvPicPr>
        <p:blipFill>
          <a:blip r:embed="rId15"/>
          <a:stretch>
            <a:fillRect/>
          </a:stretch>
        </p:blipFill>
        <p:spPr>
          <a:xfrm>
            <a:off x="1534350" y="2932258"/>
            <a:ext cx="723901" cy="114301"/>
          </a:xfrm>
          <a:prstGeom prst="rect">
            <a:avLst/>
          </a:prstGeom>
          <a:ln w="12700">
            <a:miter lim="400000"/>
          </a:ln>
        </p:spPr>
      </p:pic>
      <p:pic>
        <p:nvPicPr>
          <p:cNvPr id="41" name="图像" descr="图像">
            <a:extLst>
              <a:ext uri="{FF2B5EF4-FFF2-40B4-BE49-F238E27FC236}">
                <a16:creationId xmlns:a16="http://schemas.microsoft.com/office/drawing/2014/main" id="{90B72798-09D8-414F-CC71-D9126A784EDE}"/>
              </a:ext>
            </a:extLst>
          </p:cNvPr>
          <p:cNvPicPr>
            <a:picLocks noChangeAspect="1"/>
          </p:cNvPicPr>
          <p:nvPr/>
        </p:nvPicPr>
        <p:blipFill>
          <a:blip r:embed="rId16"/>
          <a:stretch>
            <a:fillRect/>
          </a:stretch>
        </p:blipFill>
        <p:spPr>
          <a:xfrm>
            <a:off x="1407541" y="4515063"/>
            <a:ext cx="434653" cy="345747"/>
          </a:xfrm>
          <a:prstGeom prst="rect">
            <a:avLst/>
          </a:prstGeom>
          <a:ln w="12700">
            <a:miter lim="400000"/>
          </a:ln>
        </p:spPr>
      </p:pic>
      <p:pic>
        <p:nvPicPr>
          <p:cNvPr id="42" name="图像" descr="图像">
            <a:extLst>
              <a:ext uri="{FF2B5EF4-FFF2-40B4-BE49-F238E27FC236}">
                <a16:creationId xmlns:a16="http://schemas.microsoft.com/office/drawing/2014/main" id="{2C0062D5-D60A-3538-4F14-014269D6BB6F}"/>
              </a:ext>
            </a:extLst>
          </p:cNvPr>
          <p:cNvPicPr>
            <a:picLocks noChangeAspect="1"/>
          </p:cNvPicPr>
          <p:nvPr/>
        </p:nvPicPr>
        <p:blipFill>
          <a:blip r:embed="rId16"/>
          <a:stretch>
            <a:fillRect/>
          </a:stretch>
        </p:blipFill>
        <p:spPr>
          <a:xfrm>
            <a:off x="1564136" y="3667059"/>
            <a:ext cx="431075" cy="342901"/>
          </a:xfrm>
          <a:prstGeom prst="rect">
            <a:avLst/>
          </a:prstGeom>
          <a:ln w="12700">
            <a:miter lim="400000"/>
          </a:ln>
        </p:spPr>
      </p:pic>
      <p:pic>
        <p:nvPicPr>
          <p:cNvPr id="43" name="图像" descr="图像">
            <a:extLst>
              <a:ext uri="{FF2B5EF4-FFF2-40B4-BE49-F238E27FC236}">
                <a16:creationId xmlns:a16="http://schemas.microsoft.com/office/drawing/2014/main" id="{3493FA37-6997-F83C-D68B-351C97E43DEE}"/>
              </a:ext>
            </a:extLst>
          </p:cNvPr>
          <p:cNvPicPr>
            <a:picLocks noChangeAspect="1"/>
          </p:cNvPicPr>
          <p:nvPr/>
        </p:nvPicPr>
        <p:blipFill>
          <a:blip r:embed="rId16"/>
          <a:stretch>
            <a:fillRect/>
          </a:stretch>
        </p:blipFill>
        <p:spPr>
          <a:xfrm>
            <a:off x="2519746" y="2262214"/>
            <a:ext cx="558801" cy="444501"/>
          </a:xfrm>
          <a:prstGeom prst="rect">
            <a:avLst/>
          </a:prstGeom>
          <a:ln w="12700">
            <a:miter lim="400000"/>
          </a:ln>
        </p:spPr>
      </p:pic>
      <p:pic>
        <p:nvPicPr>
          <p:cNvPr id="44" name="图像" descr="图像">
            <a:extLst>
              <a:ext uri="{FF2B5EF4-FFF2-40B4-BE49-F238E27FC236}">
                <a16:creationId xmlns:a16="http://schemas.microsoft.com/office/drawing/2014/main" id="{8C657CA5-844E-D1D5-92E1-FD718DC6BF72}"/>
              </a:ext>
            </a:extLst>
          </p:cNvPr>
          <p:cNvPicPr>
            <a:picLocks noChangeAspect="1"/>
          </p:cNvPicPr>
          <p:nvPr/>
        </p:nvPicPr>
        <p:blipFill>
          <a:blip r:embed="rId11"/>
          <a:stretch>
            <a:fillRect/>
          </a:stretch>
        </p:blipFill>
        <p:spPr>
          <a:xfrm>
            <a:off x="9210113" y="1825121"/>
            <a:ext cx="418403" cy="418402"/>
          </a:xfrm>
          <a:prstGeom prst="rect">
            <a:avLst/>
          </a:prstGeom>
          <a:ln w="12700">
            <a:miter lim="400000"/>
          </a:ln>
        </p:spPr>
      </p:pic>
      <p:pic>
        <p:nvPicPr>
          <p:cNvPr id="45" name="图像" descr="图像">
            <a:extLst>
              <a:ext uri="{FF2B5EF4-FFF2-40B4-BE49-F238E27FC236}">
                <a16:creationId xmlns:a16="http://schemas.microsoft.com/office/drawing/2014/main" id="{4C609C41-B3FC-0AAD-EA5E-C9C2458F47AC}"/>
              </a:ext>
            </a:extLst>
          </p:cNvPr>
          <p:cNvPicPr>
            <a:picLocks noChangeAspect="1"/>
          </p:cNvPicPr>
          <p:nvPr/>
        </p:nvPicPr>
        <p:blipFill>
          <a:blip r:embed="rId16"/>
          <a:stretch>
            <a:fillRect/>
          </a:stretch>
        </p:blipFill>
        <p:spPr>
          <a:xfrm>
            <a:off x="9114570" y="2686201"/>
            <a:ext cx="604702" cy="481013"/>
          </a:xfrm>
          <a:prstGeom prst="rect">
            <a:avLst/>
          </a:prstGeom>
          <a:ln w="12700">
            <a:miter lim="400000"/>
          </a:ln>
        </p:spPr>
      </p:pic>
      <p:pic>
        <p:nvPicPr>
          <p:cNvPr id="46" name="图像" descr="图像">
            <a:extLst>
              <a:ext uri="{FF2B5EF4-FFF2-40B4-BE49-F238E27FC236}">
                <a16:creationId xmlns:a16="http://schemas.microsoft.com/office/drawing/2014/main" id="{588C1EBB-807B-6ECC-542E-9E036726EAF0}"/>
              </a:ext>
            </a:extLst>
          </p:cNvPr>
          <p:cNvPicPr>
            <a:picLocks noChangeAspect="1"/>
          </p:cNvPicPr>
          <p:nvPr/>
        </p:nvPicPr>
        <p:blipFill>
          <a:blip r:embed="rId17"/>
          <a:stretch>
            <a:fillRect/>
          </a:stretch>
        </p:blipFill>
        <p:spPr>
          <a:xfrm>
            <a:off x="9074021" y="3603475"/>
            <a:ext cx="685801" cy="355601"/>
          </a:xfrm>
          <a:prstGeom prst="rect">
            <a:avLst/>
          </a:prstGeom>
          <a:ln w="12700">
            <a:miter lim="400000"/>
          </a:ln>
        </p:spPr>
      </p:pic>
      <p:pic>
        <p:nvPicPr>
          <p:cNvPr id="47" name="图像" descr="图像">
            <a:extLst>
              <a:ext uri="{FF2B5EF4-FFF2-40B4-BE49-F238E27FC236}">
                <a16:creationId xmlns:a16="http://schemas.microsoft.com/office/drawing/2014/main" id="{87328D1E-0AFE-1E31-1E50-63CF3AA796B3}"/>
              </a:ext>
            </a:extLst>
          </p:cNvPr>
          <p:cNvPicPr>
            <a:picLocks noChangeAspect="1"/>
          </p:cNvPicPr>
          <p:nvPr/>
        </p:nvPicPr>
        <p:blipFill>
          <a:blip r:embed="rId18"/>
          <a:stretch>
            <a:fillRect/>
          </a:stretch>
        </p:blipFill>
        <p:spPr>
          <a:xfrm>
            <a:off x="9026688" y="4360582"/>
            <a:ext cx="765879" cy="236383"/>
          </a:xfrm>
          <a:prstGeom prst="rect">
            <a:avLst/>
          </a:prstGeom>
          <a:ln w="12700">
            <a:miter lim="400000"/>
          </a:ln>
        </p:spPr>
      </p:pic>
      <p:pic>
        <p:nvPicPr>
          <p:cNvPr id="48" name="图像" descr="图像">
            <a:extLst>
              <a:ext uri="{FF2B5EF4-FFF2-40B4-BE49-F238E27FC236}">
                <a16:creationId xmlns:a16="http://schemas.microsoft.com/office/drawing/2014/main" id="{D9F90C1C-BC4F-B5A9-47B7-C4EA68953BE0}"/>
              </a:ext>
            </a:extLst>
          </p:cNvPr>
          <p:cNvPicPr>
            <a:picLocks noChangeAspect="1"/>
          </p:cNvPicPr>
          <p:nvPr/>
        </p:nvPicPr>
        <p:blipFill>
          <a:blip r:embed="rId19"/>
          <a:stretch>
            <a:fillRect/>
          </a:stretch>
        </p:blipFill>
        <p:spPr>
          <a:xfrm>
            <a:off x="10759523" y="5517657"/>
            <a:ext cx="1016001" cy="304801"/>
          </a:xfrm>
          <a:prstGeom prst="rect">
            <a:avLst/>
          </a:prstGeom>
          <a:ln w="12700">
            <a:miter lim="400000"/>
          </a:ln>
        </p:spPr>
      </p:pic>
      <p:pic>
        <p:nvPicPr>
          <p:cNvPr id="49" name="图片 11" descr="图片 11">
            <a:extLst>
              <a:ext uri="{FF2B5EF4-FFF2-40B4-BE49-F238E27FC236}">
                <a16:creationId xmlns:a16="http://schemas.microsoft.com/office/drawing/2014/main" id="{7E128E1A-2EF7-3405-D471-3E5F7996F0C7}"/>
              </a:ext>
            </a:extLst>
          </p:cNvPr>
          <p:cNvPicPr>
            <a:picLocks noChangeAspect="1"/>
          </p:cNvPicPr>
          <p:nvPr/>
        </p:nvPicPr>
        <p:blipFill>
          <a:blip r:embed="rId20"/>
          <a:srcRect t="32043" r="50500"/>
          <a:stretch>
            <a:fillRect/>
          </a:stretch>
        </p:blipFill>
        <p:spPr>
          <a:xfrm>
            <a:off x="10624943" y="2463170"/>
            <a:ext cx="1009056" cy="241264"/>
          </a:xfrm>
          <a:prstGeom prst="rect">
            <a:avLst/>
          </a:prstGeom>
          <a:ln w="12700">
            <a:miter lim="400000"/>
          </a:ln>
        </p:spPr>
      </p:pic>
      <p:pic>
        <p:nvPicPr>
          <p:cNvPr id="50" name="图像" descr="图像">
            <a:extLst>
              <a:ext uri="{FF2B5EF4-FFF2-40B4-BE49-F238E27FC236}">
                <a16:creationId xmlns:a16="http://schemas.microsoft.com/office/drawing/2014/main" id="{53389874-574F-76D3-14C6-67A216C7D188}"/>
              </a:ext>
            </a:extLst>
          </p:cNvPr>
          <p:cNvPicPr>
            <a:picLocks noChangeAspect="1"/>
          </p:cNvPicPr>
          <p:nvPr/>
        </p:nvPicPr>
        <p:blipFill>
          <a:blip r:embed="rId21"/>
          <a:srcRect l="24586" t="23091" r="24586" b="23090"/>
          <a:stretch>
            <a:fillRect/>
          </a:stretch>
        </p:blipFill>
        <p:spPr>
          <a:xfrm>
            <a:off x="10902557" y="3136717"/>
            <a:ext cx="454179" cy="480915"/>
          </a:xfrm>
          <a:prstGeom prst="rect">
            <a:avLst/>
          </a:prstGeom>
          <a:ln w="12700">
            <a:miter lim="400000"/>
          </a:ln>
        </p:spPr>
      </p:pic>
      <p:pic>
        <p:nvPicPr>
          <p:cNvPr id="51" name="图像" descr="图像">
            <a:extLst>
              <a:ext uri="{FF2B5EF4-FFF2-40B4-BE49-F238E27FC236}">
                <a16:creationId xmlns:a16="http://schemas.microsoft.com/office/drawing/2014/main" id="{58EC1F7D-306C-A242-958F-88875368C3DF}"/>
              </a:ext>
            </a:extLst>
          </p:cNvPr>
          <p:cNvPicPr>
            <a:picLocks noChangeAspect="1"/>
          </p:cNvPicPr>
          <p:nvPr/>
        </p:nvPicPr>
        <p:blipFill>
          <a:blip r:embed="rId22"/>
          <a:srcRect t="29736" r="12" b="29739"/>
          <a:stretch>
            <a:fillRect/>
          </a:stretch>
        </p:blipFill>
        <p:spPr>
          <a:xfrm>
            <a:off x="8868904" y="5063009"/>
            <a:ext cx="1050132" cy="1905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720"/>
                </a:lnTo>
                <a:lnTo>
                  <a:pt x="4833" y="675"/>
                </a:lnTo>
                <a:cubicBezTo>
                  <a:pt x="9972" y="641"/>
                  <a:pt x="10201" y="641"/>
                  <a:pt x="9273" y="1170"/>
                </a:cubicBezTo>
                <a:cubicBezTo>
                  <a:pt x="8796" y="1442"/>
                  <a:pt x="8070" y="2136"/>
                  <a:pt x="7649" y="2700"/>
                </a:cubicBezTo>
                <a:lnTo>
                  <a:pt x="7322" y="3150"/>
                </a:lnTo>
                <a:lnTo>
                  <a:pt x="7273" y="4545"/>
                </a:lnTo>
                <a:cubicBezTo>
                  <a:pt x="7246" y="5330"/>
                  <a:pt x="7228" y="6003"/>
                  <a:pt x="7233" y="6030"/>
                </a:cubicBezTo>
                <a:cubicBezTo>
                  <a:pt x="7238" y="6057"/>
                  <a:pt x="7337" y="5912"/>
                  <a:pt x="7453" y="5715"/>
                </a:cubicBezTo>
                <a:cubicBezTo>
                  <a:pt x="7705" y="5288"/>
                  <a:pt x="8349" y="4372"/>
                  <a:pt x="8710" y="3915"/>
                </a:cubicBezTo>
                <a:cubicBezTo>
                  <a:pt x="9240" y="3245"/>
                  <a:pt x="10440" y="2136"/>
                  <a:pt x="10857" y="1935"/>
                </a:cubicBezTo>
                <a:cubicBezTo>
                  <a:pt x="10944" y="1893"/>
                  <a:pt x="11171" y="1765"/>
                  <a:pt x="11363" y="1665"/>
                </a:cubicBezTo>
                <a:cubicBezTo>
                  <a:pt x="11555" y="1565"/>
                  <a:pt x="11877" y="1486"/>
                  <a:pt x="12082" y="1440"/>
                </a:cubicBezTo>
                <a:cubicBezTo>
                  <a:pt x="12465" y="1354"/>
                  <a:pt x="12478" y="1247"/>
                  <a:pt x="12131" y="1035"/>
                </a:cubicBezTo>
                <a:cubicBezTo>
                  <a:pt x="12050" y="986"/>
                  <a:pt x="11984" y="878"/>
                  <a:pt x="11984" y="810"/>
                </a:cubicBezTo>
                <a:cubicBezTo>
                  <a:pt x="11984" y="687"/>
                  <a:pt x="13463" y="557"/>
                  <a:pt x="13518" y="675"/>
                </a:cubicBezTo>
                <a:cubicBezTo>
                  <a:pt x="13537" y="714"/>
                  <a:pt x="13531" y="980"/>
                  <a:pt x="13494" y="1485"/>
                </a:cubicBezTo>
                <a:cubicBezTo>
                  <a:pt x="13465" y="1882"/>
                  <a:pt x="13399" y="2709"/>
                  <a:pt x="13355" y="3375"/>
                </a:cubicBezTo>
                <a:lnTo>
                  <a:pt x="13282" y="4590"/>
                </a:lnTo>
                <a:lnTo>
                  <a:pt x="13992" y="4590"/>
                </a:lnTo>
                <a:lnTo>
                  <a:pt x="14702" y="4545"/>
                </a:lnTo>
                <a:lnTo>
                  <a:pt x="14727" y="3780"/>
                </a:lnTo>
                <a:cubicBezTo>
                  <a:pt x="14776" y="2490"/>
                  <a:pt x="14823" y="2648"/>
                  <a:pt x="14318" y="2610"/>
                </a:cubicBezTo>
                <a:cubicBezTo>
                  <a:pt x="13809" y="2571"/>
                  <a:pt x="13839" y="2644"/>
                  <a:pt x="13943" y="1350"/>
                </a:cubicBezTo>
                <a:lnTo>
                  <a:pt x="14000" y="630"/>
                </a:lnTo>
                <a:lnTo>
                  <a:pt x="14694" y="630"/>
                </a:lnTo>
                <a:cubicBezTo>
                  <a:pt x="15076" y="630"/>
                  <a:pt x="15390" y="642"/>
                  <a:pt x="15396" y="675"/>
                </a:cubicBezTo>
                <a:cubicBezTo>
                  <a:pt x="15405" y="727"/>
                  <a:pt x="15389" y="1519"/>
                  <a:pt x="15339" y="3105"/>
                </a:cubicBezTo>
                <a:lnTo>
                  <a:pt x="15322" y="3510"/>
                </a:lnTo>
                <a:lnTo>
                  <a:pt x="15543" y="3510"/>
                </a:lnTo>
                <a:lnTo>
                  <a:pt x="15771" y="3510"/>
                </a:lnTo>
                <a:lnTo>
                  <a:pt x="15837" y="2115"/>
                </a:lnTo>
                <a:lnTo>
                  <a:pt x="15902" y="720"/>
                </a:lnTo>
                <a:lnTo>
                  <a:pt x="16082" y="675"/>
                </a:lnTo>
                <a:cubicBezTo>
                  <a:pt x="16179" y="655"/>
                  <a:pt x="16266" y="656"/>
                  <a:pt x="16278" y="720"/>
                </a:cubicBezTo>
                <a:cubicBezTo>
                  <a:pt x="16291" y="792"/>
                  <a:pt x="16273" y="1340"/>
                  <a:pt x="16237" y="2115"/>
                </a:cubicBezTo>
                <a:cubicBezTo>
                  <a:pt x="16205" y="2800"/>
                  <a:pt x="16180" y="3381"/>
                  <a:pt x="16180" y="3420"/>
                </a:cubicBezTo>
                <a:cubicBezTo>
                  <a:pt x="16180" y="3459"/>
                  <a:pt x="16291" y="3466"/>
                  <a:pt x="16424" y="3465"/>
                </a:cubicBezTo>
                <a:lnTo>
                  <a:pt x="16661" y="3465"/>
                </a:lnTo>
                <a:lnTo>
                  <a:pt x="16751" y="2070"/>
                </a:lnTo>
                <a:lnTo>
                  <a:pt x="16841" y="720"/>
                </a:lnTo>
                <a:lnTo>
                  <a:pt x="17551" y="720"/>
                </a:lnTo>
                <a:lnTo>
                  <a:pt x="18261" y="720"/>
                </a:lnTo>
                <a:lnTo>
                  <a:pt x="18253" y="990"/>
                </a:lnTo>
                <a:cubicBezTo>
                  <a:pt x="18249" y="1159"/>
                  <a:pt x="18235" y="1518"/>
                  <a:pt x="18220" y="1755"/>
                </a:cubicBezTo>
                <a:cubicBezTo>
                  <a:pt x="18191" y="2242"/>
                  <a:pt x="18222" y="2147"/>
                  <a:pt x="17722" y="2745"/>
                </a:cubicBezTo>
                <a:cubicBezTo>
                  <a:pt x="17540" y="2963"/>
                  <a:pt x="17380" y="3210"/>
                  <a:pt x="17363" y="3285"/>
                </a:cubicBezTo>
                <a:cubicBezTo>
                  <a:pt x="17337" y="3403"/>
                  <a:pt x="17241" y="5177"/>
                  <a:pt x="17241" y="5535"/>
                </a:cubicBezTo>
                <a:cubicBezTo>
                  <a:pt x="17241" y="5606"/>
                  <a:pt x="17395" y="5430"/>
                  <a:pt x="17584" y="5130"/>
                </a:cubicBezTo>
                <a:cubicBezTo>
                  <a:pt x="17964" y="4526"/>
                  <a:pt x="18086" y="4428"/>
                  <a:pt x="18073" y="4725"/>
                </a:cubicBezTo>
                <a:cubicBezTo>
                  <a:pt x="18069" y="4827"/>
                  <a:pt x="18048" y="5418"/>
                  <a:pt x="18024" y="6030"/>
                </a:cubicBezTo>
                <a:cubicBezTo>
                  <a:pt x="18001" y="6642"/>
                  <a:pt x="17966" y="7213"/>
                  <a:pt x="17951" y="7290"/>
                </a:cubicBezTo>
                <a:cubicBezTo>
                  <a:pt x="17936" y="7367"/>
                  <a:pt x="17796" y="7614"/>
                  <a:pt x="17641" y="7875"/>
                </a:cubicBezTo>
                <a:cubicBezTo>
                  <a:pt x="17486" y="8136"/>
                  <a:pt x="17353" y="8432"/>
                  <a:pt x="17339" y="8505"/>
                </a:cubicBezTo>
                <a:cubicBezTo>
                  <a:pt x="17311" y="8649"/>
                  <a:pt x="17207" y="10930"/>
                  <a:pt x="17224" y="11025"/>
                </a:cubicBezTo>
                <a:cubicBezTo>
                  <a:pt x="17230" y="11057"/>
                  <a:pt x="17362" y="10846"/>
                  <a:pt x="17518" y="10575"/>
                </a:cubicBezTo>
                <a:cubicBezTo>
                  <a:pt x="17674" y="10304"/>
                  <a:pt x="17807" y="10121"/>
                  <a:pt x="17812" y="10170"/>
                </a:cubicBezTo>
                <a:cubicBezTo>
                  <a:pt x="17818" y="10219"/>
                  <a:pt x="17785" y="11143"/>
                  <a:pt x="17739" y="12195"/>
                </a:cubicBezTo>
                <a:lnTo>
                  <a:pt x="17649" y="14085"/>
                </a:lnTo>
                <a:lnTo>
                  <a:pt x="17314" y="14130"/>
                </a:lnTo>
                <a:lnTo>
                  <a:pt x="16980" y="14220"/>
                </a:lnTo>
                <a:lnTo>
                  <a:pt x="16931" y="15300"/>
                </a:lnTo>
                <a:lnTo>
                  <a:pt x="16882" y="16380"/>
                </a:lnTo>
                <a:lnTo>
                  <a:pt x="17388" y="16380"/>
                </a:lnTo>
                <a:cubicBezTo>
                  <a:pt x="17937" y="16380"/>
                  <a:pt x="18010" y="16307"/>
                  <a:pt x="18082" y="15705"/>
                </a:cubicBezTo>
                <a:cubicBezTo>
                  <a:pt x="18103" y="15527"/>
                  <a:pt x="18234" y="12848"/>
                  <a:pt x="18376" y="9765"/>
                </a:cubicBezTo>
                <a:cubicBezTo>
                  <a:pt x="18517" y="6682"/>
                  <a:pt x="18653" y="4059"/>
                  <a:pt x="18669" y="3915"/>
                </a:cubicBezTo>
                <a:cubicBezTo>
                  <a:pt x="18693" y="3711"/>
                  <a:pt x="18737" y="3625"/>
                  <a:pt x="18873" y="3510"/>
                </a:cubicBezTo>
                <a:cubicBezTo>
                  <a:pt x="19498" y="2984"/>
                  <a:pt x="19798" y="2743"/>
                  <a:pt x="19820" y="2790"/>
                </a:cubicBezTo>
                <a:cubicBezTo>
                  <a:pt x="19849" y="2848"/>
                  <a:pt x="19823" y="3674"/>
                  <a:pt x="19788" y="3870"/>
                </a:cubicBezTo>
                <a:cubicBezTo>
                  <a:pt x="19777" y="3928"/>
                  <a:pt x="19585" y="3986"/>
                  <a:pt x="19363" y="4005"/>
                </a:cubicBezTo>
                <a:lnTo>
                  <a:pt x="18963" y="4050"/>
                </a:lnTo>
                <a:lnTo>
                  <a:pt x="18947" y="4365"/>
                </a:lnTo>
                <a:cubicBezTo>
                  <a:pt x="18939" y="4535"/>
                  <a:pt x="18923" y="4874"/>
                  <a:pt x="18914" y="5130"/>
                </a:cubicBezTo>
                <a:lnTo>
                  <a:pt x="18898" y="5580"/>
                </a:lnTo>
                <a:lnTo>
                  <a:pt x="19306" y="5580"/>
                </a:lnTo>
                <a:cubicBezTo>
                  <a:pt x="19529" y="5580"/>
                  <a:pt x="19717" y="5618"/>
                  <a:pt x="19722" y="5670"/>
                </a:cubicBezTo>
                <a:cubicBezTo>
                  <a:pt x="19728" y="5722"/>
                  <a:pt x="19715" y="5946"/>
                  <a:pt x="19698" y="6165"/>
                </a:cubicBezTo>
                <a:lnTo>
                  <a:pt x="19673" y="6570"/>
                </a:lnTo>
                <a:lnTo>
                  <a:pt x="19257" y="6615"/>
                </a:lnTo>
                <a:lnTo>
                  <a:pt x="18849" y="6660"/>
                </a:lnTo>
                <a:lnTo>
                  <a:pt x="18824" y="7155"/>
                </a:lnTo>
                <a:cubicBezTo>
                  <a:pt x="18810" y="7428"/>
                  <a:pt x="18792" y="7778"/>
                  <a:pt x="18784" y="7965"/>
                </a:cubicBezTo>
                <a:lnTo>
                  <a:pt x="18767" y="8325"/>
                </a:lnTo>
                <a:lnTo>
                  <a:pt x="19176" y="8325"/>
                </a:lnTo>
                <a:cubicBezTo>
                  <a:pt x="19517" y="8325"/>
                  <a:pt x="19581" y="8347"/>
                  <a:pt x="19592" y="8505"/>
                </a:cubicBezTo>
                <a:cubicBezTo>
                  <a:pt x="19599" y="8608"/>
                  <a:pt x="19591" y="8764"/>
                  <a:pt x="19576" y="8865"/>
                </a:cubicBezTo>
                <a:cubicBezTo>
                  <a:pt x="19553" y="9016"/>
                  <a:pt x="19471" y="9045"/>
                  <a:pt x="19135" y="9045"/>
                </a:cubicBezTo>
                <a:lnTo>
                  <a:pt x="18727" y="9045"/>
                </a:lnTo>
                <a:lnTo>
                  <a:pt x="18694" y="9855"/>
                </a:lnTo>
                <a:cubicBezTo>
                  <a:pt x="18674" y="10295"/>
                  <a:pt x="18653" y="10674"/>
                  <a:pt x="18653" y="10710"/>
                </a:cubicBezTo>
                <a:cubicBezTo>
                  <a:pt x="18653" y="10746"/>
                  <a:pt x="18844" y="10826"/>
                  <a:pt x="19069" y="10845"/>
                </a:cubicBezTo>
                <a:lnTo>
                  <a:pt x="19478" y="10845"/>
                </a:lnTo>
                <a:lnTo>
                  <a:pt x="19478" y="11160"/>
                </a:lnTo>
                <a:cubicBezTo>
                  <a:pt x="19478" y="11319"/>
                  <a:pt x="19453" y="12052"/>
                  <a:pt x="19420" y="12780"/>
                </a:cubicBezTo>
                <a:cubicBezTo>
                  <a:pt x="19365" y="14029"/>
                  <a:pt x="19357" y="14070"/>
                  <a:pt x="19306" y="14040"/>
                </a:cubicBezTo>
                <a:cubicBezTo>
                  <a:pt x="19276" y="14023"/>
                  <a:pt x="19215" y="13777"/>
                  <a:pt x="19167" y="13500"/>
                </a:cubicBezTo>
                <a:cubicBezTo>
                  <a:pt x="19078" y="12982"/>
                  <a:pt x="19069" y="12798"/>
                  <a:pt x="19118" y="11880"/>
                </a:cubicBezTo>
                <a:cubicBezTo>
                  <a:pt x="19129" y="11682"/>
                  <a:pt x="19108" y="11655"/>
                  <a:pt x="18873" y="11655"/>
                </a:cubicBezTo>
                <a:lnTo>
                  <a:pt x="18620" y="11655"/>
                </a:lnTo>
                <a:lnTo>
                  <a:pt x="18514" y="13860"/>
                </a:lnTo>
                <a:cubicBezTo>
                  <a:pt x="18457" y="15077"/>
                  <a:pt x="18408" y="16167"/>
                  <a:pt x="18408" y="16245"/>
                </a:cubicBezTo>
                <a:cubicBezTo>
                  <a:pt x="18408" y="16344"/>
                  <a:pt x="18481" y="16380"/>
                  <a:pt x="18653" y="16380"/>
                </a:cubicBezTo>
                <a:cubicBezTo>
                  <a:pt x="18898" y="16380"/>
                  <a:pt x="18901" y="16377"/>
                  <a:pt x="18922" y="16065"/>
                </a:cubicBezTo>
                <a:lnTo>
                  <a:pt x="18947" y="15750"/>
                </a:lnTo>
                <a:lnTo>
                  <a:pt x="19045" y="16065"/>
                </a:lnTo>
                <a:lnTo>
                  <a:pt x="19143" y="16380"/>
                </a:lnTo>
                <a:lnTo>
                  <a:pt x="19959" y="16335"/>
                </a:lnTo>
                <a:lnTo>
                  <a:pt x="20776" y="16335"/>
                </a:lnTo>
                <a:lnTo>
                  <a:pt x="20816" y="15525"/>
                </a:lnTo>
                <a:cubicBezTo>
                  <a:pt x="20837" y="15082"/>
                  <a:pt x="20867" y="14598"/>
                  <a:pt x="20882" y="14445"/>
                </a:cubicBezTo>
                <a:lnTo>
                  <a:pt x="20906" y="14130"/>
                </a:lnTo>
                <a:lnTo>
                  <a:pt x="20400" y="14130"/>
                </a:lnTo>
                <a:cubicBezTo>
                  <a:pt x="20118" y="14130"/>
                  <a:pt x="19893" y="14103"/>
                  <a:pt x="19886" y="14040"/>
                </a:cubicBezTo>
                <a:cubicBezTo>
                  <a:pt x="19879" y="13978"/>
                  <a:pt x="19882" y="13764"/>
                  <a:pt x="19894" y="13590"/>
                </a:cubicBezTo>
                <a:lnTo>
                  <a:pt x="19910" y="13275"/>
                </a:lnTo>
                <a:lnTo>
                  <a:pt x="20269" y="13275"/>
                </a:lnTo>
                <a:lnTo>
                  <a:pt x="20620" y="13230"/>
                </a:lnTo>
                <a:lnTo>
                  <a:pt x="20661" y="12465"/>
                </a:lnTo>
                <a:lnTo>
                  <a:pt x="20694" y="11745"/>
                </a:lnTo>
                <a:lnTo>
                  <a:pt x="20343" y="11655"/>
                </a:lnTo>
                <a:cubicBezTo>
                  <a:pt x="20012" y="11596"/>
                  <a:pt x="19993" y="11574"/>
                  <a:pt x="19992" y="11340"/>
                </a:cubicBezTo>
                <a:cubicBezTo>
                  <a:pt x="19988" y="10689"/>
                  <a:pt x="20004" y="10665"/>
                  <a:pt x="20359" y="10665"/>
                </a:cubicBezTo>
                <a:cubicBezTo>
                  <a:pt x="20781" y="10664"/>
                  <a:pt x="20810" y="10585"/>
                  <a:pt x="20890" y="9270"/>
                </a:cubicBezTo>
                <a:cubicBezTo>
                  <a:pt x="20944" y="8374"/>
                  <a:pt x="20943" y="8386"/>
                  <a:pt x="21029" y="8325"/>
                </a:cubicBezTo>
                <a:cubicBezTo>
                  <a:pt x="21111" y="8266"/>
                  <a:pt x="21115" y="8241"/>
                  <a:pt x="21143" y="7650"/>
                </a:cubicBezTo>
                <a:cubicBezTo>
                  <a:pt x="21188" y="6690"/>
                  <a:pt x="21185" y="6480"/>
                  <a:pt x="21118" y="6480"/>
                </a:cubicBezTo>
                <a:cubicBezTo>
                  <a:pt x="21087" y="6480"/>
                  <a:pt x="21059" y="6389"/>
                  <a:pt x="21053" y="6300"/>
                </a:cubicBezTo>
                <a:cubicBezTo>
                  <a:pt x="21047" y="6211"/>
                  <a:pt x="21061" y="5661"/>
                  <a:pt x="21086" y="5085"/>
                </a:cubicBezTo>
                <a:cubicBezTo>
                  <a:pt x="21111" y="4509"/>
                  <a:pt x="21126" y="4011"/>
                  <a:pt x="21127" y="3960"/>
                </a:cubicBezTo>
                <a:cubicBezTo>
                  <a:pt x="21127" y="3909"/>
                  <a:pt x="20951" y="3870"/>
                  <a:pt x="20735" y="3870"/>
                </a:cubicBezTo>
                <a:cubicBezTo>
                  <a:pt x="20504" y="3870"/>
                  <a:pt x="20343" y="3806"/>
                  <a:pt x="20335" y="3735"/>
                </a:cubicBezTo>
                <a:cubicBezTo>
                  <a:pt x="20311" y="3522"/>
                  <a:pt x="20362" y="2611"/>
                  <a:pt x="20408" y="2475"/>
                </a:cubicBezTo>
                <a:cubicBezTo>
                  <a:pt x="20435" y="2395"/>
                  <a:pt x="20677" y="2356"/>
                  <a:pt x="21029" y="2340"/>
                </a:cubicBezTo>
                <a:lnTo>
                  <a:pt x="21600" y="2295"/>
                </a:lnTo>
                <a:lnTo>
                  <a:pt x="21600" y="0"/>
                </a:lnTo>
                <a:lnTo>
                  <a:pt x="0" y="0"/>
                </a:lnTo>
                <a:close/>
                <a:moveTo>
                  <a:pt x="2049" y="1260"/>
                </a:moveTo>
                <a:lnTo>
                  <a:pt x="784" y="1305"/>
                </a:lnTo>
                <a:lnTo>
                  <a:pt x="694" y="2385"/>
                </a:lnTo>
                <a:lnTo>
                  <a:pt x="612" y="3420"/>
                </a:lnTo>
                <a:lnTo>
                  <a:pt x="1853" y="3510"/>
                </a:lnTo>
                <a:cubicBezTo>
                  <a:pt x="3228" y="3579"/>
                  <a:pt x="3187" y="3511"/>
                  <a:pt x="3347" y="4365"/>
                </a:cubicBezTo>
                <a:cubicBezTo>
                  <a:pt x="3405" y="4673"/>
                  <a:pt x="3420" y="4887"/>
                  <a:pt x="3420" y="5265"/>
                </a:cubicBezTo>
                <a:cubicBezTo>
                  <a:pt x="3420" y="5669"/>
                  <a:pt x="3399" y="5848"/>
                  <a:pt x="3306" y="6390"/>
                </a:cubicBezTo>
                <a:cubicBezTo>
                  <a:pt x="3117" y="7489"/>
                  <a:pt x="2815" y="8347"/>
                  <a:pt x="2212" y="9450"/>
                </a:cubicBezTo>
                <a:lnTo>
                  <a:pt x="1886" y="10035"/>
                </a:lnTo>
                <a:lnTo>
                  <a:pt x="2376" y="12645"/>
                </a:lnTo>
                <a:lnTo>
                  <a:pt x="2865" y="15255"/>
                </a:lnTo>
                <a:lnTo>
                  <a:pt x="3404" y="15255"/>
                </a:lnTo>
                <a:cubicBezTo>
                  <a:pt x="3754" y="15258"/>
                  <a:pt x="3935" y="15203"/>
                  <a:pt x="3935" y="15120"/>
                </a:cubicBezTo>
                <a:cubicBezTo>
                  <a:pt x="3935" y="14895"/>
                  <a:pt x="3463" y="12407"/>
                  <a:pt x="3200" y="11250"/>
                </a:cubicBezTo>
                <a:cubicBezTo>
                  <a:pt x="3060" y="10632"/>
                  <a:pt x="2953" y="10092"/>
                  <a:pt x="2963" y="10035"/>
                </a:cubicBezTo>
                <a:cubicBezTo>
                  <a:pt x="2974" y="9978"/>
                  <a:pt x="3061" y="9879"/>
                  <a:pt x="3159" y="9810"/>
                </a:cubicBezTo>
                <a:cubicBezTo>
                  <a:pt x="3646" y="9471"/>
                  <a:pt x="4033" y="8321"/>
                  <a:pt x="4196" y="6705"/>
                </a:cubicBezTo>
                <a:cubicBezTo>
                  <a:pt x="4255" y="6116"/>
                  <a:pt x="4261" y="5931"/>
                  <a:pt x="4261" y="4995"/>
                </a:cubicBezTo>
                <a:cubicBezTo>
                  <a:pt x="4261" y="4065"/>
                  <a:pt x="4253" y="3855"/>
                  <a:pt x="4196" y="3285"/>
                </a:cubicBezTo>
                <a:cubicBezTo>
                  <a:pt x="4086" y="2189"/>
                  <a:pt x="3883" y="1619"/>
                  <a:pt x="3527" y="1395"/>
                </a:cubicBezTo>
                <a:cubicBezTo>
                  <a:pt x="3429" y="1334"/>
                  <a:pt x="3092" y="1264"/>
                  <a:pt x="2596" y="1260"/>
                </a:cubicBezTo>
                <a:cubicBezTo>
                  <a:pt x="2430" y="1259"/>
                  <a:pt x="2247" y="1254"/>
                  <a:pt x="2049" y="1260"/>
                </a:cubicBezTo>
                <a:close/>
                <a:moveTo>
                  <a:pt x="14996" y="4095"/>
                </a:moveTo>
                <a:lnTo>
                  <a:pt x="14922" y="5895"/>
                </a:lnTo>
                <a:cubicBezTo>
                  <a:pt x="14835" y="7965"/>
                  <a:pt x="14743" y="10416"/>
                  <a:pt x="14743" y="10575"/>
                </a:cubicBezTo>
                <a:cubicBezTo>
                  <a:pt x="14743" y="10637"/>
                  <a:pt x="14955" y="10665"/>
                  <a:pt x="15224" y="10665"/>
                </a:cubicBezTo>
                <a:cubicBezTo>
                  <a:pt x="15490" y="10665"/>
                  <a:pt x="15708" y="10700"/>
                  <a:pt x="15714" y="10755"/>
                </a:cubicBezTo>
                <a:cubicBezTo>
                  <a:pt x="15720" y="10810"/>
                  <a:pt x="15717" y="11116"/>
                  <a:pt x="15706" y="11385"/>
                </a:cubicBezTo>
                <a:cubicBezTo>
                  <a:pt x="15695" y="11654"/>
                  <a:pt x="15680" y="12020"/>
                  <a:pt x="15673" y="12240"/>
                </a:cubicBezTo>
                <a:cubicBezTo>
                  <a:pt x="15666" y="12460"/>
                  <a:pt x="15639" y="13250"/>
                  <a:pt x="15608" y="13950"/>
                </a:cubicBezTo>
                <a:cubicBezTo>
                  <a:pt x="15541" y="15478"/>
                  <a:pt x="15537" y="16069"/>
                  <a:pt x="15592" y="16245"/>
                </a:cubicBezTo>
                <a:cubicBezTo>
                  <a:pt x="15615" y="16321"/>
                  <a:pt x="15844" y="16378"/>
                  <a:pt x="16163" y="16380"/>
                </a:cubicBezTo>
                <a:lnTo>
                  <a:pt x="16694" y="16380"/>
                </a:lnTo>
                <a:lnTo>
                  <a:pt x="16735" y="15480"/>
                </a:lnTo>
                <a:cubicBezTo>
                  <a:pt x="16756" y="14986"/>
                  <a:pt x="16789" y="14474"/>
                  <a:pt x="16808" y="14355"/>
                </a:cubicBezTo>
                <a:cubicBezTo>
                  <a:pt x="16841" y="14150"/>
                  <a:pt x="16820" y="14130"/>
                  <a:pt x="16498" y="14130"/>
                </a:cubicBezTo>
                <a:cubicBezTo>
                  <a:pt x="16311" y="14130"/>
                  <a:pt x="16152" y="14091"/>
                  <a:pt x="16147" y="14040"/>
                </a:cubicBezTo>
                <a:cubicBezTo>
                  <a:pt x="16132" y="13902"/>
                  <a:pt x="16251" y="11026"/>
                  <a:pt x="16278" y="10845"/>
                </a:cubicBezTo>
                <a:cubicBezTo>
                  <a:pt x="16291" y="10752"/>
                  <a:pt x="16350" y="10665"/>
                  <a:pt x="16433" y="10665"/>
                </a:cubicBezTo>
                <a:cubicBezTo>
                  <a:pt x="16615" y="10664"/>
                  <a:pt x="16718" y="10502"/>
                  <a:pt x="16792" y="10080"/>
                </a:cubicBezTo>
                <a:cubicBezTo>
                  <a:pt x="16842" y="9790"/>
                  <a:pt x="16869" y="9432"/>
                  <a:pt x="16922" y="7965"/>
                </a:cubicBezTo>
                <a:cubicBezTo>
                  <a:pt x="16965" y="6801"/>
                  <a:pt x="16972" y="6211"/>
                  <a:pt x="16955" y="6210"/>
                </a:cubicBezTo>
                <a:cubicBezTo>
                  <a:pt x="16926" y="6209"/>
                  <a:pt x="16512" y="6864"/>
                  <a:pt x="16498" y="6930"/>
                </a:cubicBezTo>
                <a:cubicBezTo>
                  <a:pt x="16493" y="6954"/>
                  <a:pt x="16469" y="7392"/>
                  <a:pt x="16449" y="7920"/>
                </a:cubicBezTo>
                <a:lnTo>
                  <a:pt x="16416" y="8865"/>
                </a:lnTo>
                <a:lnTo>
                  <a:pt x="15829" y="8955"/>
                </a:lnTo>
                <a:cubicBezTo>
                  <a:pt x="15427" y="8999"/>
                  <a:pt x="15229" y="9071"/>
                  <a:pt x="15184" y="9180"/>
                </a:cubicBezTo>
                <a:cubicBezTo>
                  <a:pt x="15141" y="9282"/>
                  <a:pt x="15108" y="9302"/>
                  <a:pt x="15094" y="9225"/>
                </a:cubicBezTo>
                <a:cubicBezTo>
                  <a:pt x="15080" y="9148"/>
                  <a:pt x="15113" y="8918"/>
                  <a:pt x="15192" y="8640"/>
                </a:cubicBezTo>
                <a:lnTo>
                  <a:pt x="15314" y="8235"/>
                </a:lnTo>
                <a:lnTo>
                  <a:pt x="15355" y="7200"/>
                </a:lnTo>
                <a:cubicBezTo>
                  <a:pt x="15378" y="6632"/>
                  <a:pt x="15409" y="6066"/>
                  <a:pt x="15420" y="5985"/>
                </a:cubicBezTo>
                <a:cubicBezTo>
                  <a:pt x="15434" y="5884"/>
                  <a:pt x="15564" y="5832"/>
                  <a:pt x="15837" y="5805"/>
                </a:cubicBezTo>
                <a:cubicBezTo>
                  <a:pt x="16213" y="5768"/>
                  <a:pt x="16242" y="5754"/>
                  <a:pt x="16359" y="5445"/>
                </a:cubicBezTo>
                <a:cubicBezTo>
                  <a:pt x="16461" y="5176"/>
                  <a:pt x="16627" y="4823"/>
                  <a:pt x="16947" y="4185"/>
                </a:cubicBezTo>
                <a:cubicBezTo>
                  <a:pt x="16966" y="4148"/>
                  <a:pt x="16529" y="4100"/>
                  <a:pt x="15984" y="4095"/>
                </a:cubicBezTo>
                <a:lnTo>
                  <a:pt x="14996" y="4095"/>
                </a:lnTo>
                <a:close/>
                <a:moveTo>
                  <a:pt x="11837" y="4410"/>
                </a:moveTo>
                <a:cubicBezTo>
                  <a:pt x="11531" y="4420"/>
                  <a:pt x="11318" y="4631"/>
                  <a:pt x="11094" y="5130"/>
                </a:cubicBezTo>
                <a:cubicBezTo>
                  <a:pt x="10627" y="6168"/>
                  <a:pt x="10305" y="8167"/>
                  <a:pt x="10237" y="10350"/>
                </a:cubicBezTo>
                <a:cubicBezTo>
                  <a:pt x="10160" y="12813"/>
                  <a:pt x="10474" y="14725"/>
                  <a:pt x="11020" y="15120"/>
                </a:cubicBezTo>
                <a:cubicBezTo>
                  <a:pt x="11312" y="15331"/>
                  <a:pt x="11860" y="14940"/>
                  <a:pt x="12188" y="14265"/>
                </a:cubicBezTo>
                <a:lnTo>
                  <a:pt x="12310" y="13995"/>
                </a:lnTo>
                <a:lnTo>
                  <a:pt x="12359" y="12735"/>
                </a:lnTo>
                <a:cubicBezTo>
                  <a:pt x="12389" y="12039"/>
                  <a:pt x="12411" y="11452"/>
                  <a:pt x="12408" y="11430"/>
                </a:cubicBezTo>
                <a:cubicBezTo>
                  <a:pt x="12405" y="11408"/>
                  <a:pt x="12338" y="11577"/>
                  <a:pt x="12261" y="11790"/>
                </a:cubicBezTo>
                <a:cubicBezTo>
                  <a:pt x="12073" y="12313"/>
                  <a:pt x="11690" y="13010"/>
                  <a:pt x="11518" y="13140"/>
                </a:cubicBezTo>
                <a:cubicBezTo>
                  <a:pt x="11354" y="13264"/>
                  <a:pt x="11203" y="13115"/>
                  <a:pt x="11118" y="12780"/>
                </a:cubicBezTo>
                <a:cubicBezTo>
                  <a:pt x="11044" y="12487"/>
                  <a:pt x="10967" y="11717"/>
                  <a:pt x="10996" y="11565"/>
                </a:cubicBezTo>
                <a:cubicBezTo>
                  <a:pt x="11007" y="11505"/>
                  <a:pt x="11273" y="11201"/>
                  <a:pt x="11584" y="10890"/>
                </a:cubicBezTo>
                <a:cubicBezTo>
                  <a:pt x="12182" y="10292"/>
                  <a:pt x="12342" y="10041"/>
                  <a:pt x="12490" y="9450"/>
                </a:cubicBezTo>
                <a:cubicBezTo>
                  <a:pt x="12589" y="9053"/>
                  <a:pt x="12630" y="8682"/>
                  <a:pt x="12669" y="7875"/>
                </a:cubicBezTo>
                <a:cubicBezTo>
                  <a:pt x="12732" y="6594"/>
                  <a:pt x="12569" y="5280"/>
                  <a:pt x="12278" y="4725"/>
                </a:cubicBezTo>
                <a:cubicBezTo>
                  <a:pt x="12144" y="4470"/>
                  <a:pt x="12078" y="4402"/>
                  <a:pt x="11837" y="4410"/>
                </a:cubicBezTo>
                <a:close/>
                <a:moveTo>
                  <a:pt x="4596" y="4500"/>
                </a:moveTo>
                <a:lnTo>
                  <a:pt x="4571" y="4950"/>
                </a:lnTo>
                <a:cubicBezTo>
                  <a:pt x="4437" y="7980"/>
                  <a:pt x="4246" y="12545"/>
                  <a:pt x="4237" y="13005"/>
                </a:cubicBezTo>
                <a:cubicBezTo>
                  <a:pt x="4215" y="14109"/>
                  <a:pt x="4356" y="14889"/>
                  <a:pt x="4629" y="15165"/>
                </a:cubicBezTo>
                <a:cubicBezTo>
                  <a:pt x="4786" y="15324"/>
                  <a:pt x="5690" y="15159"/>
                  <a:pt x="5918" y="14940"/>
                </a:cubicBezTo>
                <a:cubicBezTo>
                  <a:pt x="6024" y="14838"/>
                  <a:pt x="6146" y="14657"/>
                  <a:pt x="6196" y="14535"/>
                </a:cubicBezTo>
                <a:cubicBezTo>
                  <a:pt x="6301" y="14278"/>
                  <a:pt x="6425" y="13605"/>
                  <a:pt x="6473" y="12960"/>
                </a:cubicBezTo>
                <a:cubicBezTo>
                  <a:pt x="6520" y="12345"/>
                  <a:pt x="6698" y="8277"/>
                  <a:pt x="6833" y="4770"/>
                </a:cubicBezTo>
                <a:lnTo>
                  <a:pt x="6841" y="4500"/>
                </a:lnTo>
                <a:lnTo>
                  <a:pt x="6490" y="4500"/>
                </a:lnTo>
                <a:lnTo>
                  <a:pt x="6131" y="4500"/>
                </a:lnTo>
                <a:lnTo>
                  <a:pt x="6065" y="6300"/>
                </a:lnTo>
                <a:cubicBezTo>
                  <a:pt x="5897" y="11087"/>
                  <a:pt x="5816" y="12280"/>
                  <a:pt x="5624" y="12825"/>
                </a:cubicBezTo>
                <a:cubicBezTo>
                  <a:pt x="5523" y="13114"/>
                  <a:pt x="5292" y="13284"/>
                  <a:pt x="5176" y="13140"/>
                </a:cubicBezTo>
                <a:cubicBezTo>
                  <a:pt x="5040" y="12972"/>
                  <a:pt x="4996" y="12748"/>
                  <a:pt x="4996" y="12195"/>
                </a:cubicBezTo>
                <a:cubicBezTo>
                  <a:pt x="4996" y="11950"/>
                  <a:pt x="5065" y="10169"/>
                  <a:pt x="5151" y="8235"/>
                </a:cubicBezTo>
                <a:cubicBezTo>
                  <a:pt x="5238" y="6301"/>
                  <a:pt x="5314" y="4650"/>
                  <a:pt x="5314" y="4590"/>
                </a:cubicBezTo>
                <a:cubicBezTo>
                  <a:pt x="5314" y="4530"/>
                  <a:pt x="5153" y="4500"/>
                  <a:pt x="4955" y="4500"/>
                </a:cubicBezTo>
                <a:lnTo>
                  <a:pt x="4596" y="4500"/>
                </a:lnTo>
                <a:close/>
                <a:moveTo>
                  <a:pt x="10237" y="4815"/>
                </a:moveTo>
                <a:lnTo>
                  <a:pt x="10073" y="4905"/>
                </a:lnTo>
                <a:cubicBezTo>
                  <a:pt x="9985" y="4950"/>
                  <a:pt x="9829" y="5056"/>
                  <a:pt x="9722" y="5130"/>
                </a:cubicBezTo>
                <a:lnTo>
                  <a:pt x="9527" y="5265"/>
                </a:lnTo>
                <a:lnTo>
                  <a:pt x="9486" y="6120"/>
                </a:lnTo>
                <a:cubicBezTo>
                  <a:pt x="9466" y="6607"/>
                  <a:pt x="9414" y="7920"/>
                  <a:pt x="9363" y="9045"/>
                </a:cubicBezTo>
                <a:cubicBezTo>
                  <a:pt x="9313" y="10170"/>
                  <a:pt x="9248" y="11626"/>
                  <a:pt x="9224" y="12240"/>
                </a:cubicBezTo>
                <a:cubicBezTo>
                  <a:pt x="9201" y="12854"/>
                  <a:pt x="9166" y="13782"/>
                  <a:pt x="9143" y="14310"/>
                </a:cubicBezTo>
                <a:lnTo>
                  <a:pt x="9094" y="15255"/>
                </a:lnTo>
                <a:lnTo>
                  <a:pt x="9437" y="15255"/>
                </a:lnTo>
                <a:lnTo>
                  <a:pt x="9780" y="15255"/>
                </a:lnTo>
                <a:lnTo>
                  <a:pt x="9910" y="12240"/>
                </a:lnTo>
                <a:cubicBezTo>
                  <a:pt x="9981" y="10587"/>
                  <a:pt x="10085" y="8239"/>
                  <a:pt x="10139" y="7020"/>
                </a:cubicBezTo>
                <a:lnTo>
                  <a:pt x="10237" y="4815"/>
                </a:lnTo>
                <a:close/>
                <a:moveTo>
                  <a:pt x="1045" y="4995"/>
                </a:moveTo>
                <a:lnTo>
                  <a:pt x="971" y="6075"/>
                </a:lnTo>
                <a:cubicBezTo>
                  <a:pt x="932" y="6671"/>
                  <a:pt x="830" y="8333"/>
                  <a:pt x="735" y="9765"/>
                </a:cubicBezTo>
                <a:cubicBezTo>
                  <a:pt x="640" y="11197"/>
                  <a:pt x="523" y="12897"/>
                  <a:pt x="482" y="13545"/>
                </a:cubicBezTo>
                <a:cubicBezTo>
                  <a:pt x="441" y="14193"/>
                  <a:pt x="401" y="14819"/>
                  <a:pt x="392" y="14940"/>
                </a:cubicBezTo>
                <a:cubicBezTo>
                  <a:pt x="377" y="15146"/>
                  <a:pt x="405" y="15152"/>
                  <a:pt x="824" y="15120"/>
                </a:cubicBezTo>
                <a:lnTo>
                  <a:pt x="1273" y="15075"/>
                </a:lnTo>
                <a:lnTo>
                  <a:pt x="1388" y="13320"/>
                </a:lnTo>
                <a:cubicBezTo>
                  <a:pt x="1508" y="11527"/>
                  <a:pt x="1755" y="7778"/>
                  <a:pt x="1853" y="6255"/>
                </a:cubicBezTo>
                <a:cubicBezTo>
                  <a:pt x="1884" y="5778"/>
                  <a:pt x="1918" y="5294"/>
                  <a:pt x="1927" y="5175"/>
                </a:cubicBezTo>
                <a:cubicBezTo>
                  <a:pt x="1941" y="4973"/>
                  <a:pt x="1910" y="4994"/>
                  <a:pt x="1494" y="4995"/>
                </a:cubicBezTo>
                <a:lnTo>
                  <a:pt x="1045" y="4995"/>
                </a:lnTo>
                <a:close/>
                <a:moveTo>
                  <a:pt x="9053" y="5625"/>
                </a:moveTo>
                <a:cubicBezTo>
                  <a:pt x="9049" y="5597"/>
                  <a:pt x="8891" y="5686"/>
                  <a:pt x="8702" y="5850"/>
                </a:cubicBezTo>
                <a:lnTo>
                  <a:pt x="8359" y="6165"/>
                </a:lnTo>
                <a:lnTo>
                  <a:pt x="8180" y="10170"/>
                </a:lnTo>
                <a:cubicBezTo>
                  <a:pt x="7933" y="15574"/>
                  <a:pt x="7864" y="16641"/>
                  <a:pt x="7722" y="17505"/>
                </a:cubicBezTo>
                <a:cubicBezTo>
                  <a:pt x="7637" y="18025"/>
                  <a:pt x="7429" y="18674"/>
                  <a:pt x="7298" y="18810"/>
                </a:cubicBezTo>
                <a:cubicBezTo>
                  <a:pt x="7231" y="18879"/>
                  <a:pt x="7223" y="18925"/>
                  <a:pt x="7200" y="19575"/>
                </a:cubicBezTo>
                <a:cubicBezTo>
                  <a:pt x="7186" y="19960"/>
                  <a:pt x="7169" y="20440"/>
                  <a:pt x="7159" y="20610"/>
                </a:cubicBezTo>
                <a:lnTo>
                  <a:pt x="7143" y="20925"/>
                </a:lnTo>
                <a:lnTo>
                  <a:pt x="6694" y="20925"/>
                </a:lnTo>
                <a:cubicBezTo>
                  <a:pt x="6448" y="20944"/>
                  <a:pt x="6239" y="20940"/>
                  <a:pt x="6229" y="20880"/>
                </a:cubicBezTo>
                <a:cubicBezTo>
                  <a:pt x="6217" y="20818"/>
                  <a:pt x="6237" y="20683"/>
                  <a:pt x="6269" y="20565"/>
                </a:cubicBezTo>
                <a:cubicBezTo>
                  <a:pt x="6361" y="20235"/>
                  <a:pt x="6348" y="19709"/>
                  <a:pt x="6237" y="19305"/>
                </a:cubicBezTo>
                <a:cubicBezTo>
                  <a:pt x="6097" y="18794"/>
                  <a:pt x="6116" y="18557"/>
                  <a:pt x="6310" y="18585"/>
                </a:cubicBezTo>
                <a:cubicBezTo>
                  <a:pt x="6409" y="18599"/>
                  <a:pt x="6431" y="18566"/>
                  <a:pt x="6441" y="18360"/>
                </a:cubicBezTo>
                <a:cubicBezTo>
                  <a:pt x="6452" y="18132"/>
                  <a:pt x="6441" y="18133"/>
                  <a:pt x="6269" y="18135"/>
                </a:cubicBezTo>
                <a:cubicBezTo>
                  <a:pt x="6046" y="18137"/>
                  <a:pt x="5977" y="18268"/>
                  <a:pt x="5967" y="18810"/>
                </a:cubicBezTo>
                <a:cubicBezTo>
                  <a:pt x="5961" y="19151"/>
                  <a:pt x="5970" y="19242"/>
                  <a:pt x="6049" y="19530"/>
                </a:cubicBezTo>
                <a:cubicBezTo>
                  <a:pt x="6150" y="19897"/>
                  <a:pt x="6156" y="19977"/>
                  <a:pt x="6106" y="20205"/>
                </a:cubicBezTo>
                <a:cubicBezTo>
                  <a:pt x="6082" y="20313"/>
                  <a:pt x="6036" y="20353"/>
                  <a:pt x="5943" y="20295"/>
                </a:cubicBezTo>
                <a:cubicBezTo>
                  <a:pt x="5810" y="20212"/>
                  <a:pt x="5811" y="20220"/>
                  <a:pt x="5804" y="20565"/>
                </a:cubicBezTo>
                <a:cubicBezTo>
                  <a:pt x="5791" y="21171"/>
                  <a:pt x="5728" y="21023"/>
                  <a:pt x="5616" y="20160"/>
                </a:cubicBezTo>
                <a:cubicBezTo>
                  <a:pt x="5559" y="19718"/>
                  <a:pt x="5510" y="19336"/>
                  <a:pt x="5510" y="19305"/>
                </a:cubicBezTo>
                <a:cubicBezTo>
                  <a:pt x="5510" y="19274"/>
                  <a:pt x="5582" y="19018"/>
                  <a:pt x="5665" y="18720"/>
                </a:cubicBezTo>
                <a:lnTo>
                  <a:pt x="5812" y="18180"/>
                </a:lnTo>
                <a:lnTo>
                  <a:pt x="5714" y="18135"/>
                </a:lnTo>
                <a:cubicBezTo>
                  <a:pt x="5624" y="18103"/>
                  <a:pt x="5594" y="18145"/>
                  <a:pt x="5494" y="18540"/>
                </a:cubicBezTo>
                <a:cubicBezTo>
                  <a:pt x="5318" y="19236"/>
                  <a:pt x="5308" y="19019"/>
                  <a:pt x="5437" y="17325"/>
                </a:cubicBezTo>
                <a:cubicBezTo>
                  <a:pt x="5451" y="17137"/>
                  <a:pt x="5434" y="17145"/>
                  <a:pt x="5347" y="17145"/>
                </a:cubicBezTo>
                <a:lnTo>
                  <a:pt x="5249" y="17145"/>
                </a:lnTo>
                <a:lnTo>
                  <a:pt x="5192" y="18090"/>
                </a:lnTo>
                <a:cubicBezTo>
                  <a:pt x="5108" y="19414"/>
                  <a:pt x="5014" y="20644"/>
                  <a:pt x="4988" y="20835"/>
                </a:cubicBezTo>
                <a:cubicBezTo>
                  <a:pt x="4972" y="20946"/>
                  <a:pt x="4919" y="20950"/>
                  <a:pt x="4808" y="20925"/>
                </a:cubicBezTo>
                <a:lnTo>
                  <a:pt x="4645" y="20925"/>
                </a:lnTo>
                <a:lnTo>
                  <a:pt x="4653" y="20565"/>
                </a:lnTo>
                <a:cubicBezTo>
                  <a:pt x="4673" y="19538"/>
                  <a:pt x="4827" y="18536"/>
                  <a:pt x="4955" y="18630"/>
                </a:cubicBezTo>
                <a:cubicBezTo>
                  <a:pt x="5012" y="18672"/>
                  <a:pt x="5037" y="18539"/>
                  <a:pt x="5037" y="18225"/>
                </a:cubicBezTo>
                <a:cubicBezTo>
                  <a:pt x="5037" y="18165"/>
                  <a:pt x="4945" y="18121"/>
                  <a:pt x="4824" y="18135"/>
                </a:cubicBezTo>
                <a:lnTo>
                  <a:pt x="4604" y="18180"/>
                </a:lnTo>
                <a:lnTo>
                  <a:pt x="4563" y="18855"/>
                </a:lnTo>
                <a:cubicBezTo>
                  <a:pt x="4542" y="19230"/>
                  <a:pt x="4505" y="19858"/>
                  <a:pt x="4473" y="20250"/>
                </a:cubicBezTo>
                <a:lnTo>
                  <a:pt x="4416" y="20970"/>
                </a:lnTo>
                <a:lnTo>
                  <a:pt x="4302" y="20970"/>
                </a:lnTo>
                <a:cubicBezTo>
                  <a:pt x="4159" y="20970"/>
                  <a:pt x="4137" y="20826"/>
                  <a:pt x="4245" y="20520"/>
                </a:cubicBezTo>
                <a:cubicBezTo>
                  <a:pt x="4411" y="20048"/>
                  <a:pt x="4485" y="18910"/>
                  <a:pt x="4384" y="18405"/>
                </a:cubicBezTo>
                <a:cubicBezTo>
                  <a:pt x="4347" y="18222"/>
                  <a:pt x="4294" y="18169"/>
                  <a:pt x="4147" y="18135"/>
                </a:cubicBezTo>
                <a:cubicBezTo>
                  <a:pt x="3979" y="18096"/>
                  <a:pt x="3944" y="18116"/>
                  <a:pt x="3837" y="18405"/>
                </a:cubicBezTo>
                <a:cubicBezTo>
                  <a:pt x="3651" y="18906"/>
                  <a:pt x="3583" y="19933"/>
                  <a:pt x="3698" y="20520"/>
                </a:cubicBezTo>
                <a:cubicBezTo>
                  <a:pt x="3729" y="20677"/>
                  <a:pt x="3747" y="20836"/>
                  <a:pt x="3739" y="20880"/>
                </a:cubicBezTo>
                <a:cubicBezTo>
                  <a:pt x="3718" y="20993"/>
                  <a:pt x="3270" y="20994"/>
                  <a:pt x="3257" y="20880"/>
                </a:cubicBezTo>
                <a:cubicBezTo>
                  <a:pt x="3252" y="20829"/>
                  <a:pt x="3348" y="20201"/>
                  <a:pt x="3469" y="19485"/>
                </a:cubicBezTo>
                <a:lnTo>
                  <a:pt x="3690" y="18180"/>
                </a:lnTo>
                <a:lnTo>
                  <a:pt x="3592" y="18135"/>
                </a:lnTo>
                <a:cubicBezTo>
                  <a:pt x="3502" y="18097"/>
                  <a:pt x="3498" y="18117"/>
                  <a:pt x="3371" y="18900"/>
                </a:cubicBezTo>
                <a:cubicBezTo>
                  <a:pt x="3299" y="19348"/>
                  <a:pt x="3226" y="19698"/>
                  <a:pt x="3216" y="19665"/>
                </a:cubicBezTo>
                <a:cubicBezTo>
                  <a:pt x="3207" y="19632"/>
                  <a:pt x="3192" y="19266"/>
                  <a:pt x="3184" y="18855"/>
                </a:cubicBezTo>
                <a:lnTo>
                  <a:pt x="3167" y="18135"/>
                </a:lnTo>
                <a:lnTo>
                  <a:pt x="3069" y="18135"/>
                </a:lnTo>
                <a:cubicBezTo>
                  <a:pt x="2976" y="18135"/>
                  <a:pt x="2972" y="18154"/>
                  <a:pt x="2849" y="18990"/>
                </a:cubicBezTo>
                <a:cubicBezTo>
                  <a:pt x="2718" y="19880"/>
                  <a:pt x="2678" y="19983"/>
                  <a:pt x="2678" y="19395"/>
                </a:cubicBezTo>
                <a:cubicBezTo>
                  <a:pt x="2677" y="19212"/>
                  <a:pt x="2669" y="18841"/>
                  <a:pt x="2661" y="18585"/>
                </a:cubicBezTo>
                <a:cubicBezTo>
                  <a:pt x="2648" y="18141"/>
                  <a:pt x="2646" y="18135"/>
                  <a:pt x="2563" y="18135"/>
                </a:cubicBezTo>
                <a:cubicBezTo>
                  <a:pt x="2461" y="18135"/>
                  <a:pt x="2457" y="18071"/>
                  <a:pt x="2506" y="19620"/>
                </a:cubicBezTo>
                <a:cubicBezTo>
                  <a:pt x="2525" y="20219"/>
                  <a:pt x="2538" y="20769"/>
                  <a:pt x="2531" y="20835"/>
                </a:cubicBezTo>
                <a:cubicBezTo>
                  <a:pt x="2512" y="21000"/>
                  <a:pt x="2255" y="21002"/>
                  <a:pt x="2237" y="20835"/>
                </a:cubicBezTo>
                <a:cubicBezTo>
                  <a:pt x="2228" y="20761"/>
                  <a:pt x="2231" y="20641"/>
                  <a:pt x="2245" y="20565"/>
                </a:cubicBezTo>
                <a:cubicBezTo>
                  <a:pt x="2287" y="20331"/>
                  <a:pt x="2278" y="20222"/>
                  <a:pt x="2212" y="20295"/>
                </a:cubicBezTo>
                <a:cubicBezTo>
                  <a:pt x="2109" y="20409"/>
                  <a:pt x="2089" y="20143"/>
                  <a:pt x="2147" y="19350"/>
                </a:cubicBezTo>
                <a:cubicBezTo>
                  <a:pt x="2195" y="18693"/>
                  <a:pt x="2197" y="18666"/>
                  <a:pt x="2286" y="18630"/>
                </a:cubicBezTo>
                <a:cubicBezTo>
                  <a:pt x="2355" y="18602"/>
                  <a:pt x="2383" y="18541"/>
                  <a:pt x="2392" y="18360"/>
                </a:cubicBezTo>
                <a:cubicBezTo>
                  <a:pt x="2401" y="18157"/>
                  <a:pt x="2396" y="18135"/>
                  <a:pt x="2335" y="18135"/>
                </a:cubicBezTo>
                <a:cubicBezTo>
                  <a:pt x="2245" y="18135"/>
                  <a:pt x="2224" y="18029"/>
                  <a:pt x="2253" y="17730"/>
                </a:cubicBezTo>
                <a:cubicBezTo>
                  <a:pt x="2272" y="17535"/>
                  <a:pt x="2264" y="17504"/>
                  <a:pt x="2220" y="17505"/>
                </a:cubicBezTo>
                <a:cubicBezTo>
                  <a:pt x="2129" y="17508"/>
                  <a:pt x="2077" y="17623"/>
                  <a:pt x="2065" y="17865"/>
                </a:cubicBezTo>
                <a:cubicBezTo>
                  <a:pt x="2058" y="18021"/>
                  <a:pt x="2030" y="18135"/>
                  <a:pt x="1992" y="18135"/>
                </a:cubicBezTo>
                <a:cubicBezTo>
                  <a:pt x="1960" y="18135"/>
                  <a:pt x="1935" y="18151"/>
                  <a:pt x="1935" y="18180"/>
                </a:cubicBezTo>
                <a:cubicBezTo>
                  <a:pt x="1935" y="18209"/>
                  <a:pt x="1933" y="18306"/>
                  <a:pt x="1927" y="18405"/>
                </a:cubicBezTo>
                <a:cubicBezTo>
                  <a:pt x="1919" y="18517"/>
                  <a:pt x="1931" y="18589"/>
                  <a:pt x="1959" y="18630"/>
                </a:cubicBezTo>
                <a:cubicBezTo>
                  <a:pt x="2004" y="18695"/>
                  <a:pt x="1999" y="18724"/>
                  <a:pt x="1943" y="19485"/>
                </a:cubicBezTo>
                <a:cubicBezTo>
                  <a:pt x="1912" y="19909"/>
                  <a:pt x="1890" y="20386"/>
                  <a:pt x="1894" y="20565"/>
                </a:cubicBezTo>
                <a:cubicBezTo>
                  <a:pt x="1900" y="20862"/>
                  <a:pt x="1891" y="20889"/>
                  <a:pt x="1812" y="20925"/>
                </a:cubicBezTo>
                <a:cubicBezTo>
                  <a:pt x="1679" y="20985"/>
                  <a:pt x="1654" y="20934"/>
                  <a:pt x="1698" y="20565"/>
                </a:cubicBezTo>
                <a:lnTo>
                  <a:pt x="1739" y="20250"/>
                </a:lnTo>
                <a:lnTo>
                  <a:pt x="1567" y="20295"/>
                </a:lnTo>
                <a:cubicBezTo>
                  <a:pt x="1416" y="20358"/>
                  <a:pt x="1400" y="20362"/>
                  <a:pt x="1355" y="20115"/>
                </a:cubicBezTo>
                <a:cubicBezTo>
                  <a:pt x="1270" y="19645"/>
                  <a:pt x="1318" y="19480"/>
                  <a:pt x="1592" y="19440"/>
                </a:cubicBezTo>
                <a:lnTo>
                  <a:pt x="1837" y="19395"/>
                </a:lnTo>
                <a:lnTo>
                  <a:pt x="1845" y="18945"/>
                </a:lnTo>
                <a:cubicBezTo>
                  <a:pt x="1850" y="18586"/>
                  <a:pt x="1841" y="18387"/>
                  <a:pt x="1812" y="18270"/>
                </a:cubicBezTo>
                <a:cubicBezTo>
                  <a:pt x="1759" y="18054"/>
                  <a:pt x="1440" y="18050"/>
                  <a:pt x="1347" y="18270"/>
                </a:cubicBezTo>
                <a:cubicBezTo>
                  <a:pt x="1229" y="18547"/>
                  <a:pt x="1148" y="19124"/>
                  <a:pt x="1135" y="19755"/>
                </a:cubicBezTo>
                <a:cubicBezTo>
                  <a:pt x="1125" y="20250"/>
                  <a:pt x="1123" y="20331"/>
                  <a:pt x="1176" y="20520"/>
                </a:cubicBezTo>
                <a:cubicBezTo>
                  <a:pt x="1208" y="20637"/>
                  <a:pt x="1231" y="20774"/>
                  <a:pt x="1224" y="20835"/>
                </a:cubicBezTo>
                <a:cubicBezTo>
                  <a:pt x="1211" y="20956"/>
                  <a:pt x="936" y="20997"/>
                  <a:pt x="914" y="20880"/>
                </a:cubicBezTo>
                <a:cubicBezTo>
                  <a:pt x="899" y="20798"/>
                  <a:pt x="918" y="20524"/>
                  <a:pt x="1061" y="18540"/>
                </a:cubicBezTo>
                <a:lnTo>
                  <a:pt x="1167" y="17145"/>
                </a:lnTo>
                <a:lnTo>
                  <a:pt x="1069" y="17145"/>
                </a:lnTo>
                <a:cubicBezTo>
                  <a:pt x="985" y="17145"/>
                  <a:pt x="968" y="17162"/>
                  <a:pt x="947" y="17460"/>
                </a:cubicBezTo>
                <a:cubicBezTo>
                  <a:pt x="934" y="17647"/>
                  <a:pt x="899" y="18198"/>
                  <a:pt x="865" y="18675"/>
                </a:cubicBezTo>
                <a:cubicBezTo>
                  <a:pt x="832" y="19152"/>
                  <a:pt x="793" y="19607"/>
                  <a:pt x="784" y="19665"/>
                </a:cubicBezTo>
                <a:cubicBezTo>
                  <a:pt x="774" y="19723"/>
                  <a:pt x="715" y="19172"/>
                  <a:pt x="645" y="18450"/>
                </a:cubicBezTo>
                <a:lnTo>
                  <a:pt x="514" y="17145"/>
                </a:lnTo>
                <a:lnTo>
                  <a:pt x="384" y="17145"/>
                </a:lnTo>
                <a:lnTo>
                  <a:pt x="261" y="17145"/>
                </a:lnTo>
                <a:lnTo>
                  <a:pt x="180" y="18315"/>
                </a:lnTo>
                <a:cubicBezTo>
                  <a:pt x="73" y="20024"/>
                  <a:pt x="51" y="20384"/>
                  <a:pt x="24" y="20295"/>
                </a:cubicBezTo>
                <a:cubicBezTo>
                  <a:pt x="22" y="20287"/>
                  <a:pt x="26" y="21476"/>
                  <a:pt x="24" y="21600"/>
                </a:cubicBezTo>
                <a:lnTo>
                  <a:pt x="21600" y="21600"/>
                </a:lnTo>
                <a:lnTo>
                  <a:pt x="21600" y="20925"/>
                </a:lnTo>
                <a:lnTo>
                  <a:pt x="14555" y="20925"/>
                </a:lnTo>
                <a:cubicBezTo>
                  <a:pt x="9875" y="20925"/>
                  <a:pt x="7506" y="20872"/>
                  <a:pt x="7502" y="20790"/>
                </a:cubicBezTo>
                <a:cubicBezTo>
                  <a:pt x="7499" y="20722"/>
                  <a:pt x="7543" y="20565"/>
                  <a:pt x="7608" y="20475"/>
                </a:cubicBezTo>
                <a:cubicBezTo>
                  <a:pt x="7800" y="20210"/>
                  <a:pt x="8126" y="19310"/>
                  <a:pt x="8253" y="18675"/>
                </a:cubicBezTo>
                <a:cubicBezTo>
                  <a:pt x="8381" y="18038"/>
                  <a:pt x="8494" y="17089"/>
                  <a:pt x="8571" y="16020"/>
                </a:cubicBezTo>
                <a:cubicBezTo>
                  <a:pt x="8623" y="15313"/>
                  <a:pt x="9068" y="5714"/>
                  <a:pt x="9053" y="5625"/>
                </a:cubicBezTo>
                <a:close/>
                <a:moveTo>
                  <a:pt x="13241" y="5715"/>
                </a:moveTo>
                <a:lnTo>
                  <a:pt x="13200" y="6615"/>
                </a:lnTo>
                <a:cubicBezTo>
                  <a:pt x="13179" y="7109"/>
                  <a:pt x="13167" y="7554"/>
                  <a:pt x="13167" y="7605"/>
                </a:cubicBezTo>
                <a:cubicBezTo>
                  <a:pt x="13168" y="7656"/>
                  <a:pt x="13253" y="7695"/>
                  <a:pt x="13363" y="7695"/>
                </a:cubicBezTo>
                <a:cubicBezTo>
                  <a:pt x="13474" y="7695"/>
                  <a:pt x="13569" y="7768"/>
                  <a:pt x="13576" y="7830"/>
                </a:cubicBezTo>
                <a:cubicBezTo>
                  <a:pt x="13591" y="7969"/>
                  <a:pt x="13548" y="9193"/>
                  <a:pt x="13518" y="9405"/>
                </a:cubicBezTo>
                <a:cubicBezTo>
                  <a:pt x="13504" y="9510"/>
                  <a:pt x="13432" y="9540"/>
                  <a:pt x="13290" y="9540"/>
                </a:cubicBezTo>
                <a:lnTo>
                  <a:pt x="13078" y="9540"/>
                </a:lnTo>
                <a:lnTo>
                  <a:pt x="13053" y="10035"/>
                </a:lnTo>
                <a:cubicBezTo>
                  <a:pt x="13041" y="10291"/>
                  <a:pt x="13027" y="10679"/>
                  <a:pt x="13020" y="10935"/>
                </a:cubicBezTo>
                <a:lnTo>
                  <a:pt x="13012" y="11430"/>
                </a:lnTo>
                <a:lnTo>
                  <a:pt x="13208" y="11430"/>
                </a:lnTo>
                <a:cubicBezTo>
                  <a:pt x="13361" y="11430"/>
                  <a:pt x="13419" y="11477"/>
                  <a:pt x="13429" y="11610"/>
                </a:cubicBezTo>
                <a:cubicBezTo>
                  <a:pt x="13435" y="11706"/>
                  <a:pt x="13413" y="12308"/>
                  <a:pt x="13388" y="12960"/>
                </a:cubicBezTo>
                <a:cubicBezTo>
                  <a:pt x="13362" y="13612"/>
                  <a:pt x="13347" y="14506"/>
                  <a:pt x="13347" y="14940"/>
                </a:cubicBezTo>
                <a:cubicBezTo>
                  <a:pt x="13347" y="15607"/>
                  <a:pt x="13349" y="15788"/>
                  <a:pt x="13396" y="16065"/>
                </a:cubicBezTo>
                <a:lnTo>
                  <a:pt x="13453" y="16380"/>
                </a:lnTo>
                <a:lnTo>
                  <a:pt x="13878" y="16380"/>
                </a:lnTo>
                <a:lnTo>
                  <a:pt x="14310" y="16380"/>
                </a:lnTo>
                <a:lnTo>
                  <a:pt x="14343" y="15480"/>
                </a:lnTo>
                <a:cubicBezTo>
                  <a:pt x="14363" y="14986"/>
                  <a:pt x="14385" y="14474"/>
                  <a:pt x="14392" y="14355"/>
                </a:cubicBezTo>
                <a:cubicBezTo>
                  <a:pt x="14403" y="14157"/>
                  <a:pt x="14377" y="14130"/>
                  <a:pt x="14131" y="14130"/>
                </a:cubicBezTo>
                <a:cubicBezTo>
                  <a:pt x="13982" y="14130"/>
                  <a:pt x="13860" y="14100"/>
                  <a:pt x="13853" y="14040"/>
                </a:cubicBezTo>
                <a:cubicBezTo>
                  <a:pt x="13841" y="13934"/>
                  <a:pt x="13920" y="11726"/>
                  <a:pt x="13943" y="11520"/>
                </a:cubicBezTo>
                <a:cubicBezTo>
                  <a:pt x="13949" y="11463"/>
                  <a:pt x="14061" y="11430"/>
                  <a:pt x="14188" y="11430"/>
                </a:cubicBezTo>
                <a:lnTo>
                  <a:pt x="14416" y="11430"/>
                </a:lnTo>
                <a:lnTo>
                  <a:pt x="14441" y="10665"/>
                </a:lnTo>
                <a:cubicBezTo>
                  <a:pt x="14456" y="10253"/>
                  <a:pt x="14475" y="9819"/>
                  <a:pt x="14482" y="9720"/>
                </a:cubicBezTo>
                <a:cubicBezTo>
                  <a:pt x="14492" y="9569"/>
                  <a:pt x="14460" y="9540"/>
                  <a:pt x="14269" y="9540"/>
                </a:cubicBezTo>
                <a:cubicBezTo>
                  <a:pt x="14107" y="9540"/>
                  <a:pt x="14039" y="9515"/>
                  <a:pt x="14033" y="9405"/>
                </a:cubicBezTo>
                <a:cubicBezTo>
                  <a:pt x="14027" y="9320"/>
                  <a:pt x="14034" y="8914"/>
                  <a:pt x="14049" y="8505"/>
                </a:cubicBezTo>
                <a:lnTo>
                  <a:pt x="14073" y="7785"/>
                </a:lnTo>
                <a:lnTo>
                  <a:pt x="14327" y="7695"/>
                </a:lnTo>
                <a:lnTo>
                  <a:pt x="14571" y="7650"/>
                </a:lnTo>
                <a:lnTo>
                  <a:pt x="14604" y="6750"/>
                </a:lnTo>
                <a:cubicBezTo>
                  <a:pt x="14626" y="6273"/>
                  <a:pt x="14645" y="5856"/>
                  <a:pt x="14645" y="5805"/>
                </a:cubicBezTo>
                <a:cubicBezTo>
                  <a:pt x="14645" y="5754"/>
                  <a:pt x="14330" y="5715"/>
                  <a:pt x="13943" y="5715"/>
                </a:cubicBezTo>
                <a:lnTo>
                  <a:pt x="13241" y="5715"/>
                </a:lnTo>
                <a:close/>
                <a:moveTo>
                  <a:pt x="11837" y="6615"/>
                </a:moveTo>
                <a:cubicBezTo>
                  <a:pt x="11888" y="6619"/>
                  <a:pt x="11929" y="6685"/>
                  <a:pt x="11959" y="6840"/>
                </a:cubicBezTo>
                <a:cubicBezTo>
                  <a:pt x="12039" y="7252"/>
                  <a:pt x="12047" y="7652"/>
                  <a:pt x="11992" y="8280"/>
                </a:cubicBezTo>
                <a:cubicBezTo>
                  <a:pt x="11942" y="8851"/>
                  <a:pt x="11824" y="9441"/>
                  <a:pt x="11714" y="9675"/>
                </a:cubicBezTo>
                <a:cubicBezTo>
                  <a:pt x="11678" y="9751"/>
                  <a:pt x="11517" y="9961"/>
                  <a:pt x="11363" y="10125"/>
                </a:cubicBezTo>
                <a:cubicBezTo>
                  <a:pt x="11209" y="10289"/>
                  <a:pt x="11069" y="10440"/>
                  <a:pt x="11053" y="10440"/>
                </a:cubicBezTo>
                <a:cubicBezTo>
                  <a:pt x="10992" y="10440"/>
                  <a:pt x="11004" y="10034"/>
                  <a:pt x="11078" y="9360"/>
                </a:cubicBezTo>
                <a:cubicBezTo>
                  <a:pt x="11242" y="7850"/>
                  <a:pt x="11616" y="6596"/>
                  <a:pt x="11837" y="6615"/>
                </a:cubicBezTo>
                <a:close/>
                <a:moveTo>
                  <a:pt x="7869" y="6705"/>
                </a:moveTo>
                <a:cubicBezTo>
                  <a:pt x="7797" y="6689"/>
                  <a:pt x="7214" y="7219"/>
                  <a:pt x="7192" y="7335"/>
                </a:cubicBezTo>
                <a:cubicBezTo>
                  <a:pt x="7164" y="7477"/>
                  <a:pt x="6841" y="14695"/>
                  <a:pt x="6841" y="15165"/>
                </a:cubicBezTo>
                <a:cubicBezTo>
                  <a:pt x="6841" y="15221"/>
                  <a:pt x="6991" y="15255"/>
                  <a:pt x="7176" y="15255"/>
                </a:cubicBezTo>
                <a:lnTo>
                  <a:pt x="7510" y="15255"/>
                </a:lnTo>
                <a:lnTo>
                  <a:pt x="7600" y="13185"/>
                </a:lnTo>
                <a:cubicBezTo>
                  <a:pt x="7723" y="10379"/>
                  <a:pt x="7878" y="6795"/>
                  <a:pt x="7878" y="6705"/>
                </a:cubicBezTo>
                <a:cubicBezTo>
                  <a:pt x="7878" y="6699"/>
                  <a:pt x="7874" y="6706"/>
                  <a:pt x="7869" y="6705"/>
                </a:cubicBezTo>
                <a:close/>
                <a:moveTo>
                  <a:pt x="15061" y="11295"/>
                </a:moveTo>
                <a:lnTo>
                  <a:pt x="14988" y="12240"/>
                </a:lnTo>
                <a:cubicBezTo>
                  <a:pt x="14948" y="12768"/>
                  <a:pt x="14905" y="13396"/>
                  <a:pt x="14890" y="13635"/>
                </a:cubicBezTo>
                <a:lnTo>
                  <a:pt x="14857" y="14085"/>
                </a:lnTo>
                <a:lnTo>
                  <a:pt x="14702" y="14130"/>
                </a:lnTo>
                <a:lnTo>
                  <a:pt x="14539" y="14175"/>
                </a:lnTo>
                <a:lnTo>
                  <a:pt x="14514" y="14805"/>
                </a:lnTo>
                <a:cubicBezTo>
                  <a:pt x="14502" y="15160"/>
                  <a:pt x="14490" y="15674"/>
                  <a:pt x="14482" y="15930"/>
                </a:cubicBezTo>
                <a:lnTo>
                  <a:pt x="14465" y="16380"/>
                </a:lnTo>
                <a:lnTo>
                  <a:pt x="14743" y="16380"/>
                </a:lnTo>
                <a:cubicBezTo>
                  <a:pt x="14897" y="16380"/>
                  <a:pt x="15056" y="16318"/>
                  <a:pt x="15094" y="16245"/>
                </a:cubicBezTo>
                <a:cubicBezTo>
                  <a:pt x="15154" y="16129"/>
                  <a:pt x="15282" y="15305"/>
                  <a:pt x="15282" y="15030"/>
                </a:cubicBezTo>
                <a:cubicBezTo>
                  <a:pt x="15282" y="14849"/>
                  <a:pt x="15511" y="11633"/>
                  <a:pt x="15535" y="11475"/>
                </a:cubicBezTo>
                <a:cubicBezTo>
                  <a:pt x="15553" y="11350"/>
                  <a:pt x="15504" y="11295"/>
                  <a:pt x="15306" y="11295"/>
                </a:cubicBezTo>
                <a:lnTo>
                  <a:pt x="15061" y="11295"/>
                </a:lnTo>
                <a:close/>
              </a:path>
            </a:pathLst>
          </a:custGeom>
          <a:ln w="12700">
            <a:miter lim="400000"/>
          </a:ln>
        </p:spPr>
      </p:pic>
      <p:pic>
        <p:nvPicPr>
          <p:cNvPr id="52" name="图像" descr="图像">
            <a:extLst>
              <a:ext uri="{FF2B5EF4-FFF2-40B4-BE49-F238E27FC236}">
                <a16:creationId xmlns:a16="http://schemas.microsoft.com/office/drawing/2014/main" id="{267017E2-6C15-9C59-72F1-F873B319E8F0}"/>
              </a:ext>
            </a:extLst>
          </p:cNvPr>
          <p:cNvPicPr>
            <a:picLocks noChangeAspect="1"/>
          </p:cNvPicPr>
          <p:nvPr/>
        </p:nvPicPr>
        <p:blipFill>
          <a:blip r:embed="rId23"/>
          <a:srcRect l="10181" t="33840" r="8725" b="35390"/>
          <a:stretch>
            <a:fillRect/>
          </a:stretch>
        </p:blipFill>
        <p:spPr>
          <a:xfrm>
            <a:off x="9119095" y="5721864"/>
            <a:ext cx="677466" cy="171054"/>
          </a:xfrm>
          <a:custGeom>
            <a:avLst/>
            <a:gdLst/>
            <a:ahLst/>
            <a:cxnLst>
              <a:cxn ang="0">
                <a:pos x="wd2" y="hd2"/>
              </a:cxn>
              <a:cxn ang="5400000">
                <a:pos x="wd2" y="hd2"/>
              </a:cxn>
              <a:cxn ang="10800000">
                <a:pos x="wd2" y="hd2"/>
              </a:cxn>
              <a:cxn ang="16200000">
                <a:pos x="wd2" y="hd2"/>
              </a:cxn>
            </a:cxnLst>
            <a:rect l="0" t="0" r="r" b="b"/>
            <a:pathLst>
              <a:path w="21600" h="21483" extrusionOk="0">
                <a:moveTo>
                  <a:pt x="5049" y="0"/>
                </a:moveTo>
                <a:lnTo>
                  <a:pt x="5011" y="4287"/>
                </a:lnTo>
                <a:lnTo>
                  <a:pt x="4986" y="8623"/>
                </a:lnTo>
                <a:lnTo>
                  <a:pt x="3442" y="8623"/>
                </a:lnTo>
                <a:lnTo>
                  <a:pt x="1885" y="8623"/>
                </a:lnTo>
                <a:lnTo>
                  <a:pt x="1860" y="4337"/>
                </a:lnTo>
                <a:lnTo>
                  <a:pt x="1835" y="50"/>
                </a:lnTo>
                <a:lnTo>
                  <a:pt x="911" y="50"/>
                </a:lnTo>
                <a:lnTo>
                  <a:pt x="0" y="50"/>
                </a:lnTo>
                <a:lnTo>
                  <a:pt x="0" y="10767"/>
                </a:lnTo>
                <a:lnTo>
                  <a:pt x="0" y="21483"/>
                </a:lnTo>
                <a:lnTo>
                  <a:pt x="215" y="21234"/>
                </a:lnTo>
                <a:cubicBezTo>
                  <a:pt x="335" y="21107"/>
                  <a:pt x="754" y="21037"/>
                  <a:pt x="1139" y="21034"/>
                </a:cubicBezTo>
                <a:lnTo>
                  <a:pt x="1835" y="21034"/>
                </a:lnTo>
                <a:lnTo>
                  <a:pt x="1860" y="16349"/>
                </a:lnTo>
                <a:lnTo>
                  <a:pt x="1885" y="11664"/>
                </a:lnTo>
                <a:lnTo>
                  <a:pt x="3442" y="11664"/>
                </a:lnTo>
                <a:lnTo>
                  <a:pt x="4986" y="11664"/>
                </a:lnTo>
                <a:lnTo>
                  <a:pt x="5036" y="16399"/>
                </a:lnTo>
                <a:lnTo>
                  <a:pt x="5087" y="21134"/>
                </a:lnTo>
                <a:lnTo>
                  <a:pt x="5935" y="21084"/>
                </a:lnTo>
                <a:cubicBezTo>
                  <a:pt x="6401" y="21069"/>
                  <a:pt x="6817" y="21049"/>
                  <a:pt x="6858" y="21034"/>
                </a:cubicBezTo>
                <a:cubicBezTo>
                  <a:pt x="6900" y="21020"/>
                  <a:pt x="6936" y="16335"/>
                  <a:pt x="6934" y="10617"/>
                </a:cubicBezTo>
                <a:lnTo>
                  <a:pt x="6922" y="200"/>
                </a:lnTo>
                <a:lnTo>
                  <a:pt x="5985" y="100"/>
                </a:lnTo>
                <a:lnTo>
                  <a:pt x="5049" y="0"/>
                </a:lnTo>
                <a:close/>
                <a:moveTo>
                  <a:pt x="19133" y="150"/>
                </a:moveTo>
                <a:cubicBezTo>
                  <a:pt x="16416" y="502"/>
                  <a:pt x="15369" y="1877"/>
                  <a:pt x="14818" y="5782"/>
                </a:cubicBezTo>
                <a:cubicBezTo>
                  <a:pt x="14482" y="8159"/>
                  <a:pt x="14469" y="12782"/>
                  <a:pt x="14792" y="15302"/>
                </a:cubicBezTo>
                <a:cubicBezTo>
                  <a:pt x="15222" y="18658"/>
                  <a:pt x="16204" y="20412"/>
                  <a:pt x="17968" y="20985"/>
                </a:cubicBezTo>
                <a:cubicBezTo>
                  <a:pt x="19329" y="21426"/>
                  <a:pt x="19414" y="21411"/>
                  <a:pt x="20562" y="21134"/>
                </a:cubicBezTo>
                <a:lnTo>
                  <a:pt x="21600" y="20885"/>
                </a:lnTo>
                <a:lnTo>
                  <a:pt x="21600" y="19190"/>
                </a:lnTo>
                <a:cubicBezTo>
                  <a:pt x="21600" y="17723"/>
                  <a:pt x="21582" y="17511"/>
                  <a:pt x="21435" y="17745"/>
                </a:cubicBezTo>
                <a:cubicBezTo>
                  <a:pt x="21342" y="17894"/>
                  <a:pt x="20692" y="18131"/>
                  <a:pt x="19993" y="18243"/>
                </a:cubicBezTo>
                <a:cubicBezTo>
                  <a:pt x="18965" y="18408"/>
                  <a:pt x="18626" y="18303"/>
                  <a:pt x="18247" y="17795"/>
                </a:cubicBezTo>
                <a:cubicBezTo>
                  <a:pt x="17244" y="16449"/>
                  <a:pt x="16754" y="14186"/>
                  <a:pt x="16754" y="10816"/>
                </a:cubicBezTo>
                <a:cubicBezTo>
                  <a:pt x="16754" y="7277"/>
                  <a:pt x="17220" y="4684"/>
                  <a:pt x="18057" y="3589"/>
                </a:cubicBezTo>
                <a:cubicBezTo>
                  <a:pt x="18600" y="2878"/>
                  <a:pt x="19881" y="2708"/>
                  <a:pt x="20942" y="3190"/>
                </a:cubicBezTo>
                <a:lnTo>
                  <a:pt x="21600" y="3489"/>
                </a:lnTo>
                <a:lnTo>
                  <a:pt x="21600" y="1944"/>
                </a:lnTo>
                <a:cubicBezTo>
                  <a:pt x="21600" y="496"/>
                  <a:pt x="21585" y="450"/>
                  <a:pt x="21246" y="200"/>
                </a:cubicBezTo>
                <a:cubicBezTo>
                  <a:pt x="21050" y="55"/>
                  <a:pt x="20096" y="25"/>
                  <a:pt x="19133" y="150"/>
                </a:cubicBezTo>
                <a:close/>
                <a:moveTo>
                  <a:pt x="8693" y="200"/>
                </a:moveTo>
                <a:lnTo>
                  <a:pt x="7656" y="499"/>
                </a:lnTo>
                <a:lnTo>
                  <a:pt x="7656" y="1894"/>
                </a:lnTo>
                <a:lnTo>
                  <a:pt x="7656" y="3340"/>
                </a:lnTo>
                <a:lnTo>
                  <a:pt x="8162" y="3041"/>
                </a:lnTo>
                <a:cubicBezTo>
                  <a:pt x="8826" y="2626"/>
                  <a:pt x="10814" y="2523"/>
                  <a:pt x="11186" y="2891"/>
                </a:cubicBezTo>
                <a:cubicBezTo>
                  <a:pt x="11577" y="3278"/>
                  <a:pt x="11819" y="4137"/>
                  <a:pt x="11819" y="5184"/>
                </a:cubicBezTo>
                <a:cubicBezTo>
                  <a:pt x="11819" y="6644"/>
                  <a:pt x="11712" y="7298"/>
                  <a:pt x="11325" y="8075"/>
                </a:cubicBezTo>
                <a:cubicBezTo>
                  <a:pt x="11008" y="8711"/>
                  <a:pt x="10750" y="8823"/>
                  <a:pt x="9592" y="8823"/>
                </a:cubicBezTo>
                <a:lnTo>
                  <a:pt x="8238" y="8823"/>
                </a:lnTo>
                <a:lnTo>
                  <a:pt x="8238" y="10119"/>
                </a:lnTo>
                <a:lnTo>
                  <a:pt x="8238" y="11464"/>
                </a:lnTo>
                <a:lnTo>
                  <a:pt x="9667" y="11464"/>
                </a:lnTo>
                <a:cubicBezTo>
                  <a:pt x="11234" y="11465"/>
                  <a:pt x="11574" y="11811"/>
                  <a:pt x="11945" y="13807"/>
                </a:cubicBezTo>
                <a:cubicBezTo>
                  <a:pt x="12193" y="15139"/>
                  <a:pt x="12101" y="16496"/>
                  <a:pt x="11692" y="17645"/>
                </a:cubicBezTo>
                <a:cubicBezTo>
                  <a:pt x="11401" y="18464"/>
                  <a:pt x="11284" y="18542"/>
                  <a:pt x="10072" y="18542"/>
                </a:cubicBezTo>
                <a:cubicBezTo>
                  <a:pt x="9353" y="18542"/>
                  <a:pt x="8495" y="18397"/>
                  <a:pt x="8162" y="18243"/>
                </a:cubicBezTo>
                <a:lnTo>
                  <a:pt x="7554" y="17994"/>
                </a:lnTo>
                <a:lnTo>
                  <a:pt x="7554" y="19489"/>
                </a:lnTo>
                <a:lnTo>
                  <a:pt x="7554" y="20985"/>
                </a:lnTo>
                <a:lnTo>
                  <a:pt x="9123" y="21084"/>
                </a:lnTo>
                <a:cubicBezTo>
                  <a:pt x="12470" y="21307"/>
                  <a:pt x="13624" y="20424"/>
                  <a:pt x="13995" y="17346"/>
                </a:cubicBezTo>
                <a:cubicBezTo>
                  <a:pt x="14297" y="14837"/>
                  <a:pt x="14131" y="12601"/>
                  <a:pt x="13565" y="11464"/>
                </a:cubicBezTo>
                <a:cubicBezTo>
                  <a:pt x="13352" y="11036"/>
                  <a:pt x="13118" y="10717"/>
                  <a:pt x="13046" y="10717"/>
                </a:cubicBezTo>
                <a:cubicBezTo>
                  <a:pt x="12974" y="10717"/>
                  <a:pt x="12839" y="10495"/>
                  <a:pt x="12742" y="10218"/>
                </a:cubicBezTo>
                <a:cubicBezTo>
                  <a:pt x="12584" y="9761"/>
                  <a:pt x="12619" y="9589"/>
                  <a:pt x="13135" y="8573"/>
                </a:cubicBezTo>
                <a:cubicBezTo>
                  <a:pt x="13833" y="7199"/>
                  <a:pt x="14019" y="5978"/>
                  <a:pt x="13856" y="3838"/>
                </a:cubicBezTo>
                <a:cubicBezTo>
                  <a:pt x="13736" y="2268"/>
                  <a:pt x="13446" y="1501"/>
                  <a:pt x="12679" y="798"/>
                </a:cubicBezTo>
                <a:cubicBezTo>
                  <a:pt x="12027" y="200"/>
                  <a:pt x="9867" y="-117"/>
                  <a:pt x="8693" y="200"/>
                </a:cubicBezTo>
                <a:close/>
              </a:path>
            </a:pathLst>
          </a:custGeom>
          <a:ln w="12700">
            <a:miter lim="400000"/>
          </a:ln>
        </p:spPr>
      </p:pic>
      <p:pic>
        <p:nvPicPr>
          <p:cNvPr id="53" name="图像" descr="图像">
            <a:extLst>
              <a:ext uri="{FF2B5EF4-FFF2-40B4-BE49-F238E27FC236}">
                <a16:creationId xmlns:a16="http://schemas.microsoft.com/office/drawing/2014/main" id="{5F18D3AA-2BFF-A68C-7961-E5A1C105EF0A}"/>
              </a:ext>
            </a:extLst>
          </p:cNvPr>
          <p:cNvPicPr>
            <a:picLocks noChangeAspect="1"/>
          </p:cNvPicPr>
          <p:nvPr/>
        </p:nvPicPr>
        <p:blipFill>
          <a:blip r:embed="rId24"/>
          <a:srcRect l="24416" t="35734" r="24416" b="35734"/>
          <a:stretch>
            <a:fillRect/>
          </a:stretch>
        </p:blipFill>
        <p:spPr>
          <a:xfrm>
            <a:off x="7029320" y="3775009"/>
            <a:ext cx="652764" cy="363990"/>
          </a:xfrm>
          <a:prstGeom prst="rect">
            <a:avLst/>
          </a:prstGeom>
          <a:ln w="12700">
            <a:miter lim="400000"/>
          </a:ln>
        </p:spPr>
      </p:pic>
      <p:pic>
        <p:nvPicPr>
          <p:cNvPr id="54" name="图像" descr="图像">
            <a:extLst>
              <a:ext uri="{FF2B5EF4-FFF2-40B4-BE49-F238E27FC236}">
                <a16:creationId xmlns:a16="http://schemas.microsoft.com/office/drawing/2014/main" id="{E2078D4C-909B-2AA8-4B38-D1AD957120DA}"/>
              </a:ext>
            </a:extLst>
          </p:cNvPr>
          <p:cNvPicPr>
            <a:picLocks noChangeAspect="1"/>
          </p:cNvPicPr>
          <p:nvPr/>
        </p:nvPicPr>
        <p:blipFill>
          <a:blip r:embed="rId25"/>
          <a:srcRect t="36420" b="42055"/>
          <a:stretch>
            <a:fillRect/>
          </a:stretch>
        </p:blipFill>
        <p:spPr>
          <a:xfrm>
            <a:off x="7364541" y="4394239"/>
            <a:ext cx="709865" cy="152794"/>
          </a:xfrm>
          <a:prstGeom prst="rect">
            <a:avLst/>
          </a:prstGeom>
          <a:ln w="12700">
            <a:miter lim="400000"/>
          </a:ln>
        </p:spPr>
      </p:pic>
      <p:pic>
        <p:nvPicPr>
          <p:cNvPr id="55" name="图像" descr="图像">
            <a:extLst>
              <a:ext uri="{FF2B5EF4-FFF2-40B4-BE49-F238E27FC236}">
                <a16:creationId xmlns:a16="http://schemas.microsoft.com/office/drawing/2014/main" id="{102642E8-D59B-9B67-1EFA-D140627314E0}"/>
              </a:ext>
            </a:extLst>
          </p:cNvPr>
          <p:cNvPicPr>
            <a:picLocks noChangeAspect="1"/>
          </p:cNvPicPr>
          <p:nvPr/>
        </p:nvPicPr>
        <p:blipFill>
          <a:blip r:embed="rId26"/>
          <a:srcRect l="17789" t="36468" r="16267" b="41526"/>
          <a:stretch>
            <a:fillRect/>
          </a:stretch>
        </p:blipFill>
        <p:spPr>
          <a:xfrm>
            <a:off x="7020893" y="4898937"/>
            <a:ext cx="685877" cy="128444"/>
          </a:xfrm>
          <a:prstGeom prst="rect">
            <a:avLst/>
          </a:prstGeom>
          <a:ln w="12700">
            <a:miter lim="400000"/>
          </a:ln>
        </p:spPr>
      </p:pic>
      <p:pic>
        <p:nvPicPr>
          <p:cNvPr id="56" name="图像" descr="图像">
            <a:extLst>
              <a:ext uri="{FF2B5EF4-FFF2-40B4-BE49-F238E27FC236}">
                <a16:creationId xmlns:a16="http://schemas.microsoft.com/office/drawing/2014/main" id="{D4E35147-0780-AFFC-DA00-D65BDCC9CA30}"/>
              </a:ext>
            </a:extLst>
          </p:cNvPr>
          <p:cNvPicPr>
            <a:picLocks noChangeAspect="1"/>
          </p:cNvPicPr>
          <p:nvPr/>
        </p:nvPicPr>
        <p:blipFill>
          <a:blip r:embed="rId27"/>
          <a:stretch>
            <a:fillRect/>
          </a:stretch>
        </p:blipFill>
        <p:spPr>
          <a:xfrm>
            <a:off x="7552541" y="3321050"/>
            <a:ext cx="410211" cy="215900"/>
          </a:xfrm>
          <a:prstGeom prst="rect">
            <a:avLst/>
          </a:prstGeom>
          <a:ln w="12700">
            <a:miter lim="400000"/>
          </a:ln>
        </p:spPr>
      </p:pic>
      <p:pic>
        <p:nvPicPr>
          <p:cNvPr id="57" name="图像" descr="图像">
            <a:extLst>
              <a:ext uri="{FF2B5EF4-FFF2-40B4-BE49-F238E27FC236}">
                <a16:creationId xmlns:a16="http://schemas.microsoft.com/office/drawing/2014/main" id="{2B22D3A9-0247-60CF-CAB5-20323DB4C343}"/>
              </a:ext>
            </a:extLst>
          </p:cNvPr>
          <p:cNvPicPr>
            <a:picLocks noChangeAspect="1"/>
          </p:cNvPicPr>
          <p:nvPr/>
        </p:nvPicPr>
        <p:blipFill>
          <a:blip r:embed="rId11"/>
          <a:stretch>
            <a:fillRect/>
          </a:stretch>
        </p:blipFill>
        <p:spPr>
          <a:xfrm>
            <a:off x="7053643" y="5629590"/>
            <a:ext cx="355601" cy="355601"/>
          </a:xfrm>
          <a:prstGeom prst="rect">
            <a:avLst/>
          </a:prstGeom>
          <a:ln w="12700">
            <a:miter lim="400000"/>
          </a:ln>
        </p:spPr>
      </p:pic>
      <p:sp>
        <p:nvSpPr>
          <p:cNvPr id="58" name="圆角矩形">
            <a:extLst>
              <a:ext uri="{FF2B5EF4-FFF2-40B4-BE49-F238E27FC236}">
                <a16:creationId xmlns:a16="http://schemas.microsoft.com/office/drawing/2014/main" id="{ABC4D325-9735-6CA0-FEC6-D45D60FDDCDC}"/>
              </a:ext>
            </a:extLst>
          </p:cNvPr>
          <p:cNvSpPr/>
          <p:nvPr/>
        </p:nvSpPr>
        <p:spPr>
          <a:xfrm>
            <a:off x="50923" y="5776529"/>
            <a:ext cx="1197023" cy="614081"/>
          </a:xfrm>
          <a:prstGeom prst="roundRect">
            <a:avLst>
              <a:gd name="adj" fmla="val 27974"/>
            </a:avLst>
          </a:prstGeom>
          <a:solidFill>
            <a:srgbClr val="009193"/>
          </a:solidFill>
          <a:ln w="12700">
            <a:miter lim="400000"/>
          </a:ln>
        </p:spPr>
        <p:txBody>
          <a:bodyPr lIns="45719" rIns="45719" anchor="ctr"/>
          <a:lstStyle/>
          <a:p>
            <a:pPr>
              <a:defRPr>
                <a:solidFill>
                  <a:srgbClr val="FFFFFF"/>
                </a:solidFill>
              </a:defRPr>
            </a:pPr>
            <a:endParaRPr>
              <a:cs typeface="+mn-ea"/>
              <a:sym typeface="+mn-lt"/>
            </a:endParaRPr>
          </a:p>
        </p:txBody>
      </p:sp>
      <p:sp>
        <p:nvSpPr>
          <p:cNvPr id="59" name="Laser">
            <a:extLst>
              <a:ext uri="{FF2B5EF4-FFF2-40B4-BE49-F238E27FC236}">
                <a16:creationId xmlns:a16="http://schemas.microsoft.com/office/drawing/2014/main" id="{C8A8A99A-DD48-41DB-FC66-B4BFD0010791}"/>
              </a:ext>
            </a:extLst>
          </p:cNvPr>
          <p:cNvSpPr txBox="1"/>
          <p:nvPr/>
        </p:nvSpPr>
        <p:spPr>
          <a:xfrm>
            <a:off x="294591" y="5898149"/>
            <a:ext cx="709686"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defRPr>
                <a:solidFill>
                  <a:srgbClr val="FFFFFF"/>
                </a:solidFill>
              </a:defRPr>
            </a:lvl1pPr>
          </a:lstStyle>
          <a:p>
            <a:r>
              <a:rPr>
                <a:cs typeface="+mn-ea"/>
                <a:sym typeface="+mn-lt"/>
              </a:rPr>
              <a:t>Laser</a:t>
            </a:r>
          </a:p>
        </p:txBody>
      </p:sp>
      <p:sp>
        <p:nvSpPr>
          <p:cNvPr id="60" name="圆角矩形">
            <a:extLst>
              <a:ext uri="{FF2B5EF4-FFF2-40B4-BE49-F238E27FC236}">
                <a16:creationId xmlns:a16="http://schemas.microsoft.com/office/drawing/2014/main" id="{A5669F88-CD34-FCF2-ACBF-928D4936E24A}"/>
              </a:ext>
            </a:extLst>
          </p:cNvPr>
          <p:cNvSpPr/>
          <p:nvPr/>
        </p:nvSpPr>
        <p:spPr>
          <a:xfrm>
            <a:off x="1378177" y="5439516"/>
            <a:ext cx="5147865" cy="1247941"/>
          </a:xfrm>
          <a:prstGeom prst="roundRect">
            <a:avLst>
              <a:gd name="adj" fmla="val 4676"/>
            </a:avLst>
          </a:prstGeom>
          <a:ln w="12700">
            <a:solidFill>
              <a:srgbClr val="247BA3"/>
            </a:solidFill>
            <a:miter lim="400000"/>
          </a:ln>
        </p:spPr>
        <p:txBody>
          <a:bodyPr lIns="45719" rIns="45719" anchor="ctr"/>
          <a:lstStyle/>
          <a:p>
            <a:pPr>
              <a:defRPr>
                <a:solidFill>
                  <a:srgbClr val="FFFFFF"/>
                </a:solidFill>
              </a:defRPr>
            </a:pPr>
            <a:endParaRPr>
              <a:cs typeface="+mn-ea"/>
              <a:sym typeface="+mn-lt"/>
            </a:endParaRPr>
          </a:p>
        </p:txBody>
      </p:sp>
      <p:pic>
        <p:nvPicPr>
          <p:cNvPr id="61" name="图像" descr="图像">
            <a:extLst>
              <a:ext uri="{FF2B5EF4-FFF2-40B4-BE49-F238E27FC236}">
                <a16:creationId xmlns:a16="http://schemas.microsoft.com/office/drawing/2014/main" id="{ADC5F1F2-A931-843E-BBF2-BFBC14F84EC5}"/>
              </a:ext>
            </a:extLst>
          </p:cNvPr>
          <p:cNvPicPr>
            <a:picLocks noChangeAspect="1"/>
          </p:cNvPicPr>
          <p:nvPr/>
        </p:nvPicPr>
        <p:blipFill>
          <a:blip r:embed="rId7"/>
          <a:stretch>
            <a:fillRect/>
          </a:stretch>
        </p:blipFill>
        <p:spPr>
          <a:xfrm>
            <a:off x="1469541" y="5562151"/>
            <a:ext cx="711201" cy="342901"/>
          </a:xfrm>
          <a:prstGeom prst="rect">
            <a:avLst/>
          </a:prstGeom>
          <a:ln w="12700">
            <a:miter lim="400000"/>
          </a:ln>
        </p:spPr>
      </p:pic>
      <p:pic>
        <p:nvPicPr>
          <p:cNvPr id="62" name="图像" descr="图像">
            <a:extLst>
              <a:ext uri="{FF2B5EF4-FFF2-40B4-BE49-F238E27FC236}">
                <a16:creationId xmlns:a16="http://schemas.microsoft.com/office/drawing/2014/main" id="{9172F245-E15E-D74E-4F64-85231162D7DE}"/>
              </a:ext>
            </a:extLst>
          </p:cNvPr>
          <p:cNvPicPr>
            <a:picLocks noChangeAspect="1"/>
          </p:cNvPicPr>
          <p:nvPr/>
        </p:nvPicPr>
        <p:blipFill>
          <a:blip r:embed="rId28"/>
          <a:stretch>
            <a:fillRect/>
          </a:stretch>
        </p:blipFill>
        <p:spPr>
          <a:xfrm>
            <a:off x="3688281" y="5941135"/>
            <a:ext cx="919749" cy="203201"/>
          </a:xfrm>
          <a:prstGeom prst="rect">
            <a:avLst/>
          </a:prstGeom>
          <a:ln w="12700">
            <a:miter lim="400000"/>
          </a:ln>
        </p:spPr>
      </p:pic>
      <p:pic>
        <p:nvPicPr>
          <p:cNvPr id="63" name="图像" descr="图像">
            <a:extLst>
              <a:ext uri="{FF2B5EF4-FFF2-40B4-BE49-F238E27FC236}">
                <a16:creationId xmlns:a16="http://schemas.microsoft.com/office/drawing/2014/main" id="{5693C12B-2C09-BCC6-CCE0-394BAB4E54F4}"/>
              </a:ext>
            </a:extLst>
          </p:cNvPr>
          <p:cNvPicPr>
            <a:picLocks noChangeAspect="1"/>
          </p:cNvPicPr>
          <p:nvPr/>
        </p:nvPicPr>
        <p:blipFill>
          <a:blip r:embed="rId27"/>
          <a:stretch>
            <a:fillRect/>
          </a:stretch>
        </p:blipFill>
        <p:spPr>
          <a:xfrm>
            <a:off x="2793013" y="5781255"/>
            <a:ext cx="325002" cy="171054"/>
          </a:xfrm>
          <a:prstGeom prst="rect">
            <a:avLst/>
          </a:prstGeom>
          <a:ln w="12700">
            <a:miter lim="400000"/>
          </a:ln>
        </p:spPr>
      </p:pic>
      <p:pic>
        <p:nvPicPr>
          <p:cNvPr id="64" name="图像" descr="图像">
            <a:extLst>
              <a:ext uri="{FF2B5EF4-FFF2-40B4-BE49-F238E27FC236}">
                <a16:creationId xmlns:a16="http://schemas.microsoft.com/office/drawing/2014/main" id="{8EA9B264-3618-11D1-3530-136939F755A1}"/>
              </a:ext>
            </a:extLst>
          </p:cNvPr>
          <p:cNvPicPr>
            <a:picLocks noChangeAspect="1"/>
          </p:cNvPicPr>
          <p:nvPr/>
        </p:nvPicPr>
        <p:blipFill>
          <a:blip r:embed="rId29"/>
          <a:srcRect l="11294" t="40160" r="11294" b="39725"/>
          <a:stretch>
            <a:fillRect/>
          </a:stretch>
        </p:blipFill>
        <p:spPr>
          <a:xfrm>
            <a:off x="2305037" y="6242645"/>
            <a:ext cx="988230" cy="171183"/>
          </a:xfrm>
          <a:prstGeom prst="rect">
            <a:avLst/>
          </a:prstGeom>
          <a:ln w="12700">
            <a:miter lim="400000"/>
          </a:ln>
        </p:spPr>
      </p:pic>
      <p:pic>
        <p:nvPicPr>
          <p:cNvPr id="65" name="图像" descr="图像">
            <a:extLst>
              <a:ext uri="{FF2B5EF4-FFF2-40B4-BE49-F238E27FC236}">
                <a16:creationId xmlns:a16="http://schemas.microsoft.com/office/drawing/2014/main" id="{89203286-A9D8-80B1-DB1F-BE3528DE7195}"/>
              </a:ext>
            </a:extLst>
          </p:cNvPr>
          <p:cNvPicPr>
            <a:picLocks noChangeAspect="1"/>
          </p:cNvPicPr>
          <p:nvPr/>
        </p:nvPicPr>
        <p:blipFill>
          <a:blip r:embed="rId30"/>
          <a:srcRect l="4131" t="32380" b="31480"/>
          <a:stretch>
            <a:fillRect/>
          </a:stretch>
        </p:blipFill>
        <p:spPr>
          <a:xfrm>
            <a:off x="5243122" y="5684359"/>
            <a:ext cx="652908" cy="246124"/>
          </a:xfrm>
          <a:prstGeom prst="rect">
            <a:avLst/>
          </a:prstGeom>
          <a:ln w="12700">
            <a:miter lim="400000"/>
          </a:ln>
        </p:spPr>
      </p:pic>
      <p:pic>
        <p:nvPicPr>
          <p:cNvPr id="66" name="图像" descr="图像">
            <a:extLst>
              <a:ext uri="{FF2B5EF4-FFF2-40B4-BE49-F238E27FC236}">
                <a16:creationId xmlns:a16="http://schemas.microsoft.com/office/drawing/2014/main" id="{69E2B6E5-9D6A-0D32-5417-5A8A6B055F9A}"/>
              </a:ext>
            </a:extLst>
          </p:cNvPr>
          <p:cNvPicPr>
            <a:picLocks noChangeAspect="1"/>
          </p:cNvPicPr>
          <p:nvPr/>
        </p:nvPicPr>
        <p:blipFill>
          <a:blip r:embed="rId31"/>
          <a:stretch>
            <a:fillRect/>
          </a:stretch>
        </p:blipFill>
        <p:spPr>
          <a:xfrm>
            <a:off x="5537939" y="1573884"/>
            <a:ext cx="368301" cy="400220"/>
          </a:xfrm>
          <a:prstGeom prst="rect">
            <a:avLst/>
          </a:prstGeom>
          <a:ln w="12700">
            <a:miter lim="400000"/>
          </a:ln>
        </p:spPr>
      </p:pic>
      <p:pic>
        <p:nvPicPr>
          <p:cNvPr id="67" name="图像" descr="图像">
            <a:extLst>
              <a:ext uri="{FF2B5EF4-FFF2-40B4-BE49-F238E27FC236}">
                <a16:creationId xmlns:a16="http://schemas.microsoft.com/office/drawing/2014/main" id="{CDDB41AD-EFB9-1F0D-5FE4-FAE852BC28DD}"/>
              </a:ext>
            </a:extLst>
          </p:cNvPr>
          <p:cNvPicPr>
            <a:picLocks noChangeAspect="1"/>
          </p:cNvPicPr>
          <p:nvPr/>
        </p:nvPicPr>
        <p:blipFill>
          <a:blip r:embed="rId32"/>
          <a:stretch>
            <a:fillRect/>
          </a:stretch>
        </p:blipFill>
        <p:spPr>
          <a:xfrm>
            <a:off x="5095489" y="2064539"/>
            <a:ext cx="585272" cy="215901"/>
          </a:xfrm>
          <a:prstGeom prst="rect">
            <a:avLst/>
          </a:prstGeom>
          <a:ln w="12700">
            <a:miter lim="400000"/>
          </a:ln>
        </p:spPr>
      </p:pic>
      <p:pic>
        <p:nvPicPr>
          <p:cNvPr id="68" name="图像" descr="图像">
            <a:extLst>
              <a:ext uri="{FF2B5EF4-FFF2-40B4-BE49-F238E27FC236}">
                <a16:creationId xmlns:a16="http://schemas.microsoft.com/office/drawing/2014/main" id="{1D5F9ACE-96AB-C396-ED27-B4F143A008A7}"/>
              </a:ext>
            </a:extLst>
          </p:cNvPr>
          <p:cNvPicPr>
            <a:picLocks noChangeAspect="1"/>
          </p:cNvPicPr>
          <p:nvPr/>
        </p:nvPicPr>
        <p:blipFill>
          <a:blip r:embed="rId33"/>
          <a:srcRect l="2824" t="16949" r="2856" b="16971"/>
          <a:stretch>
            <a:fillRect/>
          </a:stretch>
        </p:blipFill>
        <p:spPr>
          <a:xfrm>
            <a:off x="6038890" y="1686048"/>
            <a:ext cx="527051" cy="123084"/>
          </a:xfrm>
          <a:custGeom>
            <a:avLst/>
            <a:gdLst/>
            <a:ahLst/>
            <a:cxnLst>
              <a:cxn ang="0">
                <a:pos x="wd2" y="hd2"/>
              </a:cxn>
              <a:cxn ang="5400000">
                <a:pos x="wd2" y="hd2"/>
              </a:cxn>
              <a:cxn ang="10800000">
                <a:pos x="wd2" y="hd2"/>
              </a:cxn>
              <a:cxn ang="16200000">
                <a:pos x="wd2" y="hd2"/>
              </a:cxn>
            </a:cxnLst>
            <a:rect l="0" t="0" r="r" b="b"/>
            <a:pathLst>
              <a:path w="21600" h="20863" extrusionOk="0">
                <a:moveTo>
                  <a:pt x="3887" y="0"/>
                </a:moveTo>
                <a:lnTo>
                  <a:pt x="3855" y="8409"/>
                </a:lnTo>
                <a:lnTo>
                  <a:pt x="3822" y="16885"/>
                </a:lnTo>
                <a:lnTo>
                  <a:pt x="2521" y="16885"/>
                </a:lnTo>
                <a:lnTo>
                  <a:pt x="1236" y="16885"/>
                </a:lnTo>
                <a:lnTo>
                  <a:pt x="1187" y="14867"/>
                </a:lnTo>
                <a:cubicBezTo>
                  <a:pt x="1147" y="12874"/>
                  <a:pt x="1140" y="12849"/>
                  <a:pt x="569" y="12849"/>
                </a:cubicBezTo>
                <a:lnTo>
                  <a:pt x="0" y="12849"/>
                </a:lnTo>
                <a:lnTo>
                  <a:pt x="0" y="16011"/>
                </a:lnTo>
                <a:cubicBezTo>
                  <a:pt x="0" y="18691"/>
                  <a:pt x="50" y="19345"/>
                  <a:pt x="293" y="20047"/>
                </a:cubicBezTo>
                <a:cubicBezTo>
                  <a:pt x="523" y="20713"/>
                  <a:pt x="974" y="20854"/>
                  <a:pt x="2554" y="20854"/>
                </a:cubicBezTo>
                <a:cubicBezTo>
                  <a:pt x="5209" y="20854"/>
                  <a:pt x="5042" y="21600"/>
                  <a:pt x="5042" y="9351"/>
                </a:cubicBezTo>
                <a:lnTo>
                  <a:pt x="5042" y="0"/>
                </a:lnTo>
                <a:lnTo>
                  <a:pt x="4473" y="0"/>
                </a:lnTo>
                <a:lnTo>
                  <a:pt x="3887" y="0"/>
                </a:lnTo>
                <a:close/>
                <a:moveTo>
                  <a:pt x="8799" y="0"/>
                </a:moveTo>
                <a:cubicBezTo>
                  <a:pt x="6085" y="0"/>
                  <a:pt x="5946" y="449"/>
                  <a:pt x="5953" y="10562"/>
                </a:cubicBezTo>
                <a:cubicBezTo>
                  <a:pt x="5958" y="17276"/>
                  <a:pt x="6076" y="18868"/>
                  <a:pt x="6620" y="20114"/>
                </a:cubicBezTo>
                <a:cubicBezTo>
                  <a:pt x="6841" y="20621"/>
                  <a:pt x="7533" y="20841"/>
                  <a:pt x="9076" y="20854"/>
                </a:cubicBezTo>
                <a:lnTo>
                  <a:pt x="11239" y="20854"/>
                </a:lnTo>
                <a:lnTo>
                  <a:pt x="11288" y="18836"/>
                </a:lnTo>
                <a:lnTo>
                  <a:pt x="11320" y="16885"/>
                </a:lnTo>
                <a:lnTo>
                  <a:pt x="9271" y="16885"/>
                </a:lnTo>
                <a:lnTo>
                  <a:pt x="7205" y="16885"/>
                </a:lnTo>
                <a:lnTo>
                  <a:pt x="7222" y="10831"/>
                </a:lnTo>
                <a:cubicBezTo>
                  <a:pt x="7227" y="7519"/>
                  <a:pt x="7259" y="4599"/>
                  <a:pt x="7303" y="4305"/>
                </a:cubicBezTo>
                <a:cubicBezTo>
                  <a:pt x="7349" y="3997"/>
                  <a:pt x="8064" y="3767"/>
                  <a:pt x="8995" y="3767"/>
                </a:cubicBezTo>
                <a:lnTo>
                  <a:pt x="10605" y="3767"/>
                </a:lnTo>
                <a:lnTo>
                  <a:pt x="10605" y="1884"/>
                </a:lnTo>
                <a:lnTo>
                  <a:pt x="10605" y="0"/>
                </a:lnTo>
                <a:lnTo>
                  <a:pt x="8799" y="0"/>
                </a:lnTo>
                <a:close/>
                <a:moveTo>
                  <a:pt x="11320" y="16885"/>
                </a:moveTo>
                <a:lnTo>
                  <a:pt x="11971" y="16885"/>
                </a:lnTo>
                <a:lnTo>
                  <a:pt x="12622" y="16885"/>
                </a:lnTo>
                <a:lnTo>
                  <a:pt x="12654" y="18836"/>
                </a:lnTo>
                <a:lnTo>
                  <a:pt x="12703" y="20854"/>
                </a:lnTo>
                <a:lnTo>
                  <a:pt x="16428" y="20854"/>
                </a:lnTo>
                <a:lnTo>
                  <a:pt x="16428" y="19038"/>
                </a:lnTo>
                <a:lnTo>
                  <a:pt x="16428" y="17154"/>
                </a:lnTo>
                <a:lnTo>
                  <a:pt x="14590" y="17020"/>
                </a:lnTo>
                <a:lnTo>
                  <a:pt x="12752" y="16885"/>
                </a:lnTo>
                <a:lnTo>
                  <a:pt x="12670" y="14867"/>
                </a:lnTo>
                <a:cubicBezTo>
                  <a:pt x="12627" y="13766"/>
                  <a:pt x="12618" y="12729"/>
                  <a:pt x="12654" y="12580"/>
                </a:cubicBezTo>
                <a:cubicBezTo>
                  <a:pt x="12690" y="12430"/>
                  <a:pt x="13554" y="12311"/>
                  <a:pt x="14573" y="12311"/>
                </a:cubicBezTo>
                <a:lnTo>
                  <a:pt x="16428" y="12311"/>
                </a:lnTo>
                <a:lnTo>
                  <a:pt x="16428" y="10427"/>
                </a:lnTo>
                <a:lnTo>
                  <a:pt x="16428" y="8611"/>
                </a:lnTo>
                <a:lnTo>
                  <a:pt x="14525" y="8476"/>
                </a:lnTo>
                <a:lnTo>
                  <a:pt x="12622" y="8274"/>
                </a:lnTo>
                <a:lnTo>
                  <a:pt x="12654" y="6391"/>
                </a:lnTo>
                <a:cubicBezTo>
                  <a:pt x="12678" y="5361"/>
                  <a:pt x="12748" y="4396"/>
                  <a:pt x="12801" y="4171"/>
                </a:cubicBezTo>
                <a:cubicBezTo>
                  <a:pt x="12853" y="3945"/>
                  <a:pt x="14138" y="3823"/>
                  <a:pt x="15663" y="3902"/>
                </a:cubicBezTo>
                <a:lnTo>
                  <a:pt x="18445" y="4036"/>
                </a:lnTo>
                <a:lnTo>
                  <a:pt x="18477" y="12445"/>
                </a:lnTo>
                <a:lnTo>
                  <a:pt x="18510" y="20854"/>
                </a:lnTo>
                <a:lnTo>
                  <a:pt x="19664" y="20854"/>
                </a:lnTo>
                <a:lnTo>
                  <a:pt x="19697" y="12445"/>
                </a:lnTo>
                <a:lnTo>
                  <a:pt x="19730" y="4036"/>
                </a:lnTo>
                <a:lnTo>
                  <a:pt x="20673" y="3834"/>
                </a:lnTo>
                <a:lnTo>
                  <a:pt x="21600" y="3700"/>
                </a:lnTo>
                <a:lnTo>
                  <a:pt x="21600" y="1816"/>
                </a:lnTo>
                <a:lnTo>
                  <a:pt x="21600" y="0"/>
                </a:lnTo>
                <a:lnTo>
                  <a:pt x="16786" y="0"/>
                </a:lnTo>
                <a:lnTo>
                  <a:pt x="11955" y="0"/>
                </a:lnTo>
                <a:lnTo>
                  <a:pt x="11678" y="1211"/>
                </a:lnTo>
                <a:cubicBezTo>
                  <a:pt x="11428" y="2315"/>
                  <a:pt x="11386" y="3103"/>
                  <a:pt x="11353" y="9620"/>
                </a:cubicBezTo>
                <a:lnTo>
                  <a:pt x="11320" y="16885"/>
                </a:lnTo>
                <a:close/>
              </a:path>
            </a:pathLst>
          </a:custGeom>
          <a:ln w="12700">
            <a:miter lim="400000"/>
          </a:ln>
        </p:spPr>
      </p:pic>
      <p:pic>
        <p:nvPicPr>
          <p:cNvPr id="69" name="图像" descr="图像">
            <a:extLst>
              <a:ext uri="{FF2B5EF4-FFF2-40B4-BE49-F238E27FC236}">
                <a16:creationId xmlns:a16="http://schemas.microsoft.com/office/drawing/2014/main" id="{9DC8309B-22DC-592A-3D95-15FBDC13D487}"/>
              </a:ext>
            </a:extLst>
          </p:cNvPr>
          <p:cNvPicPr>
            <a:picLocks noChangeAspect="1"/>
          </p:cNvPicPr>
          <p:nvPr/>
        </p:nvPicPr>
        <p:blipFill>
          <a:blip r:embed="rId34"/>
          <a:srcRect l="5884" t="22886" r="3998" b="18237"/>
          <a:stretch>
            <a:fillRect/>
          </a:stretch>
        </p:blipFill>
        <p:spPr>
          <a:xfrm>
            <a:off x="5859963" y="2112737"/>
            <a:ext cx="672204" cy="128482"/>
          </a:xfrm>
          <a:custGeom>
            <a:avLst/>
            <a:gdLst/>
            <a:ahLst/>
            <a:cxnLst>
              <a:cxn ang="0">
                <a:pos x="wd2" y="hd2"/>
              </a:cxn>
              <a:cxn ang="5400000">
                <a:pos x="wd2" y="hd2"/>
              </a:cxn>
              <a:cxn ang="10800000">
                <a:pos x="wd2" y="hd2"/>
              </a:cxn>
              <a:cxn ang="16200000">
                <a:pos x="wd2" y="hd2"/>
              </a:cxn>
            </a:cxnLst>
            <a:rect l="0" t="0" r="r" b="b"/>
            <a:pathLst>
              <a:path w="21570" h="21468" extrusionOk="0">
                <a:moveTo>
                  <a:pt x="531" y="115"/>
                </a:moveTo>
                <a:cubicBezTo>
                  <a:pt x="415" y="261"/>
                  <a:pt x="60" y="3352"/>
                  <a:pt x="60" y="4226"/>
                </a:cubicBezTo>
                <a:cubicBezTo>
                  <a:pt x="60" y="4413"/>
                  <a:pt x="292" y="4558"/>
                  <a:pt x="620" y="4558"/>
                </a:cubicBezTo>
                <a:cubicBezTo>
                  <a:pt x="1208" y="4558"/>
                  <a:pt x="1312" y="4802"/>
                  <a:pt x="1206" y="5818"/>
                </a:cubicBezTo>
                <a:cubicBezTo>
                  <a:pt x="1172" y="6144"/>
                  <a:pt x="1067" y="7352"/>
                  <a:pt x="964" y="8537"/>
                </a:cubicBezTo>
                <a:cubicBezTo>
                  <a:pt x="552" y="13282"/>
                  <a:pt x="168" y="17657"/>
                  <a:pt x="85" y="18484"/>
                </a:cubicBezTo>
                <a:cubicBezTo>
                  <a:pt x="-24" y="19570"/>
                  <a:pt x="-30" y="20065"/>
                  <a:pt x="73" y="20274"/>
                </a:cubicBezTo>
                <a:cubicBezTo>
                  <a:pt x="116" y="20364"/>
                  <a:pt x="407" y="20371"/>
                  <a:pt x="722" y="20274"/>
                </a:cubicBezTo>
                <a:cubicBezTo>
                  <a:pt x="1205" y="20126"/>
                  <a:pt x="1317" y="19940"/>
                  <a:pt x="1410" y="19346"/>
                </a:cubicBezTo>
                <a:cubicBezTo>
                  <a:pt x="1470" y="18958"/>
                  <a:pt x="1511" y="18545"/>
                  <a:pt x="1512" y="18351"/>
                </a:cubicBezTo>
                <a:cubicBezTo>
                  <a:pt x="1512" y="18158"/>
                  <a:pt x="1573" y="17411"/>
                  <a:pt x="1639" y="16693"/>
                </a:cubicBezTo>
                <a:cubicBezTo>
                  <a:pt x="1783" y="15126"/>
                  <a:pt x="2133" y="11114"/>
                  <a:pt x="2250" y="9730"/>
                </a:cubicBezTo>
                <a:cubicBezTo>
                  <a:pt x="2297" y="9184"/>
                  <a:pt x="2403" y="7989"/>
                  <a:pt x="2480" y="7078"/>
                </a:cubicBezTo>
                <a:cubicBezTo>
                  <a:pt x="2711" y="4315"/>
                  <a:pt x="2737" y="4194"/>
                  <a:pt x="3346" y="4293"/>
                </a:cubicBezTo>
                <a:cubicBezTo>
                  <a:pt x="3638" y="4340"/>
                  <a:pt x="3892" y="4503"/>
                  <a:pt x="3906" y="4624"/>
                </a:cubicBezTo>
                <a:cubicBezTo>
                  <a:pt x="3920" y="4745"/>
                  <a:pt x="3865" y="5612"/>
                  <a:pt x="3779" y="6547"/>
                </a:cubicBezTo>
                <a:cubicBezTo>
                  <a:pt x="3692" y="7483"/>
                  <a:pt x="3626" y="8333"/>
                  <a:pt x="3626" y="8470"/>
                </a:cubicBezTo>
                <a:cubicBezTo>
                  <a:pt x="3625" y="9195"/>
                  <a:pt x="3288" y="10546"/>
                  <a:pt x="2951" y="11189"/>
                </a:cubicBezTo>
                <a:cubicBezTo>
                  <a:pt x="2535" y="11984"/>
                  <a:pt x="2225" y="13290"/>
                  <a:pt x="2225" y="14240"/>
                </a:cubicBezTo>
                <a:cubicBezTo>
                  <a:pt x="2225" y="14960"/>
                  <a:pt x="2217" y="14984"/>
                  <a:pt x="2658" y="14372"/>
                </a:cubicBezTo>
                <a:cubicBezTo>
                  <a:pt x="2850" y="14107"/>
                  <a:pt x="3028" y="13976"/>
                  <a:pt x="3053" y="14107"/>
                </a:cubicBezTo>
                <a:cubicBezTo>
                  <a:pt x="3078" y="14238"/>
                  <a:pt x="3015" y="15281"/>
                  <a:pt x="2913" y="16428"/>
                </a:cubicBezTo>
                <a:cubicBezTo>
                  <a:pt x="2810" y="17575"/>
                  <a:pt x="2718" y="18898"/>
                  <a:pt x="2696" y="19346"/>
                </a:cubicBezTo>
                <a:lnTo>
                  <a:pt x="2645" y="20142"/>
                </a:lnTo>
                <a:lnTo>
                  <a:pt x="3282" y="20142"/>
                </a:lnTo>
                <a:cubicBezTo>
                  <a:pt x="3627" y="20139"/>
                  <a:pt x="3932" y="20010"/>
                  <a:pt x="3970" y="19876"/>
                </a:cubicBezTo>
                <a:cubicBezTo>
                  <a:pt x="4007" y="19743"/>
                  <a:pt x="4106" y="18931"/>
                  <a:pt x="4186" y="18020"/>
                </a:cubicBezTo>
                <a:cubicBezTo>
                  <a:pt x="4267" y="17108"/>
                  <a:pt x="4395" y="15703"/>
                  <a:pt x="4466" y="14903"/>
                </a:cubicBezTo>
                <a:lnTo>
                  <a:pt x="4594" y="13444"/>
                </a:lnTo>
                <a:lnTo>
                  <a:pt x="5192" y="13643"/>
                </a:lnTo>
                <a:cubicBezTo>
                  <a:pt x="6468" y="14039"/>
                  <a:pt x="7619" y="12127"/>
                  <a:pt x="7828" y="9266"/>
                </a:cubicBezTo>
                <a:cubicBezTo>
                  <a:pt x="7886" y="8477"/>
                  <a:pt x="7904" y="8451"/>
                  <a:pt x="7981" y="9001"/>
                </a:cubicBezTo>
                <a:cubicBezTo>
                  <a:pt x="8096" y="9816"/>
                  <a:pt x="8580" y="9435"/>
                  <a:pt x="8580" y="8537"/>
                </a:cubicBezTo>
                <a:cubicBezTo>
                  <a:pt x="8580" y="7810"/>
                  <a:pt x="8291" y="7423"/>
                  <a:pt x="7994" y="7741"/>
                </a:cubicBezTo>
                <a:cubicBezTo>
                  <a:pt x="7880" y="7863"/>
                  <a:pt x="7581" y="8501"/>
                  <a:pt x="7332" y="9134"/>
                </a:cubicBezTo>
                <a:cubicBezTo>
                  <a:pt x="6807" y="10465"/>
                  <a:pt x="6256" y="10955"/>
                  <a:pt x="5663" y="10659"/>
                </a:cubicBezTo>
                <a:cubicBezTo>
                  <a:pt x="5172" y="10413"/>
                  <a:pt x="4963" y="10055"/>
                  <a:pt x="4963" y="9465"/>
                </a:cubicBezTo>
                <a:cubicBezTo>
                  <a:pt x="4963" y="9228"/>
                  <a:pt x="5056" y="7957"/>
                  <a:pt x="5180" y="6614"/>
                </a:cubicBezTo>
                <a:lnTo>
                  <a:pt x="5409" y="4160"/>
                </a:lnTo>
                <a:lnTo>
                  <a:pt x="6479" y="4359"/>
                </a:lnTo>
                <a:lnTo>
                  <a:pt x="7548" y="4624"/>
                </a:lnTo>
                <a:lnTo>
                  <a:pt x="7727" y="2569"/>
                </a:lnTo>
                <a:cubicBezTo>
                  <a:pt x="7823" y="1451"/>
                  <a:pt x="7878" y="437"/>
                  <a:pt x="7854" y="314"/>
                </a:cubicBezTo>
                <a:cubicBezTo>
                  <a:pt x="7805" y="59"/>
                  <a:pt x="728" y="-132"/>
                  <a:pt x="531" y="115"/>
                </a:cubicBezTo>
                <a:close/>
                <a:moveTo>
                  <a:pt x="10108" y="248"/>
                </a:moveTo>
                <a:cubicBezTo>
                  <a:pt x="9939" y="248"/>
                  <a:pt x="9917" y="374"/>
                  <a:pt x="9917" y="1375"/>
                </a:cubicBezTo>
                <a:cubicBezTo>
                  <a:pt x="9917" y="2648"/>
                  <a:pt x="9870" y="3024"/>
                  <a:pt x="9764" y="2569"/>
                </a:cubicBezTo>
                <a:cubicBezTo>
                  <a:pt x="9724" y="2393"/>
                  <a:pt x="9592" y="2221"/>
                  <a:pt x="9471" y="2171"/>
                </a:cubicBezTo>
                <a:cubicBezTo>
                  <a:pt x="9290" y="2094"/>
                  <a:pt x="9255" y="2220"/>
                  <a:pt x="9255" y="2768"/>
                </a:cubicBezTo>
                <a:cubicBezTo>
                  <a:pt x="9255" y="3159"/>
                  <a:pt x="9329" y="3569"/>
                  <a:pt x="9433" y="3829"/>
                </a:cubicBezTo>
                <a:cubicBezTo>
                  <a:pt x="9529" y="4069"/>
                  <a:pt x="9599" y="4571"/>
                  <a:pt x="9599" y="4890"/>
                </a:cubicBezTo>
                <a:cubicBezTo>
                  <a:pt x="9599" y="5208"/>
                  <a:pt x="9634" y="5603"/>
                  <a:pt x="9675" y="5818"/>
                </a:cubicBezTo>
                <a:cubicBezTo>
                  <a:pt x="9779" y="6357"/>
                  <a:pt x="9577" y="7572"/>
                  <a:pt x="9395" y="7476"/>
                </a:cubicBezTo>
                <a:cubicBezTo>
                  <a:pt x="9269" y="7409"/>
                  <a:pt x="9252" y="7607"/>
                  <a:pt x="9191" y="10526"/>
                </a:cubicBezTo>
                <a:cubicBezTo>
                  <a:pt x="9155" y="12258"/>
                  <a:pt x="9104" y="13881"/>
                  <a:pt x="9077" y="14107"/>
                </a:cubicBezTo>
                <a:cubicBezTo>
                  <a:pt x="9010" y="14665"/>
                  <a:pt x="8754" y="13834"/>
                  <a:pt x="8656" y="12715"/>
                </a:cubicBezTo>
                <a:cubicBezTo>
                  <a:pt x="8613" y="12218"/>
                  <a:pt x="8533" y="11852"/>
                  <a:pt x="8453" y="11852"/>
                </a:cubicBezTo>
                <a:cubicBezTo>
                  <a:pt x="8334" y="11852"/>
                  <a:pt x="8322" y="12055"/>
                  <a:pt x="8338" y="13378"/>
                </a:cubicBezTo>
                <a:cubicBezTo>
                  <a:pt x="8348" y="14218"/>
                  <a:pt x="8317" y="15010"/>
                  <a:pt x="8274" y="15234"/>
                </a:cubicBezTo>
                <a:cubicBezTo>
                  <a:pt x="8136" y="15954"/>
                  <a:pt x="8197" y="16498"/>
                  <a:pt x="8440" y="16693"/>
                </a:cubicBezTo>
                <a:cubicBezTo>
                  <a:pt x="8758" y="16950"/>
                  <a:pt x="9560" y="17828"/>
                  <a:pt x="9955" y="18351"/>
                </a:cubicBezTo>
                <a:cubicBezTo>
                  <a:pt x="10130" y="18583"/>
                  <a:pt x="10336" y="18792"/>
                  <a:pt x="10414" y="18815"/>
                </a:cubicBezTo>
                <a:cubicBezTo>
                  <a:pt x="10632" y="18880"/>
                  <a:pt x="11390" y="17486"/>
                  <a:pt x="11611" y="16627"/>
                </a:cubicBezTo>
                <a:cubicBezTo>
                  <a:pt x="11719" y="16206"/>
                  <a:pt x="11859" y="15831"/>
                  <a:pt x="11917" y="15831"/>
                </a:cubicBezTo>
                <a:cubicBezTo>
                  <a:pt x="12051" y="15831"/>
                  <a:pt x="12049" y="15300"/>
                  <a:pt x="11917" y="15036"/>
                </a:cubicBezTo>
                <a:cubicBezTo>
                  <a:pt x="11861" y="14925"/>
                  <a:pt x="11604" y="14837"/>
                  <a:pt x="11331" y="14837"/>
                </a:cubicBezTo>
                <a:cubicBezTo>
                  <a:pt x="10667" y="14837"/>
                  <a:pt x="10662" y="14791"/>
                  <a:pt x="10656" y="9730"/>
                </a:cubicBezTo>
                <a:lnTo>
                  <a:pt x="10643" y="5752"/>
                </a:lnTo>
                <a:lnTo>
                  <a:pt x="10452" y="5420"/>
                </a:lnTo>
                <a:cubicBezTo>
                  <a:pt x="10346" y="5238"/>
                  <a:pt x="10253" y="4939"/>
                  <a:pt x="10248" y="4757"/>
                </a:cubicBezTo>
                <a:cubicBezTo>
                  <a:pt x="10243" y="4575"/>
                  <a:pt x="10354" y="3784"/>
                  <a:pt x="10490" y="3033"/>
                </a:cubicBezTo>
                <a:cubicBezTo>
                  <a:pt x="10626" y="2281"/>
                  <a:pt x="10717" y="1503"/>
                  <a:pt x="10694" y="1309"/>
                </a:cubicBezTo>
                <a:cubicBezTo>
                  <a:pt x="10634" y="804"/>
                  <a:pt x="10327" y="248"/>
                  <a:pt x="10108" y="248"/>
                </a:cubicBezTo>
                <a:close/>
                <a:moveTo>
                  <a:pt x="15623" y="579"/>
                </a:moveTo>
                <a:cubicBezTo>
                  <a:pt x="15490" y="579"/>
                  <a:pt x="15474" y="819"/>
                  <a:pt x="15444" y="2966"/>
                </a:cubicBezTo>
                <a:cubicBezTo>
                  <a:pt x="15424" y="4459"/>
                  <a:pt x="15371" y="5501"/>
                  <a:pt x="15304" y="5884"/>
                </a:cubicBezTo>
                <a:cubicBezTo>
                  <a:pt x="15247" y="6213"/>
                  <a:pt x="15202" y="6545"/>
                  <a:pt x="15202" y="6680"/>
                </a:cubicBezTo>
                <a:cubicBezTo>
                  <a:pt x="15202" y="6815"/>
                  <a:pt x="15137" y="7409"/>
                  <a:pt x="15049" y="8006"/>
                </a:cubicBezTo>
                <a:cubicBezTo>
                  <a:pt x="14962" y="8604"/>
                  <a:pt x="14884" y="9470"/>
                  <a:pt x="14884" y="9863"/>
                </a:cubicBezTo>
                <a:cubicBezTo>
                  <a:pt x="14884" y="10438"/>
                  <a:pt x="14920" y="10526"/>
                  <a:pt x="15075" y="10526"/>
                </a:cubicBezTo>
                <a:cubicBezTo>
                  <a:pt x="15182" y="10526"/>
                  <a:pt x="15285" y="10731"/>
                  <a:pt x="15304" y="10990"/>
                </a:cubicBezTo>
                <a:cubicBezTo>
                  <a:pt x="15347" y="11568"/>
                  <a:pt x="15203" y="13130"/>
                  <a:pt x="15024" y="13975"/>
                </a:cubicBezTo>
                <a:cubicBezTo>
                  <a:pt x="14950" y="14321"/>
                  <a:pt x="14884" y="14943"/>
                  <a:pt x="14884" y="15301"/>
                </a:cubicBezTo>
                <a:cubicBezTo>
                  <a:pt x="14884" y="15841"/>
                  <a:pt x="14917" y="15877"/>
                  <a:pt x="15062" y="15699"/>
                </a:cubicBezTo>
                <a:cubicBezTo>
                  <a:pt x="15435" y="15242"/>
                  <a:pt x="15432" y="15211"/>
                  <a:pt x="15432" y="17158"/>
                </a:cubicBezTo>
                <a:cubicBezTo>
                  <a:pt x="15432" y="18876"/>
                  <a:pt x="15441" y="18986"/>
                  <a:pt x="15597" y="19081"/>
                </a:cubicBezTo>
                <a:cubicBezTo>
                  <a:pt x="15729" y="19160"/>
                  <a:pt x="15773" y="19023"/>
                  <a:pt x="15826" y="18285"/>
                </a:cubicBezTo>
                <a:cubicBezTo>
                  <a:pt x="15863" y="17774"/>
                  <a:pt x="15901" y="16789"/>
                  <a:pt x="15903" y="16097"/>
                </a:cubicBezTo>
                <a:cubicBezTo>
                  <a:pt x="15905" y="15404"/>
                  <a:pt x="15920" y="14681"/>
                  <a:pt x="15941" y="14505"/>
                </a:cubicBezTo>
                <a:cubicBezTo>
                  <a:pt x="15997" y="14033"/>
                  <a:pt x="16094" y="14452"/>
                  <a:pt x="16094" y="15168"/>
                </a:cubicBezTo>
                <a:cubicBezTo>
                  <a:pt x="16094" y="15552"/>
                  <a:pt x="16148" y="15832"/>
                  <a:pt x="16234" y="15898"/>
                </a:cubicBezTo>
                <a:cubicBezTo>
                  <a:pt x="16413" y="16034"/>
                  <a:pt x="16489" y="17447"/>
                  <a:pt x="16438" y="19744"/>
                </a:cubicBezTo>
                <a:cubicBezTo>
                  <a:pt x="16399" y="21444"/>
                  <a:pt x="16406" y="21468"/>
                  <a:pt x="16565" y="21468"/>
                </a:cubicBezTo>
                <a:cubicBezTo>
                  <a:pt x="16692" y="21468"/>
                  <a:pt x="16738" y="21265"/>
                  <a:pt x="16769" y="20540"/>
                </a:cubicBezTo>
                <a:cubicBezTo>
                  <a:pt x="16796" y="19888"/>
                  <a:pt x="16908" y="19251"/>
                  <a:pt x="17151" y="18418"/>
                </a:cubicBezTo>
                <a:lnTo>
                  <a:pt x="17495" y="17224"/>
                </a:lnTo>
                <a:lnTo>
                  <a:pt x="17928" y="18351"/>
                </a:lnTo>
                <a:cubicBezTo>
                  <a:pt x="18406" y="19607"/>
                  <a:pt x="18394" y="19608"/>
                  <a:pt x="18513" y="19213"/>
                </a:cubicBezTo>
                <a:cubicBezTo>
                  <a:pt x="18651" y="18760"/>
                  <a:pt x="18532" y="17636"/>
                  <a:pt x="18272" y="16826"/>
                </a:cubicBezTo>
                <a:cubicBezTo>
                  <a:pt x="17806" y="15377"/>
                  <a:pt x="17773" y="15069"/>
                  <a:pt x="17788" y="12715"/>
                </a:cubicBezTo>
                <a:cubicBezTo>
                  <a:pt x="17797" y="11112"/>
                  <a:pt x="17840" y="10330"/>
                  <a:pt x="17940" y="9664"/>
                </a:cubicBezTo>
                <a:cubicBezTo>
                  <a:pt x="18014" y="9175"/>
                  <a:pt x="18068" y="8437"/>
                  <a:pt x="18068" y="8006"/>
                </a:cubicBezTo>
                <a:cubicBezTo>
                  <a:pt x="18068" y="7360"/>
                  <a:pt x="18044" y="7211"/>
                  <a:pt x="17889" y="7211"/>
                </a:cubicBezTo>
                <a:cubicBezTo>
                  <a:pt x="17786" y="7211"/>
                  <a:pt x="17682" y="7357"/>
                  <a:pt x="17660" y="7542"/>
                </a:cubicBezTo>
                <a:cubicBezTo>
                  <a:pt x="17638" y="7727"/>
                  <a:pt x="17583" y="7795"/>
                  <a:pt x="17546" y="7675"/>
                </a:cubicBezTo>
                <a:cubicBezTo>
                  <a:pt x="17500" y="7528"/>
                  <a:pt x="17493" y="6398"/>
                  <a:pt x="17520" y="4226"/>
                </a:cubicBezTo>
                <a:cubicBezTo>
                  <a:pt x="17546" y="2166"/>
                  <a:pt x="17535" y="909"/>
                  <a:pt x="17495" y="778"/>
                </a:cubicBezTo>
                <a:cubicBezTo>
                  <a:pt x="17384" y="420"/>
                  <a:pt x="17184" y="931"/>
                  <a:pt x="17164" y="1640"/>
                </a:cubicBezTo>
                <a:cubicBezTo>
                  <a:pt x="17150" y="2094"/>
                  <a:pt x="17063" y="2470"/>
                  <a:pt x="16896" y="2768"/>
                </a:cubicBezTo>
                <a:cubicBezTo>
                  <a:pt x="16595" y="3305"/>
                  <a:pt x="16540" y="3177"/>
                  <a:pt x="16540" y="1905"/>
                </a:cubicBezTo>
                <a:cubicBezTo>
                  <a:pt x="16540" y="1100"/>
                  <a:pt x="16512" y="911"/>
                  <a:pt x="16387" y="911"/>
                </a:cubicBezTo>
                <a:cubicBezTo>
                  <a:pt x="16133" y="911"/>
                  <a:pt x="16056" y="1774"/>
                  <a:pt x="16145" y="3497"/>
                </a:cubicBezTo>
                <a:cubicBezTo>
                  <a:pt x="16201" y="4591"/>
                  <a:pt x="16209" y="5113"/>
                  <a:pt x="16157" y="5619"/>
                </a:cubicBezTo>
                <a:cubicBezTo>
                  <a:pt x="16046" y="6699"/>
                  <a:pt x="15909" y="5713"/>
                  <a:pt x="15877" y="3563"/>
                </a:cubicBezTo>
                <a:cubicBezTo>
                  <a:pt x="15842" y="1176"/>
                  <a:pt x="15796" y="579"/>
                  <a:pt x="15623" y="579"/>
                </a:cubicBezTo>
                <a:close/>
                <a:moveTo>
                  <a:pt x="13254" y="712"/>
                </a:moveTo>
                <a:cubicBezTo>
                  <a:pt x="12917" y="383"/>
                  <a:pt x="12559" y="2006"/>
                  <a:pt x="12795" y="2768"/>
                </a:cubicBezTo>
                <a:cubicBezTo>
                  <a:pt x="12832" y="2886"/>
                  <a:pt x="12846" y="3167"/>
                  <a:pt x="12834" y="3364"/>
                </a:cubicBezTo>
                <a:cubicBezTo>
                  <a:pt x="12800" y="3889"/>
                  <a:pt x="12528" y="3883"/>
                  <a:pt x="12490" y="3364"/>
                </a:cubicBezTo>
                <a:cubicBezTo>
                  <a:pt x="12443" y="2726"/>
                  <a:pt x="12067" y="2809"/>
                  <a:pt x="11904" y="3497"/>
                </a:cubicBezTo>
                <a:cubicBezTo>
                  <a:pt x="11736" y="4207"/>
                  <a:pt x="11600" y="8504"/>
                  <a:pt x="11713" y="9598"/>
                </a:cubicBezTo>
                <a:cubicBezTo>
                  <a:pt x="11819" y="10628"/>
                  <a:pt x="12215" y="10326"/>
                  <a:pt x="12324" y="9134"/>
                </a:cubicBezTo>
                <a:cubicBezTo>
                  <a:pt x="12421" y="8072"/>
                  <a:pt x="12512" y="8038"/>
                  <a:pt x="12719" y="8868"/>
                </a:cubicBezTo>
                <a:lnTo>
                  <a:pt x="12872" y="9465"/>
                </a:lnTo>
                <a:lnTo>
                  <a:pt x="12630" y="10990"/>
                </a:lnTo>
                <a:cubicBezTo>
                  <a:pt x="12438" y="12300"/>
                  <a:pt x="12419" y="12685"/>
                  <a:pt x="12477" y="13245"/>
                </a:cubicBezTo>
                <a:cubicBezTo>
                  <a:pt x="12532" y="13785"/>
                  <a:pt x="12520" y="14045"/>
                  <a:pt x="12413" y="14638"/>
                </a:cubicBezTo>
                <a:cubicBezTo>
                  <a:pt x="12340" y="15042"/>
                  <a:pt x="12273" y="15820"/>
                  <a:pt x="12273" y="16296"/>
                </a:cubicBezTo>
                <a:cubicBezTo>
                  <a:pt x="12273" y="17350"/>
                  <a:pt x="12552" y="19085"/>
                  <a:pt x="12744" y="19280"/>
                </a:cubicBezTo>
                <a:cubicBezTo>
                  <a:pt x="12822" y="19358"/>
                  <a:pt x="13025" y="19454"/>
                  <a:pt x="13203" y="19479"/>
                </a:cubicBezTo>
                <a:cubicBezTo>
                  <a:pt x="13524" y="19523"/>
                  <a:pt x="13534" y="19490"/>
                  <a:pt x="13954" y="17224"/>
                </a:cubicBezTo>
                <a:cubicBezTo>
                  <a:pt x="14188" y="15965"/>
                  <a:pt x="14374" y="14803"/>
                  <a:pt x="14374" y="14638"/>
                </a:cubicBezTo>
                <a:cubicBezTo>
                  <a:pt x="14374" y="13880"/>
                  <a:pt x="14191" y="13145"/>
                  <a:pt x="13929" y="12914"/>
                </a:cubicBezTo>
                <a:cubicBezTo>
                  <a:pt x="13690" y="12703"/>
                  <a:pt x="13642" y="12530"/>
                  <a:pt x="13623" y="11852"/>
                </a:cubicBezTo>
                <a:cubicBezTo>
                  <a:pt x="13611" y="11406"/>
                  <a:pt x="13547" y="10893"/>
                  <a:pt x="13483" y="10659"/>
                </a:cubicBezTo>
                <a:cubicBezTo>
                  <a:pt x="13380" y="10284"/>
                  <a:pt x="13383" y="10077"/>
                  <a:pt x="13458" y="9333"/>
                </a:cubicBezTo>
                <a:cubicBezTo>
                  <a:pt x="13556" y="8344"/>
                  <a:pt x="13891" y="7023"/>
                  <a:pt x="14362" y="5752"/>
                </a:cubicBezTo>
                <a:cubicBezTo>
                  <a:pt x="14930" y="4217"/>
                  <a:pt x="14780" y="2900"/>
                  <a:pt x="14031" y="2900"/>
                </a:cubicBezTo>
                <a:cubicBezTo>
                  <a:pt x="13621" y="2900"/>
                  <a:pt x="13611" y="2930"/>
                  <a:pt x="13547" y="1972"/>
                </a:cubicBezTo>
                <a:cubicBezTo>
                  <a:pt x="13496" y="1217"/>
                  <a:pt x="13421" y="875"/>
                  <a:pt x="13254" y="712"/>
                </a:cubicBezTo>
                <a:close/>
                <a:moveTo>
                  <a:pt x="19940" y="1242"/>
                </a:moveTo>
                <a:cubicBezTo>
                  <a:pt x="19804" y="1264"/>
                  <a:pt x="19629" y="1515"/>
                  <a:pt x="19481" y="1972"/>
                </a:cubicBezTo>
                <a:cubicBezTo>
                  <a:pt x="18580" y="4768"/>
                  <a:pt x="18433" y="5479"/>
                  <a:pt x="18361" y="7542"/>
                </a:cubicBezTo>
                <a:cubicBezTo>
                  <a:pt x="18329" y="8443"/>
                  <a:pt x="18348" y="8925"/>
                  <a:pt x="18450" y="9598"/>
                </a:cubicBezTo>
                <a:cubicBezTo>
                  <a:pt x="18522" y="10077"/>
                  <a:pt x="18576" y="10978"/>
                  <a:pt x="18577" y="11587"/>
                </a:cubicBezTo>
                <a:cubicBezTo>
                  <a:pt x="18580" y="12941"/>
                  <a:pt x="18933" y="15131"/>
                  <a:pt x="19201" y="15500"/>
                </a:cubicBezTo>
                <a:cubicBezTo>
                  <a:pt x="19321" y="15664"/>
                  <a:pt x="19411" y="16126"/>
                  <a:pt x="19481" y="16892"/>
                </a:cubicBezTo>
                <a:cubicBezTo>
                  <a:pt x="19628" y="18491"/>
                  <a:pt x="19715" y="18802"/>
                  <a:pt x="20080" y="18948"/>
                </a:cubicBezTo>
                <a:cubicBezTo>
                  <a:pt x="20719" y="19205"/>
                  <a:pt x="20787" y="19151"/>
                  <a:pt x="20908" y="18683"/>
                </a:cubicBezTo>
                <a:cubicBezTo>
                  <a:pt x="21020" y="18248"/>
                  <a:pt x="21025" y="18172"/>
                  <a:pt x="20933" y="17688"/>
                </a:cubicBezTo>
                <a:cubicBezTo>
                  <a:pt x="20875" y="17378"/>
                  <a:pt x="20662" y="17029"/>
                  <a:pt x="20424" y="16892"/>
                </a:cubicBezTo>
                <a:cubicBezTo>
                  <a:pt x="19929" y="16608"/>
                  <a:pt x="19851" y="15944"/>
                  <a:pt x="20195" y="14837"/>
                </a:cubicBezTo>
                <a:cubicBezTo>
                  <a:pt x="20319" y="14436"/>
                  <a:pt x="20424" y="14049"/>
                  <a:pt x="20424" y="13908"/>
                </a:cubicBezTo>
                <a:cubicBezTo>
                  <a:pt x="20424" y="13767"/>
                  <a:pt x="20526" y="12918"/>
                  <a:pt x="20653" y="12051"/>
                </a:cubicBezTo>
                <a:cubicBezTo>
                  <a:pt x="20900" y="10366"/>
                  <a:pt x="20890" y="10070"/>
                  <a:pt x="20551" y="9664"/>
                </a:cubicBezTo>
                <a:cubicBezTo>
                  <a:pt x="20227" y="9276"/>
                  <a:pt x="20236" y="9332"/>
                  <a:pt x="20322" y="7807"/>
                </a:cubicBezTo>
                <a:cubicBezTo>
                  <a:pt x="20397" y="6468"/>
                  <a:pt x="20409" y="6437"/>
                  <a:pt x="20615" y="6481"/>
                </a:cubicBezTo>
                <a:cubicBezTo>
                  <a:pt x="20736" y="6507"/>
                  <a:pt x="20963" y="6612"/>
                  <a:pt x="21112" y="6746"/>
                </a:cubicBezTo>
                <a:cubicBezTo>
                  <a:pt x="21444" y="7048"/>
                  <a:pt x="21570" y="6588"/>
                  <a:pt x="21570" y="5088"/>
                </a:cubicBezTo>
                <a:cubicBezTo>
                  <a:pt x="21570" y="3771"/>
                  <a:pt x="21466" y="3263"/>
                  <a:pt x="21137" y="3033"/>
                </a:cubicBezTo>
                <a:cubicBezTo>
                  <a:pt x="20903" y="2869"/>
                  <a:pt x="20296" y="3561"/>
                  <a:pt x="20029" y="4293"/>
                </a:cubicBezTo>
                <a:cubicBezTo>
                  <a:pt x="19853" y="4775"/>
                  <a:pt x="19846" y="4064"/>
                  <a:pt x="20016" y="3232"/>
                </a:cubicBezTo>
                <a:cubicBezTo>
                  <a:pt x="20103" y="2809"/>
                  <a:pt x="20169" y="2238"/>
                  <a:pt x="20169" y="1905"/>
                </a:cubicBezTo>
                <a:cubicBezTo>
                  <a:pt x="20169" y="1472"/>
                  <a:pt x="20076" y="1221"/>
                  <a:pt x="19940" y="1242"/>
                </a:cubicBezTo>
                <a:close/>
                <a:moveTo>
                  <a:pt x="13903" y="3696"/>
                </a:moveTo>
                <a:cubicBezTo>
                  <a:pt x="13992" y="3872"/>
                  <a:pt x="13957" y="4202"/>
                  <a:pt x="13687" y="5553"/>
                </a:cubicBezTo>
                <a:cubicBezTo>
                  <a:pt x="13371" y="7127"/>
                  <a:pt x="13102" y="7705"/>
                  <a:pt x="13012" y="6945"/>
                </a:cubicBezTo>
                <a:cubicBezTo>
                  <a:pt x="12973" y="6616"/>
                  <a:pt x="13270" y="5221"/>
                  <a:pt x="13381" y="5221"/>
                </a:cubicBezTo>
                <a:cubicBezTo>
                  <a:pt x="13418" y="5221"/>
                  <a:pt x="13527" y="4838"/>
                  <a:pt x="13623" y="4359"/>
                </a:cubicBezTo>
                <a:cubicBezTo>
                  <a:pt x="13736" y="3794"/>
                  <a:pt x="13833" y="3556"/>
                  <a:pt x="13903" y="3696"/>
                </a:cubicBezTo>
                <a:close/>
                <a:moveTo>
                  <a:pt x="16043" y="10128"/>
                </a:moveTo>
                <a:cubicBezTo>
                  <a:pt x="16104" y="10444"/>
                  <a:pt x="16094" y="10653"/>
                  <a:pt x="16030" y="11057"/>
                </a:cubicBezTo>
                <a:cubicBezTo>
                  <a:pt x="15872" y="12048"/>
                  <a:pt x="15730" y="11364"/>
                  <a:pt x="15877" y="10327"/>
                </a:cubicBezTo>
                <a:cubicBezTo>
                  <a:pt x="15947" y="9835"/>
                  <a:pt x="15982" y="9815"/>
                  <a:pt x="16043" y="10128"/>
                </a:cubicBezTo>
                <a:close/>
              </a:path>
            </a:pathLst>
          </a:custGeom>
          <a:ln w="12700">
            <a:miter lim="400000"/>
          </a:ln>
        </p:spPr>
      </p:pic>
      <p:pic>
        <p:nvPicPr>
          <p:cNvPr id="70" name="图像" descr="图像">
            <a:extLst>
              <a:ext uri="{FF2B5EF4-FFF2-40B4-BE49-F238E27FC236}">
                <a16:creationId xmlns:a16="http://schemas.microsoft.com/office/drawing/2014/main" id="{E2D7CF9D-49E5-B327-04F1-B6A9FDDE7667}"/>
              </a:ext>
            </a:extLst>
          </p:cNvPr>
          <p:cNvPicPr>
            <a:picLocks noChangeAspect="1"/>
          </p:cNvPicPr>
          <p:nvPr/>
        </p:nvPicPr>
        <p:blipFill>
          <a:blip r:embed="rId35"/>
          <a:stretch>
            <a:fillRect/>
          </a:stretch>
        </p:blipFill>
        <p:spPr>
          <a:xfrm>
            <a:off x="5480644" y="2464862"/>
            <a:ext cx="646558" cy="152798"/>
          </a:xfrm>
          <a:prstGeom prst="rect">
            <a:avLst/>
          </a:prstGeom>
          <a:ln w="12700">
            <a:miter lim="400000"/>
          </a:ln>
        </p:spPr>
      </p:pic>
      <p:pic>
        <p:nvPicPr>
          <p:cNvPr id="71" name="图像" descr="图像">
            <a:extLst>
              <a:ext uri="{FF2B5EF4-FFF2-40B4-BE49-F238E27FC236}">
                <a16:creationId xmlns:a16="http://schemas.microsoft.com/office/drawing/2014/main" id="{482A1305-D556-711F-8923-8111C9BF0F0B}"/>
              </a:ext>
            </a:extLst>
          </p:cNvPr>
          <p:cNvPicPr>
            <a:picLocks noChangeAspect="1"/>
          </p:cNvPicPr>
          <p:nvPr/>
        </p:nvPicPr>
        <p:blipFill>
          <a:blip r:embed="rId36"/>
          <a:stretch>
            <a:fillRect/>
          </a:stretch>
        </p:blipFill>
        <p:spPr>
          <a:xfrm>
            <a:off x="4036673" y="1817131"/>
            <a:ext cx="585272" cy="194897"/>
          </a:xfrm>
          <a:prstGeom prst="rect">
            <a:avLst/>
          </a:prstGeom>
          <a:ln w="12700">
            <a:miter lim="400000"/>
          </a:ln>
        </p:spPr>
      </p:pic>
      <p:pic>
        <p:nvPicPr>
          <p:cNvPr id="72" name="图像" descr="图像">
            <a:extLst>
              <a:ext uri="{FF2B5EF4-FFF2-40B4-BE49-F238E27FC236}">
                <a16:creationId xmlns:a16="http://schemas.microsoft.com/office/drawing/2014/main" id="{750733ED-69C8-1880-8B1F-1BB9B0D89C17}"/>
              </a:ext>
            </a:extLst>
          </p:cNvPr>
          <p:cNvPicPr>
            <a:picLocks noChangeAspect="1"/>
          </p:cNvPicPr>
          <p:nvPr/>
        </p:nvPicPr>
        <p:blipFill>
          <a:blip r:embed="rId37"/>
          <a:srcRect l="27684" t="34270" r="28142" b="34717"/>
          <a:stretch>
            <a:fillRect/>
          </a:stretch>
        </p:blipFill>
        <p:spPr>
          <a:xfrm>
            <a:off x="3700686" y="2262566"/>
            <a:ext cx="537397" cy="266759"/>
          </a:xfrm>
          <a:custGeom>
            <a:avLst/>
            <a:gdLst/>
            <a:ahLst/>
            <a:cxnLst>
              <a:cxn ang="0">
                <a:pos x="wd2" y="hd2"/>
              </a:cxn>
              <a:cxn ang="5400000">
                <a:pos x="wd2" y="hd2"/>
              </a:cxn>
              <a:cxn ang="10800000">
                <a:pos x="wd2" y="hd2"/>
              </a:cxn>
              <a:cxn ang="16200000">
                <a:pos x="wd2" y="hd2"/>
              </a:cxn>
            </a:cxnLst>
            <a:rect l="0" t="0" r="r" b="b"/>
            <a:pathLst>
              <a:path w="21581" h="21365" extrusionOk="0">
                <a:moveTo>
                  <a:pt x="18425" y="9"/>
                </a:moveTo>
                <a:cubicBezTo>
                  <a:pt x="17995" y="54"/>
                  <a:pt x="17822" y="158"/>
                  <a:pt x="17421" y="549"/>
                </a:cubicBezTo>
                <a:cubicBezTo>
                  <a:pt x="17157" y="807"/>
                  <a:pt x="16878" y="1124"/>
                  <a:pt x="16800" y="1249"/>
                </a:cubicBezTo>
                <a:cubicBezTo>
                  <a:pt x="16660" y="1469"/>
                  <a:pt x="16671" y="1471"/>
                  <a:pt x="17278" y="1471"/>
                </a:cubicBezTo>
                <a:cubicBezTo>
                  <a:pt x="17840" y="1471"/>
                  <a:pt x="17934" y="1507"/>
                  <a:pt x="18202" y="1821"/>
                </a:cubicBezTo>
                <a:cubicBezTo>
                  <a:pt x="18619" y="2310"/>
                  <a:pt x="19062" y="3317"/>
                  <a:pt x="19222" y="4173"/>
                </a:cubicBezTo>
                <a:cubicBezTo>
                  <a:pt x="19388" y="5056"/>
                  <a:pt x="19495" y="6126"/>
                  <a:pt x="19429" y="6239"/>
                </a:cubicBezTo>
                <a:cubicBezTo>
                  <a:pt x="19403" y="6285"/>
                  <a:pt x="19137" y="6407"/>
                  <a:pt x="18840" y="6493"/>
                </a:cubicBezTo>
                <a:cubicBezTo>
                  <a:pt x="17294" y="6945"/>
                  <a:pt x="16274" y="8650"/>
                  <a:pt x="16274" y="10785"/>
                </a:cubicBezTo>
                <a:cubicBezTo>
                  <a:pt x="16274" y="12418"/>
                  <a:pt x="16837" y="13491"/>
                  <a:pt x="17899" y="13900"/>
                </a:cubicBezTo>
                <a:cubicBezTo>
                  <a:pt x="18110" y="13980"/>
                  <a:pt x="18304" y="14108"/>
                  <a:pt x="18330" y="14154"/>
                </a:cubicBezTo>
                <a:cubicBezTo>
                  <a:pt x="18413" y="14300"/>
                  <a:pt x="17586" y="16262"/>
                  <a:pt x="17134" y="16983"/>
                </a:cubicBezTo>
                <a:cubicBezTo>
                  <a:pt x="16348" y="18237"/>
                  <a:pt x="15721" y="18784"/>
                  <a:pt x="15030" y="18795"/>
                </a:cubicBezTo>
                <a:cubicBezTo>
                  <a:pt x="14346" y="18805"/>
                  <a:pt x="13751" y="18183"/>
                  <a:pt x="13373" y="17110"/>
                </a:cubicBezTo>
                <a:cubicBezTo>
                  <a:pt x="13133" y="16430"/>
                  <a:pt x="13084" y="16624"/>
                  <a:pt x="13198" y="17777"/>
                </a:cubicBezTo>
                <a:cubicBezTo>
                  <a:pt x="13395" y="19781"/>
                  <a:pt x="13911" y="20982"/>
                  <a:pt x="14680" y="21306"/>
                </a:cubicBezTo>
                <a:cubicBezTo>
                  <a:pt x="15192" y="21521"/>
                  <a:pt x="15929" y="21143"/>
                  <a:pt x="16608" y="20320"/>
                </a:cubicBezTo>
                <a:cubicBezTo>
                  <a:pt x="17399" y="19363"/>
                  <a:pt x="18502" y="16944"/>
                  <a:pt x="19063" y="14948"/>
                </a:cubicBezTo>
                <a:cubicBezTo>
                  <a:pt x="19261" y="14244"/>
                  <a:pt x="19316" y="14155"/>
                  <a:pt x="19525" y="14090"/>
                </a:cubicBezTo>
                <a:cubicBezTo>
                  <a:pt x="19962" y="13956"/>
                  <a:pt x="20457" y="13773"/>
                  <a:pt x="20465" y="13741"/>
                </a:cubicBezTo>
                <a:cubicBezTo>
                  <a:pt x="20528" y="13493"/>
                  <a:pt x="20795" y="12049"/>
                  <a:pt x="20784" y="12024"/>
                </a:cubicBezTo>
                <a:cubicBezTo>
                  <a:pt x="20776" y="12006"/>
                  <a:pt x="20636" y="12074"/>
                  <a:pt x="20481" y="12183"/>
                </a:cubicBezTo>
                <a:cubicBezTo>
                  <a:pt x="20326" y="12292"/>
                  <a:pt x="19997" y="12428"/>
                  <a:pt x="19732" y="12469"/>
                </a:cubicBezTo>
                <a:cubicBezTo>
                  <a:pt x="18236" y="12701"/>
                  <a:pt x="17618" y="10691"/>
                  <a:pt x="18632" y="8909"/>
                </a:cubicBezTo>
                <a:cubicBezTo>
                  <a:pt x="18800" y="8616"/>
                  <a:pt x="19052" y="8320"/>
                  <a:pt x="19238" y="8210"/>
                </a:cubicBezTo>
                <a:cubicBezTo>
                  <a:pt x="19650" y="7966"/>
                  <a:pt x="20453" y="7990"/>
                  <a:pt x="20784" y="8242"/>
                </a:cubicBezTo>
                <a:cubicBezTo>
                  <a:pt x="21178" y="8541"/>
                  <a:pt x="21186" y="8522"/>
                  <a:pt x="21390" y="7670"/>
                </a:cubicBezTo>
                <a:lnTo>
                  <a:pt x="21581" y="6875"/>
                </a:lnTo>
                <a:lnTo>
                  <a:pt x="21438" y="6748"/>
                </a:lnTo>
                <a:cubicBezTo>
                  <a:pt x="21356" y="6686"/>
                  <a:pt x="21148" y="6607"/>
                  <a:pt x="20975" y="6557"/>
                </a:cubicBezTo>
                <a:cubicBezTo>
                  <a:pt x="20803" y="6507"/>
                  <a:pt x="20621" y="6404"/>
                  <a:pt x="20577" y="6334"/>
                </a:cubicBezTo>
                <a:cubicBezTo>
                  <a:pt x="20528" y="6257"/>
                  <a:pt x="20497" y="5883"/>
                  <a:pt x="20497" y="5381"/>
                </a:cubicBezTo>
                <a:cubicBezTo>
                  <a:pt x="20497" y="4308"/>
                  <a:pt x="20324" y="2774"/>
                  <a:pt x="20131" y="2012"/>
                </a:cubicBezTo>
                <a:cubicBezTo>
                  <a:pt x="19747" y="503"/>
                  <a:pt x="19265" y="-79"/>
                  <a:pt x="18425" y="9"/>
                </a:cubicBezTo>
                <a:close/>
                <a:moveTo>
                  <a:pt x="6360" y="6493"/>
                </a:moveTo>
                <a:lnTo>
                  <a:pt x="6265" y="6907"/>
                </a:lnTo>
                <a:cubicBezTo>
                  <a:pt x="6213" y="7135"/>
                  <a:pt x="5909" y="8520"/>
                  <a:pt x="5595" y="9958"/>
                </a:cubicBezTo>
                <a:cubicBezTo>
                  <a:pt x="5282" y="11396"/>
                  <a:pt x="4955" y="12913"/>
                  <a:pt x="4862" y="13327"/>
                </a:cubicBezTo>
                <a:lnTo>
                  <a:pt x="4687" y="14058"/>
                </a:lnTo>
                <a:lnTo>
                  <a:pt x="5133" y="13995"/>
                </a:lnTo>
                <a:cubicBezTo>
                  <a:pt x="5372" y="13950"/>
                  <a:pt x="5704" y="13900"/>
                  <a:pt x="5882" y="13900"/>
                </a:cubicBezTo>
                <a:lnTo>
                  <a:pt x="6217" y="13900"/>
                </a:lnTo>
                <a:lnTo>
                  <a:pt x="6743" y="11198"/>
                </a:lnTo>
                <a:cubicBezTo>
                  <a:pt x="7037" y="9720"/>
                  <a:pt x="7304" y="8499"/>
                  <a:pt x="7332" y="8464"/>
                </a:cubicBezTo>
                <a:cubicBezTo>
                  <a:pt x="7417" y="8360"/>
                  <a:pt x="7441" y="8611"/>
                  <a:pt x="7540" y="11325"/>
                </a:cubicBezTo>
                <a:cubicBezTo>
                  <a:pt x="7592" y="12752"/>
                  <a:pt x="7649" y="13960"/>
                  <a:pt x="7667" y="13995"/>
                </a:cubicBezTo>
                <a:cubicBezTo>
                  <a:pt x="7685" y="14030"/>
                  <a:pt x="8009" y="14014"/>
                  <a:pt x="8400" y="13963"/>
                </a:cubicBezTo>
                <a:lnTo>
                  <a:pt x="9118" y="13868"/>
                </a:lnTo>
                <a:lnTo>
                  <a:pt x="9516" y="12819"/>
                </a:lnTo>
                <a:cubicBezTo>
                  <a:pt x="10535" y="10137"/>
                  <a:pt x="11114" y="8790"/>
                  <a:pt x="11174" y="8909"/>
                </a:cubicBezTo>
                <a:cubicBezTo>
                  <a:pt x="11214" y="8990"/>
                  <a:pt x="11091" y="9850"/>
                  <a:pt x="10839" y="11420"/>
                </a:cubicBezTo>
                <a:cubicBezTo>
                  <a:pt x="10625" y="12749"/>
                  <a:pt x="10456" y="13905"/>
                  <a:pt x="10456" y="13963"/>
                </a:cubicBezTo>
                <a:cubicBezTo>
                  <a:pt x="10456" y="14060"/>
                  <a:pt x="12111" y="13936"/>
                  <a:pt x="12162" y="13836"/>
                </a:cubicBezTo>
                <a:cubicBezTo>
                  <a:pt x="12174" y="13812"/>
                  <a:pt x="12340" y="12598"/>
                  <a:pt x="12528" y="11134"/>
                </a:cubicBezTo>
                <a:cubicBezTo>
                  <a:pt x="12717" y="9670"/>
                  <a:pt x="12933" y="8035"/>
                  <a:pt x="13006" y="7511"/>
                </a:cubicBezTo>
                <a:cubicBezTo>
                  <a:pt x="13080" y="6986"/>
                  <a:pt x="13134" y="6544"/>
                  <a:pt x="13134" y="6525"/>
                </a:cubicBezTo>
                <a:cubicBezTo>
                  <a:pt x="13134" y="6506"/>
                  <a:pt x="12603" y="6493"/>
                  <a:pt x="11939" y="6493"/>
                </a:cubicBezTo>
                <a:lnTo>
                  <a:pt x="10727" y="6493"/>
                </a:lnTo>
                <a:lnTo>
                  <a:pt x="9883" y="8718"/>
                </a:lnTo>
                <a:cubicBezTo>
                  <a:pt x="9417" y="9945"/>
                  <a:pt x="9005" y="10917"/>
                  <a:pt x="8974" y="10880"/>
                </a:cubicBezTo>
                <a:cubicBezTo>
                  <a:pt x="8944" y="10842"/>
                  <a:pt x="8926" y="10655"/>
                  <a:pt x="8926" y="10435"/>
                </a:cubicBezTo>
                <a:cubicBezTo>
                  <a:pt x="8926" y="10215"/>
                  <a:pt x="8887" y="9242"/>
                  <a:pt x="8847" y="8273"/>
                </a:cubicBezTo>
                <a:lnTo>
                  <a:pt x="8767" y="6493"/>
                </a:lnTo>
                <a:lnTo>
                  <a:pt x="7572" y="6493"/>
                </a:lnTo>
                <a:lnTo>
                  <a:pt x="6360" y="6493"/>
                </a:lnTo>
                <a:close/>
                <a:moveTo>
                  <a:pt x="14377" y="6493"/>
                </a:moveTo>
                <a:lnTo>
                  <a:pt x="14265" y="7225"/>
                </a:lnTo>
                <a:cubicBezTo>
                  <a:pt x="14202" y="7628"/>
                  <a:pt x="13893" y="9287"/>
                  <a:pt x="13580" y="10912"/>
                </a:cubicBezTo>
                <a:cubicBezTo>
                  <a:pt x="13268" y="12536"/>
                  <a:pt x="13006" y="13921"/>
                  <a:pt x="13006" y="13963"/>
                </a:cubicBezTo>
                <a:cubicBezTo>
                  <a:pt x="13006" y="14063"/>
                  <a:pt x="13619" y="14034"/>
                  <a:pt x="14345" y="13931"/>
                </a:cubicBezTo>
                <a:lnTo>
                  <a:pt x="14919" y="13868"/>
                </a:lnTo>
                <a:lnTo>
                  <a:pt x="15254" y="11929"/>
                </a:lnTo>
                <a:cubicBezTo>
                  <a:pt x="15438" y="10869"/>
                  <a:pt x="15751" y="9244"/>
                  <a:pt x="15939" y="8305"/>
                </a:cubicBezTo>
                <a:cubicBezTo>
                  <a:pt x="16127" y="7367"/>
                  <a:pt x="16274" y="6583"/>
                  <a:pt x="16274" y="6557"/>
                </a:cubicBezTo>
                <a:cubicBezTo>
                  <a:pt x="16274" y="6531"/>
                  <a:pt x="15854" y="6493"/>
                  <a:pt x="15333" y="6493"/>
                </a:cubicBezTo>
                <a:lnTo>
                  <a:pt x="14377" y="6493"/>
                </a:lnTo>
                <a:close/>
                <a:moveTo>
                  <a:pt x="1754" y="6652"/>
                </a:moveTo>
                <a:cubicBezTo>
                  <a:pt x="886" y="7189"/>
                  <a:pt x="471" y="8408"/>
                  <a:pt x="766" y="9545"/>
                </a:cubicBezTo>
                <a:cubicBezTo>
                  <a:pt x="870" y="9945"/>
                  <a:pt x="1257" y="10382"/>
                  <a:pt x="2057" y="10975"/>
                </a:cubicBezTo>
                <a:cubicBezTo>
                  <a:pt x="2635" y="11404"/>
                  <a:pt x="2781" y="11627"/>
                  <a:pt x="2679" y="11961"/>
                </a:cubicBezTo>
                <a:cubicBezTo>
                  <a:pt x="2433" y="12764"/>
                  <a:pt x="1329" y="12833"/>
                  <a:pt x="591" y="12088"/>
                </a:cubicBezTo>
                <a:cubicBezTo>
                  <a:pt x="455" y="11951"/>
                  <a:pt x="327" y="11843"/>
                  <a:pt x="320" y="11865"/>
                </a:cubicBezTo>
                <a:cubicBezTo>
                  <a:pt x="240" y="12107"/>
                  <a:pt x="-19" y="13454"/>
                  <a:pt x="1" y="13518"/>
                </a:cubicBezTo>
                <a:cubicBezTo>
                  <a:pt x="30" y="13612"/>
                  <a:pt x="952" y="13991"/>
                  <a:pt x="1308" y="14058"/>
                </a:cubicBezTo>
                <a:cubicBezTo>
                  <a:pt x="2406" y="14266"/>
                  <a:pt x="3539" y="13913"/>
                  <a:pt x="4113" y="13168"/>
                </a:cubicBezTo>
                <a:cubicBezTo>
                  <a:pt x="4395" y="12802"/>
                  <a:pt x="4639" y="12023"/>
                  <a:pt x="4639" y="11484"/>
                </a:cubicBezTo>
                <a:cubicBezTo>
                  <a:pt x="4639" y="10709"/>
                  <a:pt x="4178" y="10042"/>
                  <a:pt x="3268" y="9450"/>
                </a:cubicBezTo>
                <a:cubicBezTo>
                  <a:pt x="2498" y="8947"/>
                  <a:pt x="2325" y="8370"/>
                  <a:pt x="2822" y="7956"/>
                </a:cubicBezTo>
                <a:cubicBezTo>
                  <a:pt x="3134" y="7695"/>
                  <a:pt x="3681" y="7785"/>
                  <a:pt x="4209" y="8210"/>
                </a:cubicBezTo>
                <a:cubicBezTo>
                  <a:pt x="4424" y="8383"/>
                  <a:pt x="4600" y="8511"/>
                  <a:pt x="4607" y="8496"/>
                </a:cubicBezTo>
                <a:cubicBezTo>
                  <a:pt x="4649" y="8409"/>
                  <a:pt x="4959" y="6972"/>
                  <a:pt x="4942" y="6938"/>
                </a:cubicBezTo>
                <a:cubicBezTo>
                  <a:pt x="4931" y="6916"/>
                  <a:pt x="4738" y="6776"/>
                  <a:pt x="4511" y="6652"/>
                </a:cubicBezTo>
                <a:cubicBezTo>
                  <a:pt x="3931" y="6335"/>
                  <a:pt x="2262" y="6339"/>
                  <a:pt x="1754" y="6652"/>
                </a:cubicBezTo>
                <a:close/>
              </a:path>
            </a:pathLst>
          </a:custGeom>
          <a:ln w="12700">
            <a:miter lim="400000"/>
          </a:ln>
        </p:spPr>
      </p:pic>
      <p:pic>
        <p:nvPicPr>
          <p:cNvPr id="73" name="图像" descr="图像">
            <a:extLst>
              <a:ext uri="{FF2B5EF4-FFF2-40B4-BE49-F238E27FC236}">
                <a16:creationId xmlns:a16="http://schemas.microsoft.com/office/drawing/2014/main" id="{88536659-6C7D-2307-7E1D-C371E589F64A}"/>
              </a:ext>
            </a:extLst>
          </p:cNvPr>
          <p:cNvPicPr>
            <a:picLocks noChangeAspect="1"/>
          </p:cNvPicPr>
          <p:nvPr/>
        </p:nvPicPr>
        <p:blipFill>
          <a:blip r:embed="rId38"/>
          <a:srcRect t="35171" b="35171"/>
          <a:stretch>
            <a:fillRect/>
          </a:stretch>
        </p:blipFill>
        <p:spPr>
          <a:xfrm>
            <a:off x="7513080" y="5264080"/>
            <a:ext cx="685332" cy="203244"/>
          </a:xfrm>
          <a:prstGeom prst="rect">
            <a:avLst/>
          </a:prstGeom>
          <a:ln w="12700">
            <a:miter lim="400000"/>
          </a:ln>
        </p:spPr>
      </p:pic>
      <p:pic>
        <p:nvPicPr>
          <p:cNvPr id="74" name="图像" descr="图像">
            <a:extLst>
              <a:ext uri="{FF2B5EF4-FFF2-40B4-BE49-F238E27FC236}">
                <a16:creationId xmlns:a16="http://schemas.microsoft.com/office/drawing/2014/main" id="{6C079557-3240-A972-4257-37A1213BF888}"/>
              </a:ext>
            </a:extLst>
          </p:cNvPr>
          <p:cNvPicPr>
            <a:picLocks noChangeAspect="1"/>
          </p:cNvPicPr>
          <p:nvPr/>
        </p:nvPicPr>
        <p:blipFill>
          <a:blip r:embed="rId39"/>
          <a:srcRect t="18222" b="31569"/>
          <a:stretch>
            <a:fillRect/>
          </a:stretch>
        </p:blipFill>
        <p:spPr>
          <a:xfrm>
            <a:off x="2338212" y="4183000"/>
            <a:ext cx="531476" cy="266845"/>
          </a:xfrm>
          <a:prstGeom prst="rect">
            <a:avLst/>
          </a:prstGeom>
          <a:ln w="12700">
            <a:miter lim="400000"/>
          </a:ln>
        </p:spPr>
      </p:pic>
      <p:pic>
        <p:nvPicPr>
          <p:cNvPr id="75" name="图像" descr="图像">
            <a:extLst>
              <a:ext uri="{FF2B5EF4-FFF2-40B4-BE49-F238E27FC236}">
                <a16:creationId xmlns:a16="http://schemas.microsoft.com/office/drawing/2014/main" id="{D9E40DF9-E615-4FAC-B810-62471940D7E2}"/>
              </a:ext>
            </a:extLst>
          </p:cNvPr>
          <p:cNvPicPr>
            <a:picLocks noChangeAspect="1"/>
          </p:cNvPicPr>
          <p:nvPr/>
        </p:nvPicPr>
        <p:blipFill>
          <a:blip r:embed="rId40"/>
          <a:srcRect t="38585" b="38585"/>
          <a:stretch>
            <a:fillRect/>
          </a:stretch>
        </p:blipFill>
        <p:spPr>
          <a:xfrm>
            <a:off x="1974825" y="4538428"/>
            <a:ext cx="750305" cy="171281"/>
          </a:xfrm>
          <a:prstGeom prst="rect">
            <a:avLst/>
          </a:prstGeom>
          <a:ln w="12700">
            <a:miter lim="400000"/>
          </a:ln>
        </p:spPr>
      </p:pic>
      <p:pic>
        <p:nvPicPr>
          <p:cNvPr id="76" name="图像" descr="图像">
            <a:extLst>
              <a:ext uri="{FF2B5EF4-FFF2-40B4-BE49-F238E27FC236}">
                <a16:creationId xmlns:a16="http://schemas.microsoft.com/office/drawing/2014/main" id="{D531A314-272E-13CE-18EC-E0C4011E6F7B}"/>
              </a:ext>
            </a:extLst>
          </p:cNvPr>
          <p:cNvPicPr>
            <a:picLocks noChangeAspect="1"/>
          </p:cNvPicPr>
          <p:nvPr/>
        </p:nvPicPr>
        <p:blipFill>
          <a:blip r:embed="rId41"/>
          <a:srcRect l="3322" t="22445" r="3246" b="22496"/>
          <a:stretch>
            <a:fillRect/>
          </a:stretch>
        </p:blipFill>
        <p:spPr>
          <a:xfrm>
            <a:off x="1485999" y="4944369"/>
            <a:ext cx="493316" cy="152622"/>
          </a:xfrm>
          <a:custGeom>
            <a:avLst/>
            <a:gdLst/>
            <a:ahLst/>
            <a:cxnLst>
              <a:cxn ang="0">
                <a:pos x="wd2" y="hd2"/>
              </a:cxn>
              <a:cxn ang="5400000">
                <a:pos x="wd2" y="hd2"/>
              </a:cxn>
              <a:cxn ang="10800000">
                <a:pos x="wd2" y="hd2"/>
              </a:cxn>
              <a:cxn ang="16200000">
                <a:pos x="wd2" y="hd2"/>
              </a:cxn>
            </a:cxnLst>
            <a:rect l="0" t="0" r="r" b="b"/>
            <a:pathLst>
              <a:path w="21600" h="21551" extrusionOk="0">
                <a:moveTo>
                  <a:pt x="4692" y="0"/>
                </a:moveTo>
                <a:cubicBezTo>
                  <a:pt x="4450" y="40"/>
                  <a:pt x="4262" y="381"/>
                  <a:pt x="4153" y="1065"/>
                </a:cubicBezTo>
                <a:cubicBezTo>
                  <a:pt x="4097" y="1418"/>
                  <a:pt x="4084" y="1632"/>
                  <a:pt x="4084" y="2074"/>
                </a:cubicBezTo>
                <a:cubicBezTo>
                  <a:pt x="4084" y="2713"/>
                  <a:pt x="4133" y="3032"/>
                  <a:pt x="4257" y="3475"/>
                </a:cubicBezTo>
                <a:cubicBezTo>
                  <a:pt x="4347" y="3796"/>
                  <a:pt x="4436" y="3976"/>
                  <a:pt x="4553" y="4091"/>
                </a:cubicBezTo>
                <a:cubicBezTo>
                  <a:pt x="4656" y="4192"/>
                  <a:pt x="4854" y="4163"/>
                  <a:pt x="4970" y="4035"/>
                </a:cubicBezTo>
                <a:cubicBezTo>
                  <a:pt x="5125" y="3864"/>
                  <a:pt x="5287" y="3403"/>
                  <a:pt x="5352" y="2914"/>
                </a:cubicBezTo>
                <a:cubicBezTo>
                  <a:pt x="5417" y="2426"/>
                  <a:pt x="5404" y="1581"/>
                  <a:pt x="5335" y="1121"/>
                </a:cubicBezTo>
                <a:cubicBezTo>
                  <a:pt x="5232" y="436"/>
                  <a:pt x="5045" y="49"/>
                  <a:pt x="4796" y="0"/>
                </a:cubicBezTo>
                <a:lnTo>
                  <a:pt x="4692" y="0"/>
                </a:lnTo>
                <a:close/>
                <a:moveTo>
                  <a:pt x="11938" y="4876"/>
                </a:moveTo>
                <a:cubicBezTo>
                  <a:pt x="11699" y="4853"/>
                  <a:pt x="11418" y="4940"/>
                  <a:pt x="11243" y="5100"/>
                </a:cubicBezTo>
                <a:cubicBezTo>
                  <a:pt x="10541" y="5741"/>
                  <a:pt x="10096" y="7484"/>
                  <a:pt x="9975" y="9919"/>
                </a:cubicBezTo>
                <a:cubicBezTo>
                  <a:pt x="9936" y="10686"/>
                  <a:pt x="9962" y="12014"/>
                  <a:pt x="10027" y="12833"/>
                </a:cubicBezTo>
                <a:cubicBezTo>
                  <a:pt x="10201" y="15042"/>
                  <a:pt x="10658" y="16449"/>
                  <a:pt x="11417" y="16980"/>
                </a:cubicBezTo>
                <a:cubicBezTo>
                  <a:pt x="11640" y="17136"/>
                  <a:pt x="12012" y="17095"/>
                  <a:pt x="12268" y="16924"/>
                </a:cubicBezTo>
                <a:cubicBezTo>
                  <a:pt x="12966" y="16459"/>
                  <a:pt x="13503" y="14769"/>
                  <a:pt x="13659" y="12497"/>
                </a:cubicBezTo>
                <a:cubicBezTo>
                  <a:pt x="13699" y="11900"/>
                  <a:pt x="13702" y="11569"/>
                  <a:pt x="13693" y="10704"/>
                </a:cubicBezTo>
                <a:cubicBezTo>
                  <a:pt x="13680" y="9475"/>
                  <a:pt x="13652" y="9000"/>
                  <a:pt x="13502" y="8014"/>
                </a:cubicBezTo>
                <a:cubicBezTo>
                  <a:pt x="13251" y="6359"/>
                  <a:pt x="12758" y="5211"/>
                  <a:pt x="12164" y="4932"/>
                </a:cubicBezTo>
                <a:cubicBezTo>
                  <a:pt x="12098" y="4900"/>
                  <a:pt x="12018" y="4883"/>
                  <a:pt x="11938" y="4876"/>
                </a:cubicBezTo>
                <a:close/>
                <a:moveTo>
                  <a:pt x="19706" y="4876"/>
                </a:moveTo>
                <a:cubicBezTo>
                  <a:pt x="19608" y="4883"/>
                  <a:pt x="19511" y="4903"/>
                  <a:pt x="19445" y="4932"/>
                </a:cubicBezTo>
                <a:cubicBezTo>
                  <a:pt x="18896" y="5168"/>
                  <a:pt x="18595" y="5822"/>
                  <a:pt x="18385" y="7229"/>
                </a:cubicBezTo>
                <a:cubicBezTo>
                  <a:pt x="18269" y="8008"/>
                  <a:pt x="18265" y="8127"/>
                  <a:pt x="18333" y="8182"/>
                </a:cubicBezTo>
                <a:cubicBezTo>
                  <a:pt x="18409" y="8244"/>
                  <a:pt x="19082" y="8630"/>
                  <a:pt x="19115" y="8630"/>
                </a:cubicBezTo>
                <a:cubicBezTo>
                  <a:pt x="19129" y="8630"/>
                  <a:pt x="19163" y="8498"/>
                  <a:pt x="19185" y="8350"/>
                </a:cubicBezTo>
                <a:cubicBezTo>
                  <a:pt x="19248" y="7923"/>
                  <a:pt x="19382" y="7483"/>
                  <a:pt x="19497" y="7341"/>
                </a:cubicBezTo>
                <a:cubicBezTo>
                  <a:pt x="19582" y="7237"/>
                  <a:pt x="19664" y="7202"/>
                  <a:pt x="19880" y="7229"/>
                </a:cubicBezTo>
                <a:cubicBezTo>
                  <a:pt x="20155" y="7264"/>
                  <a:pt x="20227" y="7315"/>
                  <a:pt x="20331" y="7622"/>
                </a:cubicBezTo>
                <a:cubicBezTo>
                  <a:pt x="20462" y="8005"/>
                  <a:pt x="20506" y="9034"/>
                  <a:pt x="20401" y="9247"/>
                </a:cubicBezTo>
                <a:cubicBezTo>
                  <a:pt x="20333" y="9385"/>
                  <a:pt x="19947" y="9714"/>
                  <a:pt x="19532" y="9975"/>
                </a:cubicBezTo>
                <a:cubicBezTo>
                  <a:pt x="18920" y="10360"/>
                  <a:pt x="18619" y="10730"/>
                  <a:pt x="18420" y="11432"/>
                </a:cubicBezTo>
                <a:cubicBezTo>
                  <a:pt x="18261" y="11993"/>
                  <a:pt x="18208" y="12568"/>
                  <a:pt x="18194" y="13506"/>
                </a:cubicBezTo>
                <a:cubicBezTo>
                  <a:pt x="18185" y="14119"/>
                  <a:pt x="18185" y="14324"/>
                  <a:pt x="18229" y="14739"/>
                </a:cubicBezTo>
                <a:cubicBezTo>
                  <a:pt x="18361" y="16003"/>
                  <a:pt x="18637" y="16716"/>
                  <a:pt x="19115" y="17036"/>
                </a:cubicBezTo>
                <a:cubicBezTo>
                  <a:pt x="19142" y="17054"/>
                  <a:pt x="19256" y="17088"/>
                  <a:pt x="19376" y="17092"/>
                </a:cubicBezTo>
                <a:cubicBezTo>
                  <a:pt x="19742" y="17105"/>
                  <a:pt x="20054" y="16758"/>
                  <a:pt x="20349" y="16028"/>
                </a:cubicBezTo>
                <a:cubicBezTo>
                  <a:pt x="20441" y="15800"/>
                  <a:pt x="20531" y="15647"/>
                  <a:pt x="20540" y="15691"/>
                </a:cubicBezTo>
                <a:cubicBezTo>
                  <a:pt x="20548" y="15735"/>
                  <a:pt x="20579" y="16020"/>
                  <a:pt x="20609" y="16308"/>
                </a:cubicBezTo>
                <a:lnTo>
                  <a:pt x="20662" y="16812"/>
                </a:lnTo>
                <a:lnTo>
                  <a:pt x="21131" y="16812"/>
                </a:lnTo>
                <a:lnTo>
                  <a:pt x="21600" y="16868"/>
                </a:lnTo>
                <a:lnTo>
                  <a:pt x="21548" y="16420"/>
                </a:lnTo>
                <a:cubicBezTo>
                  <a:pt x="21413" y="15438"/>
                  <a:pt x="21410" y="15377"/>
                  <a:pt x="21391" y="11376"/>
                </a:cubicBezTo>
                <a:cubicBezTo>
                  <a:pt x="21373" y="7416"/>
                  <a:pt x="21366" y="7095"/>
                  <a:pt x="21252" y="6501"/>
                </a:cubicBezTo>
                <a:cubicBezTo>
                  <a:pt x="21129" y="5858"/>
                  <a:pt x="20836" y="5256"/>
                  <a:pt x="20540" y="5044"/>
                </a:cubicBezTo>
                <a:cubicBezTo>
                  <a:pt x="20369" y="4921"/>
                  <a:pt x="19998" y="4853"/>
                  <a:pt x="19706" y="4876"/>
                </a:cubicBezTo>
                <a:close/>
                <a:moveTo>
                  <a:pt x="1651" y="4932"/>
                </a:moveTo>
                <a:cubicBezTo>
                  <a:pt x="1391" y="4938"/>
                  <a:pt x="1136" y="4985"/>
                  <a:pt x="1008" y="5100"/>
                </a:cubicBezTo>
                <a:cubicBezTo>
                  <a:pt x="616" y="5449"/>
                  <a:pt x="352" y="6075"/>
                  <a:pt x="209" y="7061"/>
                </a:cubicBezTo>
                <a:cubicBezTo>
                  <a:pt x="132" y="7588"/>
                  <a:pt x="139" y="7697"/>
                  <a:pt x="139" y="8462"/>
                </a:cubicBezTo>
                <a:cubicBezTo>
                  <a:pt x="139" y="9220"/>
                  <a:pt x="138" y="9282"/>
                  <a:pt x="209" y="9751"/>
                </a:cubicBezTo>
                <a:cubicBezTo>
                  <a:pt x="306" y="10398"/>
                  <a:pt x="411" y="10808"/>
                  <a:pt x="591" y="11152"/>
                </a:cubicBezTo>
                <a:cubicBezTo>
                  <a:pt x="761" y="11477"/>
                  <a:pt x="1180" y="11928"/>
                  <a:pt x="1633" y="12273"/>
                </a:cubicBezTo>
                <a:cubicBezTo>
                  <a:pt x="2350" y="12819"/>
                  <a:pt x="2433" y="12935"/>
                  <a:pt x="2433" y="13618"/>
                </a:cubicBezTo>
                <a:cubicBezTo>
                  <a:pt x="2433" y="13945"/>
                  <a:pt x="2420" y="14051"/>
                  <a:pt x="2329" y="14346"/>
                </a:cubicBezTo>
                <a:cubicBezTo>
                  <a:pt x="2204" y="14749"/>
                  <a:pt x="2109" y="14856"/>
                  <a:pt x="1807" y="14907"/>
                </a:cubicBezTo>
                <a:cubicBezTo>
                  <a:pt x="1391" y="14977"/>
                  <a:pt x="1160" y="14593"/>
                  <a:pt x="1008" y="13618"/>
                </a:cubicBezTo>
                <a:lnTo>
                  <a:pt x="921" y="13057"/>
                </a:lnTo>
                <a:lnTo>
                  <a:pt x="678" y="13226"/>
                </a:lnTo>
                <a:cubicBezTo>
                  <a:pt x="539" y="13295"/>
                  <a:pt x="325" y="13396"/>
                  <a:pt x="209" y="13450"/>
                </a:cubicBezTo>
                <a:lnTo>
                  <a:pt x="0" y="13506"/>
                </a:lnTo>
                <a:lnTo>
                  <a:pt x="17" y="13786"/>
                </a:lnTo>
                <a:cubicBezTo>
                  <a:pt x="46" y="14207"/>
                  <a:pt x="180" y="14997"/>
                  <a:pt x="295" y="15411"/>
                </a:cubicBezTo>
                <a:cubicBezTo>
                  <a:pt x="505" y="16165"/>
                  <a:pt x="835" y="16748"/>
                  <a:pt x="1216" y="16980"/>
                </a:cubicBezTo>
                <a:cubicBezTo>
                  <a:pt x="1496" y="17150"/>
                  <a:pt x="2144" y="17087"/>
                  <a:pt x="2398" y="16868"/>
                </a:cubicBezTo>
                <a:cubicBezTo>
                  <a:pt x="2676" y="16629"/>
                  <a:pt x="2872" y="16230"/>
                  <a:pt x="3041" y="15691"/>
                </a:cubicBezTo>
                <a:cubicBezTo>
                  <a:pt x="3294" y="14885"/>
                  <a:pt x="3419" y="13946"/>
                  <a:pt x="3389" y="12889"/>
                </a:cubicBezTo>
                <a:cubicBezTo>
                  <a:pt x="3336" y="11075"/>
                  <a:pt x="3024" y="10286"/>
                  <a:pt x="1981" y="9471"/>
                </a:cubicBezTo>
                <a:cubicBezTo>
                  <a:pt x="1157" y="8827"/>
                  <a:pt x="1008" y="8659"/>
                  <a:pt x="1008" y="8070"/>
                </a:cubicBezTo>
                <a:cubicBezTo>
                  <a:pt x="1008" y="7397"/>
                  <a:pt x="1198" y="7117"/>
                  <a:pt x="1651" y="7117"/>
                </a:cubicBezTo>
                <a:cubicBezTo>
                  <a:pt x="1926" y="7117"/>
                  <a:pt x="1982" y="7136"/>
                  <a:pt x="2068" y="7285"/>
                </a:cubicBezTo>
                <a:cubicBezTo>
                  <a:pt x="2186" y="7489"/>
                  <a:pt x="2324" y="7960"/>
                  <a:pt x="2346" y="8238"/>
                </a:cubicBezTo>
                <a:cubicBezTo>
                  <a:pt x="2358" y="8396"/>
                  <a:pt x="2376" y="8438"/>
                  <a:pt x="2415" y="8406"/>
                </a:cubicBezTo>
                <a:cubicBezTo>
                  <a:pt x="2444" y="8384"/>
                  <a:pt x="2623" y="8293"/>
                  <a:pt x="2815" y="8182"/>
                </a:cubicBezTo>
                <a:cubicBezTo>
                  <a:pt x="3239" y="7938"/>
                  <a:pt x="3250" y="7938"/>
                  <a:pt x="3250" y="7790"/>
                </a:cubicBezTo>
                <a:cubicBezTo>
                  <a:pt x="3250" y="7535"/>
                  <a:pt x="3093" y="6591"/>
                  <a:pt x="2972" y="6164"/>
                </a:cubicBezTo>
                <a:cubicBezTo>
                  <a:pt x="2819" y="5629"/>
                  <a:pt x="2602" y="5250"/>
                  <a:pt x="2329" y="5044"/>
                </a:cubicBezTo>
                <a:cubicBezTo>
                  <a:pt x="2186" y="4936"/>
                  <a:pt x="1911" y="4925"/>
                  <a:pt x="1651" y="4932"/>
                </a:cubicBezTo>
                <a:close/>
                <a:moveTo>
                  <a:pt x="7785" y="4932"/>
                </a:moveTo>
                <a:cubicBezTo>
                  <a:pt x="7569" y="4932"/>
                  <a:pt x="7356" y="4946"/>
                  <a:pt x="7246" y="5044"/>
                </a:cubicBezTo>
                <a:cubicBezTo>
                  <a:pt x="6646" y="5576"/>
                  <a:pt x="6278" y="6850"/>
                  <a:pt x="6099" y="8910"/>
                </a:cubicBezTo>
                <a:cubicBezTo>
                  <a:pt x="6049" y="9494"/>
                  <a:pt x="6030" y="9749"/>
                  <a:pt x="6030" y="10984"/>
                </a:cubicBezTo>
                <a:cubicBezTo>
                  <a:pt x="6030" y="12219"/>
                  <a:pt x="6049" y="12474"/>
                  <a:pt x="6099" y="13057"/>
                </a:cubicBezTo>
                <a:cubicBezTo>
                  <a:pt x="6288" y="15227"/>
                  <a:pt x="6689" y="16478"/>
                  <a:pt x="7333" y="16924"/>
                </a:cubicBezTo>
                <a:cubicBezTo>
                  <a:pt x="7572" y="17090"/>
                  <a:pt x="7987" y="17102"/>
                  <a:pt x="8254" y="16924"/>
                </a:cubicBezTo>
                <a:cubicBezTo>
                  <a:pt x="8828" y="16543"/>
                  <a:pt x="9192" y="15462"/>
                  <a:pt x="9384" y="13618"/>
                </a:cubicBezTo>
                <a:cubicBezTo>
                  <a:pt x="9424" y="13235"/>
                  <a:pt x="9456" y="12898"/>
                  <a:pt x="9453" y="12889"/>
                </a:cubicBezTo>
                <a:cubicBezTo>
                  <a:pt x="9447" y="12869"/>
                  <a:pt x="8581" y="12441"/>
                  <a:pt x="8550" y="12441"/>
                </a:cubicBezTo>
                <a:cubicBezTo>
                  <a:pt x="8536" y="12441"/>
                  <a:pt x="8519" y="12596"/>
                  <a:pt x="8498" y="12833"/>
                </a:cubicBezTo>
                <a:cubicBezTo>
                  <a:pt x="8423" y="13655"/>
                  <a:pt x="8265" y="14271"/>
                  <a:pt x="8063" y="14515"/>
                </a:cubicBezTo>
                <a:cubicBezTo>
                  <a:pt x="7974" y="14623"/>
                  <a:pt x="7674" y="14625"/>
                  <a:pt x="7559" y="14515"/>
                </a:cubicBezTo>
                <a:cubicBezTo>
                  <a:pt x="7422" y="14382"/>
                  <a:pt x="7245" y="13909"/>
                  <a:pt x="7159" y="13450"/>
                </a:cubicBezTo>
                <a:cubicBezTo>
                  <a:pt x="7052" y="12870"/>
                  <a:pt x="7003" y="12045"/>
                  <a:pt x="7003" y="10872"/>
                </a:cubicBezTo>
                <a:cubicBezTo>
                  <a:pt x="7003" y="9312"/>
                  <a:pt x="7075" y="8553"/>
                  <a:pt x="7281" y="7902"/>
                </a:cubicBezTo>
                <a:cubicBezTo>
                  <a:pt x="7425" y="7448"/>
                  <a:pt x="7584" y="7277"/>
                  <a:pt x="7820" y="7285"/>
                </a:cubicBezTo>
                <a:cubicBezTo>
                  <a:pt x="8021" y="7293"/>
                  <a:pt x="8168" y="7457"/>
                  <a:pt x="8289" y="7846"/>
                </a:cubicBezTo>
                <a:cubicBezTo>
                  <a:pt x="8372" y="8114"/>
                  <a:pt x="8462" y="8618"/>
                  <a:pt x="8463" y="8854"/>
                </a:cubicBezTo>
                <a:cubicBezTo>
                  <a:pt x="8463" y="8927"/>
                  <a:pt x="8469" y="8999"/>
                  <a:pt x="8480" y="9023"/>
                </a:cubicBezTo>
                <a:cubicBezTo>
                  <a:pt x="8503" y="9068"/>
                  <a:pt x="9315" y="8669"/>
                  <a:pt x="9384" y="8574"/>
                </a:cubicBezTo>
                <a:cubicBezTo>
                  <a:pt x="9422" y="8522"/>
                  <a:pt x="9407" y="8460"/>
                  <a:pt x="9332" y="7902"/>
                </a:cubicBezTo>
                <a:cubicBezTo>
                  <a:pt x="9118" y="6321"/>
                  <a:pt x="8816" y="5427"/>
                  <a:pt x="8341" y="5044"/>
                </a:cubicBezTo>
                <a:cubicBezTo>
                  <a:pt x="8221" y="4947"/>
                  <a:pt x="8002" y="4931"/>
                  <a:pt x="7785" y="4932"/>
                </a:cubicBezTo>
                <a:close/>
                <a:moveTo>
                  <a:pt x="14545" y="5100"/>
                </a:moveTo>
                <a:cubicBezTo>
                  <a:pt x="14073" y="5100"/>
                  <a:pt x="14043" y="5141"/>
                  <a:pt x="14058" y="5268"/>
                </a:cubicBezTo>
                <a:cubicBezTo>
                  <a:pt x="14067" y="5343"/>
                  <a:pt x="14161" y="6108"/>
                  <a:pt x="14267" y="7005"/>
                </a:cubicBezTo>
                <a:cubicBezTo>
                  <a:pt x="14372" y="7902"/>
                  <a:pt x="14479" y="8878"/>
                  <a:pt x="14510" y="9135"/>
                </a:cubicBezTo>
                <a:cubicBezTo>
                  <a:pt x="14588" y="9774"/>
                  <a:pt x="15141" y="14462"/>
                  <a:pt x="15344" y="16196"/>
                </a:cubicBezTo>
                <a:lnTo>
                  <a:pt x="15431" y="16924"/>
                </a:lnTo>
                <a:lnTo>
                  <a:pt x="15379" y="17373"/>
                </a:lnTo>
                <a:cubicBezTo>
                  <a:pt x="15350" y="17627"/>
                  <a:pt x="15304" y="17945"/>
                  <a:pt x="15275" y="18101"/>
                </a:cubicBezTo>
                <a:cubicBezTo>
                  <a:pt x="15192" y="18534"/>
                  <a:pt x="15013" y="19012"/>
                  <a:pt x="14892" y="19110"/>
                </a:cubicBezTo>
                <a:cubicBezTo>
                  <a:pt x="14769" y="19210"/>
                  <a:pt x="14536" y="19202"/>
                  <a:pt x="14388" y="19110"/>
                </a:cubicBezTo>
                <a:cubicBezTo>
                  <a:pt x="14289" y="19048"/>
                  <a:pt x="14284" y="19025"/>
                  <a:pt x="14284" y="19222"/>
                </a:cubicBezTo>
                <a:cubicBezTo>
                  <a:pt x="14284" y="19334"/>
                  <a:pt x="14299" y="19888"/>
                  <a:pt x="14319" y="20399"/>
                </a:cubicBezTo>
                <a:cubicBezTo>
                  <a:pt x="14339" y="20910"/>
                  <a:pt x="14354" y="21321"/>
                  <a:pt x="14354" y="21351"/>
                </a:cubicBezTo>
                <a:cubicBezTo>
                  <a:pt x="14354" y="21382"/>
                  <a:pt x="14406" y="21423"/>
                  <a:pt x="14475" y="21464"/>
                </a:cubicBezTo>
                <a:cubicBezTo>
                  <a:pt x="14707" y="21600"/>
                  <a:pt x="15144" y="21573"/>
                  <a:pt x="15344" y="21407"/>
                </a:cubicBezTo>
                <a:cubicBezTo>
                  <a:pt x="15673" y="21136"/>
                  <a:pt x="15866" y="20806"/>
                  <a:pt x="16022" y="20063"/>
                </a:cubicBezTo>
                <a:cubicBezTo>
                  <a:pt x="16144" y="19480"/>
                  <a:pt x="16210" y="18920"/>
                  <a:pt x="16508" y="16308"/>
                </a:cubicBezTo>
                <a:cubicBezTo>
                  <a:pt x="16647" y="15090"/>
                  <a:pt x="16852" y="13325"/>
                  <a:pt x="16960" y="12385"/>
                </a:cubicBezTo>
                <a:cubicBezTo>
                  <a:pt x="17069" y="11445"/>
                  <a:pt x="17214" y="10098"/>
                  <a:pt x="17290" y="9415"/>
                </a:cubicBezTo>
                <a:cubicBezTo>
                  <a:pt x="17367" y="8731"/>
                  <a:pt x="17509" y="7532"/>
                  <a:pt x="17603" y="6725"/>
                </a:cubicBezTo>
                <a:cubicBezTo>
                  <a:pt x="17697" y="5918"/>
                  <a:pt x="17777" y="5192"/>
                  <a:pt x="17777" y="5156"/>
                </a:cubicBezTo>
                <a:cubicBezTo>
                  <a:pt x="17777" y="5119"/>
                  <a:pt x="17559" y="5099"/>
                  <a:pt x="17290" y="5100"/>
                </a:cubicBezTo>
                <a:lnTo>
                  <a:pt x="16804" y="5100"/>
                </a:lnTo>
                <a:lnTo>
                  <a:pt x="16387" y="9191"/>
                </a:lnTo>
                <a:cubicBezTo>
                  <a:pt x="16155" y="11443"/>
                  <a:pt x="15947" y="13282"/>
                  <a:pt x="15935" y="13282"/>
                </a:cubicBezTo>
                <a:cubicBezTo>
                  <a:pt x="15913" y="13282"/>
                  <a:pt x="15853" y="12784"/>
                  <a:pt x="15327" y="7790"/>
                </a:cubicBezTo>
                <a:lnTo>
                  <a:pt x="15049" y="5100"/>
                </a:lnTo>
                <a:lnTo>
                  <a:pt x="14545" y="5100"/>
                </a:lnTo>
                <a:close/>
                <a:moveTo>
                  <a:pt x="4310" y="5212"/>
                </a:moveTo>
                <a:cubicBezTo>
                  <a:pt x="4270" y="5162"/>
                  <a:pt x="4257" y="5460"/>
                  <a:pt x="4257" y="10984"/>
                </a:cubicBezTo>
                <a:lnTo>
                  <a:pt x="4257" y="16868"/>
                </a:lnTo>
                <a:lnTo>
                  <a:pt x="4744" y="16868"/>
                </a:lnTo>
                <a:lnTo>
                  <a:pt x="5231" y="16868"/>
                </a:lnTo>
                <a:lnTo>
                  <a:pt x="5231" y="10984"/>
                </a:lnTo>
                <a:cubicBezTo>
                  <a:pt x="5231" y="5464"/>
                  <a:pt x="5218" y="5171"/>
                  <a:pt x="5178" y="5212"/>
                </a:cubicBezTo>
                <a:cubicBezTo>
                  <a:pt x="4816" y="5578"/>
                  <a:pt x="4596" y="5570"/>
                  <a:pt x="4310" y="5212"/>
                </a:cubicBezTo>
                <a:close/>
                <a:moveTo>
                  <a:pt x="11782" y="7397"/>
                </a:moveTo>
                <a:cubicBezTo>
                  <a:pt x="11898" y="7378"/>
                  <a:pt x="12028" y="7387"/>
                  <a:pt x="12129" y="7509"/>
                </a:cubicBezTo>
                <a:cubicBezTo>
                  <a:pt x="12390" y="7825"/>
                  <a:pt x="12590" y="8602"/>
                  <a:pt x="12685" y="9639"/>
                </a:cubicBezTo>
                <a:cubicBezTo>
                  <a:pt x="12741" y="10249"/>
                  <a:pt x="12741" y="11587"/>
                  <a:pt x="12685" y="12273"/>
                </a:cubicBezTo>
                <a:cubicBezTo>
                  <a:pt x="12602" y="13303"/>
                  <a:pt x="12391" y="14087"/>
                  <a:pt x="12129" y="14402"/>
                </a:cubicBezTo>
                <a:cubicBezTo>
                  <a:pt x="11950" y="14619"/>
                  <a:pt x="11701" y="14628"/>
                  <a:pt x="11521" y="14402"/>
                </a:cubicBezTo>
                <a:cubicBezTo>
                  <a:pt x="11261" y="14075"/>
                  <a:pt x="11024" y="13108"/>
                  <a:pt x="10965" y="12105"/>
                </a:cubicBezTo>
                <a:cubicBezTo>
                  <a:pt x="10934" y="11574"/>
                  <a:pt x="10934" y="10393"/>
                  <a:pt x="10965" y="9863"/>
                </a:cubicBezTo>
                <a:cubicBezTo>
                  <a:pt x="11022" y="8902"/>
                  <a:pt x="11199" y="8035"/>
                  <a:pt x="11452" y="7622"/>
                </a:cubicBezTo>
                <a:cubicBezTo>
                  <a:pt x="11547" y="7466"/>
                  <a:pt x="11665" y="7417"/>
                  <a:pt x="11782" y="7397"/>
                </a:cubicBezTo>
                <a:close/>
                <a:moveTo>
                  <a:pt x="20401" y="11320"/>
                </a:moveTo>
                <a:cubicBezTo>
                  <a:pt x="20413" y="11323"/>
                  <a:pt x="20432" y="11308"/>
                  <a:pt x="20436" y="11320"/>
                </a:cubicBezTo>
                <a:cubicBezTo>
                  <a:pt x="20449" y="11364"/>
                  <a:pt x="20441" y="11776"/>
                  <a:pt x="20436" y="12329"/>
                </a:cubicBezTo>
                <a:cubicBezTo>
                  <a:pt x="20428" y="13205"/>
                  <a:pt x="20426" y="13346"/>
                  <a:pt x="20366" y="13674"/>
                </a:cubicBezTo>
                <a:cubicBezTo>
                  <a:pt x="20284" y="14126"/>
                  <a:pt x="20157" y="14513"/>
                  <a:pt x="20001" y="14739"/>
                </a:cubicBezTo>
                <a:cubicBezTo>
                  <a:pt x="19840" y="14971"/>
                  <a:pt x="19621" y="14997"/>
                  <a:pt x="19497" y="14851"/>
                </a:cubicBezTo>
                <a:cubicBezTo>
                  <a:pt x="19370" y="14700"/>
                  <a:pt x="19286" y="14504"/>
                  <a:pt x="19202" y="14122"/>
                </a:cubicBezTo>
                <a:cubicBezTo>
                  <a:pt x="19144" y="13860"/>
                  <a:pt x="19134" y="13718"/>
                  <a:pt x="19132" y="13338"/>
                </a:cubicBezTo>
                <a:cubicBezTo>
                  <a:pt x="19131" y="12931"/>
                  <a:pt x="19137" y="12870"/>
                  <a:pt x="19202" y="12609"/>
                </a:cubicBezTo>
                <a:cubicBezTo>
                  <a:pt x="19307" y="12187"/>
                  <a:pt x="19438" y="11999"/>
                  <a:pt x="19741" y="11769"/>
                </a:cubicBezTo>
                <a:cubicBezTo>
                  <a:pt x="19886" y="11657"/>
                  <a:pt x="20099" y="11461"/>
                  <a:pt x="20210" y="11376"/>
                </a:cubicBezTo>
                <a:cubicBezTo>
                  <a:pt x="20307" y="11302"/>
                  <a:pt x="20366" y="11312"/>
                  <a:pt x="20401" y="11320"/>
                </a:cubicBezTo>
                <a:close/>
              </a:path>
            </a:pathLst>
          </a:custGeom>
          <a:ln w="12700">
            <a:miter lim="400000"/>
          </a:ln>
        </p:spPr>
      </p:pic>
      <p:pic>
        <p:nvPicPr>
          <p:cNvPr id="77" name="图像" descr="图像">
            <a:extLst>
              <a:ext uri="{FF2B5EF4-FFF2-40B4-BE49-F238E27FC236}">
                <a16:creationId xmlns:a16="http://schemas.microsoft.com/office/drawing/2014/main" id="{F0FD71B9-D017-91DF-A2AD-F0C723F3B2BD}"/>
              </a:ext>
            </a:extLst>
          </p:cNvPr>
          <p:cNvPicPr>
            <a:picLocks noChangeAspect="1"/>
          </p:cNvPicPr>
          <p:nvPr/>
        </p:nvPicPr>
        <p:blipFill>
          <a:blip r:embed="rId10"/>
          <a:stretch>
            <a:fillRect/>
          </a:stretch>
        </p:blipFill>
        <p:spPr>
          <a:xfrm>
            <a:off x="2412212" y="4754989"/>
            <a:ext cx="609611" cy="180626"/>
          </a:xfrm>
          <a:prstGeom prst="rect">
            <a:avLst/>
          </a:prstGeom>
          <a:ln w="12700">
            <a:miter lim="400000"/>
          </a:ln>
        </p:spPr>
      </p:pic>
      <p:pic>
        <p:nvPicPr>
          <p:cNvPr id="78" name="图像" descr="图像">
            <a:extLst>
              <a:ext uri="{FF2B5EF4-FFF2-40B4-BE49-F238E27FC236}">
                <a16:creationId xmlns:a16="http://schemas.microsoft.com/office/drawing/2014/main" id="{650513F6-ED76-707A-3E6B-74D2B587B4A8}"/>
              </a:ext>
            </a:extLst>
          </p:cNvPr>
          <p:cNvPicPr>
            <a:picLocks noChangeAspect="1"/>
          </p:cNvPicPr>
          <p:nvPr/>
        </p:nvPicPr>
        <p:blipFill>
          <a:blip r:embed="rId42"/>
          <a:srcRect l="10845" t="20224" r="9454" b="19637"/>
          <a:stretch>
            <a:fillRect/>
          </a:stretch>
        </p:blipFill>
        <p:spPr>
          <a:xfrm>
            <a:off x="8833387" y="6232862"/>
            <a:ext cx="877758" cy="224860"/>
          </a:xfrm>
          <a:prstGeom prst="rect">
            <a:avLst/>
          </a:prstGeom>
          <a:ln w="12700">
            <a:miter lim="400000"/>
          </a:ln>
        </p:spPr>
      </p:pic>
      <p:pic>
        <p:nvPicPr>
          <p:cNvPr id="79" name="图像" descr="图像">
            <a:extLst>
              <a:ext uri="{FF2B5EF4-FFF2-40B4-BE49-F238E27FC236}">
                <a16:creationId xmlns:a16="http://schemas.microsoft.com/office/drawing/2014/main" id="{AB8B13A4-0E06-4AD9-16C0-20814152DC31}"/>
              </a:ext>
            </a:extLst>
          </p:cNvPr>
          <p:cNvPicPr>
            <a:picLocks noChangeAspect="1"/>
          </p:cNvPicPr>
          <p:nvPr/>
        </p:nvPicPr>
        <p:blipFill>
          <a:blip r:embed="rId43"/>
          <a:stretch>
            <a:fillRect/>
          </a:stretch>
        </p:blipFill>
        <p:spPr>
          <a:xfrm>
            <a:off x="5041038" y="1634866"/>
            <a:ext cx="353168" cy="278119"/>
          </a:xfrm>
          <a:prstGeom prst="rect">
            <a:avLst/>
          </a:prstGeom>
          <a:ln w="12700">
            <a:miter lim="400000"/>
          </a:ln>
        </p:spPr>
      </p:pic>
      <p:pic>
        <p:nvPicPr>
          <p:cNvPr id="80" name="图像" descr="图像">
            <a:extLst>
              <a:ext uri="{FF2B5EF4-FFF2-40B4-BE49-F238E27FC236}">
                <a16:creationId xmlns:a16="http://schemas.microsoft.com/office/drawing/2014/main" id="{613130EA-4EF5-7BA1-965B-192F7463CAC3}"/>
              </a:ext>
            </a:extLst>
          </p:cNvPr>
          <p:cNvPicPr>
            <a:picLocks noChangeAspect="1"/>
          </p:cNvPicPr>
          <p:nvPr/>
        </p:nvPicPr>
        <p:blipFill>
          <a:blip r:embed="rId43"/>
          <a:stretch>
            <a:fillRect/>
          </a:stretch>
        </p:blipFill>
        <p:spPr>
          <a:xfrm>
            <a:off x="3400274" y="1664071"/>
            <a:ext cx="419101" cy="330042"/>
          </a:xfrm>
          <a:prstGeom prst="rect">
            <a:avLst/>
          </a:prstGeom>
          <a:ln w="12700">
            <a:miter lim="400000"/>
          </a:ln>
        </p:spPr>
      </p:pic>
      <p:pic>
        <p:nvPicPr>
          <p:cNvPr id="81" name="图像" descr="图像">
            <a:extLst>
              <a:ext uri="{FF2B5EF4-FFF2-40B4-BE49-F238E27FC236}">
                <a16:creationId xmlns:a16="http://schemas.microsoft.com/office/drawing/2014/main" id="{57459ECC-52C3-C9C9-28EA-49188BC62ED2}"/>
              </a:ext>
            </a:extLst>
          </p:cNvPr>
          <p:cNvPicPr>
            <a:picLocks noChangeAspect="1"/>
          </p:cNvPicPr>
          <p:nvPr/>
        </p:nvPicPr>
        <p:blipFill>
          <a:blip r:embed="rId43"/>
          <a:stretch>
            <a:fillRect/>
          </a:stretch>
        </p:blipFill>
        <p:spPr>
          <a:xfrm>
            <a:off x="3248443" y="4333674"/>
            <a:ext cx="353168" cy="278120"/>
          </a:xfrm>
          <a:prstGeom prst="rect">
            <a:avLst/>
          </a:prstGeom>
          <a:ln w="12700">
            <a:miter lim="400000"/>
          </a:ln>
        </p:spPr>
      </p:pic>
      <p:pic>
        <p:nvPicPr>
          <p:cNvPr id="82" name="图像" descr="图像">
            <a:extLst>
              <a:ext uri="{FF2B5EF4-FFF2-40B4-BE49-F238E27FC236}">
                <a16:creationId xmlns:a16="http://schemas.microsoft.com/office/drawing/2014/main" id="{00F19A80-AF57-C17D-74C0-2D8F451374C7}"/>
              </a:ext>
            </a:extLst>
          </p:cNvPr>
          <p:cNvPicPr>
            <a:picLocks noChangeAspect="1"/>
          </p:cNvPicPr>
          <p:nvPr/>
        </p:nvPicPr>
        <p:blipFill>
          <a:blip r:embed="rId44"/>
          <a:stretch>
            <a:fillRect/>
          </a:stretch>
        </p:blipFill>
        <p:spPr>
          <a:xfrm>
            <a:off x="4111982" y="3276129"/>
            <a:ext cx="434654" cy="304801"/>
          </a:xfrm>
          <a:prstGeom prst="rect">
            <a:avLst/>
          </a:prstGeom>
          <a:ln w="12700">
            <a:miter lim="400000"/>
          </a:ln>
        </p:spPr>
      </p:pic>
      <p:pic>
        <p:nvPicPr>
          <p:cNvPr id="83" name="图像" descr="图像">
            <a:extLst>
              <a:ext uri="{FF2B5EF4-FFF2-40B4-BE49-F238E27FC236}">
                <a16:creationId xmlns:a16="http://schemas.microsoft.com/office/drawing/2014/main" id="{307D2B9A-23AA-50BE-0450-190E74FFB8A5}"/>
              </a:ext>
            </a:extLst>
          </p:cNvPr>
          <p:cNvPicPr>
            <a:picLocks noChangeAspect="1"/>
          </p:cNvPicPr>
          <p:nvPr/>
        </p:nvPicPr>
        <p:blipFill>
          <a:blip r:embed="rId45"/>
          <a:stretch>
            <a:fillRect/>
          </a:stretch>
        </p:blipFill>
        <p:spPr>
          <a:xfrm>
            <a:off x="7660754" y="5941135"/>
            <a:ext cx="406401" cy="355601"/>
          </a:xfrm>
          <a:prstGeom prst="rect">
            <a:avLst/>
          </a:prstGeom>
          <a:ln w="12700">
            <a:miter lim="400000"/>
          </a:ln>
        </p:spPr>
      </p:pic>
      <p:pic>
        <p:nvPicPr>
          <p:cNvPr id="84" name="图像" descr="图像">
            <a:extLst>
              <a:ext uri="{FF2B5EF4-FFF2-40B4-BE49-F238E27FC236}">
                <a16:creationId xmlns:a16="http://schemas.microsoft.com/office/drawing/2014/main" id="{602A6950-B4AA-B227-6551-AC39E50EC4CC}"/>
              </a:ext>
            </a:extLst>
          </p:cNvPr>
          <p:cNvPicPr>
            <a:picLocks noChangeAspect="1"/>
          </p:cNvPicPr>
          <p:nvPr/>
        </p:nvPicPr>
        <p:blipFill>
          <a:blip r:embed="rId46"/>
          <a:stretch>
            <a:fillRect/>
          </a:stretch>
        </p:blipFill>
        <p:spPr>
          <a:xfrm>
            <a:off x="1631768" y="5128538"/>
            <a:ext cx="603251" cy="190501"/>
          </a:xfrm>
          <a:prstGeom prst="rect">
            <a:avLst/>
          </a:prstGeom>
          <a:ln w="12700">
            <a:miter lim="400000"/>
          </a:ln>
        </p:spPr>
      </p:pic>
      <p:pic>
        <p:nvPicPr>
          <p:cNvPr id="85" name="图像" descr="图像">
            <a:extLst>
              <a:ext uri="{FF2B5EF4-FFF2-40B4-BE49-F238E27FC236}">
                <a16:creationId xmlns:a16="http://schemas.microsoft.com/office/drawing/2014/main" id="{A338611A-FA0C-5ABC-3704-9150E8698432}"/>
              </a:ext>
            </a:extLst>
          </p:cNvPr>
          <p:cNvPicPr>
            <a:picLocks noChangeAspect="1"/>
          </p:cNvPicPr>
          <p:nvPr/>
        </p:nvPicPr>
        <p:blipFill>
          <a:blip r:embed="rId47"/>
          <a:stretch>
            <a:fillRect/>
          </a:stretch>
        </p:blipFill>
        <p:spPr>
          <a:xfrm>
            <a:off x="2206329" y="4968025"/>
            <a:ext cx="774701" cy="190501"/>
          </a:xfrm>
          <a:prstGeom prst="rect">
            <a:avLst/>
          </a:prstGeom>
          <a:ln w="12700">
            <a:miter lim="400000"/>
          </a:ln>
        </p:spPr>
      </p:pic>
      <p:pic>
        <p:nvPicPr>
          <p:cNvPr id="86" name="图像" descr="图像">
            <a:extLst>
              <a:ext uri="{FF2B5EF4-FFF2-40B4-BE49-F238E27FC236}">
                <a16:creationId xmlns:a16="http://schemas.microsoft.com/office/drawing/2014/main" id="{83281EAF-8233-0811-69BD-6D0F23BE915C}"/>
              </a:ext>
            </a:extLst>
          </p:cNvPr>
          <p:cNvPicPr>
            <a:picLocks noChangeAspect="1"/>
          </p:cNvPicPr>
          <p:nvPr/>
        </p:nvPicPr>
        <p:blipFill>
          <a:blip r:embed="rId48"/>
          <a:stretch>
            <a:fillRect/>
          </a:stretch>
        </p:blipFill>
        <p:spPr>
          <a:xfrm>
            <a:off x="1529277" y="3122272"/>
            <a:ext cx="677053" cy="128588"/>
          </a:xfrm>
          <a:prstGeom prst="rect">
            <a:avLst/>
          </a:prstGeom>
          <a:ln w="12700">
            <a:miter lim="400000"/>
          </a:ln>
        </p:spPr>
      </p:pic>
      <p:pic>
        <p:nvPicPr>
          <p:cNvPr id="87" name="图像" descr="图像">
            <a:extLst>
              <a:ext uri="{FF2B5EF4-FFF2-40B4-BE49-F238E27FC236}">
                <a16:creationId xmlns:a16="http://schemas.microsoft.com/office/drawing/2014/main" id="{C96D0178-3D6A-E196-AEFD-3B944FA0A3ED}"/>
              </a:ext>
            </a:extLst>
          </p:cNvPr>
          <p:cNvPicPr>
            <a:picLocks noChangeAspect="1"/>
          </p:cNvPicPr>
          <p:nvPr/>
        </p:nvPicPr>
        <p:blipFill>
          <a:blip r:embed="rId49"/>
          <a:srcRect l="6527" t="39090" r="6527" b="39090"/>
          <a:stretch>
            <a:fillRect/>
          </a:stretch>
        </p:blipFill>
        <p:spPr>
          <a:xfrm>
            <a:off x="1504371" y="3385639"/>
            <a:ext cx="759251" cy="190531"/>
          </a:xfrm>
          <a:prstGeom prst="rect">
            <a:avLst/>
          </a:prstGeom>
          <a:ln w="12700">
            <a:miter lim="400000"/>
          </a:ln>
        </p:spPr>
      </p:pic>
      <p:pic>
        <p:nvPicPr>
          <p:cNvPr id="88" name="图像" descr="图像">
            <a:extLst>
              <a:ext uri="{FF2B5EF4-FFF2-40B4-BE49-F238E27FC236}">
                <a16:creationId xmlns:a16="http://schemas.microsoft.com/office/drawing/2014/main" id="{021675B9-6F55-149F-6E54-EBDD917E7253}"/>
              </a:ext>
            </a:extLst>
          </p:cNvPr>
          <p:cNvPicPr>
            <a:picLocks noChangeAspect="1"/>
          </p:cNvPicPr>
          <p:nvPr/>
        </p:nvPicPr>
        <p:blipFill>
          <a:blip r:embed="rId50"/>
          <a:stretch>
            <a:fillRect/>
          </a:stretch>
        </p:blipFill>
        <p:spPr>
          <a:xfrm>
            <a:off x="2316657" y="2968367"/>
            <a:ext cx="673108" cy="208781"/>
          </a:xfrm>
          <a:prstGeom prst="rect">
            <a:avLst/>
          </a:prstGeom>
          <a:ln w="12700">
            <a:miter lim="400000"/>
          </a:ln>
        </p:spPr>
      </p:pic>
      <p:pic>
        <p:nvPicPr>
          <p:cNvPr id="89" name="图像" descr="图像">
            <a:extLst>
              <a:ext uri="{FF2B5EF4-FFF2-40B4-BE49-F238E27FC236}">
                <a16:creationId xmlns:a16="http://schemas.microsoft.com/office/drawing/2014/main" id="{65772F15-3F83-D21A-7F08-57A59A5BDD67}"/>
              </a:ext>
            </a:extLst>
          </p:cNvPr>
          <p:cNvPicPr>
            <a:picLocks noChangeAspect="1"/>
          </p:cNvPicPr>
          <p:nvPr/>
        </p:nvPicPr>
        <p:blipFill>
          <a:blip r:embed="rId51"/>
          <a:srcRect l="22811" t="36117" r="22811" b="36117"/>
          <a:stretch>
            <a:fillRect/>
          </a:stretch>
        </p:blipFill>
        <p:spPr>
          <a:xfrm>
            <a:off x="2286146" y="3188332"/>
            <a:ext cx="651122" cy="222755"/>
          </a:xfrm>
          <a:prstGeom prst="rect">
            <a:avLst/>
          </a:prstGeom>
          <a:ln w="12700">
            <a:miter lim="400000"/>
          </a:ln>
        </p:spPr>
      </p:pic>
      <p:pic>
        <p:nvPicPr>
          <p:cNvPr id="90" name="线条 线条" descr="线条 线条">
            <a:extLst>
              <a:ext uri="{FF2B5EF4-FFF2-40B4-BE49-F238E27FC236}">
                <a16:creationId xmlns:a16="http://schemas.microsoft.com/office/drawing/2014/main" id="{38600CAB-5DDC-E40E-302F-61065B9F986D}"/>
              </a:ext>
            </a:extLst>
          </p:cNvPr>
          <p:cNvPicPr>
            <a:picLocks/>
          </p:cNvPicPr>
          <p:nvPr/>
        </p:nvPicPr>
        <p:blipFill>
          <a:blip r:embed="rId52"/>
          <a:stretch>
            <a:fillRect/>
          </a:stretch>
        </p:blipFill>
        <p:spPr>
          <a:xfrm>
            <a:off x="6391283" y="6010872"/>
            <a:ext cx="460263" cy="216127"/>
          </a:xfrm>
          <a:prstGeom prst="rect">
            <a:avLst/>
          </a:prstGeom>
        </p:spPr>
      </p:pic>
      <p:pic>
        <p:nvPicPr>
          <p:cNvPr id="91" name="线条 线条" descr="线条 线条">
            <a:extLst>
              <a:ext uri="{FF2B5EF4-FFF2-40B4-BE49-F238E27FC236}">
                <a16:creationId xmlns:a16="http://schemas.microsoft.com/office/drawing/2014/main" id="{ACE46E4B-FD78-5D1A-FB7B-A8947985B084}"/>
              </a:ext>
            </a:extLst>
          </p:cNvPr>
          <p:cNvPicPr>
            <a:picLocks/>
          </p:cNvPicPr>
          <p:nvPr/>
        </p:nvPicPr>
        <p:blipFill>
          <a:blip r:embed="rId53"/>
          <a:stretch>
            <a:fillRect/>
          </a:stretch>
        </p:blipFill>
        <p:spPr>
          <a:xfrm>
            <a:off x="3020903" y="1983451"/>
            <a:ext cx="308861" cy="216127"/>
          </a:xfrm>
          <a:prstGeom prst="rect">
            <a:avLst/>
          </a:prstGeom>
        </p:spPr>
      </p:pic>
      <p:pic>
        <p:nvPicPr>
          <p:cNvPr id="92" name="线条 线条" descr="线条 线条">
            <a:extLst>
              <a:ext uri="{FF2B5EF4-FFF2-40B4-BE49-F238E27FC236}">
                <a16:creationId xmlns:a16="http://schemas.microsoft.com/office/drawing/2014/main" id="{46374897-9985-F9C2-B0A6-ABD2BE1397DC}"/>
              </a:ext>
            </a:extLst>
          </p:cNvPr>
          <p:cNvPicPr>
            <a:picLocks/>
          </p:cNvPicPr>
          <p:nvPr/>
        </p:nvPicPr>
        <p:blipFill>
          <a:blip r:embed="rId53"/>
          <a:stretch>
            <a:fillRect/>
          </a:stretch>
        </p:blipFill>
        <p:spPr>
          <a:xfrm>
            <a:off x="4815069" y="1963839"/>
            <a:ext cx="308861" cy="216127"/>
          </a:xfrm>
          <a:prstGeom prst="rect">
            <a:avLst/>
          </a:prstGeom>
        </p:spPr>
      </p:pic>
      <p:pic>
        <p:nvPicPr>
          <p:cNvPr id="93" name="线条 线条" descr="线条 线条">
            <a:extLst>
              <a:ext uri="{FF2B5EF4-FFF2-40B4-BE49-F238E27FC236}">
                <a16:creationId xmlns:a16="http://schemas.microsoft.com/office/drawing/2014/main" id="{4016990F-4344-CDB3-C2FB-DD8308A40819}"/>
              </a:ext>
            </a:extLst>
          </p:cNvPr>
          <p:cNvPicPr>
            <a:picLocks/>
          </p:cNvPicPr>
          <p:nvPr/>
        </p:nvPicPr>
        <p:blipFill>
          <a:blip r:embed="rId54"/>
          <a:stretch>
            <a:fillRect/>
          </a:stretch>
        </p:blipFill>
        <p:spPr>
          <a:xfrm>
            <a:off x="2999103" y="3331932"/>
            <a:ext cx="308861" cy="216126"/>
          </a:xfrm>
          <a:prstGeom prst="rect">
            <a:avLst/>
          </a:prstGeom>
        </p:spPr>
      </p:pic>
      <p:pic>
        <p:nvPicPr>
          <p:cNvPr id="94" name="线条 线条" descr="线条 线条">
            <a:extLst>
              <a:ext uri="{FF2B5EF4-FFF2-40B4-BE49-F238E27FC236}">
                <a16:creationId xmlns:a16="http://schemas.microsoft.com/office/drawing/2014/main" id="{5759A6A6-8438-94C6-D1BA-8609EA104F06}"/>
              </a:ext>
            </a:extLst>
          </p:cNvPr>
          <p:cNvPicPr>
            <a:picLocks/>
          </p:cNvPicPr>
          <p:nvPr/>
        </p:nvPicPr>
        <p:blipFill>
          <a:blip r:embed="rId54"/>
          <a:stretch>
            <a:fillRect/>
          </a:stretch>
        </p:blipFill>
        <p:spPr>
          <a:xfrm>
            <a:off x="3020903" y="4674689"/>
            <a:ext cx="308861" cy="216126"/>
          </a:xfrm>
          <a:prstGeom prst="rect">
            <a:avLst/>
          </a:prstGeom>
        </p:spPr>
      </p:pic>
      <p:pic>
        <p:nvPicPr>
          <p:cNvPr id="95" name="线条 形状" descr="线条 形状">
            <a:extLst>
              <a:ext uri="{FF2B5EF4-FFF2-40B4-BE49-F238E27FC236}">
                <a16:creationId xmlns:a16="http://schemas.microsoft.com/office/drawing/2014/main" id="{22790694-FC8A-FC8C-811B-4C5565FC9336}"/>
              </a:ext>
            </a:extLst>
          </p:cNvPr>
          <p:cNvPicPr>
            <a:picLocks/>
          </p:cNvPicPr>
          <p:nvPr/>
        </p:nvPicPr>
        <p:blipFill>
          <a:blip r:embed="rId55"/>
          <a:stretch>
            <a:fillRect/>
          </a:stretch>
        </p:blipFill>
        <p:spPr>
          <a:xfrm>
            <a:off x="4865043" y="2698499"/>
            <a:ext cx="1044563" cy="2018517"/>
          </a:xfrm>
          <a:prstGeom prst="rect">
            <a:avLst/>
          </a:prstGeom>
        </p:spPr>
      </p:pic>
      <p:pic>
        <p:nvPicPr>
          <p:cNvPr id="96" name="线条 形状" descr="线条 形状">
            <a:extLst>
              <a:ext uri="{FF2B5EF4-FFF2-40B4-BE49-F238E27FC236}">
                <a16:creationId xmlns:a16="http://schemas.microsoft.com/office/drawing/2014/main" id="{6D5937AE-CAA6-E2DD-2D94-E988E052784E}"/>
              </a:ext>
            </a:extLst>
          </p:cNvPr>
          <p:cNvPicPr>
            <a:picLocks/>
          </p:cNvPicPr>
          <p:nvPr/>
        </p:nvPicPr>
        <p:blipFill>
          <a:blip r:embed="rId56"/>
          <a:stretch>
            <a:fillRect/>
          </a:stretch>
        </p:blipFill>
        <p:spPr>
          <a:xfrm>
            <a:off x="4858855" y="2695084"/>
            <a:ext cx="1046104" cy="789064"/>
          </a:xfrm>
          <a:prstGeom prst="rect">
            <a:avLst/>
          </a:prstGeom>
        </p:spPr>
      </p:pic>
      <p:pic>
        <p:nvPicPr>
          <p:cNvPr id="97" name="线条 形状" descr="线条 形状">
            <a:extLst>
              <a:ext uri="{FF2B5EF4-FFF2-40B4-BE49-F238E27FC236}">
                <a16:creationId xmlns:a16="http://schemas.microsoft.com/office/drawing/2014/main" id="{F6899338-49B6-DD98-8D59-958FB63B51AD}"/>
              </a:ext>
            </a:extLst>
          </p:cNvPr>
          <p:cNvPicPr>
            <a:picLocks/>
          </p:cNvPicPr>
          <p:nvPr/>
        </p:nvPicPr>
        <p:blipFill>
          <a:blip r:embed="rId57"/>
          <a:stretch>
            <a:fillRect/>
          </a:stretch>
        </p:blipFill>
        <p:spPr>
          <a:xfrm rot="358425">
            <a:off x="7575405" y="6331394"/>
            <a:ext cx="3679479" cy="669601"/>
          </a:xfrm>
          <a:prstGeom prst="rect">
            <a:avLst/>
          </a:prstGeom>
        </p:spPr>
      </p:pic>
      <p:pic>
        <p:nvPicPr>
          <p:cNvPr id="98" name="线条 线条" descr="线条 线条">
            <a:extLst>
              <a:ext uri="{FF2B5EF4-FFF2-40B4-BE49-F238E27FC236}">
                <a16:creationId xmlns:a16="http://schemas.microsoft.com/office/drawing/2014/main" id="{AF829367-591E-3ABF-1BE6-28DDE715A902}"/>
              </a:ext>
            </a:extLst>
          </p:cNvPr>
          <p:cNvPicPr>
            <a:picLocks/>
          </p:cNvPicPr>
          <p:nvPr/>
        </p:nvPicPr>
        <p:blipFill>
          <a:blip r:embed="rId58"/>
          <a:stretch>
            <a:fillRect/>
          </a:stretch>
        </p:blipFill>
        <p:spPr>
          <a:xfrm>
            <a:off x="6648920" y="1927557"/>
            <a:ext cx="1887678" cy="308752"/>
          </a:xfrm>
          <a:prstGeom prst="rect">
            <a:avLst/>
          </a:prstGeom>
        </p:spPr>
      </p:pic>
      <p:pic>
        <p:nvPicPr>
          <p:cNvPr id="99" name="线条 线条" descr="线条 线条">
            <a:extLst>
              <a:ext uri="{FF2B5EF4-FFF2-40B4-BE49-F238E27FC236}">
                <a16:creationId xmlns:a16="http://schemas.microsoft.com/office/drawing/2014/main" id="{352D06B2-4427-CAEE-529E-43F3587A32B1}"/>
              </a:ext>
            </a:extLst>
          </p:cNvPr>
          <p:cNvPicPr>
            <a:picLocks/>
          </p:cNvPicPr>
          <p:nvPr/>
        </p:nvPicPr>
        <p:blipFill>
          <a:blip r:embed="rId59"/>
          <a:stretch>
            <a:fillRect/>
          </a:stretch>
        </p:blipFill>
        <p:spPr>
          <a:xfrm>
            <a:off x="10089589" y="3939236"/>
            <a:ext cx="444501" cy="308752"/>
          </a:xfrm>
          <a:prstGeom prst="rect">
            <a:avLst/>
          </a:prstGeom>
        </p:spPr>
      </p:pic>
      <p:pic>
        <p:nvPicPr>
          <p:cNvPr id="100" name="图像" descr="图像">
            <a:extLst>
              <a:ext uri="{FF2B5EF4-FFF2-40B4-BE49-F238E27FC236}">
                <a16:creationId xmlns:a16="http://schemas.microsoft.com/office/drawing/2014/main" id="{003E041E-5810-6FDC-9EC0-E344609F4A1F}"/>
              </a:ext>
            </a:extLst>
          </p:cNvPr>
          <p:cNvPicPr>
            <a:picLocks noChangeAspect="1"/>
          </p:cNvPicPr>
          <p:nvPr/>
        </p:nvPicPr>
        <p:blipFill>
          <a:blip r:embed="rId10"/>
          <a:stretch>
            <a:fillRect/>
          </a:stretch>
        </p:blipFill>
        <p:spPr>
          <a:xfrm>
            <a:off x="1958787" y="3590741"/>
            <a:ext cx="609612" cy="180627"/>
          </a:xfrm>
          <a:prstGeom prst="rect">
            <a:avLst/>
          </a:prstGeom>
          <a:ln w="12700">
            <a:miter lim="400000"/>
          </a:ln>
        </p:spPr>
      </p:pic>
      <p:pic>
        <p:nvPicPr>
          <p:cNvPr id="101" name="图像" descr="图像">
            <a:extLst>
              <a:ext uri="{FF2B5EF4-FFF2-40B4-BE49-F238E27FC236}">
                <a16:creationId xmlns:a16="http://schemas.microsoft.com/office/drawing/2014/main" id="{F6909B18-AA8B-FB31-AEBF-09F9A562783D}"/>
              </a:ext>
            </a:extLst>
          </p:cNvPr>
          <p:cNvPicPr>
            <a:picLocks noChangeAspect="1"/>
          </p:cNvPicPr>
          <p:nvPr/>
        </p:nvPicPr>
        <p:blipFill>
          <a:blip r:embed="rId60"/>
          <a:stretch>
            <a:fillRect/>
          </a:stretch>
        </p:blipFill>
        <p:spPr>
          <a:xfrm>
            <a:off x="6976540" y="6394017"/>
            <a:ext cx="711201" cy="183018"/>
          </a:xfrm>
          <a:prstGeom prst="rect">
            <a:avLst/>
          </a:prstGeom>
          <a:ln w="12700">
            <a:miter lim="400000"/>
          </a:ln>
        </p:spPr>
      </p:pic>
      <p:pic>
        <p:nvPicPr>
          <p:cNvPr id="102" name="图像" descr="图像">
            <a:extLst>
              <a:ext uri="{FF2B5EF4-FFF2-40B4-BE49-F238E27FC236}">
                <a16:creationId xmlns:a16="http://schemas.microsoft.com/office/drawing/2014/main" id="{5224AC44-DCC9-278C-A61D-F2A9F31453B6}"/>
              </a:ext>
            </a:extLst>
          </p:cNvPr>
          <p:cNvPicPr>
            <a:picLocks noChangeAspect="1"/>
          </p:cNvPicPr>
          <p:nvPr/>
        </p:nvPicPr>
        <p:blipFill>
          <a:blip r:embed="rId61"/>
          <a:stretch>
            <a:fillRect/>
          </a:stretch>
        </p:blipFill>
        <p:spPr>
          <a:xfrm>
            <a:off x="2548684" y="1783150"/>
            <a:ext cx="448663" cy="512472"/>
          </a:xfrm>
          <a:prstGeom prst="rect">
            <a:avLst/>
          </a:prstGeom>
          <a:ln w="12700">
            <a:miter lim="400000"/>
          </a:ln>
        </p:spPr>
      </p:pic>
      <p:pic>
        <p:nvPicPr>
          <p:cNvPr id="103" name="图像" descr="图像">
            <a:extLst>
              <a:ext uri="{FF2B5EF4-FFF2-40B4-BE49-F238E27FC236}">
                <a16:creationId xmlns:a16="http://schemas.microsoft.com/office/drawing/2014/main" id="{1B5FF2FC-0E41-65CC-416B-A8A48EED1B29}"/>
              </a:ext>
            </a:extLst>
          </p:cNvPr>
          <p:cNvPicPr>
            <a:picLocks noChangeAspect="1"/>
          </p:cNvPicPr>
          <p:nvPr/>
        </p:nvPicPr>
        <p:blipFill>
          <a:blip r:embed="rId62"/>
          <a:srcRect l="67445" t="5856" r="4755" b="48912"/>
          <a:stretch>
            <a:fillRect/>
          </a:stretch>
        </p:blipFill>
        <p:spPr>
          <a:xfrm>
            <a:off x="3524881" y="3587696"/>
            <a:ext cx="377464" cy="358984"/>
          </a:xfrm>
          <a:prstGeom prst="rect">
            <a:avLst/>
          </a:prstGeom>
          <a:ln w="12700">
            <a:miter lim="400000"/>
          </a:ln>
        </p:spPr>
      </p:pic>
      <p:pic>
        <p:nvPicPr>
          <p:cNvPr id="104" name="图像" descr="图像">
            <a:extLst>
              <a:ext uri="{FF2B5EF4-FFF2-40B4-BE49-F238E27FC236}">
                <a16:creationId xmlns:a16="http://schemas.microsoft.com/office/drawing/2014/main" id="{1F23C48F-9CA4-E5D6-7C6D-03EC04A6B817}"/>
              </a:ext>
            </a:extLst>
          </p:cNvPr>
          <p:cNvPicPr>
            <a:picLocks noChangeAspect="1"/>
          </p:cNvPicPr>
          <p:nvPr/>
        </p:nvPicPr>
        <p:blipFill>
          <a:blip r:embed="rId62"/>
          <a:srcRect l="67445" t="5856" r="4755" b="48912"/>
          <a:stretch>
            <a:fillRect/>
          </a:stretch>
        </p:blipFill>
        <p:spPr>
          <a:xfrm>
            <a:off x="4074179" y="4624152"/>
            <a:ext cx="377463" cy="358985"/>
          </a:xfrm>
          <a:prstGeom prst="rect">
            <a:avLst/>
          </a:prstGeom>
          <a:ln w="12700">
            <a:miter lim="400000"/>
          </a:ln>
        </p:spPr>
      </p:pic>
      <p:pic>
        <p:nvPicPr>
          <p:cNvPr id="105" name="图像" descr="图像">
            <a:extLst>
              <a:ext uri="{FF2B5EF4-FFF2-40B4-BE49-F238E27FC236}">
                <a16:creationId xmlns:a16="http://schemas.microsoft.com/office/drawing/2014/main" id="{B68A75FF-AE0D-15D2-905E-A4CA9D21AB6D}"/>
              </a:ext>
            </a:extLst>
          </p:cNvPr>
          <p:cNvPicPr>
            <a:picLocks noChangeAspect="1"/>
          </p:cNvPicPr>
          <p:nvPr/>
        </p:nvPicPr>
        <p:blipFill>
          <a:blip r:embed="rId63"/>
          <a:srcRect t="30546" b="40315"/>
          <a:stretch>
            <a:fillRect/>
          </a:stretch>
        </p:blipFill>
        <p:spPr>
          <a:xfrm>
            <a:off x="4105493" y="3706223"/>
            <a:ext cx="555557" cy="159663"/>
          </a:xfrm>
          <a:prstGeom prst="rect">
            <a:avLst/>
          </a:prstGeom>
          <a:ln w="12700">
            <a:miter lim="400000"/>
          </a:ln>
        </p:spPr>
      </p:pic>
      <p:pic>
        <p:nvPicPr>
          <p:cNvPr id="106" name="图像" descr="图像">
            <a:extLst>
              <a:ext uri="{FF2B5EF4-FFF2-40B4-BE49-F238E27FC236}">
                <a16:creationId xmlns:a16="http://schemas.microsoft.com/office/drawing/2014/main" id="{4D7FA93A-D498-0DD8-6D18-E0C7E500DB21}"/>
              </a:ext>
            </a:extLst>
          </p:cNvPr>
          <p:cNvPicPr>
            <a:picLocks noChangeAspect="1"/>
          </p:cNvPicPr>
          <p:nvPr/>
        </p:nvPicPr>
        <p:blipFill>
          <a:blip r:embed="rId62"/>
          <a:srcRect l="41978" t="5748" r="32632" b="49892"/>
          <a:stretch>
            <a:fillRect/>
          </a:stretch>
        </p:blipFill>
        <p:spPr>
          <a:xfrm>
            <a:off x="4443985" y="2822705"/>
            <a:ext cx="377614" cy="385631"/>
          </a:xfrm>
          <a:prstGeom prst="rect">
            <a:avLst/>
          </a:prstGeom>
          <a:ln w="12700">
            <a:miter lim="400000"/>
          </a:ln>
        </p:spPr>
      </p:pic>
      <p:pic>
        <p:nvPicPr>
          <p:cNvPr id="107" name="图像" descr="图像">
            <a:extLst>
              <a:ext uri="{FF2B5EF4-FFF2-40B4-BE49-F238E27FC236}">
                <a16:creationId xmlns:a16="http://schemas.microsoft.com/office/drawing/2014/main" id="{0D6BF4C3-D708-C1EA-DB86-7BB35017155B}"/>
              </a:ext>
            </a:extLst>
          </p:cNvPr>
          <p:cNvPicPr>
            <a:picLocks noChangeAspect="1"/>
          </p:cNvPicPr>
          <p:nvPr/>
        </p:nvPicPr>
        <p:blipFill>
          <a:blip r:embed="rId15"/>
          <a:stretch>
            <a:fillRect/>
          </a:stretch>
        </p:blipFill>
        <p:spPr>
          <a:xfrm>
            <a:off x="4962397" y="6288226"/>
            <a:ext cx="723901" cy="114301"/>
          </a:xfrm>
          <a:prstGeom prst="rect">
            <a:avLst/>
          </a:prstGeom>
          <a:ln w="12700">
            <a:miter lim="400000"/>
          </a:ln>
        </p:spPr>
      </p:pic>
    </p:spTree>
    <p:extLst>
      <p:ext uri="{BB962C8B-B14F-4D97-AF65-F5344CB8AC3E}">
        <p14:creationId xmlns:p14="http://schemas.microsoft.com/office/powerpoint/2010/main" val="3954249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 name="图片 326"/>
          <p:cNvPicPr/>
          <p:nvPr/>
        </p:nvPicPr>
        <p:blipFill>
          <a:blip r:embed="rId2"/>
          <a:stretch>
            <a:fillRect/>
          </a:stretch>
        </p:blipFill>
        <p:spPr>
          <a:xfrm>
            <a:off x="1588" y="1588"/>
            <a:ext cx="1227" cy="1588"/>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77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4&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3&quot;&gt;&lt;elem m_fUsage=&quot;9.31657479281933120774E+00&quot;&gt;&lt;m_msothmcolidx val=&quot;0&quot;/&gt;&lt;m_rgb r=&quot;00&quot; g=&quot;52&quot; b=&quot;D9&quot;/&gt;&lt;/elem&gt;&lt;elem m_fUsage=&quot;1.50094635296999207030E-01&quot;&gt;&lt;m_msothmcolidx val=&quot;0&quot;/&gt;&lt;m_rgb r=&quot;C1&quot; g=&quot;E1&quot; b=&quot;FE&quot;/&gt;&lt;/elem&gt;&lt;elem m_fUsage=&quot;1.09418989131512434110E-01&quot;&gt;&lt;m_msothmcolidx val=&quot;0&quot;/&gt;&lt;m_rgb r=&quot;F3&quot; g=&quot;9B&quot; b=&quot;00&quot;/&gt;&lt;/elem&gt;&lt;/m_vecMRU&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9AGnnBaZltFpC79uhRNkEU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NAGnnBaZltFpC79uhRNkEUDRGF0YQAWAAAAAlBlcnNvbmFsSWQAAQAAAAAAAk5hbWUACwAAAFBlcnNvbmFsSWQAEFZlcnNpb24AAAAAAAlMYXN0V3JpdGUAs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018880348"/>
  <p:tag name="EMPOWERCHARTSPROPERTIES_A_LENGTH" val="24576"/>
  <p:tag name="RUNTIME_ID" val="a42a71d3-1212-4f7b-9f92-078c8c21d33e"/>
</p:tagLst>
</file>

<file path=ppt/tags/tag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U8HAC9fj9Mk/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U8HAC9fj9Mk/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019369570"/>
  <p:tag name="EMPOWERCHARTSPROPERTIES_A_LENGTH" val="24576"/>
  <p:tag name="RUNTIME_ID" val="84dd2ccd-1789-47d8-a03f-1d56549baec1"/>
</p:tagLst>
</file>

<file path=ppt/tags/tag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021747863"/>
  <p:tag name="EMPOWERCHARTSPROPERTIES_A_LENGTH" val="24576"/>
  <p:tag name="RUNTIME_ID" val="07947cc4-10f1-41e4-9fca-2f7b10503024"/>
</p:tagLst>
</file>

<file path=ppt/tags/tag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w5KfBUqlVdDmthDxechaE8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020313416"/>
  <p:tag name="EMPOWERCHARTSPROPERTIES_A_LENGTH" val="24576"/>
  <p:tag name="RUNTIME_ID" val="a9c46273-a22e-4b0e-98fc-78ba4e2ec665"/>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wqJeucMBsUjwUsZnWwv3v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OKBE7s2sUq.CqF9g8mj._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LaWrU2aXqYquu2kM3NqwQ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oWPEnZm1vuGMZRZdHEPaJ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LMyeq5NkA4exYvPiptqTw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sAfzcKw3iHuXeXx11ylZa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FjIfMePetepor.EpMvLIl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xFbIzA774DUydItlCnvpx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osY.y7jpg.WzYRzLKQCV6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SCk_PjbItYHeX_A2bLX9T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GnbNGgSTxv0oId7mjIhqA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OXq7aEz7UCVsxWGuJokqe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rF91vvfWEuXHI8p2ss1XX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jVzBjMrX2tboR_nIej0YV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98zMdU9kvYUCATFna9sn2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eGr.l7XzLg8HhMNnjTxxl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_6gWc73Dbls8NwEOMv9Mo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16zKy9Ca9e9p40r5qy0hE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V1sXZ7CwQoMy2ztWQLodw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J60GeuDc1gEqYzYhfCBh2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_Q8wjURUoaL0JQ6mF6.XC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BDfpnXD4ZWYShr7GAKFbw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y0PFsDQF19_hozMwS30T5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FYV.DOFavRVvDCSMWkRYL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PNtB8OWFg6y72RjGygMhj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gQddI.HsIjl0Xffl1.KG9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92Ko.Z.8UVi9EX4ZLieVe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zE8MuQRPhOUVeIG4Ow823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sAf.Y_dfgHrioNxxs_R.Q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NTogSiZIguezNkNze8fhI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UkCqhAWLYmuKdEcImErIu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Uf5Ikw13sDp1OyGn2etfyA"/>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UhQZLAW8ZG36j._XFkdnbw"/>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ccKNot7qFrLxGcNjatJZt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Cwit7PAhKW8tuiM9n_dnL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IJikgJ5sZGWiv04PzTOXg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ME7RefiyZa_1uWHNSullVA"/>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xZqdQSoP4tUT_D1kc2iuj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TCS9EUkWvmVH7nnExUULh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09BNTdlG3cIB_JwRRAg1R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DA7WbbA9bsbzVOSN0enq4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Tn1SwnOZyudJaLrExxZEL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05wzh7KhocP044M_aCSZdQ"/>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ttfJqqcDkz5G6tNZjzDU7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VFklwYUfvClQZ63Sn90Q"/>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txZaNRrBJNO8BEeAWKY4q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DE5S6i4EIRpYFmRoHuGu2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FQZXYIpYhlf7Km3fdzAcH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OMTd4pJX6Jg6ibxZ0eacR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mLJ37lG2e_ZGXxGC6mxe.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mntS7Jf9KVx3COBQ8EKnY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xFPJpQtdpTaKPDccmXqGK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gz0gIyfF69Guq2HQUlZITQ"/>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yWEddl7w4bNLs3vKrcofb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mtewTzsYSybqF9gFzZZem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PisJGo8CHv7CB3qxDdYI0Q"/>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Ddo1yETQSfAgTkYvzB8ef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Ddo1yETQSfAgTkYvzB8efg"/>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Wr98au7.GszXVAxqCFSms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ReeZEtnvDfgsO78Hw94.hQ"/>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LyYbfddXThvKF.y1At.SP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wBxsU7ACpff8RuV8KvUVuQ"/>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y21BE_6.0ivETXkbKpFi_A"/>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Zn5HFsbC0DI4zZvckuNs4g"/>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PE5e9ozXdlYWnliYhtW0K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EQKt.hiPU7UPq6EcaYzSg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bNbkA9M_H2DnFUnZmgT07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NBsNp3x1IMgMsCb.TqhUa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IQ9Ho0eMYLkOwrc_D2S0JQ"/>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kxQOj_w.aboWve.s06Gb5w"/>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VMP1VIr_0d38GtUNhH.9X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KX7rmgYX9ndXwW1an6_U4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pK18cprmdNuFBeBvDpCZfg"/>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4GLJ9uMyF9CmLOXY8jYuH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Fohto7E7VESs7oNgc6UeQ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5GZ2fRLXgibbMyA1zyKHk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6i9BJ7O9DxnsB2Fb2c7bQg"/>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wLWKPRgrPrEhVLa3oOQSB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toNmMgxxlSRy4_oX3_mNaA"/>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x82clUYM5HAAQ0ZzNmk.e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fo2JD0TFChiq0ryMurqW9A"/>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yqOTtNz1lVgjhcVSfGB.S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Vfjy.7aMMW3FyTlo0nf0fw"/>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VxnYFqo0nbms3jjRchkNtg"/>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c_Rxm_S1ZBNQMO6SvT0Dcg"/>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g87VxCuYO2apzlte2r3bCw"/>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nsx.YumzwMnlp3T_e.66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2WE9o8Yel4XnbYxsrY_S7Q"/>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YKUs31k8H9i2YCoIwB1QsQ"/>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mC0pmX8ynLwIQd32djB2LQ"/>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V0R0P6mR53w1cKA0PEKoGw"/>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uqw_6OOzSXyaCPNL5CFxlw"/>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KGJzujuWxh2WxPJNS1UPcA"/>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QvJZ.FYzPnwLYRW7VVQjJw"/>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gj72WdqltxpSl2aWnvcrEw"/>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v_t.10na06NQqgkIIdRQhw"/>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WIBetSECsp7VJyd3QUISzg"/>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YtmSuhW5xMD1W7aBGJdcA"/>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fQSPugWYXmHeFlv.QcWgfQ"/>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AQ1YU6DQk6Paxv_cQXYIAg"/>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kLzO3ynAOPRWx5J3c_L_AA"/>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zrV4oa0rLXZcYzp7vAY0Jw"/>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LrJ8sy4tQY9s93GbEePUxA"/>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kdk5q6yPSTyWeSoxfYadP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Gx_RdgNy_86NarlH4rEjtg"/>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jpoFPGU5FEYdEdGtwJVH3A"/>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dQt3DxUXZ58J9v67yO7qjQ"/>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Jlb8qKmf_IFx3gIdKYntug"/>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VbyUl4x2qmQkVdb53HXCkw"/>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Y2p_BupVdSEUHlrKCCIQKg"/>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8jxYkXycr3cSJHDGuG.NGQ"/>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RmGVlcK4y4VRYWQ8VEGcNg"/>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1F7qfojbT7o08LH47WYYKQ"/>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zBDAvuuhpMQcL3jfEanNxw"/>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eb6VzZj70hvB6dTxd60TA"/>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zet4kR9_0FPjsO7h97E0ug"/>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7M2Rx6nbaMzuYgnuB6SfJA"/>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1Vfo7JrO.uxEJX5VxABEyQ"/>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aZBwdgkHM2DOVeyParyjLQ"/>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2AwcI1L8XN5YV6itP2JmaQ"/>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XUL0GzAgPuDQRLftYLeFZA"/>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NJGEZEiwjt47EzUSH7rzkw"/>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DDe8Gwc29oBnmBe2Pkky_g"/>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W0eGuWf4orBUE0sOPtMxLg"/>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wgk7QAcRoP2bNBtmu2tUqg"/>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05bM2jszMPBTTUJC7saPsA"/>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j5VUM7dnxIdfBsljdTc6qQ"/>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jNcoXrLPlZvYzMzruUGggA"/>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EQHzdHR4M5VCyaLtVjW0lw"/>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KVCIU7Xjg0JNugw9Y88Stw"/>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XFYbmDHKppaZIlZ6AGTyqg"/>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eFbW3.5CZYQcWqyrwrD9Bg"/>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ys9_1FzBapMlX8bqViYWKA"/>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l.xfcC6s0YOO4jumwhwZqw"/>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6bEbCl70fBbAmC9m7S8YBQ"/>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j4OnO4UbTbmfM6tJAOPSw"/>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mCZ8ROc8TO9JMKUjugfA6g"/>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PzWmVT4bGgJgEVG_FMkKjA"/>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aTH4cQppHm7q3J_IBXmilQ"/>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xGTcnlgArQwT0UCeCtZFsA"/>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9cG3KxkP7Bgxw0y0qre8zA"/>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White">
  <a:themeElements>
    <a:clrScheme name="Scheme1">
      <a:dk1>
        <a:srgbClr val="53585F"/>
      </a:dk1>
      <a:lt1>
        <a:srgbClr val="FFFFFF"/>
      </a:lt1>
      <a:dk2>
        <a:srgbClr val="FFFFFF"/>
      </a:dk2>
      <a:lt2>
        <a:srgbClr val="FFFFFF"/>
      </a:lt2>
      <a:accent1>
        <a:srgbClr val="0256FF"/>
      </a:accent1>
      <a:accent2>
        <a:srgbClr val="0365C0"/>
      </a:accent2>
      <a:accent3>
        <a:srgbClr val="0030B5"/>
      </a:accent3>
      <a:accent4>
        <a:srgbClr val="AAB8DC"/>
      </a:accent4>
      <a:accent5>
        <a:srgbClr val="00882B"/>
      </a:accent5>
      <a:accent6>
        <a:srgbClr val="DCDEE0"/>
      </a:accent6>
      <a:hlink>
        <a:srgbClr val="0000FF"/>
      </a:hlink>
      <a:folHlink>
        <a:srgbClr val="800080"/>
      </a:folHlink>
    </a:clrScheme>
    <a:fontScheme name="ab221536-0281-41d6-9fe9-601c1f06870a">
      <a:majorFont>
        <a:latin typeface="Arial"/>
        <a:ea typeface="楷体"/>
        <a:cs typeface=""/>
      </a:majorFont>
      <a:minorFont>
        <a:latin typeface="Arial"/>
        <a:ea typeface="楷体"/>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37874</TotalTime>
  <Words>4790</Words>
  <Application>Microsoft Office PowerPoint</Application>
  <PresentationFormat>宽屏</PresentationFormat>
  <Paragraphs>899</Paragraphs>
  <Slides>30</Slides>
  <Notes>23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2" baseType="lpstr">
      <vt:lpstr>-apple-system</vt:lpstr>
      <vt:lpstr>Futura</vt:lpstr>
      <vt:lpstr>Inherit</vt:lpstr>
      <vt:lpstr>PingFang SC</vt:lpstr>
      <vt:lpstr>等线</vt:lpstr>
      <vt:lpstr>微软雅黑</vt:lpstr>
      <vt:lpstr>Arial</vt:lpstr>
      <vt:lpstr>Georgia</vt:lpstr>
      <vt:lpstr>Segoe UI</vt:lpstr>
      <vt:lpstr>Wingdings</vt:lpstr>
      <vt:lpstr>1_White</vt:lpstr>
      <vt:lpstr>think-cell 幻灯片</vt:lpstr>
      <vt:lpstr>CPO</vt:lpstr>
      <vt:lpstr>Table of contents</vt:lpstr>
      <vt:lpstr>Why the focus on CPO? Nvidia, Broadcom, and DeepSeek</vt:lpstr>
      <vt:lpstr>PowerPoint 演示文稿</vt:lpstr>
      <vt:lpstr>铜互连速率成为IDC算力释放瓶颈，光互连可突破铜互连速率上限</vt:lpstr>
      <vt:lpstr>PowerPoint 演示文稿</vt:lpstr>
      <vt:lpstr>PowerPoint 演示文稿</vt:lpstr>
      <vt:lpstr>PowerPoint 演示文稿</vt:lpstr>
      <vt:lpstr>可插拔仍为主流，CPO成巨头前瞻布局焦点</vt:lpstr>
      <vt:lpstr>IDC互连按照距离可分为 Scale Up与 Scale Out</vt:lpstr>
      <vt:lpstr>​Overseas: CPO for Scale Out first; Domestic: CPO for Scale Up first</vt:lpstr>
      <vt:lpstr>海外巨头并行布局 Scale Out与 Scale Up，CPO落地1-2年内看Scale Out</vt:lpstr>
      <vt:lpstr>国内厂商依赖Scale Up补足性能差距，需大量光模块，代价是极高的功耗</vt:lpstr>
      <vt:lpstr>PowerPoint 演示文稿</vt:lpstr>
      <vt:lpstr>CPO关键模块：硅光芯片、电芯片、主控芯片、集成交付</vt:lpstr>
      <vt:lpstr>产业链：电信号中枢、交换机芯片规模大、毛利高，研发周期长、自研难度大</vt:lpstr>
      <vt:lpstr>产业链：关注以Broadcom为首的全能巨头和国产卡位初创ficonTEC</vt:lpstr>
      <vt:lpstr>博通为最早完整落地CPO的厂商，具备长期身位优势</vt:lpstr>
      <vt:lpstr>博通为CPO能力最全面的厂商</vt:lpstr>
      <vt:lpstr>博通为何押注CPO？顺应HPC自研ASIC趋势、网络配套形成生态卡位</vt:lpstr>
      <vt:lpstr>博通为何押注CPO？顺应HPC自研ASIC趋势、网络配套形成生态卡位</vt:lpstr>
      <vt:lpstr>ficonTEC：德国老牌光子装配测试龙头，中企收购卡位国产替代</vt:lpstr>
      <vt:lpstr>PowerPoint 演示文稿</vt:lpstr>
      <vt:lpstr>总结</vt:lpstr>
      <vt:lpstr>附录：DeepSeek，国内LLM受限于GPU互连带宽，CPO为优先探索方向</vt:lpstr>
      <vt:lpstr>附录：DeepSeek，国内LLM受限于GPU互连带宽，CPO为优先探索方向</vt:lpstr>
      <vt:lpstr>附录：海外电强光弱、国内光强电弱的产业证据</vt:lpstr>
      <vt:lpstr>附录：博通CPO产业链</vt:lpstr>
      <vt:lpstr>附录：产业和公司Map</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Tencent_GO</dc:creator>
  <cp:lastModifiedBy>Deng Kunyu</cp:lastModifiedBy>
  <cp:revision>4225</cp:revision>
  <dcterms:created xsi:type="dcterms:W3CDTF">2025-06-16T21:28:33Z</dcterms:created>
  <dcterms:modified xsi:type="dcterms:W3CDTF">2025-09-25T03:54:11Z</dcterms:modified>
</cp:coreProperties>
</file>