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7.xml" ContentType="application/vnd.openxmlformats-officedocument.presentationml.notesSlide+xml"/>
  <Override PartName="/ppt/tags/tag131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32.xml" ContentType="application/vnd.openxmlformats-officedocument.presentationml.tags+xml"/>
  <Override PartName="/ppt/notesSlides/notesSlide19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70.xml" ContentType="application/vnd.openxmlformats-officedocument.presentationml.tags+xml"/>
  <Override PartName="/ppt/notesSlides/notesSlide21.xml" ContentType="application/vnd.openxmlformats-officedocument.presentationml.notesSlide+xml"/>
  <Override PartName="/ppt/tags/tag171.xml" ContentType="application/vnd.openxmlformats-officedocument.presentationml.tags+xml"/>
  <Override PartName="/ppt/notesSlides/notesSlide22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23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24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197.xml" ContentType="application/vnd.openxmlformats-officedocument.presentationml.tags+xml"/>
  <Override PartName="/ppt/notesSlides/notesSlide25.xml" ContentType="application/vnd.openxmlformats-officedocument.presentationml.notesSlide+xml"/>
  <Override PartName="/ppt/tags/tag198.xml" ContentType="application/vnd.openxmlformats-officedocument.presentationml.tags+xml"/>
  <Override PartName="/ppt/notesSlides/notesSlide26.xml" ContentType="application/vnd.openxmlformats-officedocument.presentationml.notesSlide+xml"/>
  <Override PartName="/ppt/tags/tag19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344" r:id="rId16"/>
    <p:sldId id="370" r:id="rId17"/>
    <p:sldId id="372" r:id="rId18"/>
    <p:sldId id="2147473084" r:id="rId19"/>
    <p:sldId id="327" r:id="rId20"/>
    <p:sldId id="331" r:id="rId21"/>
    <p:sldId id="283" r:id="rId22"/>
    <p:sldId id="364" r:id="rId23"/>
    <p:sldId id="326" r:id="rId24"/>
    <p:sldId id="315" r:id="rId25"/>
    <p:sldId id="367" r:id="rId26"/>
    <p:sldId id="339" r:id="rId27"/>
    <p:sldId id="363" r:id="rId28"/>
    <p:sldId id="2147473077" r:id="rId29"/>
    <p:sldId id="341" r:id="rId30"/>
    <p:sldId id="322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2147473084"/>
            <p14:sldId id="327"/>
            <p14:sldId id="331"/>
            <p14:sldId id="283"/>
          </p14:sldIdLst>
        </p14:section>
        <p14:section name="Appendix" id="{8B5E7F54-8D61-4CE1-89AB-837BCD335EC0}">
          <p14:sldIdLst>
            <p14:sldId id="364"/>
            <p14:sldId id="326"/>
            <p14:sldId id="315"/>
            <p14:sldId id="367"/>
            <p14:sldId id="339"/>
            <p14:sldId id="363"/>
            <p14:sldId id="2147473077"/>
            <p14:sldId id="34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052D9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2" autoAdjust="0"/>
    <p:restoredTop sz="66642" autoAdjust="0"/>
  </p:normalViewPr>
  <p:slideViewPr>
    <p:cSldViewPr snapToGrid="0">
      <p:cViewPr varScale="1">
        <p:scale>
          <a:sx n="50" d="100"/>
          <a:sy n="50" d="100"/>
        </p:scale>
        <p:origin x="1226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'P5 铜到光'!$J$2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35-4111-8788-A0F2F6D5ECF1}"/>
            </c:ext>
          </c:extLst>
        </c:ser>
        <c:ser>
          <c:idx val="1"/>
          <c:order val="1"/>
          <c:tx>
            <c:strRef>
              <c:f>'P5 铜到光'!$J$3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35-4111-8788-A0F2F6D5ECF1}"/>
            </c:ext>
          </c:extLst>
        </c:ser>
        <c:ser>
          <c:idx val="2"/>
          <c:order val="2"/>
          <c:tx>
            <c:strRef>
              <c:f>'P5 铜到光'!$J$4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铜到光'!$K$4:$O$4</c:f>
              <c:numCache>
                <c:formatCode>General</c:formatCode>
                <c:ptCount val="5"/>
                <c:pt idx="2">
                  <c:v>620</c:v>
                </c:pt>
                <c:pt idx="3">
                  <c:v>930</c:v>
                </c:pt>
                <c:pt idx="4">
                  <c:v>1860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35-4111-8788-A0F2F6D5EC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1-4F32-B4D6-304B313EE203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1-4F32-B4D6-304B313EE203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1-4F32-B4D6-304B313E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483807"/>
        <c:axId val="1"/>
      </c:lineChart>
      <c:catAx>
        <c:axId val="130483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483807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7719601903937693E-2"/>
          <c:y val="8.2516955538809347E-2"/>
          <c:w val="0.92102985720467334"/>
          <c:h val="0.83496608892238133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313717005625271E-2"/>
                  <c:y val="-4.370761115297663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2E1-467E-A7B2-B131020487C5}"/>
                </c:ext>
              </c:extLst>
            </c:dLbl>
            <c:dLbl>
              <c:idx val="1"/>
              <c:layout>
                <c:manualLayout>
                  <c:x val="0"/>
                  <c:y val="-4.370761115297663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2E1-467E-A7B2-B131020487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38</c:v>
                </c:pt>
                <c:pt idx="1">
                  <c:v>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2E1-467E-A7B2-B13102048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Sheet1!$B$1:$B$17</c:f>
              <c:numCache>
                <c:formatCode>General</c:formatCode>
                <c:ptCount val="17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1E-43AC-97F8-67DCC15B9428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Sheet1!$C$1:$C$17</c:f>
              <c:numCache>
                <c:formatCode>General</c:formatCode>
                <c:ptCount val="17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1E-43AC-97F8-67DCC15B9428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1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F1E-43AC-97F8-67DCC15B9428}"/>
              </c:ext>
            </c:extLst>
          </c:dPt>
          <c:xVal>
            <c:numRef>
              <c:f>Sheet1!$A$1:$A$17</c:f>
              <c:numCache>
                <c:formatCode>General</c:formatCode>
                <c:ptCount val="17"/>
                <c:pt idx="10">
                  <c:v>19723</c:v>
                </c:pt>
                <c:pt idx="11">
                  <c:v>20089</c:v>
                </c:pt>
                <c:pt idx="12">
                  <c:v>20089</c:v>
                </c:pt>
                <c:pt idx="13">
                  <c:v>19723</c:v>
                </c:pt>
                <c:pt idx="14">
                  <c:v>18993</c:v>
                </c:pt>
              </c:numCache>
            </c:numRef>
          </c:xVal>
          <c:yVal>
            <c:numRef>
              <c:f>Sheet1!$D$1:$D$17</c:f>
              <c:numCache>
                <c:formatCode>General</c:formatCode>
                <c:ptCount val="17"/>
                <c:pt idx="10">
                  <c:v>2615</c:v>
                </c:pt>
                <c:pt idx="11">
                  <c:v>5000</c:v>
                </c:pt>
                <c:pt idx="12">
                  <c:v>4600</c:v>
                </c:pt>
                <c:pt idx="13">
                  <c:v>1835</c:v>
                </c:pt>
                <c:pt idx="14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F1E-43AC-97F8-67DCC15B9428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15">
                  <c:v>20089</c:v>
                </c:pt>
                <c:pt idx="16">
                  <c:v>19358</c:v>
                </c:pt>
              </c:numCache>
            </c:numRef>
          </c:xVal>
          <c:yVal>
            <c:numRef>
              <c:f>Sheet1!$E$1:$E$17</c:f>
              <c:numCache>
                <c:formatCode>General</c:formatCode>
                <c:ptCount val="17"/>
                <c:pt idx="15">
                  <c:v>800</c:v>
                </c:pt>
                <c:pt idx="16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F1E-43AC-97F8-67DCC15B9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527007"/>
        <c:axId val="1"/>
      </c:scatterChart>
      <c:valAx>
        <c:axId val="13052700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52700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12155757974144671"/>
                  <c:y val="-0.194654421308343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248825578903519"/>
                      <c:h val="0.1816873838113706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7.701240756926743E-2"/>
                  <c:y val="0.174784340735626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4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9.774977328017645E-3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Ficontec!$F$7:$H$7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Jan 2024 - Jul 2024</c:v>
                </c:pt>
              </c:strCache>
            </c:strRef>
          </c:cat>
          <c:val>
            <c:numRef>
              <c:f>Ficontec!$F$8:$H$8</c:f>
              <c:numCache>
                <c:formatCode>_ * #,##0_ ;_ * \-#,##0_ ;_ * "-"??_ ;_ @_ </c:formatCode>
                <c:ptCount val="3"/>
                <c:pt idx="0">
                  <c:v>28668.07</c:v>
                </c:pt>
                <c:pt idx="1">
                  <c:v>38244</c:v>
                </c:pt>
                <c:pt idx="2">
                  <c:v>12807.96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1-47D7-8A8A-519DA28A7FF9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770528184642702E-3"/>
                  <c:y val="0.115741105278506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91-47D7-8A8A-519DA28A7FF9}"/>
                </c:ext>
              </c:extLst>
            </c:dLbl>
            <c:dLbl>
              <c:idx val="1"/>
              <c:layout>
                <c:manualLayout>
                  <c:x val="8.8770528184642702E-3"/>
                  <c:y val="4.62962962962954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91-47D7-8A8A-519DA28A7FF9}"/>
                </c:ext>
              </c:extLst>
            </c:dLbl>
            <c:dLbl>
              <c:idx val="2"/>
              <c:layout>
                <c:manualLayout>
                  <c:x val="2.8850421660008879E-2"/>
                  <c:y val="0.143519612131816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Ficontec!$F$7:$H$7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Jan 2024 - Jul 2024</c:v>
                </c:pt>
              </c:strCache>
            </c:strRef>
          </c:cat>
          <c:val>
            <c:numRef>
              <c:f>Ficontec!$F$10:$H$10</c:f>
              <c:numCache>
                <c:formatCode>_ * #,##0_ ;_ * \-#,##0_ ;_ * "-"??_ ;_ @_ </c:formatCode>
                <c:ptCount val="3"/>
                <c:pt idx="0">
                  <c:v>-62.61</c:v>
                </c:pt>
                <c:pt idx="1">
                  <c:v>2900.4</c:v>
                </c:pt>
                <c:pt idx="2">
                  <c:v>-2481.16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1543653644074988E-2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91-47D7-8A8A-519DA28A7FF9}"/>
                </c:ext>
              </c:extLst>
            </c:dLbl>
            <c:dLbl>
              <c:idx val="1"/>
              <c:layout>
                <c:manualLayout>
                  <c:x val="3.1768676316057252E-2"/>
                  <c:y val="-3.8814708159578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Ficontec!$F$7:$H$7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Jan 2024 - Jul 2024</c:v>
                </c:pt>
              </c:strCache>
            </c:strRef>
          </c:cat>
          <c:val>
            <c:numRef>
              <c:f>Ficontec!$F$9:$H$9</c:f>
              <c:numCache>
                <c:formatCode>0.0%</c:formatCode>
                <c:ptCount val="3"/>
                <c:pt idx="0">
                  <c:v>0.4163</c:v>
                </c:pt>
                <c:pt idx="1">
                  <c:v>0.41620000000000001</c:v>
                </c:pt>
                <c:pt idx="2">
                  <c:v>0.40639999999999998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52858637036635"/>
          <c:w val="1"/>
          <c:h val="0.178837664189950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右边的铜为无源铜缆（安费诺、立讯）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上限目前看为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，顶多一百多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dsf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全部用光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</a:t>
            </a:r>
            <a:r>
              <a:rPr lang="en-US" altLang="zh-CN"/>
              <a:t>48W </a:t>
            </a:r>
            <a:r>
              <a:rPr lang="zh-CN" altLang="en-US"/>
              <a:t>总</a:t>
            </a:r>
            <a:r>
              <a:rPr lang="zh-CN" altLang="en-US" dirty="0"/>
              <a:t>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OCS</a:t>
            </a:r>
            <a:r>
              <a:rPr lang="zh-CN" altLang="en-US" dirty="0"/>
              <a:t>很难用，需要对模型流量和卡非常了解，技术难点太高。单层级非常大的组网规模可用（可以看一下量）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Scale up</a:t>
            </a:r>
            <a:r>
              <a:rPr lang="zh-CN" altLang="en-US" dirty="0"/>
              <a:t>以后从铜转光的重要原因：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面板上无法容纳光模块过多数量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GPU</a:t>
            </a:r>
            <a:r>
              <a:rPr lang="zh-CN" altLang="en-US" dirty="0"/>
              <a:t>功耗很高，无法容纳高能耗的互联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Sitrus</a:t>
            </a:r>
            <a:r>
              <a:rPr lang="zh-CN" altLang="en-US" dirty="0"/>
              <a:t>、盛科备注</a:t>
            </a:r>
            <a:endParaRPr lang="en-US" altLang="zh-CN" dirty="0"/>
          </a:p>
          <a:p>
            <a:r>
              <a:rPr lang="en-US" altLang="zh-CN" dirty="0"/>
              <a:t>CPO</a:t>
            </a:r>
            <a:r>
              <a:rPr lang="zh-CN" altLang="en-US" dirty="0"/>
              <a:t>线性对</a:t>
            </a:r>
            <a:r>
              <a:rPr lang="en-US" altLang="zh-CN" dirty="0" err="1"/>
              <a:t>serdes</a:t>
            </a:r>
            <a:r>
              <a:rPr lang="zh-CN" altLang="en-US" dirty="0"/>
              <a:t>要求更高</a:t>
            </a:r>
            <a:endParaRPr lang="en-US" altLang="zh-CN" dirty="0"/>
          </a:p>
          <a:p>
            <a:r>
              <a:rPr lang="en-US" altLang="zh-CN" dirty="0"/>
              <a:t>Scale up</a:t>
            </a:r>
            <a:r>
              <a:rPr lang="zh-CN" altLang="en-US" dirty="0"/>
              <a:t>的光可能更快发生：</a:t>
            </a:r>
            <a:r>
              <a:rPr lang="en-US" altLang="zh-CN" dirty="0"/>
              <a:t>OCP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</a:t>
            </a:r>
            <a:r>
              <a:rPr lang="en-US" altLang="zh-CN"/>
              <a:t>, 2-2.5mn</a:t>
            </a:r>
            <a:r>
              <a:rPr lang="zh-CN" altLang="en-US"/>
              <a:t>，占</a:t>
            </a:r>
            <a:r>
              <a:rPr lang="en-US" altLang="zh-CN"/>
              <a:t>75%</a:t>
            </a:r>
            <a:r>
              <a:rPr lang="zh-CN" altLang="en-US"/>
              <a:t>（份额预计长期保持）</a:t>
            </a:r>
            <a:endParaRPr lang="en-US"/>
          </a:p>
          <a:p>
            <a:endParaRPr lang="en-US"/>
          </a:p>
          <a:p>
            <a:r>
              <a:rPr lang="zh-CN" altLang="en-US"/>
              <a:t>博</a:t>
            </a:r>
            <a:r>
              <a:rPr lang="zh-CN" altLang="en-US" dirty="0"/>
              <a:t>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第一代样机</a:t>
            </a:r>
            <a:r>
              <a:rPr lang="en-US" altLang="zh-CN" dirty="0"/>
              <a:t>TH4</a:t>
            </a:r>
            <a:r>
              <a:rPr lang="zh-CN" altLang="en-US" dirty="0"/>
              <a:t>已在机房跑测试</a:t>
            </a:r>
            <a:endParaRPr lang="en-US" altLang="zh-CN" dirty="0"/>
          </a:p>
          <a:p>
            <a:r>
              <a:rPr lang="en-US" altLang="zh-CN" dirty="0"/>
              <a:t>TH5</a:t>
            </a:r>
            <a:r>
              <a:rPr lang="zh-CN" altLang="en-US" dirty="0"/>
              <a:t>正在测试，还没测完，</a:t>
            </a:r>
            <a:r>
              <a:rPr lang="en-US" altLang="zh-CN" dirty="0"/>
              <a:t>Meta</a:t>
            </a:r>
            <a:r>
              <a:rPr lang="zh-CN" altLang="en-US" dirty="0"/>
              <a:t>的数据来看还需要打磨稳定性（误码率</a:t>
            </a:r>
            <a:r>
              <a:rPr lang="en-US" altLang="zh-CN" dirty="0"/>
              <a:t>1e-9</a:t>
            </a:r>
            <a:r>
              <a:rPr lang="zh-CN" altLang="en-US" dirty="0"/>
              <a:t>、误码分布是否在纠错码的纠错范围内</a:t>
            </a:r>
            <a:r>
              <a:rPr lang="en-US" altLang="zh-CN" dirty="0"/>
              <a:t>+Buff</a:t>
            </a:r>
          </a:p>
          <a:p>
            <a:r>
              <a:rPr lang="en-US" altLang="zh-CN" dirty="0"/>
              <a:t>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ASIC 43%</a:t>
            </a:r>
            <a:r>
              <a:rPr lang="zh-CN" altLang="en-US" dirty="0"/>
              <a:t>的</a:t>
            </a:r>
            <a:r>
              <a:rPr lang="en-US" altLang="zh-CN" dirty="0"/>
              <a:t>share</a:t>
            </a:r>
            <a:r>
              <a:rPr lang="zh-CN" altLang="en-US" dirty="0"/>
              <a:t>在</a:t>
            </a:r>
            <a:r>
              <a:rPr lang="en-US" altLang="zh-CN" dirty="0"/>
              <a:t>26</a:t>
            </a:r>
            <a:r>
              <a:rPr lang="zh-CN" altLang="en-US" dirty="0"/>
              <a:t>年比较</a:t>
            </a:r>
            <a:r>
              <a:rPr lang="en-US" altLang="zh-CN" dirty="0"/>
              <a:t>fair</a:t>
            </a:r>
          </a:p>
          <a:p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计算卡出货量（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2025E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550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ASIC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 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博通：通过</a:t>
            </a:r>
            <a:r>
              <a:rPr lang="en-US" altLang="zh-CN" dirty="0"/>
              <a:t>CPO</a:t>
            </a:r>
            <a:r>
              <a:rPr lang="zh-CN" altLang="en-US" dirty="0"/>
              <a:t>绑定光、电芯片，产业链绑定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25.png"/><Relationship Id="rId3" Type="http://schemas.openxmlformats.org/officeDocument/2006/relationships/tags" Target="../tags/tag3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image" Target="../media/image24.png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2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23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8.emf"/><Relationship Id="rId28" Type="http://schemas.openxmlformats.org/officeDocument/2006/relationships/image" Target="../media/image27.jpe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26.png"/><Relationship Id="rId30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7.emf"/><Relationship Id="rId3" Type="http://schemas.openxmlformats.org/officeDocument/2006/relationships/tags" Target="../tags/tag60.xml"/><Relationship Id="rId21" Type="http://schemas.openxmlformats.org/officeDocument/2006/relationships/image" Target="../media/image2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59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0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chart" Target="../charts/chart5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5.jpeg"/><Relationship Id="rId10" Type="http://schemas.openxmlformats.org/officeDocument/2006/relationships/tags" Target="../tags/tag67.xml"/><Relationship Id="rId19" Type="http://schemas.openxmlformats.org/officeDocument/2006/relationships/image" Target="../media/image9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image" Target="../media/image55.png"/><Relationship Id="rId42" Type="http://schemas.microsoft.com/office/2007/relationships/hdphoto" Target="../media/hdphoto18.wdp"/><Relationship Id="rId47" Type="http://schemas.openxmlformats.org/officeDocument/2006/relationships/image" Target="../media/image71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2.png"/><Relationship Id="rId11" Type="http://schemas.microsoft.com/office/2007/relationships/hdphoto" Target="../media/hdphoto9.wdp"/><Relationship Id="rId32" Type="http://schemas.openxmlformats.org/officeDocument/2006/relationships/image" Target="../media/image62.png"/><Relationship Id="rId37" Type="http://schemas.openxmlformats.org/officeDocument/2006/relationships/image" Target="../media/image66.png"/><Relationship Id="rId53" Type="http://schemas.openxmlformats.org/officeDocument/2006/relationships/image" Target="../media/image73.png"/><Relationship Id="rId58" Type="http://schemas.openxmlformats.org/officeDocument/2006/relationships/image" Target="../media/image76.png"/><Relationship Id="rId74" Type="http://schemas.microsoft.com/office/2007/relationships/hdphoto" Target="../media/hdphoto31.wdp"/><Relationship Id="rId79" Type="http://schemas.openxmlformats.org/officeDocument/2006/relationships/image" Target="../media/image87.png"/><Relationship Id="rId5" Type="http://schemas.openxmlformats.org/officeDocument/2006/relationships/image" Target="../media/image46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1.png"/><Relationship Id="rId22" Type="http://schemas.openxmlformats.org/officeDocument/2006/relationships/image" Target="../media/image56.png"/><Relationship Id="rId27" Type="http://schemas.openxmlformats.org/officeDocument/2006/relationships/image" Target="../media/image59.png"/><Relationship Id="rId30" Type="http://schemas.openxmlformats.org/officeDocument/2006/relationships/image" Target="../media/image61.png"/><Relationship Id="rId35" Type="http://schemas.openxmlformats.org/officeDocument/2006/relationships/image" Target="../media/image64.png"/><Relationship Id="rId43" Type="http://schemas.openxmlformats.org/officeDocument/2006/relationships/image" Target="../media/image69.png"/><Relationship Id="rId48" Type="http://schemas.microsoft.com/office/2007/relationships/hdphoto" Target="../media/hdphoto21.wdp"/><Relationship Id="rId56" Type="http://schemas.openxmlformats.org/officeDocument/2006/relationships/image" Target="../media/image75.png"/><Relationship Id="rId64" Type="http://schemas.openxmlformats.org/officeDocument/2006/relationships/image" Target="../media/image79.png"/><Relationship Id="rId69" Type="http://schemas.openxmlformats.org/officeDocument/2006/relationships/image" Target="../media/image81.png"/><Relationship Id="rId77" Type="http://schemas.openxmlformats.org/officeDocument/2006/relationships/image" Target="../media/image86.png"/><Relationship Id="rId8" Type="http://schemas.openxmlformats.org/officeDocument/2006/relationships/image" Target="../media/image48.png"/><Relationship Id="rId51" Type="http://schemas.openxmlformats.org/officeDocument/2006/relationships/image" Target="../media/image72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6.bin"/><Relationship Id="rId12" Type="http://schemas.openxmlformats.org/officeDocument/2006/relationships/image" Target="../media/image50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67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4.png"/><Relationship Id="rId41" Type="http://schemas.openxmlformats.org/officeDocument/2006/relationships/image" Target="../media/image68.png"/><Relationship Id="rId54" Type="http://schemas.openxmlformats.org/officeDocument/2006/relationships/image" Target="../media/image74.png"/><Relationship Id="rId62" Type="http://schemas.openxmlformats.org/officeDocument/2006/relationships/image" Target="../media/image78.png"/><Relationship Id="rId70" Type="http://schemas.openxmlformats.org/officeDocument/2006/relationships/image" Target="../media/image82.png"/><Relationship Id="rId75" Type="http://schemas.openxmlformats.org/officeDocument/2006/relationships/image" Target="../media/image85.png"/><Relationship Id="rId83" Type="http://schemas.openxmlformats.org/officeDocument/2006/relationships/image" Target="../media/image89.png"/><Relationship Id="rId1" Type="http://schemas.openxmlformats.org/officeDocument/2006/relationships/tags" Target="../tags/tag72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5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49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77.png"/><Relationship Id="rId65" Type="http://schemas.microsoft.com/office/2007/relationships/hdphoto" Target="../media/hdphoto28.wdp"/><Relationship Id="rId73" Type="http://schemas.openxmlformats.org/officeDocument/2006/relationships/image" Target="../media/image84.png"/><Relationship Id="rId78" Type="http://schemas.microsoft.com/office/2007/relationships/hdphoto" Target="../media/hdphoto33.wdp"/><Relationship Id="rId81" Type="http://schemas.openxmlformats.org/officeDocument/2006/relationships/image" Target="../media/image88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3.png"/><Relationship Id="rId39" Type="http://schemas.microsoft.com/office/2007/relationships/hdphoto" Target="../media/hdphoto17.wdp"/><Relationship Id="rId34" Type="http://schemas.openxmlformats.org/officeDocument/2006/relationships/image" Target="../media/image63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47.png"/><Relationship Id="rId71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0.png"/><Relationship Id="rId24" Type="http://schemas.openxmlformats.org/officeDocument/2006/relationships/image" Target="../media/image57.png"/><Relationship Id="rId40" Type="http://schemas.openxmlformats.org/officeDocument/2006/relationships/image" Target="../media/image35.png"/><Relationship Id="rId45" Type="http://schemas.openxmlformats.org/officeDocument/2006/relationships/image" Target="../media/image70.png"/><Relationship Id="rId66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chart" Target="../charts/chart6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18.emf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77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76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26" Type="http://schemas.openxmlformats.org/officeDocument/2006/relationships/tags" Target="../tags/tag106.xml"/><Relationship Id="rId39" Type="http://schemas.openxmlformats.org/officeDocument/2006/relationships/tags" Target="../tags/tag119.xml"/><Relationship Id="rId21" Type="http://schemas.openxmlformats.org/officeDocument/2006/relationships/tags" Target="../tags/tag101.xml"/><Relationship Id="rId34" Type="http://schemas.openxmlformats.org/officeDocument/2006/relationships/tags" Target="../tags/tag114.xml"/><Relationship Id="rId42" Type="http://schemas.openxmlformats.org/officeDocument/2006/relationships/tags" Target="../tags/tag122.xml"/><Relationship Id="rId47" Type="http://schemas.openxmlformats.org/officeDocument/2006/relationships/image" Target="../media/image18.emf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9" Type="http://schemas.openxmlformats.org/officeDocument/2006/relationships/tags" Target="../tags/tag109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24" Type="http://schemas.openxmlformats.org/officeDocument/2006/relationships/tags" Target="../tags/tag104.xml"/><Relationship Id="rId32" Type="http://schemas.openxmlformats.org/officeDocument/2006/relationships/tags" Target="../tags/tag112.xml"/><Relationship Id="rId37" Type="http://schemas.openxmlformats.org/officeDocument/2006/relationships/tags" Target="../tags/tag117.xml"/><Relationship Id="rId40" Type="http://schemas.openxmlformats.org/officeDocument/2006/relationships/tags" Target="../tags/tag120.xml"/><Relationship Id="rId45" Type="http://schemas.openxmlformats.org/officeDocument/2006/relationships/notesSlide" Target="../notesSlides/notesSlide16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23" Type="http://schemas.openxmlformats.org/officeDocument/2006/relationships/tags" Target="../tags/tag103.xml"/><Relationship Id="rId28" Type="http://schemas.openxmlformats.org/officeDocument/2006/relationships/tags" Target="../tags/tag108.xml"/><Relationship Id="rId36" Type="http://schemas.openxmlformats.org/officeDocument/2006/relationships/tags" Target="../tags/tag116.xml"/><Relationship Id="rId10" Type="http://schemas.openxmlformats.org/officeDocument/2006/relationships/tags" Target="../tags/tag90.xml"/><Relationship Id="rId19" Type="http://schemas.openxmlformats.org/officeDocument/2006/relationships/tags" Target="../tags/tag99.xml"/><Relationship Id="rId31" Type="http://schemas.openxmlformats.org/officeDocument/2006/relationships/tags" Target="../tags/tag111.xml"/><Relationship Id="rId44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Relationship Id="rId22" Type="http://schemas.openxmlformats.org/officeDocument/2006/relationships/tags" Target="../tags/tag102.xml"/><Relationship Id="rId27" Type="http://schemas.openxmlformats.org/officeDocument/2006/relationships/tags" Target="../tags/tag107.xml"/><Relationship Id="rId30" Type="http://schemas.openxmlformats.org/officeDocument/2006/relationships/tags" Target="../tags/tag110.xml"/><Relationship Id="rId35" Type="http://schemas.openxmlformats.org/officeDocument/2006/relationships/tags" Target="../tags/tag115.xml"/><Relationship Id="rId43" Type="http://schemas.openxmlformats.org/officeDocument/2006/relationships/tags" Target="../tags/tag123.xml"/><Relationship Id="rId48" Type="http://schemas.openxmlformats.org/officeDocument/2006/relationships/chart" Target="../charts/chart7.xml"/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5" Type="http://schemas.openxmlformats.org/officeDocument/2006/relationships/tags" Target="../tags/tag105.xml"/><Relationship Id="rId33" Type="http://schemas.openxmlformats.org/officeDocument/2006/relationships/tags" Target="../tags/tag113.xml"/><Relationship Id="rId38" Type="http://schemas.openxmlformats.org/officeDocument/2006/relationships/tags" Target="../tags/tag118.xml"/><Relationship Id="rId46" Type="http://schemas.openxmlformats.org/officeDocument/2006/relationships/oleObject" Target="../embeddings/oleObject18.bin"/><Relationship Id="rId20" Type="http://schemas.openxmlformats.org/officeDocument/2006/relationships/tags" Target="../tags/tag100.xml"/><Relationship Id="rId41" Type="http://schemas.openxmlformats.org/officeDocument/2006/relationships/tags" Target="../tags/tag12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tags" Target="../tags/tag126.xml"/><Relationship Id="rId21" Type="http://schemas.openxmlformats.org/officeDocument/2006/relationships/image" Target="../media/image97.png"/><Relationship Id="rId7" Type="http://schemas.openxmlformats.org/officeDocument/2006/relationships/tags" Target="../tags/tag130.xml"/><Relationship Id="rId12" Type="http://schemas.openxmlformats.org/officeDocument/2006/relationships/image" Target="../media/image47.png"/><Relationship Id="rId17" Type="http://schemas.openxmlformats.org/officeDocument/2006/relationships/image" Target="../media/image94.png"/><Relationship Id="rId25" Type="http://schemas.openxmlformats.org/officeDocument/2006/relationships/image" Target="../media/image100.png"/><Relationship Id="rId2" Type="http://schemas.openxmlformats.org/officeDocument/2006/relationships/tags" Target="../tags/tag125.xml"/><Relationship Id="rId16" Type="http://schemas.openxmlformats.org/officeDocument/2006/relationships/image" Target="../media/image93.jpeg"/><Relationship Id="rId20" Type="http://schemas.openxmlformats.org/officeDocument/2006/relationships/image" Target="../media/image50.png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18.emf"/><Relationship Id="rId24" Type="http://schemas.openxmlformats.org/officeDocument/2006/relationships/image" Target="../media/image99.png"/><Relationship Id="rId5" Type="http://schemas.openxmlformats.org/officeDocument/2006/relationships/tags" Target="../tags/tag128.xml"/><Relationship Id="rId15" Type="http://schemas.openxmlformats.org/officeDocument/2006/relationships/image" Target="../media/image92.png"/><Relationship Id="rId23" Type="http://schemas.microsoft.com/office/2007/relationships/hdphoto" Target="../media/hdphoto36.wdp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96.png"/><Relationship Id="rId4" Type="http://schemas.openxmlformats.org/officeDocument/2006/relationships/tags" Target="../tags/tag127.xml"/><Relationship Id="rId9" Type="http://schemas.openxmlformats.org/officeDocument/2006/relationships/notesSlide" Target="../notesSlides/notesSlide17.xml"/><Relationship Id="rId14" Type="http://schemas.openxmlformats.org/officeDocument/2006/relationships/image" Target="../media/image91.png"/><Relationship Id="rId22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microsoft.com/office/2007/relationships/hdphoto" Target="../media/hdphoto19.wdp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01.png"/><Relationship Id="rId12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1.xml"/><Relationship Id="rId6" Type="http://schemas.openxmlformats.org/officeDocument/2006/relationships/chart" Target="../charts/chart8.xml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66.png"/><Relationship Id="rId14" Type="http://schemas.openxmlformats.org/officeDocument/2006/relationships/chart" Target="../charts/char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2.xml"/><Relationship Id="rId6" Type="http://schemas.openxmlformats.org/officeDocument/2006/relationships/image" Target="../media/image103.png"/><Relationship Id="rId11" Type="http://schemas.openxmlformats.org/officeDocument/2006/relationships/image" Target="../media/image108.svg"/><Relationship Id="rId5" Type="http://schemas.openxmlformats.org/officeDocument/2006/relationships/image" Target="../media/image18.emf"/><Relationship Id="rId10" Type="http://schemas.openxmlformats.org/officeDocument/2006/relationships/image" Target="../media/image107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0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145.xml"/><Relationship Id="rId18" Type="http://schemas.openxmlformats.org/officeDocument/2006/relationships/tags" Target="../tags/tag150.xml"/><Relationship Id="rId26" Type="http://schemas.openxmlformats.org/officeDocument/2006/relationships/tags" Target="../tags/tag158.xml"/><Relationship Id="rId39" Type="http://schemas.openxmlformats.org/officeDocument/2006/relationships/notesSlide" Target="../notesSlides/notesSlide20.xml"/><Relationship Id="rId21" Type="http://schemas.openxmlformats.org/officeDocument/2006/relationships/tags" Target="../tags/tag153.xml"/><Relationship Id="rId34" Type="http://schemas.openxmlformats.org/officeDocument/2006/relationships/tags" Target="../tags/tag166.xml"/><Relationship Id="rId42" Type="http://schemas.openxmlformats.org/officeDocument/2006/relationships/chart" Target="../charts/chart10.xml"/><Relationship Id="rId47" Type="http://schemas.openxmlformats.org/officeDocument/2006/relationships/chart" Target="../charts/chart13.xml"/><Relationship Id="rId7" Type="http://schemas.openxmlformats.org/officeDocument/2006/relationships/tags" Target="../tags/tag139.xml"/><Relationship Id="rId2" Type="http://schemas.openxmlformats.org/officeDocument/2006/relationships/tags" Target="../tags/tag134.xml"/><Relationship Id="rId16" Type="http://schemas.openxmlformats.org/officeDocument/2006/relationships/tags" Target="../tags/tag148.xml"/><Relationship Id="rId29" Type="http://schemas.openxmlformats.org/officeDocument/2006/relationships/tags" Target="../tags/tag161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24" Type="http://schemas.openxmlformats.org/officeDocument/2006/relationships/tags" Target="../tags/tag156.xml"/><Relationship Id="rId32" Type="http://schemas.openxmlformats.org/officeDocument/2006/relationships/tags" Target="../tags/tag164.xml"/><Relationship Id="rId37" Type="http://schemas.openxmlformats.org/officeDocument/2006/relationships/tags" Target="../tags/tag169.xml"/><Relationship Id="rId40" Type="http://schemas.openxmlformats.org/officeDocument/2006/relationships/oleObject" Target="../embeddings/oleObject22.bin"/><Relationship Id="rId45" Type="http://schemas.openxmlformats.org/officeDocument/2006/relationships/image" Target="../media/image110.png"/><Relationship Id="rId5" Type="http://schemas.openxmlformats.org/officeDocument/2006/relationships/tags" Target="../tags/tag137.xml"/><Relationship Id="rId15" Type="http://schemas.openxmlformats.org/officeDocument/2006/relationships/tags" Target="../tags/tag147.xml"/><Relationship Id="rId23" Type="http://schemas.openxmlformats.org/officeDocument/2006/relationships/tags" Target="../tags/tag155.xml"/><Relationship Id="rId28" Type="http://schemas.openxmlformats.org/officeDocument/2006/relationships/tags" Target="../tags/tag160.xml"/><Relationship Id="rId36" Type="http://schemas.openxmlformats.org/officeDocument/2006/relationships/tags" Target="../tags/tag168.xml"/><Relationship Id="rId10" Type="http://schemas.openxmlformats.org/officeDocument/2006/relationships/tags" Target="../tags/tag142.xml"/><Relationship Id="rId19" Type="http://schemas.openxmlformats.org/officeDocument/2006/relationships/tags" Target="../tags/tag151.xml"/><Relationship Id="rId31" Type="http://schemas.openxmlformats.org/officeDocument/2006/relationships/tags" Target="../tags/tag163.xml"/><Relationship Id="rId44" Type="http://schemas.openxmlformats.org/officeDocument/2006/relationships/chart" Target="../charts/chart12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Relationship Id="rId22" Type="http://schemas.openxmlformats.org/officeDocument/2006/relationships/tags" Target="../tags/tag154.xml"/><Relationship Id="rId27" Type="http://schemas.openxmlformats.org/officeDocument/2006/relationships/tags" Target="../tags/tag159.xml"/><Relationship Id="rId30" Type="http://schemas.openxmlformats.org/officeDocument/2006/relationships/tags" Target="../tags/tag162.xml"/><Relationship Id="rId35" Type="http://schemas.openxmlformats.org/officeDocument/2006/relationships/tags" Target="../tags/tag167.xml"/><Relationship Id="rId43" Type="http://schemas.openxmlformats.org/officeDocument/2006/relationships/chart" Target="../charts/chart11.xml"/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12" Type="http://schemas.openxmlformats.org/officeDocument/2006/relationships/tags" Target="../tags/tag144.xml"/><Relationship Id="rId17" Type="http://schemas.openxmlformats.org/officeDocument/2006/relationships/tags" Target="../tags/tag149.xml"/><Relationship Id="rId25" Type="http://schemas.openxmlformats.org/officeDocument/2006/relationships/tags" Target="../tags/tag157.xml"/><Relationship Id="rId33" Type="http://schemas.openxmlformats.org/officeDocument/2006/relationships/tags" Target="../tags/tag165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37.wdp"/><Relationship Id="rId20" Type="http://schemas.openxmlformats.org/officeDocument/2006/relationships/tags" Target="../tags/tag152.xml"/><Relationship Id="rId41" Type="http://schemas.openxmlformats.org/officeDocument/2006/relationships/image" Target="../media/image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notesSlide" Target="../notesSlides/notesSlide21.xml"/><Relationship Id="rId7" Type="http://schemas.microsoft.com/office/2007/relationships/hdphoto" Target="../media/hdphoto3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Relationship Id="rId6" Type="http://schemas.openxmlformats.org/officeDocument/2006/relationships/image" Target="../media/image111.png"/><Relationship Id="rId11" Type="http://schemas.microsoft.com/office/2007/relationships/hdphoto" Target="../media/hdphoto39.wdp"/><Relationship Id="rId5" Type="http://schemas.openxmlformats.org/officeDocument/2006/relationships/image" Target="../media/image8.emf"/><Relationship Id="rId10" Type="http://schemas.openxmlformats.org/officeDocument/2006/relationships/image" Target="../media/image114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7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6.png"/><Relationship Id="rId12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66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18" Type="http://schemas.openxmlformats.org/officeDocument/2006/relationships/image" Target="../media/image98.png"/><Relationship Id="rId26" Type="http://schemas.openxmlformats.org/officeDocument/2006/relationships/image" Target="../media/image71.png"/><Relationship Id="rId3" Type="http://schemas.openxmlformats.org/officeDocument/2006/relationships/tags" Target="../tags/tag174.xml"/><Relationship Id="rId21" Type="http://schemas.microsoft.com/office/2007/relationships/hdphoto" Target="../media/hdphoto40.wdp"/><Relationship Id="rId7" Type="http://schemas.openxmlformats.org/officeDocument/2006/relationships/image" Target="../media/image66.png"/><Relationship Id="rId12" Type="http://schemas.openxmlformats.org/officeDocument/2006/relationships/image" Target="../media/image50.png"/><Relationship Id="rId17" Type="http://schemas.openxmlformats.org/officeDocument/2006/relationships/image" Target="../media/image35.png"/><Relationship Id="rId25" Type="http://schemas.openxmlformats.org/officeDocument/2006/relationships/image" Target="../media/image120.png"/><Relationship Id="rId2" Type="http://schemas.openxmlformats.org/officeDocument/2006/relationships/tags" Target="../tags/tag173.xml"/><Relationship Id="rId16" Type="http://schemas.microsoft.com/office/2007/relationships/hdphoto" Target="../media/hdphoto19.wdp"/><Relationship Id="rId20" Type="http://schemas.openxmlformats.org/officeDocument/2006/relationships/image" Target="../media/image119.png"/><Relationship Id="rId1" Type="http://schemas.openxmlformats.org/officeDocument/2006/relationships/tags" Target="../tags/tag172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63.png"/><Relationship Id="rId5" Type="http://schemas.openxmlformats.org/officeDocument/2006/relationships/oleObject" Target="../embeddings/oleObject25.bin"/><Relationship Id="rId15" Type="http://schemas.openxmlformats.org/officeDocument/2006/relationships/image" Target="../media/image69.png"/><Relationship Id="rId23" Type="http://schemas.microsoft.com/office/2007/relationships/hdphoto" Target="../media/hdphoto32.wdp"/><Relationship Id="rId10" Type="http://schemas.openxmlformats.org/officeDocument/2006/relationships/image" Target="../media/image81.png"/><Relationship Id="rId19" Type="http://schemas.microsoft.com/office/2007/relationships/hdphoto" Target="../media/hdphoto36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8.png"/><Relationship Id="rId14" Type="http://schemas.microsoft.com/office/2007/relationships/hdphoto" Target="../media/hdphoto18.wdp"/><Relationship Id="rId22" Type="http://schemas.openxmlformats.org/officeDocument/2006/relationships/image" Target="../media/image85.png"/><Relationship Id="rId27" Type="http://schemas.microsoft.com/office/2007/relationships/hdphoto" Target="../media/hdphoto21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22.png"/><Relationship Id="rId12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Relationship Id="rId6" Type="http://schemas.openxmlformats.org/officeDocument/2006/relationships/image" Target="../media/image121.png"/><Relationship Id="rId11" Type="http://schemas.openxmlformats.org/officeDocument/2006/relationships/image" Target="../media/image124.png"/><Relationship Id="rId5" Type="http://schemas.openxmlformats.org/officeDocument/2006/relationships/image" Target="../media/image8.emf"/><Relationship Id="rId10" Type="http://schemas.openxmlformats.org/officeDocument/2006/relationships/image" Target="../media/image123.pn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13" Type="http://schemas.openxmlformats.org/officeDocument/2006/relationships/tags" Target="../tags/tag188.xml"/><Relationship Id="rId18" Type="http://schemas.openxmlformats.org/officeDocument/2006/relationships/tags" Target="../tags/tag193.xml"/><Relationship Id="rId26" Type="http://schemas.openxmlformats.org/officeDocument/2006/relationships/chart" Target="../charts/chart14.xml"/><Relationship Id="rId3" Type="http://schemas.openxmlformats.org/officeDocument/2006/relationships/tags" Target="../tags/tag178.xml"/><Relationship Id="rId21" Type="http://schemas.openxmlformats.org/officeDocument/2006/relationships/tags" Target="../tags/tag196.xml"/><Relationship Id="rId7" Type="http://schemas.openxmlformats.org/officeDocument/2006/relationships/tags" Target="../tags/tag182.xml"/><Relationship Id="rId12" Type="http://schemas.openxmlformats.org/officeDocument/2006/relationships/tags" Target="../tags/tag187.xml"/><Relationship Id="rId17" Type="http://schemas.openxmlformats.org/officeDocument/2006/relationships/tags" Target="../tags/tag192.xml"/><Relationship Id="rId25" Type="http://schemas.openxmlformats.org/officeDocument/2006/relationships/image" Target="../media/image8.emf"/><Relationship Id="rId2" Type="http://schemas.openxmlformats.org/officeDocument/2006/relationships/tags" Target="../tags/tag177.xml"/><Relationship Id="rId16" Type="http://schemas.openxmlformats.org/officeDocument/2006/relationships/tags" Target="../tags/tag191.xml"/><Relationship Id="rId20" Type="http://schemas.openxmlformats.org/officeDocument/2006/relationships/tags" Target="../tags/tag195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24" Type="http://schemas.openxmlformats.org/officeDocument/2006/relationships/oleObject" Target="../embeddings/oleObject27.bin"/><Relationship Id="rId5" Type="http://schemas.openxmlformats.org/officeDocument/2006/relationships/tags" Target="../tags/tag180.xml"/><Relationship Id="rId15" Type="http://schemas.openxmlformats.org/officeDocument/2006/relationships/tags" Target="../tags/tag190.xml"/><Relationship Id="rId23" Type="http://schemas.openxmlformats.org/officeDocument/2006/relationships/notesSlide" Target="../notesSlides/notesSlide24.xml"/><Relationship Id="rId10" Type="http://schemas.openxmlformats.org/officeDocument/2006/relationships/tags" Target="../tags/tag185.xml"/><Relationship Id="rId19" Type="http://schemas.openxmlformats.org/officeDocument/2006/relationships/tags" Target="../tags/tag194.xml"/><Relationship Id="rId4" Type="http://schemas.openxmlformats.org/officeDocument/2006/relationships/tags" Target="../tags/tag179.xml"/><Relationship Id="rId9" Type="http://schemas.openxmlformats.org/officeDocument/2006/relationships/tags" Target="../tags/tag184.xml"/><Relationship Id="rId14" Type="http://schemas.openxmlformats.org/officeDocument/2006/relationships/tags" Target="../tags/tag189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3.png"/><Relationship Id="rId12" Type="http://schemas.openxmlformats.org/officeDocument/2006/relationships/image" Target="../media/image118.png"/><Relationship Id="rId17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png"/><Relationship Id="rId1" Type="http://schemas.openxmlformats.org/officeDocument/2006/relationships/tags" Target="../tags/tag198.xml"/><Relationship Id="rId6" Type="http://schemas.openxmlformats.org/officeDocument/2006/relationships/image" Target="../media/image126.png"/><Relationship Id="rId11" Type="http://schemas.openxmlformats.org/officeDocument/2006/relationships/image" Target="../media/image127.png"/><Relationship Id="rId5" Type="http://schemas.openxmlformats.org/officeDocument/2006/relationships/image" Target="../media/image18.emf"/><Relationship Id="rId15" Type="http://schemas.openxmlformats.org/officeDocument/2006/relationships/image" Target="../media/image130.png"/><Relationship Id="rId10" Type="http://schemas.openxmlformats.org/officeDocument/2006/relationships/image" Target="../media/image66.png"/><Relationship Id="rId19" Type="http://schemas.openxmlformats.org/officeDocument/2006/relationships/image" Target="../media/image134.png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4.png"/><Relationship Id="rId14" Type="http://schemas.openxmlformats.org/officeDocument/2006/relationships/image" Target="../media/image129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6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54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6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5.png"/><Relationship Id="rId61" Type="http://schemas.openxmlformats.org/officeDocument/2006/relationships/image" Target="../media/image53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1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66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7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0.bin"/><Relationship Id="rId12" Type="http://schemas.openxmlformats.org/officeDocument/2006/relationships/image" Target="../media/image126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0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199.xml"/><Relationship Id="rId6" Type="http://schemas.openxmlformats.org/officeDocument/2006/relationships/image" Target="../media/image136.png"/><Relationship Id="rId15" Type="http://schemas.openxmlformats.org/officeDocument/2006/relationships/image" Target="../media/image55.png"/><Relationship Id="rId23" Type="http://schemas.openxmlformats.org/officeDocument/2006/relationships/image" Target="../media/image82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58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6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9410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and emerging players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705923"/>
            <a:chOff x="8206661" y="1337390"/>
            <a:chExt cx="4031564" cy="4705923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115416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enhance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rgbClr val="0052D9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736DF8D-83B2-DAA8-7F17-E9DA338888C1}"/>
              </a:ext>
            </a:extLst>
          </p:cNvPr>
          <p:cNvSpPr/>
          <p:nvPr/>
        </p:nvSpPr>
        <p:spPr>
          <a:xfrm>
            <a:off x="8269905" y="4082965"/>
            <a:ext cx="3147481" cy="460134"/>
          </a:xfrm>
          <a:prstGeom prst="wedgeRoundRectCallout">
            <a:avLst>
              <a:gd name="adj1" fmla="val -35726"/>
              <a:gd name="adj2" fmla="val 85652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market prioritize speed over power (not a constraint).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364CC8-2C58-47A7-1128-247A74EC90BB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1123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295570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270192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20198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34473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468097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61214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988438"/>
              </p:ext>
            </p:extLst>
          </p:nvPr>
        </p:nvGraphicFramePr>
        <p:xfrm>
          <a:off x="6656932" y="276894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225533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421715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79862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237244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8569" y="258575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6226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457774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59510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94270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1410013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Optics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significantly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increases effective reach</a:t>
              </a:r>
              <a:endPara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34315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258947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17363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295592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360521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18293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568704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271748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249800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465020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71107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146070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Consider GB200 NVL72 cluster with 9,216 B200 GPUs with 2-layer interconnect.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01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135005"/>
              </p:ext>
            </p:extLst>
          </p:nvPr>
        </p:nvGraphicFramePr>
        <p:xfrm>
          <a:off x="233588" y="192946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 interconnect transmission rate eclipsed by optical interconnect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45746"/>
              </p:ext>
            </p:extLst>
          </p:nvPr>
        </p:nvGraphicFramePr>
        <p:xfrm>
          <a:off x="6388302" y="217934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275762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2881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39439" y="5889478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bandwidth per card.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21221" y="137690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2208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67707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375240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E16986-4D40-A41A-E6B6-A05C05606FD1}"/>
              </a:ext>
            </a:extLst>
          </p:cNvPr>
          <p:cNvSpPr txBox="1"/>
          <p:nvPr/>
        </p:nvSpPr>
        <p:spPr>
          <a:xfrm>
            <a:off x="6319506" y="1164944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​Optical hits 448Gbps, leaving </a:t>
            </a:r>
            <a:r>
              <a:rPr kumimoji="1"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at 224Gbps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932CE7E-7053-F560-8F79-599E34A7B976}"/>
              </a:ext>
            </a:extLst>
          </p:cNvPr>
          <p:cNvSpPr txBox="1"/>
          <p:nvPr/>
        </p:nvSpPr>
        <p:spPr>
          <a:xfrm>
            <a:off x="6165433" y="134167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2459047-D2F5-6A93-6043-F65FE093ABAC}"/>
              </a:ext>
            </a:extLst>
          </p:cNvPr>
          <p:cNvCxnSpPr>
            <a:cxnSpLocks/>
          </p:cNvCxnSpPr>
          <p:nvPr/>
        </p:nvCxnSpPr>
        <p:spPr>
          <a:xfrm>
            <a:off x="631950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2C7B039-FE12-C778-F388-F1495DFAED31}"/>
              </a:ext>
            </a:extLst>
          </p:cNvPr>
          <p:cNvSpPr txBox="1"/>
          <p:nvPr/>
        </p:nvSpPr>
        <p:spPr>
          <a:xfrm>
            <a:off x="370058" y="1139544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Transmission rate growth lags behind compute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26374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35798" y="3329351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07539" y="4394955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3x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19531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198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06899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45218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07664" y="4511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289660" y="39285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44553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8462" y="46299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1800GB/s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57147" y="4922496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900GB/s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499968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600GB/s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61705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06654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50899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295631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43992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190753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707002-0D03-6E32-A47C-AAFABBC1C2F1}"/>
              </a:ext>
            </a:extLst>
          </p:cNvPr>
          <p:cNvSpPr txBox="1"/>
          <p:nvPr/>
        </p:nvSpPr>
        <p:spPr>
          <a:xfrm>
            <a:off x="1678408" y="5126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300GB/s</a:t>
            </a:r>
          </a:p>
        </p:txBody>
      </p:sp>
      <p:cxnSp>
        <p:nvCxnSpPr>
          <p:cNvPr id="43" name="直线连接符 38">
            <a:extLst>
              <a:ext uri="{FF2B5EF4-FFF2-40B4-BE49-F238E27FC236}">
                <a16:creationId xmlns:a16="http://schemas.microsoft.com/office/drawing/2014/main" id="{DAB85C9D-4D05-701D-D6C8-7FF0C32CBB64}"/>
              </a:ext>
            </a:extLst>
          </p:cNvPr>
          <p:cNvCxnSpPr>
            <a:cxnSpLocks/>
          </p:cNvCxnSpPr>
          <p:nvPr/>
        </p:nvCxnSpPr>
        <p:spPr>
          <a:xfrm>
            <a:off x="37282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401" imgH="401" progId="TCLayout.ActiveDocument.1">
                  <p:embed/>
                </p:oleObj>
              </mc:Choice>
              <mc:Fallback>
                <p:oleObj name="think-cell 幻灯片" r:id="rId2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535117"/>
            <a:ext cx="1189919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9" y="1253308"/>
            <a:ext cx="869462" cy="2241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Time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6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C1C5AF-DCED-31C8-68B7-45C4830E9B31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67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958710" y="3420791"/>
            <a:ext cx="278765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730678" y="2260875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045491" y="5391972"/>
            <a:ext cx="2787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634884" y="2822345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421039" y="3415596"/>
            <a:ext cx="1361697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646035" y="5376583"/>
            <a:ext cx="911703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33996"/>
            <a:ext cx="10132483" cy="9459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 bypassing PCB traces, it reduces loss from ​22 dB to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cuts power by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345878" y="373713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257554" y="2260875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598423" y="2976270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cs typeface="+mn-ea"/>
                    <a:sym typeface="+mn-lt"/>
                  </a:rPr>
                  <a:t>ASIC</a:t>
                </a:r>
                <a:endParaRPr lang="zh-CN" altLang="en-US" sz="9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583098" y="4894890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792034" y="5372953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985505" y="3485563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115223" y="369444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10033494" y="369527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807135" y="3444998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771299" y="3685356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375876" y="375578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575324" y="348976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572562" y="346872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777855" y="329542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5559" y="3256171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ASIC/GPU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195477" y="3569834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392390" y="3631944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609251" y="354142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684943" y="2990265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2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2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348375" y="346075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346441" y="3530341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591294" y="3527137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589706" y="3771654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10059385" y="3700035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807135" y="5377218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771299" y="5617576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345878" y="566935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375876" y="568800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575324" y="542198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572562" y="540094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777855" y="522764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68959" y="5187328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ASIC/GPU</a:t>
            </a: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214575" y="5485703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332355" y="5566494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609251" y="547364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458685" y="5019972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348375" y="539297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346441" y="5462561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819895" y="5374163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784350" y="5255035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472386" y="4778353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2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979930" y="5322019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335530" y="5314893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181832" y="5538819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807881" y="3768981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10019124" y="3571225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301119" y="3693230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219390" y="369405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138260" y="3769702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248297" y="3698083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141935" y="3699332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290524" y="4470767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286108" y="3438679"/>
            <a:ext cx="11210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179885" y="2260875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286108" y="5299639"/>
            <a:ext cx="278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102.4Tbps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(16 × 6.4T)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A1EFA71-FBF8-12A8-E6FB-6978EB42174F}"/>
              </a:ext>
            </a:extLst>
          </p:cNvPr>
          <p:cNvSpPr/>
          <p:nvPr/>
        </p:nvSpPr>
        <p:spPr>
          <a:xfrm>
            <a:off x="7423619" y="6232885"/>
            <a:ext cx="4187134" cy="408293"/>
          </a:xfrm>
          <a:prstGeom prst="wedgeRoundRectCallout">
            <a:avLst>
              <a:gd name="adj1" fmla="val -21167"/>
              <a:gd name="adj2" fmla="val -85426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Co-packaging adds expense and maintenance challenges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F5D204-48C3-48B6-A04E-18083587FA9F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viewed as 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for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1984375" y="1726406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530975" y="17256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1990725" y="2349500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563761" y="2349500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mn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451" y="36701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537" y="3697943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064984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9318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923024"/>
            <a:ext cx="415694" cy="27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10625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may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≤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≫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E84309-A105-05D8-B741-5C4C40A0BC12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342030" y="14830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959732" y="14830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5647221" y="4034120"/>
            <a:ext cx="3130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Easier to commercialize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5" y="6287653"/>
            <a:ext cx="11497549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Sitrus Official Web Site.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Note 1: Sitrus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are two leading Chinese companies specializing in high-speed DSP chips and switch chips, respectively. 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r>
              <a:rPr lang="en-US" altLang="zh-CN" sz="1400" baseline="30000" dirty="0"/>
              <a:t>1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495573" y="5273213"/>
            <a:ext cx="5122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Chip limitations drive longer-reach scale-up solutions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optical essential for scale-up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677778" y="5273213"/>
            <a:ext cx="3853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Starting testing of optical in IDCs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still dominates in the short-term 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7" y="3736218"/>
            <a:ext cx="10624673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992937" y="4856165"/>
            <a:ext cx="106246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342030" y="4125026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Initial adoption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356839" y="4943071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Acceleration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​Optical interconnect adoption prioritized in scale-out and accelerated in scale-up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902A4C-B64C-5B72-01E5-249A0DD391EE}"/>
              </a:ext>
            </a:extLst>
          </p:cNvPr>
          <p:cNvSpPr txBox="1"/>
          <p:nvPr/>
        </p:nvSpPr>
        <p:spPr>
          <a:xfrm>
            <a:off x="6396136" y="4943071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Aggressive push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532468" y="4150344"/>
            <a:ext cx="9841468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828011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1442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141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8011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7708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4095911" y="4332214"/>
            <a:ext cx="67387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4753113" y="4312418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2303719" y="428636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4747497" y="4781281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2288484" y="4755223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1701073" y="4350647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521286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764749" y="2840012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may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941151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5" name="直线连接符 30">
            <a:extLst>
              <a:ext uri="{FF2B5EF4-FFF2-40B4-BE49-F238E27FC236}">
                <a16:creationId xmlns:a16="http://schemas.microsoft.com/office/drawing/2014/main" id="{C94A70D6-4F6E-E7E0-3074-52D3CD4F5781}"/>
              </a:ext>
            </a:extLst>
          </p:cNvPr>
          <p:cNvCxnSpPr>
            <a:cxnSpLocks/>
          </p:cNvCxnSpPr>
          <p:nvPr/>
        </p:nvCxnSpPr>
        <p:spPr>
          <a:xfrm>
            <a:off x="1542305" y="2687148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8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7" name="Textplatzhalter 9">
            <a:extLst>
              <a:ext uri="{FF2B5EF4-FFF2-40B4-BE49-F238E27FC236}">
                <a16:creationId xmlns:a16="http://schemas.microsoft.com/office/drawing/2014/main" id="{F1AA5767-C3B1-190C-FB29-D68B3867C869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8" name="Textplatzhalter 9">
            <a:extLst>
              <a:ext uri="{FF2B5EF4-FFF2-40B4-BE49-F238E27FC236}">
                <a16:creationId xmlns:a16="http://schemas.microsoft.com/office/drawing/2014/main" id="{F10F0791-C3AE-497A-1C7D-1DC07E35C3B2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9" name="Textplatzhalter 9">
            <a:extLst>
              <a:ext uri="{FF2B5EF4-FFF2-40B4-BE49-F238E27FC236}">
                <a16:creationId xmlns:a16="http://schemas.microsoft.com/office/drawing/2014/main" id="{EAF70CB0-9EFB-5CAE-7CE2-16709086E9DA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6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390" name="文本框 1389">
            <a:extLst>
              <a:ext uri="{FF2B5EF4-FFF2-40B4-BE49-F238E27FC236}">
                <a16:creationId xmlns:a16="http://schemas.microsoft.com/office/drawing/2014/main" id="{EB242B47-4000-582B-BBCD-85BADA26C0B9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1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391" name="文本框 1390">
            <a:extLst>
              <a:ext uri="{FF2B5EF4-FFF2-40B4-BE49-F238E27FC236}">
                <a16:creationId xmlns:a16="http://schemas.microsoft.com/office/drawing/2014/main" id="{747EDC4D-0EC5-E158-C861-A1675D8A35E1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392" name="连接符: 肘形 1391">
            <a:extLst>
              <a:ext uri="{FF2B5EF4-FFF2-40B4-BE49-F238E27FC236}">
                <a16:creationId xmlns:a16="http://schemas.microsoft.com/office/drawing/2014/main" id="{62D04A46-BFF4-D397-4D01-7594DE1115C2}"/>
              </a:ext>
            </a:extLst>
          </p:cNvPr>
          <p:cNvCxnSpPr>
            <a:cxnSpLocks/>
            <a:stCxn id="1390" idx="2"/>
            <a:endCxn id="1387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连接符: 肘形 1393">
            <a:extLst>
              <a:ext uri="{FF2B5EF4-FFF2-40B4-BE49-F238E27FC236}">
                <a16:creationId xmlns:a16="http://schemas.microsoft.com/office/drawing/2014/main" id="{1EC5009C-66EE-19E3-0C14-F9534DFE8127}"/>
              </a:ext>
            </a:extLst>
          </p:cNvPr>
          <p:cNvCxnSpPr>
            <a:cxnSpLocks/>
            <a:stCxn id="1390" idx="2"/>
            <a:endCxn id="1388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连接符: 肘形 1394">
            <a:extLst>
              <a:ext uri="{FF2B5EF4-FFF2-40B4-BE49-F238E27FC236}">
                <a16:creationId xmlns:a16="http://schemas.microsoft.com/office/drawing/2014/main" id="{62D3C7F8-8782-560F-8582-278202F8C896}"/>
              </a:ext>
            </a:extLst>
          </p:cNvPr>
          <p:cNvCxnSpPr>
            <a:cxnSpLocks/>
            <a:stCxn id="1390" idx="2"/>
            <a:endCxn id="1389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文本框 1395">
            <a:extLst>
              <a:ext uri="{FF2B5EF4-FFF2-40B4-BE49-F238E27FC236}">
                <a16:creationId xmlns:a16="http://schemas.microsoft.com/office/drawing/2014/main" id="{E3DD09DE-A7DF-5221-0067-149ADB8BA77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7" name="Textplatzhalter 9">
            <a:extLst>
              <a:ext uri="{FF2B5EF4-FFF2-40B4-BE49-F238E27FC236}">
                <a16:creationId xmlns:a16="http://schemas.microsoft.com/office/drawing/2014/main" id="{9F0ACECA-B650-4903-BF26-69A29C9B24F5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8" name="Textplatzhalter 9">
            <a:extLst>
              <a:ext uri="{FF2B5EF4-FFF2-40B4-BE49-F238E27FC236}">
                <a16:creationId xmlns:a16="http://schemas.microsoft.com/office/drawing/2014/main" id="{16613BED-01DA-2195-569B-E554B01B411F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1399" name="连接符: 肘形 1398">
            <a:extLst>
              <a:ext uri="{FF2B5EF4-FFF2-40B4-BE49-F238E27FC236}">
                <a16:creationId xmlns:a16="http://schemas.microsoft.com/office/drawing/2014/main" id="{C9256714-B85D-2349-8F2C-7BCEBE8772C6}"/>
              </a:ext>
            </a:extLst>
          </p:cNvPr>
          <p:cNvCxnSpPr>
            <a:cxnSpLocks/>
            <a:stCxn id="1396" idx="1"/>
            <a:endCxn id="1410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0" name="组合 1399">
            <a:extLst>
              <a:ext uri="{FF2B5EF4-FFF2-40B4-BE49-F238E27FC236}">
                <a16:creationId xmlns:a16="http://schemas.microsoft.com/office/drawing/2014/main" id="{03E729F7-5DD7-88B6-1C9F-7284F6170396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1401" name="图片 1400">
              <a:extLst>
                <a:ext uri="{FF2B5EF4-FFF2-40B4-BE49-F238E27FC236}">
                  <a16:creationId xmlns:a16="http://schemas.microsoft.com/office/drawing/2014/main" id="{68317D66-12E6-B5D0-F5CD-42913A0C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1402" name="图片 1401">
              <a:extLst>
                <a:ext uri="{FF2B5EF4-FFF2-40B4-BE49-F238E27FC236}">
                  <a16:creationId xmlns:a16="http://schemas.microsoft.com/office/drawing/2014/main" id="{CAC6DD95-C822-E899-858F-FBC3B44F1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403" name="Textplatzhalter 9">
            <a:extLst>
              <a:ext uri="{FF2B5EF4-FFF2-40B4-BE49-F238E27FC236}">
                <a16:creationId xmlns:a16="http://schemas.microsoft.com/office/drawing/2014/main" id="{EA764E57-925F-570A-EB1A-F368F015C986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404" name="组合 1403">
            <a:extLst>
              <a:ext uri="{FF2B5EF4-FFF2-40B4-BE49-F238E27FC236}">
                <a16:creationId xmlns:a16="http://schemas.microsoft.com/office/drawing/2014/main" id="{522532FF-3127-8AEA-05DD-510B3C05E401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1405" name="Picture 2">
              <a:extLst>
                <a:ext uri="{FF2B5EF4-FFF2-40B4-BE49-F238E27FC236}">
                  <a16:creationId xmlns:a16="http://schemas.microsoft.com/office/drawing/2014/main" id="{8211F662-0C6E-5017-ABB5-6DA257A42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6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84FE8021-0FF0-5A5F-69DB-9BF5BCC20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7" name="Picture 6" descr="Google Cloud Logo - Significado, História e PNG">
              <a:extLst>
                <a:ext uri="{FF2B5EF4-FFF2-40B4-BE49-F238E27FC236}">
                  <a16:creationId xmlns:a16="http://schemas.microsoft.com/office/drawing/2014/main" id="{18886AD4-28FE-552D-3B9A-2F67DF8D2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8" name="Textplatzhalter 9">
            <a:extLst>
              <a:ext uri="{FF2B5EF4-FFF2-40B4-BE49-F238E27FC236}">
                <a16:creationId xmlns:a16="http://schemas.microsoft.com/office/drawing/2014/main" id="{5F3D983E-EB14-A418-08B7-E97C6511E8B1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09" name="Textplatzhalter 9">
            <a:extLst>
              <a:ext uri="{FF2B5EF4-FFF2-40B4-BE49-F238E27FC236}">
                <a16:creationId xmlns:a16="http://schemas.microsoft.com/office/drawing/2014/main" id="{A9F654BE-F0DA-B8D1-B3FA-F9320B7E041C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410" name="Textplatzhalter 9">
            <a:extLst>
              <a:ext uri="{FF2B5EF4-FFF2-40B4-BE49-F238E27FC236}">
                <a16:creationId xmlns:a16="http://schemas.microsoft.com/office/drawing/2014/main" id="{5B2C3355-5A5C-48D5-C65E-15F42F14FF9C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411" name="连接符: 肘形 1410">
            <a:extLst>
              <a:ext uri="{FF2B5EF4-FFF2-40B4-BE49-F238E27FC236}">
                <a16:creationId xmlns:a16="http://schemas.microsoft.com/office/drawing/2014/main" id="{176651E9-7E49-9E42-CA3C-0F2316F55C6E}"/>
              </a:ext>
            </a:extLst>
          </p:cNvPr>
          <p:cNvCxnSpPr>
            <a:cxnSpLocks/>
            <a:stCxn id="1396" idx="1"/>
            <a:endCxn id="140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4" name="Chart 3">
            <a:extLst>
              <a:ext uri="{FF2B5EF4-FFF2-40B4-BE49-F238E27FC236}">
                <a16:creationId xmlns:a16="http://schemas.microsoft.com/office/drawing/2014/main" id="{F96090E8-A0AD-01F5-DD7D-E38709D869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448792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413" name="Text Placeholder 4">
            <a:extLst>
              <a:ext uri="{FF2B5EF4-FFF2-40B4-BE49-F238E27FC236}">
                <a16:creationId xmlns:a16="http://schemas.microsoft.com/office/drawing/2014/main" id="{FBFB7213-CBD7-DE45-432A-A372CEC0420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6FE5113-0210-46DD-867E-EF96C17807F8}" type="datetime'''''0'''''''''''''''''''''''''''''''''">
              <a:rPr lang="en-US" altLang="en-US" sz="1400" smtClean="0">
                <a:cs typeface="+mn-cs"/>
              </a:rPr>
              <a:pPr/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414" name="Text Placeholder 4">
            <a:extLst>
              <a:ext uri="{FF2B5EF4-FFF2-40B4-BE49-F238E27FC236}">
                <a16:creationId xmlns:a16="http://schemas.microsoft.com/office/drawing/2014/main" id="{F8874D96-401C-37D7-A28E-EAAC1A1161D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134EEDA4-C57D-4E3E-98A4-C474F13D4585}" type="datetime'''''''''''''''''''''''''''''''''''''''''10'''''''''''''''">
              <a:rPr lang="en-US" altLang="en-US" sz="1400" smtClean="0">
                <a:cs typeface="+mn-cs"/>
              </a:rPr>
              <a:pPr/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415" name="Text Placeholder 4">
            <a:extLst>
              <a:ext uri="{FF2B5EF4-FFF2-40B4-BE49-F238E27FC236}">
                <a16:creationId xmlns:a16="http://schemas.microsoft.com/office/drawing/2014/main" id="{D4735798-ECD9-C96E-7D9B-95DA3531A1D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C037253-83FD-4C05-BA2C-9EB93CF0F1A9}" type="datetime'2''''''''''''0'''''''''''''''''''''''''''''''''''''''''''''''">
              <a:rPr lang="en-US" altLang="en-US" sz="1400" smtClean="0">
                <a:cs typeface="+mn-cs"/>
              </a:rPr>
              <a:pPr/>
              <a:t>20</a:t>
            </a:fld>
            <a:r>
              <a:rPr lang="en-US" altLang="en-US" sz="140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422" name="Text Placeholder 4">
            <a:extLst>
              <a:ext uri="{FF2B5EF4-FFF2-40B4-BE49-F238E27FC236}">
                <a16:creationId xmlns:a16="http://schemas.microsoft.com/office/drawing/2014/main" id="{26BEA46B-F84F-C1B1-E1DB-B4077DE0937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7E9AB6B-AED5-4989-80F2-B00C0F8FFBB7}" type="datetime'''''''''''''''''''''''''''''''''''2''6''E'''''''''''''">
              <a:rPr lang="en-US" altLang="en-US" sz="1400" smtClean="0">
                <a:cs typeface="+mn-cs"/>
              </a:rPr>
              <a:pPr/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425" name="Text Placeholder 4">
            <a:extLst>
              <a:ext uri="{FF2B5EF4-FFF2-40B4-BE49-F238E27FC236}">
                <a16:creationId xmlns:a16="http://schemas.microsoft.com/office/drawing/2014/main" id="{260DCF94-A67F-A051-2326-04AEDB9FA4A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6A0894C-D2F7-4F71-8111-F9C66CE83905}" type="datetime'2''''''''''''''''7E'''''''''''''">
              <a:rPr lang="en-US" altLang="en-US" sz="1400" smtClean="0">
                <a:cs typeface="+mn-cs"/>
              </a:rPr>
              <a:pPr/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426" name="Text Placeholder 4">
            <a:extLst>
              <a:ext uri="{FF2B5EF4-FFF2-40B4-BE49-F238E27FC236}">
                <a16:creationId xmlns:a16="http://schemas.microsoft.com/office/drawing/2014/main" id="{789C8F66-69AA-1D93-3383-062C75DB003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9DD1B3-BA0B-43E1-8849-0C02258FFE44}" type="datetime'''''''''''''''''''''''''''''''1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427" name="Text Placeholder 4">
            <a:extLst>
              <a:ext uri="{FF2B5EF4-FFF2-40B4-BE49-F238E27FC236}">
                <a16:creationId xmlns:a16="http://schemas.microsoft.com/office/drawing/2014/main" id="{9B25B4A6-4275-9C84-0F58-BE43E0E3932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C0665D-B063-4850-B12C-9ED24FAB4E11}" type="datetime'''''''''''8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29" name="Text Placeholder 4">
            <a:extLst>
              <a:ext uri="{FF2B5EF4-FFF2-40B4-BE49-F238E27FC236}">
                <a16:creationId xmlns:a16="http://schemas.microsoft.com/office/drawing/2014/main" id="{2AFD4170-D175-5BF4-5A2C-C5886FC5AEEA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75B0ABA-583D-427D-B2B3-76EE3A7BCEE8}" type="datetime'''''''''''1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30" name="Text Placeholder 4">
            <a:extLst>
              <a:ext uri="{FF2B5EF4-FFF2-40B4-BE49-F238E27FC236}">
                <a16:creationId xmlns:a16="http://schemas.microsoft.com/office/drawing/2014/main" id="{0195472A-19CC-87DE-E781-C564ADC5D6C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B629FA-6B17-4ED8-8E9A-5B6EFE342258}" type="datetime'''''''''2''''''''''8''''''''''''''''''''E'''''''''''''''''''">
              <a:rPr lang="en-US" altLang="en-US" sz="1400" smtClean="0">
                <a:cs typeface="+mn-cs"/>
              </a:rPr>
              <a:pPr/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431" name="Text Placeholder 4">
            <a:extLst>
              <a:ext uri="{FF2B5EF4-FFF2-40B4-BE49-F238E27FC236}">
                <a16:creationId xmlns:a16="http://schemas.microsoft.com/office/drawing/2014/main" id="{CD843854-562C-D299-99A6-AADA2314B6C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56E814-3E32-4F13-A75D-26EA28FB411A}" type="datetime'''''''''80''''''''''''''''''''''''''''''''''''''''0G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432" name="Text Placeholder 4">
            <a:extLst>
              <a:ext uri="{FF2B5EF4-FFF2-40B4-BE49-F238E27FC236}">
                <a16:creationId xmlns:a16="http://schemas.microsoft.com/office/drawing/2014/main" id="{D03AFBA1-008A-17A7-293F-8B90471A35E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01933D4-9C1F-4F55-B684-C4B13A82FA02}" type="datetime'''''''''''''''1.''6''''''''''''''''''T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433" name="Text Placeholder 4">
            <a:extLst>
              <a:ext uri="{FF2B5EF4-FFF2-40B4-BE49-F238E27FC236}">
                <a16:creationId xmlns:a16="http://schemas.microsoft.com/office/drawing/2014/main" id="{CA9F22E8-3AB0-7626-CC0F-F2C109A72E6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4DC2B7-0738-4155-8EF8-DB7C64A9AA63}" type="datetime'''''3''''''.''''''''''''''''''''''''''2''''''''''''''T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434" name="文本框 1433">
            <a:extLst>
              <a:ext uri="{FF2B5EF4-FFF2-40B4-BE49-F238E27FC236}">
                <a16:creationId xmlns:a16="http://schemas.microsoft.com/office/drawing/2014/main" id="{977F2327-63BF-71DD-543F-53761CD76AC2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1A24FF55-8D07-0994-8912-6B20E3BCFD9B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6" name="Textplatzhalter 9">
            <a:extLst>
              <a:ext uri="{FF2B5EF4-FFF2-40B4-BE49-F238E27FC236}">
                <a16:creationId xmlns:a16="http://schemas.microsoft.com/office/drawing/2014/main" id="{C0F94439-DC7D-8640-1D0E-67F196557AEA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80278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~$700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437" name="文本框 1436">
            <a:extLst>
              <a:ext uri="{FF2B5EF4-FFF2-40B4-BE49-F238E27FC236}">
                <a16:creationId xmlns:a16="http://schemas.microsoft.com/office/drawing/2014/main" id="{DC911E28-30C5-4722-83E5-6FBFC054E366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2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3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38" name="Textplatzhalter 9">
            <a:extLst>
              <a:ext uri="{FF2B5EF4-FFF2-40B4-BE49-F238E27FC236}">
                <a16:creationId xmlns:a16="http://schemas.microsoft.com/office/drawing/2014/main" id="{F20ECEAD-DA35-9C4C-D55B-F4E44DD4B118}"/>
              </a:ext>
            </a:extLst>
          </p:cNvPr>
          <p:cNvSpPr txBox="1">
            <a:spLocks/>
          </p:cNvSpPr>
          <p:nvPr/>
        </p:nvSpPr>
        <p:spPr bwMode="gray">
          <a:xfrm>
            <a:off x="7798263" y="4044485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439" name="Textplatzhalter 9">
            <a:extLst>
              <a:ext uri="{FF2B5EF4-FFF2-40B4-BE49-F238E27FC236}">
                <a16:creationId xmlns:a16="http://schemas.microsoft.com/office/drawing/2014/main" id="{8B54E0EE-7744-600F-E4A7-BF4BB4F08691}"/>
              </a:ext>
            </a:extLst>
          </p:cNvPr>
          <p:cNvSpPr txBox="1">
            <a:spLocks/>
          </p:cNvSpPr>
          <p:nvPr/>
        </p:nvSpPr>
        <p:spPr bwMode="gray">
          <a:xfrm>
            <a:off x="7798263" y="1660696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440" name="文本框 1439">
            <a:extLst>
              <a:ext uri="{FF2B5EF4-FFF2-40B4-BE49-F238E27FC236}">
                <a16:creationId xmlns:a16="http://schemas.microsoft.com/office/drawing/2014/main" id="{27E9DECE-2FC1-59B6-43DA-8749AD5DC605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1" name="文本框 1440">
            <a:extLst>
              <a:ext uri="{FF2B5EF4-FFF2-40B4-BE49-F238E27FC236}">
                <a16:creationId xmlns:a16="http://schemas.microsoft.com/office/drawing/2014/main" id="{B40DE99B-CDD4-D6BC-F9F0-5E412E8AF681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2" name="文本框 1441">
            <a:extLst>
              <a:ext uri="{FF2B5EF4-FFF2-40B4-BE49-F238E27FC236}">
                <a16:creationId xmlns:a16="http://schemas.microsoft.com/office/drawing/2014/main" id="{CD60B7EC-3107-E2E5-D13E-23E96FE8B69F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3" name="文本框 1442">
            <a:extLst>
              <a:ext uri="{FF2B5EF4-FFF2-40B4-BE49-F238E27FC236}">
                <a16:creationId xmlns:a16="http://schemas.microsoft.com/office/drawing/2014/main" id="{A59A707E-2595-B2E3-0CB5-A62040826D2D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4" name="文本框 1443">
            <a:extLst>
              <a:ext uri="{FF2B5EF4-FFF2-40B4-BE49-F238E27FC236}">
                <a16:creationId xmlns:a16="http://schemas.microsoft.com/office/drawing/2014/main" id="{6E731C7D-7489-7FB3-23A1-E40293ED0FB2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5" name="文本框 1444">
            <a:extLst>
              <a:ext uri="{FF2B5EF4-FFF2-40B4-BE49-F238E27FC236}">
                <a16:creationId xmlns:a16="http://schemas.microsoft.com/office/drawing/2014/main" id="{32DB798C-0AEF-C7B9-EF5F-4570BA2DB6E7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6" name="文本框 1445">
            <a:extLst>
              <a:ext uri="{FF2B5EF4-FFF2-40B4-BE49-F238E27FC236}">
                <a16:creationId xmlns:a16="http://schemas.microsoft.com/office/drawing/2014/main" id="{A273CBD3-2C88-98A5-2E1D-ECEC31BA3E86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7" name="Textplatzhalter 9">
            <a:extLst>
              <a:ext uri="{FF2B5EF4-FFF2-40B4-BE49-F238E27FC236}">
                <a16:creationId xmlns:a16="http://schemas.microsoft.com/office/drawing/2014/main" id="{7444545F-D854-8627-3DA0-C894B3AF6DB9}"/>
              </a:ext>
            </a:extLst>
          </p:cNvPr>
          <p:cNvSpPr txBox="1">
            <a:spLocks/>
          </p:cNvSpPr>
          <p:nvPr/>
        </p:nvSpPr>
        <p:spPr bwMode="gray">
          <a:xfrm>
            <a:off x="7798263" y="2089234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48" name="Textplatzhalter 9">
            <a:extLst>
              <a:ext uri="{FF2B5EF4-FFF2-40B4-BE49-F238E27FC236}">
                <a16:creationId xmlns:a16="http://schemas.microsoft.com/office/drawing/2014/main" id="{B827B430-14FD-3DFA-E1F4-3A0F2CECA873}"/>
              </a:ext>
            </a:extLst>
          </p:cNvPr>
          <p:cNvSpPr txBox="1">
            <a:spLocks/>
          </p:cNvSpPr>
          <p:nvPr/>
        </p:nvSpPr>
        <p:spPr bwMode="gray">
          <a:xfrm>
            <a:off x="7798263" y="3429000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49" name="Textplatzhalter 9">
            <a:extLst>
              <a:ext uri="{FF2B5EF4-FFF2-40B4-BE49-F238E27FC236}">
                <a16:creationId xmlns:a16="http://schemas.microsoft.com/office/drawing/2014/main" id="{B646EBF2-EABE-1FC8-2743-0118153B2477}"/>
              </a:ext>
            </a:extLst>
          </p:cNvPr>
          <p:cNvSpPr txBox="1">
            <a:spLocks/>
          </p:cNvSpPr>
          <p:nvPr/>
        </p:nvSpPr>
        <p:spPr bwMode="gray">
          <a:xfrm>
            <a:off x="7798263" y="2981640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50" name="文本框 1449">
            <a:extLst>
              <a:ext uri="{FF2B5EF4-FFF2-40B4-BE49-F238E27FC236}">
                <a16:creationId xmlns:a16="http://schemas.microsoft.com/office/drawing/2014/main" id="{87DDA19C-4815-B515-BBB8-F6EB0B654C0E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1" name="文本框 1450">
            <a:extLst>
              <a:ext uri="{FF2B5EF4-FFF2-40B4-BE49-F238E27FC236}">
                <a16:creationId xmlns:a16="http://schemas.microsoft.com/office/drawing/2014/main" id="{EF7348D2-94AC-16A8-C879-B0DAF6D52802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2" name="文本框 1451">
            <a:extLst>
              <a:ext uri="{FF2B5EF4-FFF2-40B4-BE49-F238E27FC236}">
                <a16:creationId xmlns:a16="http://schemas.microsoft.com/office/drawing/2014/main" id="{82204CCB-6A99-AD18-8749-29ECEEC211DB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54" name="箭头: V 形 16">
            <a:extLst>
              <a:ext uri="{FF2B5EF4-FFF2-40B4-BE49-F238E27FC236}">
                <a16:creationId xmlns:a16="http://schemas.microsoft.com/office/drawing/2014/main" id="{5A4B73DD-4289-96BC-4397-DB839DB09308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5" name="箭头: V 形 26">
            <a:extLst>
              <a:ext uri="{FF2B5EF4-FFF2-40B4-BE49-F238E27FC236}">
                <a16:creationId xmlns:a16="http://schemas.microsoft.com/office/drawing/2014/main" id="{5028A8F8-0B79-0FA0-BAFD-2A0A7DB3D86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6" name="箭头: V 形 38">
            <a:extLst>
              <a:ext uri="{FF2B5EF4-FFF2-40B4-BE49-F238E27FC236}">
                <a16:creationId xmlns:a16="http://schemas.microsoft.com/office/drawing/2014/main" id="{4BFE644B-FF24-FE83-4432-F30D1EAA11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7" name="箭头: V 形 26">
            <a:extLst>
              <a:ext uri="{FF2B5EF4-FFF2-40B4-BE49-F238E27FC236}">
                <a16:creationId xmlns:a16="http://schemas.microsoft.com/office/drawing/2014/main" id="{69F64DD4-A91E-C721-5688-B3F4E3A98C8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8" name="箭头: V 形 38">
            <a:extLst>
              <a:ext uri="{FF2B5EF4-FFF2-40B4-BE49-F238E27FC236}">
                <a16:creationId xmlns:a16="http://schemas.microsoft.com/office/drawing/2014/main" id="{03ACB343-7599-D3DD-8CAB-227393836AF8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9" name="箭头: V 形 38">
            <a:extLst>
              <a:ext uri="{FF2B5EF4-FFF2-40B4-BE49-F238E27FC236}">
                <a16:creationId xmlns:a16="http://schemas.microsoft.com/office/drawing/2014/main" id="{F6FABFF3-9861-6482-A5A7-28BCCAE19E9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60" name="箭头: V 形 38">
            <a:extLst>
              <a:ext uri="{FF2B5EF4-FFF2-40B4-BE49-F238E27FC236}">
                <a16:creationId xmlns:a16="http://schemas.microsoft.com/office/drawing/2014/main" id="{13A24C74-1C72-03EC-29CE-B920460C2F95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61" name="箭头: V 形 38">
            <a:extLst>
              <a:ext uri="{FF2B5EF4-FFF2-40B4-BE49-F238E27FC236}">
                <a16:creationId xmlns:a16="http://schemas.microsoft.com/office/drawing/2014/main" id="{632CC3EC-21D4-8ED2-65DF-BBD599006C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462" name="标题 1">
            <a:extLst>
              <a:ext uri="{FF2B5EF4-FFF2-40B4-BE49-F238E27FC236}">
                <a16:creationId xmlns:a16="http://schemas.microsoft.com/office/drawing/2014/main" id="{B03756F3-6A8B-F757-4708-044CE3632633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082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Estimating the CPO market: driven by port growth and data rate scaling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1018D7-4F0D-61A7-1E77-435F084D37E9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19" y="6046099"/>
            <a:ext cx="1108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 on POs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supply chain is early-stage, with most players in initial strategic layout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62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401" imgH="401" progId="TCLayout.ActiveDocument.1">
                  <p:embed/>
                </p:oleObj>
              </mc:Choice>
              <mc:Fallback>
                <p:oleObj name="think-cell 幻灯片" r:id="rId11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1852434" y="4259263"/>
            <a:ext cx="3317180" cy="33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52D9"/>
                </a:solidFill>
                <a:latin typeface="+mn-lt"/>
              </a:rPr>
              <a:t>64% </a:t>
            </a:r>
            <a:r>
              <a:rPr lang="en-US" altLang="zh-CN" sz="1600" dirty="0">
                <a:latin typeface="+mn-lt"/>
              </a:rPr>
              <a:t>of ASIC shipment</a:t>
            </a:r>
            <a:endParaRPr lang="zh-CN" altLang="en-US" sz="1600" dirty="0">
              <a:latin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9" name="Chart 3">
            <a:extLst>
              <a:ext uri="{FF2B5EF4-FFF2-40B4-BE49-F238E27FC236}">
                <a16:creationId xmlns:a16="http://schemas.microsoft.com/office/drawing/2014/main" id="{BAE9A7B9-AD72-884B-DC3A-B2FCE79C315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83783396"/>
              </p:ext>
            </p:extLst>
          </p:nvPr>
        </p:nvGraphicFramePr>
        <p:xfrm>
          <a:off x="387350" y="1938338"/>
          <a:ext cx="7337425" cy="421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B489EA60-FB9E-B479-EF8F-4B96201852A6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687388" y="59213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0707544-5DC2-450D-800F-06F729107162}" type="datetime'''''''''''''''''''''''''2''''''''''''0''2''4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9" name="Text Placeholder 4">
            <a:extLst>
              <a:ext uri="{FF2B5EF4-FFF2-40B4-BE49-F238E27FC236}">
                <a16:creationId xmlns:a16="http://schemas.microsoft.com/office/drawing/2014/main" id="{E3919886-5C91-1E70-3A1D-9878438494F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067175" y="59213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6619F04-B9AF-456C-8ACB-D3DC2B3B4819}" type="datetime'''''''''''2''0''''''2''''''''''''''''''''''''''''''''''''''5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110" name="Text Placeholder 4">
            <a:extLst>
              <a:ext uri="{FF2B5EF4-FFF2-40B4-BE49-F238E27FC236}">
                <a16:creationId xmlns:a16="http://schemas.microsoft.com/office/drawing/2014/main" id="{BC7B20BB-C38D-55C6-8377-34AA6329FC2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7386638" y="5921375"/>
            <a:ext cx="512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682446-8E78-4001-8410-D7B1B2974D6B}" type="datetime'''''''2''''''''''''''''0''''''''''''''''2''''6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r>
              <a:rPr lang="en-US" altLang="zh-CN" sz="1400" dirty="0">
                <a:effectLst/>
                <a:cs typeface="+mn-cs"/>
              </a:rPr>
              <a:t>E</a:t>
            </a:r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469900" y="1416050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Accelerator chips shipment unit share</a:t>
            </a:r>
            <a:r>
              <a:rPr lang="zh-CN" altLang="en-US" sz="1600" b="1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b="1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4268788" y="1585913"/>
            <a:ext cx="238125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564063" y="148748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546685" y="1809750"/>
            <a:ext cx="709633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E31EFFF-B49B-448C-7CC3-DDDB0395575F}"/>
              </a:ext>
            </a:extLst>
          </p:cNvPr>
          <p:cNvGrpSpPr/>
          <p:nvPr/>
        </p:nvGrpSpPr>
        <p:grpSpPr>
          <a:xfrm>
            <a:off x="8330961" y="3321050"/>
            <a:ext cx="3528377" cy="1130300"/>
            <a:chOff x="8330962" y="3369711"/>
            <a:chExt cx="3528377" cy="1130359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12A1E5-C527-E5DF-0FC8-3D86F59979D3}"/>
                </a:ext>
              </a:extLst>
            </p:cNvPr>
            <p:cNvSpPr txBox="1"/>
            <p:nvPr/>
          </p:nvSpPr>
          <p:spPr>
            <a:xfrm>
              <a:off x="8330962" y="3735758"/>
              <a:ext cx="3528377" cy="764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​ASIC: High costs,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limited TSMC supply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​Nvidia continues to dominate 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AI cloud compute.​</a:t>
              </a:r>
              <a:endPara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endParaRPr>
            </a:p>
          </p:txBody>
        </p:sp>
        <p:sp>
          <p:nvSpPr>
            <p:cNvPr id="964" name="文本框 963">
              <a:extLst>
                <a:ext uri="{FF2B5EF4-FFF2-40B4-BE49-F238E27FC236}">
                  <a16:creationId xmlns:a16="http://schemas.microsoft.com/office/drawing/2014/main" id="{FA12F98D-AFB1-F69C-EB36-438FF7419D87}"/>
                </a:ext>
              </a:extLst>
            </p:cNvPr>
            <p:cNvSpPr txBox="1"/>
            <p:nvPr/>
          </p:nvSpPr>
          <p:spPr>
            <a:xfrm>
              <a:off x="8330962" y="3369711"/>
              <a:ext cx="34736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Pessimistic scenario</a:t>
              </a:r>
              <a:endParaRPr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7730347-D337-A98D-9983-B7999340FB78}"/>
              </a:ext>
            </a:extLst>
          </p:cNvPr>
          <p:cNvGrpSpPr/>
          <p:nvPr/>
        </p:nvGrpSpPr>
        <p:grpSpPr>
          <a:xfrm>
            <a:off x="8330961" y="1920875"/>
            <a:ext cx="6114326" cy="1177925"/>
            <a:chOff x="8330962" y="1990805"/>
            <a:chExt cx="6114326" cy="1177637"/>
          </a:xfrm>
        </p:grpSpPr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A7C07FBA-FD55-123B-6CC2-D48F932459CC}"/>
                </a:ext>
              </a:extLst>
            </p:cNvPr>
            <p:cNvSpPr txBox="1"/>
            <p:nvPr/>
          </p:nvSpPr>
          <p:spPr>
            <a:xfrm>
              <a:off x="8330962" y="1990805"/>
              <a:ext cx="6114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Optimistic scenario</a:t>
              </a:r>
              <a:endParaRPr lang="zh-CN" altLang="en-US" b="1" dirty="0"/>
            </a:p>
          </p:txBody>
        </p:sp>
        <p:sp>
          <p:nvSpPr>
            <p:cNvPr id="966" name="文本框 965">
              <a:extLst>
                <a:ext uri="{FF2B5EF4-FFF2-40B4-BE49-F238E27FC236}">
                  <a16:creationId xmlns:a16="http://schemas.microsoft.com/office/drawing/2014/main" id="{3EA0C51F-3CA4-A0C8-3FC9-3D399000562D}"/>
                </a:ext>
              </a:extLst>
            </p:cNvPr>
            <p:cNvSpPr txBox="1"/>
            <p:nvPr/>
          </p:nvSpPr>
          <p:spPr>
            <a:xfrm>
              <a:off x="8330962" y="2404130"/>
              <a:ext cx="3770682" cy="764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New orders from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OpenAI &amp; </a:t>
              </a:r>
              <a:r>
                <a:rPr lang="en-US" altLang="zh-CN" sz="1400" b="1" dirty="0" err="1">
                  <a:solidFill>
                    <a:srgbClr val="0052D9"/>
                  </a:solidFill>
                  <a:latin typeface="PingFang SC"/>
                </a:rPr>
                <a:t>xAI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Bring forward the “ASIC &gt; GPU” inflection point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from 2027–28 to 2026.</a:t>
              </a:r>
            </a:p>
          </p:txBody>
        </p:sp>
      </p:grp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443292" y="3340100"/>
            <a:ext cx="692534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53585F"/>
                </a:solidFill>
                <a:cs typeface="+mn-ea"/>
                <a:sym typeface="+mn-lt"/>
              </a:rPr>
              <a:t>40</a:t>
            </a:r>
            <a:endParaRPr lang="zh-CN" altLang="en-US" sz="1600" dirty="0">
              <a:solidFill>
                <a:srgbClr val="53585F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becomes the long-term trend, and Broadcom plays a central role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8EA2409A-BAC3-B86A-7829-7DD960D5E89F}"/>
              </a:ext>
            </a:extLst>
          </p:cNvPr>
          <p:cNvSpPr/>
          <p:nvPr/>
        </p:nvSpPr>
        <p:spPr>
          <a:xfrm>
            <a:off x="4271867" y="2271713"/>
            <a:ext cx="3400425" cy="1127125"/>
          </a:xfrm>
          <a:custGeom>
            <a:avLst/>
            <a:gdLst>
              <a:gd name="connsiteX0" fmla="*/ 3353147 w 3355924"/>
              <a:gd name="connsiteY0" fmla="*/ 0 h 1108353"/>
              <a:gd name="connsiteX1" fmla="*/ 3355924 w 3355924"/>
              <a:gd name="connsiteY1" fmla="*/ 31966 h 1108353"/>
              <a:gd name="connsiteX2" fmla="*/ 3355924 w 3355924"/>
              <a:gd name="connsiteY2" fmla="*/ 1063951 h 1108353"/>
              <a:gd name="connsiteX3" fmla="*/ 0 w 3355924"/>
              <a:gd name="connsiteY3" fmla="*/ 1108353 h 1108353"/>
              <a:gd name="connsiteX4" fmla="*/ 3353147 w 3355924"/>
              <a:gd name="connsiteY4" fmla="*/ 0 h 110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5924" h="1108353">
                <a:moveTo>
                  <a:pt x="3353147" y="0"/>
                </a:moveTo>
                <a:lnTo>
                  <a:pt x="3355924" y="31966"/>
                </a:lnTo>
                <a:lnTo>
                  <a:pt x="3355924" y="1063951"/>
                </a:lnTo>
                <a:lnTo>
                  <a:pt x="0" y="1108353"/>
                </a:lnTo>
                <a:lnTo>
                  <a:pt x="3353147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C90B8B1-FB15-F189-57AB-74DD8FAC12F8}"/>
              </a:ext>
            </a:extLst>
          </p:cNvPr>
          <p:cNvSpPr/>
          <p:nvPr/>
        </p:nvSpPr>
        <p:spPr>
          <a:xfrm>
            <a:off x="7662672" y="2206625"/>
            <a:ext cx="521208" cy="119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7A93FB98-297C-B532-4214-27E43624EFFC}"/>
              </a:ext>
            </a:extLst>
          </p:cNvPr>
          <p:cNvSpPr txBox="1"/>
          <p:nvPr/>
        </p:nvSpPr>
        <p:spPr>
          <a:xfrm>
            <a:off x="5072608" y="4167188"/>
            <a:ext cx="3317180" cy="33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52D9"/>
                </a:solidFill>
                <a:latin typeface="+mn-lt"/>
              </a:rPr>
              <a:t>62% </a:t>
            </a:r>
            <a:r>
              <a:rPr lang="en-US" altLang="zh-CN" sz="1600" dirty="0">
                <a:latin typeface="+mn-lt"/>
              </a:rPr>
              <a:t>of ASIC shipment</a:t>
            </a:r>
            <a:endParaRPr lang="zh-CN" altLang="en-US" sz="1600" dirty="0">
              <a:latin typeface="+mn-lt"/>
            </a:endParaRPr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E9F351E7-C6DE-5848-D3CB-18F38D3CE9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8643" y="4162425"/>
            <a:ext cx="632175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B9E3F1A7-F673-1C4B-A38A-552D5172A7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0794" y="4241800"/>
            <a:ext cx="632175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椭圆 104">
            <a:extLst>
              <a:ext uri="{FF2B5EF4-FFF2-40B4-BE49-F238E27FC236}">
                <a16:creationId xmlns:a16="http://schemas.microsoft.com/office/drawing/2014/main" id="{60A4F9E3-CD48-F399-7825-8414EC477106}"/>
              </a:ext>
            </a:extLst>
          </p:cNvPr>
          <p:cNvSpPr/>
          <p:nvPr/>
        </p:nvSpPr>
        <p:spPr>
          <a:xfrm>
            <a:off x="4237369" y="4311651"/>
            <a:ext cx="86582" cy="857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6B77CCB7-D3DE-56FA-E8F3-5B4B0ECBA6F0}"/>
              </a:ext>
            </a:extLst>
          </p:cNvPr>
          <p:cNvSpPr/>
          <p:nvPr/>
        </p:nvSpPr>
        <p:spPr>
          <a:xfrm>
            <a:off x="1033310" y="4419601"/>
            <a:ext cx="86582" cy="857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10A4028A-9D6D-42FE-027C-827646C8FD32}"/>
              </a:ext>
            </a:extLst>
          </p:cNvPr>
          <p:cNvSpPr txBox="1"/>
          <p:nvPr/>
        </p:nvSpPr>
        <p:spPr>
          <a:xfrm>
            <a:off x="7422808" y="1944688"/>
            <a:ext cx="692534" cy="33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53585F"/>
                </a:solidFill>
                <a:cs typeface="+mn-ea"/>
                <a:sym typeface="+mn-lt"/>
              </a:rPr>
              <a:t>60</a:t>
            </a:r>
            <a:endParaRPr lang="zh-CN" altLang="en-US" sz="1600" dirty="0">
              <a:solidFill>
                <a:srgbClr val="53585F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1DF02B-FE14-92FB-6B61-01D59A8CB9C7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7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1" imgH="401" progId="TCLayout.ActiveDocument.1">
                  <p:embed/>
                </p:oleObj>
              </mc:Choice>
              <mc:Fallback>
                <p:oleObj name="think-cell 幻灯片" r:id="rId4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9" name="Chart 3">
            <a:extLst>
              <a:ext uri="{FF2B5EF4-FFF2-40B4-BE49-F238E27FC236}">
                <a16:creationId xmlns:a16="http://schemas.microsoft.com/office/drawing/2014/main" id="{0FA503A8-30BE-0138-C929-9DCCDE5322A8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99897802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97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B92FAB-A900-B766-FC50-C785FB0633A3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3992564" y="5357814"/>
            <a:ext cx="7937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1338" y="5326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6497638" y="458470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3044825" y="5251450"/>
            <a:ext cx="9477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644921"/>
            <a:ext cx="683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664844" y="1356058"/>
            <a:ext cx="10751185" cy="871523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Weaker per-card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performance, requiring optical interconnect  (CPO)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</a:rPr>
              <a:t>of same‑gen GPU throughput​; Cloud ASICs could drive ​</a:t>
            </a:r>
            <a:r>
              <a:rPr lang="en-US" altLang="zh-CN" sz="1600" b="1" dirty="0">
                <a:solidFill>
                  <a:srgbClr val="0052D9"/>
                </a:solidFill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relies more on optical interconnect, and Broadcom attempts to lock in the data center ecosystem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A4C285-896F-0DFD-4932-0E8201E3CFDB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72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536699"/>
            <a:ext cx="1239838" cy="11255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75088"/>
            <a:ext cx="1239838" cy="96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926013"/>
            <a:ext cx="1239838" cy="1495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536700"/>
            <a:ext cx="2376488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86213"/>
            <a:ext cx="3154565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66788"/>
            <a:ext cx="1779588" cy="338138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920751"/>
            <a:ext cx="2054225" cy="366713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946150"/>
            <a:ext cx="2137727" cy="338138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59074"/>
            <a:ext cx="1239838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819275"/>
            <a:ext cx="823686" cy="60483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54200"/>
            <a:ext cx="2284413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830513"/>
            <a:ext cx="1327150" cy="276225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4" y="50117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4133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419350"/>
            <a:ext cx="13271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527175"/>
            <a:ext cx="2660650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54200"/>
            <a:ext cx="3019425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428875"/>
            <a:ext cx="190023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527175"/>
            <a:ext cx="2376488" cy="3524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55863"/>
            <a:ext cx="154622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4" y="1863725"/>
            <a:ext cx="562600" cy="504825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89238"/>
            <a:ext cx="1327150" cy="360363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732089"/>
            <a:ext cx="1327150" cy="474663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833563"/>
            <a:ext cx="509472" cy="61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901825"/>
            <a:ext cx="593795" cy="5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54200"/>
            <a:ext cx="1751013" cy="3397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62313"/>
            <a:ext cx="1239838" cy="522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0" y="3362325"/>
            <a:ext cx="578224" cy="3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349625"/>
            <a:ext cx="437061" cy="347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84550"/>
            <a:ext cx="972347" cy="27781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433763"/>
            <a:ext cx="1062777" cy="17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97250"/>
            <a:ext cx="407038" cy="252413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915988"/>
            <a:ext cx="1000138" cy="25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Startups with a long-term vision in optical: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5EF42A-FF05-05E1-F550-29544BF443A5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94272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Supply chain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substitution: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Fully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acquired by Chinese companies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Robotechnik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2025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8" name="图表 47">
            <a:extLst>
              <a:ext uri="{FF2B5EF4-FFF2-40B4-BE49-F238E27FC236}">
                <a16:creationId xmlns:a16="http://schemas.microsoft.com/office/drawing/2014/main" id="{9CA2B7F5-636B-74F6-F003-C7DBB2589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844640"/>
              </p:ext>
            </p:extLst>
          </p:nvPr>
        </p:nvGraphicFramePr>
        <p:xfrm>
          <a:off x="454479" y="3586145"/>
          <a:ext cx="2076555" cy="174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664059" y="5272220"/>
            <a:ext cx="1657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cs typeface="+mn-ea"/>
                <a:sym typeface="+mn-lt"/>
              </a:rPr>
              <a:t>Micro-assembly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306300" y="2809593"/>
            <a:ext cx="2372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Revenue </a:t>
            </a:r>
            <a:r>
              <a:rPr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reakdown </a:t>
            </a:r>
          </a:p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(23A)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238384CD-D569-DECA-49ED-B8DB7C34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10" y="3422704"/>
            <a:ext cx="2191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Test equipment, etc.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2215615" y="3846837"/>
            <a:ext cx="142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Test-to-repair </a:t>
            </a:r>
          </a:p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All-in-one</a:t>
            </a: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3564491" y="3494016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191" y="4869452"/>
            <a:ext cx="1003077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2371036" y="5757070"/>
            <a:ext cx="1117386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AL-Series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0970" y="3321827"/>
            <a:ext cx="937518" cy="5175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3AB8744-1816-94B2-9C00-3E25E0082394}"/>
              </a:ext>
            </a:extLst>
          </p:cNvPr>
          <p:cNvSpPr txBox="1"/>
          <p:nvPr/>
        </p:nvSpPr>
        <p:spPr>
          <a:xfrm>
            <a:off x="619191" y="1679564"/>
            <a:ext cx="5555903" cy="304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Business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28D85-5C03-3A81-8A26-60B62060D3FB}"/>
              </a:ext>
            </a:extLst>
          </p:cNvPr>
          <p:cNvSpPr txBox="1"/>
          <p:nvPr/>
        </p:nvSpPr>
        <p:spPr>
          <a:xfrm>
            <a:off x="465118" y="188506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线连接符 38">
            <a:extLst>
              <a:ext uri="{FF2B5EF4-FFF2-40B4-BE49-F238E27FC236}">
                <a16:creationId xmlns:a16="http://schemas.microsoft.com/office/drawing/2014/main" id="{4D397C5B-EA4A-5BFE-EB62-89221C1A0084}"/>
              </a:ext>
            </a:extLst>
          </p:cNvPr>
          <p:cNvCxnSpPr>
            <a:cxnSpLocks/>
          </p:cNvCxnSpPr>
          <p:nvPr/>
        </p:nvCxnSpPr>
        <p:spPr>
          <a:xfrm>
            <a:off x="619191" y="20183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678FAE-C347-7B5C-0805-B89964F8FE4C}"/>
              </a:ext>
            </a:extLst>
          </p:cNvPr>
          <p:cNvSpPr txBox="1"/>
          <p:nvPr/>
        </p:nvSpPr>
        <p:spPr>
          <a:xfrm>
            <a:off x="6457309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 gross margin,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3CEA30-6FF6-E99F-B83F-76C060C9C17E}"/>
              </a:ext>
            </a:extLst>
          </p:cNvPr>
          <p:cNvSpPr txBox="1"/>
          <p:nvPr/>
        </p:nvSpPr>
        <p:spPr>
          <a:xfrm>
            <a:off x="6312916" y="284316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10k RMB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35FE7AD-C3DF-BB72-4506-BA46CA52D535}"/>
              </a:ext>
            </a:extLst>
          </p:cNvPr>
          <p:cNvSpPr txBox="1"/>
          <p:nvPr/>
        </p:nvSpPr>
        <p:spPr>
          <a:xfrm>
            <a:off x="6353683" y="1679563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56" name="直线连接符 38">
            <a:extLst>
              <a:ext uri="{FF2B5EF4-FFF2-40B4-BE49-F238E27FC236}">
                <a16:creationId xmlns:a16="http://schemas.microsoft.com/office/drawing/2014/main" id="{2473AB42-4AAF-1784-7998-36E88874E9D2}"/>
              </a:ext>
            </a:extLst>
          </p:cNvPr>
          <p:cNvCxnSpPr>
            <a:cxnSpLocks/>
          </p:cNvCxnSpPr>
          <p:nvPr/>
        </p:nvCxnSpPr>
        <p:spPr>
          <a:xfrm>
            <a:off x="6353683" y="2024325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0B53C94-13C7-3956-68E8-7877258C5FDD}"/>
              </a:ext>
            </a:extLst>
          </p:cNvPr>
          <p:cNvGrpSpPr/>
          <p:nvPr/>
        </p:nvGrpSpPr>
        <p:grpSpPr>
          <a:xfrm>
            <a:off x="3802430" y="3069550"/>
            <a:ext cx="2511560" cy="936606"/>
            <a:chOff x="3647918" y="2836213"/>
            <a:chExt cx="2511560" cy="936606"/>
          </a:xfrm>
        </p:grpSpPr>
        <p:pic>
          <p:nvPicPr>
            <p:cNvPr id="38" name="图像" descr="图像">
              <a:extLst>
                <a:ext uri="{FF2B5EF4-FFF2-40B4-BE49-F238E27FC236}">
                  <a16:creationId xmlns:a16="http://schemas.microsoft.com/office/drawing/2014/main" id="{A8B61700-E71E-052A-6BA8-41360A55A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45104" y="2867316"/>
              <a:ext cx="419582" cy="330421"/>
            </a:xfrm>
            <a:prstGeom prst="rect">
              <a:avLst/>
            </a:prstGeom>
            <a:ln w="12700">
              <a:noFill/>
              <a:miter lim="400000"/>
            </a:ln>
          </p:spPr>
        </p:pic>
        <p:pic>
          <p:nvPicPr>
            <p:cNvPr id="39" name="图像" descr="图像">
              <a:extLst>
                <a:ext uri="{FF2B5EF4-FFF2-40B4-BE49-F238E27FC236}">
                  <a16:creationId xmlns:a16="http://schemas.microsoft.com/office/drawing/2014/main" id="{CE367E1B-9DAB-ED02-2FC5-BCEB6D4E8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20822" y="2836213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728610D-0DBA-4F08-274B-62B2F3CFAFA8}"/>
                </a:ext>
              </a:extLst>
            </p:cNvPr>
            <p:cNvSpPr txBox="1"/>
            <p:nvPr/>
          </p:nvSpPr>
          <p:spPr>
            <a:xfrm>
              <a:off x="3647918" y="3249599"/>
              <a:ext cx="2511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rgbClr val="0052D9"/>
                  </a:solidFill>
                  <a:cs typeface="+mn-ea"/>
                </a:defRPr>
              </a:lvl1pPr>
            </a:lstStyle>
            <a:p>
              <a:r>
                <a:rPr lang="en-US" altLang="zh-CN" dirty="0"/>
                <a:t>Vied for</a:t>
              </a:r>
              <a:r>
                <a:rPr lang="en-US" altLang="zh-CN" b="0" dirty="0">
                  <a:solidFill>
                    <a:schemeClr val="accent6">
                      <a:lumMod val="10000"/>
                    </a:schemeClr>
                  </a:solidFill>
                </a:rPr>
                <a:t> by Nvidia and TSMC</a:t>
              </a:r>
              <a:endParaRPr lang="zh-CN" altLang="en-US" b="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65" name="箭头: 右 64">
            <a:extLst>
              <a:ext uri="{FF2B5EF4-FFF2-40B4-BE49-F238E27FC236}">
                <a16:creationId xmlns:a16="http://schemas.microsoft.com/office/drawing/2014/main" id="{65240450-F863-2893-1A9F-B2636C5A03C8}"/>
              </a:ext>
            </a:extLst>
          </p:cNvPr>
          <p:cNvSpPr/>
          <p:nvPr/>
        </p:nvSpPr>
        <p:spPr>
          <a:xfrm>
            <a:off x="3564491" y="5335404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E3C97A-979B-FBF5-2F6D-9B167B435D75}"/>
              </a:ext>
            </a:extLst>
          </p:cNvPr>
          <p:cNvSpPr txBox="1"/>
          <p:nvPr/>
        </p:nvSpPr>
        <p:spPr>
          <a:xfrm>
            <a:off x="717530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FiconTEC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is the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key supplier of Nvidia, TSMC, and Broadcom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8EB3B42-288D-39FE-3D08-3B0C280A9685}"/>
              </a:ext>
            </a:extLst>
          </p:cNvPr>
          <p:cNvGrpSpPr/>
          <p:nvPr/>
        </p:nvGrpSpPr>
        <p:grpSpPr>
          <a:xfrm>
            <a:off x="3802430" y="4951015"/>
            <a:ext cx="2352330" cy="1134285"/>
            <a:chOff x="3802430" y="4806337"/>
            <a:chExt cx="2352330" cy="1134285"/>
          </a:xfrm>
        </p:grpSpPr>
        <p:pic>
          <p:nvPicPr>
            <p:cNvPr id="13" name="图像" descr="图像">
              <a:extLst>
                <a:ext uri="{FF2B5EF4-FFF2-40B4-BE49-F238E27FC236}">
                  <a16:creationId xmlns:a16="http://schemas.microsoft.com/office/drawing/2014/main" id="{0F55D439-9AF4-9096-3A8C-049DE507D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67728" y="4806337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C032225-D2D2-9620-A8A2-3A2DA8D0F752}"/>
                </a:ext>
              </a:extLst>
            </p:cNvPr>
            <p:cNvGrpSpPr/>
            <p:nvPr/>
          </p:nvGrpSpPr>
          <p:grpSpPr>
            <a:xfrm>
              <a:off x="3802430" y="4813250"/>
              <a:ext cx="2352330" cy="1127372"/>
              <a:chOff x="3802430" y="4813250"/>
              <a:chExt cx="2352330" cy="1127372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00CB502-63EF-FBC8-D378-1D3CD4CB83AB}"/>
                  </a:ext>
                </a:extLst>
              </p:cNvPr>
              <p:cNvGrpSpPr/>
              <p:nvPr/>
            </p:nvGrpSpPr>
            <p:grpSpPr>
              <a:xfrm>
                <a:off x="3802430" y="4813250"/>
                <a:ext cx="2352330" cy="1127372"/>
                <a:chOff x="3413830" y="4553687"/>
                <a:chExt cx="2352330" cy="1127372"/>
              </a:xfrm>
            </p:grpSpPr>
            <p:pic>
              <p:nvPicPr>
                <p:cNvPr id="35" name="图像" descr="图像">
                  <a:extLst>
                    <a:ext uri="{FF2B5EF4-FFF2-40B4-BE49-F238E27FC236}">
                      <a16:creationId xmlns:a16="http://schemas.microsoft.com/office/drawing/2014/main" id="{4E2D8880-945C-EBA6-EF8B-5FF6C5004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5530" y="4553687"/>
                  <a:ext cx="717208" cy="345798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412890-DF33-E443-4B29-DF265BEB8374}"/>
                    </a:ext>
                  </a:extLst>
                </p:cNvPr>
                <p:cNvSpPr txBox="1"/>
                <p:nvPr/>
              </p:nvSpPr>
              <p:spPr>
                <a:xfrm>
                  <a:off x="3413830" y="4942395"/>
                  <a:ext cx="2352330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rgbClr val="0052D9"/>
                      </a:solidFill>
                      <a:cs typeface="+mn-ea"/>
                      <a:sym typeface="+mn-lt"/>
                    </a:rPr>
                    <a:t>Sole supplier </a:t>
                  </a:r>
                  <a:r>
                    <a:rPr lang="en-US" altLang="zh-CN" sz="1400" dirty="0">
                      <a:solidFill>
                        <a:srgbClr val="333333"/>
                      </a:solidFill>
                      <a:cs typeface="+mn-ea"/>
                      <a:sym typeface="+mn-lt"/>
                    </a:rPr>
                    <a:t>of Broadcom’s CPO optical coupling equipment</a:t>
                  </a:r>
                  <a:endParaRPr lang="zh-CN" altLang="en-US" sz="1400" dirty="0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2894F22-D52A-A819-1E38-4BB559596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9804" b="89542" l="9690" r="91860">
                            <a14:foregroundMark x1="10078" y1="40523" x2="10078" y2="40523"/>
                            <a14:foregroundMark x1="20930" y1="37255" x2="20930" y2="37255"/>
                            <a14:foregroundMark x1="32171" y1="35948" x2="32171" y2="35948"/>
                            <a14:foregroundMark x1="40698" y1="37255" x2="40698" y2="37255"/>
                            <a14:foregroundMark x1="52713" y1="39869" x2="52713" y2="39869"/>
                            <a14:foregroundMark x1="60465" y1="35948" x2="60465" y2="35948"/>
                            <a14:foregroundMark x1="72093" y1="30719" x2="72093" y2="30719"/>
                            <a14:foregroundMark x1="81783" y1="36601" x2="81783" y2="36601"/>
                            <a14:foregroundMark x1="91860" y1="40523" x2="91860" y2="40523"/>
                            <a14:foregroundMark x1="23643" y1="68627" x2="23643" y2="68627"/>
                            <a14:foregroundMark x1="35271" y1="75163" x2="35271" y2="75163"/>
                            <a14:foregroundMark x1="45349" y1="71242" x2="45349" y2="71242"/>
                            <a14:foregroundMark x1="58140" y1="73203" x2="58140" y2="73203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433714" y="4846088"/>
                <a:ext cx="482359" cy="286050"/>
              </a:xfrm>
              <a:prstGeom prst="rect">
                <a:avLst/>
              </a:prstGeom>
            </p:spPr>
          </p:pic>
        </p:grpSp>
      </p:grp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1555943"/>
              </p:ext>
            </p:extLst>
          </p:nvPr>
        </p:nvGraphicFramePr>
        <p:xfrm>
          <a:off x="6513081" y="3181720"/>
          <a:ext cx="5196943" cy="294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AC01F34-6918-F0DE-0BE3-974AE1AB1CEC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0771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30864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17">
            <a:extLst>
              <a:ext uri="{FF2B5EF4-FFF2-40B4-BE49-F238E27FC236}">
                <a16:creationId xmlns:a16="http://schemas.microsoft.com/office/drawing/2014/main" id="{8C490B1B-238E-017E-D669-07006FE3DA26}"/>
              </a:ext>
            </a:extLst>
          </p:cNvPr>
          <p:cNvSpPr/>
          <p:nvPr/>
        </p:nvSpPr>
        <p:spPr>
          <a:xfrm>
            <a:off x="1486342" y="1458410"/>
            <a:ext cx="9219315" cy="4074289"/>
          </a:xfrm>
          <a:prstGeom prst="roundRect">
            <a:avLst>
              <a:gd name="adj" fmla="val 5634"/>
            </a:avLst>
          </a:prstGeom>
          <a:noFill/>
          <a:ln w="1270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E03AA-E419-63A9-32E6-F52C6D09B996}"/>
              </a:ext>
            </a:extLst>
          </p:cNvPr>
          <p:cNvSpPr txBox="1"/>
          <p:nvPr/>
        </p:nvSpPr>
        <p:spPr>
          <a:xfrm>
            <a:off x="3161911" y="1898188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Trend: </a:t>
            </a:r>
            <a:r>
              <a:rPr kumimoji="1" lang="en-US" altLang="zh-CN" b="1" dirty="0">
                <a:solidFill>
                  <a:srgbClr val="0052D9"/>
                </a:solidFill>
              </a:rPr>
              <a:t>"Optics-in, Copper-out"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is the established path for high-speed data center interconnects</a:t>
            </a:r>
          </a:p>
        </p:txBody>
      </p:sp>
      <p:pic>
        <p:nvPicPr>
          <p:cNvPr id="10" name="图形 9" descr="共享 纯色填充">
            <a:extLst>
              <a:ext uri="{FF2B5EF4-FFF2-40B4-BE49-F238E27FC236}">
                <a16:creationId xmlns:a16="http://schemas.microsoft.com/office/drawing/2014/main" id="{1A0AA4FC-5BC2-4A38-F831-60802C5A0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6966" y="1818371"/>
            <a:ext cx="699894" cy="699894"/>
          </a:xfrm>
          <a:prstGeom prst="rect">
            <a:avLst/>
          </a:prstGeom>
        </p:spPr>
      </p:pic>
      <p:pic>
        <p:nvPicPr>
          <p:cNvPr id="12" name="图形 11" descr="用路劲指引两个插针 纯色填充">
            <a:extLst>
              <a:ext uri="{FF2B5EF4-FFF2-40B4-BE49-F238E27FC236}">
                <a16:creationId xmlns:a16="http://schemas.microsoft.com/office/drawing/2014/main" id="{C170A57E-BDAC-393D-8725-B1F6AAC501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6965" y="4429110"/>
            <a:ext cx="699896" cy="699896"/>
          </a:xfrm>
          <a:prstGeom prst="rect">
            <a:avLst/>
          </a:prstGeom>
        </p:spPr>
      </p:pic>
      <p:pic>
        <p:nvPicPr>
          <p:cNvPr id="14" name="图形 13" descr="标尺 纯色填充">
            <a:extLst>
              <a:ext uri="{FF2B5EF4-FFF2-40B4-BE49-F238E27FC236}">
                <a16:creationId xmlns:a16="http://schemas.microsoft.com/office/drawing/2014/main" id="{5E661328-186A-EA23-E764-AA71D10314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06966" y="3181982"/>
            <a:ext cx="699895" cy="6998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E636E7-928B-BDEA-FCE7-9E42F07C3B03}"/>
              </a:ext>
            </a:extLst>
          </p:cNvPr>
          <p:cNvSpPr txBox="1"/>
          <p:nvPr/>
        </p:nvSpPr>
        <p:spPr>
          <a:xfrm>
            <a:off x="3161911" y="3169436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Scenario: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Optical interconnect get </a:t>
            </a:r>
            <a:r>
              <a:rPr kumimoji="1" lang="en-US" altLang="zh-CN" b="1" dirty="0">
                <a:solidFill>
                  <a:srgbClr val="0052D9"/>
                </a:solidFill>
              </a:rPr>
              <a:t>adopted first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scale-out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with </a:t>
            </a:r>
            <a:r>
              <a:rPr kumimoji="1" lang="en-US" altLang="zh-CN" b="1" dirty="0">
                <a:solidFill>
                  <a:srgbClr val="0052D9"/>
                </a:solidFill>
              </a:rPr>
              <a:t>accelerated penetration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scale-up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DDAE0B-118D-4952-45B8-0152E35B8061}"/>
              </a:ext>
            </a:extLst>
          </p:cNvPr>
          <p:cNvSpPr txBox="1"/>
          <p:nvPr/>
        </p:nvSpPr>
        <p:spPr>
          <a:xfrm>
            <a:off x="3161911" y="4440684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Roadmap: </a:t>
            </a:r>
            <a:r>
              <a:rPr kumimoji="1" lang="en-US" altLang="zh-CN" b="1" dirty="0">
                <a:solidFill>
                  <a:srgbClr val="0052D9"/>
                </a:solidFill>
              </a:rPr>
              <a:t>CPO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is the </a:t>
            </a:r>
            <a:r>
              <a:rPr kumimoji="1" lang="en-US" altLang="zh-CN" b="1" dirty="0">
                <a:solidFill>
                  <a:srgbClr val="0052D9"/>
                </a:solidFill>
              </a:rPr>
              <a:t>long-term bet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while near-term solution is not determined.​</a:t>
            </a:r>
            <a:endParaRPr kumimoji="1"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43685548825170350540E+00&quot;&gt;&lt;m_msothmcolidx val=&quot;0&quot;/&gt;&lt;m_rgb r=&quot;00&quot; g=&quot;52&quot; b=&quot;D9&quot;/&gt;&lt;/elem&gt;&lt;elem m_fUsage=&quot;3.95779727072462617077E-01&quot;&gt;&lt;m_msothmcolidx val=&quot;0&quot;/&gt;&lt;m_rgb r=&quot;C1&quot; g=&quot;E1&quot; b=&quot;FE&quot;/&gt;&lt;/elem&gt;&lt;elem m_fUsage=&quot;3.43368382029251573151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UTQzoBhYfKti.S8bqS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PbmvvwCBeA25eeGBGVj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67FhgdV43web0IvejAt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lve0.sbqzKr0TGexKu5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eF9BCCx5wZgEvMMmVe6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00ipfqNQf0eKt9E4K6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glj20eGuyFnCPGw2tT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ROSLTjkZmXwbOMRJJz6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xqA8Hyh_Dx7QO7Lblny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UFVBgcMdLpo2LdhDM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oYHXtmpOF9WJvf7wP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C6dv41d8cxAEJ7O8tV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1isQJ8P1QkT9LX5tyA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xTLoqOZY.VknIUBvpLt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mptHrUhQQwiW818cZGo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cZ4ldOFDMyXpbCdiSyc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zDIDKmFT3UUGY2eTaj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51698</TotalTime>
  <Words>3961</Words>
  <Application>Microsoft Office PowerPoint</Application>
  <PresentationFormat>宽屏</PresentationFormat>
  <Paragraphs>994</Paragraphs>
  <Slides>30</Slides>
  <Notes>26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5922</cp:revision>
  <dcterms:created xsi:type="dcterms:W3CDTF">2025-06-16T21:28:33Z</dcterms:created>
  <dcterms:modified xsi:type="dcterms:W3CDTF">2025-10-17T03:24:46Z</dcterms:modified>
</cp:coreProperties>
</file>