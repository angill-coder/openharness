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8.xml" ContentType="application/vnd.openxmlformats-officedocument.presentationml.notesSlide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0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1.xml" ContentType="application/vnd.openxmlformats-officedocument.presentationml.notesSlide+xml"/>
  <Override PartName="/ppt/tags/tag85.xml" ContentType="application/vnd.openxmlformats-officedocument.presentationml.tags+xml"/>
  <Override PartName="/ppt/notesSlides/notesSlide12.xml" ContentType="application/vnd.openxmlformats-officedocument.presentationml.notesSlide+xml"/>
  <Override PartName="/ppt/tags/tag86.xml" ContentType="application/vnd.openxmlformats-officedocument.presentationml.tags+xml"/>
  <Override PartName="/ppt/notesSlides/notesSlide1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4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26.xml" ContentType="application/vnd.openxmlformats-officedocument.presentationml.tags+xml"/>
  <Override PartName="/ppt/notesSlides/notesSlide16.xml" ContentType="application/vnd.openxmlformats-officedocument.presentationml.notesSlide+xml"/>
  <Override PartName="/ppt/tags/tag127.xml" ContentType="application/vnd.openxmlformats-officedocument.presentationml.tags+xml"/>
  <Override PartName="/ppt/notesSlides/notesSlide17.xml" ContentType="application/vnd.openxmlformats-officedocument.presentationml.notesSlide+xml"/>
  <Override PartName="/ppt/tags/tag128.xml" ContentType="application/vnd.openxmlformats-officedocument.presentationml.tags+xml"/>
  <Override PartName="/ppt/notesSlides/notesSlide18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9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1.xml" ContentType="application/vnd.openxmlformats-officedocument.drawingml.chart+xml"/>
  <Override PartName="/ppt/tags/tag192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93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24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25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224.xml" ContentType="application/vnd.openxmlformats-officedocument.presentationml.tags+xml"/>
  <Override PartName="/ppt/notesSlides/notesSlide27.xml" ContentType="application/vnd.openxmlformats-officedocument.presentationml.notesSlide+xml"/>
  <Override PartName="/ppt/tags/tag225.xml" ContentType="application/vnd.openxmlformats-officedocument.presentationml.tags+xml"/>
  <Override PartName="/ppt/notesSlides/notesSlide28.xml" ContentType="application/vnd.openxmlformats-officedocument.presentationml.notesSlide+xml"/>
  <Override PartName="/ppt/tags/tag2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2147473082" r:id="rId12"/>
    <p:sldId id="2147473078" r:id="rId13"/>
    <p:sldId id="334" r:id="rId14"/>
    <p:sldId id="2147473074" r:id="rId15"/>
    <p:sldId id="320" r:id="rId16"/>
    <p:sldId id="364" r:id="rId17"/>
    <p:sldId id="2147473075" r:id="rId18"/>
    <p:sldId id="326" r:id="rId19"/>
    <p:sldId id="315" r:id="rId20"/>
    <p:sldId id="344" r:id="rId21"/>
    <p:sldId id="342" r:id="rId22"/>
    <p:sldId id="367" r:id="rId23"/>
    <p:sldId id="370" r:id="rId24"/>
    <p:sldId id="372" r:id="rId25"/>
    <p:sldId id="327" r:id="rId26"/>
    <p:sldId id="2147473076" r:id="rId27"/>
    <p:sldId id="328" r:id="rId28"/>
    <p:sldId id="331" r:id="rId29"/>
    <p:sldId id="339" r:id="rId30"/>
    <p:sldId id="363" r:id="rId31"/>
    <p:sldId id="2147473077" r:id="rId32"/>
    <p:sldId id="341" r:id="rId33"/>
    <p:sldId id="322" r:id="rId34"/>
    <p:sldId id="283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  <p14:sldId id="362"/>
          </p14:sldIdLst>
        </p14:section>
        <p14:section name="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2.2. CPO has constrains; NPO is Needed" id="{1DFC2E5C-5892-407B-8318-9A8FF74D27C9}">
          <p14:sldIdLst>
            <p14:sldId id="2147473082"/>
            <p14:sldId id="2147473078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75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42"/>
            <p14:sldId id="367"/>
            <p14:sldId id="370"/>
            <p14:sldId id="372"/>
            <p14:sldId id="327"/>
            <p14:sldId id="2147473076"/>
            <p14:sldId id="328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E94D12"/>
    <a:srgbClr val="F2F2F2"/>
    <a:srgbClr val="ECF6FF"/>
    <a:srgbClr val="DDE3F1"/>
    <a:srgbClr val="C1E1FE"/>
    <a:srgbClr val="9ABBFF"/>
    <a:srgbClr val="A6A6A6"/>
    <a:srgbClr val="9A9D9F"/>
    <a:srgbClr val="EB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9" autoAdjust="0"/>
    <p:restoredTop sz="91262" autoAdjust="0"/>
  </p:normalViewPr>
  <p:slideViewPr>
    <p:cSldViewPr snapToGrid="0">
      <p:cViewPr>
        <p:scale>
          <a:sx n="125" d="100"/>
          <a:sy n="125" d="100"/>
        </p:scale>
        <p:origin x="53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56853854203"/>
          <c:y val="7.6243607624360762E-2"/>
          <c:w val="0.87129403557725849"/>
          <c:h val="0.847047884704788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03-432B-AD1E-C42EBAE3B62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3-432B-AD1E-C42EBAE3B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2247759"/>
        <c:axId val="1"/>
      </c:barChart>
      <c:catAx>
        <c:axId val="1712247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2247759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48-4575-B5CF-1CB658B9D019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48-4575-B5CF-1CB658B9D019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348-4575-B5CF-1CB658B9D019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4268379728765169E-2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348-4575-B5CF-1CB658B9D019}"/>
                </c:ext>
              </c:extLst>
            </c:dLbl>
            <c:dLbl>
              <c:idx val="1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348-4575-B5CF-1CB658B9D019}"/>
                </c:ext>
              </c:extLst>
            </c:dLbl>
            <c:dLbl>
              <c:idx val="2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348-4575-B5CF-1CB658B9D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36B-4E1A-88B8-6329369F1BAD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6B-4E1A-88B8-6329369F1BA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36B-4E1A-88B8-6329369F1BAD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36B-4E1A-88B8-6329369F1BAD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36B-4E1A-88B8-6329369F1BAD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36B-4E1A-88B8-6329369F1B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6B-4E1A-88B8-6329369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3899-E58D-4544-83CD-A08957EF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9D700C-F719-AAD4-3EB4-44C2DEA53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AFFDF1-2B37-95BA-C7CF-B4F54C1BA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D15356-A1D5-F2E8-1B1E-506F6CD91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57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1F68-11FD-1292-EC7D-18A6CDC7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8CD9AD-DE28-1BFD-E2F7-7F627DBB5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8FC3CB-D7FE-3D98-3487-48DE61C97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7E4A2A-D3F8-78B6-DE17-4661656A8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164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656E-EAEA-8D4A-1CED-12B29598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475089-A630-7400-0A7F-2EDDD8BE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7CFBF1-A7DD-97D5-1C46-06E719797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BC9FA-B046-79AD-EAB1-CE96EA49F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850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13.xml"/><Relationship Id="rId21" Type="http://schemas.openxmlformats.org/officeDocument/2006/relationships/chart" Target="../charts/chart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oleObject" Target="../embeddings/oleObject6.bin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29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.xml"/><Relationship Id="rId10" Type="http://schemas.openxmlformats.org/officeDocument/2006/relationships/chart" Target="../charts/chart3.xml"/><Relationship Id="rId4" Type="http://schemas.openxmlformats.org/officeDocument/2006/relationships/tags" Target="../tags/tag30.xml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1" Type="http://schemas.openxmlformats.org/officeDocument/2006/relationships/image" Target="../media/image8.emf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oleObject" Target="../embeddings/oleObject8.bin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notesSlide" Target="../notesSlides/notesSlide7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26" Type="http://schemas.openxmlformats.org/officeDocument/2006/relationships/image" Target="../media/image19.png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5" Type="http://schemas.openxmlformats.org/officeDocument/2006/relationships/image" Target="../media/image18.emf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29" Type="http://schemas.openxmlformats.org/officeDocument/2006/relationships/image" Target="../media/image22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oleObject" Target="../embeddings/oleObject9.bin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notesSlide" Target="../notesSlides/notesSlide8.xml"/><Relationship Id="rId28" Type="http://schemas.openxmlformats.org/officeDocument/2006/relationships/image" Target="../media/image21.png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9.png"/><Relationship Id="rId3" Type="http://schemas.openxmlformats.org/officeDocument/2006/relationships/tags" Target="../tags/tag73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25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75.xml"/><Relationship Id="rId1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tags" Target="../tags/tag74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image" Target="../media/image18.emf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8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6" Type="http://schemas.openxmlformats.org/officeDocument/2006/relationships/image" Target="../media/image26.png"/><Relationship Id="rId11" Type="http://schemas.microsoft.com/office/2007/relationships/hdphoto" Target="../media/hdphoto4.wdp"/><Relationship Id="rId5" Type="http://schemas.openxmlformats.org/officeDocument/2006/relationships/image" Target="../media/image8.e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14.bin"/><Relationship Id="rId9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15.bin"/><Relationship Id="rId7" Type="http://schemas.microsoft.com/office/2007/relationships/hdphoto" Target="../media/hdphoto5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Relationship Id="rId6" Type="http://schemas.openxmlformats.org/officeDocument/2006/relationships/image" Target="../media/image29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1.png"/><Relationship Id="rId4" Type="http://schemas.openxmlformats.org/officeDocument/2006/relationships/image" Target="../media/image8.emf"/><Relationship Id="rId9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5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12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6" Type="http://schemas.openxmlformats.org/officeDocument/2006/relationships/image" Target="../media/image9.png"/><Relationship Id="rId11" Type="http://schemas.openxmlformats.org/officeDocument/2006/relationships/image" Target="../media/image33.png"/><Relationship Id="rId5" Type="http://schemas.openxmlformats.org/officeDocument/2006/relationships/image" Target="../media/image8.emf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6.png"/><Relationship Id="rId1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9" Type="http://schemas.openxmlformats.org/officeDocument/2006/relationships/notesSlide" Target="../notesSlides/notesSlide15.xml"/><Relationship Id="rId21" Type="http://schemas.openxmlformats.org/officeDocument/2006/relationships/tags" Target="../tags/tag109.xml"/><Relationship Id="rId34" Type="http://schemas.openxmlformats.org/officeDocument/2006/relationships/tags" Target="../tags/tag122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tags" Target="../tags/tag120.xml"/><Relationship Id="rId37" Type="http://schemas.openxmlformats.org/officeDocument/2006/relationships/tags" Target="../tags/tag125.xml"/><Relationship Id="rId40" Type="http://schemas.openxmlformats.org/officeDocument/2006/relationships/oleObject" Target="../embeddings/oleObject17.bin"/><Relationship Id="rId45" Type="http://schemas.openxmlformats.org/officeDocument/2006/relationships/image" Target="../media/image38.png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36" Type="http://schemas.openxmlformats.org/officeDocument/2006/relationships/tags" Target="../tags/tag124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tags" Target="../tags/tag119.xml"/><Relationship Id="rId44" Type="http://schemas.openxmlformats.org/officeDocument/2006/relationships/chart" Target="../charts/chart7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Relationship Id="rId35" Type="http://schemas.openxmlformats.org/officeDocument/2006/relationships/tags" Target="../tags/tag123.xml"/><Relationship Id="rId43" Type="http://schemas.openxmlformats.org/officeDocument/2006/relationships/chart" Target="../charts/chart6.xml"/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33" Type="http://schemas.openxmlformats.org/officeDocument/2006/relationships/tags" Target="../tags/tag121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108.xml"/><Relationship Id="rId41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Relationship Id="rId6" Type="http://schemas.openxmlformats.org/officeDocument/2006/relationships/image" Target="../media/image3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7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Relationship Id="rId6" Type="http://schemas.openxmlformats.org/officeDocument/2006/relationships/image" Target="../media/image43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46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Relationship Id="rId6" Type="http://schemas.openxmlformats.org/officeDocument/2006/relationships/image" Target="../media/image19.png"/><Relationship Id="rId11" Type="http://schemas.openxmlformats.org/officeDocument/2006/relationships/image" Target="../media/image50.png"/><Relationship Id="rId5" Type="http://schemas.openxmlformats.org/officeDocument/2006/relationships/image" Target="../media/image8.emf"/><Relationship Id="rId10" Type="http://schemas.openxmlformats.org/officeDocument/2006/relationships/image" Target="../media/image49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png"/><Relationship Id="rId1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2.png"/><Relationship Id="rId42" Type="http://schemas.openxmlformats.org/officeDocument/2006/relationships/image" Target="../media/image31.png"/><Relationship Id="rId47" Type="http://schemas.openxmlformats.org/officeDocument/2006/relationships/image" Target="../media/image77.png"/><Relationship Id="rId63" Type="http://schemas.microsoft.com/office/2007/relationships/hdphoto" Target="../media/hdphoto29.wdp"/><Relationship Id="rId68" Type="http://schemas.openxmlformats.org/officeDocument/2006/relationships/image" Target="../media/image86.png"/><Relationship Id="rId16" Type="http://schemas.openxmlformats.org/officeDocument/2006/relationships/image" Target="../media/image59.png"/><Relationship Id="rId11" Type="http://schemas.microsoft.com/office/2007/relationships/hdphoto" Target="../media/hdphoto12.wdp"/><Relationship Id="rId32" Type="http://schemas.openxmlformats.org/officeDocument/2006/relationships/image" Target="../media/image69.png"/><Relationship Id="rId37" Type="http://schemas.openxmlformats.org/officeDocument/2006/relationships/image" Target="../media/image72.png"/><Relationship Id="rId53" Type="http://schemas.openxmlformats.org/officeDocument/2006/relationships/image" Target="../media/image30.png"/><Relationship Id="rId58" Type="http://schemas.openxmlformats.org/officeDocument/2006/relationships/image" Target="../media/image81.png"/><Relationship Id="rId74" Type="http://schemas.microsoft.com/office/2007/relationships/hdphoto" Target="../media/hdphoto33.wdp"/><Relationship Id="rId79" Type="http://schemas.openxmlformats.org/officeDocument/2006/relationships/image" Target="../media/image92.png"/><Relationship Id="rId5" Type="http://schemas.openxmlformats.org/officeDocument/2006/relationships/image" Target="../media/image53.png"/><Relationship Id="rId61" Type="http://schemas.microsoft.com/office/2007/relationships/hdphoto" Target="../media/hdphoto28.wdp"/><Relationship Id="rId82" Type="http://schemas.microsoft.com/office/2007/relationships/hdphoto" Target="../media/hdphoto37.wdp"/><Relationship Id="rId19" Type="http://schemas.openxmlformats.org/officeDocument/2006/relationships/image" Target="../media/image20.png"/><Relationship Id="rId14" Type="http://schemas.openxmlformats.org/officeDocument/2006/relationships/image" Target="../media/image58.png"/><Relationship Id="rId22" Type="http://schemas.openxmlformats.org/officeDocument/2006/relationships/image" Target="../media/image63.png"/><Relationship Id="rId27" Type="http://schemas.openxmlformats.org/officeDocument/2006/relationships/image" Target="../media/image66.png"/><Relationship Id="rId30" Type="http://schemas.openxmlformats.org/officeDocument/2006/relationships/image" Target="../media/image68.png"/><Relationship Id="rId35" Type="http://schemas.microsoft.com/office/2007/relationships/hdphoto" Target="../media/hdphoto20.wdp"/><Relationship Id="rId43" Type="http://schemas.openxmlformats.org/officeDocument/2006/relationships/image" Target="../media/image75.png"/><Relationship Id="rId48" Type="http://schemas.microsoft.com/office/2007/relationships/hdphoto" Target="../media/hdphoto24.wdp"/><Relationship Id="rId56" Type="http://schemas.microsoft.com/office/2007/relationships/hdphoto" Target="../media/hdphoto26.wdp"/><Relationship Id="rId64" Type="http://schemas.openxmlformats.org/officeDocument/2006/relationships/image" Target="../media/image84.png"/><Relationship Id="rId69" Type="http://schemas.microsoft.com/office/2007/relationships/hdphoto" Target="../media/hdphoto32.wdp"/><Relationship Id="rId77" Type="http://schemas.openxmlformats.org/officeDocument/2006/relationships/image" Target="../media/image91.png"/><Relationship Id="rId8" Type="http://schemas.openxmlformats.org/officeDocument/2006/relationships/image" Target="../media/image55.png"/><Relationship Id="rId51" Type="http://schemas.openxmlformats.org/officeDocument/2006/relationships/image" Target="../media/image29.png"/><Relationship Id="rId72" Type="http://schemas.openxmlformats.org/officeDocument/2006/relationships/image" Target="../media/image88.png"/><Relationship Id="rId80" Type="http://schemas.microsoft.com/office/2007/relationships/hdphoto" Target="../media/hdphoto36.wdp"/><Relationship Id="rId3" Type="http://schemas.openxmlformats.org/officeDocument/2006/relationships/oleObject" Target="../embeddings/oleObject21.bin"/><Relationship Id="rId12" Type="http://schemas.openxmlformats.org/officeDocument/2006/relationships/image" Target="../media/image57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3.png"/><Relationship Id="rId46" Type="http://schemas.microsoft.com/office/2007/relationships/hdphoto" Target="../media/hdphoto23.wdp"/><Relationship Id="rId59" Type="http://schemas.microsoft.com/office/2007/relationships/hdphoto" Target="../media/hdphoto27.wdp"/><Relationship Id="rId67" Type="http://schemas.microsoft.com/office/2007/relationships/hdphoto" Target="../media/hdphoto31.wdp"/><Relationship Id="rId20" Type="http://schemas.openxmlformats.org/officeDocument/2006/relationships/image" Target="../media/image61.png"/><Relationship Id="rId41" Type="http://schemas.microsoft.com/office/2007/relationships/hdphoto" Target="../media/hdphoto21.wdp"/><Relationship Id="rId54" Type="http://schemas.microsoft.com/office/2007/relationships/hdphoto" Target="../media/hdphoto6.wdp"/><Relationship Id="rId62" Type="http://schemas.openxmlformats.org/officeDocument/2006/relationships/image" Target="../media/image83.png"/><Relationship Id="rId70" Type="http://schemas.openxmlformats.org/officeDocument/2006/relationships/image" Target="../media/image47.png"/><Relationship Id="rId75" Type="http://schemas.openxmlformats.org/officeDocument/2006/relationships/image" Target="../media/image90.png"/><Relationship Id="rId83" Type="http://schemas.openxmlformats.org/officeDocument/2006/relationships/image" Target="../media/image94.png"/><Relationship Id="rId1" Type="http://schemas.openxmlformats.org/officeDocument/2006/relationships/tags" Target="../tags/tag129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1.png"/><Relationship Id="rId49" Type="http://schemas.openxmlformats.org/officeDocument/2006/relationships/image" Target="../media/image78.png"/><Relationship Id="rId57" Type="http://schemas.openxmlformats.org/officeDocument/2006/relationships/image" Target="../media/image80.png"/><Relationship Id="rId10" Type="http://schemas.openxmlformats.org/officeDocument/2006/relationships/image" Target="../media/image56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5.wdp"/><Relationship Id="rId60" Type="http://schemas.openxmlformats.org/officeDocument/2006/relationships/image" Target="../media/image82.png"/><Relationship Id="rId65" Type="http://schemas.microsoft.com/office/2007/relationships/hdphoto" Target="../media/hdphoto30.wdp"/><Relationship Id="rId73" Type="http://schemas.openxmlformats.org/officeDocument/2006/relationships/image" Target="../media/image89.png"/><Relationship Id="rId78" Type="http://schemas.microsoft.com/office/2007/relationships/hdphoto" Target="../media/hdphoto35.wdp"/><Relationship Id="rId81" Type="http://schemas.openxmlformats.org/officeDocument/2006/relationships/image" Target="../media/image93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19.png"/><Relationship Id="rId18" Type="http://schemas.openxmlformats.org/officeDocument/2006/relationships/image" Target="../media/image60.png"/><Relationship Id="rId39" Type="http://schemas.openxmlformats.org/officeDocument/2006/relationships/image" Target="../media/image49.png"/><Relationship Id="rId34" Type="http://schemas.openxmlformats.org/officeDocument/2006/relationships/image" Target="../media/image70.png"/><Relationship Id="rId50" Type="http://schemas.microsoft.com/office/2007/relationships/hdphoto" Target="../media/hdphoto25.wdp"/><Relationship Id="rId55" Type="http://schemas.openxmlformats.org/officeDocument/2006/relationships/image" Target="../media/image79.png"/><Relationship Id="rId76" Type="http://schemas.microsoft.com/office/2007/relationships/hdphoto" Target="../media/hdphoto34.wdp"/><Relationship Id="rId7" Type="http://schemas.openxmlformats.org/officeDocument/2006/relationships/image" Target="../media/image54.png"/><Relationship Id="rId71" Type="http://schemas.openxmlformats.org/officeDocument/2006/relationships/image" Target="../media/image87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7.png"/><Relationship Id="rId24" Type="http://schemas.openxmlformats.org/officeDocument/2006/relationships/image" Target="../media/image64.png"/><Relationship Id="rId40" Type="http://schemas.openxmlformats.org/officeDocument/2006/relationships/image" Target="../media/image74.png"/><Relationship Id="rId45" Type="http://schemas.openxmlformats.org/officeDocument/2006/relationships/image" Target="../media/image76.png"/><Relationship Id="rId66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5.png"/><Relationship Id="rId18" Type="http://schemas.openxmlformats.org/officeDocument/2006/relationships/image" Target="../media/image97.png"/><Relationship Id="rId26" Type="http://schemas.openxmlformats.org/officeDocument/2006/relationships/image" Target="../media/image78.png"/><Relationship Id="rId3" Type="http://schemas.openxmlformats.org/officeDocument/2006/relationships/tags" Target="../tags/tag133.xml"/><Relationship Id="rId21" Type="http://schemas.microsoft.com/office/2007/relationships/hdphoto" Target="../media/hdphoto39.wdp"/><Relationship Id="rId7" Type="http://schemas.openxmlformats.org/officeDocument/2006/relationships/image" Target="../media/image49.png"/><Relationship Id="rId12" Type="http://schemas.openxmlformats.org/officeDocument/2006/relationships/image" Target="../media/image57.png"/><Relationship Id="rId17" Type="http://schemas.openxmlformats.org/officeDocument/2006/relationships/image" Target="../media/image31.png"/><Relationship Id="rId25" Type="http://schemas.openxmlformats.org/officeDocument/2006/relationships/image" Target="../media/image99.png"/><Relationship Id="rId2" Type="http://schemas.openxmlformats.org/officeDocument/2006/relationships/tags" Target="../tags/tag132.xml"/><Relationship Id="rId16" Type="http://schemas.microsoft.com/office/2007/relationships/hdphoto" Target="../media/hdphoto23.wdp"/><Relationship Id="rId20" Type="http://schemas.openxmlformats.org/officeDocument/2006/relationships/image" Target="../media/image98.png"/><Relationship Id="rId1" Type="http://schemas.openxmlformats.org/officeDocument/2006/relationships/tags" Target="../tags/tag131.xml"/><Relationship Id="rId6" Type="http://schemas.openxmlformats.org/officeDocument/2006/relationships/image" Target="../media/image18.emf"/><Relationship Id="rId11" Type="http://schemas.openxmlformats.org/officeDocument/2006/relationships/image" Target="../media/image19.png"/><Relationship Id="rId24" Type="http://schemas.openxmlformats.org/officeDocument/2006/relationships/image" Target="../media/image71.png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76.png"/><Relationship Id="rId23" Type="http://schemas.microsoft.com/office/2007/relationships/hdphoto" Target="../media/hdphoto34.wdp"/><Relationship Id="rId10" Type="http://schemas.openxmlformats.org/officeDocument/2006/relationships/image" Target="../media/image87.png"/><Relationship Id="rId19" Type="http://schemas.microsoft.com/office/2007/relationships/hdphoto" Target="../media/hdphoto38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6.png"/><Relationship Id="rId14" Type="http://schemas.microsoft.com/office/2007/relationships/hdphoto" Target="../media/hdphoto22.wdp"/><Relationship Id="rId22" Type="http://schemas.openxmlformats.org/officeDocument/2006/relationships/image" Target="../media/image90.png"/><Relationship Id="rId27" Type="http://schemas.microsoft.com/office/2007/relationships/hdphoto" Target="../media/hdphoto25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chart" Target="../charts/chart9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image" Target="../media/image18.emf"/><Relationship Id="rId2" Type="http://schemas.openxmlformats.org/officeDocument/2006/relationships/tags" Target="../tags/tag135.xml"/><Relationship Id="rId16" Type="http://schemas.openxmlformats.org/officeDocument/2006/relationships/oleObject" Target="../embeddings/oleObject24.bin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5" Type="http://schemas.openxmlformats.org/officeDocument/2006/relationships/notesSlide" Target="../notesSlides/notesSlide20.xml"/><Relationship Id="rId10" Type="http://schemas.openxmlformats.org/officeDocument/2006/relationships/tags" Target="../tags/tag143.xml"/><Relationship Id="rId19" Type="http://schemas.openxmlformats.org/officeDocument/2006/relationships/chart" Target="../charts/chart10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9" Type="http://schemas.openxmlformats.org/officeDocument/2006/relationships/tags" Target="../tags/tag185.xml"/><Relationship Id="rId21" Type="http://schemas.openxmlformats.org/officeDocument/2006/relationships/tags" Target="../tags/tag167.xml"/><Relationship Id="rId34" Type="http://schemas.openxmlformats.org/officeDocument/2006/relationships/tags" Target="../tags/tag180.xml"/><Relationship Id="rId42" Type="http://schemas.openxmlformats.org/officeDocument/2006/relationships/tags" Target="../tags/tag188.xml"/><Relationship Id="rId47" Type="http://schemas.openxmlformats.org/officeDocument/2006/relationships/notesSlide" Target="../notesSlides/notesSlide21.xml"/><Relationship Id="rId50" Type="http://schemas.openxmlformats.org/officeDocument/2006/relationships/chart" Target="../charts/chart11.xml"/><Relationship Id="rId7" Type="http://schemas.openxmlformats.org/officeDocument/2006/relationships/tags" Target="../tags/tag153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9" Type="http://schemas.openxmlformats.org/officeDocument/2006/relationships/tags" Target="../tags/tag175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32" Type="http://schemas.openxmlformats.org/officeDocument/2006/relationships/tags" Target="../tags/tag178.xml"/><Relationship Id="rId37" Type="http://schemas.openxmlformats.org/officeDocument/2006/relationships/tags" Target="../tags/tag183.xml"/><Relationship Id="rId40" Type="http://schemas.openxmlformats.org/officeDocument/2006/relationships/tags" Target="../tags/tag186.xml"/><Relationship Id="rId45" Type="http://schemas.openxmlformats.org/officeDocument/2006/relationships/tags" Target="../tags/tag191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36" Type="http://schemas.openxmlformats.org/officeDocument/2006/relationships/tags" Target="../tags/tag182.xml"/><Relationship Id="rId49" Type="http://schemas.openxmlformats.org/officeDocument/2006/relationships/image" Target="../media/image18.emf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tags" Target="../tags/tag177.xml"/><Relationship Id="rId44" Type="http://schemas.openxmlformats.org/officeDocument/2006/relationships/tags" Target="../tags/tag190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tags" Target="../tags/tag176.xml"/><Relationship Id="rId35" Type="http://schemas.openxmlformats.org/officeDocument/2006/relationships/tags" Target="../tags/tag181.xml"/><Relationship Id="rId43" Type="http://schemas.openxmlformats.org/officeDocument/2006/relationships/tags" Target="../tags/tag189.xml"/><Relationship Id="rId48" Type="http://schemas.openxmlformats.org/officeDocument/2006/relationships/oleObject" Target="../embeddings/oleObject25.bin"/><Relationship Id="rId8" Type="http://schemas.openxmlformats.org/officeDocument/2006/relationships/tags" Target="../tags/tag154.xml"/><Relationship Id="rId3" Type="http://schemas.openxmlformats.org/officeDocument/2006/relationships/tags" Target="../tags/tag149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33" Type="http://schemas.openxmlformats.org/officeDocument/2006/relationships/tags" Target="../tags/tag179.xml"/><Relationship Id="rId38" Type="http://schemas.openxmlformats.org/officeDocument/2006/relationships/tags" Target="../tags/tag184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66.xml"/><Relationship Id="rId41" Type="http://schemas.openxmlformats.org/officeDocument/2006/relationships/tags" Target="../tags/tag187.xml"/><Relationship Id="rId1" Type="http://schemas.openxmlformats.org/officeDocument/2006/relationships/tags" Target="../tags/tag147.xml"/><Relationship Id="rId6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2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6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03.svg"/><Relationship Id="rId12" Type="http://schemas.openxmlformats.org/officeDocument/2006/relationships/image" Target="../media/image19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8.png"/><Relationship Id="rId1" Type="http://schemas.openxmlformats.org/officeDocument/2006/relationships/tags" Target="../tags/tag193.xml"/><Relationship Id="rId6" Type="http://schemas.openxmlformats.org/officeDocument/2006/relationships/image" Target="../media/image102.png"/><Relationship Id="rId11" Type="http://schemas.openxmlformats.org/officeDocument/2006/relationships/chart" Target="../charts/chart14.xml"/><Relationship Id="rId5" Type="http://schemas.openxmlformats.org/officeDocument/2006/relationships/image" Target="../media/image18.emf"/><Relationship Id="rId15" Type="http://schemas.openxmlformats.org/officeDocument/2006/relationships/image" Target="../media/image95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05.svg"/><Relationship Id="rId14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tags" Target="../tags/tag196.xml"/><Relationship Id="rId21" Type="http://schemas.openxmlformats.org/officeDocument/2006/relationships/image" Target="../media/image116.png"/><Relationship Id="rId7" Type="http://schemas.openxmlformats.org/officeDocument/2006/relationships/tags" Target="../tags/tag200.xml"/><Relationship Id="rId12" Type="http://schemas.openxmlformats.org/officeDocument/2006/relationships/image" Target="../media/image54.png"/><Relationship Id="rId17" Type="http://schemas.openxmlformats.org/officeDocument/2006/relationships/image" Target="../media/image113.png"/><Relationship Id="rId25" Type="http://schemas.openxmlformats.org/officeDocument/2006/relationships/image" Target="../media/image118.png"/><Relationship Id="rId2" Type="http://schemas.openxmlformats.org/officeDocument/2006/relationships/tags" Target="../tags/tag195.xml"/><Relationship Id="rId16" Type="http://schemas.openxmlformats.org/officeDocument/2006/relationships/image" Target="../media/image112.jpeg"/><Relationship Id="rId20" Type="http://schemas.openxmlformats.org/officeDocument/2006/relationships/image" Target="../media/image57.png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18.emf"/><Relationship Id="rId24" Type="http://schemas.openxmlformats.org/officeDocument/2006/relationships/image" Target="../media/image117.png"/><Relationship Id="rId5" Type="http://schemas.openxmlformats.org/officeDocument/2006/relationships/tags" Target="../tags/tag198.xml"/><Relationship Id="rId15" Type="http://schemas.openxmlformats.org/officeDocument/2006/relationships/image" Target="../media/image111.png"/><Relationship Id="rId23" Type="http://schemas.microsoft.com/office/2007/relationships/hdphoto" Target="../media/hdphoto38.wdp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115.png"/><Relationship Id="rId4" Type="http://schemas.openxmlformats.org/officeDocument/2006/relationships/tags" Target="../tags/tag197.xml"/><Relationship Id="rId9" Type="http://schemas.openxmlformats.org/officeDocument/2006/relationships/notesSlide" Target="../notesSlides/notesSlide24.xml"/><Relationship Id="rId14" Type="http://schemas.openxmlformats.org/officeDocument/2006/relationships/image" Target="../media/image110.png"/><Relationship Id="rId22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Relationship Id="rId4" Type="http://schemas.openxmlformats.org/officeDocument/2006/relationships/image" Target="../media/image1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20.png"/><Relationship Id="rId12" Type="http://schemas.openxmlformats.org/officeDocument/2006/relationships/image" Target="../media/image1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6" Type="http://schemas.openxmlformats.org/officeDocument/2006/relationships/image" Target="../media/image119.png"/><Relationship Id="rId11" Type="http://schemas.openxmlformats.org/officeDocument/2006/relationships/image" Target="../media/image122.png"/><Relationship Id="rId5" Type="http://schemas.openxmlformats.org/officeDocument/2006/relationships/image" Target="../media/image8.emf"/><Relationship Id="rId10" Type="http://schemas.openxmlformats.org/officeDocument/2006/relationships/image" Target="../media/image121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tags" Target="../tags/tag220.xml"/><Relationship Id="rId26" Type="http://schemas.openxmlformats.org/officeDocument/2006/relationships/chart" Target="../charts/chart16.xml"/><Relationship Id="rId3" Type="http://schemas.openxmlformats.org/officeDocument/2006/relationships/tags" Target="../tags/tag205.xml"/><Relationship Id="rId21" Type="http://schemas.openxmlformats.org/officeDocument/2006/relationships/tags" Target="../tags/tag223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5" Type="http://schemas.openxmlformats.org/officeDocument/2006/relationships/image" Target="../media/image8.emf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openxmlformats.org/officeDocument/2006/relationships/tags" Target="../tags/tag222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24" Type="http://schemas.openxmlformats.org/officeDocument/2006/relationships/oleObject" Target="../embeddings/oleObject31.bin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23" Type="http://schemas.openxmlformats.org/officeDocument/2006/relationships/notesSlide" Target="../notesSlides/notesSlide26.xml"/><Relationship Id="rId10" Type="http://schemas.openxmlformats.org/officeDocument/2006/relationships/tags" Target="../tags/tag212.xml"/><Relationship Id="rId19" Type="http://schemas.openxmlformats.org/officeDocument/2006/relationships/tags" Target="../tags/tag221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9.png"/><Relationship Id="rId12" Type="http://schemas.openxmlformats.org/officeDocument/2006/relationships/image" Target="../media/image96.png"/><Relationship Id="rId17" Type="http://schemas.openxmlformats.org/officeDocument/2006/relationships/image" Target="../media/image13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9.png"/><Relationship Id="rId1" Type="http://schemas.openxmlformats.org/officeDocument/2006/relationships/tags" Target="../tags/tag225.xml"/><Relationship Id="rId6" Type="http://schemas.openxmlformats.org/officeDocument/2006/relationships/image" Target="../media/image124.png"/><Relationship Id="rId11" Type="http://schemas.openxmlformats.org/officeDocument/2006/relationships/image" Target="../media/image125.png"/><Relationship Id="rId5" Type="http://schemas.openxmlformats.org/officeDocument/2006/relationships/image" Target="../media/image18.emf"/><Relationship Id="rId15" Type="http://schemas.openxmlformats.org/officeDocument/2006/relationships/image" Target="../media/image128.png"/><Relationship Id="rId10" Type="http://schemas.openxmlformats.org/officeDocument/2006/relationships/image" Target="../media/image49.png"/><Relationship Id="rId19" Type="http://schemas.openxmlformats.org/officeDocument/2006/relationships/image" Target="../media/image132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72.png"/><Relationship Id="rId14" Type="http://schemas.openxmlformats.org/officeDocument/2006/relationships/image" Target="../media/image127.jpe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png"/><Relationship Id="rId18" Type="http://schemas.openxmlformats.org/officeDocument/2006/relationships/image" Target="../media/image139.png"/><Relationship Id="rId26" Type="http://schemas.openxmlformats.org/officeDocument/2006/relationships/image" Target="../media/image145.png"/><Relationship Id="rId39" Type="http://schemas.openxmlformats.org/officeDocument/2006/relationships/image" Target="../media/image155.png"/><Relationship Id="rId21" Type="http://schemas.openxmlformats.org/officeDocument/2006/relationships/image" Target="../media/image142.png"/><Relationship Id="rId34" Type="http://schemas.openxmlformats.org/officeDocument/2006/relationships/image" Target="../media/image73.png"/><Relationship Id="rId42" Type="http://schemas.openxmlformats.org/officeDocument/2006/relationships/image" Target="../media/image157.png"/><Relationship Id="rId47" Type="http://schemas.openxmlformats.org/officeDocument/2006/relationships/image" Target="../media/image161.png"/><Relationship Id="rId50" Type="http://schemas.openxmlformats.org/officeDocument/2006/relationships/image" Target="../media/image61.png"/><Relationship Id="rId55" Type="http://schemas.openxmlformats.org/officeDocument/2006/relationships/image" Target="../media/image167.png"/><Relationship Id="rId63" Type="http://schemas.openxmlformats.org/officeDocument/2006/relationships/image" Target="../media/image174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png"/><Relationship Id="rId29" Type="http://schemas.openxmlformats.org/officeDocument/2006/relationships/image" Target="../media/image148.png"/><Relationship Id="rId11" Type="http://schemas.openxmlformats.org/officeDocument/2006/relationships/image" Target="../media/image20.png"/><Relationship Id="rId24" Type="http://schemas.openxmlformats.org/officeDocument/2006/relationships/image" Target="../media/image143.png"/><Relationship Id="rId32" Type="http://schemas.openxmlformats.org/officeDocument/2006/relationships/image" Target="../media/image72.png"/><Relationship Id="rId37" Type="http://schemas.openxmlformats.org/officeDocument/2006/relationships/image" Target="../media/image153.png"/><Relationship Id="rId40" Type="http://schemas.openxmlformats.org/officeDocument/2006/relationships/image" Target="../media/image156.png"/><Relationship Id="rId45" Type="http://schemas.openxmlformats.org/officeDocument/2006/relationships/image" Target="../media/image159.png"/><Relationship Id="rId53" Type="http://schemas.openxmlformats.org/officeDocument/2006/relationships/image" Target="../media/image165.png"/><Relationship Id="rId58" Type="http://schemas.openxmlformats.org/officeDocument/2006/relationships/image" Target="../media/image170.png"/><Relationship Id="rId5" Type="http://schemas.openxmlformats.org/officeDocument/2006/relationships/image" Target="../media/image133.png"/><Relationship Id="rId61" Type="http://schemas.openxmlformats.org/officeDocument/2006/relationships/image" Target="../media/image60.png"/><Relationship Id="rId19" Type="http://schemas.openxmlformats.org/officeDocument/2006/relationships/image" Target="../media/image140.png"/><Relationship Id="rId14" Type="http://schemas.openxmlformats.org/officeDocument/2006/relationships/image" Target="../media/image137.png"/><Relationship Id="rId22" Type="http://schemas.openxmlformats.org/officeDocument/2006/relationships/image" Target="../media/image87.png"/><Relationship Id="rId27" Type="http://schemas.openxmlformats.org/officeDocument/2006/relationships/image" Target="../media/image146.png"/><Relationship Id="rId30" Type="http://schemas.openxmlformats.org/officeDocument/2006/relationships/image" Target="../media/image149.png"/><Relationship Id="rId35" Type="http://schemas.openxmlformats.org/officeDocument/2006/relationships/image" Target="../media/image151.png"/><Relationship Id="rId43" Type="http://schemas.openxmlformats.org/officeDocument/2006/relationships/image" Target="../media/image49.png"/><Relationship Id="rId48" Type="http://schemas.openxmlformats.org/officeDocument/2006/relationships/image" Target="../media/image162.png"/><Relationship Id="rId56" Type="http://schemas.openxmlformats.org/officeDocument/2006/relationships/image" Target="../media/image168.png"/><Relationship Id="rId8" Type="http://schemas.openxmlformats.org/officeDocument/2006/relationships/image" Target="../media/image135.png"/><Relationship Id="rId51" Type="http://schemas.openxmlformats.org/officeDocument/2006/relationships/image" Target="../media/image163.png"/><Relationship Id="rId3" Type="http://schemas.openxmlformats.org/officeDocument/2006/relationships/oleObject" Target="../embeddings/oleObject34.bin"/><Relationship Id="rId12" Type="http://schemas.openxmlformats.org/officeDocument/2006/relationships/image" Target="../media/image124.png"/><Relationship Id="rId17" Type="http://schemas.openxmlformats.org/officeDocument/2006/relationships/image" Target="../media/image138.png"/><Relationship Id="rId25" Type="http://schemas.openxmlformats.org/officeDocument/2006/relationships/image" Target="../media/image144.png"/><Relationship Id="rId33" Type="http://schemas.openxmlformats.org/officeDocument/2006/relationships/image" Target="../media/image150.png"/><Relationship Id="rId38" Type="http://schemas.openxmlformats.org/officeDocument/2006/relationships/image" Target="../media/image154.png"/><Relationship Id="rId46" Type="http://schemas.openxmlformats.org/officeDocument/2006/relationships/image" Target="../media/image160.png"/><Relationship Id="rId59" Type="http://schemas.openxmlformats.org/officeDocument/2006/relationships/image" Target="../media/image171.png"/><Relationship Id="rId20" Type="http://schemas.openxmlformats.org/officeDocument/2006/relationships/image" Target="../media/image141.png"/><Relationship Id="rId41" Type="http://schemas.openxmlformats.org/officeDocument/2006/relationships/image" Target="../media/image67.png"/><Relationship Id="rId54" Type="http://schemas.openxmlformats.org/officeDocument/2006/relationships/image" Target="../media/image166.png"/><Relationship Id="rId62" Type="http://schemas.openxmlformats.org/officeDocument/2006/relationships/image" Target="../media/image173.png"/><Relationship Id="rId1" Type="http://schemas.openxmlformats.org/officeDocument/2006/relationships/tags" Target="../tags/tag226.xml"/><Relationship Id="rId6" Type="http://schemas.openxmlformats.org/officeDocument/2006/relationships/image" Target="../media/image134.png"/><Relationship Id="rId15" Type="http://schemas.openxmlformats.org/officeDocument/2006/relationships/image" Target="../media/image62.png"/><Relationship Id="rId23" Type="http://schemas.openxmlformats.org/officeDocument/2006/relationships/image" Target="../media/image88.png"/><Relationship Id="rId28" Type="http://schemas.openxmlformats.org/officeDocument/2006/relationships/image" Target="../media/image147.png"/><Relationship Id="rId36" Type="http://schemas.openxmlformats.org/officeDocument/2006/relationships/image" Target="../media/image152.png"/><Relationship Id="rId49" Type="http://schemas.openxmlformats.org/officeDocument/2006/relationships/image" Target="../media/image65.png"/><Relationship Id="rId57" Type="http://schemas.openxmlformats.org/officeDocument/2006/relationships/image" Target="../media/image169.png"/><Relationship Id="rId10" Type="http://schemas.openxmlformats.org/officeDocument/2006/relationships/image" Target="../media/image31.png"/><Relationship Id="rId31" Type="http://schemas.openxmlformats.org/officeDocument/2006/relationships/image" Target="../media/image71.png"/><Relationship Id="rId44" Type="http://schemas.openxmlformats.org/officeDocument/2006/relationships/image" Target="../media/image158.png"/><Relationship Id="rId52" Type="http://schemas.openxmlformats.org/officeDocument/2006/relationships/image" Target="../media/image164.png"/><Relationship Id="rId60" Type="http://schemas.openxmlformats.org/officeDocument/2006/relationships/image" Target="../media/image172.png"/><Relationship Id="rId4" Type="http://schemas.openxmlformats.org/officeDocument/2006/relationships/image" Target="../media/image18.emf"/><Relationship Id="rId9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09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Copper to Optical? Why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Techs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2999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sp>
        <p:nvSpPr>
          <p:cNvPr id="2" name="Rechteck 52">
            <a:extLst>
              <a:ext uri="{FF2B5EF4-FFF2-40B4-BE49-F238E27FC236}">
                <a16:creationId xmlns:a16="http://schemas.microsoft.com/office/drawing/2014/main" id="{FE2110A6-EDBD-8697-B5F7-4B336BB31161}"/>
              </a:ext>
            </a:extLst>
          </p:cNvPr>
          <p:cNvSpPr>
            <a:spLocks/>
          </p:cNvSpPr>
          <p:nvPr/>
        </p:nvSpPr>
        <p:spPr>
          <a:xfrm>
            <a:off x="407987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634A095-ABD0-527D-E2B1-46D80EE1E49A}"/>
              </a:ext>
            </a:extLst>
          </p:cNvPr>
          <p:cNvSpPr txBox="1">
            <a:spLocks/>
          </p:cNvSpPr>
          <p:nvPr/>
        </p:nvSpPr>
        <p:spPr>
          <a:xfrm>
            <a:off x="474582" y="4889151"/>
            <a:ext cx="3563744" cy="50783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400" dirty="0"/>
              <a:t>Pivots from Copper to Optics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Launches 2 CPO Switches</a:t>
            </a:r>
            <a:endParaRPr lang="en-US" sz="1400" dirty="0"/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F3F9DCEA-95C5-231D-DDE1-741629D3FFE7}"/>
              </a:ext>
            </a:extLst>
          </p:cNvPr>
          <p:cNvSpPr txBox="1">
            <a:spLocks/>
          </p:cNvSpPr>
          <p:nvPr/>
        </p:nvSpPr>
        <p:spPr bwMode="gray">
          <a:xfrm>
            <a:off x="437170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Aggressively announced CPO switches</a:t>
            </a:r>
            <a:endParaRPr lang="en-US" sz="1400" dirty="0">
              <a:solidFill>
                <a:srgbClr val="0052D9"/>
              </a:solidFill>
            </a:endParaRPr>
          </a:p>
        </p:txBody>
      </p:sp>
      <p:sp>
        <p:nvSpPr>
          <p:cNvPr id="6" name="Rechteck 22">
            <a:extLst>
              <a:ext uri="{FF2B5EF4-FFF2-40B4-BE49-F238E27FC236}">
                <a16:creationId xmlns:a16="http://schemas.microsoft.com/office/drawing/2014/main" id="{2E50D80A-1704-3509-9D6E-FF86D2EDA342}"/>
              </a:ext>
            </a:extLst>
          </p:cNvPr>
          <p:cNvSpPr>
            <a:spLocks/>
          </p:cNvSpPr>
          <p:nvPr/>
        </p:nvSpPr>
        <p:spPr>
          <a:xfrm>
            <a:off x="1524259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GTC 2025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F00AE-79C7-64B9-F55F-63167A365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31" y="1513532"/>
            <a:ext cx="443699" cy="319247"/>
          </a:xfrm>
          <a:prstGeom prst="rect">
            <a:avLst/>
          </a:prstGeom>
          <a:noFill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42ACC8-7E17-BB78-EF6C-B7F464443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30" y="1573189"/>
            <a:ext cx="740492" cy="199933"/>
          </a:xfrm>
          <a:prstGeom prst="rect">
            <a:avLst/>
          </a:prstGeom>
          <a:noFill/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73BC45A2-D98F-47EB-BEC6-315762D7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8" y="2506344"/>
            <a:ext cx="3142640" cy="19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53">
            <a:extLst>
              <a:ext uri="{FF2B5EF4-FFF2-40B4-BE49-F238E27FC236}">
                <a16:creationId xmlns:a16="http://schemas.microsoft.com/office/drawing/2014/main" id="{A3D89242-83E7-0754-DC42-B6C7A9C3DB38}"/>
              </a:ext>
            </a:extLst>
          </p:cNvPr>
          <p:cNvSpPr>
            <a:spLocks/>
          </p:cNvSpPr>
          <p:nvPr/>
        </p:nvSpPr>
        <p:spPr>
          <a:xfrm>
            <a:off x="8242203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D8FE314-262A-C078-EDB0-5CA09AA3D723}"/>
              </a:ext>
            </a:extLst>
          </p:cNvPr>
          <p:cNvSpPr txBox="1">
            <a:spLocks/>
          </p:cNvSpPr>
          <p:nvPr/>
        </p:nvSpPr>
        <p:spPr>
          <a:xfrm>
            <a:off x="8256794" y="4889151"/>
            <a:ext cx="3660375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Bandwidth limitation restricts training, inference, and network strategies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CPO: higher bandwidth &amp; energy efficiency</a:t>
            </a:r>
          </a:p>
        </p:txBody>
      </p:sp>
      <p:sp>
        <p:nvSpPr>
          <p:cNvPr id="11" name="Rechteck 22">
            <a:extLst>
              <a:ext uri="{FF2B5EF4-FFF2-40B4-BE49-F238E27FC236}">
                <a16:creationId xmlns:a16="http://schemas.microsoft.com/office/drawing/2014/main" id="{D122097B-3085-F1BA-955F-93F0AF30E4E8}"/>
              </a:ext>
            </a:extLst>
          </p:cNvPr>
          <p:cNvSpPr>
            <a:spLocks/>
          </p:cNvSpPr>
          <p:nvPr/>
        </p:nvSpPr>
        <p:spPr>
          <a:xfrm>
            <a:off x="9538802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《Insights into DS-V3》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3D30D61-CEC3-4A04-6835-9D269EB0DA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2" b="88889" l="3125" r="94697">
                        <a14:foregroundMark x1="6155" y1="31418" x2="6155" y2="31418"/>
                        <a14:foregroundMark x1="11364" y1="83525" x2="11364" y2="83525"/>
                        <a14:foregroundMark x1="3125" y1="59387" x2="3125" y2="59387"/>
                        <a14:foregroundMark x1="32576" y1="59387" x2="32576" y2="59387"/>
                        <a14:foregroundMark x1="41098" y1="55556" x2="41098" y2="55556"/>
                        <a14:foregroundMark x1="49242" y1="54789" x2="49242" y2="54789"/>
                        <a14:foregroundMark x1="57765" y1="56705" x2="57765" y2="56705"/>
                        <a14:foregroundMark x1="68845" y1="55939" x2="68845" y2="55939"/>
                        <a14:foregroundMark x1="78030" y1="57088" x2="78030" y2="57088"/>
                        <a14:foregroundMark x1="82765" y1="54023" x2="82765" y2="54023"/>
                        <a14:foregroundMark x1="91288" y1="54406" x2="91288" y2="54406"/>
                        <a14:foregroundMark x1="94697" y1="55556" x2="94697" y2="55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0787" y="1510354"/>
            <a:ext cx="1317379" cy="325602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F68D50D-414D-635E-2792-0BEAB0496A59}"/>
              </a:ext>
            </a:extLst>
          </p:cNvPr>
          <p:cNvSpPr txBox="1">
            <a:spLocks/>
          </p:cNvSpPr>
          <p:nvPr/>
        </p:nvSpPr>
        <p:spPr bwMode="gray">
          <a:xfrm>
            <a:off x="82567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CPO matters</a:t>
            </a:r>
            <a:r>
              <a:rPr lang="zh-CN" altLang="en-US" b="1" dirty="0"/>
              <a:t> </a:t>
            </a:r>
            <a:r>
              <a:rPr lang="en-US" altLang="zh-CN" b="1" dirty="0"/>
              <a:t>under limited</a:t>
            </a:r>
            <a:r>
              <a:rPr lang="zh-CN" altLang="en-US" b="1" dirty="0"/>
              <a:t> </a:t>
            </a:r>
            <a:r>
              <a:rPr lang="en-US" altLang="zh-CN" b="1" dirty="0"/>
              <a:t>bandwidth in China</a:t>
            </a:r>
            <a:endParaRPr lang="en-US" sz="1400" dirty="0">
              <a:solidFill>
                <a:srgbClr val="0052D9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D943F7C-E7EF-9207-A884-3A534698B846}"/>
              </a:ext>
            </a:extLst>
          </p:cNvPr>
          <p:cNvGrpSpPr/>
          <p:nvPr/>
        </p:nvGrpSpPr>
        <p:grpSpPr>
          <a:xfrm>
            <a:off x="8206661" y="2501169"/>
            <a:ext cx="3509584" cy="1911646"/>
            <a:chOff x="7440021" y="1361951"/>
            <a:chExt cx="3509584" cy="1911646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234BB60-FB48-622D-A498-75516FE24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594A99E-9B03-0559-EB83-31733FA28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b="68697"/>
            <a:stretch/>
          </p:blipFill>
          <p:spPr>
            <a:xfrm>
              <a:off x="7440021" y="1877371"/>
              <a:ext cx="3444240" cy="1396226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09EA39E-0613-8F9A-4489-6AACB923E3C7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hteck 54">
            <a:extLst>
              <a:ext uri="{FF2B5EF4-FFF2-40B4-BE49-F238E27FC236}">
                <a16:creationId xmlns:a16="http://schemas.microsoft.com/office/drawing/2014/main" id="{3D6A41AE-49DF-B3A5-B25A-942FE82A13C1}"/>
              </a:ext>
            </a:extLst>
          </p:cNvPr>
          <p:cNvSpPr>
            <a:spLocks/>
          </p:cNvSpPr>
          <p:nvPr/>
        </p:nvSpPr>
        <p:spPr>
          <a:xfrm>
            <a:off x="4154770" y="2496855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44AEC338-DA13-8B7F-9021-2039CE822D21}"/>
              </a:ext>
            </a:extLst>
          </p:cNvPr>
          <p:cNvSpPr txBox="1">
            <a:spLocks/>
          </p:cNvSpPr>
          <p:nvPr/>
        </p:nvSpPr>
        <p:spPr>
          <a:xfrm>
            <a:off x="4169362" y="4889151"/>
            <a:ext cx="3563744" cy="72327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TH4: 1</a:t>
            </a:r>
            <a:r>
              <a:rPr lang="en-US" sz="1400" baseline="30000" dirty="0"/>
              <a:t>st</a:t>
            </a:r>
            <a:r>
              <a:rPr lang="en-US" sz="1400" dirty="0"/>
              <a:t> CPO switch chip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TH6: fastest CPO switch chip, announced in April</a:t>
            </a:r>
            <a:endParaRPr lang="en-US" sz="1400" dirty="0"/>
          </a:p>
        </p:txBody>
      </p:sp>
      <p:sp>
        <p:nvSpPr>
          <p:cNvPr id="23" name="Rechteck 23">
            <a:extLst>
              <a:ext uri="{FF2B5EF4-FFF2-40B4-BE49-F238E27FC236}">
                <a16:creationId xmlns:a16="http://schemas.microsoft.com/office/drawing/2014/main" id="{D46FDC1B-0589-0C6F-14BE-04FAC0134390}"/>
              </a:ext>
            </a:extLst>
          </p:cNvPr>
          <p:cNvSpPr>
            <a:spLocks/>
          </p:cNvSpPr>
          <p:nvPr/>
        </p:nvSpPr>
        <p:spPr>
          <a:xfrm>
            <a:off x="5576150" y="1381593"/>
            <a:ext cx="2627798" cy="5831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</a:rPr>
              <a:t>Tomahawk Switches</a:t>
            </a:r>
            <a:endParaRPr lang="en-US" sz="1400" b="1" dirty="0">
              <a:solidFill>
                <a:schemeClr val="accent1"/>
              </a:solidFill>
              <a:sym typeface="Futura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BBA7B24-CECB-4D5E-2109-668B333CB5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296" y="1523092"/>
            <a:ext cx="312632" cy="3001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6E62E3A-EFCC-484A-7059-19CC0144FB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7992" y="1610438"/>
            <a:ext cx="861094" cy="125435"/>
          </a:xfrm>
          <a:prstGeom prst="rect">
            <a:avLst/>
          </a:prstGeom>
        </p:spPr>
      </p:pic>
      <p:sp>
        <p:nvSpPr>
          <p:cNvPr id="31" name="Textplatzhalter 9">
            <a:extLst>
              <a:ext uri="{FF2B5EF4-FFF2-40B4-BE49-F238E27FC236}">
                <a16:creationId xmlns:a16="http://schemas.microsoft.com/office/drawing/2014/main" id="{C5A4A542-2958-433B-B7FD-8AE91883B95C}"/>
              </a:ext>
            </a:extLst>
          </p:cNvPr>
          <p:cNvSpPr txBox="1">
            <a:spLocks/>
          </p:cNvSpPr>
          <p:nvPr/>
        </p:nvSpPr>
        <p:spPr bwMode="gray">
          <a:xfrm>
            <a:off x="42482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Drives ongoing CPO ecosystem adoption</a:t>
            </a:r>
            <a:endParaRPr lang="en-US" sz="1400" dirty="0">
              <a:solidFill>
                <a:srgbClr val="0052D9"/>
              </a:solidFill>
            </a:endParaRPr>
          </a:p>
        </p:txBody>
      </p:sp>
      <p:pic>
        <p:nvPicPr>
          <p:cNvPr id="33" name="图片 32" descr="男人戴着眼镜&#10;&#10;AI 生成的内容可能不正确。">
            <a:extLst>
              <a:ext uri="{FF2B5EF4-FFF2-40B4-BE49-F238E27FC236}">
                <a16:creationId xmlns:a16="http://schemas.microsoft.com/office/drawing/2014/main" id="{519DC953-2C84-BF8C-246B-B569654A26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4454" r="24533" b="12287"/>
          <a:stretch/>
        </p:blipFill>
        <p:spPr>
          <a:xfrm>
            <a:off x="4248295" y="2510615"/>
            <a:ext cx="3141178" cy="18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613544" cy="1366256"/>
            <a:chOff x="7960810" y="4321548"/>
            <a:chExt cx="3613544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89898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Impossible Triangle in IDCs: Speed, Distance,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</a:t>
            </a:r>
            <a:r>
              <a:rPr lang="en-US" altLang="zh-CN" dirty="0"/>
              <a:t> consumption </a:t>
            </a:r>
            <a:r>
              <a:rPr lang="zh-CN" altLang="en-US" dirty="0"/>
              <a:t>↓</a:t>
            </a:r>
            <a:r>
              <a:rPr lang="en-US" altLang="zh-CN" dirty="0"/>
              <a:t> =&gt; BER </a:t>
            </a:r>
            <a:r>
              <a:rPr lang="zh-CN" altLang="en-US" dirty="0"/>
              <a:t>↑</a:t>
            </a:r>
            <a:endParaRPr lang="en-US" altLang="zh-CN" dirty="0"/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310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4" imgH="405" progId="TCLayout.ActiveDocument.1">
                  <p:embed/>
                </p:oleObj>
              </mc:Choice>
              <mc:Fallback>
                <p:oleObj name="think-cell 幻灯片" r:id="rId19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Center;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3" y="599016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wall: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400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00076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09249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075724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400 Gbps/line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718750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747732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747379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871403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99395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/>
              <a:t>Transceiver/CPO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581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GPU interconnect: &gt;5m;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10k-GPU clusters interconnect 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km-scale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379624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2.5m-3m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29779" y="3335044"/>
            <a:ext cx="4876" cy="2766695"/>
          </a:xfrm>
          <a:prstGeom prst="bentConnector3">
            <a:avLst>
              <a:gd name="adj1" fmla="val -781382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601424" y="2723554"/>
            <a:ext cx="2494891" cy="1997276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735" y="5203964"/>
            <a:ext cx="318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 at 112Gbps: ~2.5m;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at 112Gbps : </a:t>
            </a:r>
            <a:r>
              <a:rPr lang="en-US" altLang="zh-CN" b="1" dirty="0">
                <a:solidFill>
                  <a:srgbClr val="0052D9"/>
                </a:solidFill>
              </a:rPr>
              <a:t>&gt;100m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144728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100m-2km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4578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856515" y="42471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requires longer interconnects​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0603" y="2722655"/>
            <a:ext cx="2489923" cy="1993299"/>
            <a:chOff x="1226694" y="2091768"/>
            <a:chExt cx="2376970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44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404" imgH="405" progId="TCLayout.ActiveDocument.1">
                  <p:embed/>
                </p:oleObj>
              </mc:Choice>
              <mc:Fallback>
                <p:oleObj name="think-cell 幻灯片" r:id="rId2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122871" y="1285874"/>
            <a:ext cx="54436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2014;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(~30W),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7.3%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-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60%+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module power;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F842513F-2F58-496A-C459-D1BC09FFE7E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7870178"/>
              </p:ext>
            </p:extLst>
          </p:nvPr>
        </p:nvGraphicFramePr>
        <p:xfrm>
          <a:off x="855663" y="2255838"/>
          <a:ext cx="4551362" cy="3414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101B2D-DB47-B323-F276-D4233223343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019300" y="2451100"/>
            <a:ext cx="0" cy="12668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3640F1-B1C7-693D-B63F-79B79801C75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019300" y="2451100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FE6433-2919-1E8F-C8DB-9E96D7C473F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3020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782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378200" y="2451100"/>
            <a:ext cx="12842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662488" y="2451100"/>
            <a:ext cx="0" cy="19272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820863" y="4445000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722438" y="5467350"/>
            <a:ext cx="5937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141663" y="3929063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205163" y="546735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470400" y="4775200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464050" y="546735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C80778E-D083-5825-5919-86855107A5C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243138" y="2257425"/>
            <a:ext cx="836613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effectLst/>
                <a:cs typeface="+mn-cs"/>
              </a:rPr>
              <a:t>60%+</a:t>
            </a:r>
            <a:endParaRPr lang="zh-CN" altLang="en-US" sz="1800" b="1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41725" y="2257425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199187" y="3963194"/>
            <a:ext cx="5196700" cy="1937708"/>
          </a:xfrm>
          <a:prstGeom prst="roundRect">
            <a:avLst>
              <a:gd name="adj" fmla="val 368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“CPO primarily replaces traditional POs and does not replace copper interconnects in the short term.​​</a:t>
            </a:r>
          </a:p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​CPO solution reduces power consumption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70% (33W → 9W)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and lowers overall (switch) costs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30%,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offering clear competitive advantages.​​”</a:t>
            </a:r>
          </a:p>
          <a:p>
            <a:pPr algn="r"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—Nvidia expert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601663" y="1852613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latin typeface="+mn-lt"/>
                <a:ea typeface="+mn-ea"/>
                <a:cs typeface="+mn-ea"/>
                <a:sym typeface="+mn-lt"/>
              </a:rPr>
              <a:t>Power(W/line)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1074969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768370" y="1285874"/>
            <a:ext cx="487358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PO,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2136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1" imgH="401" progId="TCLayout.ActiveDocument.1">
                  <p:embed/>
                </p:oleObj>
              </mc:Choice>
              <mc:Fallback>
                <p:oleObj name="think-cell 幻灯片" r:id="rId2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F9BDCD-BD28-6FC8-A4C4-6FAFD7E8E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Three Consensus Optical Interconnect Solutions: PO, NPO, and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of Single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Hight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89216" y="4954257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22-30W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541806" y="3219992"/>
            <a:ext cx="2330252" cy="536996"/>
            <a:chOff x="2166754" y="4777695"/>
            <a:chExt cx="2330252" cy="536996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12-18W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21583" y="2019111"/>
            <a:ext cx="1975668" cy="536996"/>
            <a:chOff x="2166754" y="4777695"/>
            <a:chExt cx="1975668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5.5-9W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6086133" y="373919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192DB1D0-E9EF-7F5F-4DBD-5D1458C34DB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3684583" y="3547389"/>
            <a:ext cx="272333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ea typeface="Verdana" pitchFamily="34" charset="0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534398" y="-1120402"/>
            <a:ext cx="5473700" cy="11880104"/>
          </a:xfrm>
          <a:prstGeom prst="arc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146638" y="2025775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①</a:t>
            </a:r>
            <a:r>
              <a:rPr lang="en-US" altLang="zh-CN" sz="1600" b="1" dirty="0">
                <a:ea typeface="Verdana" pitchFamily="34" charset="0"/>
              </a:rPr>
              <a:t>​ 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965137" y="3620391"/>
            <a:ext cx="1934013" cy="148124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1"/>
            <a:ext cx="1107757" cy="79296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5864020" y="358009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070298" y="4697908"/>
            <a:ext cx="2487695" cy="2673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②</a:t>
            </a:r>
            <a:r>
              <a:rPr lang="en-US" altLang="zh-CN" sz="1600" b="1" dirty="0">
                <a:ea typeface="Verdana" pitchFamily="34" charset="0"/>
              </a:rPr>
              <a:t> 2022: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56685" y="5073663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01019" y="5045885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89" name="TextBox 39">
            <a:extLst>
              <a:ext uri="{FF2B5EF4-FFF2-40B4-BE49-F238E27FC236}">
                <a16:creationId xmlns:a16="http://schemas.microsoft.com/office/drawing/2014/main" id="{A1F45303-3B63-F6D7-0893-AFA6C7ABB244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6096000" y="2470143"/>
            <a:ext cx="183135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400" dirty="0">
                <a:ea typeface="Verdana" pitchFamily="34" charset="0"/>
              </a:rPr>
              <a:t>S</a:t>
            </a:r>
            <a:r>
              <a:rPr lang="en-US" altLang="zh-CN" sz="1400" dirty="0">
                <a:ea typeface="Verdana" pitchFamily="34" charset="0"/>
              </a:rPr>
              <a:t>ignal loss &amp; distortion of PCB solved</a:t>
            </a:r>
            <a:endParaRPr lang="en-US" sz="1400" dirty="0">
              <a:ea typeface="Verdana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1084" y="5098413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ea typeface="Verdana" pitchFamily="34" charset="0"/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08758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859549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17436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:​​ PCB traces cause high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signal 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under 200Gbps/line;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1716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38626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22747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38626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12.8+Tbps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34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Dominates Mainstream; CPO Becomes the Focus of Tech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4E21-B7D7-BE38-FADE-CB8B7B41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853B9516-AA57-80CD-E1AF-A9E80A03B0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60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F4C983E-BCB7-E682-7462-113607DE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</a:rPr>
              <a:t>CPO Faces 3 Hurdles; NPO Proposed As The Bridge to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9D84E-2AC0-8A03-8B00-ED0283593370}"/>
              </a:ext>
            </a:extLst>
          </p:cNvPr>
          <p:cNvSpPr txBox="1"/>
          <p:nvPr/>
        </p:nvSpPr>
        <p:spPr>
          <a:xfrm>
            <a:off x="473702" y="3102414"/>
            <a:ext cx="1294622" cy="4620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Cost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964C937-BEBE-7A7A-9C6C-196C90BCA623}"/>
              </a:ext>
            </a:extLst>
          </p:cNvPr>
          <p:cNvGrpSpPr/>
          <p:nvPr/>
        </p:nvGrpSpPr>
        <p:grpSpPr>
          <a:xfrm>
            <a:off x="6637338" y="961744"/>
            <a:ext cx="41068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B53B72C8-173F-BC06-A179-722C1927F153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18844DE-5732-79CD-634E-75A87DFD423E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NPO (Near-Packaged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541B82E-988A-D7A9-D01E-654F16018BAC}"/>
              </a:ext>
            </a:extLst>
          </p:cNvPr>
          <p:cNvSpPr txBox="1"/>
          <p:nvPr/>
        </p:nvSpPr>
        <p:spPr>
          <a:xfrm>
            <a:off x="472812" y="1668872"/>
            <a:ext cx="1291099" cy="77876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Architecture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74DD5A5-24F6-5C3F-E372-31E422131C23}"/>
              </a:ext>
            </a:extLst>
          </p:cNvPr>
          <p:cNvGrpSpPr/>
          <p:nvPr/>
        </p:nvGrpSpPr>
        <p:grpSpPr>
          <a:xfrm>
            <a:off x="1985963" y="963613"/>
            <a:ext cx="4110037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E0DFE11C-81A3-ACA9-BAB9-A2D252999D69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8956BAB-C473-737A-C0A3-8D27C823972B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5728FD-8312-0292-DD06-4FF13CA901F5}"/>
              </a:ext>
            </a:extLst>
          </p:cNvPr>
          <p:cNvSpPr txBox="1"/>
          <p:nvPr/>
        </p:nvSpPr>
        <p:spPr>
          <a:xfrm>
            <a:off x="341335" y="6225296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AD623B-1210-3D8C-38B6-B419E327380C}"/>
              </a:ext>
            </a:extLst>
          </p:cNvPr>
          <p:cNvSpPr/>
          <p:nvPr/>
        </p:nvSpPr>
        <p:spPr>
          <a:xfrm>
            <a:off x="2044692" y="2115661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F099A-08EF-8EDB-FB75-D88E92F33995}"/>
              </a:ext>
            </a:extLst>
          </p:cNvPr>
          <p:cNvSpPr/>
          <p:nvPr/>
        </p:nvSpPr>
        <p:spPr>
          <a:xfrm>
            <a:off x="2706865" y="2121882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9B730F-620F-665B-D75C-E40D51AFC78A}"/>
              </a:ext>
            </a:extLst>
          </p:cNvPr>
          <p:cNvSpPr/>
          <p:nvPr/>
        </p:nvSpPr>
        <p:spPr>
          <a:xfrm>
            <a:off x="1990725" y="2280939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2F2E6C-52A6-5861-9D72-3EE910A47C8B}"/>
              </a:ext>
            </a:extLst>
          </p:cNvPr>
          <p:cNvSpPr/>
          <p:nvPr/>
        </p:nvSpPr>
        <p:spPr>
          <a:xfrm>
            <a:off x="2008980" y="2238302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5233783-4416-9C0A-C507-C37C114FF33F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16200000" flipH="1">
            <a:off x="2578418" y="2014535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61F55CE-4332-354C-99B7-3E29E7949730}"/>
              </a:ext>
            </a:extLst>
          </p:cNvPr>
          <p:cNvSpPr txBox="1"/>
          <p:nvPr/>
        </p:nvSpPr>
        <p:spPr>
          <a:xfrm>
            <a:off x="1938288" y="1893619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913675-5B79-37B4-134D-83D95363B237}"/>
              </a:ext>
            </a:extLst>
          </p:cNvPr>
          <p:cNvSpPr txBox="1"/>
          <p:nvPr/>
        </p:nvSpPr>
        <p:spPr>
          <a:xfrm>
            <a:off x="3593206" y="2025051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 Substrate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C33624C-FDB9-9386-1049-5351760C9525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3450101" y="2148162"/>
            <a:ext cx="143105" cy="113000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CFFA8CA-0B95-C717-BC96-3D54B8FB52DF}"/>
              </a:ext>
            </a:extLst>
          </p:cNvPr>
          <p:cNvSpPr/>
          <p:nvPr/>
        </p:nvSpPr>
        <p:spPr>
          <a:xfrm>
            <a:off x="6718043" y="20489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B442AE-5D9E-0D1C-4E44-8436723A72AD}"/>
              </a:ext>
            </a:extLst>
          </p:cNvPr>
          <p:cNvSpPr/>
          <p:nvPr/>
        </p:nvSpPr>
        <p:spPr>
          <a:xfrm>
            <a:off x="8051790" y="2100139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469237-21B5-B182-2550-1F55472DBFB7}"/>
              </a:ext>
            </a:extLst>
          </p:cNvPr>
          <p:cNvSpPr/>
          <p:nvPr/>
        </p:nvSpPr>
        <p:spPr>
          <a:xfrm>
            <a:off x="6664076" y="2277777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D314A75-177E-3E55-A2F2-78CA9A77A1F0}"/>
              </a:ext>
            </a:extLst>
          </p:cNvPr>
          <p:cNvSpPr/>
          <p:nvPr/>
        </p:nvSpPr>
        <p:spPr>
          <a:xfrm>
            <a:off x="6682332" y="2171640"/>
            <a:ext cx="1055144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4D66D3D-28C6-C75C-43F7-EA36A1DDE890}"/>
              </a:ext>
            </a:extLst>
          </p:cNvPr>
          <p:cNvSpPr/>
          <p:nvPr/>
        </p:nvSpPr>
        <p:spPr>
          <a:xfrm>
            <a:off x="6670427" y="2222553"/>
            <a:ext cx="1609975" cy="53622"/>
          </a:xfrm>
          <a:prstGeom prst="roundRect">
            <a:avLst>
              <a:gd name="adj" fmla="val 2414"/>
            </a:avLst>
          </a:prstGeom>
          <a:solidFill>
            <a:srgbClr val="FFC000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E8471808-4AAB-37A2-930E-3CA9ECB7D892}"/>
              </a:ext>
            </a:extLst>
          </p:cNvPr>
          <p:cNvCxnSpPr>
            <a:cxnSpLocks/>
            <a:stCxn id="36" idx="2"/>
            <a:endCxn id="37" idx="2"/>
          </p:cNvCxnSpPr>
          <p:nvPr/>
        </p:nvCxnSpPr>
        <p:spPr>
          <a:xfrm rot="16200000" flipH="1">
            <a:off x="7565096" y="1634546"/>
            <a:ext cx="51140" cy="1119162"/>
          </a:xfrm>
          <a:prstGeom prst="bentConnector3">
            <a:avLst>
              <a:gd name="adj1" fmla="val 165188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5CC630B-93ED-3D5F-E219-9D85C4F42996}"/>
              </a:ext>
            </a:extLst>
          </p:cNvPr>
          <p:cNvSpPr txBox="1"/>
          <p:nvPr/>
        </p:nvSpPr>
        <p:spPr>
          <a:xfrm>
            <a:off x="4958950" y="216135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EED7490-3AD7-0F4B-7842-CFB4E386D6C0}"/>
              </a:ext>
            </a:extLst>
          </p:cNvPr>
          <p:cNvCxnSpPr>
            <a:cxnSpLocks/>
            <a:stCxn id="10" idx="3"/>
            <a:endCxn id="55" idx="1"/>
          </p:cNvCxnSpPr>
          <p:nvPr/>
        </p:nvCxnSpPr>
        <p:spPr>
          <a:xfrm flipV="1">
            <a:off x="4578849" y="2284466"/>
            <a:ext cx="380101" cy="29578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6BFC944-90B2-B57F-C86F-552C91F7FCFB}"/>
              </a:ext>
            </a:extLst>
          </p:cNvPr>
          <p:cNvSpPr txBox="1"/>
          <p:nvPr/>
        </p:nvSpPr>
        <p:spPr>
          <a:xfrm>
            <a:off x="8964509" y="2015059"/>
            <a:ext cx="221547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High-performance Substrate</a:t>
            </a:r>
            <a:endParaRPr lang="zh-CN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20F622F-4D2C-4178-601A-F25D5660D2A0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8280402" y="2138170"/>
            <a:ext cx="684107" cy="111194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A2988693-B2A6-22CB-5849-D28EE8EA49F0}"/>
              </a:ext>
            </a:extLst>
          </p:cNvPr>
          <p:cNvSpPr txBox="1"/>
          <p:nvPr/>
        </p:nvSpPr>
        <p:spPr>
          <a:xfrm>
            <a:off x="6618503" y="183138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733B496-A9C7-95F0-6643-3630A672D087}"/>
              </a:ext>
            </a:extLst>
          </p:cNvPr>
          <p:cNvSpPr txBox="1"/>
          <p:nvPr/>
        </p:nvSpPr>
        <p:spPr>
          <a:xfrm>
            <a:off x="7971053" y="204060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B05F774-B99C-2625-EE25-2275A7754C58}"/>
              </a:ext>
            </a:extLst>
          </p:cNvPr>
          <p:cNvSpPr txBox="1"/>
          <p:nvPr/>
        </p:nvSpPr>
        <p:spPr>
          <a:xfrm>
            <a:off x="1908439" y="149422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co-packaged on package substrate.</a:t>
            </a:r>
            <a:endParaRPr lang="zh-CN" altLang="en-US" sz="16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63A4226-28FE-D851-4F72-883BCF21B426}"/>
              </a:ext>
            </a:extLst>
          </p:cNvPr>
          <p:cNvSpPr txBox="1"/>
          <p:nvPr/>
        </p:nvSpPr>
        <p:spPr>
          <a:xfrm>
            <a:off x="6616700" y="149232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near-packaged on high-performance substrate.</a:t>
            </a:r>
            <a:endParaRPr lang="zh-CN" altLang="en-US" sz="16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7740914-CF70-663E-015B-98494C7B7081}"/>
              </a:ext>
            </a:extLst>
          </p:cNvPr>
          <p:cNvSpPr txBox="1"/>
          <p:nvPr/>
        </p:nvSpPr>
        <p:spPr>
          <a:xfrm>
            <a:off x="2625649" y="206441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等腰三角形 94">
            <a:extLst>
              <a:ext uri="{FF2B5EF4-FFF2-40B4-BE49-F238E27FC236}">
                <a16:creationId xmlns:a16="http://schemas.microsoft.com/office/drawing/2014/main" id="{208C3962-53AD-CC75-944E-1736D0E0DC80}"/>
              </a:ext>
            </a:extLst>
          </p:cNvPr>
          <p:cNvSpPr/>
          <p:nvPr/>
        </p:nvSpPr>
        <p:spPr>
          <a:xfrm rot="10800000">
            <a:off x="3131342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9AF85D4-C979-6384-189D-71EF0284C461}"/>
              </a:ext>
            </a:extLst>
          </p:cNvPr>
          <p:cNvSpPr txBox="1"/>
          <p:nvPr/>
        </p:nvSpPr>
        <p:spPr>
          <a:xfrm>
            <a:off x="473703" y="4135820"/>
            <a:ext cx="1294622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Maturity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6DD385C-0E01-AA55-6ED4-672236BF9662}"/>
              </a:ext>
            </a:extLst>
          </p:cNvPr>
          <p:cNvSpPr txBox="1"/>
          <p:nvPr/>
        </p:nvSpPr>
        <p:spPr>
          <a:xfrm>
            <a:off x="473710" y="5297383"/>
            <a:ext cx="1294419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Maintainability</a:t>
            </a:r>
          </a:p>
        </p:txBody>
      </p:sp>
      <p:sp>
        <p:nvSpPr>
          <p:cNvPr id="109" name="等腰三角形 108">
            <a:extLst>
              <a:ext uri="{FF2B5EF4-FFF2-40B4-BE49-F238E27FC236}">
                <a16:creationId xmlns:a16="http://schemas.microsoft.com/office/drawing/2014/main" id="{437E2DC5-E7B4-80BB-9597-350F9CED3CF8}"/>
              </a:ext>
            </a:extLst>
          </p:cNvPr>
          <p:cNvSpPr/>
          <p:nvPr/>
        </p:nvSpPr>
        <p:spPr>
          <a:xfrm rot="10800000">
            <a:off x="8119165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C47E4A4-9607-602E-3C1C-541B7E596E05}"/>
              </a:ext>
            </a:extLst>
          </p:cNvPr>
          <p:cNvSpPr txBox="1"/>
          <p:nvPr/>
        </p:nvSpPr>
        <p:spPr>
          <a:xfrm>
            <a:off x="2035857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8-10x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2.5D/3D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packaging brings low yield.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D1C203-1125-2AA5-1AC7-D73676314360}"/>
              </a:ext>
            </a:extLst>
          </p:cNvPr>
          <p:cNvSpPr txBox="1"/>
          <p:nvPr/>
        </p:nvSpPr>
        <p:spPr>
          <a:xfrm>
            <a:off x="6627543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4-5x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PCB &amp; IC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packaging.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5A41CB6-4DFB-BA90-BF54-FBC76492E79F}"/>
              </a:ext>
            </a:extLst>
          </p:cNvPr>
          <p:cNvSpPr txBox="1"/>
          <p:nvPr/>
        </p:nvSpPr>
        <p:spPr>
          <a:xfrm>
            <a:off x="2357733" y="418357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E632BB8-8143-3362-A091-86B3553CFF65}"/>
              </a:ext>
            </a:extLst>
          </p:cNvPr>
          <p:cNvSpPr txBox="1"/>
          <p:nvPr/>
        </p:nvSpPr>
        <p:spPr>
          <a:xfrm>
            <a:off x="2024583" y="453871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Realignment: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Deep collaboration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required.​</a:t>
            </a: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70234AB7-CD92-0D13-78C2-4CDA7C49550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014538" y="4213225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3" name="弧形 1032">
            <a:extLst>
              <a:ext uri="{FF2B5EF4-FFF2-40B4-BE49-F238E27FC236}">
                <a16:creationId xmlns:a16="http://schemas.microsoft.com/office/drawing/2014/main" id="{4E8F1CB0-63B1-9080-B662-650B37EEA9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014538" y="4213225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E47D282C-CECD-4D00-1973-3C1458AFE097}"/>
              </a:ext>
            </a:extLst>
          </p:cNvPr>
          <p:cNvSpPr txBox="1"/>
          <p:nvPr/>
        </p:nvSpPr>
        <p:spPr>
          <a:xfrm>
            <a:off x="6949850" y="417796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High</a:t>
            </a:r>
          </a:p>
        </p:txBody>
      </p:sp>
      <p:sp>
        <p:nvSpPr>
          <p:cNvPr id="1026" name="文本框 1025">
            <a:extLst>
              <a:ext uri="{FF2B5EF4-FFF2-40B4-BE49-F238E27FC236}">
                <a16:creationId xmlns:a16="http://schemas.microsoft.com/office/drawing/2014/main" id="{B0352FA0-469B-6339-190D-4E43731B0951}"/>
              </a:ext>
            </a:extLst>
          </p:cNvPr>
          <p:cNvSpPr txBox="1"/>
          <p:nvPr/>
        </p:nvSpPr>
        <p:spPr>
          <a:xfrm>
            <a:off x="6616700" y="453310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Co-design &amp; maintains the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current industry structure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1027" name="椭圆 1026">
            <a:extLst>
              <a:ext uri="{FF2B5EF4-FFF2-40B4-BE49-F238E27FC236}">
                <a16:creationId xmlns:a16="http://schemas.microsoft.com/office/drawing/2014/main" id="{401F36A6-B1A0-D739-3D8A-0CE48528D4A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37338" y="4203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28" name="弧形 1027">
            <a:extLst>
              <a:ext uri="{FF2B5EF4-FFF2-40B4-BE49-F238E27FC236}">
                <a16:creationId xmlns:a16="http://schemas.microsoft.com/office/drawing/2014/main" id="{D16FB5A9-0D41-4848-E607-F63ACF61E51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37338" y="4203700"/>
            <a:ext cx="187324" cy="187324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6856E800-E43B-D706-1314-D4368207C57C}"/>
              </a:ext>
            </a:extLst>
          </p:cNvPr>
          <p:cNvSpPr txBox="1"/>
          <p:nvPr/>
        </p:nvSpPr>
        <p:spPr>
          <a:xfrm>
            <a:off x="2369007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DA613A83-A4A7-BBB6-5C4D-DCE2F4A438C9}"/>
              </a:ext>
            </a:extLst>
          </p:cNvPr>
          <p:cNvSpPr txBox="1"/>
          <p:nvPr/>
        </p:nvSpPr>
        <p:spPr>
          <a:xfrm>
            <a:off x="2035857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Full board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(including ASIC) replacement.</a:t>
            </a:r>
          </a:p>
        </p:txBody>
      </p:sp>
      <p:sp>
        <p:nvSpPr>
          <p:cNvPr id="1035" name="椭圆 1034">
            <a:extLst>
              <a:ext uri="{FF2B5EF4-FFF2-40B4-BE49-F238E27FC236}">
                <a16:creationId xmlns:a16="http://schemas.microsoft.com/office/drawing/2014/main" id="{C1877431-EB48-C57A-D6EE-2212F183CCB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012950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7" name="弧形 1036">
            <a:extLst>
              <a:ext uri="{FF2B5EF4-FFF2-40B4-BE49-F238E27FC236}">
                <a16:creationId xmlns:a16="http://schemas.microsoft.com/office/drawing/2014/main" id="{57383745-DE2E-9F8E-FD26-A2D36D26AE1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2012950" y="5367338"/>
            <a:ext cx="187325" cy="187325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799882CD-BB06-FD0A-9DE6-FF9C959FD5FC}"/>
              </a:ext>
            </a:extLst>
          </p:cNvPr>
          <p:cNvSpPr txBox="1"/>
          <p:nvPr/>
        </p:nvSpPr>
        <p:spPr>
          <a:xfrm>
            <a:off x="6949850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Medium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48365BCE-6D88-161C-10F5-150145E5E595}"/>
              </a:ext>
            </a:extLst>
          </p:cNvPr>
          <p:cNvSpPr txBox="1"/>
          <p:nvPr/>
        </p:nvSpPr>
        <p:spPr>
          <a:xfrm>
            <a:off x="6616700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and ASIC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separate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replacement.</a:t>
            </a:r>
          </a:p>
        </p:txBody>
      </p:sp>
      <p:sp>
        <p:nvSpPr>
          <p:cNvPr id="1043" name="椭圆 1042">
            <a:extLst>
              <a:ext uri="{FF2B5EF4-FFF2-40B4-BE49-F238E27FC236}">
                <a16:creationId xmlns:a16="http://schemas.microsoft.com/office/drawing/2014/main" id="{F1448868-B858-BC2D-F156-2028A5BFBA7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637338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4" name="弧形 1043">
            <a:extLst>
              <a:ext uri="{FF2B5EF4-FFF2-40B4-BE49-F238E27FC236}">
                <a16:creationId xmlns:a16="http://schemas.microsoft.com/office/drawing/2014/main" id="{AF300494-2EDD-B692-489A-AB9D228A6F8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637338" y="53673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40E1-E544-342B-A526-CB308814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036F0F49-9FAB-C5EE-E100-8B057D5866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7700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B622327-C610-ACB2-C11D-8032C1D4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78" y="160493"/>
            <a:ext cx="1003069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NPO Deployed First in IDCs; CPO As The Endgame for Aggressive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4429349-E311-207A-02F7-77C94D8F5E70}"/>
              </a:ext>
            </a:extLst>
          </p:cNvPr>
          <p:cNvSpPr txBox="1"/>
          <p:nvPr/>
        </p:nvSpPr>
        <p:spPr>
          <a:xfrm>
            <a:off x="364253" y="6455554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 Alibaba Cloud,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Guangfa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Security,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ServeTheHome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CC64C4E-A0E6-DD86-9F2F-D8DFC42E585C}"/>
              </a:ext>
            </a:extLst>
          </p:cNvPr>
          <p:cNvSpPr/>
          <p:nvPr/>
        </p:nvSpPr>
        <p:spPr>
          <a:xfrm>
            <a:off x="387989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5AD29B7-8E70-B14A-EBC4-F6A474B72819}"/>
              </a:ext>
            </a:extLst>
          </p:cNvPr>
          <p:cNvSpPr/>
          <p:nvPr/>
        </p:nvSpPr>
        <p:spPr>
          <a:xfrm>
            <a:off x="882278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0257DA0-AAA5-E007-CA8D-169D416F566B}"/>
              </a:ext>
            </a:extLst>
          </p:cNvPr>
          <p:cNvSpPr/>
          <p:nvPr/>
        </p:nvSpPr>
        <p:spPr>
          <a:xfrm>
            <a:off x="636354" y="1742810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E7A86A6-0FFA-F6A0-C779-468A14E0A42F}"/>
              </a:ext>
            </a:extLst>
          </p:cNvPr>
          <p:cNvSpPr/>
          <p:nvPr/>
        </p:nvSpPr>
        <p:spPr>
          <a:xfrm>
            <a:off x="600243" y="37014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NPO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4" name="矩形 1023">
            <a:extLst>
              <a:ext uri="{FF2B5EF4-FFF2-40B4-BE49-F238E27FC236}">
                <a16:creationId xmlns:a16="http://schemas.microsoft.com/office/drawing/2014/main" id="{FCE4767A-1B33-73F9-DE88-463C175E9E37}"/>
              </a:ext>
            </a:extLst>
          </p:cNvPr>
          <p:cNvSpPr/>
          <p:nvPr/>
        </p:nvSpPr>
        <p:spPr>
          <a:xfrm>
            <a:off x="628403" y="540424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F8E96B75-D0C9-F98D-D496-BBBCB7AB362D}"/>
              </a:ext>
            </a:extLst>
          </p:cNvPr>
          <p:cNvSpPr/>
          <p:nvPr/>
        </p:nvSpPr>
        <p:spPr>
          <a:xfrm>
            <a:off x="6346346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7" name="矩形 1026">
            <a:extLst>
              <a:ext uri="{FF2B5EF4-FFF2-40B4-BE49-F238E27FC236}">
                <a16:creationId xmlns:a16="http://schemas.microsoft.com/office/drawing/2014/main" id="{F04E27EF-80A6-31F2-9AF2-A0D6E48206AD}"/>
              </a:ext>
            </a:extLst>
          </p:cNvPr>
          <p:cNvSpPr/>
          <p:nvPr/>
        </p:nvSpPr>
        <p:spPr>
          <a:xfrm>
            <a:off x="7564811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C08ED15-8090-62F0-D83D-9A566157EC48}"/>
              </a:ext>
            </a:extLst>
          </p:cNvPr>
          <p:cNvSpPr txBox="1"/>
          <p:nvPr/>
        </p:nvSpPr>
        <p:spPr>
          <a:xfrm>
            <a:off x="142425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E7CECB11-EAB4-D4F1-A4D7-ADAC90579D30}"/>
              </a:ext>
            </a:extLst>
          </p:cNvPr>
          <p:cNvSpPr txBox="1"/>
          <p:nvPr/>
        </p:nvSpPr>
        <p:spPr>
          <a:xfrm>
            <a:off x="3888518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2023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71BAABB-AE66-6A4D-FF9B-9AAF146BE438}"/>
              </a:ext>
            </a:extLst>
          </p:cNvPr>
          <p:cNvSpPr txBox="1"/>
          <p:nvPr/>
        </p:nvSpPr>
        <p:spPr>
          <a:xfrm>
            <a:off x="6362447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B931E8E-A3AF-2B7D-D792-FD1BF58BE630}"/>
              </a:ext>
            </a:extLst>
          </p:cNvPr>
          <p:cNvSpPr txBox="1"/>
          <p:nvPr/>
        </p:nvSpPr>
        <p:spPr>
          <a:xfrm>
            <a:off x="8817056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2027</a:t>
            </a:r>
            <a:endParaRPr lang="zh-CN" altLang="en-US" dirty="0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C225C8A-D510-9B71-93EB-C36E49BB0E1C}"/>
              </a:ext>
            </a:extLst>
          </p:cNvPr>
          <p:cNvSpPr/>
          <p:nvPr/>
        </p:nvSpPr>
        <p:spPr>
          <a:xfrm>
            <a:off x="7061302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496DBE60-D9BE-C995-3B44-BE500107B923}"/>
              </a:ext>
            </a:extLst>
          </p:cNvPr>
          <p:cNvSpPr/>
          <p:nvPr/>
        </p:nvSpPr>
        <p:spPr>
          <a:xfrm>
            <a:off x="82728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6.4T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316EB98-C0CE-A313-3EE2-E286C5E57C1A}"/>
              </a:ext>
            </a:extLst>
          </p:cNvPr>
          <p:cNvSpPr/>
          <p:nvPr/>
        </p:nvSpPr>
        <p:spPr>
          <a:xfrm>
            <a:off x="3845558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51.2T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A8976A9-1108-33B0-38B8-B87CABD5CF77}"/>
              </a:ext>
            </a:extLst>
          </p:cNvPr>
          <p:cNvSpPr/>
          <p:nvPr/>
        </p:nvSpPr>
        <p:spPr>
          <a:xfrm>
            <a:off x="6266652" y="5058143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102.4T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94C09CA8-D743-F664-35A2-B2F113C3D22B}"/>
              </a:ext>
            </a:extLst>
          </p:cNvPr>
          <p:cNvSpPr/>
          <p:nvPr/>
        </p:nvSpPr>
        <p:spPr>
          <a:xfrm>
            <a:off x="140642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CC5D96FD-89B2-3794-D876-A3DD01577B04}"/>
              </a:ext>
            </a:extLst>
          </p:cNvPr>
          <p:cNvSpPr/>
          <p:nvPr/>
        </p:nvSpPr>
        <p:spPr>
          <a:xfrm>
            <a:off x="2647547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25.6T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3ED8E2B2-0CE5-69CE-66AF-D7957D0A54BD}"/>
              </a:ext>
            </a:extLst>
          </p:cNvPr>
          <p:cNvSpPr txBox="1"/>
          <p:nvPr/>
        </p:nvSpPr>
        <p:spPr>
          <a:xfrm>
            <a:off x="9964844" y="896001"/>
            <a:ext cx="88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Future</a:t>
            </a:r>
            <a:endParaRPr lang="zh-CN" altLang="en-US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D3B8617-0B13-EDF9-A9C1-823B0FF4F4A8}"/>
              </a:ext>
            </a:extLst>
          </p:cNvPr>
          <p:cNvSpPr txBox="1"/>
          <p:nvPr/>
        </p:nvSpPr>
        <p:spPr>
          <a:xfrm>
            <a:off x="758492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E28C7B98-145C-983D-E900-8E6E3D640357}"/>
              </a:ext>
            </a:extLst>
          </p:cNvPr>
          <p:cNvSpPr txBox="1"/>
          <p:nvPr/>
        </p:nvSpPr>
        <p:spPr>
          <a:xfrm>
            <a:off x="5120652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4C816922-BC40-E591-E08B-EBA7F3B601A2}"/>
              </a:ext>
            </a:extLst>
          </p:cNvPr>
          <p:cNvSpPr txBox="1"/>
          <p:nvPr/>
        </p:nvSpPr>
        <p:spPr>
          <a:xfrm>
            <a:off x="2656384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25BE418D-AD87-6363-D6B1-2FD4AA1F37A8}"/>
              </a:ext>
            </a:extLst>
          </p:cNvPr>
          <p:cNvSpPr/>
          <p:nvPr/>
        </p:nvSpPr>
        <p:spPr>
          <a:xfrm>
            <a:off x="2156995" y="38758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F04F6F12-1612-41E7-D167-9382971BFC7B}"/>
              </a:ext>
            </a:extLst>
          </p:cNvPr>
          <p:cNvSpPr/>
          <p:nvPr/>
        </p:nvSpPr>
        <p:spPr>
          <a:xfrm>
            <a:off x="8170775" y="5058143"/>
            <a:ext cx="919720" cy="364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204.8T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BA0B21B7-4179-6B3E-4D26-819D61DF9E25}"/>
              </a:ext>
            </a:extLst>
          </p:cNvPr>
          <p:cNvSpPr/>
          <p:nvPr/>
        </p:nvSpPr>
        <p:spPr>
          <a:xfrm>
            <a:off x="100229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12.8T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9140CE1-44BC-90E1-28F9-C8039348F128}"/>
              </a:ext>
            </a:extLst>
          </p:cNvPr>
          <p:cNvCxnSpPr>
            <a:cxnSpLocks/>
            <a:endCxn id="234" idx="12"/>
          </p:cNvCxnSpPr>
          <p:nvPr/>
        </p:nvCxnSpPr>
        <p:spPr>
          <a:xfrm flipV="1">
            <a:off x="1115153" y="1923374"/>
            <a:ext cx="7989263" cy="6547"/>
          </a:xfrm>
          <a:prstGeom prst="line">
            <a:avLst/>
          </a:prstGeom>
          <a:ln>
            <a:solidFill>
              <a:srgbClr val="E94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iconfont-1018-792472">
            <a:extLst>
              <a:ext uri="{FF2B5EF4-FFF2-40B4-BE49-F238E27FC236}">
                <a16:creationId xmlns:a16="http://schemas.microsoft.com/office/drawing/2014/main" id="{CD4B04F7-8ACA-F360-705F-EE66A0E60DE0}"/>
              </a:ext>
            </a:extLst>
          </p:cNvPr>
          <p:cNvSpPr/>
          <p:nvPr/>
        </p:nvSpPr>
        <p:spPr>
          <a:xfrm>
            <a:off x="167963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iconfont-1018-792472">
            <a:extLst>
              <a:ext uri="{FF2B5EF4-FFF2-40B4-BE49-F238E27FC236}">
                <a16:creationId xmlns:a16="http://schemas.microsoft.com/office/drawing/2014/main" id="{55A38308-015A-C91E-2929-BF8DBB02BE02}"/>
              </a:ext>
            </a:extLst>
          </p:cNvPr>
          <p:cNvSpPr/>
          <p:nvPr/>
        </p:nvSpPr>
        <p:spPr>
          <a:xfrm>
            <a:off x="415310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iconfont-1018-792472">
            <a:extLst>
              <a:ext uri="{FF2B5EF4-FFF2-40B4-BE49-F238E27FC236}">
                <a16:creationId xmlns:a16="http://schemas.microsoft.com/office/drawing/2014/main" id="{352D3C95-1D4E-D1DA-67D0-03FA5B669FD4}"/>
              </a:ext>
            </a:extLst>
          </p:cNvPr>
          <p:cNvSpPr/>
          <p:nvPr/>
        </p:nvSpPr>
        <p:spPr>
          <a:xfrm>
            <a:off x="6619556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iconfont-1018-792472">
            <a:extLst>
              <a:ext uri="{FF2B5EF4-FFF2-40B4-BE49-F238E27FC236}">
                <a16:creationId xmlns:a16="http://schemas.microsoft.com/office/drawing/2014/main" id="{D7509375-AD24-AB96-0480-71EA5817F9E3}"/>
              </a:ext>
            </a:extLst>
          </p:cNvPr>
          <p:cNvSpPr/>
          <p:nvPr/>
        </p:nvSpPr>
        <p:spPr>
          <a:xfrm>
            <a:off x="909599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iconfont-1018-792472">
            <a:extLst>
              <a:ext uri="{FF2B5EF4-FFF2-40B4-BE49-F238E27FC236}">
                <a16:creationId xmlns:a16="http://schemas.microsoft.com/office/drawing/2014/main" id="{31BC23AF-1B33-5C96-C220-F38D9D4CA72A}"/>
              </a:ext>
            </a:extLst>
          </p:cNvPr>
          <p:cNvSpPr/>
          <p:nvPr/>
        </p:nvSpPr>
        <p:spPr>
          <a:xfrm>
            <a:off x="784174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iconfont-1018-792472">
            <a:extLst>
              <a:ext uri="{FF2B5EF4-FFF2-40B4-BE49-F238E27FC236}">
                <a16:creationId xmlns:a16="http://schemas.microsoft.com/office/drawing/2014/main" id="{AC205E22-63DC-C616-87AB-2DEA8BBF55EC}"/>
              </a:ext>
            </a:extLst>
          </p:cNvPr>
          <p:cNvSpPr/>
          <p:nvPr/>
        </p:nvSpPr>
        <p:spPr>
          <a:xfrm>
            <a:off x="7324631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iconfont-1018-792472">
            <a:extLst>
              <a:ext uri="{FF2B5EF4-FFF2-40B4-BE49-F238E27FC236}">
                <a16:creationId xmlns:a16="http://schemas.microsoft.com/office/drawing/2014/main" id="{82C5B57D-F038-BECE-1165-773DA379D8F3}"/>
              </a:ext>
            </a:extLst>
          </p:cNvPr>
          <p:cNvSpPr/>
          <p:nvPr/>
        </p:nvSpPr>
        <p:spPr>
          <a:xfrm>
            <a:off x="8546028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iconfont-1018-792472">
            <a:extLst>
              <a:ext uri="{FF2B5EF4-FFF2-40B4-BE49-F238E27FC236}">
                <a16:creationId xmlns:a16="http://schemas.microsoft.com/office/drawing/2014/main" id="{6ED6CA94-5527-E74F-6945-FC1B1826C905}"/>
              </a:ext>
            </a:extLst>
          </p:cNvPr>
          <p:cNvSpPr/>
          <p:nvPr/>
        </p:nvSpPr>
        <p:spPr>
          <a:xfrm>
            <a:off x="2931693" y="394411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iconfont-1018-792472">
            <a:extLst>
              <a:ext uri="{FF2B5EF4-FFF2-40B4-BE49-F238E27FC236}">
                <a16:creationId xmlns:a16="http://schemas.microsoft.com/office/drawing/2014/main" id="{2C8633A8-C81E-E797-D4A8-F2EAD1F702E6}"/>
              </a:ext>
            </a:extLst>
          </p:cNvPr>
          <p:cNvSpPr/>
          <p:nvPr/>
        </p:nvSpPr>
        <p:spPr>
          <a:xfrm>
            <a:off x="10286247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67902325-E9AA-9A78-D929-3BA20FBC29E8}"/>
              </a:ext>
            </a:extLst>
          </p:cNvPr>
          <p:cNvCxnSpPr>
            <a:cxnSpLocks/>
            <a:stCxn id="238" idx="3"/>
          </p:cNvCxnSpPr>
          <p:nvPr/>
        </p:nvCxnSpPr>
        <p:spPr>
          <a:xfrm>
            <a:off x="7530414" y="3781040"/>
            <a:ext cx="3569386" cy="0"/>
          </a:xfrm>
          <a:prstGeom prst="straightConnector1">
            <a:avLst/>
          </a:prstGeom>
          <a:ln w="9525">
            <a:solidFill>
              <a:srgbClr val="E94D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iconfont-1018-792472">
            <a:extLst>
              <a:ext uri="{FF2B5EF4-FFF2-40B4-BE49-F238E27FC236}">
                <a16:creationId xmlns:a16="http://schemas.microsoft.com/office/drawing/2014/main" id="{464CD2D3-956E-134F-E4F3-21697837F126}"/>
              </a:ext>
            </a:extLst>
          </p:cNvPr>
          <p:cNvSpPr/>
          <p:nvPr/>
        </p:nvSpPr>
        <p:spPr>
          <a:xfrm>
            <a:off x="661851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iconfont-1018-792472">
            <a:extLst>
              <a:ext uri="{FF2B5EF4-FFF2-40B4-BE49-F238E27FC236}">
                <a16:creationId xmlns:a16="http://schemas.microsoft.com/office/drawing/2014/main" id="{DF76FC0A-39D0-4777-7942-1B8588B80BF2}"/>
              </a:ext>
            </a:extLst>
          </p:cNvPr>
          <p:cNvSpPr/>
          <p:nvPr/>
        </p:nvSpPr>
        <p:spPr>
          <a:xfrm>
            <a:off x="8546028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iconfont-1018-792472">
            <a:extLst>
              <a:ext uri="{FF2B5EF4-FFF2-40B4-BE49-F238E27FC236}">
                <a16:creationId xmlns:a16="http://schemas.microsoft.com/office/drawing/2014/main" id="{750E1ABC-EEEF-7A71-118B-8423DE6118AA}"/>
              </a:ext>
            </a:extLst>
          </p:cNvPr>
          <p:cNvSpPr/>
          <p:nvPr/>
        </p:nvSpPr>
        <p:spPr>
          <a:xfrm>
            <a:off x="1028624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iconfont-1018-792472">
            <a:extLst>
              <a:ext uri="{FF2B5EF4-FFF2-40B4-BE49-F238E27FC236}">
                <a16:creationId xmlns:a16="http://schemas.microsoft.com/office/drawing/2014/main" id="{C72306BB-6BA9-9570-E6DB-677E3502E2D2}"/>
              </a:ext>
            </a:extLst>
          </p:cNvPr>
          <p:cNvSpPr/>
          <p:nvPr/>
        </p:nvSpPr>
        <p:spPr>
          <a:xfrm>
            <a:off x="412890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iconfont-1018-792472">
            <a:extLst>
              <a:ext uri="{FF2B5EF4-FFF2-40B4-BE49-F238E27FC236}">
                <a16:creationId xmlns:a16="http://schemas.microsoft.com/office/drawing/2014/main" id="{31AC85FB-AEA5-3072-65C5-9E1EB24CD3A8}"/>
              </a:ext>
            </a:extLst>
          </p:cNvPr>
          <p:cNvSpPr/>
          <p:nvPr/>
        </p:nvSpPr>
        <p:spPr>
          <a:xfrm>
            <a:off x="289655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5" name="直接连接符 1094">
            <a:extLst>
              <a:ext uri="{FF2B5EF4-FFF2-40B4-BE49-F238E27FC236}">
                <a16:creationId xmlns:a16="http://schemas.microsoft.com/office/drawing/2014/main" id="{E7DD9156-855A-D353-002E-34F52E93F72B}"/>
              </a:ext>
            </a:extLst>
          </p:cNvPr>
          <p:cNvCxnSpPr>
            <a:cxnSpLocks/>
          </p:cNvCxnSpPr>
          <p:nvPr/>
        </p:nvCxnSpPr>
        <p:spPr>
          <a:xfrm>
            <a:off x="1115153" y="1336805"/>
            <a:ext cx="9984647" cy="0"/>
          </a:xfrm>
          <a:prstGeom prst="line">
            <a:avLst/>
          </a:prstGeom>
          <a:ln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任意多边形: 形状 1096">
            <a:extLst>
              <a:ext uri="{FF2B5EF4-FFF2-40B4-BE49-F238E27FC236}">
                <a16:creationId xmlns:a16="http://schemas.microsoft.com/office/drawing/2014/main" id="{9720371E-C2AF-C325-B1FD-0FA143C5A7A0}"/>
              </a:ext>
            </a:extLst>
          </p:cNvPr>
          <p:cNvSpPr/>
          <p:nvPr/>
        </p:nvSpPr>
        <p:spPr>
          <a:xfrm flipV="1">
            <a:off x="5810715" y="1925502"/>
            <a:ext cx="1522166" cy="1802780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84CF0086-2CF3-4661-BDAE-97F8471B9A47}"/>
              </a:ext>
            </a:extLst>
          </p:cNvPr>
          <p:cNvSpPr/>
          <p:nvPr/>
        </p:nvSpPr>
        <p:spPr>
          <a:xfrm>
            <a:off x="9929278" y="5041809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409.6T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7863259A-AC8E-3E4F-363B-14D88E98164B}"/>
              </a:ext>
            </a:extLst>
          </p:cNvPr>
          <p:cNvCxnSpPr>
            <a:cxnSpLocks/>
          </p:cNvCxnSpPr>
          <p:nvPr/>
        </p:nvCxnSpPr>
        <p:spPr>
          <a:xfrm>
            <a:off x="1238631" y="5583619"/>
            <a:ext cx="9861169" cy="0"/>
          </a:xfrm>
          <a:prstGeom prst="straightConnector1">
            <a:avLst/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任意多边形: 形状 1103">
            <a:extLst>
              <a:ext uri="{FF2B5EF4-FFF2-40B4-BE49-F238E27FC236}">
                <a16:creationId xmlns:a16="http://schemas.microsoft.com/office/drawing/2014/main" id="{19B0AB06-0A84-EC50-6BE5-869095120002}"/>
              </a:ext>
            </a:extLst>
          </p:cNvPr>
          <p:cNvSpPr/>
          <p:nvPr/>
        </p:nvSpPr>
        <p:spPr>
          <a:xfrm>
            <a:off x="1878647" y="4112460"/>
            <a:ext cx="1074407" cy="1471158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任意多边形: 形状 1105">
            <a:extLst>
              <a:ext uri="{FF2B5EF4-FFF2-40B4-BE49-F238E27FC236}">
                <a16:creationId xmlns:a16="http://schemas.microsoft.com/office/drawing/2014/main" id="{79B62841-7785-6EC7-709E-6A9845F695FA}"/>
              </a:ext>
            </a:extLst>
          </p:cNvPr>
          <p:cNvSpPr/>
          <p:nvPr/>
        </p:nvSpPr>
        <p:spPr>
          <a:xfrm>
            <a:off x="6826315" y="4090835"/>
            <a:ext cx="525392" cy="14927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7" name="iconfont-1018-792472">
            <a:extLst>
              <a:ext uri="{FF2B5EF4-FFF2-40B4-BE49-F238E27FC236}">
                <a16:creationId xmlns:a16="http://schemas.microsoft.com/office/drawing/2014/main" id="{74D4BFC6-7AE8-8B8C-7D91-E95DFE1332BC}"/>
              </a:ext>
            </a:extLst>
          </p:cNvPr>
          <p:cNvSpPr/>
          <p:nvPr/>
        </p:nvSpPr>
        <p:spPr>
          <a:xfrm>
            <a:off x="7323948" y="3939603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3C28C0F-1BEE-3684-C0B4-C981797FB09A}"/>
              </a:ext>
            </a:extLst>
          </p:cNvPr>
          <p:cNvSpPr/>
          <p:nvPr/>
        </p:nvSpPr>
        <p:spPr>
          <a:xfrm>
            <a:off x="6125769" y="3869548"/>
            <a:ext cx="1153872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800G/1.6T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10" name="直接连接符 1109">
            <a:extLst>
              <a:ext uri="{FF2B5EF4-FFF2-40B4-BE49-F238E27FC236}">
                <a16:creationId xmlns:a16="http://schemas.microsoft.com/office/drawing/2014/main" id="{AC442583-E0DD-9135-D2C9-7BDBC5C10B5A}"/>
              </a:ext>
            </a:extLst>
          </p:cNvPr>
          <p:cNvCxnSpPr>
            <a:cxnSpLocks/>
            <a:endCxn id="1114" idx="0"/>
          </p:cNvCxnSpPr>
          <p:nvPr/>
        </p:nvCxnSpPr>
        <p:spPr>
          <a:xfrm flipV="1">
            <a:off x="7529731" y="4049037"/>
            <a:ext cx="1730576" cy="4"/>
          </a:xfrm>
          <a:prstGeom prst="lin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4" name="任意多边形: 形状 1113">
            <a:extLst>
              <a:ext uri="{FF2B5EF4-FFF2-40B4-BE49-F238E27FC236}">
                <a16:creationId xmlns:a16="http://schemas.microsoft.com/office/drawing/2014/main" id="{F7C79248-532D-8889-375A-E3315E3D222D}"/>
              </a:ext>
            </a:extLst>
          </p:cNvPr>
          <p:cNvSpPr/>
          <p:nvPr/>
        </p:nvSpPr>
        <p:spPr>
          <a:xfrm flipV="1">
            <a:off x="9260307" y="4049037"/>
            <a:ext cx="1024508" cy="153457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7" name="upper-right-arrow-black-symbol_39545">
            <a:extLst>
              <a:ext uri="{FF2B5EF4-FFF2-40B4-BE49-F238E27FC236}">
                <a16:creationId xmlns:a16="http://schemas.microsoft.com/office/drawing/2014/main" id="{9FD4765A-4DA9-6863-B444-B8759D91BF88}"/>
              </a:ext>
            </a:extLst>
          </p:cNvPr>
          <p:cNvSpPr/>
          <p:nvPr/>
        </p:nvSpPr>
        <p:spPr>
          <a:xfrm rot="2722466">
            <a:off x="2446503" y="553865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upper-right-arrow-black-symbol_39545">
            <a:extLst>
              <a:ext uri="{FF2B5EF4-FFF2-40B4-BE49-F238E27FC236}">
                <a16:creationId xmlns:a16="http://schemas.microsoft.com/office/drawing/2014/main" id="{6892A344-CC34-C156-8952-31EF47C3F7D2}"/>
              </a:ext>
            </a:extLst>
          </p:cNvPr>
          <p:cNvSpPr/>
          <p:nvPr/>
        </p:nvSpPr>
        <p:spPr>
          <a:xfrm rot="20255652">
            <a:off x="2481169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upper-right-arrow-black-symbol_39545">
            <a:extLst>
              <a:ext uri="{FF2B5EF4-FFF2-40B4-BE49-F238E27FC236}">
                <a16:creationId xmlns:a16="http://schemas.microsoft.com/office/drawing/2014/main" id="{7C0AE32C-13E4-698C-765C-434D7599EA07}"/>
              </a:ext>
            </a:extLst>
          </p:cNvPr>
          <p:cNvSpPr/>
          <p:nvPr/>
        </p:nvSpPr>
        <p:spPr>
          <a:xfrm rot="2722466">
            <a:off x="7088998" y="554642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upper-right-arrow-black-symbol_39545">
            <a:extLst>
              <a:ext uri="{FF2B5EF4-FFF2-40B4-BE49-F238E27FC236}">
                <a16:creationId xmlns:a16="http://schemas.microsoft.com/office/drawing/2014/main" id="{6C2BB717-D6E7-E9CC-65EF-745A99EBE04C}"/>
              </a:ext>
            </a:extLst>
          </p:cNvPr>
          <p:cNvSpPr/>
          <p:nvPr/>
        </p:nvSpPr>
        <p:spPr>
          <a:xfrm rot="7156952">
            <a:off x="9769655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upper-right-arrow-black-symbol_39545">
            <a:extLst>
              <a:ext uri="{FF2B5EF4-FFF2-40B4-BE49-F238E27FC236}">
                <a16:creationId xmlns:a16="http://schemas.microsoft.com/office/drawing/2014/main" id="{09E7CDA3-908E-9906-5D4B-77C6A44DE405}"/>
              </a:ext>
            </a:extLst>
          </p:cNvPr>
          <p:cNvSpPr/>
          <p:nvPr/>
        </p:nvSpPr>
        <p:spPr>
          <a:xfrm rot="19393142">
            <a:off x="7098527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upper-right-arrow-black-symbol_39545">
            <a:extLst>
              <a:ext uri="{FF2B5EF4-FFF2-40B4-BE49-F238E27FC236}">
                <a16:creationId xmlns:a16="http://schemas.microsoft.com/office/drawing/2014/main" id="{AD4189DB-2BA4-3885-AE4A-8A1DC1C5C0C4}"/>
              </a:ext>
            </a:extLst>
          </p:cNvPr>
          <p:cNvSpPr/>
          <p:nvPr/>
        </p:nvSpPr>
        <p:spPr>
          <a:xfrm rot="2722466">
            <a:off x="6313010" y="1889882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upper-right-arrow-black-symbol_39545">
            <a:extLst>
              <a:ext uri="{FF2B5EF4-FFF2-40B4-BE49-F238E27FC236}">
                <a16:creationId xmlns:a16="http://schemas.microsoft.com/office/drawing/2014/main" id="{EA9B3575-12CD-3C0C-EF1D-B46A90EA0D2A}"/>
              </a:ext>
            </a:extLst>
          </p:cNvPr>
          <p:cNvSpPr/>
          <p:nvPr/>
        </p:nvSpPr>
        <p:spPr>
          <a:xfrm rot="7000073">
            <a:off x="6633743" y="282995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upper-right-arrow-black-symbol_39545">
            <a:extLst>
              <a:ext uri="{FF2B5EF4-FFF2-40B4-BE49-F238E27FC236}">
                <a16:creationId xmlns:a16="http://schemas.microsoft.com/office/drawing/2014/main" id="{A8851DC4-5DFD-0CD5-54EF-049524FCBE28}"/>
              </a:ext>
            </a:extLst>
          </p:cNvPr>
          <p:cNvSpPr/>
          <p:nvPr/>
        </p:nvSpPr>
        <p:spPr>
          <a:xfrm rot="2789154">
            <a:off x="8016318" y="3741344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任意多边形: 形状 1125">
            <a:extLst>
              <a:ext uri="{FF2B5EF4-FFF2-40B4-BE49-F238E27FC236}">
                <a16:creationId xmlns:a16="http://schemas.microsoft.com/office/drawing/2014/main" id="{8279A413-B057-179D-47A8-574F482AD9AF}"/>
              </a:ext>
            </a:extLst>
          </p:cNvPr>
          <p:cNvSpPr/>
          <p:nvPr/>
        </p:nvSpPr>
        <p:spPr>
          <a:xfrm flipV="1">
            <a:off x="8077840" y="3780834"/>
            <a:ext cx="525392" cy="170643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文本框 1127">
            <a:extLst>
              <a:ext uri="{FF2B5EF4-FFF2-40B4-BE49-F238E27FC236}">
                <a16:creationId xmlns:a16="http://schemas.microsoft.com/office/drawing/2014/main" id="{4BACA574-5586-ACEC-597F-7386D6A52F2F}"/>
              </a:ext>
            </a:extLst>
          </p:cNvPr>
          <p:cNvSpPr txBox="1"/>
          <p:nvPr/>
        </p:nvSpPr>
        <p:spPr>
          <a:xfrm>
            <a:off x="9440697" y="1792507"/>
            <a:ext cx="1688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Limits of PO reached</a:t>
            </a:r>
            <a:endParaRPr lang="zh-CN" altLang="en-US" sz="1200" dirty="0"/>
          </a:p>
        </p:txBody>
      </p:sp>
      <p:grpSp>
        <p:nvGrpSpPr>
          <p:cNvPr id="1137" name="组合 1136">
            <a:extLst>
              <a:ext uri="{FF2B5EF4-FFF2-40B4-BE49-F238E27FC236}">
                <a16:creationId xmlns:a16="http://schemas.microsoft.com/office/drawing/2014/main" id="{46200647-3C02-B7EC-548E-A0FEBEE83C64}"/>
              </a:ext>
            </a:extLst>
          </p:cNvPr>
          <p:cNvGrpSpPr/>
          <p:nvPr/>
        </p:nvGrpSpPr>
        <p:grpSpPr>
          <a:xfrm>
            <a:off x="364253" y="6113134"/>
            <a:ext cx="8044343" cy="423291"/>
            <a:chOff x="364253" y="5986134"/>
            <a:chExt cx="8044343" cy="423291"/>
          </a:xfrm>
        </p:grpSpPr>
        <p:cxnSp>
          <p:nvCxnSpPr>
            <p:cNvPr id="1129" name="直接连接符 1128">
              <a:extLst>
                <a:ext uri="{FF2B5EF4-FFF2-40B4-BE49-F238E27FC236}">
                  <a16:creationId xmlns:a16="http://schemas.microsoft.com/office/drawing/2014/main" id="{4EF83BB6-5B84-C903-F9FF-4A4928C8D3A9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089026"/>
              <a:ext cx="543797" cy="0"/>
            </a:xfrm>
            <a:prstGeom prst="line">
              <a:avLst/>
            </a:prstGeom>
            <a:ln>
              <a:solidFill>
                <a:srgbClr val="E94D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1" name="iconfont-1018-792472">
              <a:extLst>
                <a:ext uri="{FF2B5EF4-FFF2-40B4-BE49-F238E27FC236}">
                  <a16:creationId xmlns:a16="http://schemas.microsoft.com/office/drawing/2014/main" id="{52836F31-4B44-F778-CF60-A76C80924A4F}"/>
                </a:ext>
              </a:extLst>
            </p:cNvPr>
            <p:cNvSpPr/>
            <p:nvPr/>
          </p:nvSpPr>
          <p:spPr>
            <a:xfrm>
              <a:off x="533259" y="59861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E94D12"/>
            </a:solidFill>
            <a:ln>
              <a:solidFill>
                <a:srgbClr val="E94D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文本框 1131">
              <a:extLst>
                <a:ext uri="{FF2B5EF4-FFF2-40B4-BE49-F238E27FC236}">
                  <a16:creationId xmlns:a16="http://schemas.microsoft.com/office/drawing/2014/main" id="{A859F0F8-7B48-CA1C-C663-3FFE60B3E8D7}"/>
                </a:ext>
              </a:extLst>
            </p:cNvPr>
            <p:cNvSpPr txBox="1"/>
            <p:nvPr/>
          </p:nvSpPr>
          <p:spPr>
            <a:xfrm>
              <a:off x="1012455" y="59871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Alibaba Cloud Data Center Deployment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36" name="组合 1135">
            <a:extLst>
              <a:ext uri="{FF2B5EF4-FFF2-40B4-BE49-F238E27FC236}">
                <a16:creationId xmlns:a16="http://schemas.microsoft.com/office/drawing/2014/main" id="{0D36F2EA-9619-06BC-DD6C-93F2051E593F}"/>
              </a:ext>
            </a:extLst>
          </p:cNvPr>
          <p:cNvGrpSpPr/>
          <p:nvPr/>
        </p:nvGrpSpPr>
        <p:grpSpPr>
          <a:xfrm>
            <a:off x="4710525" y="6101004"/>
            <a:ext cx="8044343" cy="423291"/>
            <a:chOff x="364253" y="6278234"/>
            <a:chExt cx="8044343" cy="423291"/>
          </a:xfrm>
        </p:grpSpPr>
        <p:cxnSp>
          <p:nvCxnSpPr>
            <p:cNvPr id="1133" name="直接连接符 1132">
              <a:extLst>
                <a:ext uri="{FF2B5EF4-FFF2-40B4-BE49-F238E27FC236}">
                  <a16:creationId xmlns:a16="http://schemas.microsoft.com/office/drawing/2014/main" id="{8F2CD8FF-3E56-D94F-01F6-BAFBE4EFDCB4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381126"/>
              <a:ext cx="543797" cy="0"/>
            </a:xfrm>
            <a:prstGeom prst="line">
              <a:avLst/>
            </a:prstGeom>
            <a:ln>
              <a:solidFill>
                <a:srgbClr val="0052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4" name="iconfont-1018-792472">
              <a:extLst>
                <a:ext uri="{FF2B5EF4-FFF2-40B4-BE49-F238E27FC236}">
                  <a16:creationId xmlns:a16="http://schemas.microsoft.com/office/drawing/2014/main" id="{D12499ED-70DA-701D-648D-05746E0FF638}"/>
                </a:ext>
              </a:extLst>
            </p:cNvPr>
            <p:cNvSpPr/>
            <p:nvPr/>
          </p:nvSpPr>
          <p:spPr>
            <a:xfrm>
              <a:off x="533259" y="62782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文本框 1134">
              <a:extLst>
                <a:ext uri="{FF2B5EF4-FFF2-40B4-BE49-F238E27FC236}">
                  <a16:creationId xmlns:a16="http://schemas.microsoft.com/office/drawing/2014/main" id="{F2B68480-BAA6-8DB8-CEB5-620AD74803A9}"/>
                </a:ext>
              </a:extLst>
            </p:cNvPr>
            <p:cNvSpPr txBox="1"/>
            <p:nvPr/>
          </p:nvSpPr>
          <p:spPr>
            <a:xfrm>
              <a:off x="1012455" y="62792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Broadcom Development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156" name="文本框 1155">
            <a:extLst>
              <a:ext uri="{FF2B5EF4-FFF2-40B4-BE49-F238E27FC236}">
                <a16:creationId xmlns:a16="http://schemas.microsoft.com/office/drawing/2014/main" id="{FCCDCD9A-C9CE-5AFA-A006-3E4D9619A964}"/>
              </a:ext>
            </a:extLst>
          </p:cNvPr>
          <p:cNvSpPr txBox="1"/>
          <p:nvPr/>
        </p:nvSpPr>
        <p:spPr>
          <a:xfrm>
            <a:off x="429624" y="4434912"/>
            <a:ext cx="1953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Proposed NPO to succeed CPO 1.0 </a:t>
            </a:r>
            <a:endParaRPr lang="zh-CN" altLang="en-US" sz="1200" dirty="0"/>
          </a:p>
        </p:txBody>
      </p:sp>
      <p:sp>
        <p:nvSpPr>
          <p:cNvPr id="1157" name="文本框 1156">
            <a:extLst>
              <a:ext uri="{FF2B5EF4-FFF2-40B4-BE49-F238E27FC236}">
                <a16:creationId xmlns:a16="http://schemas.microsoft.com/office/drawing/2014/main" id="{BC23DD94-C98F-2D70-A04A-A6245C056B16}"/>
              </a:ext>
            </a:extLst>
          </p:cNvPr>
          <p:cNvSpPr txBox="1"/>
          <p:nvPr/>
        </p:nvSpPr>
        <p:spPr>
          <a:xfrm>
            <a:off x="5539137" y="4434912"/>
            <a:ext cx="1522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NPO advancement resumed</a:t>
            </a:r>
            <a:endParaRPr lang="zh-CN" altLang="en-US" sz="1200" dirty="0"/>
          </a:p>
        </p:txBody>
      </p:sp>
      <p:sp>
        <p:nvSpPr>
          <p:cNvPr id="1159" name="文本框 1158">
            <a:extLst>
              <a:ext uri="{FF2B5EF4-FFF2-40B4-BE49-F238E27FC236}">
                <a16:creationId xmlns:a16="http://schemas.microsoft.com/office/drawing/2014/main" id="{F2CD0610-4C42-282E-B9CF-4FBE7FEF7D59}"/>
              </a:ext>
            </a:extLst>
          </p:cNvPr>
          <p:cNvSpPr txBox="1"/>
          <p:nvPr/>
        </p:nvSpPr>
        <p:spPr>
          <a:xfrm>
            <a:off x="9879906" y="4434912"/>
            <a:ext cx="1616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replaced by CPO around 2028</a:t>
            </a:r>
            <a:endParaRPr lang="zh-CN" altLang="en-US" sz="1200" dirty="0"/>
          </a:p>
        </p:txBody>
      </p:sp>
      <p:sp>
        <p:nvSpPr>
          <p:cNvPr id="1164" name="文本框 1163">
            <a:extLst>
              <a:ext uri="{FF2B5EF4-FFF2-40B4-BE49-F238E27FC236}">
                <a16:creationId xmlns:a16="http://schemas.microsoft.com/office/drawing/2014/main" id="{0577E821-FEBC-40A1-B5B8-C6607809C66B}"/>
              </a:ext>
            </a:extLst>
          </p:cNvPr>
          <p:cNvSpPr txBox="1"/>
          <p:nvPr/>
        </p:nvSpPr>
        <p:spPr>
          <a:xfrm>
            <a:off x="3177152" y="3903994"/>
            <a:ext cx="1522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postponed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876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38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vs.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381267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69927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408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Single-rack; direct &amp; full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&lt;5m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5329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&gt;&gt;5m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346379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323579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54494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5383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52919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7987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5003052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84608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94432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82840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CPO for Scale Out first; Domestic: CPO for Scale Up first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732B22-A2E7-7704-E64B-75C5CB506E4D}"/>
              </a:ext>
            </a:extLst>
          </p:cNvPr>
          <p:cNvSpPr txBox="1"/>
          <p:nvPr/>
        </p:nvSpPr>
        <p:spPr>
          <a:xfrm>
            <a:off x="652531" y="5142643"/>
            <a:ext cx="1340313" cy="7554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kumimoji="1" sz="16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​CPO Initial Adoption</a:t>
            </a:r>
            <a:endParaRPr lang="en-US" altLang="zh-CN" dirty="0"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836027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2105234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9164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763299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Scale-up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2350668" y="193288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7039471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058" y="1928739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2853432" y="3311460"/>
            <a:ext cx="3004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electronics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EA6A49-3436-45CE-8A28-49F0C87992A5}"/>
              </a:ext>
            </a:extLst>
          </p:cNvPr>
          <p:cNvSpPr txBox="1"/>
          <p:nvPr/>
        </p:nvSpPr>
        <p:spPr>
          <a:xfrm>
            <a:off x="646528" y="1880365"/>
            <a:ext cx="1352317" cy="595046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Restrictions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730EC1-9D33-CB54-2CFC-74E7E487599E}"/>
              </a:ext>
            </a:extLst>
          </p:cNvPr>
          <p:cNvSpPr txBox="1"/>
          <p:nvPr/>
        </p:nvSpPr>
        <p:spPr>
          <a:xfrm>
            <a:off x="654100" y="3334812"/>
            <a:ext cx="1340313" cy="127703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Industry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479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r>
              <a:rPr kumimoji="0" lang="en-US" altLang="zh-CN" sz="1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7987935" y="3311460"/>
            <a:ext cx="23658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optics</a:t>
            </a:r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FA09F23E-B6CE-E640-247C-D1170D40F5BD}"/>
              </a:ext>
            </a:extLst>
          </p:cNvPr>
          <p:cNvSpPr/>
          <p:nvPr/>
        </p:nvSpPr>
        <p:spPr>
          <a:xfrm rot="10800000">
            <a:off x="3120436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1809A83B-AD48-958C-BFB3-EB2646F08B44}"/>
              </a:ext>
            </a:extLst>
          </p:cNvPr>
          <p:cNvSpPr/>
          <p:nvPr/>
        </p:nvSpPr>
        <p:spPr>
          <a:xfrm rot="10800000">
            <a:off x="7941744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2200445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Out: </a:t>
            </a:r>
            <a:r>
              <a:rPr lang="en-US" altLang="zh-CN" b="1" dirty="0">
                <a:solidFill>
                  <a:srgbClr val="0052D9"/>
                </a:solidFill>
              </a:rPr>
              <a:t>2025-2026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Faster path to </a:t>
            </a:r>
            <a:r>
              <a:rPr lang="en-US" altLang="zh-CN" sz="1400" b="1" dirty="0">
                <a:solidFill>
                  <a:srgbClr val="0052D9"/>
                </a:solidFill>
              </a:rPr>
              <a:t>commercialization</a:t>
            </a:r>
            <a:r>
              <a:rPr lang="en-US" altLang="zh-CN" sz="1400" dirty="0"/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 Up mass production: 2027-2028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4056451" y="394123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80%+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/DSP chip</a:t>
            </a:r>
            <a:r>
              <a:rPr lang="en-US" altLang="zh-CN" sz="1400" i="0" dirty="0">
                <a:effectLst/>
              </a:rPr>
              <a:t> market</a:t>
            </a:r>
            <a:endParaRPr lang="zh-CN" altLang="en-US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2B1AA71-8DBA-436A-A1BD-27AAF8AD6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96" y="3927328"/>
            <a:ext cx="325584" cy="31256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48E1699-6FD9-4CC1-CD64-6F077D9E31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4761" y="3933129"/>
            <a:ext cx="642530" cy="244993"/>
          </a:xfrm>
          <a:prstGeom prst="rect">
            <a:avLst/>
          </a:prstGeom>
        </p:spPr>
      </p:pic>
      <p:pic>
        <p:nvPicPr>
          <p:cNvPr id="50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872CFBC6-B8AA-ABA9-2C27-7E708B446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6" t="17821" b="20152"/>
          <a:stretch/>
        </p:blipFill>
        <p:spPr bwMode="auto">
          <a:xfrm>
            <a:off x="6961660" y="4271640"/>
            <a:ext cx="795476" cy="2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图像" descr="图像">
            <a:extLst>
              <a:ext uri="{FF2B5EF4-FFF2-40B4-BE49-F238E27FC236}">
                <a16:creationId xmlns:a16="http://schemas.microsoft.com/office/drawing/2014/main" id="{DC6A92A6-AC30-3119-2689-5CFB930D7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860" y="4284659"/>
            <a:ext cx="965100" cy="285957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06948" y="642907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 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98753" y="4108269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754605A-E031-7BC5-E6F4-C816BEB88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687" y="4022501"/>
            <a:ext cx="845672" cy="123188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8281023" y="3922911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6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0%</a:t>
            </a:r>
          </a:p>
          <a:p>
            <a:r>
              <a:rPr lang="en-US" altLang="zh-CN" sz="1400" i="0" dirty="0">
                <a:effectLst/>
              </a:rPr>
              <a:t>800G optical module market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7823325" y="408994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907846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Up: </a:t>
            </a:r>
            <a:r>
              <a:rPr lang="en-US" altLang="zh-CN" b="1" dirty="0">
                <a:solidFill>
                  <a:srgbClr val="0052D9"/>
                </a:solidFill>
              </a:rPr>
              <a:t>~2027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</a:rPr>
              <a:t>Compensate</a:t>
            </a:r>
            <a:r>
              <a:rPr lang="en-US" altLang="zh-CN" sz="1400" dirty="0"/>
              <a:t> for electrical weaknesses.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Amplify optical strengths</a:t>
            </a:r>
          </a:p>
        </p:txBody>
      </p:sp>
      <p:cxnSp>
        <p:nvCxnSpPr>
          <p:cNvPr id="76" name="直线连接符 34">
            <a:extLst>
              <a:ext uri="{FF2B5EF4-FFF2-40B4-BE49-F238E27FC236}">
                <a16:creationId xmlns:a16="http://schemas.microsoft.com/office/drawing/2014/main" id="{7BCBF591-831F-1A23-EFCF-1369DEDB04DA}"/>
              </a:ext>
            </a:extLst>
          </p:cNvPr>
          <p:cNvCxnSpPr>
            <a:cxnSpLocks/>
          </p:cNvCxnSpPr>
          <p:nvPr/>
        </p:nvCxnSpPr>
        <p:spPr>
          <a:xfrm>
            <a:off x="6849727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34">
            <a:extLst>
              <a:ext uri="{FF2B5EF4-FFF2-40B4-BE49-F238E27FC236}">
                <a16:creationId xmlns:a16="http://schemas.microsoft.com/office/drawing/2014/main" id="{FBBD434B-CD1E-5F61-CAAB-31E011343DA4}"/>
              </a:ext>
            </a:extLst>
          </p:cNvPr>
          <p:cNvCxnSpPr>
            <a:cxnSpLocks/>
          </p:cNvCxnSpPr>
          <p:nvPr/>
        </p:nvCxnSpPr>
        <p:spPr>
          <a:xfrm>
            <a:off x="654100" y="4907144"/>
            <a:ext cx="10177077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6274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Parallelly;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994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Aggressively 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1795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0557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3673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359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Out to 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94599"/>
            <a:ext cx="20070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4400188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309511"/>
            <a:ext cx="2001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3433672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2025–2026​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~2028(per Broadcom)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 Transceiver power consumption is based on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+mn-lt"/>
              </a:rPr>
              <a:t>10W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(400G PO); Ascend 910C single-card power ≈800W.​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≈1/3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≈1.7x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W/TFLOPS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CD55-FB77-A3AC-E199-52E1D5F9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664165-D337-BD98-86DD-A31B0D6CD5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2966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" name="文本框 245">
            <a:extLst>
              <a:ext uri="{FF2B5EF4-FFF2-40B4-BE49-F238E27FC236}">
                <a16:creationId xmlns:a16="http://schemas.microsoft.com/office/drawing/2014/main" id="{EA5C795C-C515-BC8D-C257-AFA9FF9F423B}"/>
              </a:ext>
            </a:extLst>
          </p:cNvPr>
          <p:cNvSpPr txBox="1"/>
          <p:nvPr/>
        </p:nvSpPr>
        <p:spPr>
          <a:xfrm>
            <a:off x="6623128" y="2290686"/>
            <a:ext cx="5364632" cy="4560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Potential Ports: </a:t>
            </a:r>
            <a:r>
              <a:rPr kumimoji="1" lang="en-US" altLang="zh-CN" sz="1600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GPUs/ASICs + switches using 800G/1.6T/3.2T transceivers. 2030E shipments: ​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100mn</a:t>
            </a:r>
            <a:r>
              <a:rPr kumimoji="1" lang="en-US" altLang="zh-CN" sz="1600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.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6D3086-13FE-1D29-38B8-E5C5C498FDD3}"/>
              </a:ext>
            </a:extLst>
          </p:cNvPr>
          <p:cNvSpPr txBox="1"/>
          <p:nvPr/>
        </p:nvSpPr>
        <p:spPr>
          <a:xfrm>
            <a:off x="6537633" y="2848913"/>
            <a:ext cx="5364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Penetration Rate: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Supported by new HPC cluster construction. 2030E penetration: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40%.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27F10C0B-C23E-88BE-46D2-0F936EECF229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Morgan Stanley Research,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LightCounting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SemiAnalysis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Broadcom expert.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0E159DE-54C8-6C37-B46D-FF12E3B08587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CPO: A Multi-Billion Dollar Market Paved by Data Rate Scaling</a:t>
            </a: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4C8FE088-9018-7181-2F90-D0428928D736}"/>
              </a:ext>
            </a:extLst>
          </p:cNvPr>
          <p:cNvGrpSpPr/>
          <p:nvPr/>
        </p:nvGrpSpPr>
        <p:grpSpPr>
          <a:xfrm>
            <a:off x="373525" y="2787152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7E71F5F1-653B-B5A0-1A03-4A14140FD997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2933873-1A82-A7F9-31CC-CC5E9A88B1F5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Base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28D8599-510F-84E1-32F5-0AFC97C92A17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918C1CBB-A30C-CF11-53E9-2DE4696E1092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813FA2-FCC4-9F84-F7C6-9552509CA901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172%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2030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E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 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Revenue: </a:t>
                </a:r>
                <a:r>
                  <a:rPr kumimoji="1" lang="en-US" altLang="zh-CN" sz="1600" b="1" dirty="0">
                    <a:solidFill>
                      <a:srgbClr val="0052D9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9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.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3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NVIDIA Rubin + Broadcom TH7 lead high-end pluggable module replacement; penetration ~40%.</a:t>
                </a:r>
                <a:endParaRPr kumimoji="1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3014FA72-4F3E-9274-7B07-15A87AE4E15F}"/>
              </a:ext>
            </a:extLst>
          </p:cNvPr>
          <p:cNvGrpSpPr/>
          <p:nvPr/>
        </p:nvGrpSpPr>
        <p:grpSpPr>
          <a:xfrm>
            <a:off x="333768" y="885069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2CC4547C-DD76-5143-213D-C0203683C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6624975-0981-D3F9-F854-E1C8F0149307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Bull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E27FD0E-E4FE-C07B-7940-A3C005F152C2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9E33F0B5-71D6-18C3-066D-C723F07AAE06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rgbClr val="FFFFFF"/>
                  </a:solidFill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E85FB7E-4715-B017-F84B-229D98780F76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210%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E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Revenue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: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27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CPO becomes mainstream in 800G/1.6T nodes; penetration &gt;60%, extends to 400G.</a:t>
                </a: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27311E0F-4485-4C28-38B6-7F3E77D40AD7}"/>
              </a:ext>
            </a:extLst>
          </p:cNvPr>
          <p:cNvGrpSpPr/>
          <p:nvPr/>
        </p:nvGrpSpPr>
        <p:grpSpPr>
          <a:xfrm>
            <a:off x="333768" y="466781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BCF078E-651C-DCF7-9B47-E30DF6BA447C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Bear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515180D-B682-5D59-5818-E29380D6C1B2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0698B97B-F638-0BA9-2DFD-235A76E50698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6A2E8E1-C152-F9E3-6C3B-BE5675788C2A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107%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2030E Revenue: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~$1B;</a:t>
                </a: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>
                        <a:lumMod val="10000"/>
                      </a:scheme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Piloted only in ultra-high-end AI clusters; penetration ≤15%.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4D043F2A-5C28-3691-4374-9746B8A9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EB973E8-1FEE-DB70-288F-C31A26AD01C9}"/>
              </a:ext>
            </a:extLst>
          </p:cNvPr>
          <p:cNvSpPr txBox="1"/>
          <p:nvPr/>
        </p:nvSpPr>
        <p:spPr>
          <a:xfrm>
            <a:off x="6426846" y="146123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6306EB-26B0-672C-CB1F-CF34879874A6}"/>
              </a:ext>
            </a:extLst>
          </p:cNvPr>
          <p:cNvSpPr txBox="1"/>
          <p:nvPr/>
        </p:nvSpPr>
        <p:spPr>
          <a:xfrm>
            <a:off x="7418928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=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826D3C-C9F7-864C-F674-04C05058C2CB}"/>
              </a:ext>
            </a:extLst>
          </p:cNvPr>
          <p:cNvSpPr txBox="1"/>
          <p:nvPr/>
        </p:nvSpPr>
        <p:spPr>
          <a:xfrm>
            <a:off x="7865920" y="1404158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Potential Ports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5821CD-80A0-4FCB-263B-885A20102CFC}"/>
              </a:ext>
            </a:extLst>
          </p:cNvPr>
          <p:cNvSpPr txBox="1"/>
          <p:nvPr/>
        </p:nvSpPr>
        <p:spPr>
          <a:xfrm>
            <a:off x="9354650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629C8D-0F4C-1F8A-C6AF-5658B92D4CF7}"/>
              </a:ext>
            </a:extLst>
          </p:cNvPr>
          <p:cNvSpPr txBox="1"/>
          <p:nvPr/>
        </p:nvSpPr>
        <p:spPr>
          <a:xfrm>
            <a:off x="9786325" y="1404158"/>
            <a:ext cx="118227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Penetration Rate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7548F9-0DB3-1240-3009-65902E935706}"/>
              </a:ext>
            </a:extLst>
          </p:cNvPr>
          <p:cNvSpPr txBox="1"/>
          <p:nvPr/>
        </p:nvSpPr>
        <p:spPr>
          <a:xfrm>
            <a:off x="10888133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940DD8-7E7B-B743-CE39-C879F166600D}"/>
              </a:ext>
            </a:extLst>
          </p:cNvPr>
          <p:cNvSpPr txBox="1"/>
          <p:nvPr/>
        </p:nvSpPr>
        <p:spPr>
          <a:xfrm>
            <a:off x="11157942" y="1461237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Unit Price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DEA6416-A15E-24FF-A739-2C1A7889CF85}"/>
              </a:ext>
            </a:extLst>
          </p:cNvPr>
          <p:cNvSpPr txBox="1"/>
          <p:nvPr/>
        </p:nvSpPr>
        <p:spPr>
          <a:xfrm>
            <a:off x="8422103" y="1750602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85336B-EB47-75C6-541C-B4372D1F89BE}"/>
              </a:ext>
            </a:extLst>
          </p:cNvPr>
          <p:cNvSpPr txBox="1"/>
          <p:nvPr/>
        </p:nvSpPr>
        <p:spPr>
          <a:xfrm>
            <a:off x="9568359" y="1750602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758D26-69FF-1190-7338-40D57D987C0C}"/>
              </a:ext>
            </a:extLst>
          </p:cNvPr>
          <p:cNvSpPr/>
          <p:nvPr/>
        </p:nvSpPr>
        <p:spPr>
          <a:xfrm>
            <a:off x="7865920" y="1209512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D45858-BC08-8DBF-06F4-2536BC2DE452}"/>
              </a:ext>
            </a:extLst>
          </p:cNvPr>
          <p:cNvSpPr/>
          <p:nvPr/>
        </p:nvSpPr>
        <p:spPr>
          <a:xfrm>
            <a:off x="9748009" y="1210811"/>
            <a:ext cx="1237480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47B5B7-12E5-FFB0-4B6D-B3BFC15CED54}"/>
              </a:ext>
            </a:extLst>
          </p:cNvPr>
          <p:cNvSpPr txBox="1"/>
          <p:nvPr/>
        </p:nvSpPr>
        <p:spPr>
          <a:xfrm>
            <a:off x="6585164" y="473520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New IDCs prefer CPO to avoid future replacement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Amazon, Meta, Google, x.AI require optical interconnects for 10k-clusters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0D81AA9-A5AA-AFCB-5127-F8AC893064A6}"/>
              </a:ext>
            </a:extLst>
          </p:cNvPr>
          <p:cNvSpPr/>
          <p:nvPr/>
        </p:nvSpPr>
        <p:spPr>
          <a:xfrm>
            <a:off x="6585164" y="3614123"/>
            <a:ext cx="5269570" cy="995304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“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35%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of Meta’s HPC cluster interconnects have applied CPO.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”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—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Broadcom expert</a:t>
            </a:r>
          </a:p>
        </p:txBody>
      </p:sp>
      <p:sp>
        <p:nvSpPr>
          <p:cNvPr id="2" name="梯形 1">
            <a:extLst>
              <a:ext uri="{FF2B5EF4-FFF2-40B4-BE49-F238E27FC236}">
                <a16:creationId xmlns:a16="http://schemas.microsoft.com/office/drawing/2014/main" id="{FAB954A1-EA08-9875-CD96-4EC71B65B32B}"/>
              </a:ext>
            </a:extLst>
          </p:cNvPr>
          <p:cNvSpPr/>
          <p:nvPr/>
        </p:nvSpPr>
        <p:spPr>
          <a:xfrm rot="16200000">
            <a:off x="3691051" y="3465152"/>
            <a:ext cx="4799248" cy="370109"/>
          </a:xfrm>
          <a:prstGeom prst="trapezoid">
            <a:avLst>
              <a:gd name="adj" fmla="val 502268"/>
            </a:avLst>
          </a:prstGeom>
          <a:gradFill flip="none" rotWithShape="1">
            <a:gsLst>
              <a:gs pos="18000">
                <a:srgbClr val="BDD4F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52D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130">
            <a:extLst>
              <a:ext uri="{FF2B5EF4-FFF2-40B4-BE49-F238E27FC236}">
                <a16:creationId xmlns:a16="http://schemas.microsoft.com/office/drawing/2014/main" id="{4C4401D9-94DB-E122-8EEB-A71C05351D29}"/>
              </a:ext>
            </a:extLst>
          </p:cNvPr>
          <p:cNvSpPr/>
          <p:nvPr/>
        </p:nvSpPr>
        <p:spPr>
          <a:xfrm>
            <a:off x="6415288" y="1083069"/>
            <a:ext cx="5611611" cy="5101831"/>
          </a:xfrm>
          <a:prstGeom prst="roundRect">
            <a:avLst>
              <a:gd name="adj" fmla="val 5634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rgbClr val="FFFFFF"/>
              </a:solidFill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419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650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 Chip,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Integration¹: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8B1F2-7CEF-4519-ED3C-8D9DE918E770}"/>
              </a:ext>
            </a:extLst>
          </p:cNvPr>
          <p:cNvSpPr txBox="1"/>
          <p:nvPr/>
        </p:nvSpPr>
        <p:spPr>
          <a:xfrm>
            <a:off x="406273" y="635610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Foundry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included.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978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463" y="3760737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China</a:t>
            </a: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8" name="图像" descr="图像">
            <a:extLst>
              <a:ext uri="{FF2B5EF4-FFF2-40B4-BE49-F238E27FC236}">
                <a16:creationId xmlns:a16="http://schemas.microsoft.com/office/drawing/2014/main" id="{DB893361-6B45-7E8C-9755-E37F2155A5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5320" y="3760737"/>
            <a:ext cx="770002" cy="2281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373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78846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974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Broadcom: First to Commercialize CPO with a Sustained Lead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switch chips prioritized in timeline.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Competitive Positioning: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≈1-year lead</a:t>
              </a:r>
              <a:r>
                <a:rPr lang="en-US" altLang="zh-CN" sz="1600" dirty="0"/>
                <a:t> over ​NVIDIA;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The only vendor with publicly confirmed mass production of CPO switches/chips;​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TH4 &amp; TH5: Industry’s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first CPO switch chips </a:t>
              </a:r>
              <a:r>
                <a:rPr lang="en-US" altLang="zh-CN" sz="1600" dirty="0"/>
                <a:t>to enter volume production.</a:t>
              </a:r>
            </a:p>
          </p:txBody>
        </p:sp>
      </p:grp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587360" y="1872409"/>
            <a:ext cx="100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ASIC</a:t>
            </a:r>
          </a:p>
          <a:p>
            <a:pPr algn="ctr"/>
            <a:r>
              <a:rPr lang="en-US" altLang="zh-CN" sz="1400" dirty="0">
                <a:cs typeface="+mn-ea"/>
                <a:sym typeface="+mn-lt"/>
              </a:rPr>
              <a:t>Capacity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Broadcom edge</a:t>
            </a:r>
          </a:p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~1 year</a:t>
            </a: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322349" y="4337143"/>
            <a:ext cx="1405254" cy="423965"/>
            <a:chOff x="1671560" y="4289861"/>
            <a:chExt cx="1405254" cy="423965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671560" y="4459910"/>
              <a:ext cx="1405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Joint Deployment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 err="1">
                  <a:solidFill>
                    <a:schemeClr val="accent6">
                      <a:lumMod val="10000"/>
                    </a:schemeClr>
                  </a:solidFill>
                  <a:cs typeface="+mn-ea"/>
                </a:rPr>
                <a:t>Teralynx</a:t>
              </a:r>
              <a:endPara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451507" y="3550871"/>
            <a:ext cx="1273746" cy="414636"/>
            <a:chOff x="1758058" y="4289861"/>
            <a:chExt cx="1273746" cy="4146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758058" y="4450581"/>
              <a:ext cx="12737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566310"/>
            <a:chOff x="3809830" y="4477461"/>
            <a:chExt cx="1602019" cy="5663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A6A6A6"/>
                  </a:solidFill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Mass production</a:t>
              </a:r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 </a:t>
              </a:r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(not CPO)</a:t>
              </a:r>
              <a:endParaRPr lang="zh-CN" altLang="en-US" sz="1050" dirty="0">
                <a:solidFill>
                  <a:srgbClr val="A6A6A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8963373" y="2692573"/>
            <a:ext cx="1385065" cy="739456"/>
            <a:chOff x="1699272" y="4289861"/>
            <a:chExt cx="1385065" cy="73945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699272" y="4452236"/>
              <a:ext cx="138506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25.06</a:t>
              </a:r>
            </a:p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  <a:p>
              <a:pPr algn="ctr"/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7127" y="2706121"/>
            <a:ext cx="1372061" cy="743067"/>
            <a:chOff x="4812563" y="3071024"/>
            <a:chExt cx="1372061" cy="743067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563" y="3071024"/>
              <a:ext cx="1372061" cy="743067"/>
              <a:chOff x="1680977" y="4286017"/>
              <a:chExt cx="1372061" cy="743067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977" y="4452003"/>
                <a:ext cx="1332686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26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  <a:p>
                <a:pPr algn="ctr"/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19384" y="3542631"/>
            <a:ext cx="1433592" cy="620092"/>
            <a:chOff x="4751032" y="3071024"/>
            <a:chExt cx="1433592" cy="620092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751032" y="3071024"/>
              <a:ext cx="1433592" cy="620092"/>
              <a:chOff x="1619446" y="4286017"/>
              <a:chExt cx="1433592" cy="620092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19446" y="4490611"/>
                <a:ext cx="133864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Announced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153573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3763917" y="1677643"/>
            <a:ext cx="5199456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Timeline of CPO Switch Chip Milestones</a:t>
            </a:r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(2020–2025)​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4659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strongest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673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B5B65-05AC-E9CA-651E-FCBC7F2CA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105525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A1FB8181-D34E-060F-1075-6718B82EBCA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0897875"/>
              </p:ext>
            </p:extLst>
          </p:nvPr>
        </p:nvGraphicFramePr>
        <p:xfrm>
          <a:off x="5778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7893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628650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Shipment Portion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%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5283834" y="2899352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26E,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surpass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GPU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008438" y="5000625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089650" y="4587080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2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2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433638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252788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62413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25738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544888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764266F-E44F-445E-86DA-50010A4C62D3}" type="datetime'''''''''G''''''''''''''P''''''''''''''''U'">
              <a:rPr lang="en-US" altLang="en-US" sz="1400" smtClean="0">
                <a:cs typeface="+mn-cs"/>
              </a:rPr>
              <a:pPr/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333875" y="6027738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2025E Main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</a:rPr>
              <a:t>Vendors’s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Shipment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0084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1072007"/>
            <a:ext cx="10989734" cy="1022549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The inevitable trend. Broadcom plays a central role.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HPCs seek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computing autonomy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&amp; cost control​ → More players partner with Broadcom;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​​OpenAI,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: New volume production orders in 2026 will ​bring forward the “ASIC &gt; GPU” inflection point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from 2027–28 to 2026.</a:t>
            </a:r>
            <a:endParaRPr lang="zh-CN" altLang="en-US" sz="1600" b="1" dirty="0">
              <a:solidFill>
                <a:srgbClr val="0052D9"/>
              </a:solidFill>
              <a:latin typeface="PingFang SC"/>
            </a:endParaRPr>
          </a:p>
        </p:txBody>
      </p:sp>
      <p:graphicFrame>
        <p:nvGraphicFramePr>
          <p:cNvPr id="1037" name="Chart 3">
            <a:extLst>
              <a:ext uri="{FF2B5EF4-FFF2-40B4-BE49-F238E27FC236}">
                <a16:creationId xmlns:a16="http://schemas.microsoft.com/office/drawing/2014/main" id="{1EB0A3BD-C493-117D-7087-AD8A70B0E6D1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871480184"/>
              </p:ext>
            </p:ext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4BDAC4-288A-4BD7-9E68-6148510A5DDB}" type="datetime'''A''''''''''''''''''ma''''''''z''o''''''''''''''''''''''n'''">
              <a:rPr lang="en-US" altLang="en-US" sz="1400" smtClean="0">
                <a:cs typeface="+mn-cs"/>
              </a:rPr>
              <a:pPr/>
              <a:t>Amazon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01C0738-3EE2-4505-B79A-4516277350D1}" type="datetime'G''''''oog''''''''''''''''''''''l''''''''''''''''''''''e'">
              <a:rPr lang="en-US" altLang="en-US" sz="1400" smtClean="0">
                <a:cs typeface="+mn-cs"/>
              </a:rPr>
              <a:pPr/>
              <a:t>Google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3685E308-D38A-491F-9826-5B717361118F}" type="datetime'M''''''''''''''''''''''''''''''e''''''''''''''ta'">
              <a:rPr lang="en-US" altLang="en-US" sz="1400" smtClean="0">
                <a:cs typeface="+mn-cs"/>
              </a:rPr>
              <a:pPr/>
              <a:t>Meta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100-300k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1400-1500k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1500-2000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6321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 ASIC per-card performance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≈ ​40%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same-gen GPU​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expected to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like ​Google, Amazon​ now evolving toward ​CPO.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3044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472427"/>
            <a:ext cx="3110118" cy="2919963"/>
            <a:chOff x="1052162" y="3649002"/>
            <a:chExt cx="3110118" cy="2919963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649002"/>
              <a:ext cx="3110118" cy="2919963"/>
              <a:chOff x="923365" y="3511524"/>
              <a:chExt cx="3110118" cy="2919963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33488" y="3511524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003" y="4437422"/>
              <a:ext cx="12420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2959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57192" y="4540299"/>
            <a:ext cx="1557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Standard- hardware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(approx. -30%);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25H2: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starts,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2027: m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​Optical Full-Stack Solutions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711F5F-8D89-9156-64DF-5DF7EFA2CB46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1F92B-1D06-7BF6-A21C-E264A781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0D1F202F-80A5-1AB6-736B-5449905FA3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ECC74C7F-32D0-426A-8DF9-4AB5C55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B87E95-14B6-6953-DC10-BF87285DCF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655BCD29-D6E9-6683-4E50-864993F11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B4FC1512-01C0-FBFB-7831-5F748031E6D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4787BB34-9E57-82F4-CB65-C9DE68D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8416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Bandwidth,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6143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 Bandwidth and Inference Rate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132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3ABF5-1FF2-0AE9-7070-1BB344EC8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Electricity, Weak in Optics; Domestic Vise Versa - Industry Evidence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6266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7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1657479281933120774E+00&quot;&gt;&lt;m_msothmcolidx val=&quot;0&quot;/&gt;&lt;m_rgb r=&quot;00&quot; g=&quot;52&quot; b=&quot;D9&quot;/&gt;&lt;/elem&gt;&lt;elem m_fUsage=&quot;1.50094635296999207030E-01&quot;&gt;&lt;m_msothmcolidx val=&quot;0&quot;/&gt;&lt;m_rgb r=&quot;C1&quot; g=&quot;E1&quot; b=&quot;FE&quot;/&gt;&lt;/elem&gt;&lt;elem m_fUsage=&quot;1.09418989131512434110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BE7s2sUq.CqF9g8mj._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WrU2aXqYquu2kM3NqwQ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PEnZm1vuGMZRZdHEPaJ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zBjMrX2tboR_nIej0YV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ZUwOTYTKIYIGj5Twhmd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FRMzAE7Q8ZCMcY0cJK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K7FCJg_ZrpFQz764vGQ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WlYIAXCcTeXwuibQcoC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j8LBM5T7QCLWeuZMX1y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_OeLo0II57f1ElqidIK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GakZUBQecW1ZsS3P78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1_odSW06WOa3VG2BIyY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43328</TotalTime>
  <Words>3558</Words>
  <Application>Microsoft Office PowerPoint</Application>
  <PresentationFormat>宽屏</PresentationFormat>
  <Paragraphs>936</Paragraphs>
  <Slides>34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Center; Breaking Through with Optical Interconnects</vt:lpstr>
      <vt:lpstr>PowerPoint 演示文稿</vt:lpstr>
      <vt:lpstr>PowerPoint 演示文稿</vt:lpstr>
      <vt:lpstr>Three Consensus Optical Interconnect Solutions: PO, NPO, and CPO</vt:lpstr>
      <vt:lpstr>PowerPoint 演示文稿</vt:lpstr>
      <vt:lpstr>PO Dominates Mainstream; CPO Becomes the Focus of Tech Giants</vt:lpstr>
      <vt:lpstr>CPO Faces 3 Hurdles; NPO Proposed As The Bridge to CPO</vt:lpstr>
      <vt:lpstr>NPO Deployed First in IDCs; CPO As The Endgame for Aggressive Giants</vt:lpstr>
      <vt:lpstr>IDC Interconnect by Distance: Scale-up vs. Scale-out</vt:lpstr>
      <vt:lpstr>​Overseas: CPO for Scale Out first; Domestic: CPO for Scale Up first</vt:lpstr>
      <vt:lpstr>Overseas: Pursue Scale-out &amp; Scale-up Parallelly; CPO Initial Focus on Scale-out (1-2 Years)</vt:lpstr>
      <vt:lpstr>Domestic Vendors Rely on Scale-Up to Close Performance Gap at High Power Cost</vt:lpstr>
      <vt:lpstr>PowerPoint 演示文稿</vt:lpstr>
      <vt:lpstr>CPO Key Modules: Silicon Photonics Chip,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First to Commercialize CPO with a Sustained Lead</vt:lpstr>
      <vt:lpstr>Broadcom: The Most Comprehensive CPO Capability Profile</vt:lpstr>
      <vt:lpstr>Why Broadcom Bets on CPO: Aligning with HPC's In-House ASIC Trend + Network Support for Ecosystem Positioning</vt:lpstr>
      <vt:lpstr>Why Broadcom Bets on CPO: Aligning with HPC's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Bandwidth, CPO as Priority Exploration Direction</vt:lpstr>
      <vt:lpstr>DeepSeek: H800 Bandwidth and Inference Rate</vt:lpstr>
      <vt:lpstr>Overseas Strong in Electricity, Weak in Optics; Domestic Vise Versa - Industry Evidence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5043</cp:revision>
  <dcterms:created xsi:type="dcterms:W3CDTF">2025-06-16T21:28:33Z</dcterms:created>
  <dcterms:modified xsi:type="dcterms:W3CDTF">2025-09-29T07:03:54Z</dcterms:modified>
</cp:coreProperties>
</file>