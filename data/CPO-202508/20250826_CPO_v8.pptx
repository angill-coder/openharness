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notesSlides/notesSlide6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ppt/tags/tag70.xml" ContentType="application/vnd.openxmlformats-officedocument.presentationml.tags+xml"/>
  <Override PartName="/ppt/notesSlides/notesSlide8.xml" ContentType="application/vnd.openxmlformats-officedocument.presentationml.notesSlide+xml"/>
  <Override PartName="/ppt/tags/tag71.xml" ContentType="application/vnd.openxmlformats-officedocument.presentationml.tags+xml"/>
  <Override PartName="/ppt/notesSlides/notesSlide9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0.xml" ContentType="application/vnd.openxmlformats-officedocument.presentationml.notesSlide+xml"/>
  <Override PartName="/ppt/tags/tag81.xml" ContentType="application/vnd.openxmlformats-officedocument.presentationml.tags+xml"/>
  <Override PartName="/ppt/notesSlides/notesSlide11.xml" ContentType="application/vnd.openxmlformats-officedocument.presentationml.notesSlide+xml"/>
  <Override PartName="/ppt/tags/tag82.xml" ContentType="application/vnd.openxmlformats-officedocument.presentationml.tags+xml"/>
  <Override PartName="/ppt/notesSlides/notesSlide12.xml" ContentType="application/vnd.openxmlformats-officedocument.presentationml.notesSlide+xml"/>
  <Override PartName="/ppt/tags/tag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332" r:id="rId3"/>
    <p:sldId id="336" r:id="rId4"/>
    <p:sldId id="319" r:id="rId5"/>
    <p:sldId id="321" r:id="rId6"/>
    <p:sldId id="317" r:id="rId7"/>
    <p:sldId id="334" r:id="rId8"/>
    <p:sldId id="320" r:id="rId9"/>
    <p:sldId id="313" r:id="rId10"/>
    <p:sldId id="335" r:id="rId11"/>
    <p:sldId id="326" r:id="rId12"/>
    <p:sldId id="315" r:id="rId13"/>
    <p:sldId id="327" r:id="rId14"/>
    <p:sldId id="323" r:id="rId15"/>
    <p:sldId id="329" r:id="rId16"/>
    <p:sldId id="330" r:id="rId17"/>
    <p:sldId id="328" r:id="rId18"/>
    <p:sldId id="331" r:id="rId19"/>
    <p:sldId id="339" r:id="rId20"/>
    <p:sldId id="322" r:id="rId21"/>
    <p:sldId id="283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2"/>
            <p14:sldId id="336"/>
            <p14:sldId id="319"/>
            <p14:sldId id="321"/>
            <p14:sldId id="317"/>
            <p14:sldId id="334"/>
            <p14:sldId id="320"/>
            <p14:sldId id="313"/>
            <p14:sldId id="335"/>
            <p14:sldId id="326"/>
            <p14:sldId id="315"/>
            <p14:sldId id="327"/>
            <p14:sldId id="323"/>
            <p14:sldId id="329"/>
            <p14:sldId id="330"/>
            <p14:sldId id="328"/>
            <p14:sldId id="331"/>
            <p14:sldId id="339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FFFFFF"/>
    <a:srgbClr val="DCDEE0"/>
    <a:srgbClr val="EBF1FF"/>
    <a:srgbClr val="DDE3F1"/>
    <a:srgbClr val="EEF1F8"/>
    <a:srgbClr val="FF7201"/>
    <a:srgbClr val="C1E1FE"/>
    <a:srgbClr val="679AFF"/>
    <a:srgbClr val="CCD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89" autoAdjust="0"/>
    <p:restoredTop sz="86779" autoAdjust="0"/>
  </p:normalViewPr>
  <p:slideViewPr>
    <p:cSldViewPr snapToGrid="0">
      <p:cViewPr varScale="1">
        <p:scale>
          <a:sx n="62" d="100"/>
          <a:sy n="62" d="100"/>
        </p:scale>
        <p:origin x="17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20000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60-4896-AB5E-6E6DC48CBB9A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9935.8974358974356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60-4896-AB5E-6E6DC48CBB9A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60-4896-AB5E-6E6DC48CBB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522388059701492"/>
          <c:y val="0.26011560693641617"/>
          <c:w val="0.82752902155887231"/>
          <c:h val="0.5167630057803468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5606936416184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E0-4C14-83A3-43A08D890834}"/>
                </c:ext>
              </c:extLst>
            </c:dLbl>
            <c:dLbl>
              <c:idx val="1"/>
              <c:layout>
                <c:manualLayout>
                  <c:x val="0"/>
                  <c:y val="-0.3248554913294797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E0-4C14-83A3-43A08D8908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351.57831325301203</c:v>
                </c:pt>
                <c:pt idx="1">
                  <c:v>886.37349397590367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E0-4C14-83A3-43A08D890834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6E0-4C14-83A3-43A08D890834}"/>
              </c:ext>
            </c:extLst>
          </c:dPt>
          <c:dLbls>
            <c:dLbl>
              <c:idx val="1"/>
              <c:layout>
                <c:manualLayout>
                  <c:x val="0"/>
                  <c:y val="-1.156069364161849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6E0-4C14-83A3-43A08D8908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3.5157831325301205</c:v>
                </c:pt>
                <c:pt idx="1">
                  <c:v>70.909879518072302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6E0-4C14-83A3-43A08D890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653854336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Sheet1!$A$3:$B$3</c:f>
              <c:numCache>
                <c:formatCode>General</c:formatCode>
                <c:ptCount val="2"/>
                <c:pt idx="0">
                  <c:v>0.01</c:v>
                </c:pt>
                <c:pt idx="1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6E0-4C14-83A3-43A08D890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653854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53854336"/>
        <c:crosses val="min"/>
        <c:crossBetween val="between"/>
        <c:majorUnit val="5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.1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Sheet1!$M$2</c:f>
              <c:strCache>
                <c:ptCount val="1"/>
                <c:pt idx="0">
                  <c:v>单通道带宽（Gb/s）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lineChart>
        <c:grouping val="standard"/>
        <c:varyColors val="0"/>
        <c:ser>
          <c:idx val="0"/>
          <c:order val="1"/>
          <c:tx>
            <c:strRef>
              <c:f>Sheet1!$N$2</c:f>
              <c:strCache>
                <c:ptCount val="1"/>
                <c:pt idx="0">
                  <c:v>算力（TFLOPS，FP16）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Sheet1!$N$3:$N$6</c:f>
              <c:numCache>
                <c:formatCode>General</c:formatCode>
                <c:ptCount val="4"/>
                <c:pt idx="0">
                  <c:v>312</c:v>
                </c:pt>
                <c:pt idx="1">
                  <c:v>1000</c:v>
                </c:pt>
                <c:pt idx="2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0973295"/>
        <c:axId val="2070979055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valAx>
        <c:axId val="2070979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0973295"/>
        <c:crosses val="max"/>
        <c:crossBetween val="between"/>
      </c:valAx>
      <c:catAx>
        <c:axId val="2070973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0979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2110091743119266E-2"/>
          <c:y val="9.1937765205091934E-2"/>
          <c:w val="0.88880733944954127"/>
          <c:h val="0.816124469589816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8DE-48AE-BB2D-BF99B45BE192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DE-48AE-BB2D-BF99B45BE1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85025248"/>
        <c:axId val="1"/>
      </c:barChart>
      <c:catAx>
        <c:axId val="3850252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85025248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21832579185520362"/>
          <c:w val="0.86707938820101971"/>
          <c:h val="0.563348416289592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217194570135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FF-45C7-A181-10CEFF6A673C}"/>
                </c:ext>
              </c:extLst>
            </c:dLbl>
            <c:dLbl>
              <c:idx val="1"/>
              <c:layout>
                <c:manualLayout>
                  <c:x val="0"/>
                  <c:y val="-0.13122171945701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EFF-45C7-A181-10CEFF6A673C}"/>
                </c:ext>
              </c:extLst>
            </c:dLbl>
            <c:dLbl>
              <c:idx val="2"/>
              <c:layout>
                <c:manualLayout>
                  <c:x val="0"/>
                  <c:y val="-0.14027149321266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FF-45C7-A181-10CEFF6A673C}"/>
                </c:ext>
              </c:extLst>
            </c:dLbl>
            <c:dLbl>
              <c:idx val="3"/>
              <c:layout>
                <c:manualLayout>
                  <c:x val="0"/>
                  <c:y val="-0.15950226244343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EFF-45C7-A181-10CEFF6A673C}"/>
                </c:ext>
              </c:extLst>
            </c:dLbl>
            <c:dLbl>
              <c:idx val="4"/>
              <c:layout>
                <c:manualLayout>
                  <c:x val="0"/>
                  <c:y val="-0.17873303167420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EFF-45C7-A181-10CEFF6A673C}"/>
                </c:ext>
              </c:extLst>
            </c:dLbl>
            <c:dLbl>
              <c:idx val="5"/>
              <c:layout>
                <c:manualLayout>
                  <c:x val="0"/>
                  <c:y val="-0.226244343891402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EFF-45C7-A181-10CEFF6A673C}"/>
                </c:ext>
              </c:extLst>
            </c:dLbl>
            <c:dLbl>
              <c:idx val="6"/>
              <c:layout>
                <c:manualLayout>
                  <c:x val="0"/>
                  <c:y val="-0.32013574660633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EFF-45C7-A181-10CEFF6A67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FF-45C7-A181-10CEFF6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276191"/>
        <c:axId val="1"/>
      </c:barChart>
      <c:catAx>
        <c:axId val="1685276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5276191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B0-4833-8283-19C4D9DE4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光互连及</a:t>
            </a:r>
            <a:r>
              <a:rPr lang="en-US" altLang="zh-CN" dirty="0"/>
              <a:t>CPO</a:t>
            </a:r>
            <a:r>
              <a:rPr lang="zh-CN" altLang="en-US" dirty="0"/>
              <a:t>是什么、为什么重要？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及</a:t>
            </a:r>
            <a:r>
              <a:rPr lang="en-US" altLang="zh-CN" dirty="0"/>
              <a:t>OIO</a:t>
            </a:r>
            <a:r>
              <a:rPr lang="zh-CN" altLang="en-US" dirty="0"/>
              <a:t>市场怎么样，会有什么公司机会？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IDC</a:t>
            </a:r>
            <a:r>
              <a:rPr lang="zh-CN" altLang="en-US" dirty="0"/>
              <a:t>的迅猛扩张，算力、卡数增长带来三大互联难题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为了解决互连难题，过去出现了四条技术路线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四种技术是并行的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为了支撑传输速率从</a:t>
            </a:r>
            <a:r>
              <a:rPr lang="en-US" altLang="zh-CN" dirty="0"/>
              <a:t>Gbps</a:t>
            </a:r>
            <a:r>
              <a:rPr lang="zh-CN" altLang="en-US" dirty="0"/>
              <a:t>到</a:t>
            </a:r>
            <a:r>
              <a:rPr lang="en-US" altLang="zh-CN" dirty="0" err="1"/>
              <a:t>Tbps</a:t>
            </a:r>
            <a:r>
              <a:rPr lang="zh-CN" altLang="en-US" dirty="0"/>
              <a:t>，每种技术不断发展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铜和可插拔光模块共存了很长一段时间，未来铜互联、可插拔光模块、</a:t>
            </a:r>
            <a:r>
              <a:rPr lang="en-US" altLang="zh-CN" dirty="0"/>
              <a:t>CPO</a:t>
            </a:r>
            <a:r>
              <a:rPr lang="zh-CN" altLang="en-US" dirty="0"/>
              <a:t>仍将共存一段时间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3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上述技术路线如何解决三大难题？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光解决速率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解决功耗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光互连大势所趋，开始详细讲光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宏观视角，光的三种技术路径的差异，以及当前所处阶段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差异：连接距离，速率上限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阶段：规模看市场成熟度，动向看商业化阶段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讲完光的宏观，进入微观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en-US" altLang="zh-CN" dirty="0"/>
              <a:t>CPO</a:t>
            </a:r>
            <a:r>
              <a:rPr lang="zh-CN" altLang="en-US" dirty="0"/>
              <a:t>相比可插拔到底解决了什么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从图上看，拆分整合（光引擎、光源）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缩距降低功耗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拆分光源解决散热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范式迁移下存在着变与不变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不变：三层对应关系不变，周边硬件等低附加值、接口芯片层、封装层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变：迁移过程中，新玩家涌入，投资关注点迁移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06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For</a:t>
            </a:r>
            <a:r>
              <a:rPr lang="zh-CN" altLang="en-US" dirty="0"/>
              <a:t>简单理解</a:t>
            </a:r>
            <a:r>
              <a:rPr lang="en-US" altLang="zh-CN" dirty="0"/>
              <a:t>CPO</a:t>
            </a:r>
            <a:r>
              <a:rPr lang="zh-CN" altLang="en-US" dirty="0"/>
              <a:t>关键环节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用跨语言通话理解：当我和一个说韩语的人打电话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光纤：电话线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激光器：喇叭。这俩没那么重要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硅光：翻译官，光电互译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电光：声音润色，让声音更大，听得更清楚</a:t>
            </a:r>
            <a:endParaRPr lang="en-US" altLang="zh-CN" dirty="0"/>
          </a:p>
          <a:p>
            <a:pPr marL="685800" lvl="1" indent="-228600">
              <a:buAutoNum type="arabicPeriod"/>
            </a:pPr>
            <a:r>
              <a:rPr lang="zh-CN" altLang="en-US" dirty="0"/>
              <a:t>交换机：末端首脑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90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：芯片中负责低速并行信号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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高速串行信号的模块，速率受限于芯片制程，影响互连带宽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是高速率的源头，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速率低则整体速率低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海外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serdes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从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sym typeface="Wingdings" panose="05000000000000000000" pitchFamily="2" charset="2"/>
              </a:rPr>
              <a:t>56=&gt;112=&gt;224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6.xml"/><Relationship Id="rId21" Type="http://schemas.openxmlformats.org/officeDocument/2006/relationships/chart" Target="../charts/chart1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image" Target="../media/image8.emf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chart" Target="../charts/chart2.xml"/><Relationship Id="rId10" Type="http://schemas.openxmlformats.org/officeDocument/2006/relationships/tags" Target="../tags/tag13.xml"/><Relationship Id="rId19" Type="http://schemas.openxmlformats.org/officeDocument/2006/relationships/oleObject" Target="../embeddings/oleObject3.bin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chart" Target="../charts/chart4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chart" Target="../charts/chart3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7.emf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oleObject" Target="../embeddings/oleObject5.bin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tags" Target="../tags/tag43.xml"/><Relationship Id="rId21" Type="http://schemas.openxmlformats.org/officeDocument/2006/relationships/image" Target="../media/image19.png"/><Relationship Id="rId7" Type="http://schemas.openxmlformats.org/officeDocument/2006/relationships/tags" Target="../tags/tag47.xml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tags" Target="../tags/tag4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8.emf"/><Relationship Id="rId5" Type="http://schemas.openxmlformats.org/officeDocument/2006/relationships/tags" Target="../tags/tag45.xml"/><Relationship Id="rId15" Type="http://schemas.openxmlformats.org/officeDocument/2006/relationships/image" Target="../media/image13.png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7.png"/><Relationship Id="rId4" Type="http://schemas.openxmlformats.org/officeDocument/2006/relationships/tags" Target="../tags/tag44.xml"/><Relationship Id="rId9" Type="http://schemas.openxmlformats.org/officeDocument/2006/relationships/notesSlide" Target="../notesSlides/notesSlide5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3" Type="http://schemas.openxmlformats.org/officeDocument/2006/relationships/tags" Target="../tags/tag51.xml"/><Relationship Id="rId21" Type="http://schemas.openxmlformats.org/officeDocument/2006/relationships/oleObject" Target="../embeddings/oleObject8.bin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chart" Target="../charts/chart6.xml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chart" Target="../charts/chart5.xml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21.png"/><Relationship Id="rId12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6" Type="http://schemas.openxmlformats.org/officeDocument/2006/relationships/image" Target="../media/image14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5" Type="http://schemas.openxmlformats.org/officeDocument/2006/relationships/image" Target="../media/image29.png"/><Relationship Id="rId10" Type="http://schemas.openxmlformats.org/officeDocument/2006/relationships/image" Target="../media/image24.jpeg"/><Relationship Id="rId4" Type="http://schemas.openxmlformats.org/officeDocument/2006/relationships/image" Target="../media/image7.emf"/><Relationship Id="rId9" Type="http://schemas.openxmlformats.org/officeDocument/2006/relationships/image" Target="../media/image23.png"/><Relationship Id="rId1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1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9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Relationship Id="rId6" Type="http://schemas.openxmlformats.org/officeDocument/2006/relationships/image" Target="../media/image34.png"/><Relationship Id="rId11" Type="http://schemas.microsoft.com/office/2007/relationships/hdphoto" Target="../media/hdphoto2.wdp"/><Relationship Id="rId5" Type="http://schemas.openxmlformats.org/officeDocument/2006/relationships/image" Target="../media/image7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13" Type="http://schemas.openxmlformats.org/officeDocument/2006/relationships/image" Target="../media/image38.png"/><Relationship Id="rId18" Type="http://schemas.openxmlformats.org/officeDocument/2006/relationships/image" Target="../media/image17.png"/><Relationship Id="rId3" Type="http://schemas.openxmlformats.org/officeDocument/2006/relationships/tags" Target="../tags/tag74.xml"/><Relationship Id="rId21" Type="http://schemas.openxmlformats.org/officeDocument/2006/relationships/image" Target="../media/image43.jpeg"/><Relationship Id="rId7" Type="http://schemas.openxmlformats.org/officeDocument/2006/relationships/tags" Target="../tags/tag78.xml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tags" Target="../tags/tag73.xml"/><Relationship Id="rId16" Type="http://schemas.openxmlformats.org/officeDocument/2006/relationships/image" Target="../media/image15.png"/><Relationship Id="rId20" Type="http://schemas.openxmlformats.org/officeDocument/2006/relationships/image" Target="../media/image18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image" Target="../media/image7.emf"/><Relationship Id="rId24" Type="http://schemas.openxmlformats.org/officeDocument/2006/relationships/image" Target="../media/image46.jpeg"/><Relationship Id="rId5" Type="http://schemas.openxmlformats.org/officeDocument/2006/relationships/tags" Target="../tags/tag76.xml"/><Relationship Id="rId15" Type="http://schemas.openxmlformats.org/officeDocument/2006/relationships/image" Target="../media/image40.png"/><Relationship Id="rId23" Type="http://schemas.openxmlformats.org/officeDocument/2006/relationships/image" Target="../media/image45.png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42.png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9.jpeg"/><Relationship Id="rId22" Type="http://schemas.openxmlformats.org/officeDocument/2006/relationships/image" Target="../media/image4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48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6" Type="http://schemas.openxmlformats.org/officeDocument/2006/relationships/image" Target="../media/image47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5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6" Type="http://schemas.openxmlformats.org/officeDocument/2006/relationships/image" Target="../media/image51.jpe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5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9" Type="http://schemas.openxmlformats.org/officeDocument/2006/relationships/image" Target="../media/image83.png"/><Relationship Id="rId21" Type="http://schemas.openxmlformats.org/officeDocument/2006/relationships/image" Target="../media/image65.png"/><Relationship Id="rId34" Type="http://schemas.openxmlformats.org/officeDocument/2006/relationships/image" Target="../media/image78.png"/><Relationship Id="rId42" Type="http://schemas.openxmlformats.org/officeDocument/2006/relationships/image" Target="../media/image86.png"/><Relationship Id="rId47" Type="http://schemas.openxmlformats.org/officeDocument/2006/relationships/image" Target="../media/image91.png"/><Relationship Id="rId50" Type="http://schemas.openxmlformats.org/officeDocument/2006/relationships/image" Target="../media/image94.png"/><Relationship Id="rId55" Type="http://schemas.openxmlformats.org/officeDocument/2006/relationships/image" Target="../media/image99.png"/><Relationship Id="rId63" Type="http://schemas.openxmlformats.org/officeDocument/2006/relationships/image" Target="../media/image107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.png"/><Relationship Id="rId29" Type="http://schemas.openxmlformats.org/officeDocument/2006/relationships/image" Target="../media/image73.png"/><Relationship Id="rId11" Type="http://schemas.openxmlformats.org/officeDocument/2006/relationships/image" Target="../media/image56.png"/><Relationship Id="rId24" Type="http://schemas.openxmlformats.org/officeDocument/2006/relationships/image" Target="../media/image68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40" Type="http://schemas.openxmlformats.org/officeDocument/2006/relationships/image" Target="../media/image84.png"/><Relationship Id="rId45" Type="http://schemas.openxmlformats.org/officeDocument/2006/relationships/image" Target="../media/image89.png"/><Relationship Id="rId53" Type="http://schemas.openxmlformats.org/officeDocument/2006/relationships/image" Target="../media/image97.png"/><Relationship Id="rId58" Type="http://schemas.openxmlformats.org/officeDocument/2006/relationships/image" Target="../media/image102.png"/><Relationship Id="rId5" Type="http://schemas.openxmlformats.org/officeDocument/2006/relationships/image" Target="../media/image52.png"/><Relationship Id="rId61" Type="http://schemas.openxmlformats.org/officeDocument/2006/relationships/image" Target="../media/image105.png"/><Relationship Id="rId19" Type="http://schemas.openxmlformats.org/officeDocument/2006/relationships/image" Target="../media/image63.png"/><Relationship Id="rId14" Type="http://schemas.openxmlformats.org/officeDocument/2006/relationships/image" Target="../media/image59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43" Type="http://schemas.openxmlformats.org/officeDocument/2006/relationships/image" Target="../media/image87.png"/><Relationship Id="rId48" Type="http://schemas.openxmlformats.org/officeDocument/2006/relationships/image" Target="../media/image92.png"/><Relationship Id="rId56" Type="http://schemas.openxmlformats.org/officeDocument/2006/relationships/image" Target="../media/image100.png"/><Relationship Id="rId8" Type="http://schemas.openxmlformats.org/officeDocument/2006/relationships/image" Target="../media/image54.png"/><Relationship Id="rId51" Type="http://schemas.openxmlformats.org/officeDocument/2006/relationships/image" Target="../media/image95.png"/><Relationship Id="rId3" Type="http://schemas.openxmlformats.org/officeDocument/2006/relationships/oleObject" Target="../embeddings/oleObject16.bin"/><Relationship Id="rId12" Type="http://schemas.openxmlformats.org/officeDocument/2006/relationships/image" Target="../media/image57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46" Type="http://schemas.openxmlformats.org/officeDocument/2006/relationships/image" Target="../media/image90.png"/><Relationship Id="rId59" Type="http://schemas.openxmlformats.org/officeDocument/2006/relationships/image" Target="../media/image103.png"/><Relationship Id="rId20" Type="http://schemas.openxmlformats.org/officeDocument/2006/relationships/image" Target="../media/image64.png"/><Relationship Id="rId41" Type="http://schemas.openxmlformats.org/officeDocument/2006/relationships/image" Target="../media/image85.png"/><Relationship Id="rId54" Type="http://schemas.openxmlformats.org/officeDocument/2006/relationships/image" Target="../media/image98.png"/><Relationship Id="rId62" Type="http://schemas.openxmlformats.org/officeDocument/2006/relationships/image" Target="../media/image106.png"/><Relationship Id="rId1" Type="http://schemas.openxmlformats.org/officeDocument/2006/relationships/tags" Target="../tags/tag83.xml"/><Relationship Id="rId6" Type="http://schemas.openxmlformats.org/officeDocument/2006/relationships/image" Target="../media/image53.png"/><Relationship Id="rId15" Type="http://schemas.openxmlformats.org/officeDocument/2006/relationships/image" Target="../media/image60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49" Type="http://schemas.openxmlformats.org/officeDocument/2006/relationships/image" Target="../media/image93.png"/><Relationship Id="rId57" Type="http://schemas.openxmlformats.org/officeDocument/2006/relationships/image" Target="../media/image101.png"/><Relationship Id="rId10" Type="http://schemas.openxmlformats.org/officeDocument/2006/relationships/image" Target="../media/image55.png"/><Relationship Id="rId31" Type="http://schemas.openxmlformats.org/officeDocument/2006/relationships/image" Target="../media/image75.png"/><Relationship Id="rId44" Type="http://schemas.openxmlformats.org/officeDocument/2006/relationships/image" Target="../media/image88.png"/><Relationship Id="rId52" Type="http://schemas.openxmlformats.org/officeDocument/2006/relationships/image" Target="../media/image96.png"/><Relationship Id="rId60" Type="http://schemas.openxmlformats.org/officeDocument/2006/relationships/image" Target="../media/image104.png"/><Relationship Id="rId4" Type="http://schemas.openxmlformats.org/officeDocument/2006/relationships/image" Target="../media/image8.emf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08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3729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401" imgH="401" progId="TCLayout.ActiveDocument.1">
                  <p:embed/>
                </p:oleObj>
              </mc:Choice>
              <mc:Fallback>
                <p:oleObj name="think-cell 幻灯片" r:id="rId19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7" name="图表 1076">
            <a:extLst>
              <a:ext uri="{FF2B5EF4-FFF2-40B4-BE49-F238E27FC236}">
                <a16:creationId xmlns:a16="http://schemas.microsoft.com/office/drawing/2014/main" id="{B58C7BF0-64AE-6ABF-6B33-4DCF0F223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483580"/>
              </p:ext>
            </p:extLst>
          </p:nvPr>
        </p:nvGraphicFramePr>
        <p:xfrm>
          <a:off x="397945" y="1528253"/>
          <a:ext cx="5005905" cy="1918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81D8C3F-1F2C-CD4A-30D9-F957A452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" y="3155"/>
            <a:ext cx="9677146" cy="731520"/>
          </a:xfrm>
        </p:spPr>
        <p:txBody>
          <a:bodyPr vert="horz"/>
          <a:lstStyle/>
          <a:p>
            <a:r>
              <a:rPr lang="en-US" altLang="zh-CN" dirty="0"/>
              <a:t>IDC</a:t>
            </a:r>
            <a:r>
              <a:rPr lang="zh-CN" altLang="en-US" dirty="0"/>
              <a:t>互连的三大瓶颈：速率、能耗、距离</a:t>
            </a:r>
          </a:p>
        </p:txBody>
      </p:sp>
      <p:sp>
        <p:nvSpPr>
          <p:cNvPr id="22" name="iconfont-1018-792369">
            <a:extLst>
              <a:ext uri="{FF2B5EF4-FFF2-40B4-BE49-F238E27FC236}">
                <a16:creationId xmlns:a16="http://schemas.microsoft.com/office/drawing/2014/main" id="{00B03352-B5BC-46C9-B849-690B2CF2DAFE}"/>
              </a:ext>
            </a:extLst>
          </p:cNvPr>
          <p:cNvSpPr/>
          <p:nvPr/>
        </p:nvSpPr>
        <p:spPr>
          <a:xfrm>
            <a:off x="401638" y="3459163"/>
            <a:ext cx="217488" cy="327025"/>
          </a:xfrm>
          <a:custGeom>
            <a:avLst/>
            <a:gdLst>
              <a:gd name="T0" fmla="*/ 2817 w 7464"/>
              <a:gd name="T1" fmla="*/ 11211 h 11211"/>
              <a:gd name="T2" fmla="*/ 2747 w 7464"/>
              <a:gd name="T3" fmla="*/ 11188 h 11211"/>
              <a:gd name="T4" fmla="*/ 2630 w 7464"/>
              <a:gd name="T5" fmla="*/ 11002 h 11211"/>
              <a:gd name="T6" fmla="*/ 3352 w 7464"/>
              <a:gd name="T7" fmla="*/ 6742 h 11211"/>
              <a:gd name="T8" fmla="*/ 210 w 7464"/>
              <a:gd name="T9" fmla="*/ 6742 h 11211"/>
              <a:gd name="T10" fmla="*/ 47 w 7464"/>
              <a:gd name="T11" fmla="*/ 6649 h 11211"/>
              <a:gd name="T12" fmla="*/ 70 w 7464"/>
              <a:gd name="T13" fmla="*/ 6439 h 11211"/>
              <a:gd name="T14" fmla="*/ 4911 w 7464"/>
              <a:gd name="T15" fmla="*/ 108 h 11211"/>
              <a:gd name="T16" fmla="*/ 5121 w 7464"/>
              <a:gd name="T17" fmla="*/ 62 h 11211"/>
              <a:gd name="T18" fmla="*/ 5237 w 7464"/>
              <a:gd name="T19" fmla="*/ 248 h 11211"/>
              <a:gd name="T20" fmla="*/ 4516 w 7464"/>
              <a:gd name="T21" fmla="*/ 4507 h 11211"/>
              <a:gd name="T22" fmla="*/ 7286 w 7464"/>
              <a:gd name="T23" fmla="*/ 4507 h 11211"/>
              <a:gd name="T24" fmla="*/ 7449 w 7464"/>
              <a:gd name="T25" fmla="*/ 4601 h 11211"/>
              <a:gd name="T26" fmla="*/ 7449 w 7464"/>
              <a:gd name="T27" fmla="*/ 4810 h 11211"/>
              <a:gd name="T28" fmla="*/ 2980 w 7464"/>
              <a:gd name="T29" fmla="*/ 11141 h 11211"/>
              <a:gd name="T30" fmla="*/ 2817 w 7464"/>
              <a:gd name="T31" fmla="*/ 11211 h 11211"/>
              <a:gd name="T32" fmla="*/ 582 w 7464"/>
              <a:gd name="T33" fmla="*/ 6370 h 11211"/>
              <a:gd name="T34" fmla="*/ 3561 w 7464"/>
              <a:gd name="T35" fmla="*/ 6370 h 11211"/>
              <a:gd name="T36" fmla="*/ 3701 w 7464"/>
              <a:gd name="T37" fmla="*/ 6439 h 11211"/>
              <a:gd name="T38" fmla="*/ 3748 w 7464"/>
              <a:gd name="T39" fmla="*/ 6579 h 11211"/>
              <a:gd name="T40" fmla="*/ 3142 w 7464"/>
              <a:gd name="T41" fmla="*/ 10257 h 11211"/>
              <a:gd name="T42" fmla="*/ 6936 w 7464"/>
              <a:gd name="T43" fmla="*/ 4880 h 11211"/>
              <a:gd name="T44" fmla="*/ 4306 w 7464"/>
              <a:gd name="T45" fmla="*/ 4880 h 11211"/>
              <a:gd name="T46" fmla="*/ 4167 w 7464"/>
              <a:gd name="T47" fmla="*/ 4810 h 11211"/>
              <a:gd name="T48" fmla="*/ 4120 w 7464"/>
              <a:gd name="T49" fmla="*/ 4670 h 11211"/>
              <a:gd name="T50" fmla="*/ 4749 w 7464"/>
              <a:gd name="T51" fmla="*/ 923 h 11211"/>
              <a:gd name="T52" fmla="*/ 582 w 7464"/>
              <a:gd name="T53" fmla="*/ 6370 h 11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7464" h="11211">
                <a:moveTo>
                  <a:pt x="2817" y="11211"/>
                </a:moveTo>
                <a:cubicBezTo>
                  <a:pt x="2786" y="11211"/>
                  <a:pt x="2762" y="11203"/>
                  <a:pt x="2747" y="11188"/>
                </a:cubicBezTo>
                <a:cubicBezTo>
                  <a:pt x="2638" y="11157"/>
                  <a:pt x="2599" y="11095"/>
                  <a:pt x="2630" y="11002"/>
                </a:cubicBezTo>
                <a:lnTo>
                  <a:pt x="3352" y="6742"/>
                </a:lnTo>
                <a:lnTo>
                  <a:pt x="210" y="6742"/>
                </a:lnTo>
                <a:cubicBezTo>
                  <a:pt x="132" y="6742"/>
                  <a:pt x="78" y="6711"/>
                  <a:pt x="47" y="6649"/>
                </a:cubicBezTo>
                <a:cubicBezTo>
                  <a:pt x="0" y="6587"/>
                  <a:pt x="8" y="6517"/>
                  <a:pt x="70" y="6439"/>
                </a:cubicBezTo>
                <a:lnTo>
                  <a:pt x="4911" y="108"/>
                </a:lnTo>
                <a:cubicBezTo>
                  <a:pt x="4974" y="15"/>
                  <a:pt x="5043" y="0"/>
                  <a:pt x="5121" y="62"/>
                </a:cubicBezTo>
                <a:cubicBezTo>
                  <a:pt x="5198" y="77"/>
                  <a:pt x="5237" y="139"/>
                  <a:pt x="5237" y="248"/>
                </a:cubicBezTo>
                <a:lnTo>
                  <a:pt x="4516" y="4507"/>
                </a:lnTo>
                <a:lnTo>
                  <a:pt x="7286" y="4507"/>
                </a:lnTo>
                <a:cubicBezTo>
                  <a:pt x="7363" y="4507"/>
                  <a:pt x="7417" y="4539"/>
                  <a:pt x="7449" y="4601"/>
                </a:cubicBezTo>
                <a:cubicBezTo>
                  <a:pt x="7464" y="4663"/>
                  <a:pt x="7464" y="4733"/>
                  <a:pt x="7449" y="4810"/>
                </a:cubicBezTo>
                <a:lnTo>
                  <a:pt x="2980" y="11141"/>
                </a:lnTo>
                <a:cubicBezTo>
                  <a:pt x="2933" y="11188"/>
                  <a:pt x="2879" y="11211"/>
                  <a:pt x="2817" y="11211"/>
                </a:cubicBezTo>
                <a:close/>
                <a:moveTo>
                  <a:pt x="582" y="6370"/>
                </a:moveTo>
                <a:lnTo>
                  <a:pt x="3561" y="6370"/>
                </a:lnTo>
                <a:cubicBezTo>
                  <a:pt x="3624" y="6370"/>
                  <a:pt x="3670" y="6393"/>
                  <a:pt x="3701" y="6439"/>
                </a:cubicBezTo>
                <a:cubicBezTo>
                  <a:pt x="3732" y="6470"/>
                  <a:pt x="3748" y="6517"/>
                  <a:pt x="3748" y="6579"/>
                </a:cubicBezTo>
                <a:lnTo>
                  <a:pt x="3142" y="10257"/>
                </a:lnTo>
                <a:lnTo>
                  <a:pt x="6936" y="4880"/>
                </a:lnTo>
                <a:lnTo>
                  <a:pt x="4306" y="4880"/>
                </a:lnTo>
                <a:cubicBezTo>
                  <a:pt x="4244" y="4880"/>
                  <a:pt x="4198" y="4857"/>
                  <a:pt x="4167" y="4810"/>
                </a:cubicBezTo>
                <a:cubicBezTo>
                  <a:pt x="4136" y="4779"/>
                  <a:pt x="4120" y="4733"/>
                  <a:pt x="4120" y="4670"/>
                </a:cubicBezTo>
                <a:lnTo>
                  <a:pt x="4749" y="923"/>
                </a:lnTo>
                <a:lnTo>
                  <a:pt x="582" y="637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36" name="组合 3835">
            <a:extLst>
              <a:ext uri="{FF2B5EF4-FFF2-40B4-BE49-F238E27FC236}">
                <a16:creationId xmlns:a16="http://schemas.microsoft.com/office/drawing/2014/main" id="{0D9C4947-7B94-4457-D70F-4372427122EC}"/>
              </a:ext>
            </a:extLst>
          </p:cNvPr>
          <p:cNvGrpSpPr/>
          <p:nvPr/>
        </p:nvGrpSpPr>
        <p:grpSpPr>
          <a:xfrm>
            <a:off x="399299" y="669717"/>
            <a:ext cx="5356341" cy="379649"/>
            <a:chOff x="399299" y="669717"/>
            <a:chExt cx="5356341" cy="379649"/>
          </a:xfrm>
        </p:grpSpPr>
        <p:sp>
          <p:nvSpPr>
            <p:cNvPr id="21" name="time-passing_150431">
              <a:extLst>
                <a:ext uri="{FF2B5EF4-FFF2-40B4-BE49-F238E27FC236}">
                  <a16:creationId xmlns:a16="http://schemas.microsoft.com/office/drawing/2014/main" id="{1DF465EA-A551-95B6-DFB6-254BE1D5A5BF}"/>
                </a:ext>
              </a:extLst>
            </p:cNvPr>
            <p:cNvSpPr/>
            <p:nvPr/>
          </p:nvSpPr>
          <p:spPr>
            <a:xfrm>
              <a:off x="399299" y="737836"/>
              <a:ext cx="252919" cy="252538"/>
            </a:xfrm>
            <a:custGeom>
              <a:avLst/>
              <a:gdLst>
                <a:gd name="connsiteX0" fmla="*/ 304595 w 609191"/>
                <a:gd name="connsiteY0" fmla="*/ 113046 h 608274"/>
                <a:gd name="connsiteX1" fmla="*/ 304595 w 609191"/>
                <a:gd name="connsiteY1" fmla="*/ 304137 h 608274"/>
                <a:gd name="connsiteX2" fmla="*/ 495933 w 609191"/>
                <a:gd name="connsiteY2" fmla="*/ 304137 h 608274"/>
                <a:gd name="connsiteX3" fmla="*/ 304595 w 609191"/>
                <a:gd name="connsiteY3" fmla="*/ 495228 h 608274"/>
                <a:gd name="connsiteX4" fmla="*/ 113257 w 609191"/>
                <a:gd name="connsiteY4" fmla="*/ 304137 h 608274"/>
                <a:gd name="connsiteX5" fmla="*/ 304595 w 609191"/>
                <a:gd name="connsiteY5" fmla="*/ 113046 h 608274"/>
                <a:gd name="connsiteX6" fmla="*/ 304596 w 609191"/>
                <a:gd name="connsiteY6" fmla="*/ 0 h 608274"/>
                <a:gd name="connsiteX7" fmla="*/ 496064 w 609191"/>
                <a:gd name="connsiteY7" fmla="*/ 67552 h 608274"/>
                <a:gd name="connsiteX8" fmla="*/ 530950 w 609191"/>
                <a:gd name="connsiteY8" fmla="*/ 32820 h 608274"/>
                <a:gd name="connsiteX9" fmla="*/ 548998 w 609191"/>
                <a:gd name="connsiteY9" fmla="*/ 29196 h 608274"/>
                <a:gd name="connsiteX10" fmla="*/ 559282 w 609191"/>
                <a:gd name="connsiteY10" fmla="*/ 44498 h 608274"/>
                <a:gd name="connsiteX11" fmla="*/ 559282 w 609191"/>
                <a:gd name="connsiteY11" fmla="*/ 165106 h 608274"/>
                <a:gd name="connsiteX12" fmla="*/ 542646 w 609191"/>
                <a:gd name="connsiteY12" fmla="*/ 181616 h 608274"/>
                <a:gd name="connsiteX13" fmla="*/ 421957 w 609191"/>
                <a:gd name="connsiteY13" fmla="*/ 181616 h 608274"/>
                <a:gd name="connsiteX14" fmla="*/ 406632 w 609191"/>
                <a:gd name="connsiteY14" fmla="*/ 171448 h 608274"/>
                <a:gd name="connsiteX15" fmla="*/ 410261 w 609191"/>
                <a:gd name="connsiteY15" fmla="*/ 153327 h 608274"/>
                <a:gd name="connsiteX16" fmla="*/ 450491 w 609191"/>
                <a:gd name="connsiteY16" fmla="*/ 113158 h 608274"/>
                <a:gd name="connsiteX17" fmla="*/ 423268 w 609191"/>
                <a:gd name="connsiteY17" fmla="*/ 95137 h 608274"/>
                <a:gd name="connsiteX18" fmla="*/ 423167 w 609191"/>
                <a:gd name="connsiteY18" fmla="*/ 95238 h 608274"/>
                <a:gd name="connsiteX19" fmla="*/ 304596 w 609191"/>
                <a:gd name="connsiteY19" fmla="*/ 63928 h 608274"/>
                <a:gd name="connsiteX20" fmla="*/ 64024 w 609191"/>
                <a:gd name="connsiteY20" fmla="*/ 304137 h 608274"/>
                <a:gd name="connsiteX21" fmla="*/ 304596 w 609191"/>
                <a:gd name="connsiteY21" fmla="*/ 544346 h 608274"/>
                <a:gd name="connsiteX22" fmla="*/ 545167 w 609191"/>
                <a:gd name="connsiteY22" fmla="*/ 304137 h 608274"/>
                <a:gd name="connsiteX23" fmla="*/ 527421 w 609191"/>
                <a:gd name="connsiteY23" fmla="*/ 213631 h 608274"/>
                <a:gd name="connsiteX24" fmla="*/ 542646 w 609191"/>
                <a:gd name="connsiteY24" fmla="*/ 213631 h 608274"/>
                <a:gd name="connsiteX25" fmla="*/ 585799 w 609191"/>
                <a:gd name="connsiteY25" fmla="*/ 187355 h 608274"/>
                <a:gd name="connsiteX26" fmla="*/ 609191 w 609191"/>
                <a:gd name="connsiteY26" fmla="*/ 304137 h 608274"/>
                <a:gd name="connsiteX27" fmla="*/ 304596 w 609191"/>
                <a:gd name="connsiteY27" fmla="*/ 608274 h 608274"/>
                <a:gd name="connsiteX28" fmla="*/ 0 w 609191"/>
                <a:gd name="connsiteY28" fmla="*/ 304137 h 608274"/>
                <a:gd name="connsiteX29" fmla="*/ 304596 w 609191"/>
                <a:gd name="connsiteY29" fmla="*/ 0 h 60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09191" h="608274">
                  <a:moveTo>
                    <a:pt x="304595" y="113046"/>
                  </a:moveTo>
                  <a:lnTo>
                    <a:pt x="304595" y="304137"/>
                  </a:lnTo>
                  <a:lnTo>
                    <a:pt x="495933" y="304137"/>
                  </a:lnTo>
                  <a:cubicBezTo>
                    <a:pt x="495933" y="409650"/>
                    <a:pt x="410244" y="495228"/>
                    <a:pt x="304595" y="495228"/>
                  </a:cubicBezTo>
                  <a:cubicBezTo>
                    <a:pt x="198946" y="495228"/>
                    <a:pt x="113257" y="409650"/>
                    <a:pt x="113257" y="304137"/>
                  </a:cubicBezTo>
                  <a:cubicBezTo>
                    <a:pt x="113257" y="198624"/>
                    <a:pt x="198946" y="113046"/>
                    <a:pt x="304595" y="113046"/>
                  </a:cubicBezTo>
                  <a:close/>
                  <a:moveTo>
                    <a:pt x="304596" y="0"/>
                  </a:moveTo>
                  <a:cubicBezTo>
                    <a:pt x="372754" y="0"/>
                    <a:pt x="440610" y="22752"/>
                    <a:pt x="496064" y="67552"/>
                  </a:cubicBezTo>
                  <a:lnTo>
                    <a:pt x="530950" y="32820"/>
                  </a:lnTo>
                  <a:cubicBezTo>
                    <a:pt x="535689" y="28088"/>
                    <a:pt x="542848" y="26679"/>
                    <a:pt x="548998" y="29196"/>
                  </a:cubicBezTo>
                  <a:cubicBezTo>
                    <a:pt x="555249" y="31712"/>
                    <a:pt x="559282" y="37753"/>
                    <a:pt x="559282" y="44498"/>
                  </a:cubicBezTo>
                  <a:lnTo>
                    <a:pt x="559282" y="165106"/>
                  </a:lnTo>
                  <a:cubicBezTo>
                    <a:pt x="559282" y="174167"/>
                    <a:pt x="551821" y="181616"/>
                    <a:pt x="542646" y="181616"/>
                  </a:cubicBezTo>
                  <a:lnTo>
                    <a:pt x="421957" y="181616"/>
                  </a:lnTo>
                  <a:cubicBezTo>
                    <a:pt x="415202" y="181616"/>
                    <a:pt x="409152" y="177589"/>
                    <a:pt x="406632" y="171448"/>
                  </a:cubicBezTo>
                  <a:cubicBezTo>
                    <a:pt x="404010" y="165207"/>
                    <a:pt x="405522" y="158059"/>
                    <a:pt x="410261" y="153327"/>
                  </a:cubicBezTo>
                  <a:lnTo>
                    <a:pt x="450491" y="113158"/>
                  </a:lnTo>
                  <a:cubicBezTo>
                    <a:pt x="441820" y="106513"/>
                    <a:pt x="432745" y="100473"/>
                    <a:pt x="423268" y="95137"/>
                  </a:cubicBezTo>
                  <a:lnTo>
                    <a:pt x="423167" y="95238"/>
                  </a:lnTo>
                  <a:cubicBezTo>
                    <a:pt x="387475" y="74902"/>
                    <a:pt x="346943" y="63928"/>
                    <a:pt x="304596" y="63928"/>
                  </a:cubicBezTo>
                  <a:cubicBezTo>
                    <a:pt x="172009" y="63928"/>
                    <a:pt x="64024" y="171750"/>
                    <a:pt x="64024" y="304137"/>
                  </a:cubicBezTo>
                  <a:cubicBezTo>
                    <a:pt x="64024" y="436624"/>
                    <a:pt x="172009" y="544346"/>
                    <a:pt x="304596" y="544346"/>
                  </a:cubicBezTo>
                  <a:cubicBezTo>
                    <a:pt x="437283" y="544346"/>
                    <a:pt x="545167" y="436624"/>
                    <a:pt x="545167" y="304137"/>
                  </a:cubicBezTo>
                  <a:cubicBezTo>
                    <a:pt x="545167" y="272123"/>
                    <a:pt x="538815" y="241518"/>
                    <a:pt x="527421" y="213631"/>
                  </a:cubicBezTo>
                  <a:lnTo>
                    <a:pt x="542646" y="213631"/>
                  </a:lnTo>
                  <a:cubicBezTo>
                    <a:pt x="561400" y="213631"/>
                    <a:pt x="577733" y="202959"/>
                    <a:pt x="585799" y="187355"/>
                  </a:cubicBezTo>
                  <a:cubicBezTo>
                    <a:pt x="600923" y="223296"/>
                    <a:pt x="609191" y="262760"/>
                    <a:pt x="609191" y="304137"/>
                  </a:cubicBezTo>
                  <a:cubicBezTo>
                    <a:pt x="609191" y="471860"/>
                    <a:pt x="472572" y="608274"/>
                    <a:pt x="304596" y="608274"/>
                  </a:cubicBezTo>
                  <a:cubicBezTo>
                    <a:pt x="136619" y="608274"/>
                    <a:pt x="0" y="471860"/>
                    <a:pt x="0" y="304137"/>
                  </a:cubicBezTo>
                  <a:cubicBezTo>
                    <a:pt x="0" y="136414"/>
                    <a:pt x="136619" y="0"/>
                    <a:pt x="304596" y="0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CA9A8581-4790-AF9E-4CAB-412CB9D8A69F}"/>
                </a:ext>
              </a:extLst>
            </p:cNvPr>
            <p:cNvSpPr txBox="1"/>
            <p:nvPr/>
          </p:nvSpPr>
          <p:spPr>
            <a:xfrm>
              <a:off x="748927" y="669717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速率</a:t>
              </a:r>
              <a:endParaRPr kumimoji="1" lang="en-US" altLang="zh-CN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51" name="直线连接符 38">
              <a:extLst>
                <a:ext uri="{FF2B5EF4-FFF2-40B4-BE49-F238E27FC236}">
                  <a16:creationId xmlns:a16="http://schemas.microsoft.com/office/drawing/2014/main" id="{FF5CEB92-24BF-B108-6CF7-60A540BF498B}"/>
                </a:ext>
              </a:extLst>
            </p:cNvPr>
            <p:cNvCxnSpPr>
              <a:cxnSpLocks/>
            </p:cNvCxnSpPr>
            <p:nvPr/>
          </p:nvCxnSpPr>
          <p:spPr>
            <a:xfrm>
              <a:off x="399299" y="1049366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CB141BB-30C7-74E5-69EE-BDA940BA2F61}"/>
              </a:ext>
            </a:extLst>
          </p:cNvPr>
          <p:cNvSpPr txBox="1"/>
          <p:nvPr/>
        </p:nvSpPr>
        <p:spPr>
          <a:xfrm>
            <a:off x="704849" y="3449638"/>
            <a:ext cx="2890838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能耗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5" name="直线连接符 38">
            <a:extLst>
              <a:ext uri="{FF2B5EF4-FFF2-40B4-BE49-F238E27FC236}">
                <a16:creationId xmlns:a16="http://schemas.microsoft.com/office/drawing/2014/main" id="{40953D8E-7177-A00F-0B2D-CE0DB7230553}"/>
              </a:ext>
            </a:extLst>
          </p:cNvPr>
          <p:cNvCxnSpPr>
            <a:cxnSpLocks/>
          </p:cNvCxnSpPr>
          <p:nvPr/>
        </p:nvCxnSpPr>
        <p:spPr>
          <a:xfrm>
            <a:off x="401638" y="3829050"/>
            <a:ext cx="539750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Broadcom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Marvell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835" name="组合 3834">
            <a:extLst>
              <a:ext uri="{FF2B5EF4-FFF2-40B4-BE49-F238E27FC236}">
                <a16:creationId xmlns:a16="http://schemas.microsoft.com/office/drawing/2014/main" id="{BB28259C-B6D8-726F-1753-7E76E1E059B9}"/>
              </a:ext>
            </a:extLst>
          </p:cNvPr>
          <p:cNvGrpSpPr/>
          <p:nvPr/>
        </p:nvGrpSpPr>
        <p:grpSpPr>
          <a:xfrm>
            <a:off x="6526603" y="676631"/>
            <a:ext cx="4928623" cy="379649"/>
            <a:chOff x="6526603" y="727637"/>
            <a:chExt cx="4928623" cy="37964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95698680-1672-BD3B-1191-85852868A9D9}"/>
                </a:ext>
              </a:extLst>
            </p:cNvPr>
            <p:cNvSpPr txBox="1"/>
            <p:nvPr/>
          </p:nvSpPr>
          <p:spPr>
            <a:xfrm>
              <a:off x="6865432" y="727637"/>
              <a:ext cx="28895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zh-CN" altLang="en-US" sz="1600" b="1" dirty="0">
                  <a:solidFill>
                    <a:schemeClr val="tx1">
                      <a:lumMod val="50000"/>
                    </a:schemeClr>
                  </a:solidFill>
                </a:rPr>
                <a:t>距离</a:t>
              </a:r>
              <a:endParaRPr kumimoji="1" lang="en-US" altLang="zh-CN" sz="1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8F20CCAD-6801-4FA6-FD5D-3CD227543764}"/>
                </a:ext>
              </a:extLst>
            </p:cNvPr>
            <p:cNvCxnSpPr>
              <a:cxnSpLocks/>
            </p:cNvCxnSpPr>
            <p:nvPr/>
          </p:nvCxnSpPr>
          <p:spPr>
            <a:xfrm>
              <a:off x="6560953" y="1107286"/>
              <a:ext cx="489427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ouble-diagonal-arrow_57071">
              <a:extLst>
                <a:ext uri="{FF2B5EF4-FFF2-40B4-BE49-F238E27FC236}">
                  <a16:creationId xmlns:a16="http://schemas.microsoft.com/office/drawing/2014/main" id="{BB89E75F-37DC-F9E4-CA1E-0F6870A83FDD}"/>
                </a:ext>
              </a:extLst>
            </p:cNvPr>
            <p:cNvSpPr/>
            <p:nvPr/>
          </p:nvSpPr>
          <p:spPr>
            <a:xfrm>
              <a:off x="6526603" y="788424"/>
              <a:ext cx="258436" cy="258076"/>
            </a:xfrm>
            <a:custGeom>
              <a:avLst/>
              <a:gdLst>
                <a:gd name="T0" fmla="*/ 1333 w 12856"/>
                <a:gd name="T1" fmla="*/ 7083 h 12856"/>
                <a:gd name="T2" fmla="*/ 2667 w 12856"/>
                <a:gd name="T3" fmla="*/ 5749 h 12856"/>
                <a:gd name="T4" fmla="*/ 2667 w 12856"/>
                <a:gd name="T5" fmla="*/ 4552 h 12856"/>
                <a:gd name="T6" fmla="*/ 8304 w 12856"/>
                <a:gd name="T7" fmla="*/ 10189 h 12856"/>
                <a:gd name="T8" fmla="*/ 7107 w 12856"/>
                <a:gd name="T9" fmla="*/ 10189 h 12856"/>
                <a:gd name="T10" fmla="*/ 5773 w 12856"/>
                <a:gd name="T11" fmla="*/ 11523 h 12856"/>
                <a:gd name="T12" fmla="*/ 7107 w 12856"/>
                <a:gd name="T13" fmla="*/ 12856 h 12856"/>
                <a:gd name="T14" fmla="*/ 11523 w 12856"/>
                <a:gd name="T15" fmla="*/ 12856 h 12856"/>
                <a:gd name="T16" fmla="*/ 12415 w 12856"/>
                <a:gd name="T17" fmla="*/ 12513 h 12856"/>
                <a:gd name="T18" fmla="*/ 12591 w 12856"/>
                <a:gd name="T19" fmla="*/ 12321 h 12856"/>
                <a:gd name="T20" fmla="*/ 12591 w 12856"/>
                <a:gd name="T21" fmla="*/ 12321 h 12856"/>
                <a:gd name="T22" fmla="*/ 12856 w 12856"/>
                <a:gd name="T23" fmla="*/ 11528 h 12856"/>
                <a:gd name="T24" fmla="*/ 12856 w 12856"/>
                <a:gd name="T25" fmla="*/ 11524 h 12856"/>
                <a:gd name="T26" fmla="*/ 12856 w 12856"/>
                <a:gd name="T27" fmla="*/ 7199 h 12856"/>
                <a:gd name="T28" fmla="*/ 11523 w 12856"/>
                <a:gd name="T29" fmla="*/ 5865 h 12856"/>
                <a:gd name="T30" fmla="*/ 10189 w 12856"/>
                <a:gd name="T31" fmla="*/ 7199 h 12856"/>
                <a:gd name="T32" fmla="*/ 10189 w 12856"/>
                <a:gd name="T33" fmla="*/ 8304 h 12856"/>
                <a:gd name="T34" fmla="*/ 4552 w 12856"/>
                <a:gd name="T35" fmla="*/ 2667 h 12856"/>
                <a:gd name="T36" fmla="*/ 5656 w 12856"/>
                <a:gd name="T37" fmla="*/ 2667 h 12856"/>
                <a:gd name="T38" fmla="*/ 6989 w 12856"/>
                <a:gd name="T39" fmla="*/ 1333 h 12856"/>
                <a:gd name="T40" fmla="*/ 5656 w 12856"/>
                <a:gd name="T41" fmla="*/ 0 h 12856"/>
                <a:gd name="T42" fmla="*/ 1333 w 12856"/>
                <a:gd name="T43" fmla="*/ 0 h 12856"/>
                <a:gd name="T44" fmla="*/ 1331 w 12856"/>
                <a:gd name="T45" fmla="*/ 0 h 12856"/>
                <a:gd name="T46" fmla="*/ 803 w 12856"/>
                <a:gd name="T47" fmla="*/ 109 h 12856"/>
                <a:gd name="T48" fmla="*/ 353 w 12856"/>
                <a:gd name="T49" fmla="*/ 428 h 12856"/>
                <a:gd name="T50" fmla="*/ 255 w 12856"/>
                <a:gd name="T51" fmla="*/ 548 h 12856"/>
                <a:gd name="T52" fmla="*/ 160 w 12856"/>
                <a:gd name="T53" fmla="*/ 697 h 12856"/>
                <a:gd name="T54" fmla="*/ 160 w 12856"/>
                <a:gd name="T55" fmla="*/ 699 h 12856"/>
                <a:gd name="T56" fmla="*/ 12 w 12856"/>
                <a:gd name="T57" fmla="*/ 1155 h 12856"/>
                <a:gd name="T58" fmla="*/ 0 w 12856"/>
                <a:gd name="T59" fmla="*/ 1329 h 12856"/>
                <a:gd name="T60" fmla="*/ 0 w 12856"/>
                <a:gd name="T61" fmla="*/ 1333 h 12856"/>
                <a:gd name="T62" fmla="*/ 0 w 12856"/>
                <a:gd name="T63" fmla="*/ 5749 h 12856"/>
                <a:gd name="T64" fmla="*/ 1333 w 12856"/>
                <a:gd name="T65" fmla="*/ 7083 h 12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56" h="12856">
                  <a:moveTo>
                    <a:pt x="1333" y="7083"/>
                  </a:moveTo>
                  <a:cubicBezTo>
                    <a:pt x="2069" y="7083"/>
                    <a:pt x="2667" y="6485"/>
                    <a:pt x="2667" y="5749"/>
                  </a:cubicBezTo>
                  <a:lnTo>
                    <a:pt x="2667" y="4552"/>
                  </a:lnTo>
                  <a:lnTo>
                    <a:pt x="8304" y="10189"/>
                  </a:lnTo>
                  <a:lnTo>
                    <a:pt x="7107" y="10189"/>
                  </a:lnTo>
                  <a:cubicBezTo>
                    <a:pt x="6371" y="10189"/>
                    <a:pt x="5773" y="10787"/>
                    <a:pt x="5773" y="11523"/>
                  </a:cubicBezTo>
                  <a:cubicBezTo>
                    <a:pt x="5773" y="12259"/>
                    <a:pt x="6371" y="12856"/>
                    <a:pt x="7107" y="12856"/>
                  </a:cubicBezTo>
                  <a:lnTo>
                    <a:pt x="11523" y="12856"/>
                  </a:lnTo>
                  <a:cubicBezTo>
                    <a:pt x="11852" y="12856"/>
                    <a:pt x="12169" y="12731"/>
                    <a:pt x="12415" y="12513"/>
                  </a:cubicBezTo>
                  <a:cubicBezTo>
                    <a:pt x="12480" y="12456"/>
                    <a:pt x="12539" y="12391"/>
                    <a:pt x="12591" y="12321"/>
                  </a:cubicBezTo>
                  <a:lnTo>
                    <a:pt x="12591" y="12321"/>
                  </a:lnTo>
                  <a:cubicBezTo>
                    <a:pt x="12761" y="12093"/>
                    <a:pt x="12855" y="11813"/>
                    <a:pt x="12856" y="11528"/>
                  </a:cubicBezTo>
                  <a:lnTo>
                    <a:pt x="12856" y="11524"/>
                  </a:lnTo>
                  <a:lnTo>
                    <a:pt x="12856" y="7199"/>
                  </a:lnTo>
                  <a:cubicBezTo>
                    <a:pt x="12856" y="6463"/>
                    <a:pt x="12259" y="5865"/>
                    <a:pt x="11523" y="5865"/>
                  </a:cubicBezTo>
                  <a:cubicBezTo>
                    <a:pt x="10787" y="5865"/>
                    <a:pt x="10189" y="6463"/>
                    <a:pt x="10189" y="7199"/>
                  </a:cubicBezTo>
                  <a:lnTo>
                    <a:pt x="10189" y="8304"/>
                  </a:lnTo>
                  <a:lnTo>
                    <a:pt x="4552" y="2667"/>
                  </a:lnTo>
                  <a:lnTo>
                    <a:pt x="5656" y="2667"/>
                  </a:lnTo>
                  <a:cubicBezTo>
                    <a:pt x="6392" y="2667"/>
                    <a:pt x="6989" y="2069"/>
                    <a:pt x="6989" y="1333"/>
                  </a:cubicBezTo>
                  <a:cubicBezTo>
                    <a:pt x="6989" y="597"/>
                    <a:pt x="6392" y="0"/>
                    <a:pt x="5656" y="0"/>
                  </a:cubicBezTo>
                  <a:lnTo>
                    <a:pt x="1333" y="0"/>
                  </a:lnTo>
                  <a:lnTo>
                    <a:pt x="1331" y="0"/>
                  </a:lnTo>
                  <a:cubicBezTo>
                    <a:pt x="1151" y="1"/>
                    <a:pt x="969" y="37"/>
                    <a:pt x="803" y="109"/>
                  </a:cubicBezTo>
                  <a:cubicBezTo>
                    <a:pt x="633" y="184"/>
                    <a:pt x="480" y="292"/>
                    <a:pt x="353" y="428"/>
                  </a:cubicBezTo>
                  <a:cubicBezTo>
                    <a:pt x="317" y="467"/>
                    <a:pt x="285" y="507"/>
                    <a:pt x="255" y="548"/>
                  </a:cubicBezTo>
                  <a:cubicBezTo>
                    <a:pt x="220" y="596"/>
                    <a:pt x="188" y="645"/>
                    <a:pt x="160" y="697"/>
                  </a:cubicBezTo>
                  <a:lnTo>
                    <a:pt x="160" y="699"/>
                  </a:lnTo>
                  <a:cubicBezTo>
                    <a:pt x="83" y="839"/>
                    <a:pt x="32" y="995"/>
                    <a:pt x="12" y="1155"/>
                  </a:cubicBezTo>
                  <a:cubicBezTo>
                    <a:pt x="4" y="1213"/>
                    <a:pt x="0" y="1271"/>
                    <a:pt x="0" y="1329"/>
                  </a:cubicBezTo>
                  <a:lnTo>
                    <a:pt x="0" y="1333"/>
                  </a:lnTo>
                  <a:lnTo>
                    <a:pt x="0" y="5749"/>
                  </a:lnTo>
                  <a:cubicBezTo>
                    <a:pt x="0" y="6485"/>
                    <a:pt x="597" y="7083"/>
                    <a:pt x="1333" y="7083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536101" y="1203540"/>
            <a:ext cx="492862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集群数量万卡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十万卡，节点距离米级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千米级，远超铜互连上限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58" name="组合 1057">
            <a:extLst>
              <a:ext uri="{FF2B5EF4-FFF2-40B4-BE49-F238E27FC236}">
                <a16:creationId xmlns:a16="http://schemas.microsoft.com/office/drawing/2014/main" id="{2B08568E-E875-038C-7789-40A84E9F7B75}"/>
              </a:ext>
            </a:extLst>
          </p:cNvPr>
          <p:cNvGrpSpPr/>
          <p:nvPr/>
        </p:nvGrpSpPr>
        <p:grpSpPr>
          <a:xfrm>
            <a:off x="6681788" y="1776625"/>
            <a:ext cx="4928623" cy="3085037"/>
            <a:chOff x="6560952" y="1883872"/>
            <a:chExt cx="4928623" cy="3085037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810E562-3003-FFF8-A345-47281EAD6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59" t="13517" b="16816"/>
            <a:stretch/>
          </p:blipFill>
          <p:spPr bwMode="auto">
            <a:xfrm>
              <a:off x="6560952" y="1883872"/>
              <a:ext cx="4928623" cy="3085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CB55AB6D-7417-AFAF-C4F0-9D7D70AE8AAC}"/>
                </a:ext>
              </a:extLst>
            </p:cNvPr>
            <p:cNvSpPr txBox="1"/>
            <p:nvPr/>
          </p:nvSpPr>
          <p:spPr>
            <a:xfrm>
              <a:off x="7000069" y="2367376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b="1" dirty="0">
                  <a:solidFill>
                    <a:schemeClr val="bg1"/>
                  </a:solidFill>
                </a:rPr>
                <a:t>80-100km</a:t>
              </a:r>
              <a:endParaRPr kumimoji="1" lang="zh-CN" altLang="zh-C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24" name="文本框 1023">
              <a:extLst>
                <a:ext uri="{FF2B5EF4-FFF2-40B4-BE49-F238E27FC236}">
                  <a16:creationId xmlns:a16="http://schemas.microsoft.com/office/drawing/2014/main" id="{C922815B-C267-D38F-D115-2CE66FBF5FD2}"/>
                </a:ext>
              </a:extLst>
            </p:cNvPr>
            <p:cNvSpPr txBox="1"/>
            <p:nvPr/>
          </p:nvSpPr>
          <p:spPr>
            <a:xfrm>
              <a:off x="6908881" y="3190227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b="1" dirty="0">
                  <a:solidFill>
                    <a:schemeClr val="bg1"/>
                  </a:solidFill>
                </a:rPr>
                <a:t>2-20km</a:t>
              </a:r>
              <a:endParaRPr kumimoji="1" lang="zh-CN" altLang="zh-C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027" name="文本框 1026">
              <a:extLst>
                <a:ext uri="{FF2B5EF4-FFF2-40B4-BE49-F238E27FC236}">
                  <a16:creationId xmlns:a16="http://schemas.microsoft.com/office/drawing/2014/main" id="{0886D629-8C48-E59B-AD70-46C8B76504C6}"/>
                </a:ext>
              </a:extLst>
            </p:cNvPr>
            <p:cNvSpPr txBox="1"/>
            <p:nvPr/>
          </p:nvSpPr>
          <p:spPr>
            <a:xfrm>
              <a:off x="6833800" y="3931845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bg1"/>
                  </a:solidFill>
                </a:rPr>
                <a:t>&lt;10m</a:t>
              </a:r>
              <a:endParaRPr kumimoji="1" lang="zh-CN" altLang="zh-CN" sz="1400" dirty="0">
                <a:solidFill>
                  <a:schemeClr val="bg1"/>
                </a:solidFill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20F0DDFF-E994-DF98-913A-2010CA9C1466}"/>
                </a:ext>
              </a:extLst>
            </p:cNvPr>
            <p:cNvSpPr txBox="1"/>
            <p:nvPr/>
          </p:nvSpPr>
          <p:spPr>
            <a:xfrm>
              <a:off x="6968450" y="4540111"/>
              <a:ext cx="1050206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400" dirty="0">
                  <a:solidFill>
                    <a:schemeClr val="bg1"/>
                  </a:solidFill>
                </a:rPr>
                <a:t>10m-2km</a:t>
              </a:r>
              <a:endParaRPr kumimoji="1" lang="zh-CN" altLang="zh-CN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F9C1B4A7-D235-7981-3733-642021FB0B01}"/>
              </a:ext>
            </a:extLst>
          </p:cNvPr>
          <p:cNvSpPr txBox="1"/>
          <p:nvPr/>
        </p:nvSpPr>
        <p:spPr>
          <a:xfrm>
            <a:off x="397945" y="117424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带宽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年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，落后于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算力增幅。网络传输效率不足导致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利用率普遍低于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，通信速率成为集群算力瓶颈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78" name="文本框 1077">
            <a:extLst>
              <a:ext uri="{FF2B5EF4-FFF2-40B4-BE49-F238E27FC236}">
                <a16:creationId xmlns:a16="http://schemas.microsoft.com/office/drawing/2014/main" id="{81D5CE87-7E70-27FC-B002-0ECB60D96A39}"/>
              </a:ext>
            </a:extLst>
          </p:cNvPr>
          <p:cNvSpPr txBox="1"/>
          <p:nvPr/>
        </p:nvSpPr>
        <p:spPr>
          <a:xfrm>
            <a:off x="4875774" y="1697002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推理算力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32x</a:t>
            </a:r>
          </a:p>
        </p:txBody>
      </p:sp>
      <p:sp>
        <p:nvSpPr>
          <p:cNvPr id="1079" name="文本框 1078">
            <a:extLst>
              <a:ext uri="{FF2B5EF4-FFF2-40B4-BE49-F238E27FC236}">
                <a16:creationId xmlns:a16="http://schemas.microsoft.com/office/drawing/2014/main" id="{A03B0507-C8B1-1F56-E252-31696EB9315C}"/>
              </a:ext>
            </a:extLst>
          </p:cNvPr>
          <p:cNvSpPr txBox="1"/>
          <p:nvPr/>
        </p:nvSpPr>
        <p:spPr>
          <a:xfrm>
            <a:off x="4888355" y="2283109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chemeClr val="accent5"/>
                </a:solidFill>
              </a:rPr>
              <a:t>训练算力</a:t>
            </a:r>
            <a:endParaRPr kumimoji="1" lang="en-US" altLang="zh-CN" sz="1600" dirty="0">
              <a:solidFill>
                <a:schemeClr val="accent5"/>
              </a:solidFill>
            </a:endParaR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sz="1600" dirty="0">
                <a:solidFill>
                  <a:schemeClr val="accent5"/>
                </a:solidFill>
              </a:rPr>
              <a:t>16x</a:t>
            </a:r>
          </a:p>
        </p:txBody>
      </p:sp>
      <p:sp>
        <p:nvSpPr>
          <p:cNvPr id="1080" name="文本框 1079">
            <a:extLst>
              <a:ext uri="{FF2B5EF4-FFF2-40B4-BE49-F238E27FC236}">
                <a16:creationId xmlns:a16="http://schemas.microsoft.com/office/drawing/2014/main" id="{3A15E0C1-737C-E245-3395-D5E90EE19AA7}"/>
              </a:ext>
            </a:extLst>
          </p:cNvPr>
          <p:cNvSpPr txBox="1"/>
          <p:nvPr/>
        </p:nvSpPr>
        <p:spPr>
          <a:xfrm>
            <a:off x="4872915" y="2807671"/>
            <a:ext cx="867285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网络带宽</a:t>
            </a:r>
            <a:r>
              <a:rPr kumimoji="1" lang="en-US" altLang="zh-CN" sz="1600" dirty="0">
                <a:solidFill>
                  <a:srgbClr val="0052D9"/>
                </a:solidFill>
              </a:rPr>
              <a:t>4x</a:t>
            </a:r>
          </a:p>
        </p:txBody>
      </p:sp>
      <p:sp>
        <p:nvSpPr>
          <p:cNvPr id="1081" name="文本框 1080">
            <a:extLst>
              <a:ext uri="{FF2B5EF4-FFF2-40B4-BE49-F238E27FC236}">
                <a16:creationId xmlns:a16="http://schemas.microsoft.com/office/drawing/2014/main" id="{D3FA126D-1744-C912-60B5-3484D75A2F28}"/>
              </a:ext>
            </a:extLst>
          </p:cNvPr>
          <p:cNvSpPr txBox="1"/>
          <p:nvPr/>
        </p:nvSpPr>
        <p:spPr>
          <a:xfrm>
            <a:off x="3951513" y="1685449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Blackwell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2w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FP4</a:t>
            </a:r>
          </a:p>
        </p:txBody>
      </p:sp>
      <p:sp>
        <p:nvSpPr>
          <p:cNvPr id="1082" name="文本框 1081">
            <a:extLst>
              <a:ext uri="{FF2B5EF4-FFF2-40B4-BE49-F238E27FC236}">
                <a16:creationId xmlns:a16="http://schemas.microsoft.com/office/drawing/2014/main" id="{7D962D71-B83C-C4D5-5FDC-91311AA0BA50}"/>
              </a:ext>
            </a:extLst>
          </p:cNvPr>
          <p:cNvSpPr txBox="1"/>
          <p:nvPr/>
        </p:nvSpPr>
        <p:spPr>
          <a:xfrm>
            <a:off x="3267650" y="2448017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Hopper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4k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FP8</a:t>
            </a:r>
          </a:p>
        </p:txBody>
      </p:sp>
      <p:sp>
        <p:nvSpPr>
          <p:cNvPr id="1083" name="文本框 1082">
            <a:extLst>
              <a:ext uri="{FF2B5EF4-FFF2-40B4-BE49-F238E27FC236}">
                <a16:creationId xmlns:a16="http://schemas.microsoft.com/office/drawing/2014/main" id="{F1CD1144-A58D-D7B2-790F-FD9055EA6283}"/>
              </a:ext>
            </a:extLst>
          </p:cNvPr>
          <p:cNvSpPr txBox="1"/>
          <p:nvPr/>
        </p:nvSpPr>
        <p:spPr>
          <a:xfrm>
            <a:off x="2421434" y="2603244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Ampere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620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2670EF7F-D612-0181-CB0C-269E8D330A81}"/>
              </a:ext>
            </a:extLst>
          </p:cNvPr>
          <p:cNvSpPr txBox="1"/>
          <p:nvPr/>
        </p:nvSpPr>
        <p:spPr>
          <a:xfrm>
            <a:off x="1537989" y="267038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Volta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130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AF8DCCE1-0868-D884-C0D4-6512F15AE2E9}"/>
              </a:ext>
            </a:extLst>
          </p:cNvPr>
          <p:cNvSpPr txBox="1"/>
          <p:nvPr/>
        </p:nvSpPr>
        <p:spPr>
          <a:xfrm>
            <a:off x="625482" y="264385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Pascal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19 TFLOPS</a:t>
            </a:r>
          </a:p>
          <a:p>
            <a:pPr algn="ctr"/>
            <a:r>
              <a:rPr kumimoji="1" lang="en-US" altLang="zh-CN" sz="800" dirty="0">
                <a:solidFill>
                  <a:schemeClr val="accent6">
                    <a:lumMod val="10000"/>
                  </a:schemeClr>
                </a:solidFill>
              </a:rPr>
              <a:t>FP16</a:t>
            </a: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A75CE062-217C-2ACF-5DA5-A9517F8018B4}"/>
              </a:ext>
            </a:extLst>
          </p:cNvPr>
          <p:cNvSpPr txBox="1"/>
          <p:nvPr/>
        </p:nvSpPr>
        <p:spPr>
          <a:xfrm>
            <a:off x="3723397" y="2736257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5"/>
                </a:solidFill>
              </a:rPr>
              <a:t>1k </a:t>
            </a:r>
            <a:r>
              <a:rPr kumimoji="1" lang="en-US" altLang="zh-CN" sz="800" dirty="0" err="1">
                <a:solidFill>
                  <a:schemeClr val="accent5"/>
                </a:solidFill>
              </a:rPr>
              <a:t>Tflops</a:t>
            </a:r>
            <a:endParaRPr kumimoji="1" lang="en-US" altLang="zh-CN" sz="800" dirty="0">
              <a:solidFill>
                <a:schemeClr val="accent5"/>
              </a:solidFill>
            </a:endParaRPr>
          </a:p>
          <a:p>
            <a:pPr algn="ctr"/>
            <a:r>
              <a:rPr kumimoji="1" lang="en-US" altLang="zh-CN" sz="800" dirty="0">
                <a:solidFill>
                  <a:schemeClr val="accent5"/>
                </a:solidFill>
              </a:rPr>
              <a:t>FP16</a:t>
            </a:r>
          </a:p>
        </p:txBody>
      </p:sp>
      <p:sp>
        <p:nvSpPr>
          <p:cNvPr id="3328" name="文本框 3327">
            <a:extLst>
              <a:ext uri="{FF2B5EF4-FFF2-40B4-BE49-F238E27FC236}">
                <a16:creationId xmlns:a16="http://schemas.microsoft.com/office/drawing/2014/main" id="{C04487C4-C5E4-D48E-2A7D-6CDE1C36C800}"/>
              </a:ext>
            </a:extLst>
          </p:cNvPr>
          <p:cNvSpPr txBox="1"/>
          <p:nvPr/>
        </p:nvSpPr>
        <p:spPr>
          <a:xfrm>
            <a:off x="4237610" y="2246769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chemeClr val="accent5"/>
                </a:solidFill>
              </a:rPr>
              <a:t>5k </a:t>
            </a:r>
            <a:r>
              <a:rPr kumimoji="1" lang="en-US" altLang="zh-CN" sz="800" dirty="0" err="1">
                <a:solidFill>
                  <a:schemeClr val="accent5"/>
                </a:solidFill>
              </a:rPr>
              <a:t>Tflops</a:t>
            </a:r>
            <a:endParaRPr kumimoji="1" lang="en-US" altLang="zh-CN" sz="800" dirty="0">
              <a:solidFill>
                <a:schemeClr val="accent5"/>
              </a:solidFill>
            </a:endParaRPr>
          </a:p>
          <a:p>
            <a:pPr algn="ctr"/>
            <a:r>
              <a:rPr kumimoji="1" lang="en-US" altLang="zh-CN" sz="800" dirty="0">
                <a:solidFill>
                  <a:schemeClr val="accent5"/>
                </a:solidFill>
              </a:rPr>
              <a:t>FP8</a:t>
            </a:r>
          </a:p>
        </p:txBody>
      </p:sp>
      <p:sp>
        <p:nvSpPr>
          <p:cNvPr id="3329" name="文本框 3328">
            <a:extLst>
              <a:ext uri="{FF2B5EF4-FFF2-40B4-BE49-F238E27FC236}">
                <a16:creationId xmlns:a16="http://schemas.microsoft.com/office/drawing/2014/main" id="{67CD9710-3C1B-4B34-B587-9965337D3794}"/>
              </a:ext>
            </a:extLst>
          </p:cNvPr>
          <p:cNvSpPr txBox="1"/>
          <p:nvPr/>
        </p:nvSpPr>
        <p:spPr>
          <a:xfrm>
            <a:off x="4257400" y="29464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800Gbps</a:t>
            </a:r>
          </a:p>
        </p:txBody>
      </p:sp>
      <p:sp>
        <p:nvSpPr>
          <p:cNvPr id="3330" name="文本框 3329">
            <a:extLst>
              <a:ext uri="{FF2B5EF4-FFF2-40B4-BE49-F238E27FC236}">
                <a16:creationId xmlns:a16="http://schemas.microsoft.com/office/drawing/2014/main" id="{0D33A53E-1C3E-F741-841D-1BCCDE61082B}"/>
              </a:ext>
            </a:extLst>
          </p:cNvPr>
          <p:cNvSpPr txBox="1"/>
          <p:nvPr/>
        </p:nvSpPr>
        <p:spPr>
          <a:xfrm>
            <a:off x="3625069" y="3025352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400Gbps</a:t>
            </a:r>
          </a:p>
        </p:txBody>
      </p:sp>
      <p:sp>
        <p:nvSpPr>
          <p:cNvPr id="3331" name="文本框 3330">
            <a:extLst>
              <a:ext uri="{FF2B5EF4-FFF2-40B4-BE49-F238E27FC236}">
                <a16:creationId xmlns:a16="http://schemas.microsoft.com/office/drawing/2014/main" id="{46A7A19C-7324-705A-9E13-62C7B3D49B90}"/>
              </a:ext>
            </a:extLst>
          </p:cNvPr>
          <p:cNvSpPr txBox="1"/>
          <p:nvPr/>
        </p:nvSpPr>
        <p:spPr>
          <a:xfrm>
            <a:off x="2684439" y="3085910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800" dirty="0">
                <a:solidFill>
                  <a:srgbClr val="0052D9"/>
                </a:solidFill>
              </a:rPr>
              <a:t>200Gbps</a:t>
            </a:r>
          </a:p>
        </p:txBody>
      </p:sp>
      <p:sp>
        <p:nvSpPr>
          <p:cNvPr id="3336" name="文本框 3335">
            <a:extLst>
              <a:ext uri="{FF2B5EF4-FFF2-40B4-BE49-F238E27FC236}">
                <a16:creationId xmlns:a16="http://schemas.microsoft.com/office/drawing/2014/main" id="{D215CF5E-8791-220C-1549-3DF9A14A2505}"/>
              </a:ext>
            </a:extLst>
          </p:cNvPr>
          <p:cNvSpPr txBox="1"/>
          <p:nvPr/>
        </p:nvSpPr>
        <p:spPr>
          <a:xfrm>
            <a:off x="398463" y="3937000"/>
            <a:ext cx="5503863" cy="3460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2022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至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2028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年，预计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耗电量增长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2.5x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，其中光模块功耗占比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1%=&gt;8%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互连将成为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</a:rPr>
              <a:t>能耗重要组成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7BCF382A-287A-CD43-2C96-730F9603303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5169089"/>
              </p:ext>
            </p:extLst>
          </p:nvPr>
        </p:nvGraphicFramePr>
        <p:xfrm>
          <a:off x="363538" y="4676775"/>
          <a:ext cx="4786312" cy="1373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3545" name="直接连接符 3544">
            <a:extLst>
              <a:ext uri="{FF2B5EF4-FFF2-40B4-BE49-F238E27FC236}">
                <a16:creationId xmlns:a16="http://schemas.microsoft.com/office/drawing/2014/main" id="{7C455A10-DF16-F304-B5A7-948278C7659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5067300" y="5743575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55" name="直接连接符 3654">
            <a:extLst>
              <a:ext uri="{FF2B5EF4-FFF2-40B4-BE49-F238E27FC236}">
                <a16:creationId xmlns:a16="http://schemas.microsoft.com/office/drawing/2014/main" id="{68F221C6-1F1F-76E0-9DB3-EF0C586E6B5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067300" y="5389563"/>
            <a:ext cx="58738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8" name="Text Placeholder 4">
            <a:extLst>
              <a:ext uri="{FF2B5EF4-FFF2-40B4-BE49-F238E27FC236}">
                <a16:creationId xmlns:a16="http://schemas.microsoft.com/office/drawing/2014/main" id="{65CB9E6B-95B1-1C9B-0FA5-6758E487A14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5243513" y="563721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0</a:t>
            </a:r>
            <a:endParaRPr lang="zh-CN" altLang="en-US" sz="1400" dirty="0">
              <a:cs typeface="+mn-cs"/>
            </a:endParaRPr>
          </a:p>
        </p:txBody>
      </p:sp>
      <p:sp>
        <p:nvSpPr>
          <p:cNvPr id="3654" name="Text Placeholder 4">
            <a:extLst>
              <a:ext uri="{FF2B5EF4-FFF2-40B4-BE49-F238E27FC236}">
                <a16:creationId xmlns:a16="http://schemas.microsoft.com/office/drawing/2014/main" id="{BD1AFAAD-52AA-F4DF-4040-B44764BBD6E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5243513" y="5283200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5%</a:t>
            </a:r>
            <a:endParaRPr lang="zh-CN" altLang="en-US" sz="1400" dirty="0">
              <a:cs typeface="+mn-cs"/>
            </a:endParaRPr>
          </a:p>
        </p:txBody>
      </p:sp>
      <p:sp>
        <p:nvSpPr>
          <p:cNvPr id="3573" name="Text Placeholder 4">
            <a:extLst>
              <a:ext uri="{FF2B5EF4-FFF2-40B4-BE49-F238E27FC236}">
                <a16:creationId xmlns:a16="http://schemas.microsoft.com/office/drawing/2014/main" id="{C0084A53-63D1-FADA-F1F8-27E67662AAB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5243513" y="492760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effectLst/>
                <a:cs typeface="+mn-cs"/>
              </a:rPr>
              <a:t>10%</a:t>
            </a:r>
            <a:endParaRPr lang="zh-CN" altLang="en-US" sz="1400" dirty="0">
              <a:cs typeface="+mn-cs"/>
            </a:endParaRPr>
          </a:p>
        </p:txBody>
      </p:sp>
      <p:cxnSp>
        <p:nvCxnSpPr>
          <p:cNvPr id="3742" name="直接连接符 3741">
            <a:extLst>
              <a:ext uri="{FF2B5EF4-FFF2-40B4-BE49-F238E27FC236}">
                <a16:creationId xmlns:a16="http://schemas.microsoft.com/office/drawing/2014/main" id="{7AAA169D-1115-6FB3-0B1D-7E388CC7591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V="1">
            <a:off x="2451100" y="4649788"/>
            <a:ext cx="0" cy="8143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3" name="直接连接符 3742">
            <a:extLst>
              <a:ext uri="{FF2B5EF4-FFF2-40B4-BE49-F238E27FC236}">
                <a16:creationId xmlns:a16="http://schemas.microsoft.com/office/drawing/2014/main" id="{E0486259-C99E-DAAF-9033-4FC60E88E793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2451100" y="4649788"/>
            <a:ext cx="19796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5" name="直接连接符 3744">
            <a:extLst>
              <a:ext uri="{FF2B5EF4-FFF2-40B4-BE49-F238E27FC236}">
                <a16:creationId xmlns:a16="http://schemas.microsoft.com/office/drawing/2014/main" id="{F47A181F-3DB5-F83A-1917-D9544445DAF0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4430713" y="4649788"/>
            <a:ext cx="0" cy="7667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628" name="Text Placeholder 4">
            <a:extLst>
              <a:ext uri="{FF2B5EF4-FFF2-40B4-BE49-F238E27FC236}">
                <a16:creationId xmlns:a16="http://schemas.microsoft.com/office/drawing/2014/main" id="{67575059-8993-426B-34B1-78E840DF233D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2057400" y="5311775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1%</a:t>
            </a:r>
            <a:endParaRPr lang="zh-CN" altLang="en-US" sz="1400" dirty="0">
              <a:cs typeface="+mn-cs"/>
            </a:endParaRPr>
          </a:p>
        </p:txBody>
      </p:sp>
      <p:sp>
        <p:nvSpPr>
          <p:cNvPr id="3427" name="Text Placeholder 4">
            <a:extLst>
              <a:ext uri="{FF2B5EF4-FFF2-40B4-BE49-F238E27FC236}">
                <a16:creationId xmlns:a16="http://schemas.microsoft.com/office/drawing/2014/main" id="{101E81A2-FBF1-70F7-99D7-0B20CA7787F8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893888" y="58023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DB090B2-23A0-4DF3-8D74-7B6F8C614801}" type="datetime'''''''''''''''''''2''''''''''0''''2''''''''2'''''''''''">
              <a:rPr lang="zh-CN" altLang="en-US" sz="1400" smtClean="0">
                <a:cs typeface="+mn-cs"/>
              </a:rPr>
              <a:pPr/>
              <a:t>2022</a:t>
            </a:fld>
            <a:endParaRPr lang="zh-CN" altLang="en-US" sz="1400" dirty="0">
              <a:cs typeface="+mn-cs"/>
            </a:endParaRPr>
          </a:p>
        </p:txBody>
      </p:sp>
      <p:sp useBgFill="1">
        <p:nvSpPr>
          <p:cNvPr id="3634" name="Text Placeholder 4">
            <a:extLst>
              <a:ext uri="{FF2B5EF4-FFF2-40B4-BE49-F238E27FC236}">
                <a16:creationId xmlns:a16="http://schemas.microsoft.com/office/drawing/2014/main" id="{E3715621-0CE6-24F7-F2FB-865C08B87BD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3922713" y="506888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8%</a:t>
            </a:r>
            <a:endParaRPr lang="zh-CN" altLang="en-US" sz="1400" dirty="0">
              <a:cs typeface="+mn-cs"/>
            </a:endParaRPr>
          </a:p>
        </p:txBody>
      </p:sp>
      <p:sp>
        <p:nvSpPr>
          <p:cNvPr id="3428" name="Text Placeholder 4">
            <a:extLst>
              <a:ext uri="{FF2B5EF4-FFF2-40B4-BE49-F238E27FC236}">
                <a16:creationId xmlns:a16="http://schemas.microsoft.com/office/drawing/2014/main" id="{D2100540-3077-9A87-F8FA-75C7FEB74768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3873500" y="58023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D45775-BD3E-45C7-8A50-7161AB40BF3B}" type="datetime'''2''''0''''2''''''''''''''8'''''">
              <a:rPr lang="zh-CN" altLang="en-US" sz="1400" smtClean="0">
                <a:cs typeface="+mn-cs"/>
              </a:rPr>
              <a:pPr/>
              <a:t>2028</a:t>
            </a:fld>
            <a:endParaRPr lang="zh-CN" altLang="en-US" sz="1400" dirty="0">
              <a:cs typeface="+mn-cs"/>
            </a:endParaRPr>
          </a:p>
        </p:txBody>
      </p:sp>
      <p:sp useBgFill="1">
        <p:nvSpPr>
          <p:cNvPr id="3756" name="Text Placeholder 4">
            <a:extLst>
              <a:ext uri="{FF2B5EF4-FFF2-40B4-BE49-F238E27FC236}">
                <a16:creationId xmlns:a16="http://schemas.microsoft.com/office/drawing/2014/main" id="{9B8883C0-C874-C5CC-5FDD-D8939582201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2376488" y="5502275"/>
            <a:ext cx="14922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147CAB0-A359-42D2-AB1C-DD3D0F9C4E93}" type="datetime'''''''''''''''''''4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741" name="Text Placeholder 4">
            <a:extLst>
              <a:ext uri="{FF2B5EF4-FFF2-40B4-BE49-F238E27FC236}">
                <a16:creationId xmlns:a16="http://schemas.microsoft.com/office/drawing/2014/main" id="{4274254B-F3AF-C730-6060-9C6B07DFE4DF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230563" y="4498975"/>
            <a:ext cx="419100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20</a:t>
            </a:r>
            <a:r>
              <a:rPr lang="en-US" altLang="zh-CN" sz="1400" b="1" dirty="0">
                <a:effectLst/>
                <a:cs typeface="+mn-cs"/>
              </a:rPr>
              <a:t>x</a:t>
            </a:r>
            <a:endParaRPr lang="zh-CN" altLang="en-US" sz="1400" b="1" dirty="0">
              <a:cs typeface="+mn-cs"/>
            </a:endParaRPr>
          </a:p>
        </p:txBody>
      </p:sp>
      <p:grpSp>
        <p:nvGrpSpPr>
          <p:cNvPr id="3816" name="组合 3815">
            <a:extLst>
              <a:ext uri="{FF2B5EF4-FFF2-40B4-BE49-F238E27FC236}">
                <a16:creationId xmlns:a16="http://schemas.microsoft.com/office/drawing/2014/main" id="{B173CBDB-0E0F-2FA4-275A-417F669C2CBB}"/>
              </a:ext>
            </a:extLst>
          </p:cNvPr>
          <p:cNvGrpSpPr/>
          <p:nvPr/>
        </p:nvGrpSpPr>
        <p:grpSpPr>
          <a:xfrm>
            <a:off x="1117600" y="6049963"/>
            <a:ext cx="1035050" cy="252413"/>
            <a:chOff x="7119936" y="8112711"/>
            <a:chExt cx="1035259" cy="252413"/>
          </a:xfrm>
        </p:grpSpPr>
        <p:cxnSp>
          <p:nvCxnSpPr>
            <p:cNvPr id="3817" name="直接连接符 3816">
              <a:extLst>
                <a:ext uri="{FF2B5EF4-FFF2-40B4-BE49-F238E27FC236}">
                  <a16:creationId xmlns:a16="http://schemas.microsoft.com/office/drawing/2014/main" id="{94CA651A-5287-8574-8DFF-167633418E28}"/>
                </a:ext>
              </a:extLst>
            </p:cNvPr>
            <p:cNvCxnSpPr/>
            <p:nvPr/>
          </p:nvCxnSpPr>
          <p:spPr>
            <a:xfrm>
              <a:off x="7119936" y="82397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8" name="文本框 3817">
              <a:extLst>
                <a:ext uri="{FF2B5EF4-FFF2-40B4-BE49-F238E27FC236}">
                  <a16:creationId xmlns:a16="http://schemas.microsoft.com/office/drawing/2014/main" id="{7C115E7C-B271-A564-1EF2-9ECCE9C1CFE7}"/>
                </a:ext>
              </a:extLst>
            </p:cNvPr>
            <p:cNvSpPr txBox="1"/>
            <p:nvPr/>
          </p:nvSpPr>
          <p:spPr>
            <a:xfrm>
              <a:off x="7399069" y="8112711"/>
              <a:ext cx="7561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光模块功耗占比（右轴）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</p:grpSp>
      <p:grpSp>
        <p:nvGrpSpPr>
          <p:cNvPr id="3819" name="组合 3818">
            <a:extLst>
              <a:ext uri="{FF2B5EF4-FFF2-40B4-BE49-F238E27FC236}">
                <a16:creationId xmlns:a16="http://schemas.microsoft.com/office/drawing/2014/main" id="{B6C7A23D-0747-6D87-C036-1BAF08384CA7}"/>
              </a:ext>
            </a:extLst>
          </p:cNvPr>
          <p:cNvGrpSpPr/>
          <p:nvPr/>
        </p:nvGrpSpPr>
        <p:grpSpPr>
          <a:xfrm>
            <a:off x="2544763" y="6049963"/>
            <a:ext cx="1371600" cy="252413"/>
            <a:chOff x="7119936" y="8382496"/>
            <a:chExt cx="1372736" cy="252413"/>
          </a:xfrm>
        </p:grpSpPr>
        <p:sp>
          <p:nvSpPr>
            <p:cNvPr id="3820" name="文本框 3819">
              <a:extLst>
                <a:ext uri="{FF2B5EF4-FFF2-40B4-BE49-F238E27FC236}">
                  <a16:creationId xmlns:a16="http://schemas.microsoft.com/office/drawing/2014/main" id="{F1101C23-0D15-D0C7-520C-E1025AB5C966}"/>
                </a:ext>
              </a:extLst>
            </p:cNvPr>
            <p:cNvSpPr txBox="1"/>
            <p:nvPr/>
          </p:nvSpPr>
          <p:spPr>
            <a:xfrm>
              <a:off x="7415146" y="8382496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全球</a:t>
              </a:r>
              <a:r>
                <a:rPr lang="en-US" altLang="zh-CN" sz="1000" dirty="0"/>
                <a:t>IDC</a:t>
              </a:r>
              <a:r>
                <a:rPr lang="zh-CN" altLang="en-US" sz="1000" dirty="0"/>
                <a:t>用电量（</a:t>
              </a:r>
              <a:r>
                <a:rPr lang="en-US" altLang="zh-CN" sz="1000" dirty="0"/>
                <a:t>TWh</a:t>
              </a:r>
              <a:r>
                <a:rPr lang="zh-CN" altLang="en-US" sz="1000" dirty="0"/>
                <a:t>，左轴）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  <p:sp>
          <p:nvSpPr>
            <p:cNvPr id="3821" name="矩形 3820">
              <a:extLst>
                <a:ext uri="{FF2B5EF4-FFF2-40B4-BE49-F238E27FC236}">
                  <a16:creationId xmlns:a16="http://schemas.microsoft.com/office/drawing/2014/main" id="{F24D8067-F3AD-21EB-5E21-918824410CD1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22" name="组合 3821">
            <a:extLst>
              <a:ext uri="{FF2B5EF4-FFF2-40B4-BE49-F238E27FC236}">
                <a16:creationId xmlns:a16="http://schemas.microsoft.com/office/drawing/2014/main" id="{04439A8E-99C4-8B0C-F0FD-FDA2C76C4156}"/>
              </a:ext>
            </a:extLst>
          </p:cNvPr>
          <p:cNvGrpSpPr/>
          <p:nvPr/>
        </p:nvGrpSpPr>
        <p:grpSpPr>
          <a:xfrm>
            <a:off x="4191000" y="6007100"/>
            <a:ext cx="1230313" cy="295275"/>
            <a:chOff x="7119936" y="8338983"/>
            <a:chExt cx="1230021" cy="294870"/>
          </a:xfrm>
        </p:grpSpPr>
        <p:sp>
          <p:nvSpPr>
            <p:cNvPr id="3823" name="文本框 3822">
              <a:extLst>
                <a:ext uri="{FF2B5EF4-FFF2-40B4-BE49-F238E27FC236}">
                  <a16:creationId xmlns:a16="http://schemas.microsoft.com/office/drawing/2014/main" id="{7A324ABA-7EA1-2380-A63F-A5B145E6B8BC}"/>
                </a:ext>
              </a:extLst>
            </p:cNvPr>
            <p:cNvSpPr txBox="1"/>
            <p:nvPr/>
          </p:nvSpPr>
          <p:spPr>
            <a:xfrm>
              <a:off x="7388185" y="8338983"/>
              <a:ext cx="961772" cy="294870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zh-CN" altLang="en-US" sz="1000" dirty="0"/>
                <a:t>光模块功耗（</a:t>
              </a:r>
              <a:r>
                <a:rPr lang="en-US" altLang="zh-CN" sz="1000" dirty="0"/>
                <a:t>TWh</a:t>
              </a:r>
              <a:r>
                <a:rPr lang="zh-CN" altLang="en-US" sz="1000" dirty="0"/>
                <a:t>，左轴） </a:t>
              </a:r>
              <a:endParaRPr lang="zh-CN" altLang="en-US" sz="1000" dirty="0">
                <a:sym typeface="微软雅黑" panose="020B0503020204020204" pitchFamily="34" charset="-122"/>
              </a:endParaRPr>
            </a:p>
          </p:txBody>
        </p:sp>
        <p:sp>
          <p:nvSpPr>
            <p:cNvPr id="3824" name="矩形 3823">
              <a:extLst>
                <a:ext uri="{FF2B5EF4-FFF2-40B4-BE49-F238E27FC236}">
                  <a16:creationId xmlns:a16="http://schemas.microsoft.com/office/drawing/2014/main" id="{4BB80B13-3C24-BCA5-6347-758ED8693B2C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80200" y="5107721"/>
            <a:ext cx="4930210" cy="1112155"/>
          </a:xfrm>
          <a:prstGeom prst="roundRect">
            <a:avLst>
              <a:gd name="adj" fmla="val 353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铜互连的极限是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2.5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米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米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，因此铜互连能承载的集群上限大约是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万卡规模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A05983-BC9A-C222-BB48-2B7148A3E89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438272-DD80-325F-F941-5CEC1B69D10D}"/>
              </a:ext>
            </a:extLst>
          </p:cNvPr>
          <p:cNvSpPr/>
          <p:nvPr/>
        </p:nvSpPr>
        <p:spPr>
          <a:xfrm>
            <a:off x="13063447" y="2218327"/>
            <a:ext cx="4445496" cy="9307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能耗上，业务只算了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相比较其他的解决方案的改善，没有算整体消耗。需要我们自己算一下能耗的节省（按照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0.7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元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度算）</a:t>
            </a: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D45EE13-2B26-1D5F-2E19-261ED39E3A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8310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BF972847-AA9B-2D36-4351-F2FFBF0E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1450"/>
            <a:ext cx="9677400" cy="731838"/>
          </a:xfrm>
        </p:spPr>
        <p:txBody>
          <a:bodyPr vert="horz"/>
          <a:lstStyle/>
          <a:p>
            <a:r>
              <a:rPr lang="zh-CN" altLang="en-US" dirty="0"/>
              <a:t>互联技术变革：铜互连、可插拔光模块、</a:t>
            </a:r>
            <a:r>
              <a:rPr lang="en-US" altLang="zh-CN" dirty="0"/>
              <a:t>CPO</a:t>
            </a:r>
            <a:r>
              <a:rPr lang="zh-CN" altLang="en-US" dirty="0"/>
              <a:t>、</a:t>
            </a:r>
            <a:r>
              <a:rPr lang="en-US" altLang="zh-CN" dirty="0"/>
              <a:t>OIO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AAA254-D873-7B76-2772-399B02402AC0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83FD1E53-9FE0-147D-3B6D-26B62A742416}"/>
              </a:ext>
            </a:extLst>
          </p:cNvPr>
          <p:cNvCxnSpPr>
            <a:cxnSpLocks/>
          </p:cNvCxnSpPr>
          <p:nvPr/>
        </p:nvCxnSpPr>
        <p:spPr>
          <a:xfrm>
            <a:off x="933075" y="5600700"/>
            <a:ext cx="10599420" cy="0"/>
          </a:xfrm>
          <a:prstGeom prst="straightConnector1">
            <a:avLst/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iconfont-1018-792472">
            <a:extLst>
              <a:ext uri="{FF2B5EF4-FFF2-40B4-BE49-F238E27FC236}">
                <a16:creationId xmlns:a16="http://schemas.microsoft.com/office/drawing/2014/main" id="{AC7D3654-D8DA-F367-A98F-9D4BD20E305D}"/>
              </a:ext>
            </a:extLst>
          </p:cNvPr>
          <p:cNvSpPr/>
          <p:nvPr/>
        </p:nvSpPr>
        <p:spPr>
          <a:xfrm>
            <a:off x="140168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4EBE5EBD-4417-3B84-AF2F-A82C6929D7FC}"/>
              </a:ext>
            </a:extLst>
          </p:cNvPr>
          <p:cNvSpPr txBox="1"/>
          <p:nvPr/>
        </p:nvSpPr>
        <p:spPr>
          <a:xfrm>
            <a:off x="1127384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1997</a:t>
            </a:r>
            <a:endParaRPr lang="zh-CN" altLang="en-US" dirty="0"/>
          </a:p>
        </p:txBody>
      </p:sp>
      <p:sp>
        <p:nvSpPr>
          <p:cNvPr id="100" name="iconfont-1018-792472">
            <a:extLst>
              <a:ext uri="{FF2B5EF4-FFF2-40B4-BE49-F238E27FC236}">
                <a16:creationId xmlns:a16="http://schemas.microsoft.com/office/drawing/2014/main" id="{C2411CC2-A45F-CCBB-60AE-F895A1A86F5C}"/>
              </a:ext>
            </a:extLst>
          </p:cNvPr>
          <p:cNvSpPr/>
          <p:nvPr/>
        </p:nvSpPr>
        <p:spPr>
          <a:xfrm>
            <a:off x="2573461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F898082-1866-FC02-D6D5-9A1975DC11C5}"/>
              </a:ext>
            </a:extLst>
          </p:cNvPr>
          <p:cNvSpPr txBox="1"/>
          <p:nvPr/>
        </p:nvSpPr>
        <p:spPr>
          <a:xfrm>
            <a:off x="2302741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2014</a:t>
            </a:r>
            <a:endParaRPr lang="zh-CN" altLang="en-US" dirty="0"/>
          </a:p>
        </p:txBody>
      </p:sp>
      <p:sp>
        <p:nvSpPr>
          <p:cNvPr id="103" name="iconfont-1018-792472">
            <a:extLst>
              <a:ext uri="{FF2B5EF4-FFF2-40B4-BE49-F238E27FC236}">
                <a16:creationId xmlns:a16="http://schemas.microsoft.com/office/drawing/2014/main" id="{B6FABA63-608D-04FD-3BF7-A628FB6A3C18}"/>
              </a:ext>
            </a:extLst>
          </p:cNvPr>
          <p:cNvSpPr/>
          <p:nvPr/>
        </p:nvSpPr>
        <p:spPr>
          <a:xfrm>
            <a:off x="3745240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AB7CB96D-3384-4EDE-4C46-BC94184B5E7C}"/>
              </a:ext>
            </a:extLst>
          </p:cNvPr>
          <p:cNvSpPr txBox="1"/>
          <p:nvPr/>
        </p:nvSpPr>
        <p:spPr>
          <a:xfrm>
            <a:off x="3478098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2016</a:t>
            </a:r>
            <a:endParaRPr lang="zh-CN" altLang="en-US" dirty="0"/>
          </a:p>
        </p:txBody>
      </p:sp>
      <p:sp>
        <p:nvSpPr>
          <p:cNvPr id="106" name="iconfont-1018-792472">
            <a:extLst>
              <a:ext uri="{FF2B5EF4-FFF2-40B4-BE49-F238E27FC236}">
                <a16:creationId xmlns:a16="http://schemas.microsoft.com/office/drawing/2014/main" id="{F46B675D-898A-3BE2-AD38-072DE7CDBA0A}"/>
              </a:ext>
            </a:extLst>
          </p:cNvPr>
          <p:cNvSpPr/>
          <p:nvPr/>
        </p:nvSpPr>
        <p:spPr>
          <a:xfrm>
            <a:off x="4917019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C5A4EF93-B0CF-C1C5-B53B-853F0221E8EB}"/>
              </a:ext>
            </a:extLst>
          </p:cNvPr>
          <p:cNvSpPr txBox="1"/>
          <p:nvPr/>
        </p:nvSpPr>
        <p:spPr>
          <a:xfrm>
            <a:off x="4653455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2018</a:t>
            </a:r>
            <a:endParaRPr lang="zh-CN" altLang="en-US" dirty="0"/>
          </a:p>
        </p:txBody>
      </p:sp>
      <p:sp>
        <p:nvSpPr>
          <p:cNvPr id="109" name="iconfont-1018-792472">
            <a:extLst>
              <a:ext uri="{FF2B5EF4-FFF2-40B4-BE49-F238E27FC236}">
                <a16:creationId xmlns:a16="http://schemas.microsoft.com/office/drawing/2014/main" id="{AE3CC971-61BA-E737-E160-334CDA5B2CE2}"/>
              </a:ext>
            </a:extLst>
          </p:cNvPr>
          <p:cNvSpPr/>
          <p:nvPr/>
        </p:nvSpPr>
        <p:spPr>
          <a:xfrm>
            <a:off x="6088797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0983A09-B9E4-988B-357B-FA6275482492}"/>
              </a:ext>
            </a:extLst>
          </p:cNvPr>
          <p:cNvSpPr txBox="1"/>
          <p:nvPr/>
        </p:nvSpPr>
        <p:spPr>
          <a:xfrm>
            <a:off x="5360075" y="5739578"/>
            <a:ext cx="175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2020-2021</a:t>
            </a:r>
            <a:endParaRPr lang="zh-CN" altLang="en-US" dirty="0"/>
          </a:p>
        </p:txBody>
      </p:sp>
      <p:sp>
        <p:nvSpPr>
          <p:cNvPr id="112" name="iconfont-1018-792472">
            <a:extLst>
              <a:ext uri="{FF2B5EF4-FFF2-40B4-BE49-F238E27FC236}">
                <a16:creationId xmlns:a16="http://schemas.microsoft.com/office/drawing/2014/main" id="{4BEC9973-D0F5-6716-1698-7BEF33D1C310}"/>
              </a:ext>
            </a:extLst>
          </p:cNvPr>
          <p:cNvSpPr/>
          <p:nvPr/>
        </p:nvSpPr>
        <p:spPr>
          <a:xfrm>
            <a:off x="7260575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AE6BD08F-AEDB-0847-80DC-7C0A52669B2F}"/>
              </a:ext>
            </a:extLst>
          </p:cNvPr>
          <p:cNvSpPr txBox="1"/>
          <p:nvPr/>
        </p:nvSpPr>
        <p:spPr>
          <a:xfrm>
            <a:off x="6986276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2023</a:t>
            </a:r>
            <a:endParaRPr lang="zh-CN" altLang="en-US" dirty="0"/>
          </a:p>
        </p:txBody>
      </p:sp>
      <p:sp>
        <p:nvSpPr>
          <p:cNvPr id="115" name="iconfont-1018-792472">
            <a:extLst>
              <a:ext uri="{FF2B5EF4-FFF2-40B4-BE49-F238E27FC236}">
                <a16:creationId xmlns:a16="http://schemas.microsoft.com/office/drawing/2014/main" id="{3B3721F7-75A8-73E8-DA1C-081233DCEE89}"/>
              </a:ext>
            </a:extLst>
          </p:cNvPr>
          <p:cNvSpPr/>
          <p:nvPr/>
        </p:nvSpPr>
        <p:spPr>
          <a:xfrm>
            <a:off x="8432353" y="549780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B1C6FC0-8810-7EBA-8A3D-C9A6FBFE7885}"/>
              </a:ext>
            </a:extLst>
          </p:cNvPr>
          <p:cNvSpPr txBox="1"/>
          <p:nvPr/>
        </p:nvSpPr>
        <p:spPr>
          <a:xfrm>
            <a:off x="8153562" y="5739578"/>
            <a:ext cx="75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118" name="iconfont-1018-792472">
            <a:extLst>
              <a:ext uri="{FF2B5EF4-FFF2-40B4-BE49-F238E27FC236}">
                <a16:creationId xmlns:a16="http://schemas.microsoft.com/office/drawing/2014/main" id="{21C3A0DF-BA5D-0371-1C6D-4363309F999A}"/>
              </a:ext>
            </a:extLst>
          </p:cNvPr>
          <p:cNvSpPr/>
          <p:nvPr/>
        </p:nvSpPr>
        <p:spPr>
          <a:xfrm>
            <a:off x="960413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704391B-F74E-45D3-4177-6ACBD9CD4EFB}"/>
              </a:ext>
            </a:extLst>
          </p:cNvPr>
          <p:cNvSpPr txBox="1"/>
          <p:nvPr/>
        </p:nvSpPr>
        <p:spPr>
          <a:xfrm>
            <a:off x="9289883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2027E</a:t>
            </a:r>
            <a:endParaRPr lang="zh-CN" altLang="en-US" dirty="0"/>
          </a:p>
        </p:txBody>
      </p:sp>
      <p:sp>
        <p:nvSpPr>
          <p:cNvPr id="121" name="iconfont-1018-792472">
            <a:extLst>
              <a:ext uri="{FF2B5EF4-FFF2-40B4-BE49-F238E27FC236}">
                <a16:creationId xmlns:a16="http://schemas.microsoft.com/office/drawing/2014/main" id="{71DE8BD8-4A1C-1E9A-05BC-29E641EE7E5E}"/>
              </a:ext>
            </a:extLst>
          </p:cNvPr>
          <p:cNvSpPr/>
          <p:nvPr/>
        </p:nvSpPr>
        <p:spPr>
          <a:xfrm>
            <a:off x="10775911" y="5497809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184813B-4407-065E-F15B-330244C2DBB3}"/>
              </a:ext>
            </a:extLst>
          </p:cNvPr>
          <p:cNvSpPr txBox="1"/>
          <p:nvPr/>
        </p:nvSpPr>
        <p:spPr>
          <a:xfrm>
            <a:off x="10460009" y="5739578"/>
            <a:ext cx="92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2030E</a:t>
            </a:r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46A5AC6-3F67-C01B-8E4E-4B1A2D998481}"/>
              </a:ext>
            </a:extLst>
          </p:cNvPr>
          <p:cNvSpPr txBox="1"/>
          <p:nvPr/>
        </p:nvSpPr>
        <p:spPr>
          <a:xfrm>
            <a:off x="-371281" y="4936375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Total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Speed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E6357F8-B683-ABA3-CB77-96E128A0B7F8}"/>
              </a:ext>
            </a:extLst>
          </p:cNvPr>
          <p:cNvSpPr txBox="1"/>
          <p:nvPr/>
        </p:nvSpPr>
        <p:spPr>
          <a:xfrm>
            <a:off x="49469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2.5G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FAC97D7-E9E5-5BA1-6097-148B73639866}"/>
              </a:ext>
            </a:extLst>
          </p:cNvPr>
          <p:cNvSpPr txBox="1"/>
          <p:nvPr/>
        </p:nvSpPr>
        <p:spPr>
          <a:xfrm>
            <a:off x="1695831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100G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4043AB13-FE5B-2D10-7C09-2D09FF6992CC}"/>
              </a:ext>
            </a:extLst>
          </p:cNvPr>
          <p:cNvSpPr txBox="1"/>
          <p:nvPr/>
        </p:nvSpPr>
        <p:spPr>
          <a:xfrm>
            <a:off x="5199385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400/800G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A415130-5F83-2176-DFC7-3C1FC6C51EC7}"/>
              </a:ext>
            </a:extLst>
          </p:cNvPr>
          <p:cNvSpPr txBox="1"/>
          <p:nvPr/>
        </p:nvSpPr>
        <p:spPr>
          <a:xfrm>
            <a:off x="632939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800G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2EC67923-703A-0361-49A9-099FFE7E13F6}"/>
              </a:ext>
            </a:extLst>
          </p:cNvPr>
          <p:cNvSpPr txBox="1"/>
          <p:nvPr/>
        </p:nvSpPr>
        <p:spPr>
          <a:xfrm>
            <a:off x="7466358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1.6T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7A4CBAF-8A2C-84FB-6753-C3858EFADB52}"/>
              </a:ext>
            </a:extLst>
          </p:cNvPr>
          <p:cNvSpPr txBox="1"/>
          <p:nvPr/>
        </p:nvSpPr>
        <p:spPr>
          <a:xfrm>
            <a:off x="867642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C3A8DCB8-EE2E-65BA-9C51-B9CD67209086}"/>
              </a:ext>
            </a:extLst>
          </p:cNvPr>
          <p:cNvSpPr txBox="1"/>
          <p:nvPr/>
        </p:nvSpPr>
        <p:spPr>
          <a:xfrm>
            <a:off x="9848207" y="5055637"/>
            <a:ext cx="2061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6.4T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840527B2-9761-2BAE-5099-3A1743076ED7}"/>
              </a:ext>
            </a:extLst>
          </p:cNvPr>
          <p:cNvGrpSpPr/>
          <p:nvPr/>
        </p:nvGrpSpPr>
        <p:grpSpPr>
          <a:xfrm>
            <a:off x="1401684" y="4097438"/>
            <a:ext cx="9490042" cy="645195"/>
            <a:chOff x="1485504" y="4097438"/>
            <a:chExt cx="9490042" cy="645195"/>
          </a:xfrm>
        </p:grpSpPr>
        <p:sp>
          <p:nvSpPr>
            <p:cNvPr id="136" name="箭头: 右 135">
              <a:extLst>
                <a:ext uri="{FF2B5EF4-FFF2-40B4-BE49-F238E27FC236}">
                  <a16:creationId xmlns:a16="http://schemas.microsoft.com/office/drawing/2014/main" id="{E7CBD5E6-75D7-8A1E-51AD-DD8E61B76C0F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75000"/>
                    </a:schemeClr>
                  </a:solidFill>
                </a:rPr>
                <a:t>    ?</a:t>
              </a:r>
              <a:endParaRPr lang="zh-CN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2" name="箭头: 右 131">
              <a:extLst>
                <a:ext uri="{FF2B5EF4-FFF2-40B4-BE49-F238E27FC236}">
                  <a16:creationId xmlns:a16="http://schemas.microsoft.com/office/drawing/2014/main" id="{1AA29896-608D-0C44-8340-392B192086B5}"/>
                </a:ext>
              </a:extLst>
            </p:cNvPr>
            <p:cNvSpPr/>
            <p:nvPr/>
          </p:nvSpPr>
          <p:spPr>
            <a:xfrm>
              <a:off x="1485504" y="4097438"/>
              <a:ext cx="7116058" cy="645195"/>
            </a:xfrm>
            <a:prstGeom prst="righ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</a:rPr>
                <a:t>Copper</a:t>
              </a:r>
              <a:endParaRPr lang="zh-CN" altLang="en-US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CCA4DF44-D9A5-BA4A-E55E-0E7350AD4348}"/>
              </a:ext>
            </a:extLst>
          </p:cNvPr>
          <p:cNvCxnSpPr/>
          <p:nvPr/>
        </p:nvCxnSpPr>
        <p:spPr>
          <a:xfrm flipV="1">
            <a:off x="11026440" y="1363684"/>
            <a:ext cx="0" cy="33789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9F94007B-700C-BDB6-058E-20F471A9CA12}"/>
              </a:ext>
            </a:extLst>
          </p:cNvPr>
          <p:cNvSpPr txBox="1"/>
          <p:nvPr/>
        </p:nvSpPr>
        <p:spPr>
          <a:xfrm rot="16200000">
            <a:off x="10453724" y="2743677"/>
            <a:ext cx="206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Power efficiency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Complexity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0107C66-7D40-492A-D4A5-6BAA808C8A50}"/>
              </a:ext>
            </a:extLst>
          </p:cNvPr>
          <p:cNvGrpSpPr/>
          <p:nvPr/>
        </p:nvGrpSpPr>
        <p:grpSpPr>
          <a:xfrm>
            <a:off x="2669059" y="3186972"/>
            <a:ext cx="8222667" cy="645195"/>
            <a:chOff x="2752879" y="4097438"/>
            <a:chExt cx="8222667" cy="645195"/>
          </a:xfrm>
        </p:grpSpPr>
        <p:sp>
          <p:nvSpPr>
            <p:cNvPr id="139" name="箭头: 右 138">
              <a:extLst>
                <a:ext uri="{FF2B5EF4-FFF2-40B4-BE49-F238E27FC236}">
                  <a16:creationId xmlns:a16="http://schemas.microsoft.com/office/drawing/2014/main" id="{A26ADE6B-49CF-0B2B-4CA9-51FA87B47220}"/>
                </a:ext>
              </a:extLst>
            </p:cNvPr>
            <p:cNvSpPr/>
            <p:nvPr/>
          </p:nvSpPr>
          <p:spPr>
            <a:xfrm>
              <a:off x="7070096" y="4097438"/>
              <a:ext cx="3905450" cy="645195"/>
            </a:xfrm>
            <a:prstGeom prst="rightArrow">
              <a:avLst/>
            </a:prstGeom>
            <a:noFill/>
            <a:ln w="12700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/>
                  </a:solidFill>
                </a:rPr>
                <a:t>                              </a:t>
              </a:r>
              <a:r>
                <a:rPr lang="en-US" altLang="zh-CN" dirty="0">
                  <a:solidFill>
                    <a:schemeClr val="accent4"/>
                  </a:solidFill>
                </a:rPr>
                <a:t>?</a:t>
              </a:r>
              <a:endParaRPr lang="zh-CN" altLang="en-US" dirty="0">
                <a:solidFill>
                  <a:schemeClr val="accent4"/>
                </a:solidFill>
              </a:endParaRPr>
            </a:p>
          </p:txBody>
        </p:sp>
        <p:sp>
          <p:nvSpPr>
            <p:cNvPr id="140" name="箭头: 右 139">
              <a:extLst>
                <a:ext uri="{FF2B5EF4-FFF2-40B4-BE49-F238E27FC236}">
                  <a16:creationId xmlns:a16="http://schemas.microsoft.com/office/drawing/2014/main" id="{C8395481-E407-1A57-AB3B-745AE68A6769}"/>
                </a:ext>
              </a:extLst>
            </p:cNvPr>
            <p:cNvSpPr/>
            <p:nvPr/>
          </p:nvSpPr>
          <p:spPr>
            <a:xfrm>
              <a:off x="2752879" y="4097438"/>
              <a:ext cx="6721358" cy="645195"/>
            </a:xfrm>
            <a:prstGeom prst="right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Pluggable Optics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F005F9F6-D1E0-9C25-8920-A4ED7442437A}"/>
              </a:ext>
            </a:extLst>
          </p:cNvPr>
          <p:cNvSpPr/>
          <p:nvPr/>
        </p:nvSpPr>
        <p:spPr>
          <a:xfrm>
            <a:off x="4859238" y="2276507"/>
            <a:ext cx="6032487" cy="807573"/>
          </a:xfrm>
          <a:prstGeom prst="rightArrow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   CPO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46" name="箭头: 右 145">
            <a:extLst>
              <a:ext uri="{FF2B5EF4-FFF2-40B4-BE49-F238E27FC236}">
                <a16:creationId xmlns:a16="http://schemas.microsoft.com/office/drawing/2014/main" id="{544170DA-07C0-31F4-D09E-9DCFF12C8C8A}"/>
              </a:ext>
            </a:extLst>
          </p:cNvPr>
          <p:cNvSpPr/>
          <p:nvPr/>
        </p:nvSpPr>
        <p:spPr>
          <a:xfrm>
            <a:off x="3302165" y="1366042"/>
            <a:ext cx="7589559" cy="645195"/>
          </a:xfrm>
          <a:prstGeom prst="rightArrow">
            <a:avLst/>
          </a:prstGeom>
          <a:solidFill>
            <a:schemeClr val="bg1"/>
          </a:solidFill>
          <a:ln>
            <a:solidFill>
              <a:schemeClr val="accent6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OIO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3A082EE3-531A-D7E3-F422-37FCFACEAAA3}"/>
              </a:ext>
            </a:extLst>
          </p:cNvPr>
          <p:cNvSpPr txBox="1"/>
          <p:nvPr/>
        </p:nvSpPr>
        <p:spPr>
          <a:xfrm>
            <a:off x="8751135" y="3741443"/>
            <a:ext cx="2061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</a:rPr>
              <a:t>Hard to continue for 3.2T optics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C21AE233-BF12-9462-3EFA-8E00F75C6210}"/>
              </a:ext>
            </a:extLst>
          </p:cNvPr>
          <p:cNvGrpSpPr/>
          <p:nvPr/>
        </p:nvGrpSpPr>
        <p:grpSpPr>
          <a:xfrm>
            <a:off x="4593574" y="2577401"/>
            <a:ext cx="1115494" cy="601626"/>
            <a:chOff x="4593574" y="2577401"/>
            <a:chExt cx="1115494" cy="601626"/>
          </a:xfrm>
        </p:grpSpPr>
        <p:sp>
          <p:nvSpPr>
            <p:cNvPr id="148" name="iconfont-1018-792472">
              <a:extLst>
                <a:ext uri="{FF2B5EF4-FFF2-40B4-BE49-F238E27FC236}">
                  <a16:creationId xmlns:a16="http://schemas.microsoft.com/office/drawing/2014/main" id="{DD905833-F9CE-0F1B-7524-51A2C85476AB}"/>
                </a:ext>
              </a:extLst>
            </p:cNvPr>
            <p:cNvSpPr/>
            <p:nvPr/>
          </p:nvSpPr>
          <p:spPr>
            <a:xfrm>
              <a:off x="5048430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6D4864F0-FD40-BF53-3D19-44BD69AC0DD5}"/>
                </a:ext>
              </a:extLst>
            </p:cNvPr>
            <p:cNvSpPr txBox="1"/>
            <p:nvPr/>
          </p:nvSpPr>
          <p:spPr>
            <a:xfrm>
              <a:off x="4593574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</a:rPr>
                <a:t>Concept</a:t>
              </a:r>
              <a:endParaRPr lang="zh-CN" altLang="en-US" sz="14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063E9656-86D7-0F80-F1BF-75B868010E23}"/>
              </a:ext>
            </a:extLst>
          </p:cNvPr>
          <p:cNvGrpSpPr/>
          <p:nvPr/>
        </p:nvGrpSpPr>
        <p:grpSpPr>
          <a:xfrm>
            <a:off x="5589742" y="2577401"/>
            <a:ext cx="1115494" cy="601626"/>
            <a:chOff x="5589742" y="2577401"/>
            <a:chExt cx="1115494" cy="601626"/>
          </a:xfrm>
        </p:grpSpPr>
        <p:sp>
          <p:nvSpPr>
            <p:cNvPr id="150" name="iconfont-1018-792472">
              <a:extLst>
                <a:ext uri="{FF2B5EF4-FFF2-40B4-BE49-F238E27FC236}">
                  <a16:creationId xmlns:a16="http://schemas.microsoft.com/office/drawing/2014/main" id="{5C753B97-2F1F-5CA1-DDEE-E05461B1B5E7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825104B-F905-1774-54F2-F389FD32846C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</a:rPr>
                <a:t>Demo</a:t>
              </a:r>
              <a:endParaRPr lang="zh-CN" altLang="en-US" sz="14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E443CD2-5EA6-CBFB-ED56-C7590B49C1E9}"/>
              </a:ext>
            </a:extLst>
          </p:cNvPr>
          <p:cNvGrpSpPr/>
          <p:nvPr/>
        </p:nvGrpSpPr>
        <p:grpSpPr>
          <a:xfrm>
            <a:off x="6796917" y="2577401"/>
            <a:ext cx="1115494" cy="793893"/>
            <a:chOff x="5589742" y="2577401"/>
            <a:chExt cx="1115494" cy="793893"/>
          </a:xfrm>
        </p:grpSpPr>
        <p:sp>
          <p:nvSpPr>
            <p:cNvPr id="154" name="iconfont-1018-792472">
              <a:extLst>
                <a:ext uri="{FF2B5EF4-FFF2-40B4-BE49-F238E27FC236}">
                  <a16:creationId xmlns:a16="http://schemas.microsoft.com/office/drawing/2014/main" id="{35B6F8DE-178E-5CB9-5F05-612F3922D4B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54C5C5E-DADC-70C9-2057-6775A6684C0D}"/>
                </a:ext>
              </a:extLst>
            </p:cNvPr>
            <p:cNvSpPr txBox="1"/>
            <p:nvPr/>
          </p:nvSpPr>
          <p:spPr>
            <a:xfrm>
              <a:off x="5589742" y="2848074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</a:rPr>
                <a:t>Proofs of concept</a:t>
              </a:r>
              <a:endParaRPr lang="zh-CN" altLang="en-US" sz="14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CB9FED42-BE7C-AB74-D637-92D45A612C48}"/>
              </a:ext>
            </a:extLst>
          </p:cNvPr>
          <p:cNvGrpSpPr/>
          <p:nvPr/>
        </p:nvGrpSpPr>
        <p:grpSpPr>
          <a:xfrm>
            <a:off x="7857103" y="2577401"/>
            <a:ext cx="1115494" cy="601626"/>
            <a:chOff x="5589742" y="2577401"/>
            <a:chExt cx="1115494" cy="601626"/>
          </a:xfrm>
        </p:grpSpPr>
        <p:sp>
          <p:nvSpPr>
            <p:cNvPr id="157" name="iconfont-1018-792472">
              <a:extLst>
                <a:ext uri="{FF2B5EF4-FFF2-40B4-BE49-F238E27FC236}">
                  <a16:creationId xmlns:a16="http://schemas.microsoft.com/office/drawing/2014/main" id="{2514C8D7-26D8-670D-A148-A6062DB9DD96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55420642-9F54-696E-1EA1-57A7F06B1B9A}"/>
                </a:ext>
              </a:extLst>
            </p:cNvPr>
            <p:cNvSpPr txBox="1"/>
            <p:nvPr/>
          </p:nvSpPr>
          <p:spPr>
            <a:xfrm>
              <a:off x="5589742" y="2871250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</a:rPr>
                <a:t>Test</a:t>
              </a:r>
              <a:endParaRPr lang="zh-CN" altLang="en-US" sz="14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DFCEDB3-42BA-07AA-77A9-7A4CA9940C08}"/>
              </a:ext>
            </a:extLst>
          </p:cNvPr>
          <p:cNvGrpSpPr/>
          <p:nvPr/>
        </p:nvGrpSpPr>
        <p:grpSpPr>
          <a:xfrm>
            <a:off x="9064419" y="2577401"/>
            <a:ext cx="1115494" cy="780397"/>
            <a:chOff x="5643082" y="2577401"/>
            <a:chExt cx="1115494" cy="780397"/>
          </a:xfrm>
        </p:grpSpPr>
        <p:sp>
          <p:nvSpPr>
            <p:cNvPr id="160" name="iconfont-1018-792472">
              <a:extLst>
                <a:ext uri="{FF2B5EF4-FFF2-40B4-BE49-F238E27FC236}">
                  <a16:creationId xmlns:a16="http://schemas.microsoft.com/office/drawing/2014/main" id="{ED141343-B0E9-0C31-A3D0-574EC161D735}"/>
                </a:ext>
              </a:extLst>
            </p:cNvPr>
            <p:cNvSpPr/>
            <p:nvPr/>
          </p:nvSpPr>
          <p:spPr>
            <a:xfrm>
              <a:off x="6044598" y="2577401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0052D9"/>
                </a:solidFill>
              </a:endParaRPr>
            </a:p>
          </p:txBody>
        </p:sp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5E960809-1561-50A1-E9EF-B74FCD2FE929}"/>
                </a:ext>
              </a:extLst>
            </p:cNvPr>
            <p:cNvSpPr txBox="1"/>
            <p:nvPr/>
          </p:nvSpPr>
          <p:spPr>
            <a:xfrm>
              <a:off x="5643082" y="2834578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rgbClr val="0052D9"/>
                  </a:solidFill>
                </a:rPr>
                <a:t>Full scale deployment</a:t>
              </a:r>
              <a:endParaRPr lang="zh-CN" altLang="en-US" sz="14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1895BE81-56D2-9BDC-9D33-6E7916E63DA3}"/>
              </a:ext>
            </a:extLst>
          </p:cNvPr>
          <p:cNvGrpSpPr/>
          <p:nvPr/>
        </p:nvGrpSpPr>
        <p:grpSpPr>
          <a:xfrm>
            <a:off x="2920351" y="1576885"/>
            <a:ext cx="1115494" cy="646196"/>
            <a:chOff x="3302165" y="1580956"/>
            <a:chExt cx="1115494" cy="646196"/>
          </a:xfrm>
        </p:grpSpPr>
        <p:sp>
          <p:nvSpPr>
            <p:cNvPr id="162" name="iconfont-1018-792472">
              <a:extLst>
                <a:ext uri="{FF2B5EF4-FFF2-40B4-BE49-F238E27FC236}">
                  <a16:creationId xmlns:a16="http://schemas.microsoft.com/office/drawing/2014/main" id="{6AFF8666-6F71-5CD9-3270-95862384C540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645BDF68-1659-28BE-DAB3-B8E754540A7C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Concept</a:t>
              </a:r>
              <a:endParaRPr lang="zh-CN" altLang="en-US" sz="1400" dirty="0"/>
            </a:p>
          </p:txBody>
        </p: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32088448-E8F5-B286-8475-8A90D6C0D946}"/>
              </a:ext>
            </a:extLst>
          </p:cNvPr>
          <p:cNvGrpSpPr/>
          <p:nvPr/>
        </p:nvGrpSpPr>
        <p:grpSpPr>
          <a:xfrm>
            <a:off x="7115179" y="1576885"/>
            <a:ext cx="1115494" cy="646196"/>
            <a:chOff x="3302165" y="1580956"/>
            <a:chExt cx="1115494" cy="646196"/>
          </a:xfrm>
        </p:grpSpPr>
        <p:sp>
          <p:nvSpPr>
            <p:cNvPr id="166" name="iconfont-1018-792472">
              <a:extLst>
                <a:ext uri="{FF2B5EF4-FFF2-40B4-BE49-F238E27FC236}">
                  <a16:creationId xmlns:a16="http://schemas.microsoft.com/office/drawing/2014/main" id="{EE27585B-C766-2515-9E2B-9E86F090A052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FC177F9-61E7-4EE8-8FFC-C2F76BCFF093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Demo</a:t>
              </a:r>
              <a:endParaRPr lang="zh-CN" altLang="en-US" sz="1400" dirty="0"/>
            </a:p>
          </p:txBody>
        </p: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62B0942-AEAF-3AB0-CBD3-9EFE6C032518}"/>
              </a:ext>
            </a:extLst>
          </p:cNvPr>
          <p:cNvGrpSpPr/>
          <p:nvPr/>
        </p:nvGrpSpPr>
        <p:grpSpPr>
          <a:xfrm>
            <a:off x="7955412" y="1576885"/>
            <a:ext cx="1115494" cy="861639"/>
            <a:chOff x="3302165" y="1580956"/>
            <a:chExt cx="1115494" cy="861639"/>
          </a:xfrm>
        </p:grpSpPr>
        <p:sp>
          <p:nvSpPr>
            <p:cNvPr id="169" name="iconfont-1018-792472">
              <a:extLst>
                <a:ext uri="{FF2B5EF4-FFF2-40B4-BE49-F238E27FC236}">
                  <a16:creationId xmlns:a16="http://schemas.microsoft.com/office/drawing/2014/main" id="{D03D7DB3-FCDA-ABE2-00E8-0132F9452E1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文本框 169">
              <a:extLst>
                <a:ext uri="{FF2B5EF4-FFF2-40B4-BE49-F238E27FC236}">
                  <a16:creationId xmlns:a16="http://schemas.microsoft.com/office/drawing/2014/main" id="{E180931C-587D-0311-7748-01E124A7A3AB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Proofs of concept</a:t>
              </a:r>
              <a:endParaRPr lang="zh-CN" altLang="en-US" sz="1400" dirty="0"/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341CC3DA-D7A4-E480-78B5-4E31685CB94A}"/>
              </a:ext>
            </a:extLst>
          </p:cNvPr>
          <p:cNvGrpSpPr/>
          <p:nvPr/>
        </p:nvGrpSpPr>
        <p:grpSpPr>
          <a:xfrm>
            <a:off x="9431425" y="1576885"/>
            <a:ext cx="1115494" cy="861639"/>
            <a:chOff x="3302165" y="1580956"/>
            <a:chExt cx="1115494" cy="861639"/>
          </a:xfrm>
        </p:grpSpPr>
        <p:sp>
          <p:nvSpPr>
            <p:cNvPr id="173" name="iconfont-1018-792472">
              <a:extLst>
                <a:ext uri="{FF2B5EF4-FFF2-40B4-BE49-F238E27FC236}">
                  <a16:creationId xmlns:a16="http://schemas.microsoft.com/office/drawing/2014/main" id="{01B4FF7B-629D-84E1-EAB1-162149FCC25E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74D71DB7-1705-4580-0452-036DB394B81E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Full scale deployment</a:t>
              </a:r>
              <a:endParaRPr lang="zh-CN" altLang="en-US" sz="1400" dirty="0"/>
            </a:p>
          </p:txBody>
        </p: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03FA49B-D6A0-476B-01A8-EFA6A9E871A7}"/>
              </a:ext>
            </a:extLst>
          </p:cNvPr>
          <p:cNvGrpSpPr/>
          <p:nvPr/>
        </p:nvGrpSpPr>
        <p:grpSpPr>
          <a:xfrm>
            <a:off x="8704126" y="1576885"/>
            <a:ext cx="1115494" cy="646196"/>
            <a:chOff x="3302165" y="1580956"/>
            <a:chExt cx="1115494" cy="646196"/>
          </a:xfrm>
        </p:grpSpPr>
        <p:sp>
          <p:nvSpPr>
            <p:cNvPr id="176" name="iconfont-1018-792472">
              <a:extLst>
                <a:ext uri="{FF2B5EF4-FFF2-40B4-BE49-F238E27FC236}">
                  <a16:creationId xmlns:a16="http://schemas.microsoft.com/office/drawing/2014/main" id="{673BF21F-83F9-1979-45EF-481A19F60A0A}"/>
                </a:ext>
              </a:extLst>
            </p:cNvPr>
            <p:cNvSpPr/>
            <p:nvPr/>
          </p:nvSpPr>
          <p:spPr>
            <a:xfrm>
              <a:off x="3757021" y="1580956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6">
                <a:lumMod val="10000"/>
              </a:schemeClr>
            </a:solidFill>
            <a:ln>
              <a:solidFill>
                <a:schemeClr val="accent6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1D498CD-C8CA-2590-0FC0-AE400343B879}"/>
                </a:ext>
              </a:extLst>
            </p:cNvPr>
            <p:cNvSpPr txBox="1"/>
            <p:nvPr/>
          </p:nvSpPr>
          <p:spPr>
            <a:xfrm>
              <a:off x="3302165" y="1919375"/>
              <a:ext cx="1115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Test</a:t>
              </a:r>
              <a:endParaRPr lang="zh-CN" altLang="en-US" sz="1400" dirty="0"/>
            </a:p>
          </p:txBody>
        </p:sp>
      </p:grpSp>
      <p:sp>
        <p:nvSpPr>
          <p:cNvPr id="181" name="iconfont-1018-792472">
            <a:extLst>
              <a:ext uri="{FF2B5EF4-FFF2-40B4-BE49-F238E27FC236}">
                <a16:creationId xmlns:a16="http://schemas.microsoft.com/office/drawing/2014/main" id="{76EE4AAE-AF71-F7F5-5742-42D08A95082A}"/>
              </a:ext>
            </a:extLst>
          </p:cNvPr>
          <p:cNvSpPr/>
          <p:nvPr/>
        </p:nvSpPr>
        <p:spPr>
          <a:xfrm>
            <a:off x="2739994" y="341794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F9752DE3-0114-40A8-83EB-29643F3A3227}"/>
              </a:ext>
            </a:extLst>
          </p:cNvPr>
          <p:cNvSpPr txBox="1"/>
          <p:nvPr/>
        </p:nvSpPr>
        <p:spPr>
          <a:xfrm>
            <a:off x="2338478" y="3675122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4">
                    <a:lumMod val="75000"/>
                  </a:schemeClr>
                </a:solidFill>
              </a:rPr>
              <a:t>Full scale deployment</a:t>
            </a:r>
            <a:endParaRPr lang="zh-CN" alt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83" name="iconfont-1018-792472">
            <a:extLst>
              <a:ext uri="{FF2B5EF4-FFF2-40B4-BE49-F238E27FC236}">
                <a16:creationId xmlns:a16="http://schemas.microsoft.com/office/drawing/2014/main" id="{010959CF-D0A9-FF40-4C64-1476C5225674}"/>
              </a:ext>
            </a:extLst>
          </p:cNvPr>
          <p:cNvSpPr/>
          <p:nvPr/>
        </p:nvSpPr>
        <p:spPr>
          <a:xfrm>
            <a:off x="1479214" y="4317611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0052D9"/>
              </a:solidFill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B9A11310-AA18-B25A-688F-94749B9D6B98}"/>
              </a:ext>
            </a:extLst>
          </p:cNvPr>
          <p:cNvSpPr txBox="1"/>
          <p:nvPr/>
        </p:nvSpPr>
        <p:spPr>
          <a:xfrm>
            <a:off x="1077698" y="4574788"/>
            <a:ext cx="1115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Full scale deployment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639FAB7-B6A1-7230-AD5E-A51673932C2C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Yole</a:t>
            </a:r>
          </a:p>
        </p:txBody>
      </p:sp>
    </p:spTree>
    <p:extLst>
      <p:ext uri="{BB962C8B-B14F-4D97-AF65-F5344CB8AC3E}">
        <p14:creationId xmlns:p14="http://schemas.microsoft.com/office/powerpoint/2010/main" val="42277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8871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3" imgW="404" imgH="405" progId="TCLayout.ActiveDocument.1">
                  <p:embed/>
                </p:oleObj>
              </mc:Choice>
              <mc:Fallback>
                <p:oleObj name="think-cell 幻灯片" r:id="rId2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FD31AF14-B73B-A8E9-0FE7-F8D55AB2C1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230603"/>
              </p:ext>
            </p:extLst>
          </p:nvPr>
        </p:nvGraphicFramePr>
        <p:xfrm>
          <a:off x="719811" y="2293041"/>
          <a:ext cx="4789756" cy="370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85" name="矩形 84">
            <a:extLst>
              <a:ext uri="{FF2B5EF4-FFF2-40B4-BE49-F238E27FC236}">
                <a16:creationId xmlns:a16="http://schemas.microsoft.com/office/drawing/2014/main" id="{FF1EFA6A-B5E2-37F1-2E1C-3E8A3409FD65}"/>
              </a:ext>
            </a:extLst>
          </p:cNvPr>
          <p:cNvSpPr/>
          <p:nvPr/>
        </p:nvSpPr>
        <p:spPr>
          <a:xfrm>
            <a:off x="1322288" y="3871543"/>
            <a:ext cx="3562602" cy="1366985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EFB85BF-305F-E33D-92EE-2DE82D3AE658}"/>
              </a:ext>
            </a:extLst>
          </p:cNvPr>
          <p:cNvSpPr/>
          <p:nvPr/>
        </p:nvSpPr>
        <p:spPr>
          <a:xfrm>
            <a:off x="3623779" y="3451755"/>
            <a:ext cx="816610" cy="404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CB916C-5AEC-9474-D7DA-340428AA075F}"/>
              </a:ext>
            </a:extLst>
          </p:cNvPr>
          <p:cNvSpPr/>
          <p:nvPr/>
        </p:nvSpPr>
        <p:spPr>
          <a:xfrm>
            <a:off x="1341564" y="2074483"/>
            <a:ext cx="3543325" cy="1771717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0E03A28A-3F06-F45A-3EC7-F294C5E0102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5365194" y="311076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0C4BD4AD-4E1C-96ED-BBA8-99930409182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358937" y="2556391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1000" dirty="0">
                <a:latin typeface="+mn-lt"/>
                <a:ea typeface="+mn-ea"/>
                <a:cs typeface="+mn-cs"/>
              </a:rPr>
              <a:t>1.6Tbp/s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/>
              <a:t>可插拔光模块</a:t>
            </a:r>
            <a:endParaRPr lang="en-US" altLang="zh-CN" sz="1000" b="1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0BAE0DE9-4212-1ACF-B85A-227E056632B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385108" y="2127465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1000" dirty="0">
                <a:latin typeface="+mn-lt"/>
                <a:ea typeface="+mn-ea"/>
                <a:cs typeface="+mn-cs"/>
              </a:rPr>
              <a:t>6.4Tbp/s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CB616965-4BBA-BE5C-A44C-CB5B7EACF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371366" y="439465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145DC05-4BE5-FDDC-6F47-6C6D47525797}"/>
              </a:ext>
            </a:extLst>
          </p:cNvPr>
          <p:cNvCxnSpPr>
            <a:cxnSpLocks/>
          </p:cNvCxnSpPr>
          <p:nvPr/>
        </p:nvCxnSpPr>
        <p:spPr>
          <a:xfrm>
            <a:off x="1385108" y="2480906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8D3D418-40A8-74BF-381B-3B8F9B2D8EA6}"/>
              </a:ext>
            </a:extLst>
          </p:cNvPr>
          <p:cNvCxnSpPr>
            <a:cxnSpLocks/>
          </p:cNvCxnSpPr>
          <p:nvPr/>
        </p:nvCxnSpPr>
        <p:spPr>
          <a:xfrm flipV="1">
            <a:off x="3608956" y="3390795"/>
            <a:ext cx="831433" cy="435251"/>
          </a:xfrm>
          <a:prstGeom prst="line">
            <a:avLst/>
          </a:prstGeom>
          <a:ln w="28575">
            <a:solidFill>
              <a:srgbClr val="3776F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A8EF30C-01C4-5A4D-BA06-CA31280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光互连解决铜互连速率问题，</a:t>
            </a:r>
            <a:r>
              <a:rPr lang="en-US" altLang="zh-CN" dirty="0"/>
              <a:t>CPO</a:t>
            </a:r>
            <a:r>
              <a:rPr lang="zh-CN" altLang="en-US" dirty="0"/>
              <a:t>解决可插拔光模块能耗问题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zh-CN" altLang="zh-CN" sz="1200" dirty="0">
                <a:solidFill>
                  <a:schemeClr val="tx1">
                    <a:lumMod val="50000"/>
                  </a:schemeClr>
                </a:solidFill>
              </a:rPr>
              <a:t>阿里云专家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</a:rPr>
              <a:t>访谈、英伟达专家访谈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：有效传输速率，指在给定距离内，保证误码率不超过可用临界值的稳定传输速率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912538-B799-7D65-AD3E-B2E340B2B4FA}"/>
              </a:ext>
            </a:extLst>
          </p:cNvPr>
          <p:cNvSpPr txBox="1"/>
          <p:nvPr/>
        </p:nvSpPr>
        <p:spPr>
          <a:xfrm>
            <a:off x="680121" y="925331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铜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光：突破传输速率极限（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224Gbps =&gt; 800Gbps+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）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235EA0E-F6AA-1CB6-0B48-7FEF9AAE7D54}"/>
              </a:ext>
            </a:extLst>
          </p:cNvPr>
          <p:cNvSpPr txBox="1"/>
          <p:nvPr/>
        </p:nvSpPr>
        <p:spPr>
          <a:xfrm>
            <a:off x="526048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CD2634-59DE-8F39-5610-C55A55AA4B9F}"/>
              </a:ext>
            </a:extLst>
          </p:cNvPr>
          <p:cNvSpPr txBox="1"/>
          <p:nvPr/>
        </p:nvSpPr>
        <p:spPr>
          <a:xfrm>
            <a:off x="535626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0A19E09-9315-06F8-B87B-C0BAB1F84086}"/>
              </a:ext>
            </a:extLst>
          </p:cNvPr>
          <p:cNvCxnSpPr>
            <a:cxnSpLocks/>
          </p:cNvCxnSpPr>
          <p:nvPr/>
        </p:nvCxnSpPr>
        <p:spPr>
          <a:xfrm>
            <a:off x="680121" y="1231844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389C66-484B-8D1E-7609-0B4CC52E2D90}"/>
              </a:ext>
            </a:extLst>
          </p:cNvPr>
          <p:cNvSpPr txBox="1"/>
          <p:nvPr/>
        </p:nvSpPr>
        <p:spPr>
          <a:xfrm>
            <a:off x="593842" y="1396206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即将触达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铜互连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有效</a:t>
            </a:r>
            <a:r>
              <a:rPr kumimoji="1" lang="zh-CN" altLang="zh-CN" sz="1600" b="1" dirty="0">
                <a:solidFill>
                  <a:schemeClr val="tx1">
                    <a:lumMod val="50000"/>
                  </a:schemeClr>
                </a:solidFill>
              </a:rPr>
              <a:t>传输速率</a:t>
            </a:r>
            <a:r>
              <a:rPr kumimoji="1" lang="en-US" altLang="zh-CN" sz="1600" b="1" baseline="30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极限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224Gbp/s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，光互连上限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&gt;800Gbp/s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可支持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算力扩充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830AB16E-C972-BBF8-D1C8-D71FAA3DEA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249444" y="4506327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H100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0452812A-49EE-56BD-9B7F-70336DF81F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385108" y="487593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A100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E705A99E-4D86-52C8-0AD9-E2E91CD08F0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186808" y="3906164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B100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CCE80E4-31EE-417D-C895-F988DE7DBE3F}"/>
              </a:ext>
            </a:extLst>
          </p:cNvPr>
          <p:cNvSpPr txBox="1"/>
          <p:nvPr/>
        </p:nvSpPr>
        <p:spPr>
          <a:xfrm>
            <a:off x="6383771" y="946373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可插拔光模块 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 CPO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：功耗下降</a:t>
            </a: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</a:rPr>
              <a:t>60%+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1A9180C-80D1-3377-9D69-56C91B740D2B}"/>
              </a:ext>
            </a:extLst>
          </p:cNvPr>
          <p:cNvSpPr txBox="1"/>
          <p:nvPr/>
        </p:nvSpPr>
        <p:spPr>
          <a:xfrm>
            <a:off x="6293189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0" name="直线连接符 38">
            <a:extLst>
              <a:ext uri="{FF2B5EF4-FFF2-40B4-BE49-F238E27FC236}">
                <a16:creationId xmlns:a16="http://schemas.microsoft.com/office/drawing/2014/main" id="{33AC93B9-61D7-CD01-23F1-C701BAD35A85}"/>
              </a:ext>
            </a:extLst>
          </p:cNvPr>
          <p:cNvCxnSpPr>
            <a:cxnSpLocks/>
          </p:cNvCxnSpPr>
          <p:nvPr/>
        </p:nvCxnSpPr>
        <p:spPr>
          <a:xfrm>
            <a:off x="6355333" y="1236663"/>
            <a:ext cx="526891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401458" y="1394439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方案：进一步缩小集成，可降低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50-60%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光模块功耗，减少交换机整体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25-30%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功耗，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整体电费降低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xx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42C12AA-9375-448D-AD60-8BB241436DB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537334" y="206198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单通道功耗（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w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2100442A-A459-75AD-C8DB-E3244589F321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896899824"/>
              </p:ext>
            </p:extLst>
          </p:nvPr>
        </p:nvGraphicFramePr>
        <p:xfrm>
          <a:off x="6954838" y="2289175"/>
          <a:ext cx="4325937" cy="2244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 flipV="1">
            <a:off x="9274175" y="2398713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9274175" y="2398713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0556875" y="2398713"/>
            <a:ext cx="0" cy="12620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7840663" y="3697288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3-5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897813" y="4386263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2D55D17-8FFB-46F4-A7BF-C2EF9B990784}" type="datetime'''''铜'''''''''">
              <a:rPr lang="zh-CN" altLang="en-US" sz="1400" smtClean="0">
                <a:cs typeface="+mn-cs"/>
              </a:rPr>
              <a:pPr/>
              <a:t>铜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9121775" y="3370263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chemeClr val="bg1"/>
                </a:solidFill>
              </a:rPr>
              <a:t>5-8</a:t>
            </a:r>
            <a:endParaRPr lang="zh-CN" altLang="en-US" sz="1400" b="1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8734425" y="4386263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E127392-BFE0-4860-83BD-5CFAE24C683C}" type="datetime'''''''''''可''''''''''''插''''''''''''''''''拔光''''模''''块'''">
              <a:rPr lang="zh-CN" altLang="en-US" sz="1400" smtClean="0">
                <a:cs typeface="+mn-cs"/>
              </a:rPr>
              <a:pPr/>
              <a:t>可插拔光模块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10409238" y="3906838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400" b="1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400" b="1" dirty="0">
                <a:solidFill>
                  <a:schemeClr val="tx2"/>
                </a:solidFill>
                <a:effectLst/>
                <a:cs typeface="+mn-cs"/>
              </a:rPr>
              <a:t>.4</a:t>
            </a:r>
            <a:endParaRPr lang="zh-CN" altLang="en-US" sz="1400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10358438" y="4386263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cs"/>
              </a:rPr>
              <a:pPr/>
              <a:t>CPO</a:t>
            </a:fld>
            <a:endParaRPr lang="zh-CN" altLang="en-US" sz="1400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9621838" y="224790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954838" y="4845051"/>
            <a:ext cx="4754393" cy="1371600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主要替代传统可插拔光模块，短期不替代铜互连。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方案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功耗降低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33W→9W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），</a:t>
            </a:r>
            <a:r>
              <a:rPr lang="zh-CN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整体成本降低</a:t>
            </a:r>
            <a:r>
              <a:rPr lang="en-US" altLang="zh-CN" sz="1600" b="1" i="1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</a:t>
            </a:r>
            <a:r>
              <a:rPr lang="zh-CN" altLang="zh-CN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，具备明确竞争优势。</a:t>
            </a:r>
            <a:r>
              <a:rPr lang="zh-CN" altLang="en-US" sz="1600" b="1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b="1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英伟达网络方案架构师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B543A-19AC-3561-C18B-2FDB92856FB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604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5114226" y="3080458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巨头大力布局：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为新一代技术中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最易商业化落地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47" y="83348"/>
            <a:ext cx="10071100" cy="731520"/>
          </a:xfrm>
        </p:spPr>
        <p:txBody>
          <a:bodyPr vert="horz"/>
          <a:lstStyle/>
          <a:p>
            <a:r>
              <a:rPr lang="zh-CN" altLang="en-US" dirty="0">
                <a:ea typeface="+mn-ea"/>
              </a:rPr>
              <a:t>光互连技术路径：可插拔仍为主流，巨头将商业落地 </a:t>
            </a:r>
            <a:r>
              <a:rPr lang="en-US" altLang="zh-CN" dirty="0">
                <a:ea typeface="+mn-ea"/>
              </a:rPr>
              <a:t>CPO</a:t>
            </a:r>
            <a:r>
              <a:rPr lang="zh-CN" altLang="en-US" dirty="0">
                <a:ea typeface="+mn-ea"/>
              </a:rPr>
              <a:t>，</a:t>
            </a:r>
            <a:r>
              <a:rPr lang="en-US" altLang="zh-CN" dirty="0">
                <a:ea typeface="+mn-ea"/>
              </a:rPr>
              <a:t>OIO</a:t>
            </a:r>
            <a:r>
              <a:rPr lang="zh-CN" altLang="en-US" dirty="0"/>
              <a:t>初创处于技术验证期</a:t>
            </a:r>
            <a:endParaRPr lang="zh-CN" altLang="en-US" dirty="0"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45018" y="3098880"/>
            <a:ext cx="994569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代表厂商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771776" y="2956049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5200651" y="752031"/>
            <a:ext cx="2535238" cy="443738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CPO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Co-Packaged Optics)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70457-AB08-B6CD-2294-70689C320AB2}"/>
              </a:ext>
            </a:extLst>
          </p:cNvPr>
          <p:cNvGrpSpPr/>
          <p:nvPr/>
        </p:nvGrpSpPr>
        <p:grpSpPr>
          <a:xfrm>
            <a:off x="8668562" y="752975"/>
            <a:ext cx="2823252" cy="443738"/>
            <a:chOff x="7489148" y="1004272"/>
            <a:chExt cx="2823252" cy="443738"/>
          </a:xfrm>
        </p:grpSpPr>
        <p:cxnSp>
          <p:nvCxnSpPr>
            <p:cNvPr id="35" name="直线连接符 30">
              <a:extLst>
                <a:ext uri="{FF2B5EF4-FFF2-40B4-BE49-F238E27FC236}">
                  <a16:creationId xmlns:a16="http://schemas.microsoft.com/office/drawing/2014/main" id="{64BF7E5D-564A-FDE0-3825-E5CDFEA8CD23}"/>
                </a:ext>
              </a:extLst>
            </p:cNvPr>
            <p:cNvCxnSpPr>
              <a:cxnSpLocks/>
            </p:cNvCxnSpPr>
            <p:nvPr/>
          </p:nvCxnSpPr>
          <p:spPr>
            <a:xfrm>
              <a:off x="7489148" y="1448010"/>
              <a:ext cx="268568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96278A5-28AB-DF4B-68D8-6B09966A2C4D}"/>
                </a:ext>
              </a:extLst>
            </p:cNvPr>
            <p:cNvSpPr txBox="1"/>
            <p:nvPr/>
          </p:nvSpPr>
          <p:spPr>
            <a:xfrm>
              <a:off x="7489719" y="1004272"/>
              <a:ext cx="282268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OIO </a:t>
              </a:r>
              <a:r>
                <a:rPr kumimoji="1" lang="en-US" altLang="zh-CN" sz="1400" b="1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(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  <a:latin typeface="+mj-lt"/>
                </a:rPr>
                <a:t>In-Packaged Optical I/O)</a:t>
              </a: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8566510" y="3049653"/>
            <a:ext cx="2882293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初创抢先布局：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一步到位，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绕过巨头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生态制约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41350" y="1778000"/>
            <a:ext cx="994569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速率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801815" y="754741"/>
            <a:ext cx="2928935" cy="443738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400" b="1" dirty="0">
                  <a:solidFill>
                    <a:srgbClr val="0052D9"/>
                  </a:solidFill>
                  <a:latin typeface="+mj-lt"/>
                </a:rPr>
                <a:t>PO </a:t>
              </a:r>
              <a:r>
                <a:rPr kumimoji="1" lang="en-US" altLang="zh-CN" sz="1400" b="1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(</a:t>
              </a:r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Pluggable Optics)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  <a:latin typeface="+mj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195513" y="183356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中：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latin typeface="+mj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(2025)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917701" y="18732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917701" y="18732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5478463" y="181451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高：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 (2026)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2006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006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71AD8984-35B2-511E-E509-E637AA0E30A4}"/>
              </a:ext>
            </a:extLst>
          </p:cNvPr>
          <p:cNvSpPr txBox="1"/>
          <p:nvPr/>
        </p:nvSpPr>
        <p:spPr>
          <a:xfrm>
            <a:off x="8836025" y="1830388"/>
            <a:ext cx="2787650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极高：</a:t>
            </a:r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12.8T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 (</a:t>
            </a:r>
            <a:r>
              <a:rPr lang="zh-CN" altLang="en-US" sz="1400" dirty="0">
                <a:solidFill>
                  <a:srgbClr val="0052D9"/>
                </a:solidFill>
                <a:latin typeface="+mj-lt"/>
              </a:rPr>
              <a:t>验证中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)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5E690DB-6DFF-C54D-9476-B66DB31650C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1551" y="188595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83" name="弧 155">
            <a:extLst>
              <a:ext uri="{FF2B5EF4-FFF2-40B4-BE49-F238E27FC236}">
                <a16:creationId xmlns:a16="http://schemas.microsoft.com/office/drawing/2014/main" id="{4B02B27A-C8D1-8361-A3E3-36E55CC6290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591551" y="188595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41349" y="2355851"/>
            <a:ext cx="994569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市场规模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2023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1862260" y="2325688"/>
            <a:ext cx="489413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398893" y="243522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$bn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级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5266074" y="2409825"/>
            <a:ext cx="2971176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$</a:t>
              </a:r>
              <a:r>
                <a:rPr lang="en-US" altLang="zh-CN" sz="1400" dirty="0" err="1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mn</a:t>
              </a:r>
              <a:r>
                <a:rPr lang="zh-CN" altLang="en-US" sz="14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级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83500EFE-8D19-7E82-EC8C-8E9CCC682BC2}"/>
              </a:ext>
            </a:extLst>
          </p:cNvPr>
          <p:cNvSpPr txBox="1"/>
          <p:nvPr/>
        </p:nvSpPr>
        <p:spPr>
          <a:xfrm>
            <a:off x="8587297" y="2405063"/>
            <a:ext cx="2788169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（未商用）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263545" y="620264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TSMC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Insight Partners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QYResearch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Morgan Stanly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LightCounting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AyarLabs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CEO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：仅展示赛道中份额最大的公司</a:t>
            </a: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812683" y="3091746"/>
            <a:ext cx="308211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国产优势：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高速率产品率先实现技术突破，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全球前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10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大厂商中国占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7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成</a:t>
            </a:r>
            <a:endParaRPr kumimoji="1" lang="en-US" altLang="zh-CN" sz="1400" u="sng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41349" y="4830173"/>
            <a:ext cx="994569" cy="1042307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最新动向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12902" y="3676082"/>
            <a:ext cx="602198" cy="216791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0414" y="3547358"/>
            <a:ext cx="1016581" cy="38761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21664" y="3667374"/>
            <a:ext cx="965649" cy="234206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2833659" y="4180987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CR3: 50%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6221563" y="3646629"/>
            <a:ext cx="711919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49082" y="3671385"/>
            <a:ext cx="314925" cy="208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9" name="图像" descr="图像">
            <a:extLst>
              <a:ext uri="{FF2B5EF4-FFF2-40B4-BE49-F238E27FC236}">
                <a16:creationId xmlns:a16="http://schemas.microsoft.com/office/drawing/2014/main" id="{10AE3C14-FBC0-4A41-30BC-21EE5C053E5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74249" y="3665625"/>
            <a:ext cx="406698" cy="219617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6134764" y="4167592"/>
            <a:ext cx="99456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CR3: 71%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0D8F1CAE-DB1F-75B2-676D-1B125D2C01E9}"/>
              </a:ext>
            </a:extLst>
          </p:cNvPr>
          <p:cNvSpPr txBox="1"/>
          <p:nvPr/>
        </p:nvSpPr>
        <p:spPr>
          <a:xfrm>
            <a:off x="8983899" y="4171932"/>
            <a:ext cx="225113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-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（未商用，玩家极少）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87297" y="3701824"/>
            <a:ext cx="591492" cy="165307"/>
          </a:xfrm>
          <a:prstGeom prst="rect">
            <a:avLst/>
          </a:prstGeom>
        </p:spPr>
      </p:pic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755" y="3704115"/>
            <a:ext cx="772710" cy="1607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86798" y="3705326"/>
            <a:ext cx="246630" cy="158302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3E62AE80-3B64-D7E6-8384-C5CF3A9E76C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10761" y="3700365"/>
            <a:ext cx="740192" cy="168225"/>
          </a:xfrm>
          <a:prstGeom prst="rect">
            <a:avLst/>
          </a:prstGeom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479" y="5248738"/>
            <a:ext cx="773879" cy="295076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579684" y="5202891"/>
            <a:ext cx="2144624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800G</a:t>
            </a:r>
            <a:r>
              <a:rPr kumimoji="1" lang="zh-CN" altLang="en-US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出货量 </a:t>
            </a:r>
            <a:r>
              <a:rPr kumimoji="1" lang="en-US" altLang="zh-CN" sz="1200" u="sng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&gt;200w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，全球份额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40%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24Q4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1.6T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率先认证并出货</a:t>
            </a: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5920038" y="5131318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25Q2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Spectrum-X 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交换机交付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26Q2 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Quantum-X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CPO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交换机交付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5351" y="5302479"/>
            <a:ext cx="261242" cy="257609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91281" y="5350618"/>
            <a:ext cx="435989" cy="161331"/>
          </a:xfrm>
          <a:prstGeom prst="rect">
            <a:avLst/>
          </a:prstGeom>
        </p:spPr>
      </p:pic>
      <p:pic>
        <p:nvPicPr>
          <p:cNvPr id="1080" name="图片 1079">
            <a:extLst>
              <a:ext uri="{FF2B5EF4-FFF2-40B4-BE49-F238E27FC236}">
                <a16:creationId xmlns:a16="http://schemas.microsoft.com/office/drawing/2014/main" id="{3322A9DD-C334-6D42-B03C-458BA57525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25731" y="5313622"/>
            <a:ext cx="591492" cy="165307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1806129" y="4674667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806129" y="4836256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已全面应用于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AIDC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大规模商业落地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5114226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25-26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年将商业化，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技术成熟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6" name="文本框 1085">
            <a:extLst>
              <a:ext uri="{FF2B5EF4-FFF2-40B4-BE49-F238E27FC236}">
                <a16:creationId xmlns:a16="http://schemas.microsoft.com/office/drawing/2014/main" id="{55D50945-2A35-6CE4-97E3-C19094ADA71C}"/>
              </a:ext>
            </a:extLst>
          </p:cNvPr>
          <p:cNvSpPr txBox="1"/>
          <p:nvPr/>
        </p:nvSpPr>
        <p:spPr>
          <a:xfrm>
            <a:off x="8629110" y="4830173"/>
            <a:ext cx="307623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以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Demo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为主，</a:t>
            </a:r>
            <a:r>
              <a:rPr kumimoji="1" lang="zh-CN" altLang="en-US" sz="1400" b="1" dirty="0">
                <a:solidFill>
                  <a:srgbClr val="0052D9"/>
                </a:solidFill>
                <a:latin typeface="+mj-lt"/>
              </a:rPr>
              <a:t>研发与验证阶段</a:t>
            </a:r>
            <a:endParaRPr kumimoji="1" lang="zh-CN" altLang="en-US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87" name="文本框 1086">
            <a:extLst>
              <a:ext uri="{FF2B5EF4-FFF2-40B4-BE49-F238E27FC236}">
                <a16:creationId xmlns:a16="http://schemas.microsoft.com/office/drawing/2014/main" id="{F2358CF0-DFE1-EC42-0D1C-81BBFB5E4E94}"/>
              </a:ext>
            </a:extLst>
          </p:cNvPr>
          <p:cNvSpPr txBox="1"/>
          <p:nvPr/>
        </p:nvSpPr>
        <p:spPr>
          <a:xfrm>
            <a:off x="9418337" y="5118104"/>
            <a:ext cx="223974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预计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26</a:t>
            </a: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年中大批量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产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  <a:latin typeface="+mj-lt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24A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，出货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1.5w </a:t>
            </a:r>
            <a:r>
              <a:rPr kumimoji="1" lang="en-US" altLang="zh-CN" sz="1200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TeraPHY</a:t>
            </a:r>
            <a:r>
              <a:rPr kumimoji="1" lang="zh-CN" altLang="en-US" sz="12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样片给英伟达、台积电等做验证</a:t>
            </a:r>
            <a:endParaRPr lang="zh-CN" altLang="en-US" sz="1200" dirty="0">
              <a:latin typeface="+mj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2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2489966" y="3996681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5786502" y="3987638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0963FA22-BEF9-2DB2-FC07-0DF184A757EA}"/>
              </a:ext>
            </a:extLst>
          </p:cNvPr>
          <p:cNvSpPr/>
          <p:nvPr/>
        </p:nvSpPr>
        <p:spPr>
          <a:xfrm rot="10800000">
            <a:off x="9227766" y="3996682"/>
            <a:ext cx="1691096" cy="91163"/>
          </a:xfrm>
          <a:prstGeom prst="triangle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F08E8E2-6EA8-7595-7D35-C7F12B36ED29}"/>
              </a:ext>
            </a:extLst>
          </p:cNvPr>
          <p:cNvSpPr/>
          <p:nvPr/>
        </p:nvSpPr>
        <p:spPr>
          <a:xfrm>
            <a:off x="1913979" y="1512070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40A7358-3A58-EAA4-9FCB-7961732207B9}"/>
              </a:ext>
            </a:extLst>
          </p:cNvPr>
          <p:cNvSpPr/>
          <p:nvPr/>
        </p:nvSpPr>
        <p:spPr>
          <a:xfrm>
            <a:off x="1972322" y="13430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B77634-6E73-3575-1DF3-E44087F13340}"/>
              </a:ext>
            </a:extLst>
          </p:cNvPr>
          <p:cNvSpPr/>
          <p:nvPr/>
        </p:nvSpPr>
        <p:spPr>
          <a:xfrm>
            <a:off x="4329566" y="1397313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64DC18-2AC5-C164-EE15-711F93094C75}"/>
              </a:ext>
            </a:extLst>
          </p:cNvPr>
          <p:cNvSpPr/>
          <p:nvPr/>
        </p:nvSpPr>
        <p:spPr>
          <a:xfrm>
            <a:off x="5264974" y="1357776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FDA30-2F1E-F0B7-BDF0-35D93A14AD15}"/>
              </a:ext>
            </a:extLst>
          </p:cNvPr>
          <p:cNvSpPr/>
          <p:nvPr/>
        </p:nvSpPr>
        <p:spPr>
          <a:xfrm>
            <a:off x="5927147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8B52A9-D8D3-CAAB-F636-AE4BAC34A4AA}"/>
              </a:ext>
            </a:extLst>
          </p:cNvPr>
          <p:cNvSpPr/>
          <p:nvPr/>
        </p:nvSpPr>
        <p:spPr>
          <a:xfrm>
            <a:off x="1928263" y="146478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35AB34-1E3B-0D3E-54B4-9C753D9E9C2C}"/>
              </a:ext>
            </a:extLst>
          </p:cNvPr>
          <p:cNvSpPr/>
          <p:nvPr/>
        </p:nvSpPr>
        <p:spPr>
          <a:xfrm>
            <a:off x="5211007" y="1523054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2371F24-8612-A02E-DAF4-2F6CA161C71A}"/>
              </a:ext>
            </a:extLst>
          </p:cNvPr>
          <p:cNvSpPr/>
          <p:nvPr/>
        </p:nvSpPr>
        <p:spPr>
          <a:xfrm>
            <a:off x="5229262" y="1480417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88C6288-E8BA-2CD4-58C1-710463D9A4C3}"/>
              </a:ext>
            </a:extLst>
          </p:cNvPr>
          <p:cNvSpPr/>
          <p:nvPr/>
        </p:nvSpPr>
        <p:spPr>
          <a:xfrm>
            <a:off x="8773178" y="1358430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1F6A5B-B749-3AD6-F7E8-5A20E6FADD0D}"/>
              </a:ext>
            </a:extLst>
          </p:cNvPr>
          <p:cNvSpPr/>
          <p:nvPr/>
        </p:nvSpPr>
        <p:spPr>
          <a:xfrm>
            <a:off x="9399261" y="1363997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61EB173-67B9-AC7E-5E08-AFD0BE7F29CE}"/>
              </a:ext>
            </a:extLst>
          </p:cNvPr>
          <p:cNvSpPr/>
          <p:nvPr/>
        </p:nvSpPr>
        <p:spPr>
          <a:xfrm>
            <a:off x="8718111" y="1527771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E2907F3-A6D5-42AB-83E2-B4A0DCFC25B2}"/>
              </a:ext>
            </a:extLst>
          </p:cNvPr>
          <p:cNvSpPr/>
          <p:nvPr/>
        </p:nvSpPr>
        <p:spPr>
          <a:xfrm>
            <a:off x="8735526" y="1482254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887032B-5E53-9EE5-83A0-72F538BF4A70}"/>
              </a:ext>
            </a:extLst>
          </p:cNvPr>
          <p:cNvCxnSpPr>
            <a:cxnSpLocks/>
            <a:stCxn id="7" idx="2"/>
            <a:endCxn id="10" idx="2"/>
          </p:cNvCxnSpPr>
          <p:nvPr/>
        </p:nvCxnSpPr>
        <p:spPr>
          <a:xfrm rot="16200000" flipH="1">
            <a:off x="3329586" y="418434"/>
            <a:ext cx="54214" cy="2142659"/>
          </a:xfrm>
          <a:prstGeom prst="bentConnector3">
            <a:avLst>
              <a:gd name="adj1" fmla="val 150756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518E038F-B31E-937D-E340-AA31A690FC8B}"/>
              </a:ext>
            </a:extLst>
          </p:cNvPr>
          <p:cNvCxnSpPr>
            <a:cxnSpLocks/>
            <a:stCxn id="15" idx="2"/>
            <a:endCxn id="16" idx="2"/>
          </p:cNvCxnSpPr>
          <p:nvPr/>
        </p:nvCxnSpPr>
        <p:spPr>
          <a:xfrm rot="16200000" flipH="1">
            <a:off x="5798700" y="1256650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BA90A0AE-7AC5-74D8-0A6B-04C89FD7CB52}"/>
              </a:ext>
            </a:extLst>
          </p:cNvPr>
          <p:cNvCxnSpPr>
            <a:cxnSpLocks/>
            <a:stCxn id="33" idx="2"/>
            <a:endCxn id="36" idx="2"/>
          </p:cNvCxnSpPr>
          <p:nvPr/>
        </p:nvCxnSpPr>
        <p:spPr>
          <a:xfrm rot="16200000" flipH="1">
            <a:off x="9289186" y="1275022"/>
            <a:ext cx="5567" cy="411498"/>
          </a:xfrm>
          <a:prstGeom prst="bentConnector3">
            <a:avLst>
              <a:gd name="adj1" fmla="val 584749"/>
            </a:avLst>
          </a:prstGeom>
          <a:ln>
            <a:solidFill>
              <a:srgbClr val="FF720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4C39E1B-7EB9-ED06-B5B7-5C17F23B0F71}"/>
              </a:ext>
            </a:extLst>
          </p:cNvPr>
          <p:cNvSpPr txBox="1"/>
          <p:nvPr/>
        </p:nvSpPr>
        <p:spPr>
          <a:xfrm>
            <a:off x="2998405" y="1537514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电信号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461C33-8A9C-4EC5-8A21-6FE5802EFF04}"/>
              </a:ext>
            </a:extLst>
          </p:cNvPr>
          <p:cNvSpPr txBox="1"/>
          <p:nvPr/>
        </p:nvSpPr>
        <p:spPr>
          <a:xfrm>
            <a:off x="2543867" y="1194217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交换机芯片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6223F204-F625-0B14-E727-B05199BB37BA}"/>
              </a:ext>
            </a:extLst>
          </p:cNvPr>
          <p:cNvSpPr txBox="1"/>
          <p:nvPr/>
        </p:nvSpPr>
        <p:spPr>
          <a:xfrm>
            <a:off x="3737221" y="1199748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光引擎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A684037-5C7B-B76C-54AF-9B0D0C2216CC}"/>
              </a:ext>
            </a:extLst>
          </p:cNvPr>
          <p:cNvSpPr txBox="1"/>
          <p:nvPr/>
        </p:nvSpPr>
        <p:spPr>
          <a:xfrm>
            <a:off x="5477869" y="1529219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电信号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80A546C-5A6B-254F-4E22-C20FA5E42301}"/>
              </a:ext>
            </a:extLst>
          </p:cNvPr>
          <p:cNvSpPr txBox="1"/>
          <p:nvPr/>
        </p:nvSpPr>
        <p:spPr>
          <a:xfrm>
            <a:off x="8963821" y="1537513"/>
            <a:ext cx="13859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j-lt"/>
              </a:rPr>
              <a:t>光信号</a:t>
            </a:r>
            <a:endParaRPr lang="zh-CN" altLang="zh-CN" sz="12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591AE42F-07B1-8EBB-6377-FDC9B827432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55900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5330856" y="371977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解决可插拔光模块的功耗、散热痛点</a:t>
            </a:r>
          </a:p>
        </p:txBody>
      </p:sp>
      <p:sp>
        <p:nvSpPr>
          <p:cNvPr id="1035" name="箭头: 下 1034">
            <a:extLst>
              <a:ext uri="{FF2B5EF4-FFF2-40B4-BE49-F238E27FC236}">
                <a16:creationId xmlns:a16="http://schemas.microsoft.com/office/drawing/2014/main" id="{E3C9F55A-614C-4F6E-870B-24CD974682AE}"/>
              </a:ext>
            </a:extLst>
          </p:cNvPr>
          <p:cNvSpPr/>
          <p:nvPr/>
        </p:nvSpPr>
        <p:spPr>
          <a:xfrm>
            <a:off x="760787" y="2884042"/>
            <a:ext cx="526452" cy="3271329"/>
          </a:xfrm>
          <a:prstGeom prst="downArrow">
            <a:avLst/>
          </a:prstGeom>
          <a:gradFill>
            <a:gsLst>
              <a:gs pos="0">
                <a:schemeClr val="accent5"/>
              </a:gs>
              <a:gs pos="74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2239971" y="2623982"/>
            <a:ext cx="9118084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1170785" y="3445976"/>
            <a:ext cx="1361697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Pluggable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传统方案</a:t>
            </a:r>
            <a:endParaRPr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1287239" y="5088404"/>
            <a:ext cx="911703" cy="52322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  <a:p>
            <a:pPr algn="ctr"/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进阶方案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762377" y="1035585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距离带来高功耗和速率限制：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长距离（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6-8cm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信息损耗（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200G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下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22db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损耗）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高功耗（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20W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，占光模块整体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1/3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）；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限制速率（速率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2x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，信息损耗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2x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）。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：将光引擎与交换机芯片距离从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缩短至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mm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光源带来散热问题：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光源内置于光引擎，发热导致引擎内模块信号失真、寿命缩短。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：将光源拆分出来，远离核心热区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代价：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可维护性差。可插拔故障只需更换光模块，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故障需交换机整体维修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3432101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正面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42" name="矩形: 圆角 1041">
            <a:extLst>
              <a:ext uri="{FF2B5EF4-FFF2-40B4-BE49-F238E27FC236}">
                <a16:creationId xmlns:a16="http://schemas.microsoft.com/office/drawing/2014/main" id="{2C14DC3B-5354-59BE-E4AB-329C65D1E68E}"/>
              </a:ext>
            </a:extLst>
          </p:cNvPr>
          <p:cNvSpPr/>
          <p:nvPr/>
        </p:nvSpPr>
        <p:spPr>
          <a:xfrm>
            <a:off x="2583401" y="2958907"/>
            <a:ext cx="2085629" cy="1269750"/>
          </a:xfrm>
          <a:prstGeom prst="roundRect">
            <a:avLst>
              <a:gd name="adj" fmla="val 241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3" name="矩形: 圆角 1042">
            <a:extLst>
              <a:ext uri="{FF2B5EF4-FFF2-40B4-BE49-F238E27FC236}">
                <a16:creationId xmlns:a16="http://schemas.microsoft.com/office/drawing/2014/main" id="{6F68F9E7-9DBF-BD3C-CB2E-323EF915AE65}"/>
              </a:ext>
            </a:extLst>
          </p:cNvPr>
          <p:cNvSpPr/>
          <p:nvPr/>
        </p:nvSpPr>
        <p:spPr>
          <a:xfrm>
            <a:off x="2685930" y="3030900"/>
            <a:ext cx="1897669" cy="1103778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46" name="组合 1045">
            <a:extLst>
              <a:ext uri="{FF2B5EF4-FFF2-40B4-BE49-F238E27FC236}">
                <a16:creationId xmlns:a16="http://schemas.microsoft.com/office/drawing/2014/main" id="{BA8377B1-B952-9DA8-8F57-4FE110181346}"/>
              </a:ext>
            </a:extLst>
          </p:cNvPr>
          <p:cNvGrpSpPr/>
          <p:nvPr/>
        </p:nvGrpSpPr>
        <p:grpSpPr>
          <a:xfrm>
            <a:off x="3259680" y="3290152"/>
            <a:ext cx="750168" cy="577216"/>
            <a:chOff x="3336517" y="2797616"/>
            <a:chExt cx="750168" cy="5772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4" name="矩形: 圆角 1043">
              <a:extLst>
                <a:ext uri="{FF2B5EF4-FFF2-40B4-BE49-F238E27FC236}">
                  <a16:creationId xmlns:a16="http://schemas.microsoft.com/office/drawing/2014/main" id="{CA163804-597D-8956-E42D-B8ABC1F0534D}"/>
                </a:ext>
              </a:extLst>
            </p:cNvPr>
            <p:cNvSpPr/>
            <p:nvPr/>
          </p:nvSpPr>
          <p:spPr>
            <a:xfrm>
              <a:off x="3336517" y="2797616"/>
              <a:ext cx="750168" cy="577216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45" name="矩形: 圆角 1044">
              <a:extLst>
                <a:ext uri="{FF2B5EF4-FFF2-40B4-BE49-F238E27FC236}">
                  <a16:creationId xmlns:a16="http://schemas.microsoft.com/office/drawing/2014/main" id="{DB5B6A9C-A7B5-79A8-3782-BDA030CC9E7E}"/>
                </a:ext>
              </a:extLst>
            </p:cNvPr>
            <p:cNvSpPr/>
            <p:nvPr/>
          </p:nvSpPr>
          <p:spPr>
            <a:xfrm>
              <a:off x="3454981" y="2935009"/>
              <a:ext cx="529937" cy="298758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ASIC</a:t>
              </a:r>
              <a:endParaRPr lang="zh-CN" altLang="en-US" sz="1000" dirty="0"/>
            </a:p>
          </p:txBody>
        </p:sp>
      </p:grpSp>
      <p:sp>
        <p:nvSpPr>
          <p:cNvPr id="1047" name="矩形 1046">
            <a:extLst>
              <a:ext uri="{FF2B5EF4-FFF2-40B4-BE49-F238E27FC236}">
                <a16:creationId xmlns:a16="http://schemas.microsoft.com/office/drawing/2014/main" id="{8350E1FE-666C-7AA9-474A-32B62A0E475B}"/>
              </a:ext>
            </a:extLst>
          </p:cNvPr>
          <p:cNvSpPr/>
          <p:nvPr/>
        </p:nvSpPr>
        <p:spPr>
          <a:xfrm>
            <a:off x="4511448" y="3138295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" name="矩形 1047">
            <a:extLst>
              <a:ext uri="{FF2B5EF4-FFF2-40B4-BE49-F238E27FC236}">
                <a16:creationId xmlns:a16="http://schemas.microsoft.com/office/drawing/2014/main" id="{B96B9758-7027-1FEC-AB6D-E2CF1A100AFC}"/>
              </a:ext>
            </a:extLst>
          </p:cNvPr>
          <p:cNvSpPr/>
          <p:nvPr/>
        </p:nvSpPr>
        <p:spPr>
          <a:xfrm>
            <a:off x="4547034" y="3138295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A7B0E92B-B756-0B17-674C-AAEF90FE5694}"/>
              </a:ext>
            </a:extLst>
          </p:cNvPr>
          <p:cNvSpPr/>
          <p:nvPr/>
        </p:nvSpPr>
        <p:spPr>
          <a:xfrm>
            <a:off x="4513888" y="3325917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4" name="矩形 1053">
            <a:extLst>
              <a:ext uri="{FF2B5EF4-FFF2-40B4-BE49-F238E27FC236}">
                <a16:creationId xmlns:a16="http://schemas.microsoft.com/office/drawing/2014/main" id="{3472999C-4C34-C793-DACE-2C5A7551C5EE}"/>
              </a:ext>
            </a:extLst>
          </p:cNvPr>
          <p:cNvSpPr/>
          <p:nvPr/>
        </p:nvSpPr>
        <p:spPr>
          <a:xfrm>
            <a:off x="4549474" y="3325917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7" name="矩形 1056">
            <a:extLst>
              <a:ext uri="{FF2B5EF4-FFF2-40B4-BE49-F238E27FC236}">
                <a16:creationId xmlns:a16="http://schemas.microsoft.com/office/drawing/2014/main" id="{B2BD3E79-0917-9D6C-77B0-E12318CF5A59}"/>
              </a:ext>
            </a:extLst>
          </p:cNvPr>
          <p:cNvSpPr/>
          <p:nvPr/>
        </p:nvSpPr>
        <p:spPr>
          <a:xfrm>
            <a:off x="4511448" y="3909702"/>
            <a:ext cx="330200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8" name="矩形 1057">
            <a:extLst>
              <a:ext uri="{FF2B5EF4-FFF2-40B4-BE49-F238E27FC236}">
                <a16:creationId xmlns:a16="http://schemas.microsoft.com/office/drawing/2014/main" id="{10A355C0-9305-6632-BE91-51B70F7C1521}"/>
              </a:ext>
            </a:extLst>
          </p:cNvPr>
          <p:cNvSpPr/>
          <p:nvPr/>
        </p:nvSpPr>
        <p:spPr>
          <a:xfrm>
            <a:off x="4547034" y="3909702"/>
            <a:ext cx="107711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9" name="直接连接符 1058">
            <a:extLst>
              <a:ext uri="{FF2B5EF4-FFF2-40B4-BE49-F238E27FC236}">
                <a16:creationId xmlns:a16="http://schemas.microsoft.com/office/drawing/2014/main" id="{7BB8A278-EB91-9529-D699-7C254893C7F3}"/>
              </a:ext>
            </a:extLst>
          </p:cNvPr>
          <p:cNvCxnSpPr>
            <a:cxnSpLocks/>
            <a:stCxn id="1057" idx="3"/>
          </p:cNvCxnSpPr>
          <p:nvPr/>
        </p:nvCxnSpPr>
        <p:spPr>
          <a:xfrm>
            <a:off x="4841648" y="3959315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矩形 1060">
            <a:extLst>
              <a:ext uri="{FF2B5EF4-FFF2-40B4-BE49-F238E27FC236}">
                <a16:creationId xmlns:a16="http://schemas.microsoft.com/office/drawing/2014/main" id="{8496BCF2-07F8-800B-1908-539DBA8804F7}"/>
              </a:ext>
            </a:extLst>
          </p:cNvPr>
          <p:cNvSpPr/>
          <p:nvPr/>
        </p:nvSpPr>
        <p:spPr>
          <a:xfrm>
            <a:off x="4515178" y="3728301"/>
            <a:ext cx="32933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2" name="矩形 1061">
            <a:extLst>
              <a:ext uri="{FF2B5EF4-FFF2-40B4-BE49-F238E27FC236}">
                <a16:creationId xmlns:a16="http://schemas.microsoft.com/office/drawing/2014/main" id="{E6A177FF-A6A2-57DE-30F2-40CDA08FFFF2}"/>
              </a:ext>
            </a:extLst>
          </p:cNvPr>
          <p:cNvSpPr/>
          <p:nvPr/>
        </p:nvSpPr>
        <p:spPr>
          <a:xfrm>
            <a:off x="4550671" y="3728301"/>
            <a:ext cx="107429" cy="992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4" name="椭圆 1063">
            <a:extLst>
              <a:ext uri="{FF2B5EF4-FFF2-40B4-BE49-F238E27FC236}">
                <a16:creationId xmlns:a16="http://schemas.microsoft.com/office/drawing/2014/main" id="{6FDCDF67-8C85-5478-BCE2-56B514101DAF}"/>
              </a:ext>
            </a:extLst>
          </p:cNvPr>
          <p:cNvSpPr/>
          <p:nvPr/>
        </p:nvSpPr>
        <p:spPr>
          <a:xfrm>
            <a:off x="4666026" y="3481724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5" name="椭圆 1064">
            <a:extLst>
              <a:ext uri="{FF2B5EF4-FFF2-40B4-BE49-F238E27FC236}">
                <a16:creationId xmlns:a16="http://schemas.microsoft.com/office/drawing/2014/main" id="{69377BAB-9FFF-BC50-93E3-45E5EE3018A9}"/>
              </a:ext>
            </a:extLst>
          </p:cNvPr>
          <p:cNvSpPr/>
          <p:nvPr/>
        </p:nvSpPr>
        <p:spPr>
          <a:xfrm>
            <a:off x="4666026" y="3626000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6" name="椭圆 1065">
            <a:extLst>
              <a:ext uri="{FF2B5EF4-FFF2-40B4-BE49-F238E27FC236}">
                <a16:creationId xmlns:a16="http://schemas.microsoft.com/office/drawing/2014/main" id="{473112B6-B768-759A-09A6-26C00BE72A9C}"/>
              </a:ext>
            </a:extLst>
          </p:cNvPr>
          <p:cNvSpPr/>
          <p:nvPr/>
        </p:nvSpPr>
        <p:spPr>
          <a:xfrm>
            <a:off x="4666026" y="3553862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0" name="连接符: 肘形 1069">
            <a:extLst>
              <a:ext uri="{FF2B5EF4-FFF2-40B4-BE49-F238E27FC236}">
                <a16:creationId xmlns:a16="http://schemas.microsoft.com/office/drawing/2014/main" id="{53068155-CCB4-44E1-5336-E64C0592D565}"/>
              </a:ext>
            </a:extLst>
          </p:cNvPr>
          <p:cNvCxnSpPr>
            <a:cxnSpLocks/>
            <a:stCxn id="1087" idx="6"/>
            <a:endCxn id="1047" idx="1"/>
          </p:cNvCxnSpPr>
          <p:nvPr/>
        </p:nvCxnSpPr>
        <p:spPr>
          <a:xfrm flipV="1">
            <a:off x="4027386" y="3187908"/>
            <a:ext cx="484062" cy="209714"/>
          </a:xfrm>
          <a:prstGeom prst="bentConnector3">
            <a:avLst>
              <a:gd name="adj1" fmla="val 2737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连接符: 肘形 1075">
            <a:extLst>
              <a:ext uri="{FF2B5EF4-FFF2-40B4-BE49-F238E27FC236}">
                <a16:creationId xmlns:a16="http://schemas.microsoft.com/office/drawing/2014/main" id="{C46DB562-BF27-363E-1DD8-A9D038061614}"/>
              </a:ext>
            </a:extLst>
          </p:cNvPr>
          <p:cNvCxnSpPr>
            <a:cxnSpLocks/>
            <a:stCxn id="2051" idx="6"/>
            <a:endCxn id="1053" idx="1"/>
          </p:cNvCxnSpPr>
          <p:nvPr/>
        </p:nvCxnSpPr>
        <p:spPr>
          <a:xfrm flipV="1">
            <a:off x="4028672" y="3375530"/>
            <a:ext cx="485216" cy="934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连接符: 肘形 1079">
            <a:extLst>
              <a:ext uri="{FF2B5EF4-FFF2-40B4-BE49-F238E27FC236}">
                <a16:creationId xmlns:a16="http://schemas.microsoft.com/office/drawing/2014/main" id="{608FC537-CD16-8B76-495B-5605AB70A9E4}"/>
              </a:ext>
            </a:extLst>
          </p:cNvPr>
          <p:cNvCxnSpPr>
            <a:cxnSpLocks/>
            <a:stCxn id="2049" idx="6"/>
            <a:endCxn id="1061" idx="1"/>
          </p:cNvCxnSpPr>
          <p:nvPr/>
        </p:nvCxnSpPr>
        <p:spPr>
          <a:xfrm>
            <a:off x="4029704" y="3676691"/>
            <a:ext cx="485470" cy="10122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连接符: 肘形 1083">
            <a:extLst>
              <a:ext uri="{FF2B5EF4-FFF2-40B4-BE49-F238E27FC236}">
                <a16:creationId xmlns:a16="http://schemas.microsoft.com/office/drawing/2014/main" id="{C14FAB72-7E07-C761-7F8F-9BD0C8303699}"/>
              </a:ext>
            </a:extLst>
          </p:cNvPr>
          <p:cNvCxnSpPr>
            <a:cxnSpLocks/>
            <a:stCxn id="2048" idx="6"/>
            <a:endCxn id="1057" idx="1"/>
          </p:cNvCxnSpPr>
          <p:nvPr/>
        </p:nvCxnSpPr>
        <p:spPr>
          <a:xfrm>
            <a:off x="4028672" y="3749163"/>
            <a:ext cx="482776" cy="210152"/>
          </a:xfrm>
          <a:prstGeom prst="bentConnector3">
            <a:avLst>
              <a:gd name="adj1" fmla="val 276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7" name="椭圆 1086">
            <a:extLst>
              <a:ext uri="{FF2B5EF4-FFF2-40B4-BE49-F238E27FC236}">
                <a16:creationId xmlns:a16="http://schemas.microsoft.com/office/drawing/2014/main" id="{CE795343-1F1E-E7E6-A80D-32209C3B087F}"/>
              </a:ext>
            </a:extLst>
          </p:cNvPr>
          <p:cNvSpPr/>
          <p:nvPr/>
        </p:nvSpPr>
        <p:spPr>
          <a:xfrm>
            <a:off x="3981667" y="337476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8" name="椭圆 2047">
            <a:extLst>
              <a:ext uri="{FF2B5EF4-FFF2-40B4-BE49-F238E27FC236}">
                <a16:creationId xmlns:a16="http://schemas.microsoft.com/office/drawing/2014/main" id="{92AFFC3B-B98C-45A4-56BD-BD5530284314}"/>
              </a:ext>
            </a:extLst>
          </p:cNvPr>
          <p:cNvSpPr/>
          <p:nvPr/>
        </p:nvSpPr>
        <p:spPr>
          <a:xfrm>
            <a:off x="3982953" y="37263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9" name="椭圆 2048">
            <a:extLst>
              <a:ext uri="{FF2B5EF4-FFF2-40B4-BE49-F238E27FC236}">
                <a16:creationId xmlns:a16="http://schemas.microsoft.com/office/drawing/2014/main" id="{B131E1CC-A42F-DC54-C680-7D00376308C0}"/>
              </a:ext>
            </a:extLst>
          </p:cNvPr>
          <p:cNvSpPr/>
          <p:nvPr/>
        </p:nvSpPr>
        <p:spPr>
          <a:xfrm>
            <a:off x="3983985" y="365383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1" name="椭圆 2050">
            <a:extLst>
              <a:ext uri="{FF2B5EF4-FFF2-40B4-BE49-F238E27FC236}">
                <a16:creationId xmlns:a16="http://schemas.microsoft.com/office/drawing/2014/main" id="{5855C64E-E952-B368-D965-12F97492F792}"/>
              </a:ext>
            </a:extLst>
          </p:cNvPr>
          <p:cNvSpPr/>
          <p:nvPr/>
        </p:nvSpPr>
        <p:spPr>
          <a:xfrm>
            <a:off x="3982953" y="344615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4" name="矩形: 圆角 2063">
            <a:extLst>
              <a:ext uri="{FF2B5EF4-FFF2-40B4-BE49-F238E27FC236}">
                <a16:creationId xmlns:a16="http://schemas.microsoft.com/office/drawing/2014/main" id="{2D3474E0-D9D6-0E59-925B-B54755F1F35A}"/>
              </a:ext>
            </a:extLst>
          </p:cNvPr>
          <p:cNvSpPr/>
          <p:nvPr/>
        </p:nvSpPr>
        <p:spPr>
          <a:xfrm>
            <a:off x="2568076" y="4877527"/>
            <a:ext cx="2085629" cy="1269750"/>
          </a:xfrm>
          <a:prstGeom prst="roundRect">
            <a:avLst>
              <a:gd name="adj" fmla="val 2414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5" name="矩形: 圆角 2064">
            <a:extLst>
              <a:ext uri="{FF2B5EF4-FFF2-40B4-BE49-F238E27FC236}">
                <a16:creationId xmlns:a16="http://schemas.microsoft.com/office/drawing/2014/main" id="{D3F80D84-B442-8B61-A21B-02D2BA10F9E3}"/>
              </a:ext>
            </a:extLst>
          </p:cNvPr>
          <p:cNvSpPr/>
          <p:nvPr/>
        </p:nvSpPr>
        <p:spPr>
          <a:xfrm>
            <a:off x="2670605" y="4949520"/>
            <a:ext cx="1897669" cy="1103778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7" name="矩形: 圆角 2066">
            <a:extLst>
              <a:ext uri="{FF2B5EF4-FFF2-40B4-BE49-F238E27FC236}">
                <a16:creationId xmlns:a16="http://schemas.microsoft.com/office/drawing/2014/main" id="{58F33ACB-8ABF-8166-4EB9-3E807939C910}"/>
              </a:ext>
            </a:extLst>
          </p:cNvPr>
          <p:cNvSpPr/>
          <p:nvPr/>
        </p:nvSpPr>
        <p:spPr>
          <a:xfrm>
            <a:off x="3268663" y="5208772"/>
            <a:ext cx="725860" cy="577216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68" name="矩形: 圆角 2067">
            <a:extLst>
              <a:ext uri="{FF2B5EF4-FFF2-40B4-BE49-F238E27FC236}">
                <a16:creationId xmlns:a16="http://schemas.microsoft.com/office/drawing/2014/main" id="{FB3213F1-9F17-855C-F534-A8249EE484E1}"/>
              </a:ext>
            </a:extLst>
          </p:cNvPr>
          <p:cNvSpPr/>
          <p:nvPr/>
        </p:nvSpPr>
        <p:spPr>
          <a:xfrm>
            <a:off x="3427029" y="5383738"/>
            <a:ext cx="415836" cy="234432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ASIC</a:t>
            </a:r>
            <a:endParaRPr lang="zh-CN" altLang="en-US" sz="700" dirty="0"/>
          </a:p>
        </p:txBody>
      </p:sp>
      <p:sp>
        <p:nvSpPr>
          <p:cNvPr id="2070" name="矩形 2069">
            <a:extLst>
              <a:ext uri="{FF2B5EF4-FFF2-40B4-BE49-F238E27FC236}">
                <a16:creationId xmlns:a16="http://schemas.microsoft.com/office/drawing/2014/main" id="{B1030952-1810-5436-4395-5719ABFE9E15}"/>
              </a:ext>
            </a:extLst>
          </p:cNvPr>
          <p:cNvSpPr/>
          <p:nvPr/>
        </p:nvSpPr>
        <p:spPr>
          <a:xfrm>
            <a:off x="4568274" y="5056915"/>
            <a:ext cx="74872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4" name="矩形 2073">
            <a:extLst>
              <a:ext uri="{FF2B5EF4-FFF2-40B4-BE49-F238E27FC236}">
                <a16:creationId xmlns:a16="http://schemas.microsoft.com/office/drawing/2014/main" id="{32F1A191-6100-D28E-6EF9-78BCAD1FAD0A}"/>
              </a:ext>
            </a:extLst>
          </p:cNvPr>
          <p:cNvSpPr/>
          <p:nvPr/>
        </p:nvSpPr>
        <p:spPr>
          <a:xfrm>
            <a:off x="4568273" y="5244537"/>
            <a:ext cx="74873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8" name="矩形 2077">
            <a:extLst>
              <a:ext uri="{FF2B5EF4-FFF2-40B4-BE49-F238E27FC236}">
                <a16:creationId xmlns:a16="http://schemas.microsoft.com/office/drawing/2014/main" id="{5B676141-72DB-E0C4-DFE0-B876D7A11DA5}"/>
              </a:ext>
            </a:extLst>
          </p:cNvPr>
          <p:cNvSpPr/>
          <p:nvPr/>
        </p:nvSpPr>
        <p:spPr>
          <a:xfrm>
            <a:off x="4568273" y="5828322"/>
            <a:ext cx="8318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0" name="直接连接符 2079">
            <a:extLst>
              <a:ext uri="{FF2B5EF4-FFF2-40B4-BE49-F238E27FC236}">
                <a16:creationId xmlns:a16="http://schemas.microsoft.com/office/drawing/2014/main" id="{87D3F4F7-D37A-0E2C-6145-F7F063C6B46F}"/>
              </a:ext>
            </a:extLst>
          </p:cNvPr>
          <p:cNvCxnSpPr>
            <a:cxnSpLocks/>
            <a:stCxn id="2078" idx="3"/>
          </p:cNvCxnSpPr>
          <p:nvPr/>
        </p:nvCxnSpPr>
        <p:spPr>
          <a:xfrm>
            <a:off x="4651459" y="5877935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" name="矩形 2081">
            <a:extLst>
              <a:ext uri="{FF2B5EF4-FFF2-40B4-BE49-F238E27FC236}">
                <a16:creationId xmlns:a16="http://schemas.microsoft.com/office/drawing/2014/main" id="{BB9BFD7D-0AAC-8124-8BC9-653A68EBB444}"/>
              </a:ext>
            </a:extLst>
          </p:cNvPr>
          <p:cNvSpPr/>
          <p:nvPr/>
        </p:nvSpPr>
        <p:spPr>
          <a:xfrm>
            <a:off x="4568273" y="5646921"/>
            <a:ext cx="83186" cy="992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9" name="连接符: 肘形 2088">
            <a:extLst>
              <a:ext uri="{FF2B5EF4-FFF2-40B4-BE49-F238E27FC236}">
                <a16:creationId xmlns:a16="http://schemas.microsoft.com/office/drawing/2014/main" id="{8DD1F950-97EB-F4A2-AD4E-A1B01E72EC33}"/>
              </a:ext>
            </a:extLst>
          </p:cNvPr>
          <p:cNvCxnSpPr>
            <a:cxnSpLocks/>
            <a:stCxn id="2093" idx="6"/>
            <a:endCxn id="2070" idx="1"/>
          </p:cNvCxnSpPr>
          <p:nvPr/>
        </p:nvCxnSpPr>
        <p:spPr>
          <a:xfrm flipV="1">
            <a:off x="3976273" y="5106528"/>
            <a:ext cx="592001" cy="299591"/>
          </a:xfrm>
          <a:prstGeom prst="bentConnector3">
            <a:avLst>
              <a:gd name="adj1" fmla="val 30424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0" name="连接符: 肘形 2089">
            <a:extLst>
              <a:ext uri="{FF2B5EF4-FFF2-40B4-BE49-F238E27FC236}">
                <a16:creationId xmlns:a16="http://schemas.microsoft.com/office/drawing/2014/main" id="{8DF35806-A9FC-2A22-7101-F4E8ED531D97}"/>
              </a:ext>
            </a:extLst>
          </p:cNvPr>
          <p:cNvCxnSpPr>
            <a:cxnSpLocks/>
            <a:stCxn id="2096" idx="6"/>
            <a:endCxn id="2074" idx="1"/>
          </p:cNvCxnSpPr>
          <p:nvPr/>
        </p:nvCxnSpPr>
        <p:spPr>
          <a:xfrm flipV="1">
            <a:off x="3976938" y="5294150"/>
            <a:ext cx="591335" cy="163731"/>
          </a:xfrm>
          <a:prstGeom prst="bentConnector3">
            <a:avLst>
              <a:gd name="adj1" fmla="val 50000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连接符: 肘形 2090">
            <a:extLst>
              <a:ext uri="{FF2B5EF4-FFF2-40B4-BE49-F238E27FC236}">
                <a16:creationId xmlns:a16="http://schemas.microsoft.com/office/drawing/2014/main" id="{8C346686-067C-63BF-E445-631A708B7640}"/>
              </a:ext>
            </a:extLst>
          </p:cNvPr>
          <p:cNvCxnSpPr>
            <a:cxnSpLocks/>
            <a:stCxn id="2095" idx="6"/>
            <a:endCxn id="2082" idx="1"/>
          </p:cNvCxnSpPr>
          <p:nvPr/>
        </p:nvCxnSpPr>
        <p:spPr>
          <a:xfrm>
            <a:off x="3976272" y="5537266"/>
            <a:ext cx="592001" cy="159268"/>
          </a:xfrm>
          <a:prstGeom prst="bentConnector3">
            <a:avLst>
              <a:gd name="adj1" fmla="val 50000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连接符: 肘形 2091">
            <a:extLst>
              <a:ext uri="{FF2B5EF4-FFF2-40B4-BE49-F238E27FC236}">
                <a16:creationId xmlns:a16="http://schemas.microsoft.com/office/drawing/2014/main" id="{82590B93-6530-1C73-159A-88359E6EBE58}"/>
              </a:ext>
            </a:extLst>
          </p:cNvPr>
          <p:cNvCxnSpPr>
            <a:cxnSpLocks/>
            <a:stCxn id="2094" idx="6"/>
            <a:endCxn id="2078" idx="1"/>
          </p:cNvCxnSpPr>
          <p:nvPr/>
        </p:nvCxnSpPr>
        <p:spPr>
          <a:xfrm>
            <a:off x="3976539" y="5591536"/>
            <a:ext cx="591734" cy="286399"/>
          </a:xfrm>
          <a:prstGeom prst="bentConnector3">
            <a:avLst>
              <a:gd name="adj1" fmla="val 30684"/>
            </a:avLst>
          </a:prstGeom>
          <a:ln w="31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3" name="椭圆 2092">
            <a:extLst>
              <a:ext uri="{FF2B5EF4-FFF2-40B4-BE49-F238E27FC236}">
                <a16:creationId xmlns:a16="http://schemas.microsoft.com/office/drawing/2014/main" id="{A0E07606-750D-7A9B-454E-36E2CA7773A9}"/>
              </a:ext>
            </a:extLst>
          </p:cNvPr>
          <p:cNvSpPr/>
          <p:nvPr/>
        </p:nvSpPr>
        <p:spPr>
          <a:xfrm>
            <a:off x="3930554" y="538325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4" name="椭圆 2093">
            <a:extLst>
              <a:ext uri="{FF2B5EF4-FFF2-40B4-BE49-F238E27FC236}">
                <a16:creationId xmlns:a16="http://schemas.microsoft.com/office/drawing/2014/main" id="{ED2C1C18-69A0-D6F6-7C9A-E424AA2983A8}"/>
              </a:ext>
            </a:extLst>
          </p:cNvPr>
          <p:cNvSpPr/>
          <p:nvPr/>
        </p:nvSpPr>
        <p:spPr>
          <a:xfrm>
            <a:off x="3930820" y="556867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5" name="椭圆 2094">
            <a:extLst>
              <a:ext uri="{FF2B5EF4-FFF2-40B4-BE49-F238E27FC236}">
                <a16:creationId xmlns:a16="http://schemas.microsoft.com/office/drawing/2014/main" id="{80993937-D567-1CBC-53AF-525CCE51C4A3}"/>
              </a:ext>
            </a:extLst>
          </p:cNvPr>
          <p:cNvSpPr/>
          <p:nvPr/>
        </p:nvSpPr>
        <p:spPr>
          <a:xfrm>
            <a:off x="3930553" y="551440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6" name="椭圆 2095">
            <a:extLst>
              <a:ext uri="{FF2B5EF4-FFF2-40B4-BE49-F238E27FC236}">
                <a16:creationId xmlns:a16="http://schemas.microsoft.com/office/drawing/2014/main" id="{A47E9B9D-9642-DBC7-A831-7CC92DDF5FF6}"/>
              </a:ext>
            </a:extLst>
          </p:cNvPr>
          <p:cNvSpPr/>
          <p:nvPr/>
        </p:nvSpPr>
        <p:spPr>
          <a:xfrm>
            <a:off x="3931219" y="54350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19" name="直接连接符 2118">
            <a:extLst>
              <a:ext uri="{FF2B5EF4-FFF2-40B4-BE49-F238E27FC236}">
                <a16:creationId xmlns:a16="http://schemas.microsoft.com/office/drawing/2014/main" id="{3B3537D0-C835-9C80-9C28-35DC1224C280}"/>
              </a:ext>
            </a:extLst>
          </p:cNvPr>
          <p:cNvCxnSpPr>
            <a:cxnSpLocks/>
          </p:cNvCxnSpPr>
          <p:nvPr/>
        </p:nvCxnSpPr>
        <p:spPr>
          <a:xfrm>
            <a:off x="4841648" y="3783102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直接连接符 2119">
            <a:extLst>
              <a:ext uri="{FF2B5EF4-FFF2-40B4-BE49-F238E27FC236}">
                <a16:creationId xmlns:a16="http://schemas.microsoft.com/office/drawing/2014/main" id="{678B84E6-DAC7-A2EF-5EA7-43681B73B3EE}"/>
              </a:ext>
            </a:extLst>
          </p:cNvPr>
          <p:cNvCxnSpPr>
            <a:cxnSpLocks/>
          </p:cNvCxnSpPr>
          <p:nvPr/>
        </p:nvCxnSpPr>
        <p:spPr>
          <a:xfrm>
            <a:off x="4841648" y="3375294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1" name="直接连接符 2120">
            <a:extLst>
              <a:ext uri="{FF2B5EF4-FFF2-40B4-BE49-F238E27FC236}">
                <a16:creationId xmlns:a16="http://schemas.microsoft.com/office/drawing/2014/main" id="{BB4CF096-CB66-22F0-2DB3-10A21FAD3B50}"/>
              </a:ext>
            </a:extLst>
          </p:cNvPr>
          <p:cNvCxnSpPr>
            <a:cxnSpLocks/>
          </p:cNvCxnSpPr>
          <p:nvPr/>
        </p:nvCxnSpPr>
        <p:spPr>
          <a:xfrm>
            <a:off x="4841648" y="3187908"/>
            <a:ext cx="159765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直接连接符 2121">
            <a:extLst>
              <a:ext uri="{FF2B5EF4-FFF2-40B4-BE49-F238E27FC236}">
                <a16:creationId xmlns:a16="http://schemas.microsoft.com/office/drawing/2014/main" id="{3E65DC7F-2F8A-8030-73C6-B10B0359D458}"/>
              </a:ext>
            </a:extLst>
          </p:cNvPr>
          <p:cNvCxnSpPr>
            <a:cxnSpLocks/>
          </p:cNvCxnSpPr>
          <p:nvPr/>
        </p:nvCxnSpPr>
        <p:spPr>
          <a:xfrm>
            <a:off x="4651459" y="5697064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直接连接符 2122">
            <a:extLst>
              <a:ext uri="{FF2B5EF4-FFF2-40B4-BE49-F238E27FC236}">
                <a16:creationId xmlns:a16="http://schemas.microsoft.com/office/drawing/2014/main" id="{A0FD160C-58A3-913D-D882-533546A7B042}"/>
              </a:ext>
            </a:extLst>
          </p:cNvPr>
          <p:cNvCxnSpPr>
            <a:cxnSpLocks/>
          </p:cNvCxnSpPr>
          <p:nvPr/>
        </p:nvCxnSpPr>
        <p:spPr>
          <a:xfrm>
            <a:off x="4643146" y="5293382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直接连接符 2123">
            <a:extLst>
              <a:ext uri="{FF2B5EF4-FFF2-40B4-BE49-F238E27FC236}">
                <a16:creationId xmlns:a16="http://schemas.microsoft.com/office/drawing/2014/main" id="{F725813E-84C7-EA56-D518-55861B1EA78F}"/>
              </a:ext>
            </a:extLst>
          </p:cNvPr>
          <p:cNvCxnSpPr>
            <a:cxnSpLocks/>
          </p:cNvCxnSpPr>
          <p:nvPr/>
        </p:nvCxnSpPr>
        <p:spPr>
          <a:xfrm>
            <a:off x="4643146" y="5106528"/>
            <a:ext cx="152738" cy="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5" name="矩形 2124">
            <a:extLst>
              <a:ext uri="{FF2B5EF4-FFF2-40B4-BE49-F238E27FC236}">
                <a16:creationId xmlns:a16="http://schemas.microsoft.com/office/drawing/2014/main" id="{DD30B286-427C-9FF9-0FBC-B9990AE98510}"/>
              </a:ext>
            </a:extLst>
          </p:cNvPr>
          <p:cNvSpPr/>
          <p:nvPr/>
        </p:nvSpPr>
        <p:spPr>
          <a:xfrm>
            <a:off x="3868827" y="5383747"/>
            <a:ext cx="107711" cy="2344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42" name="直接连接符 2141">
            <a:extLst>
              <a:ext uri="{FF2B5EF4-FFF2-40B4-BE49-F238E27FC236}">
                <a16:creationId xmlns:a16="http://schemas.microsoft.com/office/drawing/2014/main" id="{018AB5C2-76BE-4C7E-C14D-BC46F3175833}"/>
              </a:ext>
            </a:extLst>
          </p:cNvPr>
          <p:cNvCxnSpPr>
            <a:cxnSpLocks/>
          </p:cNvCxnSpPr>
          <p:nvPr/>
        </p:nvCxnSpPr>
        <p:spPr>
          <a:xfrm>
            <a:off x="3842865" y="5406118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4" name="直接连接符 2143">
            <a:extLst>
              <a:ext uri="{FF2B5EF4-FFF2-40B4-BE49-F238E27FC236}">
                <a16:creationId xmlns:a16="http://schemas.microsoft.com/office/drawing/2014/main" id="{FBCEB2F9-ABD4-72D4-FDBC-4BCC218447DA}"/>
              </a:ext>
            </a:extLst>
          </p:cNvPr>
          <p:cNvCxnSpPr>
            <a:cxnSpLocks/>
          </p:cNvCxnSpPr>
          <p:nvPr/>
        </p:nvCxnSpPr>
        <p:spPr>
          <a:xfrm>
            <a:off x="3842865" y="5457880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5" name="直接连接符 2144">
            <a:extLst>
              <a:ext uri="{FF2B5EF4-FFF2-40B4-BE49-F238E27FC236}">
                <a16:creationId xmlns:a16="http://schemas.microsoft.com/office/drawing/2014/main" id="{BA546A0B-4FD7-D411-1455-CB36E4BA3ABD}"/>
              </a:ext>
            </a:extLst>
          </p:cNvPr>
          <p:cNvCxnSpPr>
            <a:cxnSpLocks/>
          </p:cNvCxnSpPr>
          <p:nvPr/>
        </p:nvCxnSpPr>
        <p:spPr>
          <a:xfrm>
            <a:off x="3842865" y="5537962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直接连接符 2145">
            <a:extLst>
              <a:ext uri="{FF2B5EF4-FFF2-40B4-BE49-F238E27FC236}">
                <a16:creationId xmlns:a16="http://schemas.microsoft.com/office/drawing/2014/main" id="{E137EBE4-A222-E161-C69E-5CC6C17918E1}"/>
              </a:ext>
            </a:extLst>
          </p:cNvPr>
          <p:cNvCxnSpPr>
            <a:cxnSpLocks/>
          </p:cNvCxnSpPr>
          <p:nvPr/>
        </p:nvCxnSpPr>
        <p:spPr>
          <a:xfrm>
            <a:off x="3842865" y="5593466"/>
            <a:ext cx="26190" cy="0"/>
          </a:xfrm>
          <a:prstGeom prst="line">
            <a:avLst/>
          </a:prstGeom>
          <a:ln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4" name="组合 2153">
            <a:extLst>
              <a:ext uri="{FF2B5EF4-FFF2-40B4-BE49-F238E27FC236}">
                <a16:creationId xmlns:a16="http://schemas.microsoft.com/office/drawing/2014/main" id="{E78C4C66-170F-A06C-6F8D-4D38E1D9321C}"/>
              </a:ext>
            </a:extLst>
          </p:cNvPr>
          <p:cNvGrpSpPr/>
          <p:nvPr/>
        </p:nvGrpSpPr>
        <p:grpSpPr>
          <a:xfrm rot="16200000">
            <a:off x="3564677" y="5199694"/>
            <a:ext cx="133673" cy="234432"/>
            <a:chOff x="4069877" y="6177592"/>
            <a:chExt cx="133673" cy="234432"/>
          </a:xfrm>
        </p:grpSpPr>
        <p:sp>
          <p:nvSpPr>
            <p:cNvPr id="2149" name="矩形 2148">
              <a:extLst>
                <a:ext uri="{FF2B5EF4-FFF2-40B4-BE49-F238E27FC236}">
                  <a16:creationId xmlns:a16="http://schemas.microsoft.com/office/drawing/2014/main" id="{F16E47A6-6573-F98E-F75C-7329AFFFBB60}"/>
                </a:ext>
              </a:extLst>
            </p:cNvPr>
            <p:cNvSpPr/>
            <p:nvPr/>
          </p:nvSpPr>
          <p:spPr>
            <a:xfrm>
              <a:off x="4095839" y="6177592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0" name="直接连接符 2149">
              <a:extLst>
                <a:ext uri="{FF2B5EF4-FFF2-40B4-BE49-F238E27FC236}">
                  <a16:creationId xmlns:a16="http://schemas.microsoft.com/office/drawing/2014/main" id="{2DEFB9AB-6125-A95E-528C-3AD457AED4B8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19996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直接连接符 2150">
              <a:extLst>
                <a:ext uri="{FF2B5EF4-FFF2-40B4-BE49-F238E27FC236}">
                  <a16:creationId xmlns:a16="http://schemas.microsoft.com/office/drawing/2014/main" id="{24226B46-97DD-EEDD-93D8-0D5A414B188D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25172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直接连接符 2151">
              <a:extLst>
                <a:ext uri="{FF2B5EF4-FFF2-40B4-BE49-F238E27FC236}">
                  <a16:creationId xmlns:a16="http://schemas.microsoft.com/office/drawing/2014/main" id="{285C4076-1E2A-59C4-5EE3-586500774C2A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33180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直接连接符 2152">
              <a:extLst>
                <a:ext uri="{FF2B5EF4-FFF2-40B4-BE49-F238E27FC236}">
                  <a16:creationId xmlns:a16="http://schemas.microsoft.com/office/drawing/2014/main" id="{472D814C-E1BB-4710-3482-807D4F653FC3}"/>
                </a:ext>
              </a:extLst>
            </p:cNvPr>
            <p:cNvCxnSpPr>
              <a:cxnSpLocks/>
            </p:cNvCxnSpPr>
            <p:nvPr/>
          </p:nvCxnSpPr>
          <p:spPr>
            <a:xfrm>
              <a:off x="4069877" y="63873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4" name="组合 2183">
            <a:extLst>
              <a:ext uri="{FF2B5EF4-FFF2-40B4-BE49-F238E27FC236}">
                <a16:creationId xmlns:a16="http://schemas.microsoft.com/office/drawing/2014/main" id="{700D2923-9348-78EA-3D49-838ABCAE2F1A}"/>
              </a:ext>
            </a:extLst>
          </p:cNvPr>
          <p:cNvGrpSpPr/>
          <p:nvPr/>
        </p:nvGrpSpPr>
        <p:grpSpPr>
          <a:xfrm rot="5400000">
            <a:off x="3560034" y="5567772"/>
            <a:ext cx="133673" cy="234432"/>
            <a:chOff x="3963440" y="6379578"/>
            <a:chExt cx="133673" cy="234432"/>
          </a:xfrm>
        </p:grpSpPr>
        <p:sp>
          <p:nvSpPr>
            <p:cNvPr id="2155" name="矩形 2154">
              <a:extLst>
                <a:ext uri="{FF2B5EF4-FFF2-40B4-BE49-F238E27FC236}">
                  <a16:creationId xmlns:a16="http://schemas.microsoft.com/office/drawing/2014/main" id="{5BD91CE2-ECD5-6CB6-09E7-ADFD123DD55E}"/>
                </a:ext>
              </a:extLst>
            </p:cNvPr>
            <p:cNvSpPr/>
            <p:nvPr/>
          </p:nvSpPr>
          <p:spPr>
            <a:xfrm>
              <a:off x="3989402" y="6379578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6" name="直接连接符 2155">
              <a:extLst>
                <a:ext uri="{FF2B5EF4-FFF2-40B4-BE49-F238E27FC236}">
                  <a16:creationId xmlns:a16="http://schemas.microsoft.com/office/drawing/2014/main" id="{8B2F601F-E22D-1A3A-BCBC-392A540622F7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019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直接连接符 2156">
              <a:extLst>
                <a:ext uri="{FF2B5EF4-FFF2-40B4-BE49-F238E27FC236}">
                  <a16:creationId xmlns:a16="http://schemas.microsoft.com/office/drawing/2014/main" id="{B2C8C993-3430-FFF0-5294-DCE79E104B3E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537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直接连接符 2157">
              <a:extLst>
                <a:ext uri="{FF2B5EF4-FFF2-40B4-BE49-F238E27FC236}">
                  <a16:creationId xmlns:a16="http://schemas.microsoft.com/office/drawing/2014/main" id="{AE0A485D-143F-1983-19EF-E99A49B1670C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3379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直接连接符 2158">
              <a:extLst>
                <a:ext uri="{FF2B5EF4-FFF2-40B4-BE49-F238E27FC236}">
                  <a16:creationId xmlns:a16="http://schemas.microsoft.com/office/drawing/2014/main" id="{90414AED-0C67-2E2F-5763-31C5D10AE4DB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8929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5" name="组合 2184">
            <a:extLst>
              <a:ext uri="{FF2B5EF4-FFF2-40B4-BE49-F238E27FC236}">
                <a16:creationId xmlns:a16="http://schemas.microsoft.com/office/drawing/2014/main" id="{6948E263-CC9A-2ADD-ECB9-5838F9627EF3}"/>
              </a:ext>
            </a:extLst>
          </p:cNvPr>
          <p:cNvGrpSpPr/>
          <p:nvPr/>
        </p:nvGrpSpPr>
        <p:grpSpPr>
          <a:xfrm rot="10800000">
            <a:off x="3294369" y="5379963"/>
            <a:ext cx="133673" cy="234432"/>
            <a:chOff x="3963440" y="6379578"/>
            <a:chExt cx="133673" cy="234432"/>
          </a:xfrm>
        </p:grpSpPr>
        <p:sp>
          <p:nvSpPr>
            <p:cNvPr id="2186" name="矩形 2185">
              <a:extLst>
                <a:ext uri="{FF2B5EF4-FFF2-40B4-BE49-F238E27FC236}">
                  <a16:creationId xmlns:a16="http://schemas.microsoft.com/office/drawing/2014/main" id="{7316E993-FDF0-7C38-09F8-594FBA6BA955}"/>
                </a:ext>
              </a:extLst>
            </p:cNvPr>
            <p:cNvSpPr/>
            <p:nvPr/>
          </p:nvSpPr>
          <p:spPr>
            <a:xfrm>
              <a:off x="3989402" y="6379578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87" name="直接连接符 2186">
              <a:extLst>
                <a:ext uri="{FF2B5EF4-FFF2-40B4-BE49-F238E27FC236}">
                  <a16:creationId xmlns:a16="http://schemas.microsoft.com/office/drawing/2014/main" id="{D2D71FE3-5E45-54DA-3C4C-F1EB12E7E296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019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直接连接符 2187">
              <a:extLst>
                <a:ext uri="{FF2B5EF4-FFF2-40B4-BE49-F238E27FC236}">
                  <a16:creationId xmlns:a16="http://schemas.microsoft.com/office/drawing/2014/main" id="{B33DF06A-5242-F6C1-F717-188BBFB1E4E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453711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直接连接符 2188">
              <a:extLst>
                <a:ext uri="{FF2B5EF4-FFF2-40B4-BE49-F238E27FC236}">
                  <a16:creationId xmlns:a16="http://schemas.microsoft.com/office/drawing/2014/main" id="{C0D0A1A6-E1CF-6B8F-0D43-75A4128C4CA9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3379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0" name="直接连接符 2189">
              <a:extLst>
                <a:ext uri="{FF2B5EF4-FFF2-40B4-BE49-F238E27FC236}">
                  <a16:creationId xmlns:a16="http://schemas.microsoft.com/office/drawing/2014/main" id="{0470F646-6534-B7E9-60B4-FB42C5C9C0AD}"/>
                </a:ext>
              </a:extLst>
            </p:cNvPr>
            <p:cNvCxnSpPr>
              <a:cxnSpLocks/>
            </p:cNvCxnSpPr>
            <p:nvPr/>
          </p:nvCxnSpPr>
          <p:spPr>
            <a:xfrm>
              <a:off x="3963440" y="658929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6777012" y="5355590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7970483" y="3468200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8100201" y="3677084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8018472" y="367790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5792113" y="3427635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5756277" y="3667993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6282008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侧面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5360854" y="3738417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PCB</a:t>
            </a:r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5560302" y="3472402"/>
            <a:ext cx="1441121" cy="196072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5557540" y="3451363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Substrate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5762833" y="327806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5874015" y="3233436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ASIC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8180455" y="3552471"/>
            <a:ext cx="196913" cy="124220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8377368" y="3614581"/>
            <a:ext cx="687160" cy="2331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8594229" y="3524066"/>
            <a:ext cx="149225" cy="88931"/>
          </a:xfrm>
          <a:prstGeom prst="ellipse">
            <a:avLst/>
          </a:prstGeom>
          <a:noFill/>
          <a:ln w="12700"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5634495" y="2927195"/>
            <a:ext cx="92286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6669921" y="2972902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光模块：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30W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rgbClr val="0052D9"/>
                </a:solidFill>
              </a:rPr>
              <a:t>20W (DSP) 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kumimoji="1" lang="en-US" altLang="zh-CN" sz="1200" dirty="0">
                <a:solidFill>
                  <a:srgbClr val="FF7201"/>
                </a:solidFill>
              </a:rPr>
              <a:t>10W (</a:t>
            </a:r>
            <a:r>
              <a:rPr kumimoji="1" lang="zh-CN" altLang="en-US" sz="1200" dirty="0">
                <a:solidFill>
                  <a:srgbClr val="FF7201"/>
                </a:solidFill>
              </a:rPr>
              <a:t>光引擎，含光源</a:t>
            </a:r>
            <a:r>
              <a:rPr kumimoji="1" lang="en-US" altLang="zh-CN" sz="1200" dirty="0">
                <a:solidFill>
                  <a:srgbClr val="FF7201"/>
                </a:solidFill>
              </a:rPr>
              <a:t>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6333353" y="3443396"/>
            <a:ext cx="0" cy="72522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6331419" y="3512978"/>
            <a:ext cx="246441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6576272" y="3509774"/>
            <a:ext cx="0" cy="246105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6574684" y="3754291"/>
            <a:ext cx="1469679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8044363" y="3682672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5792113" y="5359855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5756277" y="5600213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5330856" y="5651995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5360854" y="5670637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PCB</a:t>
            </a:r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5560302" y="5404622"/>
            <a:ext cx="1441121" cy="196072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5557540" y="5383583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Substrate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5762833" y="5210281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5874015" y="5165656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j-lt"/>
              </a:rPr>
              <a:t>ASIC</a:t>
            </a:r>
            <a:endParaRPr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8199553" y="5468340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7317333" y="5549131"/>
            <a:ext cx="1658150" cy="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8594229" y="5456286"/>
            <a:ext cx="149225" cy="88931"/>
          </a:xfrm>
          <a:prstGeom prst="ellipse">
            <a:avLst/>
          </a:prstGeom>
          <a:noFill/>
          <a:ln w="12700"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5587594" y="4868277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7644385" y="5092875"/>
            <a:ext cx="1346973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外置光源：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6333353" y="5375616"/>
            <a:ext cx="0" cy="72522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6331419" y="5445198"/>
            <a:ext cx="476327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6804873" y="5356800"/>
            <a:ext cx="0" cy="89316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6769328" y="5237672"/>
            <a:ext cx="196913" cy="119558"/>
          </a:xfrm>
          <a:prstGeom prst="rect">
            <a:avLst/>
          </a:prstGeom>
          <a:solidFill>
            <a:srgbClr val="FF72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6635783" y="4858874"/>
            <a:ext cx="1048633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光引擎：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</a:rPr>
              <a:t>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6964908" y="5304656"/>
            <a:ext cx="358775" cy="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7320508" y="5297530"/>
            <a:ext cx="0" cy="252240"/>
          </a:xfrm>
          <a:prstGeom prst="line">
            <a:avLst/>
          </a:prstGeom>
          <a:ln w="12700">
            <a:solidFill>
              <a:srgbClr val="FF7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8166810" y="5521456"/>
            <a:ext cx="238490" cy="49612"/>
          </a:xfrm>
          <a:prstGeom prst="rect">
            <a:avLst/>
          </a:prstGeom>
          <a:solidFill>
            <a:srgbClr val="FF7201"/>
          </a:solidFill>
          <a:ln>
            <a:solidFill>
              <a:srgbClr val="FF72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6330176" y="5301529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rgbClr val="FFFF00"/>
                </a:solidFill>
              </a:rPr>
              <a:t> &lt;1mm</a:t>
            </a:r>
            <a:endParaRPr kumimoji="1" lang="en-US" altLang="zh-CN" sz="1050" dirty="0">
              <a:solidFill>
                <a:srgbClr val="FFFF00"/>
              </a:solidFill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7164563" y="369869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FFFF00"/>
                </a:solidFill>
              </a:rPr>
              <a:t>6-8cm</a:t>
            </a:r>
            <a:endParaRPr kumimoji="1" lang="en-US" altLang="zh-CN" sz="1400" dirty="0">
              <a:solidFill>
                <a:srgbClr val="FFFF00"/>
              </a:solidFill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6792859" y="3751618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：功耗均为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1.6Tbps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速率下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8004102" y="3553862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8286097" y="3675867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8204368" y="3676691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8123238" y="3752339"/>
            <a:ext cx="110037" cy="0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8233275" y="3680720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8126913" y="3681969"/>
            <a:ext cx="0" cy="71254"/>
          </a:xfrm>
          <a:prstGeom prst="line">
            <a:avLst/>
          </a:prstGeom>
          <a:ln w="63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  <a:endCxn id="2270" idx="0"/>
          </p:cNvCxnSpPr>
          <p:nvPr/>
        </p:nvCxnSpPr>
        <p:spPr>
          <a:xfrm>
            <a:off x="8280051" y="4453404"/>
            <a:ext cx="0" cy="101493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9995556" y="3406643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10013520" y="210516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速率上限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9988296" y="5267073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latin typeface="+mj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latin typeface="+mj-lt"/>
              </a:rPr>
              <a:t>bps</a:t>
            </a:r>
            <a:endParaRPr lang="zh-CN" altLang="zh-CN" sz="1400" dirty="0">
              <a:solidFill>
                <a:srgbClr val="0052D9"/>
              </a:solidFill>
              <a:latin typeface="+mj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2F4BFC-F190-8A9D-478B-BFCFBD2A7031}"/>
              </a:ext>
            </a:extLst>
          </p:cNvPr>
          <p:cNvSpPr/>
          <p:nvPr/>
        </p:nvSpPr>
        <p:spPr>
          <a:xfrm>
            <a:off x="12350188" y="1273215"/>
            <a:ext cx="1452622" cy="186508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最重要的那个点，为什么一定要做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信息损耗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83BB54-FB8E-299D-0C94-E730EE99AFD6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43630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1" imgW="404" imgH="405" progId="TCLayout.ActiveDocument.1">
                  <p:embed/>
                </p:oleObj>
              </mc:Choice>
              <mc:Fallback>
                <p:oleObj name="think-cell 幻灯片" r:id="rId21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/>
              <a:t>IDC</a:t>
            </a:r>
            <a:r>
              <a:rPr lang="zh-CN" altLang="en-US" dirty="0"/>
              <a:t>互连分为 </a:t>
            </a:r>
            <a:r>
              <a:rPr lang="en-US" altLang="zh-CN" dirty="0"/>
              <a:t>Scale Up</a:t>
            </a:r>
            <a:r>
              <a:rPr lang="zh-CN" altLang="en-US" dirty="0"/>
              <a:t>与 </a:t>
            </a:r>
            <a:r>
              <a:rPr lang="en-US" altLang="zh-CN" dirty="0"/>
              <a:t>Scale Out</a:t>
            </a:r>
            <a:r>
              <a:rPr lang="zh-CN" altLang="en-US" dirty="0"/>
              <a:t>，光互连在 </a:t>
            </a:r>
            <a:r>
              <a:rPr lang="en-US" altLang="zh-CN" dirty="0"/>
              <a:t>Scale Out</a:t>
            </a:r>
            <a:r>
              <a:rPr lang="zh-CN" altLang="en-US" dirty="0"/>
              <a:t>优先落地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BB847A-7BAC-63B4-2F41-26DD828E1C14}"/>
              </a:ext>
            </a:extLst>
          </p:cNvPr>
          <p:cNvSpPr txBox="1"/>
          <p:nvPr/>
        </p:nvSpPr>
        <p:spPr>
          <a:xfrm>
            <a:off x="524504" y="847033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纵向叠加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，卡间距离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cm-m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D26EF83-7B6D-778A-6B64-86B5A6A965AC}"/>
              </a:ext>
            </a:extLst>
          </p:cNvPr>
          <p:cNvGrpSpPr/>
          <p:nvPr/>
        </p:nvGrpSpPr>
        <p:grpSpPr>
          <a:xfrm>
            <a:off x="3569693" y="1595514"/>
            <a:ext cx="1110580" cy="1550051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A275F8E5-0C4E-1448-E5B3-6F1AF3DF7F9F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2B9CF1D7-EB4A-19C7-4332-7706BD41E3DF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B669C98-36D3-2DC0-FB98-DECCD572E0EA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5C3DBA-98DB-4C41-A095-D6E9DE7276BD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2DDF3E3C-B033-3F56-60A5-D3AF24563D34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1469666" y="1595513"/>
            <a:ext cx="1075291" cy="1550052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3032860" y="2241272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2240582" y="5125035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5AFA96AA-26BF-B317-BCE6-13DE6EC24C32}"/>
              </a:ext>
            </a:extLst>
          </p:cNvPr>
          <p:cNvGrpSpPr/>
          <p:nvPr/>
        </p:nvGrpSpPr>
        <p:grpSpPr>
          <a:xfrm>
            <a:off x="2524710" y="1688003"/>
            <a:ext cx="431456" cy="1040793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5612C2CA-7487-B790-747F-CF07F79EB1DD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D080EB64-9D40-F836-B215-251AE7B1A239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5F6B986-5E92-5600-3E10-FA9E10CB0A84}"/>
              </a:ext>
            </a:extLst>
          </p:cNvPr>
          <p:cNvGrpSpPr/>
          <p:nvPr/>
        </p:nvGrpSpPr>
        <p:grpSpPr>
          <a:xfrm>
            <a:off x="4651608" y="1670176"/>
            <a:ext cx="431456" cy="1040793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BE172E11-EEDA-1954-1652-4148ABE5E306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E3A056FA-BCC5-B3B2-6B74-05583D251B0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9942AD3E-0243-9F8D-3BBE-3D1D0405045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389242" y="2312029"/>
            <a:ext cx="321852" cy="2255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863E6579-9356-5949-62B4-BD607835B401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389242" y="2312029"/>
            <a:ext cx="321852" cy="55956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87C2165D-110D-6A55-4BBE-E000622E9F7D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526914" y="1872224"/>
            <a:ext cx="311078" cy="42197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0871629E-A91A-7BF3-5C3B-AADF82C76ECE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526914" y="2206236"/>
            <a:ext cx="311079" cy="8796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205A8889-7ECC-C0E7-F31C-A5D6788B99E4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526914" y="2294202"/>
            <a:ext cx="311078" cy="24604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4D4D8B18-E7E8-E290-FC71-A2C35566C5C9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526914" y="2294202"/>
            <a:ext cx="311078" cy="5800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D1571794-466C-9ECB-22D5-0AD860A9C980}"/>
              </a:ext>
            </a:extLst>
          </p:cNvPr>
          <p:cNvGrpSpPr/>
          <p:nvPr/>
        </p:nvGrpSpPr>
        <p:grpSpPr>
          <a:xfrm>
            <a:off x="870255" y="4611893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9CFED0C-C5C8-70FA-C735-A85B2182F5D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40652628-7233-9F92-B8BC-64AFE2386BF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97C86563-9B1C-5AC2-3D94-57242B2BDFDF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E46F5CE3-F122-B50A-5DFC-56E64A4E0978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A3B29D23-5F37-BF08-4898-C2011A14AD9E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63781D92-4BEC-7BA6-BB36-D552CA8AEB06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AE4B18C1-503F-697F-0558-FFFD7390ABBE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A78475D6-A9C6-2B4F-C6A2-72AC0B881247}"/>
              </a:ext>
            </a:extLst>
          </p:cNvPr>
          <p:cNvGrpSpPr/>
          <p:nvPr/>
        </p:nvGrpSpPr>
        <p:grpSpPr>
          <a:xfrm>
            <a:off x="2847855" y="3913613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655869C3-C6A7-FA99-6392-56EBED0C6AF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F4DA2476-B1C5-AA7F-86A8-4825B7B86D7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2C8012CD-B402-C196-F3CA-498BD8486C99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9C135BE1-B868-25CD-B6E5-38303BC50592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1EEFAE68-B91A-8AC8-D012-9F54CA2CAE8F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BC37673A-DABA-F906-2BB0-1B44F13CBEAF}"/>
              </a:ext>
            </a:extLst>
          </p:cNvPr>
          <p:cNvGrpSpPr/>
          <p:nvPr/>
        </p:nvGrpSpPr>
        <p:grpSpPr>
          <a:xfrm>
            <a:off x="2871943" y="5344303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CFDDEAE8-BD88-F4AB-E1FD-692B7A965A96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412A1DFB-824D-4ADE-6839-B7EAE99EEDBD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92FBFED9-EEAE-5456-D940-0CDCE0357514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8BF0E8F4-CC07-658D-FC07-A63C64EE392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F166B3AE-9800-342B-8917-A05D5B05797E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349FB1E8-2ED6-EB0C-2BC8-9081E5FB11A9}"/>
              </a:ext>
            </a:extLst>
          </p:cNvPr>
          <p:cNvGrpSpPr/>
          <p:nvPr/>
        </p:nvGrpSpPr>
        <p:grpSpPr>
          <a:xfrm>
            <a:off x="4187156" y="3913613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F2855A3A-B2F5-2584-134D-8470C851334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D542B57A-569E-1AF7-F68B-AD414B8B071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038A0050-8206-D186-D05E-533A3D8FA45E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BA499E6D-DA6F-3849-CCDF-193BBBDB385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2EB48ED1-4B6D-5F43-E406-30CDE8FE1FAC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822A31C-B397-E9AA-02F6-822704F1393A}"/>
              </a:ext>
            </a:extLst>
          </p:cNvPr>
          <p:cNvGrpSpPr/>
          <p:nvPr/>
        </p:nvGrpSpPr>
        <p:grpSpPr>
          <a:xfrm>
            <a:off x="4181899" y="5344303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A444B65E-0228-BD2E-A40A-2F24B4F8136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3DB00DB7-B705-CC86-3CE8-E409A73DB5B6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707984F9-2515-726F-38CE-B57245E91280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102A6C25-5645-34AA-5CC7-962CB1DD711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3EB45D3-DFD0-B896-6A8E-E8422AC6E50A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B2E521CC-2408-6A85-36DA-985994ECA8E8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3997701" y="4862496"/>
            <a:ext cx="21167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0325B44E-AB9E-C39C-2A98-E033136CE0F4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4015437" y="4862496"/>
            <a:ext cx="199198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4DEA9E3D-92AE-C697-7ACC-FE17EEDFB838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3997701" y="4862496"/>
            <a:ext cx="17736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C84F15C9-33D7-51CA-C218-0F5F05D3F641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4209378" y="4862496"/>
            <a:ext cx="525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F9478CD5-A52C-B137-66D2-7EF621884E62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3997701" y="4862496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51CAA25C-DDD5-D143-AAC8-1C7FE9D5D395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4015437" y="5557815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517971" y="1216313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307CC22A-CCC6-4D44-DC02-EC51BC3A8FF1}"/>
              </a:ext>
            </a:extLst>
          </p:cNvPr>
          <p:cNvSpPr txBox="1"/>
          <p:nvPr/>
        </p:nvSpPr>
        <p:spPr>
          <a:xfrm>
            <a:off x="524504" y="340734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算力节点横向互连，节点距离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m-km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0CFD5E0F-4B52-B447-DC64-8BCCDD773497}"/>
              </a:ext>
            </a:extLst>
          </p:cNvPr>
          <p:cNvSpPr txBox="1"/>
          <p:nvPr/>
        </p:nvSpPr>
        <p:spPr>
          <a:xfrm>
            <a:off x="1740008" y="454692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FADDC3B0-6DA2-BF31-64AF-8CF9B00BC950}"/>
              </a:ext>
            </a:extLst>
          </p:cNvPr>
          <p:cNvSpPr txBox="1"/>
          <p:nvPr/>
        </p:nvSpPr>
        <p:spPr>
          <a:xfrm>
            <a:off x="3650832" y="3875473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B4381F0-6385-7155-90BC-E113A0D58E3E}"/>
              </a:ext>
            </a:extLst>
          </p:cNvPr>
          <p:cNvSpPr/>
          <p:nvPr/>
        </p:nvSpPr>
        <p:spPr>
          <a:xfrm>
            <a:off x="3976523" y="4833823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D2ACD24C-DC11-905E-59FC-8D62AF0EA919}"/>
              </a:ext>
            </a:extLst>
          </p:cNvPr>
          <p:cNvSpPr/>
          <p:nvPr/>
        </p:nvSpPr>
        <p:spPr>
          <a:xfrm>
            <a:off x="4193602" y="483139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C18357BC-3F63-6843-F6E2-D9EBA1CEB9DC}"/>
              </a:ext>
            </a:extLst>
          </p:cNvPr>
          <p:cNvSpPr/>
          <p:nvPr/>
        </p:nvSpPr>
        <p:spPr>
          <a:xfrm>
            <a:off x="3996784" y="553269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10254AE5-0E3D-67E0-2C31-7239AF43B9E9}"/>
              </a:ext>
            </a:extLst>
          </p:cNvPr>
          <p:cNvSpPr/>
          <p:nvPr/>
        </p:nvSpPr>
        <p:spPr>
          <a:xfrm>
            <a:off x="4187014" y="5536426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99BEF00D-A311-4A2F-ABF3-7028A3277BCA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3648988" y="4245445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AA271BE-1061-84A3-ED4E-E3A98ABCDC04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3648986" y="4484669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44F8BD5D-885F-5D2A-0CA0-D9A0E7A38FDB}"/>
              </a:ext>
            </a:extLst>
          </p:cNvPr>
          <p:cNvSpPr/>
          <p:nvPr/>
        </p:nvSpPr>
        <p:spPr>
          <a:xfrm>
            <a:off x="376252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3EB20156-49FA-55E4-9448-5E547D25DD1D}"/>
              </a:ext>
            </a:extLst>
          </p:cNvPr>
          <p:cNvSpPr/>
          <p:nvPr/>
        </p:nvSpPr>
        <p:spPr>
          <a:xfrm>
            <a:off x="4397965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241747D7-1124-AD73-DCA4-77F760129B8E}"/>
              </a:ext>
            </a:extLst>
          </p:cNvPr>
          <p:cNvSpPr/>
          <p:nvPr/>
        </p:nvSpPr>
        <p:spPr>
          <a:xfrm>
            <a:off x="3772919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5F2B61BA-A6D0-1BFF-7A8A-F4D239368D02}"/>
              </a:ext>
            </a:extLst>
          </p:cNvPr>
          <p:cNvSpPr/>
          <p:nvPr/>
        </p:nvSpPr>
        <p:spPr>
          <a:xfrm>
            <a:off x="4397965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4BD645E1-DBA2-9092-4037-290998D12919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3673074" y="5925498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5F8B2C4A-B844-DB33-4313-F9862FC4604B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3673076" y="5676135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06BFBAF6-BB0E-110D-8340-AC47E13EA642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4443684" y="4245445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C47C1FA2-C111-191C-83B1-90BB94340221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4443685" y="4486869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BC4D1D81-190D-3FC9-804D-4F913A0ED43A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4443684" y="5676134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59CDD64F-D41D-B90D-F7AE-16A5A4D6B7AB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4443684" y="5925499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E019D128-B110-E1F6-F93C-393F61EFD1FC}"/>
              </a:ext>
            </a:extLst>
          </p:cNvPr>
          <p:cNvSpPr/>
          <p:nvPr/>
        </p:nvSpPr>
        <p:spPr>
          <a:xfrm>
            <a:off x="3924503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46477D02-129D-9C2E-3C6D-3D63152685CC}"/>
              </a:ext>
            </a:extLst>
          </p:cNvPr>
          <p:cNvSpPr/>
          <p:nvPr/>
        </p:nvSpPr>
        <p:spPr>
          <a:xfrm>
            <a:off x="423685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CE296847-4533-FE03-DDEF-186ACA1F2F7C}"/>
              </a:ext>
            </a:extLst>
          </p:cNvPr>
          <p:cNvSpPr/>
          <p:nvPr/>
        </p:nvSpPr>
        <p:spPr>
          <a:xfrm>
            <a:off x="3941539" y="590499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A8F5EE82-693E-5C52-8962-C9BB8646C1C4}"/>
              </a:ext>
            </a:extLst>
          </p:cNvPr>
          <p:cNvSpPr/>
          <p:nvPr/>
        </p:nvSpPr>
        <p:spPr>
          <a:xfrm>
            <a:off x="4235095" y="590353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8CA6890F-0E0A-CF01-E0A9-FD6A4C85E4F6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3808246" y="4484669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17347AFC-CFE7-8F29-9F3C-8251712DC8F8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4282576" y="4484669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A2AE2BB6-1762-6CCE-48CE-CEA3ACC6982C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3818638" y="5925498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19592682-4EE0-79D5-8595-F5CAF7E47AA7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4280814" y="5925498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540317" y="3852677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4A65848-8AB1-1F19-6C1C-4ED8B41ABC64}"/>
              </a:ext>
            </a:extLst>
          </p:cNvPr>
          <p:cNvSpPr txBox="1"/>
          <p:nvPr/>
        </p:nvSpPr>
        <p:spPr>
          <a:xfrm>
            <a:off x="5970588" y="827088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功耗、速率、距离取舍：光模块在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优先适配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C4906E-4DD0-5C1B-5F74-952C95DE35EE}"/>
              </a:ext>
            </a:extLst>
          </p:cNvPr>
          <p:cNvSpPr txBox="1"/>
          <p:nvPr/>
        </p:nvSpPr>
        <p:spPr>
          <a:xfrm>
            <a:off x="6073775" y="1343025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暂不适配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：光互联功耗随速度增长显著上升，如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GB200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NVL72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因光学链路功耗过高（每机架增加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~17%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）优先采用铜互连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606CEB-1682-03C9-E149-9FF0E42FB554}"/>
              </a:ext>
            </a:extLst>
          </p:cNvPr>
          <p:cNvSpPr txBox="1"/>
          <p:nvPr/>
        </p:nvSpPr>
        <p:spPr>
          <a:xfrm>
            <a:off x="3992284" y="3875472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0B80D1-6C3C-D771-C2F3-FA892D198EF1}"/>
              </a:ext>
            </a:extLst>
          </p:cNvPr>
          <p:cNvSpPr txBox="1"/>
          <p:nvPr/>
        </p:nvSpPr>
        <p:spPr>
          <a:xfrm>
            <a:off x="3669264" y="6197720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83806E-9EE7-3795-8A20-D55B7F534211}"/>
              </a:ext>
            </a:extLst>
          </p:cNvPr>
          <p:cNvSpPr txBox="1"/>
          <p:nvPr/>
        </p:nvSpPr>
        <p:spPr>
          <a:xfrm>
            <a:off x="4010716" y="6197719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ED8DF3-CDD1-2C5A-19A1-C1EF94DB9D06}"/>
              </a:ext>
            </a:extLst>
          </p:cNvPr>
          <p:cNvSpPr txBox="1"/>
          <p:nvPr/>
        </p:nvSpPr>
        <p:spPr>
          <a:xfrm>
            <a:off x="6067426" y="3759200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适配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：标配速率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112Gbps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下，超过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2.5m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的连接需采用光互连取代铜互连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508" name="Chart 3">
            <a:extLst>
              <a:ext uri="{FF2B5EF4-FFF2-40B4-BE49-F238E27FC236}">
                <a16:creationId xmlns:a16="http://schemas.microsoft.com/office/drawing/2014/main" id="{FA1AC864-6FAB-059E-50CE-17954B4F3A3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361113" y="2249488"/>
          <a:ext cx="435927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cxnSp>
        <p:nvCxnSpPr>
          <p:cNvPr id="3420" name="直接连接符 3419">
            <a:extLst>
              <a:ext uri="{FF2B5EF4-FFF2-40B4-BE49-F238E27FC236}">
                <a16:creationId xmlns:a16="http://schemas.microsoft.com/office/drawing/2014/main" id="{E71E3D05-6A33-7773-BA49-51257001D1B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9826625" y="2133600"/>
            <a:ext cx="0" cy="5667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1" name="直接连接符 3420">
            <a:extLst>
              <a:ext uri="{FF2B5EF4-FFF2-40B4-BE49-F238E27FC236}">
                <a16:creationId xmlns:a16="http://schemas.microsoft.com/office/drawing/2014/main" id="{5B84EBF7-2C92-2DAD-6034-14000105592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826625" y="2133600"/>
            <a:ext cx="539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2" name="直接连接符 3421">
            <a:extLst>
              <a:ext uri="{FF2B5EF4-FFF2-40B4-BE49-F238E27FC236}">
                <a16:creationId xmlns:a16="http://schemas.microsoft.com/office/drawing/2014/main" id="{D8D33B67-1750-FF43-EE1E-E19CBB56598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366375" y="2133600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4" name="Text Placeholder 4">
            <a:extLst>
              <a:ext uri="{FF2B5EF4-FFF2-40B4-BE49-F238E27FC236}">
                <a16:creationId xmlns:a16="http://schemas.microsoft.com/office/drawing/2014/main" id="{253AB414-7BD6-3A73-D691-C950BD81498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70725" y="3405188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475EC3-683F-4F67-8116-B29F93B345CD}" type="datetime'''''''''''''''''''''''''''''''1''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99" name="Text Placeholder 4">
            <a:extLst>
              <a:ext uri="{FF2B5EF4-FFF2-40B4-BE49-F238E27FC236}">
                <a16:creationId xmlns:a16="http://schemas.microsoft.com/office/drawing/2014/main" id="{E7840E24-434E-3780-2EE5-764CC4AD565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56126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042603C-FF20-45F3-91FB-FD2CAC855BA2}" type="datetime'''''''''''''''''''''''''''''''''''''''''''1''''''''''''0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0" name="Text Placeholder 4">
            <a:extLst>
              <a:ext uri="{FF2B5EF4-FFF2-40B4-BE49-F238E27FC236}">
                <a16:creationId xmlns:a16="http://schemas.microsoft.com/office/drawing/2014/main" id="{A3911066-BE52-7303-04E0-505703F75C2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0101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28959A9-BB07-4F93-9DCE-40E63A7CAF1A}" type="datetime'4''''''''''''''''''''''''''''''''''''''''''0'''''">
              <a:rPr lang="zh-CN" altLang="en-US" sz="1400" smtClean="0">
                <a:cs typeface="+mn-cs"/>
              </a:rPr>
              <a:pPr/>
              <a:t>40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6" name="Text Placeholder 4">
            <a:extLst>
              <a:ext uri="{FF2B5EF4-FFF2-40B4-BE49-F238E27FC236}">
                <a16:creationId xmlns:a16="http://schemas.microsoft.com/office/drawing/2014/main" id="{B97F7A6B-30A2-E594-DBB7-4A3DA25C836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931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07D7B08-8A28-4D1D-8757-D8078690525A}" type="datetime'''''''''''''''''''''10''''''''''''''''''''0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8" name="Text Placeholder 4">
            <a:extLst>
              <a:ext uri="{FF2B5EF4-FFF2-40B4-BE49-F238E27FC236}">
                <a16:creationId xmlns:a16="http://schemas.microsoft.com/office/drawing/2014/main" id="{05DB308F-FA69-3314-31E0-E89CF144E80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28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3AD261-03C4-4BCF-B050-8E555F298E3C}" type="datetime'2''''''''''''''''''''''''''0''''''''''''0''''''''''''''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9" name="Text Placeholder 4">
            <a:extLst>
              <a:ext uri="{FF2B5EF4-FFF2-40B4-BE49-F238E27FC236}">
                <a16:creationId xmlns:a16="http://schemas.microsoft.com/office/drawing/2014/main" id="{37DFAD35-8097-A506-CD76-8448801E7D5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6726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61BDB9E-66BC-4B87-BBF4-A6287BDED399}" type="datetime'''4''''''''''''''''''''''''''''0''''''0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11" name="Text Placeholder 4">
            <a:extLst>
              <a:ext uri="{FF2B5EF4-FFF2-40B4-BE49-F238E27FC236}">
                <a16:creationId xmlns:a16="http://schemas.microsoft.com/office/drawing/2014/main" id="{4884ECF0-94CC-A735-B56E-42D392C9A740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2123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0B71B0D-2E04-4E15-8B39-833BDE05E7D6}" type="datetime'''''''''''''''''8''0''0''''''''''''''''''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19" name="Text Placeholder 4">
            <a:extLst>
              <a:ext uri="{FF2B5EF4-FFF2-40B4-BE49-F238E27FC236}">
                <a16:creationId xmlns:a16="http://schemas.microsoft.com/office/drawing/2014/main" id="{47EC424C-DB68-6E95-050F-AF40622A358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72650" y="19827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54794A5-5734-4ECA-8C79-69548A450634}" type="datetime'''''+''''''''''''''''''''''''''7''''''''''''''1''%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+71%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10" name="Text Placeholder 4">
            <a:extLst>
              <a:ext uri="{FF2B5EF4-FFF2-40B4-BE49-F238E27FC236}">
                <a16:creationId xmlns:a16="http://schemas.microsoft.com/office/drawing/2014/main" id="{0E40B645-51C6-625E-F7A8-FE35E0F7B3D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705475" y="2149475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Power(w)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17" name="Text Placeholder 4">
            <a:extLst>
              <a:ext uri="{FF2B5EF4-FFF2-40B4-BE49-F238E27FC236}">
                <a16:creationId xmlns:a16="http://schemas.microsoft.com/office/drawing/2014/main" id="{67482C71-D007-C778-E341-F0E441B415E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61600" y="321786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Optical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97" name="文本框 3496">
            <a:extLst>
              <a:ext uri="{FF2B5EF4-FFF2-40B4-BE49-F238E27FC236}">
                <a16:creationId xmlns:a16="http://schemas.microsoft.com/office/drawing/2014/main" id="{06A7B8BE-5A73-76E6-FD60-98CB7C22E236}"/>
              </a:ext>
            </a:extLst>
          </p:cNvPr>
          <p:cNvSpPr txBox="1"/>
          <p:nvPr/>
        </p:nvSpPr>
        <p:spPr>
          <a:xfrm>
            <a:off x="550345" y="65474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04" name="圆角矩形 1636">
            <a:extLst>
              <a:ext uri="{FF2B5EF4-FFF2-40B4-BE49-F238E27FC236}">
                <a16:creationId xmlns:a16="http://schemas.microsoft.com/office/drawing/2014/main" id="{65A8A2F0-74DB-B094-042B-43018D948C42}"/>
              </a:ext>
            </a:extLst>
          </p:cNvPr>
          <p:cNvSpPr/>
          <p:nvPr/>
        </p:nvSpPr>
        <p:spPr>
          <a:xfrm>
            <a:off x="447166" y="1207041"/>
            <a:ext cx="5096385" cy="2060430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5" name="圆角矩形 1636">
            <a:extLst>
              <a:ext uri="{FF2B5EF4-FFF2-40B4-BE49-F238E27FC236}">
                <a16:creationId xmlns:a16="http://schemas.microsoft.com/office/drawing/2014/main" id="{6641A744-FDB3-C840-74A4-1DB9B9F0ED0C}"/>
              </a:ext>
            </a:extLst>
          </p:cNvPr>
          <p:cNvSpPr/>
          <p:nvPr/>
        </p:nvSpPr>
        <p:spPr>
          <a:xfrm>
            <a:off x="448597" y="3791594"/>
            <a:ext cx="5096385" cy="2767204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6" name="圆角矩形 1636">
            <a:extLst>
              <a:ext uri="{FF2B5EF4-FFF2-40B4-BE49-F238E27FC236}">
                <a16:creationId xmlns:a16="http://schemas.microsoft.com/office/drawing/2014/main" id="{D008739D-E2A5-1365-B4F1-682DDB494263}"/>
              </a:ext>
            </a:extLst>
          </p:cNvPr>
          <p:cNvSpPr/>
          <p:nvPr/>
        </p:nvSpPr>
        <p:spPr>
          <a:xfrm>
            <a:off x="5907128" y="1171575"/>
            <a:ext cx="5813425" cy="5387975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8D5FE462-E8BB-BAE3-1EAB-E88F572FD6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3487817"/>
              </p:ext>
            </p:extLst>
          </p:nvPr>
        </p:nvGraphicFramePr>
        <p:xfrm>
          <a:off x="6582340" y="4676980"/>
          <a:ext cx="4748919" cy="1848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2BB82E9-6F06-621E-9890-98E0A4B81DAE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179524" y="4324490"/>
            <a:ext cx="749316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有效传输距离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(m)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文本框 20">
            <a:extLst>
              <a:ext uri="{FF2B5EF4-FFF2-40B4-BE49-F238E27FC236}">
                <a16:creationId xmlns:a16="http://schemas.microsoft.com/office/drawing/2014/main" id="{099BD3A1-5B52-4471-0C3E-C1BB75CDF116}"/>
              </a:ext>
            </a:extLst>
          </p:cNvPr>
          <p:cNvSpPr txBox="1"/>
          <p:nvPr/>
        </p:nvSpPr>
        <p:spPr>
          <a:xfrm>
            <a:off x="8136117" y="5395146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5"/>
                </a:solidFill>
              </a:rPr>
              <a:t>2.5m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DA5EB69-B16A-B284-5D04-3AECFBE71925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8038523" y="5532695"/>
            <a:ext cx="1588143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112G</a:t>
            </a:r>
            <a:r>
              <a: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铜互联极限距离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CDCF2D6-A603-B76C-698C-34E990D3ADD9}"/>
              </a:ext>
            </a:extLst>
          </p:cNvPr>
          <p:cNvGrpSpPr/>
          <p:nvPr/>
        </p:nvGrpSpPr>
        <p:grpSpPr>
          <a:xfrm>
            <a:off x="9126671" y="4237860"/>
            <a:ext cx="2205368" cy="664684"/>
            <a:chOff x="9291269" y="4103451"/>
            <a:chExt cx="2205368" cy="664684"/>
          </a:xfrm>
        </p:grpSpPr>
        <p:sp>
          <p:nvSpPr>
            <p:cNvPr id="13" name="文本框 20">
              <a:extLst>
                <a:ext uri="{FF2B5EF4-FFF2-40B4-BE49-F238E27FC236}">
                  <a16:creationId xmlns:a16="http://schemas.microsoft.com/office/drawing/2014/main" id="{7A03F8E2-A4CE-9C03-7B17-74482F8350CA}"/>
                </a:ext>
              </a:extLst>
            </p:cNvPr>
            <p:cNvSpPr txBox="1"/>
            <p:nvPr/>
          </p:nvSpPr>
          <p:spPr>
            <a:xfrm>
              <a:off x="9291269" y="4103451"/>
              <a:ext cx="976311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&gt;&gt;50m</a:t>
              </a:r>
            </a:p>
          </p:txBody>
        </p:sp>
        <p:sp>
          <p:nvSpPr>
            <p:cNvPr id="14" name="Text Placeholder 4">
              <a:extLst>
                <a:ext uri="{FF2B5EF4-FFF2-40B4-BE49-F238E27FC236}">
                  <a16:creationId xmlns:a16="http://schemas.microsoft.com/office/drawing/2014/main" id="{68C5448C-1994-6F6F-924C-1D89F9F3D8C9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9291269" y="4246920"/>
              <a:ext cx="2205368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200G</a:t>
              </a:r>
              <a:r>
                <a:rPr lang="zh-CN"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光互联极限距离</a:t>
              </a:r>
              <a:r>
                <a:rPr lang="en-US" altLang="zh-CN" sz="1200" baseline="300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alt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椭圆 14">
            <a:extLst>
              <a:ext uri="{FF2B5EF4-FFF2-40B4-BE49-F238E27FC236}">
                <a16:creationId xmlns:a16="http://schemas.microsoft.com/office/drawing/2014/main" id="{C0F54E99-ECF7-E01A-4F26-8DAAD111A4DA}"/>
              </a:ext>
            </a:extLst>
          </p:cNvPr>
          <p:cNvSpPr/>
          <p:nvPr/>
        </p:nvSpPr>
        <p:spPr>
          <a:xfrm>
            <a:off x="8136117" y="6013379"/>
            <a:ext cx="84667" cy="84667"/>
          </a:xfrm>
          <a:prstGeom prst="ellipse">
            <a:avLst/>
          </a:prstGeom>
          <a:solidFill>
            <a:schemeClr val="accent5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0657BFE-BE11-F226-C257-F555ACE2DE8D}"/>
              </a:ext>
            </a:extLst>
          </p:cNvPr>
          <p:cNvCxnSpPr>
            <a:cxnSpLocks/>
          </p:cNvCxnSpPr>
          <p:nvPr/>
        </p:nvCxnSpPr>
        <p:spPr>
          <a:xfrm>
            <a:off x="6968958" y="4362986"/>
            <a:ext cx="0" cy="468413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359E7C0-BD44-B355-7D32-2011EC5B0F69}"/>
              </a:ext>
            </a:extLst>
          </p:cNvPr>
          <p:cNvSpPr/>
          <p:nvPr/>
        </p:nvSpPr>
        <p:spPr>
          <a:xfrm>
            <a:off x="8952837" y="4320652"/>
            <a:ext cx="84667" cy="84667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E86B759-06A3-2E70-C1FB-06F597E6E80B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0122025" y="5663497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cs"/>
              </a:rPr>
              <a:t>Copper Link Speed(Gbps)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6F41FC3-EE56-F01E-3D4D-57DCD38910F9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6964316" y="4362986"/>
            <a:ext cx="1988521" cy="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DC9C052-AB63-9394-0B58-63DA987DA921}"/>
              </a:ext>
            </a:extLst>
          </p:cNvPr>
          <p:cNvCxnSpPr>
            <a:cxnSpLocks/>
            <a:stCxn id="15" idx="2"/>
          </p:cNvCxnSpPr>
          <p:nvPr/>
        </p:nvCxnSpPr>
        <p:spPr>
          <a:xfrm flipH="1" flipV="1">
            <a:off x="6964316" y="6030912"/>
            <a:ext cx="1171801" cy="24801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1" name="矩形 3140">
            <a:extLst>
              <a:ext uri="{FF2B5EF4-FFF2-40B4-BE49-F238E27FC236}">
                <a16:creationId xmlns:a16="http://schemas.microsoft.com/office/drawing/2014/main" id="{083BC268-5829-F7BC-DD26-9637B32283D1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BB3A9B-818E-F667-618E-D849C49442E8}"/>
              </a:ext>
            </a:extLst>
          </p:cNvPr>
          <p:cNvSpPr/>
          <p:nvPr/>
        </p:nvSpPr>
        <p:spPr>
          <a:xfrm>
            <a:off x="12350187" y="1273215"/>
            <a:ext cx="6258825" cy="30474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和损耗的关系。时间轴线决于区域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国内</a:t>
            </a:r>
            <a:r>
              <a:rPr lang="en-US" altLang="zh-CN" dirty="0" err="1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弱导致必须在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上堆和用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，国外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场景还可以压榨铜的极限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关键指标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109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巨头并行布局 </a:t>
            </a:r>
            <a:r>
              <a:rPr lang="en-US" altLang="zh-CN" dirty="0"/>
              <a:t>Scale Out</a:t>
            </a:r>
            <a:r>
              <a:rPr lang="zh-CN" altLang="en-US" dirty="0"/>
              <a:t>与 </a:t>
            </a:r>
            <a:r>
              <a:rPr lang="en-US" altLang="zh-CN" dirty="0"/>
              <a:t>Scale Up</a:t>
            </a:r>
            <a:r>
              <a:rPr lang="zh-CN" altLang="en-US" dirty="0"/>
              <a:t>，</a:t>
            </a:r>
            <a:r>
              <a:rPr lang="en-US" altLang="zh-CN" dirty="0"/>
              <a:t>CPO</a:t>
            </a:r>
            <a:r>
              <a:rPr lang="zh-CN" altLang="en-US" dirty="0"/>
              <a:t>落地</a:t>
            </a:r>
            <a:r>
              <a:rPr lang="en-US" altLang="zh-CN" dirty="0"/>
              <a:t>1-2</a:t>
            </a:r>
            <a:r>
              <a:rPr lang="zh-CN" altLang="en-US" dirty="0"/>
              <a:t>年内看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InfiniBand 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686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Rubin 288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en-US" altLang="zh-CN" sz="1400" dirty="0"/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整机交付为主</a:t>
            </a:r>
            <a:endParaRPr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Scale Out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06D0C-63E0-E1ED-5D8B-710370B55FE3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3020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2471448" y="2887779"/>
            <a:ext cx="2329827" cy="266356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具体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model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无法找到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补齐逻辑链条，量级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、谷歌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规划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HPC=&gt;CPO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，临界点万卡（量级）以上必须用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估值公式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专家访谈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万卡集群扩展支撑</a:t>
            </a:r>
            <a:r>
              <a:rPr lang="en-US" altLang="zh-CN" dirty="0"/>
              <a:t>CPO</a:t>
            </a:r>
            <a:r>
              <a:rPr lang="zh-CN" altLang="en-US" dirty="0"/>
              <a:t>百亿级市场</a:t>
            </a:r>
            <a:endParaRPr lang="en-US" altLang="zh-CN" dirty="0"/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NVIDIA Rubin＋Broadcom TH7 开始全面替换高端可插拔模块，渗透率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假设 CPO 方案在 800G</a:t>
                </a:r>
                <a:r>
                  <a:rPr kumimoji="1" lang="en-US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/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1.6T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/>
                  <a:t>只在极高端 AI 集群试点，渗透率≤15 % （渗透难点）</a:t>
                </a:r>
                <a:endParaRPr lang="zh-CN" altLang="zh-CN" dirty="0"/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531791" y="2350374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① 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潜在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端口数：</a:t>
            </a:r>
            <a:r>
              <a:rPr lang="zh-CN" altLang="zh-CN" sz="1600" b="1" dirty="0">
                <a:solidFill>
                  <a:schemeClr val="accent6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</a:rPr>
              <a:t>AI/HPC GPU＋交换机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kumimoji="1" lang="zh-CN" altLang="zh-CN" sz="1600" dirty="0">
                <a:solidFill>
                  <a:schemeClr val="accent6">
                    <a:lumMod val="10000"/>
                  </a:schemeClr>
                </a:solidFill>
              </a:rPr>
              <a:t>需要 800 G/1.6 T端口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数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~ 2030E 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亿级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dirty="0">
                <a:solidFill>
                  <a:srgbClr val="0052D9"/>
                </a:solidFill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5E0D94-A845-FF91-EE9E-7AB523459935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B2425D9-C516-09AD-5E94-049557EDF712}"/>
              </a:ext>
            </a:extLst>
          </p:cNvPr>
          <p:cNvSpPr txBox="1"/>
          <p:nvPr/>
        </p:nvSpPr>
        <p:spPr>
          <a:xfrm>
            <a:off x="298001" y="1354549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规模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7BAE9F-9823-B237-4957-68FCA5F5A095}"/>
              </a:ext>
            </a:extLst>
          </p:cNvPr>
          <p:cNvSpPr txBox="1"/>
          <p:nvPr/>
        </p:nvSpPr>
        <p:spPr>
          <a:xfrm>
            <a:off x="1365555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=</a:t>
            </a:r>
            <a:endParaRPr kumimoji="1" lang="zh-CN" altLang="zh-CN" sz="1600" dirty="0">
              <a:solidFill>
                <a:srgbClr val="0052D9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DACD5B-DE16-69DE-2066-BC3879A9CC55}"/>
              </a:ext>
            </a:extLst>
          </p:cNvPr>
          <p:cNvSpPr txBox="1"/>
          <p:nvPr/>
        </p:nvSpPr>
        <p:spPr>
          <a:xfrm>
            <a:off x="1812547" y="1297470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潜在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端口数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D7279-47FF-2F21-0A47-281BCE8ECF50}"/>
              </a:ext>
            </a:extLst>
          </p:cNvPr>
          <p:cNvSpPr txBox="1"/>
          <p:nvPr/>
        </p:nvSpPr>
        <p:spPr>
          <a:xfrm>
            <a:off x="3330591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×</a:t>
            </a:r>
            <a:endParaRPr kumimoji="1" lang="zh-CN" altLang="zh-CN" sz="1600" b="1" dirty="0">
              <a:solidFill>
                <a:srgbClr val="0052D9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438D37-34DE-F2B2-50A8-7BE8D5349F7D}"/>
              </a:ext>
            </a:extLst>
          </p:cNvPr>
          <p:cNvSpPr txBox="1"/>
          <p:nvPr/>
        </p:nvSpPr>
        <p:spPr>
          <a:xfrm>
            <a:off x="3695892" y="1297470"/>
            <a:ext cx="102951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渗透率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6084F8-3C2E-95F7-D987-4E998EAC842D}"/>
              </a:ext>
            </a:extLst>
          </p:cNvPr>
          <p:cNvSpPr txBox="1"/>
          <p:nvPr/>
        </p:nvSpPr>
        <p:spPr>
          <a:xfrm>
            <a:off x="4536869" y="1354549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</a:rPr>
              <a:t>×</a:t>
            </a:r>
            <a:endParaRPr kumimoji="1" lang="zh-CN" altLang="zh-CN" sz="1600" b="1" dirty="0">
              <a:solidFill>
                <a:srgbClr val="0052D9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4EFB10A-3910-C3DA-C6B6-9D01AAFD7F45}"/>
              </a:ext>
            </a:extLst>
          </p:cNvPr>
          <p:cNvSpPr txBox="1"/>
          <p:nvPr/>
        </p:nvSpPr>
        <p:spPr>
          <a:xfrm>
            <a:off x="4878167" y="1354549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单价</a:t>
            </a:r>
            <a:endParaRPr kumimoji="1" lang="zh-CN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D970D7C-F5F9-ECFD-AD67-E3D4600CD30E}"/>
              </a:ext>
            </a:extLst>
          </p:cNvPr>
          <p:cNvSpPr txBox="1"/>
          <p:nvPr/>
        </p:nvSpPr>
        <p:spPr>
          <a:xfrm>
            <a:off x="2368730" y="1643914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①</a:t>
            </a:r>
            <a:endParaRPr kumimoji="1" lang="zh-CN" altLang="zh-CN" sz="1600" dirty="0">
              <a:solidFill>
                <a:srgbClr val="0052D9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93D6221-5B57-F054-67C1-B25529A7F405}"/>
              </a:ext>
            </a:extLst>
          </p:cNvPr>
          <p:cNvSpPr txBox="1"/>
          <p:nvPr/>
        </p:nvSpPr>
        <p:spPr>
          <a:xfrm>
            <a:off x="3401547" y="1643914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②</a:t>
            </a:r>
            <a:endParaRPr kumimoji="1" lang="zh-CN" altLang="zh-CN" sz="1600" dirty="0">
              <a:solidFill>
                <a:srgbClr val="0052D9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5AE4E23-3BC8-BD0D-4C64-FA8CA2612388}"/>
              </a:ext>
            </a:extLst>
          </p:cNvPr>
          <p:cNvSpPr/>
          <p:nvPr/>
        </p:nvSpPr>
        <p:spPr>
          <a:xfrm>
            <a:off x="1812547" y="1102824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BFDE41-5061-F099-1BC2-01148CE5B2EA}"/>
              </a:ext>
            </a:extLst>
          </p:cNvPr>
          <p:cNvSpPr/>
          <p:nvPr/>
        </p:nvSpPr>
        <p:spPr>
          <a:xfrm>
            <a:off x="3770013" y="1104123"/>
            <a:ext cx="846345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337F170-FF3C-B0FB-45C8-D91B37556731}"/>
              </a:ext>
            </a:extLst>
          </p:cNvPr>
          <p:cNvSpPr txBox="1"/>
          <p:nvPr/>
        </p:nvSpPr>
        <p:spPr>
          <a:xfrm>
            <a:off x="531791" y="462851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新建优先渗透：为避免重置成本，新建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对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的态度为能用则用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Amazon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、谷歌、</a:t>
            </a:r>
            <a:r>
              <a:rPr kumimoji="1" lang="en-US" altLang="zh-CN" sz="1600" dirty="0" err="1">
                <a:solidFill>
                  <a:schemeClr val="tx1">
                    <a:lumMod val="50000"/>
                  </a:schemeClr>
                </a:solidFill>
              </a:rPr>
              <a:t>xAI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建立十万卡集群，必须用光互连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349C5BE-A87A-77D9-6DB7-D19BE60C5476}"/>
              </a:ext>
            </a:extLst>
          </p:cNvPr>
          <p:cNvSpPr/>
          <p:nvPr/>
        </p:nvSpPr>
        <p:spPr>
          <a:xfrm>
            <a:off x="531791" y="3337336"/>
            <a:ext cx="5269570" cy="1165403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HPC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集群中，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35%</a:t>
            </a:r>
            <a:r>
              <a:rPr lang="zh-CN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的连接方案已采用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CPO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博通高速互联系统架构师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5963EA-EBFF-93D4-982F-2F493F18C7FF}"/>
              </a:ext>
            </a:extLst>
          </p:cNvPr>
          <p:cNvSpPr txBox="1"/>
          <p:nvPr/>
        </p:nvSpPr>
        <p:spPr>
          <a:xfrm>
            <a:off x="436729" y="2873004"/>
            <a:ext cx="7406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dirty="0">
                <a:solidFill>
                  <a:srgbClr val="0052D9"/>
                </a:solidFill>
              </a:rPr>
              <a:t>②</a:t>
            </a:r>
            <a:r>
              <a:rPr kumimoji="1" lang="en-US" altLang="zh-CN" sz="1600" dirty="0">
                <a:solidFill>
                  <a:srgbClr val="0052D9"/>
                </a:solidFill>
              </a:rPr>
              <a:t> 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渗透率：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集群新建支撑高渗透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E3CE0BBF-9994-4AD6-A649-87D5C200EC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98237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C629704D-1A6E-BBDB-6238-F9A20602735C}"/>
              </a:ext>
            </a:extLst>
          </p:cNvPr>
          <p:cNvCxnSpPr/>
          <p:nvPr/>
        </p:nvCxnSpPr>
        <p:spPr>
          <a:xfrm>
            <a:off x="7124896" y="4070145"/>
            <a:ext cx="1678903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2741E33D-4C1A-087D-3EF4-F5DCF13D57DD}"/>
              </a:ext>
            </a:extLst>
          </p:cNvPr>
          <p:cNvCxnSpPr/>
          <p:nvPr/>
        </p:nvCxnSpPr>
        <p:spPr>
          <a:xfrm flipV="1">
            <a:off x="3582182" y="1229210"/>
            <a:ext cx="1853989" cy="12637"/>
          </a:xfrm>
          <a:prstGeom prst="line">
            <a:avLst/>
          </a:prstGeom>
          <a:ln w="9525"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D268B22-3EAF-1933-4115-BF6BB0FC43E7}"/>
              </a:ext>
            </a:extLst>
          </p:cNvPr>
          <p:cNvCxnSpPr>
            <a:cxnSpLocks/>
          </p:cNvCxnSpPr>
          <p:nvPr/>
        </p:nvCxnSpPr>
        <p:spPr>
          <a:xfrm flipV="1">
            <a:off x="7124896" y="1223335"/>
            <a:ext cx="1674011" cy="11410"/>
          </a:xfrm>
          <a:prstGeom prst="line">
            <a:avLst/>
          </a:prstGeom>
          <a:ln>
            <a:solidFill>
              <a:srgbClr val="CCD4E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70FEAFA-E06E-5A7A-CA01-0895CABDEF00}"/>
              </a:ext>
            </a:extLst>
          </p:cNvPr>
          <p:cNvSpPr/>
          <p:nvPr/>
        </p:nvSpPr>
        <p:spPr>
          <a:xfrm>
            <a:off x="3579073" y="2945117"/>
            <a:ext cx="1853988" cy="8992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9525">
            <a:solidFill>
              <a:srgbClr val="CCD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AA71F9C8-F50B-1308-03B2-9A7EEE39101E}"/>
              </a:ext>
            </a:extLst>
          </p:cNvPr>
          <p:cNvSpPr/>
          <p:nvPr/>
        </p:nvSpPr>
        <p:spPr>
          <a:xfrm>
            <a:off x="3582182" y="2993641"/>
            <a:ext cx="1852659" cy="109306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EC33A5F9-CDF6-8B7D-A3D6-B5F1EE25EA3F}"/>
              </a:ext>
            </a:extLst>
          </p:cNvPr>
          <p:cNvSpPr/>
          <p:nvPr/>
        </p:nvSpPr>
        <p:spPr>
          <a:xfrm>
            <a:off x="3580401" y="3458759"/>
            <a:ext cx="1852659" cy="1995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2F89B20D-B8BC-A9BD-987D-1CE6DA464876}"/>
              </a:ext>
            </a:extLst>
          </p:cNvPr>
          <p:cNvSpPr/>
          <p:nvPr/>
        </p:nvSpPr>
        <p:spPr>
          <a:xfrm>
            <a:off x="3586623" y="3508535"/>
            <a:ext cx="1852659" cy="1995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61BA96D4-1B18-491D-66E6-4680133B0428}"/>
              </a:ext>
            </a:extLst>
          </p:cNvPr>
          <p:cNvSpPr/>
          <p:nvPr/>
        </p:nvSpPr>
        <p:spPr>
          <a:xfrm>
            <a:off x="3580400" y="4014154"/>
            <a:ext cx="1852659" cy="44536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9E5664A8-1909-945F-1018-E76109B5B04E}"/>
              </a:ext>
            </a:extLst>
          </p:cNvPr>
          <p:cNvSpPr/>
          <p:nvPr/>
        </p:nvSpPr>
        <p:spPr>
          <a:xfrm>
            <a:off x="3580400" y="4059985"/>
            <a:ext cx="1852659" cy="463976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2AEFBBAE-025A-B2C7-5AF7-046524164271}"/>
              </a:ext>
            </a:extLst>
          </p:cNvPr>
          <p:cNvSpPr/>
          <p:nvPr/>
        </p:nvSpPr>
        <p:spPr>
          <a:xfrm>
            <a:off x="7132623" y="2383416"/>
            <a:ext cx="1664503" cy="56107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CD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A6D336EE-0543-330F-BE26-E586D908A2F9}"/>
              </a:ext>
            </a:extLst>
          </p:cNvPr>
          <p:cNvSpPr/>
          <p:nvPr/>
        </p:nvSpPr>
        <p:spPr>
          <a:xfrm>
            <a:off x="7132623" y="2436153"/>
            <a:ext cx="1664503" cy="561075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9D664C8C-9E16-41EC-43E7-499498883AFD}"/>
              </a:ext>
            </a:extLst>
          </p:cNvPr>
          <p:cNvSpPr/>
          <p:nvPr/>
        </p:nvSpPr>
        <p:spPr>
          <a:xfrm>
            <a:off x="7128182" y="3084156"/>
            <a:ext cx="1672506" cy="37460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8AFE3ADF-5433-FFCC-3875-1DE784B0D2BE}"/>
              </a:ext>
            </a:extLst>
          </p:cNvPr>
          <p:cNvSpPr/>
          <p:nvPr/>
        </p:nvSpPr>
        <p:spPr>
          <a:xfrm>
            <a:off x="7131293" y="3136893"/>
            <a:ext cx="1672506" cy="37460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C1E1F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04E8B18E-88A0-BCAA-45C7-4EE7B9C43BA1}"/>
              </a:ext>
            </a:extLst>
          </p:cNvPr>
          <p:cNvCxnSpPr>
            <a:cxnSpLocks/>
          </p:cNvCxnSpPr>
          <p:nvPr/>
        </p:nvCxnSpPr>
        <p:spPr>
          <a:xfrm flipV="1">
            <a:off x="7131293" y="4011934"/>
            <a:ext cx="1665833" cy="3070"/>
          </a:xfrm>
          <a:prstGeom prst="line">
            <a:avLst/>
          </a:prstGeom>
          <a:ln>
            <a:solidFill>
              <a:srgbClr val="C1E1F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3187ED2-1948-F696-AA6D-2F00191AC35D}"/>
              </a:ext>
            </a:extLst>
          </p:cNvPr>
          <p:cNvSpPr/>
          <p:nvPr/>
        </p:nvSpPr>
        <p:spPr>
          <a:xfrm>
            <a:off x="5436171" y="3508536"/>
            <a:ext cx="1696452" cy="508319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光芯片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光源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15%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FDBCAE-7D21-6AD9-72CF-643FC3F3483C}"/>
              </a:ext>
            </a:extLst>
          </p:cNvPr>
          <p:cNvSpPr/>
          <p:nvPr/>
        </p:nvSpPr>
        <p:spPr>
          <a:xfrm>
            <a:off x="8798907" y="3138460"/>
            <a:ext cx="1696452" cy="87839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硅光芯片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光源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20%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EA29F5-B85E-9C3A-C776-CC26850F45F7}"/>
              </a:ext>
            </a:extLst>
          </p:cNvPr>
          <p:cNvSpPr/>
          <p:nvPr/>
        </p:nvSpPr>
        <p:spPr>
          <a:xfrm>
            <a:off x="1887060" y="4525527"/>
            <a:ext cx="1696452" cy="13600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AD96954-7025-3347-6507-86E08C12979D}"/>
              </a:ext>
            </a:extLst>
          </p:cNvPr>
          <p:cNvCxnSpPr>
            <a:cxnSpLocks/>
          </p:cNvCxnSpPr>
          <p:nvPr/>
        </p:nvCxnSpPr>
        <p:spPr>
          <a:xfrm flipV="1">
            <a:off x="1044399" y="5882580"/>
            <a:ext cx="10479997" cy="1189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F287F89-B6AC-F19F-C067-2B014E2E84DA}"/>
              </a:ext>
            </a:extLst>
          </p:cNvPr>
          <p:cNvSpPr txBox="1"/>
          <p:nvPr/>
        </p:nvSpPr>
        <p:spPr>
          <a:xfrm>
            <a:off x="1594728" y="786008"/>
            <a:ext cx="2278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铜互连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EF94ED-F03C-93FE-0760-B5F9FDFDDBB5}"/>
              </a:ext>
            </a:extLst>
          </p:cNvPr>
          <p:cNvSpPr txBox="1"/>
          <p:nvPr/>
        </p:nvSpPr>
        <p:spPr>
          <a:xfrm>
            <a:off x="4599165" y="786008"/>
            <a:ext cx="325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可插拔光模块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B85036-4D9C-BABA-F3E6-1B0422DCF3C0}"/>
              </a:ext>
            </a:extLst>
          </p:cNvPr>
          <p:cNvSpPr txBox="1"/>
          <p:nvPr/>
        </p:nvSpPr>
        <p:spPr>
          <a:xfrm>
            <a:off x="8425868" y="773571"/>
            <a:ext cx="244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CPO/OIO</a:t>
            </a:r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858BDA8-598E-7F0D-31B3-D9B5DB69D94D}"/>
              </a:ext>
            </a:extLst>
          </p:cNvPr>
          <p:cNvSpPr/>
          <p:nvPr/>
        </p:nvSpPr>
        <p:spPr>
          <a:xfrm>
            <a:off x="1885730" y="1241847"/>
            <a:ext cx="1696452" cy="17978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连接器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线缆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1ED416-8324-95E0-84F5-A9E27B4B1437}"/>
              </a:ext>
            </a:extLst>
          </p:cNvPr>
          <p:cNvSpPr/>
          <p:nvPr/>
        </p:nvSpPr>
        <p:spPr>
          <a:xfrm>
            <a:off x="1887060" y="3099484"/>
            <a:ext cx="1696452" cy="1360035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物理层接口芯片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（高速传输接口）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30%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6C877AC-DFA1-B3A6-3BDD-197638C97CDF}"/>
              </a:ext>
            </a:extLst>
          </p:cNvPr>
          <p:cNvSpPr/>
          <p:nvPr/>
        </p:nvSpPr>
        <p:spPr>
          <a:xfrm>
            <a:off x="5436171" y="2993641"/>
            <a:ext cx="1696452" cy="465118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电光接口芯片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10%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2C30F79-704D-EDCA-62DA-762FF5185B7A}"/>
              </a:ext>
            </a:extLst>
          </p:cNvPr>
          <p:cNvSpPr/>
          <p:nvPr/>
        </p:nvSpPr>
        <p:spPr>
          <a:xfrm>
            <a:off x="5436171" y="1229211"/>
            <a:ext cx="1696452" cy="17146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光模块盒子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35%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4B6B21-3EDF-5857-FF13-E9B3825AD96D}"/>
              </a:ext>
            </a:extLst>
          </p:cNvPr>
          <p:cNvSpPr/>
          <p:nvPr/>
        </p:nvSpPr>
        <p:spPr>
          <a:xfrm>
            <a:off x="5436171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9507488-9579-D735-186F-A4B19598F8C3}"/>
              </a:ext>
            </a:extLst>
          </p:cNvPr>
          <p:cNvSpPr/>
          <p:nvPr/>
        </p:nvSpPr>
        <p:spPr>
          <a:xfrm>
            <a:off x="8798907" y="2430584"/>
            <a:ext cx="1696452" cy="653572"/>
          </a:xfrm>
          <a:prstGeom prst="rect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电光接口芯片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（高速接口）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15%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458DE78-FF25-460B-DD9F-EB84CF8D3BFA}"/>
              </a:ext>
            </a:extLst>
          </p:cNvPr>
          <p:cNvSpPr/>
          <p:nvPr/>
        </p:nvSpPr>
        <p:spPr>
          <a:xfrm>
            <a:off x="8798907" y="4061552"/>
            <a:ext cx="1696452" cy="1824010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（演化为封装与系统配套）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40%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BA684A-C8E7-351B-CD78-7657E05AFD99}"/>
              </a:ext>
            </a:extLst>
          </p:cNvPr>
          <p:cNvSpPr/>
          <p:nvPr/>
        </p:nvSpPr>
        <p:spPr>
          <a:xfrm>
            <a:off x="8798907" y="1229210"/>
            <a:ext cx="1696452" cy="11526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交换机芯片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光引擎封装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endParaRPr lang="en-US" altLang="zh-CN" sz="1400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25%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EF5ABABB-ED9A-ABDA-9DE0-B0D64C9D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49990"/>
            <a:ext cx="9677146" cy="731520"/>
          </a:xfrm>
        </p:spPr>
        <p:txBody>
          <a:bodyPr vert="horz"/>
          <a:lstStyle/>
          <a:p>
            <a:r>
              <a:rPr lang="zh-CN" altLang="en-US" dirty="0"/>
              <a:t>互连技术范式变革带来新的市场机会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CB43920-42D5-86FB-D43B-7FED7D566651}"/>
              </a:ext>
            </a:extLst>
          </p:cNvPr>
          <p:cNvSpPr/>
          <p:nvPr/>
        </p:nvSpPr>
        <p:spPr>
          <a:xfrm>
            <a:off x="-585647" y="3643810"/>
            <a:ext cx="10346" cy="2367"/>
          </a:xfrm>
          <a:custGeom>
            <a:avLst/>
            <a:gdLst>
              <a:gd name="connsiteX0" fmla="*/ 10346 w 10346"/>
              <a:gd name="connsiteY0" fmla="*/ 0 h 2367"/>
              <a:gd name="connsiteX1" fmla="*/ 10346 w 10346"/>
              <a:gd name="connsiteY1" fmla="*/ 2250 h 2367"/>
              <a:gd name="connsiteX2" fmla="*/ 0 w 10346"/>
              <a:gd name="connsiteY2" fmla="*/ 2367 h 2367"/>
              <a:gd name="connsiteX3" fmla="*/ 10346 w 10346"/>
              <a:gd name="connsiteY3" fmla="*/ 0 h 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6" h="2367">
                <a:moveTo>
                  <a:pt x="10346" y="0"/>
                </a:moveTo>
                <a:lnTo>
                  <a:pt x="10346" y="2250"/>
                </a:lnTo>
                <a:lnTo>
                  <a:pt x="0" y="2367"/>
                </a:lnTo>
                <a:lnTo>
                  <a:pt x="10346" y="0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DDC55DAB-922D-52D6-3B06-4F8C8CADAB19}"/>
              </a:ext>
            </a:extLst>
          </p:cNvPr>
          <p:cNvGrpSpPr/>
          <p:nvPr/>
        </p:nvGrpSpPr>
        <p:grpSpPr>
          <a:xfrm>
            <a:off x="4213318" y="5794529"/>
            <a:ext cx="1675054" cy="832663"/>
            <a:chOff x="3456969" y="5923128"/>
            <a:chExt cx="1675054" cy="832663"/>
          </a:xfrm>
        </p:grpSpPr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DBC73AFA-A015-A0D9-E1A9-5A96738DA8EA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13E93844-E199-894B-3018-F62ED0A49D53}"/>
                </a:ext>
              </a:extLst>
            </p:cNvPr>
            <p:cNvSpPr txBox="1"/>
            <p:nvPr/>
          </p:nvSpPr>
          <p:spPr>
            <a:xfrm>
              <a:off x="3456969" y="6017127"/>
              <a:ext cx="16750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2010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0000"/>
                  </a:solidFill>
                  <a:latin typeface="+mn-ea"/>
                </a:rPr>
                <a:t>光模块</a:t>
              </a: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公司批量创立</a:t>
              </a:r>
              <a:endParaRPr lang="en-US" altLang="zh-CN" sz="1200" dirty="0">
                <a:solidFill>
                  <a:srgbClr val="000000"/>
                </a:solidFill>
                <a:latin typeface="+mn-ea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陆续成为行业龙头</a:t>
              </a:r>
              <a:endParaRPr lang="zh-CN" altLang="zh-CN" sz="120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36FD4A2-0D97-C957-8CF1-A55E7DE80662}"/>
              </a:ext>
            </a:extLst>
          </p:cNvPr>
          <p:cNvGrpSpPr/>
          <p:nvPr/>
        </p:nvGrpSpPr>
        <p:grpSpPr>
          <a:xfrm>
            <a:off x="6763154" y="5798093"/>
            <a:ext cx="1352621" cy="842175"/>
            <a:chOff x="3616629" y="5923128"/>
            <a:chExt cx="1352621" cy="842175"/>
          </a:xfrm>
        </p:grpSpPr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61BBDB74-4FC1-8872-B09E-F468B6BD73CC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3BDB373B-B879-9393-C6D9-61FED60A6FF9}"/>
                </a:ext>
              </a:extLst>
            </p:cNvPr>
            <p:cNvSpPr txBox="1"/>
            <p:nvPr/>
          </p:nvSpPr>
          <p:spPr>
            <a:xfrm>
              <a:off x="3616629" y="6026639"/>
              <a:ext cx="135262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2020</a:t>
              </a:r>
            </a:p>
            <a:p>
              <a:pPr algn="ctr"/>
              <a:r>
                <a:rPr lang="zh-CN" altLang="en-US" sz="1200" dirty="0">
                  <a:solidFill>
                    <a:srgbClr val="000000"/>
                  </a:solidFill>
                  <a:latin typeface="+mn-ea"/>
                </a:rPr>
                <a:t>巨头、初创集中入局</a:t>
              </a:r>
              <a:endParaRPr lang="zh-CN" altLang="en-US" dirty="0"/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6F761921-86DA-BE0F-CA00-6190FC8C2FC1}"/>
              </a:ext>
            </a:extLst>
          </p:cNvPr>
          <p:cNvGrpSpPr/>
          <p:nvPr/>
        </p:nvGrpSpPr>
        <p:grpSpPr>
          <a:xfrm>
            <a:off x="10374130" y="5794529"/>
            <a:ext cx="1352621" cy="530715"/>
            <a:chOff x="3618185" y="5923128"/>
            <a:chExt cx="1352621" cy="530715"/>
          </a:xfrm>
        </p:grpSpPr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59CCE399-5418-F28C-6F9D-CB74F57675AE}"/>
                </a:ext>
              </a:extLst>
            </p:cNvPr>
            <p:cNvCxnSpPr/>
            <p:nvPr/>
          </p:nvCxnSpPr>
          <p:spPr>
            <a:xfrm>
              <a:off x="4294496" y="5923128"/>
              <a:ext cx="0" cy="145576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47AD2A6B-1CD8-740B-F0A0-56331323BD0E}"/>
                </a:ext>
              </a:extLst>
            </p:cNvPr>
            <p:cNvSpPr txBox="1"/>
            <p:nvPr/>
          </p:nvSpPr>
          <p:spPr>
            <a:xfrm>
              <a:off x="3618185" y="6084511"/>
              <a:ext cx="13526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2030</a:t>
              </a:r>
              <a:endParaRPr lang="zh-CN" altLang="en-US" dirty="0"/>
            </a:p>
          </p:txBody>
        </p:sp>
      </p:grp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6593CF7-F4B7-FCBA-D04F-0DBADBB67DFE}"/>
              </a:ext>
            </a:extLst>
          </p:cNvPr>
          <p:cNvSpPr txBox="1"/>
          <p:nvPr/>
        </p:nvSpPr>
        <p:spPr>
          <a:xfrm>
            <a:off x="300871" y="6217993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：日期为公司成立日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：日期为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CPO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相关技术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/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产品发布日</a:t>
            </a:r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AF376F2D-4238-E92B-E360-E06A18F221AE}"/>
              </a:ext>
            </a:extLst>
          </p:cNvPr>
          <p:cNvGrpSpPr/>
          <p:nvPr/>
        </p:nvGrpSpPr>
        <p:grpSpPr>
          <a:xfrm>
            <a:off x="299389" y="1230174"/>
            <a:ext cx="1314896" cy="276999"/>
            <a:chOff x="301960" y="960085"/>
            <a:chExt cx="1314896" cy="276999"/>
          </a:xfrm>
        </p:grpSpPr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9ED6EE5B-D0A8-EDCA-E1E0-1DA4EBC79000}"/>
                </a:ext>
              </a:extLst>
            </p:cNvPr>
            <p:cNvSpPr/>
            <p:nvPr/>
          </p:nvSpPr>
          <p:spPr>
            <a:xfrm>
              <a:off x="301960" y="1008464"/>
              <a:ext cx="191048" cy="19104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C640DFA-62E4-CEB7-DCDE-D2181F343CC7}"/>
                </a:ext>
              </a:extLst>
            </p:cNvPr>
            <p:cNvSpPr txBox="1"/>
            <p:nvPr/>
          </p:nvSpPr>
          <p:spPr>
            <a:xfrm>
              <a:off x="470607" y="960085"/>
              <a:ext cx="11462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chemeClr val="accent6">
                      <a:lumMod val="10000"/>
                    </a:schemeClr>
                  </a:solidFill>
                </a:rPr>
                <a:t>市值（十亿元）</a:t>
              </a: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CDA6D744-A6A0-189E-13D9-35A8CFB36A71}"/>
              </a:ext>
            </a:extLst>
          </p:cNvPr>
          <p:cNvGrpSpPr/>
          <p:nvPr/>
        </p:nvGrpSpPr>
        <p:grpSpPr>
          <a:xfrm>
            <a:off x="3118448" y="2133406"/>
            <a:ext cx="1480717" cy="712522"/>
            <a:chOff x="2854288" y="1806855"/>
            <a:chExt cx="1480717" cy="712522"/>
          </a:xfrm>
        </p:grpSpPr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28CBCE1F-0CD1-1CE3-4AA2-90A455088810}"/>
                </a:ext>
              </a:extLst>
            </p:cNvPr>
            <p:cNvSpPr txBox="1"/>
            <p:nvPr/>
          </p:nvSpPr>
          <p:spPr>
            <a:xfrm>
              <a:off x="2854288" y="2119267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天孚通信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2005</a:t>
              </a:r>
              <a:r>
                <a:rPr lang="en-US" altLang="zh-CN" sz="1000" baseline="30000" dirty="0"/>
                <a:t>1</a:t>
              </a:r>
            </a:p>
          </p:txBody>
        </p:sp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6709C6EA-64A7-1691-34CA-DCE9AACF3476}"/>
                </a:ext>
              </a:extLst>
            </p:cNvPr>
            <p:cNvGrpSpPr/>
            <p:nvPr/>
          </p:nvGrpSpPr>
          <p:grpSpPr>
            <a:xfrm>
              <a:off x="3299904" y="1806855"/>
              <a:ext cx="563880" cy="327600"/>
              <a:chOff x="3809078" y="1712146"/>
              <a:chExt cx="563880" cy="327600"/>
            </a:xfrm>
          </p:grpSpPr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42E463DA-43DF-2946-8741-8038DEE9660E}"/>
                  </a:ext>
                </a:extLst>
              </p:cNvPr>
              <p:cNvSpPr/>
              <p:nvPr/>
            </p:nvSpPr>
            <p:spPr>
              <a:xfrm>
                <a:off x="3935825" y="1712146"/>
                <a:ext cx="327600" cy="3276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6C4EFD4E-A2CB-F52E-A8DB-25719E5FEB98}"/>
                  </a:ext>
                </a:extLst>
              </p:cNvPr>
              <p:cNvSpPr txBox="1"/>
              <p:nvPr/>
            </p:nvSpPr>
            <p:spPr>
              <a:xfrm>
                <a:off x="3809078" y="1750808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</a:rPr>
                  <a:t>100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9872BA1E-85BB-C62A-88FE-B0519CC259FB}"/>
              </a:ext>
            </a:extLst>
          </p:cNvPr>
          <p:cNvGrpSpPr/>
          <p:nvPr/>
        </p:nvGrpSpPr>
        <p:grpSpPr>
          <a:xfrm>
            <a:off x="3350315" y="2881245"/>
            <a:ext cx="1480717" cy="1018888"/>
            <a:chOff x="3057321" y="2954606"/>
            <a:chExt cx="1480717" cy="1018888"/>
          </a:xfrm>
        </p:grpSpPr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77621AF1-9C82-C981-030C-E6A977F0FC5D}"/>
                </a:ext>
              </a:extLst>
            </p:cNvPr>
            <p:cNvGrpSpPr/>
            <p:nvPr/>
          </p:nvGrpSpPr>
          <p:grpSpPr>
            <a:xfrm>
              <a:off x="3057321" y="2954606"/>
              <a:ext cx="1480717" cy="1018888"/>
              <a:chOff x="3041057" y="3875024"/>
              <a:chExt cx="1480717" cy="1018888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7C06EB8-FD88-22F9-C353-08C3495495B2}"/>
                  </a:ext>
                </a:extLst>
              </p:cNvPr>
              <p:cNvSpPr/>
              <p:nvPr/>
            </p:nvSpPr>
            <p:spPr>
              <a:xfrm>
                <a:off x="3472224" y="3875024"/>
                <a:ext cx="624038" cy="624038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87DD744-1279-D2A2-2768-6254C29CC9E6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中际旭创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2008</a:t>
                </a:r>
                <a:r>
                  <a:rPr lang="en-US" altLang="zh-CN" sz="1000" baseline="30000" dirty="0"/>
                  <a:t>1</a:t>
                </a:r>
              </a:p>
            </p:txBody>
          </p:sp>
        </p:grpSp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80BA3FB8-B5C9-49AE-AF72-2EB77069E852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356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9030235D-3962-E93B-7209-63EA4143648F}"/>
              </a:ext>
            </a:extLst>
          </p:cNvPr>
          <p:cNvGrpSpPr/>
          <p:nvPr/>
        </p:nvGrpSpPr>
        <p:grpSpPr>
          <a:xfrm>
            <a:off x="3224969" y="4884958"/>
            <a:ext cx="1480717" cy="639109"/>
            <a:chOff x="2865717" y="1835536"/>
            <a:chExt cx="1480717" cy="639109"/>
          </a:xfrm>
        </p:grpSpPr>
        <p:sp>
          <p:nvSpPr>
            <p:cNvPr id="174" name="文本框 173">
              <a:extLst>
                <a:ext uri="{FF2B5EF4-FFF2-40B4-BE49-F238E27FC236}">
                  <a16:creationId xmlns:a16="http://schemas.microsoft.com/office/drawing/2014/main" id="{F761F661-9F75-54D2-773E-C0C26FBF3422}"/>
                </a:ext>
              </a:extLst>
            </p:cNvPr>
            <p:cNvSpPr txBox="1"/>
            <p:nvPr/>
          </p:nvSpPr>
          <p:spPr>
            <a:xfrm>
              <a:off x="2865717" y="2074535"/>
              <a:ext cx="14807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剑桥科技</a:t>
              </a:r>
              <a:endParaRPr lang="en-US" altLang="zh-CN" sz="1000" dirty="0"/>
            </a:p>
            <a:p>
              <a:pPr algn="ctr"/>
              <a:r>
                <a:rPr lang="en-US" altLang="zh-CN" sz="1000" dirty="0"/>
                <a:t>2006</a:t>
              </a:r>
              <a:r>
                <a:rPr lang="en-US" altLang="zh-CN" sz="1000" baseline="30000" dirty="0"/>
                <a:t>2</a:t>
              </a:r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239C01C-E091-5BB3-F2BE-49CF09D60773}"/>
                </a:ext>
              </a:extLst>
            </p:cNvPr>
            <p:cNvGrpSpPr/>
            <p:nvPr/>
          </p:nvGrpSpPr>
          <p:grpSpPr>
            <a:xfrm>
              <a:off x="3324135" y="1835536"/>
              <a:ext cx="563880" cy="246221"/>
              <a:chOff x="3833309" y="1740827"/>
              <a:chExt cx="563880" cy="246221"/>
            </a:xfrm>
          </p:grpSpPr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79E6C63C-2331-A751-D9B7-F7337E062C7D}"/>
                  </a:ext>
                </a:extLst>
              </p:cNvPr>
              <p:cNvSpPr/>
              <p:nvPr/>
            </p:nvSpPr>
            <p:spPr>
              <a:xfrm>
                <a:off x="4031820" y="1778403"/>
                <a:ext cx="166861" cy="16686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7E8AC346-F5A4-C03C-02F8-567D3A52D94F}"/>
                  </a:ext>
                </a:extLst>
              </p:cNvPr>
              <p:cNvSpPr txBox="1"/>
              <p:nvPr/>
            </p:nvSpPr>
            <p:spPr>
              <a:xfrm>
                <a:off x="3833309" y="1740827"/>
                <a:ext cx="563880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>
                    <a:solidFill>
                      <a:schemeClr val="accent6">
                        <a:lumMod val="10000"/>
                      </a:schemeClr>
                    </a:solidFill>
                  </a:rPr>
                  <a:t>20</a:t>
                </a:r>
                <a:endParaRPr lang="zh-CN" altLang="en-US" sz="10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</p:grp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1229F559-6349-7093-3523-BD18CF0D5EB5}"/>
              </a:ext>
            </a:extLst>
          </p:cNvPr>
          <p:cNvGrpSpPr/>
          <p:nvPr/>
        </p:nvGrpSpPr>
        <p:grpSpPr>
          <a:xfrm>
            <a:off x="3984798" y="2908263"/>
            <a:ext cx="1480717" cy="983134"/>
            <a:chOff x="3057321" y="2990360"/>
            <a:chExt cx="1480717" cy="983134"/>
          </a:xfrm>
        </p:grpSpPr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802B6849-8BD3-5037-7F80-3542AD40AC84}"/>
                </a:ext>
              </a:extLst>
            </p:cNvPr>
            <p:cNvGrpSpPr/>
            <p:nvPr/>
          </p:nvGrpSpPr>
          <p:grpSpPr>
            <a:xfrm>
              <a:off x="3057321" y="2990360"/>
              <a:ext cx="1480717" cy="983134"/>
              <a:chOff x="3041057" y="3910778"/>
              <a:chExt cx="1480717" cy="983134"/>
            </a:xfrm>
          </p:grpSpPr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EBDF5A6E-5D4C-D8AF-811D-2D6A7EB957F8}"/>
                  </a:ext>
                </a:extLst>
              </p:cNvPr>
              <p:cNvSpPr/>
              <p:nvPr/>
            </p:nvSpPr>
            <p:spPr>
              <a:xfrm>
                <a:off x="3494132" y="3910778"/>
                <a:ext cx="565200" cy="565200"/>
              </a:xfrm>
              <a:prstGeom prst="ellipse">
                <a:avLst/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/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D77BE2C8-6BE5-DF2A-CE04-591001B9F949}"/>
                  </a:ext>
                </a:extLst>
              </p:cNvPr>
              <p:cNvSpPr txBox="1"/>
              <p:nvPr/>
            </p:nvSpPr>
            <p:spPr>
              <a:xfrm>
                <a:off x="3041057" y="4493802"/>
                <a:ext cx="14807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新易盛</a:t>
                </a:r>
                <a:endParaRPr lang="en-US" altLang="zh-CN" sz="1000" dirty="0"/>
              </a:p>
              <a:p>
                <a:pPr algn="ctr"/>
                <a:r>
                  <a:rPr lang="en-US" altLang="zh-CN" sz="1000" dirty="0"/>
                  <a:t>2008</a:t>
                </a:r>
                <a:r>
                  <a:rPr lang="en-US" altLang="zh-CN" sz="1000" baseline="30000" dirty="0"/>
                  <a:t>1</a:t>
                </a:r>
              </a:p>
            </p:txBody>
          </p:sp>
        </p:grpSp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2B35EC03-62E4-3CBA-4945-3320AE652D4A}"/>
                </a:ext>
              </a:extLst>
            </p:cNvPr>
            <p:cNvSpPr txBox="1"/>
            <p:nvPr/>
          </p:nvSpPr>
          <p:spPr>
            <a:xfrm>
              <a:off x="3515739" y="3156372"/>
              <a:ext cx="56388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</a:rPr>
                <a:t>294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85" name="箭头: V 形 184">
            <a:extLst>
              <a:ext uri="{FF2B5EF4-FFF2-40B4-BE49-F238E27FC236}">
                <a16:creationId xmlns:a16="http://schemas.microsoft.com/office/drawing/2014/main" id="{4F46F690-1EE5-6A9D-785F-B194D55BD8BC}"/>
              </a:ext>
            </a:extLst>
          </p:cNvPr>
          <p:cNvSpPr/>
          <p:nvPr/>
        </p:nvSpPr>
        <p:spPr>
          <a:xfrm>
            <a:off x="3514491" y="804994"/>
            <a:ext cx="1951024" cy="331360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latin typeface="+mn-ea"/>
              </a:rPr>
              <a:t>云计算、移动互联网爆发</a:t>
            </a:r>
            <a:endParaRPr lang="en-US" altLang="zh-CN" sz="1000" dirty="0">
              <a:solidFill>
                <a:schemeClr val="accent6">
                  <a:lumMod val="10000"/>
                </a:schemeClr>
              </a:solidFill>
              <a:latin typeface="+mn-ea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chemeClr val="accent6">
                    <a:lumMod val="10000"/>
                  </a:schemeClr>
                </a:solidFill>
                <a:latin typeface="+mn-ea"/>
              </a:rPr>
              <a:t>带宽需求持续放大</a:t>
            </a:r>
          </a:p>
        </p:txBody>
      </p:sp>
      <p:sp>
        <p:nvSpPr>
          <p:cNvPr id="186" name="箭头: V 形 185">
            <a:extLst>
              <a:ext uri="{FF2B5EF4-FFF2-40B4-BE49-F238E27FC236}">
                <a16:creationId xmlns:a16="http://schemas.microsoft.com/office/drawing/2014/main" id="{D204EDEF-0DF3-E76D-E557-F1047FFD574D}"/>
              </a:ext>
            </a:extLst>
          </p:cNvPr>
          <p:cNvSpPr/>
          <p:nvPr/>
        </p:nvSpPr>
        <p:spPr>
          <a:xfrm>
            <a:off x="7124897" y="807513"/>
            <a:ext cx="1951024" cy="326323"/>
          </a:xfrm>
          <a:prstGeom prst="chevron">
            <a:avLst/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000" dirty="0">
                <a:solidFill>
                  <a:srgbClr val="000000"/>
                </a:solidFill>
                <a:latin typeface="+mn-ea"/>
              </a:rPr>
              <a:t>AI爆发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" dirty="0">
                <a:solidFill>
                  <a:srgbClr val="000000"/>
                </a:solidFill>
                <a:latin typeface="+mn-ea"/>
              </a:rPr>
              <a:t>高速光模块需求持续放大</a:t>
            </a:r>
            <a:endParaRPr lang="en-US" altLang="zh-CN" sz="1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571BFB-94C0-23CC-FB68-52E8955A83D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AA9C9-D930-E4D6-0852-76F64C0F4888}"/>
              </a:ext>
            </a:extLst>
          </p:cNvPr>
          <p:cNvSpPr txBox="1"/>
          <p:nvPr/>
        </p:nvSpPr>
        <p:spPr>
          <a:xfrm>
            <a:off x="115880" y="1241847"/>
            <a:ext cx="56388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</a:rPr>
              <a:t>x</a:t>
            </a:r>
            <a:endParaRPr lang="zh-CN" altLang="en-US" sz="1000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8725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关键模块：硅光芯片、电光芯片、交换机芯片及封装</a:t>
            </a: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617802" y="1358351"/>
            <a:ext cx="2300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n-ea"/>
              </a:rPr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3621132" y="1362135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n-ea"/>
              </a:rPr>
              <a:t>光信号中枢，光</a:t>
            </a:r>
            <a:r>
              <a:rPr lang="en-US" altLang="zh-CN" sz="1600" dirty="0">
                <a:latin typeface="+mn-ea"/>
                <a:sym typeface="Wingdings" panose="05000000000000000000" pitchFamily="2" charset="2"/>
              </a:rPr>
              <a:t></a:t>
            </a:r>
            <a:r>
              <a:rPr lang="zh-CN" altLang="en-US" sz="1600" dirty="0">
                <a:latin typeface="+mn-ea"/>
                <a:sym typeface="Wingdings" panose="05000000000000000000" pitchFamily="2" charset="2"/>
              </a:rPr>
              <a:t>电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7036335" y="1367069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latin typeface="+mn-ea"/>
              </a:rPr>
              <a:t>电</a:t>
            </a:r>
            <a:r>
              <a:rPr lang="zh-CN" altLang="en-US" sz="1600" dirty="0">
                <a:latin typeface="+mn-ea"/>
                <a:sym typeface="Wingdings" panose="05000000000000000000" pitchFamily="2" charset="2"/>
              </a:rPr>
              <a:t>信号控制中枢</a:t>
            </a:r>
            <a:endParaRPr lang="zh-CN" altLang="en-US" sz="1600" dirty="0"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09857" y="2448690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182085" y="3083560"/>
            <a:ext cx="3459485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593676" y="4993309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243201" y="4948982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激光器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32297" y="3109827"/>
            <a:ext cx="2175647" cy="1213338"/>
          </a:xfrm>
          <a:prstGeom prst="rect">
            <a:avLst/>
          </a:prstGeom>
          <a:solidFill>
            <a:schemeClr val="bg2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6928295" y="982651"/>
            <a:ext cx="1924628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放大 </a:t>
            </a:r>
            <a:r>
              <a:rPr lang="en-US" altLang="zh-CN" dirty="0">
                <a:solidFill>
                  <a:schemeClr val="bg1"/>
                </a:solidFill>
              </a:rPr>
              <a:t>+ </a:t>
            </a:r>
            <a:r>
              <a:rPr lang="zh-CN" altLang="en-US" dirty="0">
                <a:solidFill>
                  <a:schemeClr val="bg1"/>
                </a:solidFill>
              </a:rPr>
              <a:t>优化</a:t>
            </a: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8947359" y="982651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交换机芯片</a:t>
            </a: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747322" y="973707"/>
            <a:ext cx="1379386" cy="295991"/>
          </a:xfrm>
          <a:prstGeom prst="homePlat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出入口</a:t>
            </a: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982651"/>
            <a:ext cx="4612713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行走通道 </a:t>
            </a:r>
            <a:r>
              <a:rPr lang="en-US" altLang="zh-CN" dirty="0">
                <a:solidFill>
                  <a:schemeClr val="bg1"/>
                </a:solidFill>
              </a:rPr>
              <a:t>+ </a:t>
            </a:r>
            <a:r>
              <a:rPr lang="zh-CN" altLang="en-US" dirty="0">
                <a:solidFill>
                  <a:schemeClr val="bg1"/>
                </a:solidFill>
              </a:rPr>
              <a:t>转换</a:t>
            </a: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9409097" y="1358351"/>
            <a:ext cx="2009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/>
              <a:t>信号处理</a:t>
            </a: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89027" y="3516325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光纤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521561" y="3500936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</a:rPr>
              <a:t>硅光芯片</a:t>
            </a: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62627" y="3486810"/>
            <a:ext cx="1266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6">
                    <a:lumMod val="10000"/>
                  </a:schemeClr>
                </a:solidFill>
              </a:rPr>
              <a:t>电光芯片</a:t>
            </a: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10019156" y="2522284"/>
            <a:ext cx="8951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中介层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173143" y="3109914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00681" y="3552248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697698" y="3582692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646586" y="3709334"/>
            <a:ext cx="4934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243869" y="1997735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566928" y="3648410"/>
            <a:ext cx="696411" cy="19933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02DB029A-34DC-7439-48BD-552FDD20957D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3788157" y="3464728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9401" y="326568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722" y="4761053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5877" y="3826510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200122" y="3161157"/>
            <a:ext cx="1266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交换机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</a:rPr>
              <a:t>芯片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78371" y="-2465666"/>
            <a:ext cx="238588" cy="8521301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4485223" y="2003710"/>
            <a:ext cx="2424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latin typeface="+mn-ea"/>
              </a:rPr>
              <a:t>封装</a:t>
            </a: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21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产业链：集成交付环节、光电信号中枢优先关注</a:t>
            </a: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189697" y="1029464"/>
            <a:ext cx="3219590" cy="387904"/>
          </a:xfrm>
          <a:prstGeom prst="homePlate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532548" y="1038407"/>
            <a:ext cx="2647705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310371" y="1505304"/>
            <a:ext cx="781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218733" y="2089799"/>
            <a:ext cx="11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55E0"/>
                </a:solidFill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>
            <a:off x="2158667" y="1819302"/>
            <a:ext cx="1075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3851" y="1605029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EIC</a:t>
            </a:r>
            <a:r>
              <a:rPr lang="zh-CN" altLang="en-US" sz="1400" dirty="0"/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6FB2887F-EFDC-3542-64A6-258BB75BBB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20DB015-8079-36A1-6ED6-D369A1546B4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rgbClr val="DDE3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EABA44-55F7-2866-FFF8-533EAFE642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4B1F81-7D33-D40F-2752-DB51E1BEB901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光电子封测隐形冠军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223600" y="2394300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</a:rPr>
              <a:t>14%</a:t>
            </a:r>
            <a:endParaRPr lang="zh-CN" altLang="en-US" dirty="0">
              <a:solidFill>
                <a:srgbClr val="0052D9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222E30-5B06-C520-7AAA-1FABCBE91457}"/>
              </a:ext>
            </a:extLst>
          </p:cNvPr>
          <p:cNvSpPr txBox="1"/>
          <p:nvPr/>
        </p:nvSpPr>
        <p:spPr>
          <a:xfrm>
            <a:off x="5068541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14%</a:t>
            </a:r>
            <a:endParaRPr lang="zh-CN" altLang="en-US" sz="18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4F6207-297E-DD41-92C8-FE805C76B3A7}"/>
              </a:ext>
            </a:extLst>
          </p:cNvPr>
          <p:cNvSpPr txBox="1"/>
          <p:nvPr/>
        </p:nvSpPr>
        <p:spPr>
          <a:xfrm>
            <a:off x="7863921" y="2402128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15%</a:t>
            </a:r>
            <a:endParaRPr lang="zh-CN" altLang="en-US" sz="1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B14EAD-FFB5-DC67-1805-790EFA47386E}"/>
              </a:ext>
            </a:extLst>
          </p:cNvPr>
          <p:cNvSpPr txBox="1"/>
          <p:nvPr/>
        </p:nvSpPr>
        <p:spPr>
          <a:xfrm>
            <a:off x="10171158" y="2394300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7%</a:t>
            </a:r>
            <a:endParaRPr lang="zh-CN" altLang="en-US" sz="18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2A42301-2F9B-5290-06B7-4F1F77DE5D6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5AC23980-DD06-7632-BE6A-72E1FE17C0F4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D0B4C5-6F8E-EFF5-F02D-599D589610B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2D5766E9-E04E-47DF-B260-4EF35D9B4347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61F91-E6A5-C742-DB7A-09CD67F7735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110788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6E41E0B2-1086-F700-5EC8-8411141379C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0110788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B2A6734-33FF-4688-76C3-4E381BCEDDE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E6B595-983E-90F2-D771-0EED19F03680}"/>
              </a:ext>
            </a:extLst>
          </p:cNvPr>
          <p:cNvSpPr txBox="1"/>
          <p:nvPr/>
        </p:nvSpPr>
        <p:spPr>
          <a:xfrm>
            <a:off x="1636712" y="2946400"/>
            <a:ext cx="2636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55E0"/>
                </a:solidFill>
                <a:latin typeface="+mn-ea"/>
              </a:rPr>
              <a:t>中：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门槛高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，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绑定硅光设计服务，毛利可</a:t>
            </a:r>
            <a:r>
              <a:rPr lang="zh-CN" altLang="en-US" sz="1200" dirty="0">
                <a:solidFill>
                  <a:srgbClr val="000000"/>
                </a:solidFill>
                <a:latin typeface="+mn-ea"/>
              </a:rPr>
              <a:t>达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 55</a:t>
            </a:r>
            <a:r>
              <a:rPr lang="en-US" altLang="zh-CN" sz="1200" dirty="0">
                <a:solidFill>
                  <a:srgbClr val="000000"/>
                </a:solidFill>
                <a:latin typeface="+mn-ea"/>
              </a:rPr>
              <a:t>+</a:t>
            </a: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%</a:t>
            </a:r>
            <a:endParaRPr lang="zh-CN" altLang="zh-CN" sz="12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916413-5861-A019-C796-D31CE1E70419}"/>
              </a:ext>
            </a:extLst>
          </p:cNvPr>
          <p:cNvSpPr txBox="1"/>
          <p:nvPr/>
        </p:nvSpPr>
        <p:spPr>
          <a:xfrm>
            <a:off x="4789488" y="2944813"/>
            <a:ext cx="2265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中：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国内无成熟 300mm SOI产线，政策补贴力度大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D164DD-89CD-C436-39A1-F490AE28BA33}"/>
              </a:ext>
            </a:extLst>
          </p:cNvPr>
          <p:cNvSpPr txBox="1"/>
          <p:nvPr/>
        </p:nvSpPr>
        <p:spPr>
          <a:xfrm>
            <a:off x="7641731" y="2881651"/>
            <a:ext cx="226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高：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光电异构封装国内基本空白，有政策红利；一旦突破可锁核心环节</a:t>
            </a:r>
          </a:p>
          <a:p>
            <a:endParaRPr lang="zh-CN" altLang="zh-CN" sz="1200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A6FBA8-DA9B-131C-0536-D1055FCA0537}"/>
              </a:ext>
            </a:extLst>
          </p:cNvPr>
          <p:cNvSpPr txBox="1"/>
          <p:nvPr/>
        </p:nvSpPr>
        <p:spPr>
          <a:xfrm>
            <a:off x="10361268" y="2881651"/>
            <a:ext cx="1462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sz="1200" dirty="0"/>
              <a:t>低：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资本密集+代工属性，低margin</a:t>
            </a:r>
            <a:r>
              <a:rPr lang="zh-CN" altLang="en-US" sz="1200" b="0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zh-CN" altLang="zh-CN" sz="1200" b="0" dirty="0">
                <a:solidFill>
                  <a:schemeClr val="accent6">
                    <a:lumMod val="10000"/>
                  </a:schemeClr>
                </a:solidFill>
              </a:rPr>
              <a:t>国内产能稀缺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696966E-FD59-D5B4-A168-51C92A99A090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D57385-92FC-7695-D49E-CF7FC0E3DDA6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08025EE-42A7-2008-1E6E-660274DE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熹联：100G/lane出货～10K 200G/lane出货～100K；</a:t>
            </a:r>
            <a:r>
              <a:rPr lang="zh-CN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羲禾 ：100G/lane出货超百万</a:t>
            </a:r>
            <a:r>
              <a:rPr lang="en-US" altLang="zh-CN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赛丽：100G/lane出货超百万 200G/lane小批量出货；(前两家为tx现有jdm合作方）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8B321CB-7C00-D2A4-ECCD-3B8467E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43429E07-26F4-B895-DDEF-C3ADA94FB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8CC03B0D-6A2C-7E70-EBD8-04EBCF78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Macom/Marvell / Semtech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906A869-E2CD-23DB-35FA-0BC5F45F2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E53E366E-5E59-7FA1-9018-2ACCC3C64E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62857581-4F3E-269A-1776-12E93A939F47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光互连 </a:t>
            </a:r>
            <a:r>
              <a:rPr lang="en-US" altLang="zh-CN" dirty="0" err="1"/>
              <a:t>Chiplet</a:t>
            </a:r>
            <a:r>
              <a:rPr lang="en-US" altLang="zh-CN" dirty="0"/>
              <a:t> </a:t>
            </a:r>
            <a:r>
              <a:rPr lang="zh-CN" altLang="en-US" dirty="0"/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6A29D2DC-BD93-312D-1ADB-7DDAFD88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DD6E1916-A421-AA04-B6BF-B4E0FB66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00AE2D27-05FC-B693-7607-50E3CA97EF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C15BC35C-A3F6-051A-DC1A-4FF8BCC8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433C58BF-324A-3769-18C1-4559A3DC9D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0691C520-9669-2602-58CB-95C999DE7A9E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/>
              <a:t>scale-up场景下光学全栈</a:t>
            </a:r>
            <a:r>
              <a:rPr lang="zh-CN" altLang="en-US" dirty="0"/>
              <a:t>供应商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303B213F-E597-656A-0A2C-E01CC33BBCCA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硅光子 </a:t>
            </a:r>
            <a:r>
              <a:rPr lang="en-US" altLang="zh-CN" dirty="0"/>
              <a:t>AI </a:t>
            </a:r>
            <a:r>
              <a:rPr lang="zh-CN" altLang="en-US" dirty="0"/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6E74ECFD-F589-D155-3E51-8A7D7FD0B8C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DA0172D4-6CDB-0579-FF63-7CB53AE0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A581996D-7E5A-648F-FC48-B050726D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5D34643A-5962-8E37-F692-BC82446C64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335442" y="5434135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多选一些标的，可以模糊一点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5122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C5123D1C-B84C-3ED4-C846-FE17DFAEA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37" t="1802" r="1544" b="3329"/>
          <a:stretch/>
        </p:blipFill>
        <p:spPr bwMode="auto">
          <a:xfrm>
            <a:off x="5454224" y="1568869"/>
            <a:ext cx="777859" cy="55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ystem level 3D assembly packaging strategy showing an EIC bonded on a ...">
            <a:extLst>
              <a:ext uri="{FF2B5EF4-FFF2-40B4-BE49-F238E27FC236}">
                <a16:creationId xmlns:a16="http://schemas.microsoft.com/office/drawing/2014/main" id="{AD41C849-D973-4FA9-3677-6EDE55CA1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4" t="3794" r="58994" b="52807"/>
          <a:stretch/>
        </p:blipFill>
        <p:spPr bwMode="auto">
          <a:xfrm>
            <a:off x="7354888" y="1527762"/>
            <a:ext cx="1140121" cy="55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锐捷发布首款CPO交换机 硅光+液冷引领下一代数据中心风向_天极网">
            <a:extLst>
              <a:ext uri="{FF2B5EF4-FFF2-40B4-BE49-F238E27FC236}">
                <a16:creationId xmlns:a16="http://schemas.microsoft.com/office/drawing/2014/main" id="{76595D61-845D-5488-BFF7-1B4E9F100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8534" y="1556641"/>
            <a:ext cx="1230689" cy="55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0B394DC-8733-D406-6358-4A4C830011D0}"/>
              </a:ext>
            </a:extLst>
          </p:cNvPr>
          <p:cNvSpPr txBox="1"/>
          <p:nvPr/>
        </p:nvSpPr>
        <p:spPr>
          <a:xfrm>
            <a:off x="7852754" y="2152908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光电异构封装</a:t>
            </a:r>
          </a:p>
        </p:txBody>
      </p:sp>
      <p:pic>
        <p:nvPicPr>
          <p:cNvPr id="5126" name="Picture 6" descr="新型液冷技术工作原理_腾讯视频">
            <a:extLst>
              <a:ext uri="{FF2B5EF4-FFF2-40B4-BE49-F238E27FC236}">
                <a16:creationId xmlns:a16="http://schemas.microsoft.com/office/drawing/2014/main" id="{12F7FCC0-49B3-BEF8-F6DE-F08AE08E6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0582" y="1560533"/>
            <a:ext cx="845686" cy="47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5A0C795-2F17-8202-F67A-BEAED2E6192E}"/>
              </a:ext>
            </a:extLst>
          </p:cNvPr>
          <p:cNvSpPr txBox="1"/>
          <p:nvPr/>
        </p:nvSpPr>
        <p:spPr>
          <a:xfrm>
            <a:off x="10106478" y="2120172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液冷、连接器等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010253-CFE6-4DBB-BE40-73E91D0EA19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FB7D4F-6CAA-D3F1-8FB3-CF3F03CEF5BD}"/>
              </a:ext>
            </a:extLst>
          </p:cNvPr>
          <p:cNvSpPr/>
          <p:nvPr/>
        </p:nvSpPr>
        <p:spPr>
          <a:xfrm>
            <a:off x="7598021" y="704292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集成：国内能做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OSAT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的公司（华进、中电）。中际旭创这些不一定能做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D6F108-C088-F8C4-41B8-0718BFC535F5}"/>
              </a:ext>
            </a:extLst>
          </p:cNvPr>
          <p:cNvSpPr/>
          <p:nvPr/>
        </p:nvSpPr>
        <p:spPr>
          <a:xfrm>
            <a:off x="1834344" y="6082799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主要供应方：羲禾（最大）、熹联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/>
              <a:t>ficonTEC</a:t>
            </a:r>
            <a:r>
              <a:rPr lang="zh-CN" altLang="en-US" dirty="0"/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A2A341-26F7-8EF0-F172-671D3A43D1DA}"/>
              </a:ext>
            </a:extLst>
          </p:cNvPr>
          <p:cNvSpPr txBox="1"/>
          <p:nvPr/>
        </p:nvSpPr>
        <p:spPr>
          <a:xfrm>
            <a:off x="402128" y="146610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58774F40-591C-C05F-B889-65AA38FAD57E}"/>
              </a:ext>
            </a:extLst>
          </p:cNvPr>
          <p:cNvCxnSpPr>
            <a:cxnSpLocks/>
          </p:cNvCxnSpPr>
          <p:nvPr/>
        </p:nvCxnSpPr>
        <p:spPr>
          <a:xfrm>
            <a:off x="407777" y="178201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3749CC5-729C-E135-E975-739F63945B88}"/>
              </a:ext>
            </a:extLst>
          </p:cNvPr>
          <p:cNvSpPr txBox="1"/>
          <p:nvPr/>
        </p:nvSpPr>
        <p:spPr>
          <a:xfrm>
            <a:off x="6181644" y="144569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经营情况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210B42CB-5F2F-D3D0-C68D-71A1EF3C2FE3}"/>
              </a:ext>
            </a:extLst>
          </p:cNvPr>
          <p:cNvCxnSpPr>
            <a:cxnSpLocks/>
          </p:cNvCxnSpPr>
          <p:nvPr/>
        </p:nvCxnSpPr>
        <p:spPr>
          <a:xfrm>
            <a:off x="6187293" y="176160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8CE1454-DBA8-EC8D-F1F1-678A281C0300}"/>
              </a:ext>
            </a:extLst>
          </p:cNvPr>
          <p:cNvSpPr txBox="1"/>
          <p:nvPr/>
        </p:nvSpPr>
        <p:spPr>
          <a:xfrm>
            <a:off x="6197582" y="1911169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财务：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7AEC89-B28C-2EE4-FA8D-FD8C415978CD}"/>
              </a:ext>
            </a:extLst>
          </p:cNvPr>
          <p:cNvSpPr/>
          <p:nvPr/>
        </p:nvSpPr>
        <p:spPr>
          <a:xfrm>
            <a:off x="6331902" y="2199830"/>
            <a:ext cx="2590527" cy="1317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营收、毛利、利润折线图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958CC4-F0CD-E083-729D-4E9C314D4863}"/>
              </a:ext>
            </a:extLst>
          </p:cNvPr>
          <p:cNvSpPr txBox="1"/>
          <p:nvPr/>
        </p:nvSpPr>
        <p:spPr>
          <a:xfrm>
            <a:off x="9114130" y="1912272"/>
            <a:ext cx="173737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低量高价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385575" y="1867174"/>
            <a:ext cx="5514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专注于光电器件的微组装和自动化测试方向，交付方式为高度定制化+复杂工序导入；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全球交付阶段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4F6D83-A903-9515-9210-211702607A9F}"/>
              </a:ext>
            </a:extLst>
          </p:cNvPr>
          <p:cNvSpPr/>
          <p:nvPr/>
        </p:nvSpPr>
        <p:spPr>
          <a:xfrm>
            <a:off x="844257" y="4371289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E919E7B5-3D25-95E6-B96A-BDEBAB631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263" y="5318398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5F44A2-C061-5D7D-8391-320D4C0B5020}"/>
              </a:ext>
            </a:extLst>
          </p:cNvPr>
          <p:cNvGrpSpPr/>
          <p:nvPr/>
        </p:nvGrpSpPr>
        <p:grpSpPr>
          <a:xfrm>
            <a:off x="102400" y="2460374"/>
            <a:ext cx="5873979" cy="1249892"/>
            <a:chOff x="52932" y="2930313"/>
            <a:chExt cx="5873979" cy="124989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F9DEF2-78DB-2D1C-CB28-2368D031DABD}"/>
                </a:ext>
              </a:extLst>
            </p:cNvPr>
            <p:cNvSpPr txBox="1"/>
            <p:nvPr/>
          </p:nvSpPr>
          <p:spPr>
            <a:xfrm>
              <a:off x="725321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2001</a:t>
              </a:r>
              <a:endParaRPr lang="zh-CN" altLang="en-US" sz="1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6E13F6A-5C99-C2BA-3010-A10B69F495BF}"/>
                </a:ext>
              </a:extLst>
            </p:cNvPr>
            <p:cNvSpPr txBox="1"/>
            <p:nvPr/>
          </p:nvSpPr>
          <p:spPr>
            <a:xfrm>
              <a:off x="1877713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2002</a:t>
              </a:r>
              <a:endParaRPr lang="zh-CN" altLang="en-US" sz="14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F6BB480-7E3B-D449-A554-264075514DE5}"/>
                </a:ext>
              </a:extLst>
            </p:cNvPr>
            <p:cNvSpPr txBox="1"/>
            <p:nvPr/>
          </p:nvSpPr>
          <p:spPr>
            <a:xfrm>
              <a:off x="4710386" y="3872428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2025</a:t>
              </a:r>
              <a:endParaRPr lang="zh-CN" altLang="en-US" sz="1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678657-096D-B78D-191E-F3A961E120A8}"/>
                </a:ext>
              </a:extLst>
            </p:cNvPr>
            <p:cNvSpPr txBox="1"/>
            <p:nvPr/>
          </p:nvSpPr>
          <p:spPr>
            <a:xfrm>
              <a:off x="3701915" y="2930313"/>
              <a:ext cx="2224996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被中国上市公司RoboTechnik以10.11亿人民币价格收购全部股权；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0B5CBD8-B142-509A-526A-B947849110E3}"/>
                </a:ext>
              </a:extLst>
            </p:cNvPr>
            <p:cNvSpPr txBox="1"/>
            <p:nvPr/>
          </p:nvSpPr>
          <p:spPr>
            <a:xfrm>
              <a:off x="1640659" y="2942838"/>
              <a:ext cx="139625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获德国mic</a:t>
              </a:r>
              <a:r>
                <a:rPr kumimoji="0" lang="en-US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 </a:t>
              </a: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seed轮投资</a:t>
              </a:r>
              <a:endParaRPr lang="zh-CN" altLang="en-US" sz="1100" dirty="0"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86D9C25-13C6-F2D7-5457-4E1AB9466572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2733F027-A8A6-A925-8AD6-9E76BA7DC9A4}"/>
                </a:ext>
              </a:extLst>
            </p:cNvPr>
            <p:cNvCxnSpPr/>
            <p:nvPr/>
          </p:nvCxnSpPr>
          <p:spPr>
            <a:xfrm>
              <a:off x="688894" y="3753376"/>
              <a:ext cx="4982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5B2CC9EA-D5C4-2F53-C89A-F72FBD83042F}"/>
              </a:ext>
            </a:extLst>
          </p:cNvPr>
          <p:cNvSpPr txBox="1"/>
          <p:nvPr/>
        </p:nvSpPr>
        <p:spPr>
          <a:xfrm>
            <a:off x="404731" y="3952149"/>
            <a:ext cx="5252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核心产品：</a:t>
            </a:r>
            <a:endParaRPr lang="zh-CN" altLang="en-US" sz="16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1796021" y="4599331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C887D4D-600A-C1E0-97F5-8B5D412E4DFF}"/>
              </a:ext>
            </a:extLst>
          </p:cNvPr>
          <p:cNvSpPr/>
          <p:nvPr/>
        </p:nvSpPr>
        <p:spPr>
          <a:xfrm>
            <a:off x="3335125" y="4360321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79101D38-5EAB-782C-2FD1-75594711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131" y="5307430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4286889" y="4588363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8763635" y="2389347"/>
            <a:ext cx="1876725" cy="760291"/>
            <a:chOff x="6959734" y="4205367"/>
            <a:chExt cx="1876725" cy="760291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91538" y="4205367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全球交付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960159" y="4403052"/>
              <a:ext cx="8763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700+</a:t>
              </a: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台</a:t>
              </a:r>
              <a:endParaRPr lang="zh-CN" altLang="en-US" sz="1400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10541104" y="2335470"/>
            <a:ext cx="2139044" cy="818629"/>
            <a:chOff x="9332675" y="4153814"/>
            <a:chExt cx="2139044" cy="818629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3118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平均ASP</a:t>
              </a:r>
              <a:endParaRPr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10042039" y="4398950"/>
              <a:ext cx="1429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235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万/台</a:t>
              </a:r>
              <a:endParaRPr lang="zh-CN" altLang="en-US" sz="1400" dirty="0"/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13E82E2F-C8BE-A202-1FFF-3FCF77E0BE54}"/>
              </a:ext>
            </a:extLst>
          </p:cNvPr>
          <p:cNvSpPr/>
          <p:nvPr/>
        </p:nvSpPr>
        <p:spPr>
          <a:xfrm>
            <a:off x="7587046" y="4296505"/>
            <a:ext cx="1108405" cy="65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</a:rPr>
              <a:t>客户 </a:t>
            </a:r>
            <a:r>
              <a:rPr lang="en-US" altLang="zh-CN" sz="800" dirty="0">
                <a:solidFill>
                  <a:schemeClr val="bg1"/>
                </a:solidFill>
              </a:rPr>
              <a:t>logo</a:t>
            </a:r>
          </a:p>
          <a:p>
            <a:pPr algn="ctr"/>
            <a:r>
              <a:rPr lang="zh-CN" altLang="zh-CN" sz="800" dirty="0">
                <a:solidFill>
                  <a:schemeClr val="bg1"/>
                </a:solidFill>
                <a:latin typeface="+mn-ea"/>
              </a:rPr>
              <a:t>Ciena、Intel、Cisco、Broadcom、Aeva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88B0342-ECC8-25C4-A2F6-501BB5940217}"/>
              </a:ext>
            </a:extLst>
          </p:cNvPr>
          <p:cNvSpPr/>
          <p:nvPr/>
        </p:nvSpPr>
        <p:spPr>
          <a:xfrm>
            <a:off x="6261397" y="4209482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饼图</a:t>
            </a:r>
            <a:endParaRPr lang="en-US" altLang="zh-CN" sz="1600" dirty="0"/>
          </a:p>
          <a:p>
            <a:pPr algn="ctr"/>
            <a:r>
              <a:rPr lang="zh-CN" altLang="en-US" sz="1600" dirty="0"/>
              <a:t>前五大</a:t>
            </a:r>
            <a:r>
              <a:rPr lang="en-US" altLang="zh-CN" sz="1600" dirty="0"/>
              <a:t>vs</a:t>
            </a:r>
            <a:r>
              <a:rPr lang="zh-CN" altLang="en-US" sz="1600" dirty="0"/>
              <a:t>其他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D75F656-B70F-B050-C952-585F5A64DBC3}"/>
              </a:ext>
            </a:extLst>
          </p:cNvPr>
          <p:cNvCxnSpPr>
            <a:stCxn id="63" idx="3"/>
          </p:cNvCxnSpPr>
          <p:nvPr/>
        </p:nvCxnSpPr>
        <p:spPr>
          <a:xfrm flipV="1">
            <a:off x="7137697" y="4389314"/>
            <a:ext cx="597694" cy="199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90E56704-6383-314D-AD29-9554A7D8D6BD}"/>
              </a:ext>
            </a:extLst>
          </p:cNvPr>
          <p:cNvCxnSpPr>
            <a:cxnSpLocks/>
          </p:cNvCxnSpPr>
          <p:nvPr/>
        </p:nvCxnSpPr>
        <p:spPr>
          <a:xfrm>
            <a:off x="7170252" y="4803045"/>
            <a:ext cx="626099" cy="123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A6DE4BE-4A02-3262-73FE-4214CFF33DA4}"/>
              </a:ext>
            </a:extLst>
          </p:cNvPr>
          <p:cNvSpPr txBox="1"/>
          <p:nvPr/>
        </p:nvSpPr>
        <p:spPr>
          <a:xfrm>
            <a:off x="7125019" y="4473167"/>
            <a:ext cx="1077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42%</a:t>
            </a:r>
            <a:endParaRPr lang="zh-CN" alt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345628" y="4335379"/>
            <a:ext cx="1620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集中，标准机硬件长期委外给 Tech Group AS，其采购占比38%～41%；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7" y="799727"/>
            <a:ext cx="11692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一家高度项目驱动、已进入一线客户采购体系的小而专的德国老牌光子装配&amp;测试设备公司，通过中国企业收购后卡位于国产替代高精度光学设备供应环节。盈利和增长拐点取决于标准化程度上升、cpo红利的布局契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A1D3CA9-8FB3-28AE-F39C-1054E30E355F}"/>
              </a:ext>
            </a:extLst>
          </p:cNvPr>
          <p:cNvSpPr txBox="1"/>
          <p:nvPr/>
        </p:nvSpPr>
        <p:spPr>
          <a:xfrm>
            <a:off x="6199743" y="3730140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客户集中度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2438614-D5ED-57FC-5749-AC21BE9A36C2}"/>
              </a:ext>
            </a:extLst>
          </p:cNvPr>
          <p:cNvSpPr txBox="1"/>
          <p:nvPr/>
        </p:nvSpPr>
        <p:spPr>
          <a:xfrm>
            <a:off x="9114130" y="3751873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197582" y="5455112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产能：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供应链产能94台、产量80台、销量96台 → 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8A4865-DBC5-73C5-4E21-53E7DD1844B3}"/>
              </a:ext>
            </a:extLst>
          </p:cNvPr>
          <p:cNvSpPr/>
          <p:nvPr/>
        </p:nvSpPr>
        <p:spPr>
          <a:xfrm>
            <a:off x="9293754" y="4209745"/>
            <a:ext cx="835361" cy="72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</a:rPr>
              <a:t>饼图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zh-CN" altLang="zh-CN" sz="1000" dirty="0">
                <a:solidFill>
                  <a:schemeClr val="bg1"/>
                </a:solidFill>
                <a:latin typeface="+mn-ea"/>
              </a:rPr>
              <a:t>Tech Group AS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bg1"/>
                </a:solidFill>
              </a:rPr>
              <a:t>vs</a:t>
            </a:r>
            <a:r>
              <a:rPr lang="zh-CN" altLang="en-US" sz="1000" dirty="0">
                <a:solidFill>
                  <a:schemeClr val="bg1"/>
                </a:solidFill>
              </a:rPr>
              <a:t>其他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BEF19-E92A-D485-01C9-3E337A20E0BA}"/>
              </a:ext>
            </a:extLst>
          </p:cNvPr>
          <p:cNvSpPr/>
          <p:nvPr/>
        </p:nvSpPr>
        <p:spPr>
          <a:xfrm>
            <a:off x="12311686" y="2199830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2021年～2023年营业收入分别为2.79亿、2.87亿、2.57亿；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毛利分别为34.4%、41.6%、40.2%；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利润分别为：-5800万、-2200万、-1400万；</a:t>
            </a:r>
            <a:endParaRPr lang="zh-CN" altLang="zh-CN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36E5FC-C536-8122-4DA8-49002FF94ECE}"/>
              </a:ext>
            </a:extLst>
          </p:cNvPr>
          <p:cNvSpPr/>
          <p:nvPr/>
        </p:nvSpPr>
        <p:spPr>
          <a:xfrm>
            <a:off x="12327945" y="4502613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Facts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和主观判断对应上</a:t>
            </a:r>
            <a:endParaRPr lang="zh-CN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8F36E1-E717-FEC7-FD69-6C33AF472ACB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>
            <a:extLst>
              <a:ext uri="{FF2B5EF4-FFF2-40B4-BE49-F238E27FC236}">
                <a16:creationId xmlns:a16="http://schemas.microsoft.com/office/drawing/2014/main" id="{66BB9BDC-AA4F-FDA8-9111-1A2EDB980978}"/>
              </a:ext>
            </a:extLst>
          </p:cNvPr>
          <p:cNvSpPr txBox="1"/>
          <p:nvPr/>
        </p:nvSpPr>
        <p:spPr>
          <a:xfrm>
            <a:off x="249937" y="727488"/>
            <a:ext cx="1169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endParaRPr lang="zh-CN" altLang="en-US" sz="1600" dirty="0">
              <a:latin typeface="+mn-ea"/>
            </a:endParaRP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48EFA6E-A2A4-CA1D-1B52-3BFFCCA39D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66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04B4214-F4FE-6D40-EA5E-397660DE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AyarLabs</a:t>
            </a:r>
            <a:r>
              <a:rPr lang="en-US" altLang="zh-CN" baseline="30000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33F1C4-34DF-771E-D6FE-0C9C6EBA96D0}"/>
              </a:ext>
            </a:extLst>
          </p:cNvPr>
          <p:cNvSpPr txBox="1"/>
          <p:nvPr/>
        </p:nvSpPr>
        <p:spPr>
          <a:xfrm>
            <a:off x="419231" y="626351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官网、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crunchbase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轮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BP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E6B831-47A7-FFC5-58AB-2247F02F3AA7}"/>
              </a:ext>
            </a:extLst>
          </p:cNvPr>
          <p:cNvSpPr txBox="1"/>
          <p:nvPr/>
        </p:nvSpPr>
        <p:spPr>
          <a:xfrm>
            <a:off x="402128" y="135942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64286863-EAEA-76DD-C1D8-FD9BDA606664}"/>
              </a:ext>
            </a:extLst>
          </p:cNvPr>
          <p:cNvCxnSpPr>
            <a:cxnSpLocks/>
          </p:cNvCxnSpPr>
          <p:nvPr/>
        </p:nvCxnSpPr>
        <p:spPr>
          <a:xfrm>
            <a:off x="407777" y="167533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530A5B5-E239-7CC5-1FC5-95FB411798B0}"/>
              </a:ext>
            </a:extLst>
          </p:cNvPr>
          <p:cNvSpPr txBox="1"/>
          <p:nvPr/>
        </p:nvSpPr>
        <p:spPr>
          <a:xfrm>
            <a:off x="6181644" y="133901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运营进展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F39D5D99-1FCC-5C92-F731-AB8625C5BFD2}"/>
              </a:ext>
            </a:extLst>
          </p:cNvPr>
          <p:cNvCxnSpPr>
            <a:cxnSpLocks/>
          </p:cNvCxnSpPr>
          <p:nvPr/>
        </p:nvCxnSpPr>
        <p:spPr>
          <a:xfrm>
            <a:off x="6187293" y="165492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DBE51CF-5C44-D851-29F5-656C54A0037E}"/>
              </a:ext>
            </a:extLst>
          </p:cNvPr>
          <p:cNvSpPr txBox="1"/>
          <p:nvPr/>
        </p:nvSpPr>
        <p:spPr>
          <a:xfrm>
            <a:off x="385575" y="1760494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基于光I/O技术的光学芯粒制造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；产品验证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=&gt;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设计导入阶段</a:t>
            </a:r>
            <a:endParaRPr lang="zh-CN" altLang="zh-CN"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042843-2F38-6401-8966-20826A1A4B49}"/>
              </a:ext>
            </a:extLst>
          </p:cNvPr>
          <p:cNvGrpSpPr/>
          <p:nvPr/>
        </p:nvGrpSpPr>
        <p:grpSpPr>
          <a:xfrm>
            <a:off x="125207" y="2202796"/>
            <a:ext cx="5873979" cy="1249892"/>
            <a:chOff x="52932" y="2930313"/>
            <a:chExt cx="5873979" cy="1249892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06C4B61-96E6-D6DA-C299-7B4BAF216FB4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294268A-FD43-C6F6-3A58-6D43DD55E7C6}"/>
                </a:ext>
              </a:extLst>
            </p:cNvPr>
            <p:cNvGrpSpPr/>
            <p:nvPr/>
          </p:nvGrpSpPr>
          <p:grpSpPr>
            <a:xfrm>
              <a:off x="688894" y="2930313"/>
              <a:ext cx="5238017" cy="1249892"/>
              <a:chOff x="688894" y="2930313"/>
              <a:chExt cx="5238017" cy="124989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C05CFCE-4AEA-6800-7D9F-055A5D076A13}"/>
                  </a:ext>
                </a:extLst>
              </p:cNvPr>
              <p:cNvSpPr txBox="1"/>
              <p:nvPr/>
            </p:nvSpPr>
            <p:spPr>
              <a:xfrm>
                <a:off x="725321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2001</a:t>
                </a:r>
                <a:endParaRPr lang="zh-CN" altLang="en-US" sz="1400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AF7615-F8FB-05E0-CB9A-B56840C474EF}"/>
                  </a:ext>
                </a:extLst>
              </p:cNvPr>
              <p:cNvSpPr txBox="1"/>
              <p:nvPr/>
            </p:nvSpPr>
            <p:spPr>
              <a:xfrm>
                <a:off x="1877713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2002</a:t>
                </a:r>
                <a:endParaRPr lang="zh-CN" altLang="en-US" sz="1400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09A8FB-0713-5CDC-3FAF-56C4260B3414}"/>
                  </a:ext>
                </a:extLst>
              </p:cNvPr>
              <p:cNvSpPr txBox="1"/>
              <p:nvPr/>
            </p:nvSpPr>
            <p:spPr>
              <a:xfrm>
                <a:off x="4710386" y="3872428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2025</a:t>
                </a:r>
                <a:endParaRPr lang="zh-CN" altLang="en-US" sz="1400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6C9DC3-E939-1472-AB9C-3FFEFB7D1C6C}"/>
                  </a:ext>
                </a:extLst>
              </p:cNvPr>
              <p:cNvSpPr txBox="1"/>
              <p:nvPr/>
            </p:nvSpPr>
            <p:spPr>
              <a:xfrm>
                <a:off x="3701915" y="2930313"/>
                <a:ext cx="2224996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被中国上市公司RoboTechnik以10.11亿人民币价格收购全部股权；</a:t>
                </a:r>
                <a:endParaRPr kumimoji="0" lang="zh-CN" altLang="zh-CN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A5B7418-4184-95B7-AB6A-6BBE57BCBBDC}"/>
                  </a:ext>
                </a:extLst>
              </p:cNvPr>
              <p:cNvSpPr txBox="1"/>
              <p:nvPr/>
            </p:nvSpPr>
            <p:spPr>
              <a:xfrm>
                <a:off x="1622757" y="3089133"/>
                <a:ext cx="13962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获德国mic</a:t>
                </a:r>
                <a:r>
                  <a:rPr kumimoji="0" lang="en-US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 </a:t>
                </a: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seed轮投资</a:t>
                </a:r>
                <a:endParaRPr lang="zh-CN" altLang="en-US" sz="1100" dirty="0">
                  <a:latin typeface="+mn-ea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EB7F318-A39F-3423-F602-71474378ACAF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BD2B5D84-37EE-4FB1-B4BD-182990D64651}"/>
              </a:ext>
            </a:extLst>
          </p:cNvPr>
          <p:cNvSpPr txBox="1"/>
          <p:nvPr/>
        </p:nvSpPr>
        <p:spPr>
          <a:xfrm>
            <a:off x="374376" y="3539810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TeraPHY 芯粒与SuperNova 激光箱</a:t>
            </a:r>
          </a:p>
          <a:p>
            <a:endParaRPr lang="zh-CN" alt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E110C85-F069-101B-BA1E-A19B16B9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7" y="4050577"/>
            <a:ext cx="2643762" cy="173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FCB9F7AA-CB5C-D1A6-F2C4-164162736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16" y="4050577"/>
            <a:ext cx="287998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产品路线可以理解为CPO2.0：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CPO1.0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把光模块盒子 + 铜缆换成贴在主板边缘的光引擎 + 短光纤，主板→主板不再经过机框外面；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CPO2.0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直接把光收发器做成小芯粒(Chiplet)，贴在 GPU/CPU 封装里，电信号不出封装就变成光——等于把 SerDes 整块功能连同功耗一起拿掉，实现了芯片间的光互连；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F37CDAF-157A-535F-4220-E3ACA86B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644" y="3494480"/>
            <a:ext cx="5849613" cy="74676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工程落地进度：公司当前整体在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</a:rPr>
              <a:t>poc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——&gt;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量产之间，目前均以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demo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和样品形式呈现；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185FB8-D30C-2CE5-F5A5-4CE4190C847F}"/>
              </a:ext>
            </a:extLst>
          </p:cNvPr>
          <p:cNvSpPr txBox="1"/>
          <p:nvPr/>
        </p:nvSpPr>
        <p:spPr>
          <a:xfrm>
            <a:off x="6151275" y="1749556"/>
            <a:ext cx="5934045" cy="17902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6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技术路线押注：方向坚定但节奏不符合预期</a:t>
            </a:r>
            <a:endParaRPr lang="en-US" altLang="zh-CN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从2020年公司b轮融资的bp来看，公司押注的是25～29年所有短距离互连会光主导，而目前看来，这个预期在2～3年内实现的可能性都不大，一方面因为cpo的工程化稳定性也还在路上，一方面以Nvidia为代表的头部芯片厂商在短距离互连上还在进一步压榨铜的极限；</a:t>
            </a:r>
            <a:endParaRPr lang="en-US" altLang="zh-CN" sz="1600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但公司20年可见bp的技术路线与现在一致；</a:t>
            </a:r>
          </a:p>
          <a:p>
            <a:endParaRPr lang="zh-CN" altLang="zh-CN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A30E51-9CB0-28D4-D6B5-3278E06613F5}"/>
              </a:ext>
            </a:extLst>
          </p:cNvPr>
          <p:cNvSpPr/>
          <p:nvPr/>
        </p:nvSpPr>
        <p:spPr>
          <a:xfrm>
            <a:off x="6654170" y="4378627"/>
            <a:ext cx="4511670" cy="201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纵向时间轴图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45D1E0-B128-465D-7CED-F557609544FF}"/>
              </a:ext>
            </a:extLst>
          </p:cNvPr>
          <p:cNvSpPr/>
          <p:nvPr/>
        </p:nvSpPr>
        <p:spPr>
          <a:xfrm>
            <a:off x="12394570" y="3758007"/>
            <a:ext cx="4511670" cy="48594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2024-12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的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1.55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亿美金注资足以支撑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18-24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个月产线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CapEx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CEO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在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2024-10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公开表示 过去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个月已小批量出货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15 k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颗芯粒；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月，公司发布了全球首款符合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标准的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TeraPHY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光互连小芯片，搭载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16 λ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SuperNova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光源，单芯片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、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pJ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/bit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级能耗，可直接嵌入客户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SoC / GPU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封装，通过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电接口实现即插即用；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公司预计于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26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年首批高量产客户（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AI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加速卡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交换机）上机，但这极大程度取决于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月发布的产品的稳定性和实际需求；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A10068-256A-B8FE-29AD-0FD76AAE18EC}"/>
              </a:ext>
            </a:extLst>
          </p:cNvPr>
          <p:cNvSpPr/>
          <p:nvPr/>
        </p:nvSpPr>
        <p:spPr>
          <a:xfrm>
            <a:off x="352449" y="2360430"/>
            <a:ext cx="1115341" cy="1001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横向时间轴图</a:t>
            </a:r>
            <a:endParaRPr lang="en-US" altLang="zh-CN" sz="1200" dirty="0"/>
          </a:p>
          <a:p>
            <a:pPr algn="ctr"/>
            <a:r>
              <a:rPr lang="zh-CN" altLang="en-US" sz="1200" dirty="0"/>
              <a:t>成立与融资节点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768524-58E6-FB9E-8D39-2564C3640C8E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00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F6568-DD35-43D8-EC6D-47F9FD78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LightMatter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B0110E-F2B4-3878-5893-F6407ACC4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AFF2EA-83CA-1A2C-1DAF-8B8509CAD3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F493FB-5570-0734-338E-E98A660BF4AB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804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4643-937D-ED64-DE14-63E1BB13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E87FD-754D-73A2-30D8-A64ADAAD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Celestial AI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7D0E27-86A0-12C1-061D-7D468275F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95C4A-78D8-A7E6-D1C5-D91C4D46B9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A0837F-64D3-7552-2B3A-BE1D76BB800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280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9D2D0-2FC5-0520-DDDC-CCA38D02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OIO</a:t>
            </a:r>
            <a:r>
              <a:rPr lang="zh-CN" altLang="en-US" dirty="0"/>
              <a:t>打开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0E2E08-ADF5-5CB2-7FD0-24971A380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17DA1-0165-DF5B-3425-D31F19A3275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892552"/>
          </a:xfrm>
          <a:solidFill>
            <a:srgbClr val="FFFF00"/>
          </a:solidFill>
        </p:spPr>
        <p:txBody>
          <a:bodyPr/>
          <a:lstStyle/>
          <a:p>
            <a:r>
              <a:rPr lang="zh-CN" altLang="en-US" dirty="0"/>
              <a:t>中短期 </a:t>
            </a:r>
            <a:r>
              <a:rPr lang="en-US" altLang="zh-CN" dirty="0"/>
              <a:t>vs </a:t>
            </a:r>
            <a:r>
              <a:rPr lang="zh-CN" altLang="en-US" dirty="0"/>
              <a:t>长期</a:t>
            </a:r>
            <a:endParaRPr lang="en-US" altLang="zh-CN" dirty="0"/>
          </a:p>
          <a:p>
            <a:r>
              <a:rPr lang="zh-CN" altLang="en-US" dirty="0"/>
              <a:t>卡点多，落地难，</a:t>
            </a:r>
            <a:r>
              <a:rPr lang="en-US" altLang="zh-CN" dirty="0"/>
              <a:t>R&amp;D</a:t>
            </a:r>
            <a:r>
              <a:rPr lang="zh-CN" altLang="en-US" dirty="0"/>
              <a:t>阶段</a:t>
            </a:r>
            <a:endParaRPr lang="en-US" altLang="zh-CN" dirty="0"/>
          </a:p>
          <a:p>
            <a:r>
              <a:rPr lang="zh-CN" altLang="en-US" dirty="0"/>
              <a:t>哪些卡点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FB9DB-E3DF-4C8C-3B60-3D8B55BD3164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9AFA2C-107E-1D15-C507-81856CD320AF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7" name="矩形: 圆角 3366">
            <a:extLst>
              <a:ext uri="{FF2B5EF4-FFF2-40B4-BE49-F238E27FC236}">
                <a16:creationId xmlns:a16="http://schemas.microsoft.com/office/drawing/2014/main" id="{FEC555CB-841C-8461-0B14-A28C4B4CBE45}"/>
              </a:ext>
            </a:extLst>
          </p:cNvPr>
          <p:cNvSpPr/>
          <p:nvPr/>
        </p:nvSpPr>
        <p:spPr>
          <a:xfrm>
            <a:off x="9244945" y="6032021"/>
            <a:ext cx="1893162" cy="6804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3354" name="矩形: 圆角 3353">
            <a:extLst>
              <a:ext uri="{FF2B5EF4-FFF2-40B4-BE49-F238E27FC236}">
                <a16:creationId xmlns:a16="http://schemas.microsoft.com/office/drawing/2014/main" id="{785C745C-8643-F4AA-C3F3-32A74CE74714}"/>
              </a:ext>
            </a:extLst>
          </p:cNvPr>
          <p:cNvSpPr/>
          <p:nvPr/>
        </p:nvSpPr>
        <p:spPr>
          <a:xfrm>
            <a:off x="6282770" y="6036783"/>
            <a:ext cx="2010823" cy="7384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3316" name="文本框 3315">
            <a:extLst>
              <a:ext uri="{FF2B5EF4-FFF2-40B4-BE49-F238E27FC236}">
                <a16:creationId xmlns:a16="http://schemas.microsoft.com/office/drawing/2014/main" id="{19B9F07C-90D7-3446-01A3-D8FEDA787683}"/>
              </a:ext>
            </a:extLst>
          </p:cNvPr>
          <p:cNvSpPr txBox="1"/>
          <p:nvPr/>
        </p:nvSpPr>
        <p:spPr>
          <a:xfrm>
            <a:off x="8091751" y="5605104"/>
            <a:ext cx="1875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cs typeface="+mn-ea"/>
                <a:sym typeface="+mn-lt"/>
              </a:rPr>
              <a:t>4x</a:t>
            </a:r>
            <a:r>
              <a:rPr lang="zh-CN" altLang="en-US" sz="1200" dirty="0">
                <a:cs typeface="+mn-ea"/>
                <a:sym typeface="+mn-lt"/>
              </a:rPr>
              <a:t>通道并行</a:t>
            </a:r>
          </a:p>
        </p:txBody>
      </p:sp>
      <p:sp>
        <p:nvSpPr>
          <p:cNvPr id="3304" name="矩形: 圆角 3303">
            <a:extLst>
              <a:ext uri="{FF2B5EF4-FFF2-40B4-BE49-F238E27FC236}">
                <a16:creationId xmlns:a16="http://schemas.microsoft.com/office/drawing/2014/main" id="{0249785F-2827-6981-A6AA-79564BF16CEF}"/>
              </a:ext>
            </a:extLst>
          </p:cNvPr>
          <p:cNvSpPr/>
          <p:nvPr/>
        </p:nvSpPr>
        <p:spPr>
          <a:xfrm>
            <a:off x="6282770" y="6117488"/>
            <a:ext cx="2698004" cy="14076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cxnSp>
        <p:nvCxnSpPr>
          <p:cNvPr id="1048" name="连接符: 肘形 1047">
            <a:extLst>
              <a:ext uri="{FF2B5EF4-FFF2-40B4-BE49-F238E27FC236}">
                <a16:creationId xmlns:a16="http://schemas.microsoft.com/office/drawing/2014/main" id="{B0503867-EAC0-164B-4024-09EE26E2A602}"/>
              </a:ext>
            </a:extLst>
          </p:cNvPr>
          <p:cNvCxnSpPr>
            <a:cxnSpLocks/>
            <a:stCxn id="3324" idx="2"/>
            <a:endCxn id="3312" idx="2"/>
          </p:cNvCxnSpPr>
          <p:nvPr/>
        </p:nvCxnSpPr>
        <p:spPr>
          <a:xfrm rot="16200000" flipH="1">
            <a:off x="8084900" y="5495522"/>
            <a:ext cx="366449" cy="870622"/>
          </a:xfrm>
          <a:prstGeom prst="bentConnector3">
            <a:avLst>
              <a:gd name="adj1" fmla="val 125559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连接符: 肘形 1041">
            <a:extLst>
              <a:ext uri="{FF2B5EF4-FFF2-40B4-BE49-F238E27FC236}">
                <a16:creationId xmlns:a16="http://schemas.microsoft.com/office/drawing/2014/main" id="{D11C4EC5-649F-AB56-5530-B96016A311F1}"/>
              </a:ext>
            </a:extLst>
          </p:cNvPr>
          <p:cNvCxnSpPr>
            <a:cxnSpLocks/>
            <a:stCxn id="3322" idx="2"/>
            <a:endCxn id="3312" idx="2"/>
          </p:cNvCxnSpPr>
          <p:nvPr/>
        </p:nvCxnSpPr>
        <p:spPr>
          <a:xfrm rot="16200000" flipH="1">
            <a:off x="7803823" y="5214446"/>
            <a:ext cx="351634" cy="1447589"/>
          </a:xfrm>
          <a:prstGeom prst="bentConnector3">
            <a:avLst>
              <a:gd name="adj1" fmla="val 126185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国内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受限于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GPU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带宽限制，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优先落地于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Scale Up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4F535C-2B80-4222-0EFA-97C524269EB8}"/>
              </a:ext>
            </a:extLst>
          </p:cNvPr>
          <p:cNvSpPr txBox="1"/>
          <p:nvPr/>
        </p:nvSpPr>
        <p:spPr>
          <a:xfrm>
            <a:off x="12366780" y="1027912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速率限制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场景，海外优先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，国内优先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Up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41" name="矩形 3140">
            <a:extLst>
              <a:ext uri="{FF2B5EF4-FFF2-40B4-BE49-F238E27FC236}">
                <a16:creationId xmlns:a16="http://schemas.microsoft.com/office/drawing/2014/main" id="{272CC209-9CC9-1F05-1D4B-5EE24381A2AA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9CA1BE-BA21-140B-C552-76B73AE4D2A9}"/>
              </a:ext>
            </a:extLst>
          </p:cNvPr>
          <p:cNvSpPr txBox="1"/>
          <p:nvPr/>
        </p:nvSpPr>
        <p:spPr>
          <a:xfrm>
            <a:off x="6098321" y="2503120"/>
            <a:ext cx="5364362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海外：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优先落地于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Out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不急迫。因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速率不断提升，目前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4nm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下可实现单向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224Gbps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，不断压榨铜互连速率、距离极限 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19" name="文本框 3218">
            <a:extLst>
              <a:ext uri="{FF2B5EF4-FFF2-40B4-BE49-F238E27FC236}">
                <a16:creationId xmlns:a16="http://schemas.microsoft.com/office/drawing/2014/main" id="{08B09CF2-91CC-2DE7-C41C-E9E2ADA89D31}"/>
              </a:ext>
            </a:extLst>
          </p:cNvPr>
          <p:cNvSpPr txBox="1"/>
          <p:nvPr/>
        </p:nvSpPr>
        <p:spPr>
          <a:xfrm>
            <a:off x="6143128" y="4417827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国内：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优先落地于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 Up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。受限于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7nm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制程与进口限制，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速率仅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56Gbps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，为达到同等速率需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通道并行（物理上难以实现）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40" name="文本框 3239">
            <a:extLst>
              <a:ext uri="{FF2B5EF4-FFF2-40B4-BE49-F238E27FC236}">
                <a16:creationId xmlns:a16="http://schemas.microsoft.com/office/drawing/2014/main" id="{853EB270-BDD3-230F-11F4-5323284109AA}"/>
              </a:ext>
            </a:extLst>
          </p:cNvPr>
          <p:cNvSpPr txBox="1"/>
          <p:nvPr/>
        </p:nvSpPr>
        <p:spPr>
          <a:xfrm>
            <a:off x="639776" y="1617193"/>
            <a:ext cx="5364362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01" name="矩形: 圆角 3300">
            <a:extLst>
              <a:ext uri="{FF2B5EF4-FFF2-40B4-BE49-F238E27FC236}">
                <a16:creationId xmlns:a16="http://schemas.microsoft.com/office/drawing/2014/main" id="{1774F939-D683-C4AD-62BC-0CDE765984A3}"/>
              </a:ext>
            </a:extLst>
          </p:cNvPr>
          <p:cNvSpPr/>
          <p:nvPr/>
        </p:nvSpPr>
        <p:spPr>
          <a:xfrm rot="5400000">
            <a:off x="6940571" y="4824857"/>
            <a:ext cx="530537" cy="1877250"/>
          </a:xfrm>
          <a:prstGeom prst="round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3302" name="矩形: 圆角 3301">
            <a:extLst>
              <a:ext uri="{FF2B5EF4-FFF2-40B4-BE49-F238E27FC236}">
                <a16:creationId xmlns:a16="http://schemas.microsoft.com/office/drawing/2014/main" id="{070A0050-549A-7BA1-4B7F-8537DE2DF12B}"/>
              </a:ext>
            </a:extLst>
          </p:cNvPr>
          <p:cNvSpPr/>
          <p:nvPr/>
        </p:nvSpPr>
        <p:spPr>
          <a:xfrm>
            <a:off x="6355484" y="5565187"/>
            <a:ext cx="513394" cy="42715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  <a:cs typeface="+mn-ea"/>
                <a:sym typeface="+mn-lt"/>
              </a:rPr>
              <a:t>主控</a:t>
            </a:r>
          </a:p>
        </p:txBody>
      </p:sp>
      <p:sp>
        <p:nvSpPr>
          <p:cNvPr id="3305" name="矩形: 圆角 3304">
            <a:extLst>
              <a:ext uri="{FF2B5EF4-FFF2-40B4-BE49-F238E27FC236}">
                <a16:creationId xmlns:a16="http://schemas.microsoft.com/office/drawing/2014/main" id="{D2CB0011-7AAB-5BD0-05DF-E5DF92B8CDA3}"/>
              </a:ext>
            </a:extLst>
          </p:cNvPr>
          <p:cNvSpPr/>
          <p:nvPr/>
        </p:nvSpPr>
        <p:spPr>
          <a:xfrm>
            <a:off x="6993732" y="5798053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12" name="矩形: 圆角 3311">
            <a:extLst>
              <a:ext uri="{FF2B5EF4-FFF2-40B4-BE49-F238E27FC236}">
                <a16:creationId xmlns:a16="http://schemas.microsoft.com/office/drawing/2014/main" id="{3346F340-4270-8D72-FA88-78BF8B7485F4}"/>
              </a:ext>
            </a:extLst>
          </p:cNvPr>
          <p:cNvSpPr/>
          <p:nvPr/>
        </p:nvSpPr>
        <p:spPr>
          <a:xfrm>
            <a:off x="8491768" y="5933934"/>
            <a:ext cx="423334" cy="180124"/>
          </a:xfrm>
          <a:prstGeom prst="round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314" name="连接符: 肘形 3313">
            <a:extLst>
              <a:ext uri="{FF2B5EF4-FFF2-40B4-BE49-F238E27FC236}">
                <a16:creationId xmlns:a16="http://schemas.microsoft.com/office/drawing/2014/main" id="{B68BE836-E289-A954-3A76-3FBAF276FB55}"/>
              </a:ext>
            </a:extLst>
          </p:cNvPr>
          <p:cNvCxnSpPr>
            <a:cxnSpLocks/>
            <a:stCxn id="3305" idx="2"/>
            <a:endCxn id="3312" idx="2"/>
          </p:cNvCxnSpPr>
          <p:nvPr/>
        </p:nvCxnSpPr>
        <p:spPr>
          <a:xfrm rot="16200000" flipH="1">
            <a:off x="7923047" y="5333670"/>
            <a:ext cx="118768" cy="1442008"/>
          </a:xfrm>
          <a:prstGeom prst="bentConnector3">
            <a:avLst>
              <a:gd name="adj1" fmla="val 1334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1" name="矩形: 圆角 3320">
            <a:extLst>
              <a:ext uri="{FF2B5EF4-FFF2-40B4-BE49-F238E27FC236}">
                <a16:creationId xmlns:a16="http://schemas.microsoft.com/office/drawing/2014/main" id="{CBAD50C6-40EA-19E1-CA7B-75C0DC2BF79B}"/>
              </a:ext>
            </a:extLst>
          </p:cNvPr>
          <p:cNvSpPr/>
          <p:nvPr/>
        </p:nvSpPr>
        <p:spPr>
          <a:xfrm>
            <a:off x="7565118" y="5795106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22" name="矩形: 圆角 3321">
            <a:extLst>
              <a:ext uri="{FF2B5EF4-FFF2-40B4-BE49-F238E27FC236}">
                <a16:creationId xmlns:a16="http://schemas.microsoft.com/office/drawing/2014/main" id="{833F10B2-6805-7F1A-51F3-2AC865430080}"/>
              </a:ext>
            </a:extLst>
          </p:cNvPr>
          <p:cNvSpPr/>
          <p:nvPr/>
        </p:nvSpPr>
        <p:spPr>
          <a:xfrm>
            <a:off x="6988151" y="5565187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24" name="矩形: 圆角 3323">
            <a:extLst>
              <a:ext uri="{FF2B5EF4-FFF2-40B4-BE49-F238E27FC236}">
                <a16:creationId xmlns:a16="http://schemas.microsoft.com/office/drawing/2014/main" id="{AA59CC96-19D2-394A-B316-04CF65167652}"/>
              </a:ext>
            </a:extLst>
          </p:cNvPr>
          <p:cNvSpPr/>
          <p:nvPr/>
        </p:nvSpPr>
        <p:spPr>
          <a:xfrm>
            <a:off x="7565118" y="5550372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027" name="连接符: 肘形 1026">
            <a:extLst>
              <a:ext uri="{FF2B5EF4-FFF2-40B4-BE49-F238E27FC236}">
                <a16:creationId xmlns:a16="http://schemas.microsoft.com/office/drawing/2014/main" id="{DF7662A2-A2BC-E344-387F-9E074C01272B}"/>
              </a:ext>
            </a:extLst>
          </p:cNvPr>
          <p:cNvCxnSpPr>
            <a:cxnSpLocks/>
            <a:stCxn id="3321" idx="2"/>
            <a:endCxn id="3312" idx="2"/>
          </p:cNvCxnSpPr>
          <p:nvPr/>
        </p:nvCxnSpPr>
        <p:spPr>
          <a:xfrm rot="16200000" flipH="1">
            <a:off x="8207267" y="5617889"/>
            <a:ext cx="121715" cy="870622"/>
          </a:xfrm>
          <a:prstGeom prst="bentConnector3">
            <a:avLst>
              <a:gd name="adj1" fmla="val 13260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9" name="文本框 1058">
            <a:extLst>
              <a:ext uri="{FF2B5EF4-FFF2-40B4-BE49-F238E27FC236}">
                <a16:creationId xmlns:a16="http://schemas.microsoft.com/office/drawing/2014/main" id="{6CE9A590-FCBD-F75E-E296-7B9E3543A5CB}"/>
              </a:ext>
            </a:extLst>
          </p:cNvPr>
          <p:cNvSpPr txBox="1"/>
          <p:nvPr/>
        </p:nvSpPr>
        <p:spPr>
          <a:xfrm>
            <a:off x="6140491" y="5234730"/>
            <a:ext cx="650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zh-CN" altLang="en-US" sz="1200" dirty="0">
                <a:cs typeface="+mn-ea"/>
                <a:sym typeface="+mn-lt"/>
              </a:rPr>
              <a:t>可插拔：多通道干扰、难布线</a:t>
            </a:r>
          </a:p>
        </p:txBody>
      </p:sp>
      <p:sp>
        <p:nvSpPr>
          <p:cNvPr id="1083" name="矩形: 圆角 1082">
            <a:extLst>
              <a:ext uri="{FF2B5EF4-FFF2-40B4-BE49-F238E27FC236}">
                <a16:creationId xmlns:a16="http://schemas.microsoft.com/office/drawing/2014/main" id="{62DA0F2C-A949-DB09-C756-637F34641421}"/>
              </a:ext>
            </a:extLst>
          </p:cNvPr>
          <p:cNvSpPr/>
          <p:nvPr/>
        </p:nvSpPr>
        <p:spPr>
          <a:xfrm>
            <a:off x="9223113" y="6117488"/>
            <a:ext cx="2129709" cy="140764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cxnSp>
        <p:nvCxnSpPr>
          <p:cNvPr id="1085" name="连接符: 肘形 1084">
            <a:extLst>
              <a:ext uri="{FF2B5EF4-FFF2-40B4-BE49-F238E27FC236}">
                <a16:creationId xmlns:a16="http://schemas.microsoft.com/office/drawing/2014/main" id="{93DD2E17-A65E-79C1-494C-A8307DD2FC11}"/>
              </a:ext>
            </a:extLst>
          </p:cNvPr>
          <p:cNvCxnSpPr>
            <a:cxnSpLocks/>
            <a:stCxn id="3337" idx="2"/>
            <a:endCxn id="3332" idx="2"/>
          </p:cNvCxnSpPr>
          <p:nvPr/>
        </p:nvCxnSpPr>
        <p:spPr>
          <a:xfrm rot="16200000" flipH="1">
            <a:off x="10403585" y="5562096"/>
            <a:ext cx="267498" cy="650822"/>
          </a:xfrm>
          <a:prstGeom prst="bentConnector3">
            <a:avLst>
              <a:gd name="adj1" fmla="val 125049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矩形: 圆角 1085">
            <a:extLst>
              <a:ext uri="{FF2B5EF4-FFF2-40B4-BE49-F238E27FC236}">
                <a16:creationId xmlns:a16="http://schemas.microsoft.com/office/drawing/2014/main" id="{79DC3836-D46A-BC95-81FF-EE24A1F7680E}"/>
              </a:ext>
            </a:extLst>
          </p:cNvPr>
          <p:cNvSpPr/>
          <p:nvPr/>
        </p:nvSpPr>
        <p:spPr>
          <a:xfrm rot="5400000">
            <a:off x="9661806" y="5051034"/>
            <a:ext cx="530537" cy="1407566"/>
          </a:xfrm>
          <a:prstGeom prst="round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1087" name="矩形: 圆角 1086">
            <a:extLst>
              <a:ext uri="{FF2B5EF4-FFF2-40B4-BE49-F238E27FC236}">
                <a16:creationId xmlns:a16="http://schemas.microsoft.com/office/drawing/2014/main" id="{255D13BE-3824-EB2C-7EFB-1F361BBAFD12}"/>
              </a:ext>
            </a:extLst>
          </p:cNvPr>
          <p:cNvSpPr/>
          <p:nvPr/>
        </p:nvSpPr>
        <p:spPr>
          <a:xfrm>
            <a:off x="9311561" y="5556521"/>
            <a:ext cx="513394" cy="42715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  <a:cs typeface="+mn-ea"/>
                <a:sym typeface="+mn-lt"/>
              </a:rPr>
              <a:t>主控</a:t>
            </a:r>
          </a:p>
        </p:txBody>
      </p:sp>
      <p:sp>
        <p:nvSpPr>
          <p:cNvPr id="3331" name="矩形: 圆角 3330">
            <a:extLst>
              <a:ext uri="{FF2B5EF4-FFF2-40B4-BE49-F238E27FC236}">
                <a16:creationId xmlns:a16="http://schemas.microsoft.com/office/drawing/2014/main" id="{EEDD743D-EE55-7D96-0EC7-B942209D84F7}"/>
              </a:ext>
            </a:extLst>
          </p:cNvPr>
          <p:cNvSpPr/>
          <p:nvPr/>
        </p:nvSpPr>
        <p:spPr>
          <a:xfrm>
            <a:off x="9949809" y="5789387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32" name="矩形: 圆角 3331">
            <a:extLst>
              <a:ext uri="{FF2B5EF4-FFF2-40B4-BE49-F238E27FC236}">
                <a16:creationId xmlns:a16="http://schemas.microsoft.com/office/drawing/2014/main" id="{3504C959-6CC9-9928-24F3-229938EA7005}"/>
              </a:ext>
            </a:extLst>
          </p:cNvPr>
          <p:cNvSpPr/>
          <p:nvPr/>
        </p:nvSpPr>
        <p:spPr>
          <a:xfrm>
            <a:off x="10651078" y="5841132"/>
            <a:ext cx="423334" cy="180124"/>
          </a:xfrm>
          <a:prstGeom prst="round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334" name="连接符: 肘形 3333">
            <a:extLst>
              <a:ext uri="{FF2B5EF4-FFF2-40B4-BE49-F238E27FC236}">
                <a16:creationId xmlns:a16="http://schemas.microsoft.com/office/drawing/2014/main" id="{4FC446A4-52AB-6DE8-27DA-BBCCC5D23A11}"/>
              </a:ext>
            </a:extLst>
          </p:cNvPr>
          <p:cNvCxnSpPr>
            <a:cxnSpLocks/>
            <a:stCxn id="3331" idx="2"/>
            <a:endCxn id="3332" idx="2"/>
          </p:cNvCxnSpPr>
          <p:nvPr/>
        </p:nvCxnSpPr>
        <p:spPr>
          <a:xfrm rot="16200000" flipH="1">
            <a:off x="10522808" y="5681319"/>
            <a:ext cx="34632" cy="645241"/>
          </a:xfrm>
          <a:prstGeom prst="bentConnector3">
            <a:avLst>
              <a:gd name="adj1" fmla="val 192634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7" name="矩形: 圆角 3336">
            <a:extLst>
              <a:ext uri="{FF2B5EF4-FFF2-40B4-BE49-F238E27FC236}">
                <a16:creationId xmlns:a16="http://schemas.microsoft.com/office/drawing/2014/main" id="{501325B6-A634-3897-19A8-BDFC507FBBC2}"/>
              </a:ext>
            </a:extLst>
          </p:cNvPr>
          <p:cNvSpPr/>
          <p:nvPr/>
        </p:nvSpPr>
        <p:spPr>
          <a:xfrm>
            <a:off x="9944228" y="5556521"/>
            <a:ext cx="535390" cy="197237"/>
          </a:xfrm>
          <a:prstGeom prst="round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bg1"/>
                </a:solidFill>
                <a:cs typeface="+mn-ea"/>
                <a:sym typeface="+mn-lt"/>
              </a:rPr>
              <a:t>Serdes</a:t>
            </a:r>
            <a:endParaRPr lang="zh-CN" altLang="en-US" sz="8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41" name="文本框 3340">
            <a:extLst>
              <a:ext uri="{FF2B5EF4-FFF2-40B4-BE49-F238E27FC236}">
                <a16:creationId xmlns:a16="http://schemas.microsoft.com/office/drawing/2014/main" id="{9C5B53E0-C228-AB2C-9055-937C914A5B69}"/>
              </a:ext>
            </a:extLst>
          </p:cNvPr>
          <p:cNvSpPr txBox="1"/>
          <p:nvPr/>
        </p:nvSpPr>
        <p:spPr>
          <a:xfrm>
            <a:off x="9096568" y="5226064"/>
            <a:ext cx="6500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r>
              <a:rPr lang="en-US" altLang="zh-CN" sz="1200" dirty="0">
                <a:cs typeface="+mn-ea"/>
                <a:sym typeface="+mn-lt"/>
              </a:rPr>
              <a:t>CPO</a:t>
            </a:r>
            <a:r>
              <a:rPr lang="zh-CN" altLang="en-US" sz="1200" dirty="0">
                <a:cs typeface="+mn-ea"/>
                <a:sym typeface="+mn-lt"/>
              </a:rPr>
              <a:t>：干扰可忽略易布线</a:t>
            </a:r>
          </a:p>
        </p:txBody>
      </p:sp>
      <p:sp>
        <p:nvSpPr>
          <p:cNvPr id="3370" name="箭头: 右 3369">
            <a:extLst>
              <a:ext uri="{FF2B5EF4-FFF2-40B4-BE49-F238E27FC236}">
                <a16:creationId xmlns:a16="http://schemas.microsoft.com/office/drawing/2014/main" id="{6308EC3E-B9AF-CFE1-2BCD-33A618034660}"/>
              </a:ext>
            </a:extLst>
          </p:cNvPr>
          <p:cNvSpPr/>
          <p:nvPr/>
        </p:nvSpPr>
        <p:spPr>
          <a:xfrm>
            <a:off x="9029434" y="5739925"/>
            <a:ext cx="139215" cy="14217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371" name="矩形 3370">
            <a:extLst>
              <a:ext uri="{FF2B5EF4-FFF2-40B4-BE49-F238E27FC236}">
                <a16:creationId xmlns:a16="http://schemas.microsoft.com/office/drawing/2014/main" id="{B788BDA4-AEC7-174E-60C9-BFEB5585D7EB}"/>
              </a:ext>
            </a:extLst>
          </p:cNvPr>
          <p:cNvSpPr/>
          <p:nvPr/>
        </p:nvSpPr>
        <p:spPr>
          <a:xfrm>
            <a:off x="12687073" y="1785377"/>
            <a:ext cx="940862" cy="27615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国内和国外分开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确认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是不是卡脖子环节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88D7E0C-453C-6326-7DB9-572A85A52F64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CB66F6D-4F1C-F368-0A38-4BE5AA684159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 Up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下亟需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解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Serdes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速率瓶颈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C45565-EC1B-5D1D-99A3-5A79B14DD9AA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730B3B19-E012-3749-EFB6-6FE3870AA39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825E03D-14AD-5599-B770-2113CC4164C1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Serdes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速率限制带宽，国内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Serdes</a:t>
              </a:r>
              <a:r>
                <a:rPr kumimoji="1" lang="zh-CN" altLang="en-US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难突破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56Gbps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F64265D1-2B14-B03E-642A-033893A5B82B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917E9314-C009-5795-0852-6E7CEE8E73B2}"/>
              </a:ext>
            </a:extLst>
          </p:cNvPr>
          <p:cNvSpPr txBox="1"/>
          <p:nvPr/>
        </p:nvSpPr>
        <p:spPr>
          <a:xfrm>
            <a:off x="598141" y="1560262"/>
            <a:ext cx="5356341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lang="pt-BR" altLang="zh-CN" dirty="0">
                <a:cs typeface="+mn-ea"/>
                <a:sym typeface="+mn-lt"/>
              </a:rPr>
              <a:t> </a:t>
            </a:r>
            <a:r>
              <a:rPr kumimoji="1" lang="pt-BR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Serializer</a:t>
            </a:r>
            <a:r>
              <a:rPr kumimoji="1" lang="zh-CN" altLang="pt-BR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（串行器）</a:t>
            </a:r>
            <a:r>
              <a:rPr kumimoji="1" lang="pt-BR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/Deserializer</a:t>
            </a:r>
            <a:r>
              <a:rPr kumimoji="1" lang="zh-CN" altLang="pt-BR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（解串器）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，高速传输的“源头”</a:t>
            </a:r>
            <a:endParaRPr lang="zh-CN" altLang="en-US" dirty="0"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F233BA-B7D0-C01F-5D94-93842FB22EB4}"/>
              </a:ext>
            </a:extLst>
          </p:cNvPr>
          <p:cNvSpPr txBox="1"/>
          <p:nvPr/>
        </p:nvSpPr>
        <p:spPr>
          <a:xfrm>
            <a:off x="579105" y="4164564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国内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Serdes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速率仅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56Gbps</a:t>
            </a:r>
          </a:p>
        </p:txBody>
      </p:sp>
      <p:grpSp>
        <p:nvGrpSpPr>
          <p:cNvPr id="3139" name="组合 3138">
            <a:extLst>
              <a:ext uri="{FF2B5EF4-FFF2-40B4-BE49-F238E27FC236}">
                <a16:creationId xmlns:a16="http://schemas.microsoft.com/office/drawing/2014/main" id="{4B2C3B52-4CEA-4933-0D14-77A94A1570EB}"/>
              </a:ext>
            </a:extLst>
          </p:cNvPr>
          <p:cNvGrpSpPr/>
          <p:nvPr/>
        </p:nvGrpSpPr>
        <p:grpSpPr>
          <a:xfrm>
            <a:off x="669218" y="3321822"/>
            <a:ext cx="5757100" cy="636922"/>
            <a:chOff x="576731" y="2326185"/>
            <a:chExt cx="5757100" cy="63692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0E7AC9B-7DB7-A6E9-C011-4D271FBD998D}"/>
                </a:ext>
              </a:extLst>
            </p:cNvPr>
            <p:cNvGrpSpPr/>
            <p:nvPr/>
          </p:nvGrpSpPr>
          <p:grpSpPr>
            <a:xfrm>
              <a:off x="576731" y="2384704"/>
              <a:ext cx="5046800" cy="578403"/>
              <a:chOff x="598140" y="2002737"/>
              <a:chExt cx="5046800" cy="578403"/>
            </a:xfrm>
          </p:grpSpPr>
          <p:sp>
            <p:nvSpPr>
              <p:cNvPr id="3266" name="文本框 3265">
                <a:extLst>
                  <a:ext uri="{FF2B5EF4-FFF2-40B4-BE49-F238E27FC236}">
                    <a16:creationId xmlns:a16="http://schemas.microsoft.com/office/drawing/2014/main" id="{97EA3133-4B77-FFBD-6DF2-77B8C7F81E79}"/>
                  </a:ext>
                </a:extLst>
              </p:cNvPr>
              <p:cNvSpPr txBox="1"/>
              <p:nvPr/>
            </p:nvSpPr>
            <p:spPr>
              <a:xfrm>
                <a:off x="1984600" y="2319530"/>
                <a:ext cx="215575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1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低速并行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  <p:sp>
            <p:nvSpPr>
              <p:cNvPr id="3241" name="矩形: 圆角 3240">
                <a:extLst>
                  <a:ext uri="{FF2B5EF4-FFF2-40B4-BE49-F238E27FC236}">
                    <a16:creationId xmlns:a16="http://schemas.microsoft.com/office/drawing/2014/main" id="{B01E26A5-6C9E-6876-9BBE-DC44BC938952}"/>
                  </a:ext>
                </a:extLst>
              </p:cNvPr>
              <p:cNvSpPr/>
              <p:nvPr/>
            </p:nvSpPr>
            <p:spPr>
              <a:xfrm rot="5400000">
                <a:off x="2551066" y="49811"/>
                <a:ext cx="546009" cy="4451861"/>
              </a:xfrm>
              <a:prstGeom prst="round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242" name="矩形: 圆角 3241">
                <a:extLst>
                  <a:ext uri="{FF2B5EF4-FFF2-40B4-BE49-F238E27FC236}">
                    <a16:creationId xmlns:a16="http://schemas.microsoft.com/office/drawing/2014/main" id="{1BAB3BC1-2AC0-CDD4-C458-1D7DEAB3BAD8}"/>
                  </a:ext>
                </a:extLst>
              </p:cNvPr>
              <p:cNvSpPr/>
              <p:nvPr/>
            </p:nvSpPr>
            <p:spPr>
              <a:xfrm>
                <a:off x="1843591" y="2104293"/>
                <a:ext cx="815775" cy="334082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主控</a:t>
                </a:r>
              </a:p>
            </p:txBody>
          </p:sp>
          <p:sp>
            <p:nvSpPr>
              <p:cNvPr id="3244" name="矩形: 圆角 3243">
                <a:extLst>
                  <a:ext uri="{FF2B5EF4-FFF2-40B4-BE49-F238E27FC236}">
                    <a16:creationId xmlns:a16="http://schemas.microsoft.com/office/drawing/2014/main" id="{3CE594A2-60A3-2D4D-9D67-3040E4CC84DB}"/>
                  </a:ext>
                </a:extLst>
              </p:cNvPr>
              <p:cNvSpPr/>
              <p:nvPr/>
            </p:nvSpPr>
            <p:spPr>
              <a:xfrm>
                <a:off x="3456502" y="2100558"/>
                <a:ext cx="728908" cy="336859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Serdes</a:t>
                </a:r>
                <a:endParaRPr lang="zh-CN" altLang="en-US" sz="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264" name="组合 3263">
                <a:extLst>
                  <a:ext uri="{FF2B5EF4-FFF2-40B4-BE49-F238E27FC236}">
                    <a16:creationId xmlns:a16="http://schemas.microsoft.com/office/drawing/2014/main" id="{EB7DE3DC-73E0-89D6-8B04-818A9B897EF7}"/>
                  </a:ext>
                </a:extLst>
              </p:cNvPr>
              <p:cNvGrpSpPr/>
              <p:nvPr/>
            </p:nvGrpSpPr>
            <p:grpSpPr>
              <a:xfrm>
                <a:off x="2662709" y="2193567"/>
                <a:ext cx="797136" cy="150839"/>
                <a:chOff x="8489113" y="1978196"/>
                <a:chExt cx="797136" cy="150839"/>
              </a:xfrm>
            </p:grpSpPr>
            <p:cxnSp>
              <p:nvCxnSpPr>
                <p:cNvPr id="3243" name="直接连接符 3242">
                  <a:extLst>
                    <a:ext uri="{FF2B5EF4-FFF2-40B4-BE49-F238E27FC236}">
                      <a16:creationId xmlns:a16="http://schemas.microsoft.com/office/drawing/2014/main" id="{B1AC1A55-7704-2149-B0A0-BA8D2D4C8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89113" y="1978196"/>
                  <a:ext cx="797136" cy="2346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9" name="直接连接符 3258">
                  <a:extLst>
                    <a:ext uri="{FF2B5EF4-FFF2-40B4-BE49-F238E27FC236}">
                      <a16:creationId xmlns:a16="http://schemas.microsoft.com/office/drawing/2014/main" id="{87EB7359-5151-A2EB-ED9C-3449E23E44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89113" y="2052442"/>
                  <a:ext cx="797136" cy="2346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1" name="直接连接符 3260">
                  <a:extLst>
                    <a:ext uri="{FF2B5EF4-FFF2-40B4-BE49-F238E27FC236}">
                      <a16:creationId xmlns:a16="http://schemas.microsoft.com/office/drawing/2014/main" id="{579A9A92-1E71-3CBD-BC7C-05D9D4B3EA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89113" y="2126689"/>
                  <a:ext cx="797136" cy="2346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263" name="文本框 3262">
                <a:extLst>
                  <a:ext uri="{FF2B5EF4-FFF2-40B4-BE49-F238E27FC236}">
                    <a16:creationId xmlns:a16="http://schemas.microsoft.com/office/drawing/2014/main" id="{6455E238-1EA6-176F-18CD-13BCAADE9630}"/>
                  </a:ext>
                </a:extLst>
              </p:cNvPr>
              <p:cNvSpPr txBox="1"/>
              <p:nvPr/>
            </p:nvSpPr>
            <p:spPr>
              <a:xfrm>
                <a:off x="625905" y="2131229"/>
                <a:ext cx="12176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交换机芯片</a:t>
                </a:r>
              </a:p>
            </p:txBody>
          </p:sp>
          <p:cxnSp>
            <p:nvCxnSpPr>
              <p:cNvPr id="3268" name="直接连接符 3267">
                <a:extLst>
                  <a:ext uri="{FF2B5EF4-FFF2-40B4-BE49-F238E27FC236}">
                    <a16:creationId xmlns:a16="http://schemas.microsoft.com/office/drawing/2014/main" id="{4FC13E4B-CAE5-69F2-C85D-0C4C85277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5410" y="2267868"/>
                <a:ext cx="1459530" cy="0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70" name="文本框 3269">
                <a:extLst>
                  <a:ext uri="{FF2B5EF4-FFF2-40B4-BE49-F238E27FC236}">
                    <a16:creationId xmlns:a16="http://schemas.microsoft.com/office/drawing/2014/main" id="{5F701EED-18F5-CBB4-B85B-17E8C690D505}"/>
                  </a:ext>
                </a:extLst>
              </p:cNvPr>
              <p:cNvSpPr txBox="1"/>
              <p:nvPr/>
            </p:nvSpPr>
            <p:spPr>
              <a:xfrm>
                <a:off x="3759767" y="2294638"/>
                <a:ext cx="1724802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110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高速串行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  <p:sp>
            <p:nvSpPr>
              <p:cNvPr id="3286" name="流程图: 摘录 3285">
                <a:extLst>
                  <a:ext uri="{FF2B5EF4-FFF2-40B4-BE49-F238E27FC236}">
                    <a16:creationId xmlns:a16="http://schemas.microsoft.com/office/drawing/2014/main" id="{BD096151-3AF1-816B-4158-7CBF111F77C6}"/>
                  </a:ext>
                </a:extLst>
              </p:cNvPr>
              <p:cNvSpPr/>
              <p:nvPr/>
            </p:nvSpPr>
            <p:spPr>
              <a:xfrm rot="5400000">
                <a:off x="3029243" y="2172107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88" name="流程图: 摘录 3287">
                <a:extLst>
                  <a:ext uri="{FF2B5EF4-FFF2-40B4-BE49-F238E27FC236}">
                    <a16:creationId xmlns:a16="http://schemas.microsoft.com/office/drawing/2014/main" id="{9B1068C3-A330-1E4C-B106-81C6D5FCF62D}"/>
                  </a:ext>
                </a:extLst>
              </p:cNvPr>
              <p:cNvSpPr/>
              <p:nvPr/>
            </p:nvSpPr>
            <p:spPr>
              <a:xfrm rot="5400000">
                <a:off x="3029243" y="2247149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91" name="流程图: 摘录 3290">
                <a:extLst>
                  <a:ext uri="{FF2B5EF4-FFF2-40B4-BE49-F238E27FC236}">
                    <a16:creationId xmlns:a16="http://schemas.microsoft.com/office/drawing/2014/main" id="{81105D63-9318-E138-1C23-DC1156571B15}"/>
                  </a:ext>
                </a:extLst>
              </p:cNvPr>
              <p:cNvSpPr/>
              <p:nvPr/>
            </p:nvSpPr>
            <p:spPr>
              <a:xfrm rot="5400000">
                <a:off x="3029243" y="2324472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92" name="流程图: 摘录 3291">
                <a:extLst>
                  <a:ext uri="{FF2B5EF4-FFF2-40B4-BE49-F238E27FC236}">
                    <a16:creationId xmlns:a16="http://schemas.microsoft.com/office/drawing/2014/main" id="{EF922F8D-1547-19B7-C01C-D38C2FE7B74C}"/>
                  </a:ext>
                </a:extLst>
              </p:cNvPr>
              <p:cNvSpPr/>
              <p:nvPr/>
            </p:nvSpPr>
            <p:spPr>
              <a:xfrm rot="5400000">
                <a:off x="4581085" y="2242304"/>
                <a:ext cx="71107" cy="45719"/>
              </a:xfrm>
              <a:prstGeom prst="flowChartExtra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5C2E30C-CF8D-5835-8FB9-09ABF90B4B92}"/>
                </a:ext>
              </a:extLst>
            </p:cNvPr>
            <p:cNvSpPr txBox="1"/>
            <p:nvPr/>
          </p:nvSpPr>
          <p:spPr>
            <a:xfrm>
              <a:off x="5028592" y="2326185"/>
              <a:ext cx="1305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cs typeface="+mn-ea"/>
                  <a:sym typeface="+mn-lt"/>
                </a:rPr>
                <a:t>224Gbps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3140" name="组合 3139">
            <a:extLst>
              <a:ext uri="{FF2B5EF4-FFF2-40B4-BE49-F238E27FC236}">
                <a16:creationId xmlns:a16="http://schemas.microsoft.com/office/drawing/2014/main" id="{E5D884B6-2372-B8BD-6747-FF546A69C628}"/>
              </a:ext>
            </a:extLst>
          </p:cNvPr>
          <p:cNvGrpSpPr/>
          <p:nvPr/>
        </p:nvGrpSpPr>
        <p:grpSpPr>
          <a:xfrm>
            <a:off x="696983" y="2157478"/>
            <a:ext cx="4720197" cy="1138398"/>
            <a:chOff x="598141" y="3177090"/>
            <a:chExt cx="4720197" cy="1138398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42E1470-C2F7-5EB1-2139-E2959689897A}"/>
                </a:ext>
              </a:extLst>
            </p:cNvPr>
            <p:cNvSpPr txBox="1"/>
            <p:nvPr/>
          </p:nvSpPr>
          <p:spPr>
            <a:xfrm>
              <a:off x="3640564" y="3456695"/>
              <a:ext cx="1677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r>
                <a:rPr lang="en-US" altLang="zh-CN" dirty="0">
                  <a:cs typeface="+mn-ea"/>
                  <a:sym typeface="+mn-lt"/>
                </a:rPr>
                <a:t>100GB</a:t>
              </a:r>
              <a:r>
                <a:rPr lang="zh-CN" altLang="en-US" dirty="0">
                  <a:cs typeface="+mn-ea"/>
                  <a:sym typeface="+mn-lt"/>
                </a:rPr>
                <a:t>端口</a:t>
              </a:r>
            </a:p>
          </p:txBody>
        </p:sp>
        <p:grpSp>
          <p:nvGrpSpPr>
            <p:cNvPr id="3137" name="组合 3136">
              <a:extLst>
                <a:ext uri="{FF2B5EF4-FFF2-40B4-BE49-F238E27FC236}">
                  <a16:creationId xmlns:a16="http://schemas.microsoft.com/office/drawing/2014/main" id="{1F28E48B-D7C2-2948-4B7B-43F7851607D8}"/>
                </a:ext>
              </a:extLst>
            </p:cNvPr>
            <p:cNvGrpSpPr/>
            <p:nvPr/>
          </p:nvGrpSpPr>
          <p:grpSpPr>
            <a:xfrm>
              <a:off x="598141" y="3177090"/>
              <a:ext cx="4093584" cy="1138398"/>
              <a:chOff x="598141" y="3177090"/>
              <a:chExt cx="4093584" cy="1138398"/>
            </a:xfrm>
          </p:grpSpPr>
          <p:sp>
            <p:nvSpPr>
              <p:cNvPr id="3349" name="矩形: 圆角 3348">
                <a:extLst>
                  <a:ext uri="{FF2B5EF4-FFF2-40B4-BE49-F238E27FC236}">
                    <a16:creationId xmlns:a16="http://schemas.microsoft.com/office/drawing/2014/main" id="{61D4C7E9-6CAA-F2EC-B0AD-29A346A63667}"/>
                  </a:ext>
                </a:extLst>
              </p:cNvPr>
              <p:cNvSpPr/>
              <p:nvPr/>
            </p:nvSpPr>
            <p:spPr>
              <a:xfrm>
                <a:off x="639776" y="3804676"/>
                <a:ext cx="1652574" cy="85733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4054776-E833-2D3C-A006-3AB508CF3D0B}"/>
                  </a:ext>
                </a:extLst>
              </p:cNvPr>
              <p:cNvSpPr txBox="1"/>
              <p:nvPr/>
            </p:nvSpPr>
            <p:spPr>
              <a:xfrm>
                <a:off x="839547" y="3177090"/>
                <a:ext cx="12176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交换机芯片</a:t>
                </a:r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C6D52C5F-E541-DB3E-C0FF-2BD1FA7B955E}"/>
                  </a:ext>
                </a:extLst>
              </p:cNvPr>
              <p:cNvSpPr/>
              <p:nvPr/>
            </p:nvSpPr>
            <p:spPr>
              <a:xfrm rot="5400000">
                <a:off x="1294502" y="2893221"/>
                <a:ext cx="307776" cy="1499090"/>
              </a:xfrm>
              <a:prstGeom prst="round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2028C66D-A29B-E378-ABBF-8D802B0361B8}"/>
                  </a:ext>
                </a:extLst>
              </p:cNvPr>
              <p:cNvSpPr/>
              <p:nvPr/>
            </p:nvSpPr>
            <p:spPr>
              <a:xfrm>
                <a:off x="760291" y="3523617"/>
                <a:ext cx="630255" cy="245934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主控</a:t>
                </a:r>
              </a:p>
            </p:txBody>
          </p:sp>
          <p:sp>
            <p:nvSpPr>
              <p:cNvPr id="3172" name="矩形: 圆角 3171">
                <a:extLst>
                  <a:ext uri="{FF2B5EF4-FFF2-40B4-BE49-F238E27FC236}">
                    <a16:creationId xmlns:a16="http://schemas.microsoft.com/office/drawing/2014/main" id="{9FB8C025-F481-B245-95C5-78360C4E4C65}"/>
                  </a:ext>
                </a:extLst>
              </p:cNvPr>
              <p:cNvSpPr/>
              <p:nvPr/>
            </p:nvSpPr>
            <p:spPr>
              <a:xfrm>
                <a:off x="598141" y="3890409"/>
                <a:ext cx="2701742" cy="13819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 dirty="0">
                  <a:cs typeface="+mn-ea"/>
                  <a:sym typeface="+mn-lt"/>
                </a:endParaRPr>
              </a:p>
            </p:txBody>
          </p:sp>
          <p:sp>
            <p:nvSpPr>
              <p:cNvPr id="3175" name="矩形: 圆角 3174">
                <a:extLst>
                  <a:ext uri="{FF2B5EF4-FFF2-40B4-BE49-F238E27FC236}">
                    <a16:creationId xmlns:a16="http://schemas.microsoft.com/office/drawing/2014/main" id="{1E641BE7-9160-7C44-1780-AAD047F006AC}"/>
                  </a:ext>
                </a:extLst>
              </p:cNvPr>
              <p:cNvSpPr/>
              <p:nvPr/>
            </p:nvSpPr>
            <p:spPr>
              <a:xfrm>
                <a:off x="1526605" y="3519729"/>
                <a:ext cx="630254" cy="245935"/>
              </a:xfrm>
              <a:prstGeom prst="roundRect">
                <a:avLst/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  <a:cs typeface="+mn-ea"/>
                    <a:sym typeface="+mn-lt"/>
                  </a:rPr>
                  <a:t>Serdes</a:t>
                </a:r>
                <a:endParaRPr lang="zh-CN" altLang="en-US" sz="8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78" name="矩形: 圆角 3177">
                <a:extLst>
                  <a:ext uri="{FF2B5EF4-FFF2-40B4-BE49-F238E27FC236}">
                    <a16:creationId xmlns:a16="http://schemas.microsoft.com/office/drawing/2014/main" id="{374F5507-4B45-6117-1F02-4CE15A4FB6D3}"/>
                  </a:ext>
                </a:extLst>
              </p:cNvPr>
              <p:cNvSpPr/>
              <p:nvPr/>
            </p:nvSpPr>
            <p:spPr>
              <a:xfrm>
                <a:off x="2808861" y="3706504"/>
                <a:ext cx="423334" cy="180124"/>
              </a:xfrm>
              <a:prstGeom prst="roundRect">
                <a:avLst/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3180" name="连接符: 肘形 3179">
                <a:extLst>
                  <a:ext uri="{FF2B5EF4-FFF2-40B4-BE49-F238E27FC236}">
                    <a16:creationId xmlns:a16="http://schemas.microsoft.com/office/drawing/2014/main" id="{939276A6-17B8-24A0-DA9A-A404FD2430CF}"/>
                  </a:ext>
                </a:extLst>
              </p:cNvPr>
              <p:cNvCxnSpPr>
                <a:cxnSpLocks/>
                <a:stCxn id="3175" idx="2"/>
                <a:endCxn id="3178" idx="2"/>
              </p:cNvCxnSpPr>
              <p:nvPr/>
            </p:nvCxnSpPr>
            <p:spPr>
              <a:xfrm rot="16200000" flipH="1">
                <a:off x="2370648" y="3236748"/>
                <a:ext cx="120964" cy="1178796"/>
              </a:xfrm>
              <a:prstGeom prst="bentConnector3">
                <a:avLst>
                  <a:gd name="adj1" fmla="val 176992"/>
                </a:avLst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94" name="文本框 3193">
                <a:extLst>
                  <a:ext uri="{FF2B5EF4-FFF2-40B4-BE49-F238E27FC236}">
                    <a16:creationId xmlns:a16="http://schemas.microsoft.com/office/drawing/2014/main" id="{3B016A73-36DC-F145-873C-F6EB56F0A9A2}"/>
                  </a:ext>
                </a:extLst>
              </p:cNvPr>
              <p:cNvSpPr txBox="1"/>
              <p:nvPr/>
            </p:nvSpPr>
            <p:spPr>
              <a:xfrm>
                <a:off x="2431025" y="3418779"/>
                <a:ext cx="121768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00" b="0" dirty="0">
                    <a:solidFill>
                      <a:schemeClr val="tx1">
                        <a:lumMod val="50000"/>
                      </a:schemeClr>
                    </a:solidFill>
                    <a:cs typeface="+mn-ea"/>
                    <a:sym typeface="+mn-lt"/>
                  </a:rPr>
                  <a:t>外部组件</a:t>
                </a:r>
              </a:p>
            </p:txBody>
          </p:sp>
          <p:sp>
            <p:nvSpPr>
              <p:cNvPr id="3195" name="文本框 3194">
                <a:extLst>
                  <a:ext uri="{FF2B5EF4-FFF2-40B4-BE49-F238E27FC236}">
                    <a16:creationId xmlns:a16="http://schemas.microsoft.com/office/drawing/2014/main" id="{0A8DFC3B-EFED-198E-2B90-2817FFA8BB1E}"/>
                  </a:ext>
                </a:extLst>
              </p:cNvPr>
              <p:cNvSpPr txBox="1"/>
              <p:nvPr/>
            </p:nvSpPr>
            <p:spPr>
              <a:xfrm>
                <a:off x="1864977" y="4007711"/>
                <a:ext cx="1875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2×224Gbps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cxnSp>
            <p:nvCxnSpPr>
              <p:cNvPr id="3203" name="连接符: 肘形 3202">
                <a:extLst>
                  <a:ext uri="{FF2B5EF4-FFF2-40B4-BE49-F238E27FC236}">
                    <a16:creationId xmlns:a16="http://schemas.microsoft.com/office/drawing/2014/main" id="{CA14D849-CA24-1EFA-2351-AC81B8002519}"/>
                  </a:ext>
                </a:extLst>
              </p:cNvPr>
              <p:cNvCxnSpPr>
                <a:cxnSpLocks/>
                <a:stCxn id="3175" idx="2"/>
                <a:endCxn id="3178" idx="2"/>
              </p:cNvCxnSpPr>
              <p:nvPr/>
            </p:nvCxnSpPr>
            <p:spPr>
              <a:xfrm rot="16200000" flipH="1">
                <a:off x="2370648" y="3236748"/>
                <a:ext cx="120964" cy="1178796"/>
              </a:xfrm>
              <a:prstGeom prst="bentConnector3">
                <a:avLst>
                  <a:gd name="adj1" fmla="val 131497"/>
                </a:avLst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36" name="组合 3135">
                <a:extLst>
                  <a:ext uri="{FF2B5EF4-FFF2-40B4-BE49-F238E27FC236}">
                    <a16:creationId xmlns:a16="http://schemas.microsoft.com/office/drawing/2014/main" id="{6A78A0DF-0CBA-1CF4-146C-F220AF540076}"/>
                  </a:ext>
                </a:extLst>
              </p:cNvPr>
              <p:cNvGrpSpPr/>
              <p:nvPr/>
            </p:nvGrpSpPr>
            <p:grpSpPr>
              <a:xfrm>
                <a:off x="3232195" y="3767441"/>
                <a:ext cx="1459530" cy="71107"/>
                <a:chOff x="3587443" y="3928396"/>
                <a:chExt cx="1459530" cy="71107"/>
              </a:xfrm>
            </p:grpSpPr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3E8AC818-E023-E58E-D86E-B8F2A57FCD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7443" y="3966654"/>
                  <a:ext cx="1459530" cy="0"/>
                </a:xfrm>
                <a:prstGeom prst="line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流程图: 摘录 54">
                  <a:extLst>
                    <a:ext uri="{FF2B5EF4-FFF2-40B4-BE49-F238E27FC236}">
                      <a16:creationId xmlns:a16="http://schemas.microsoft.com/office/drawing/2014/main" id="{2F0BD9DB-7EB4-A47B-6DD8-E193B92036D7}"/>
                    </a:ext>
                  </a:extLst>
                </p:cNvPr>
                <p:cNvSpPr/>
                <p:nvPr/>
              </p:nvSpPr>
              <p:spPr>
                <a:xfrm rot="5400000">
                  <a:off x="3983118" y="3941090"/>
                  <a:ext cx="71107" cy="45719"/>
                </a:xfrm>
                <a:prstGeom prst="flowChartExtract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3142" name="箭头: 左弧形 3141">
            <a:extLst>
              <a:ext uri="{FF2B5EF4-FFF2-40B4-BE49-F238E27FC236}">
                <a16:creationId xmlns:a16="http://schemas.microsoft.com/office/drawing/2014/main" id="{E5995D81-6954-9232-BAC8-3F07248DFB84}"/>
              </a:ext>
            </a:extLst>
          </p:cNvPr>
          <p:cNvSpPr/>
          <p:nvPr/>
        </p:nvSpPr>
        <p:spPr>
          <a:xfrm>
            <a:off x="338356" y="2587626"/>
            <a:ext cx="247664" cy="1084616"/>
          </a:xfrm>
          <a:prstGeom prst="curved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附录：产业和公司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eIC</a:t>
            </a:r>
            <a:endParaRPr dirty="0"/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SiPho</a:t>
            </a:r>
            <a:endParaRPr dirty="0"/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C47217-AE45-D9DC-B66D-5FF91E2E5A6C}"/>
              </a:ext>
            </a:extLst>
          </p:cNvPr>
          <p:cNvSpPr/>
          <p:nvPr/>
        </p:nvSpPr>
        <p:spPr>
          <a:xfrm>
            <a:off x="11216587" y="564491"/>
            <a:ext cx="940862" cy="41816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Draft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5.90203417167100052865E+00&quot;&gt;&lt;m_msothmcolidx val=&quot;0&quot;/&gt;&lt;m_rgb r=&quot;00&quot; g=&quot;52&quot; b=&quot;D9&quot;/&gt;&lt;/elem&gt;&lt;elem m_fUsage=&quot;9.00000000000000022204E-01&quot;&gt;&lt;m_msothmcolidx val=&quot;0&quot;/&gt;&lt;m_rgb r=&quot;C1&quot; g=&quot;E1&quot; b=&quot;FE&quot;/&gt;&lt;/elem&gt;&lt;elem m_fUsage=&quot;6.56100000000000127542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5AA_GQsT6Kn3YfzuL4an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.OhRqvFvMJL9RynG2xk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NluZqToqe35fQBvA6BK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Yt7NfugCFKW2.irbeZ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6WcRf9gIal7AYKO_ANO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cRKw0NTYSOY3En1sv2F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mJc6OFZxjlxDa22nJTN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kGGkpGyX3zqTDbZFO1H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7vcRjRhv21w2GrRUZ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XUlU7F1wqk7WnYe6UUt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P551702_xlc0hkrtLJse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NLfzNzoXzkY5oewmLJA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ClDFXNPLSQUWl..7pae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N_TP8VnZrc5igvnghXE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b3zGB8ztJEV31tLIfg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2WKoKyPKMPXtVm.nY1S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rz3l7cKKg0tn90KREFv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6A1UQrzHH.PmpzJVign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9gYV3NyQAFFL1WnKDeh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Wm.nY4ncrB984rdVkd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7HOMZfAB0m7c8Lzbf4M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pz7wGOfVDUpH6PaeoH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o0NCDDzIr7.2K.K.lbR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0Uk0Jx7bOol5dO_ROiM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1zHWkcG.xjQ6I2SxE5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.gaL8FTlA..x0Lz.tOA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GVbb2mgmpRf_xckY6DM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R4YEu0AuZpy2DgFXyQk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kRKf8es5YSVJOb3Cl2D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18015</TotalTime>
  <Words>3835</Words>
  <Application>Microsoft Office PowerPoint</Application>
  <PresentationFormat>宽屏</PresentationFormat>
  <Paragraphs>648</Paragraphs>
  <Slides>21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IDC互连的三大瓶颈：速率、能耗、距离</vt:lpstr>
      <vt:lpstr>互联技术变革：铜互连、可插拔光模块、CPO、OIO</vt:lpstr>
      <vt:lpstr>光互连解决铜互连速率问题，CPO解决可插拔光模块能耗问题</vt:lpstr>
      <vt:lpstr>光互连技术路径：可插拔仍为主流，巨头将商业落地 CPO，OIO初创处于技术验证期</vt:lpstr>
      <vt:lpstr>PowerPoint 演示文稿</vt:lpstr>
      <vt:lpstr>IDC互连分为 Scale Up与 Scale Out，光互连在 Scale Out优先落地</vt:lpstr>
      <vt:lpstr>巨头并行布局 Scale Out与 Scale Up，CPO落地1-2年内看Scale Out</vt:lpstr>
      <vt:lpstr>PowerPoint 演示文稿</vt:lpstr>
      <vt:lpstr>互连技术范式变革带来新的市场机会</vt:lpstr>
      <vt:lpstr>CPO关键模块：硅光芯片、电光芯片、交换机芯片及封装</vt:lpstr>
      <vt:lpstr>产业链：集成交付环节、光电信号中枢优先关注</vt:lpstr>
      <vt:lpstr>ficonTEC：德国老牌光子装配测试龙头，中企收购卡位国产替代</vt:lpstr>
      <vt:lpstr>AyarLabs1：</vt:lpstr>
      <vt:lpstr>LightMatter</vt:lpstr>
      <vt:lpstr>Celestial AI</vt:lpstr>
      <vt:lpstr>OIO打开</vt:lpstr>
      <vt:lpstr>总结</vt:lpstr>
      <vt:lpstr>国内Scale Up受限于GPU带宽限制，CPO优先落地于Scale Up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1784</cp:revision>
  <dcterms:created xsi:type="dcterms:W3CDTF">2025-06-16T21:28:33Z</dcterms:created>
  <dcterms:modified xsi:type="dcterms:W3CDTF">2025-09-01T03:23:47Z</dcterms:modified>
</cp:coreProperties>
</file>