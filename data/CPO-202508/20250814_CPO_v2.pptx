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319" r:id="rId3"/>
    <p:sldId id="321" r:id="rId4"/>
    <p:sldId id="317" r:id="rId5"/>
    <p:sldId id="314" r:id="rId6"/>
    <p:sldId id="320" r:id="rId7"/>
    <p:sldId id="313" r:id="rId8"/>
    <p:sldId id="315" r:id="rId9"/>
    <p:sldId id="316" r:id="rId10"/>
    <p:sldId id="322" r:id="rId11"/>
    <p:sldId id="323" r:id="rId12"/>
    <p:sldId id="324" r:id="rId13"/>
    <p:sldId id="28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19"/>
            <p14:sldId id="321"/>
            <p14:sldId id="317"/>
            <p14:sldId id="314"/>
            <p14:sldId id="320"/>
            <p14:sldId id="313"/>
            <p14:sldId id="315"/>
            <p14:sldId id="316"/>
            <p14:sldId id="322"/>
            <p14:sldId id="323"/>
            <p14:sldId id="324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D9D9D9"/>
    <a:srgbClr val="FF7201"/>
    <a:srgbClr val="04647C"/>
    <a:srgbClr val="A6A6A6"/>
    <a:srgbClr val="3776F5"/>
    <a:srgbClr val="0365C0"/>
    <a:srgbClr val="C1E1FE"/>
    <a:srgbClr val="DCDDE0"/>
    <a:srgbClr val="7B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 autoAdjust="0"/>
    <p:restoredTop sz="86779" autoAdjust="0"/>
  </p:normalViewPr>
  <p:slideViewPr>
    <p:cSldViewPr snapToGrid="0">
      <p:cViewPr>
        <p:scale>
          <a:sx n="100" d="100"/>
          <a:sy n="100" d="100"/>
        </p:scale>
        <p:origin x="250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Sheet1!$M$2</c:f>
              <c:strCache>
                <c:ptCount val="1"/>
                <c:pt idx="0">
                  <c:v>单通道带宽（Gb/s）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lineChart>
        <c:grouping val="standard"/>
        <c:varyColors val="0"/>
        <c:ser>
          <c:idx val="0"/>
          <c:order val="1"/>
          <c:tx>
            <c:strRef>
              <c:f>Sheet1!$N$2</c:f>
              <c:strCache>
                <c:ptCount val="1"/>
                <c:pt idx="0">
                  <c:v>算力（TFLOPS，FP16）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Sheet1!$N$3:$N$6</c:f>
              <c:numCache>
                <c:formatCode>General</c:formatCode>
                <c:ptCount val="4"/>
                <c:pt idx="0">
                  <c:v>312</c:v>
                </c:pt>
                <c:pt idx="1">
                  <c:v>1000</c:v>
                </c:pt>
                <c:pt idx="2">
                  <c:v>1750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0973295"/>
        <c:axId val="2070979055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valAx>
        <c:axId val="20709790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70973295"/>
        <c:crosses val="max"/>
        <c:crossBetween val="between"/>
      </c:valAx>
      <c:catAx>
        <c:axId val="2070973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0979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Sheet1!$Z$1</c:f>
              <c:strCache>
                <c:ptCount val="1"/>
                <c:pt idx="0">
                  <c:v>单通道功耗（瓦）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Sheet1!$Y$2:$Y$4</c:f>
              <c:strCache>
                <c:ptCount val="3"/>
                <c:pt idx="0">
                  <c:v>铜</c:v>
                </c:pt>
                <c:pt idx="1">
                  <c:v>CPO</c:v>
                </c:pt>
                <c:pt idx="2">
                  <c:v>可插拔光模块</c:v>
                </c:pt>
              </c:strCache>
            </c:strRef>
          </c:cat>
          <c:val>
            <c:numRef>
              <c:f>Sheet1!$Z$2:$Z$4</c:f>
              <c:numCache>
                <c:formatCode>General</c:formatCode>
                <c:ptCount val="3"/>
                <c:pt idx="0">
                  <c:v>4</c:v>
                </c:pt>
                <c:pt idx="1">
                  <c:v>2.4</c:v>
                </c:pt>
                <c:pt idx="2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B-42ED-A09E-6A943C8FD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33748639"/>
        <c:axId val="233737599"/>
      </c:barChart>
      <c:catAx>
        <c:axId val="233748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3737599"/>
        <c:crosses val="autoZero"/>
        <c:auto val="1"/>
        <c:lblAlgn val="ctr"/>
        <c:lblOffset val="100"/>
        <c:noMultiLvlLbl val="0"/>
      </c:catAx>
      <c:valAx>
        <c:axId val="233737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3748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）以自身背景出发，也经历了从纯技术背景出身，过渡到偏商业分析的场景，也经历了不爱画</a:t>
            </a:r>
            <a:r>
              <a:rPr lang="en-US" altLang="zh-CN" dirty="0"/>
              <a:t>PPT </a:t>
            </a:r>
            <a:r>
              <a:rPr lang="zh-CN" altLang="en-US" dirty="0"/>
              <a:t>到 不讨厌画</a:t>
            </a:r>
            <a:r>
              <a:rPr lang="en-US" altLang="zh-CN" dirty="0"/>
              <a:t>PPT</a:t>
            </a:r>
            <a:r>
              <a:rPr lang="zh-CN" altLang="en-US" dirty="0"/>
              <a:t>的过程；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）讲好一个故事 </a:t>
            </a:r>
            <a:r>
              <a:rPr lang="en-US" altLang="zh-CN" dirty="0"/>
              <a:t>&amp; </a:t>
            </a:r>
            <a:r>
              <a:rPr lang="zh-CN" altLang="en-US" dirty="0"/>
              <a:t>以</a:t>
            </a:r>
            <a:r>
              <a:rPr lang="en-US" altLang="zh-CN" dirty="0"/>
              <a:t>PPT</a:t>
            </a:r>
            <a:r>
              <a:rPr lang="zh-CN" altLang="en-US" dirty="0"/>
              <a:t>的形式来呈现，是工作当中非常重要的技能；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oleObject" Target="../embeddings/oleObject3.bin"/><Relationship Id="rId3" Type="http://schemas.openxmlformats.org/officeDocument/2006/relationships/tags" Target="../tags/tag5.xml"/><Relationship Id="rId21" Type="http://schemas.openxmlformats.org/officeDocument/2006/relationships/image" Target="../media/image8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chart" Target="../charts/chart1.xml"/><Relationship Id="rId2" Type="http://schemas.openxmlformats.org/officeDocument/2006/relationships/tags" Target="../tags/tag4.xml"/><Relationship Id="rId16" Type="http://schemas.openxmlformats.org/officeDocument/2006/relationships/notesSlide" Target="../notesSlides/notesSlide2.xml"/><Relationship Id="rId20" Type="http://schemas.openxmlformats.org/officeDocument/2006/relationships/chart" Target="../charts/chart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2.xml"/><Relationship Id="rId19" Type="http://schemas.openxmlformats.org/officeDocument/2006/relationships/image" Target="../media/image7.emf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jpeg"/><Relationship Id="rId4" Type="http://schemas.openxmlformats.org/officeDocument/2006/relationships/image" Target="../media/image7.emf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3.png"/><Relationship Id="rId5" Type="http://schemas.openxmlformats.org/officeDocument/2006/relationships/image" Target="../media/image7.emf"/><Relationship Id="rId10" Type="http://schemas.openxmlformats.org/officeDocument/2006/relationships/image" Target="../media/image27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42" Type="http://schemas.openxmlformats.org/officeDocument/2006/relationships/image" Target="../media/image68.png"/><Relationship Id="rId47" Type="http://schemas.openxmlformats.org/officeDocument/2006/relationships/image" Target="../media/image73.png"/><Relationship Id="rId50" Type="http://schemas.openxmlformats.org/officeDocument/2006/relationships/image" Target="../media/image76.png"/><Relationship Id="rId55" Type="http://schemas.openxmlformats.org/officeDocument/2006/relationships/image" Target="../media/image81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9" Type="http://schemas.openxmlformats.org/officeDocument/2006/relationships/image" Target="../media/image55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45" Type="http://schemas.openxmlformats.org/officeDocument/2006/relationships/image" Target="../media/image71.png"/><Relationship Id="rId53" Type="http://schemas.openxmlformats.org/officeDocument/2006/relationships/image" Target="../media/image79.png"/><Relationship Id="rId58" Type="http://schemas.openxmlformats.org/officeDocument/2006/relationships/image" Target="../media/image84.png"/><Relationship Id="rId5" Type="http://schemas.openxmlformats.org/officeDocument/2006/relationships/image" Target="../media/image31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43" Type="http://schemas.openxmlformats.org/officeDocument/2006/relationships/image" Target="../media/image69.png"/><Relationship Id="rId48" Type="http://schemas.openxmlformats.org/officeDocument/2006/relationships/image" Target="../media/image74.png"/><Relationship Id="rId56" Type="http://schemas.openxmlformats.org/officeDocument/2006/relationships/image" Target="../media/image82.png"/><Relationship Id="rId8" Type="http://schemas.openxmlformats.org/officeDocument/2006/relationships/image" Target="../media/image34.png"/><Relationship Id="rId51" Type="http://schemas.openxmlformats.org/officeDocument/2006/relationships/image" Target="../media/image77.png"/><Relationship Id="rId3" Type="http://schemas.openxmlformats.org/officeDocument/2006/relationships/image" Target="../media/image29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Relationship Id="rId46" Type="http://schemas.openxmlformats.org/officeDocument/2006/relationships/image" Target="../media/image72.png"/><Relationship Id="rId59" Type="http://schemas.openxmlformats.org/officeDocument/2006/relationships/image" Target="../media/image85.png"/><Relationship Id="rId20" Type="http://schemas.openxmlformats.org/officeDocument/2006/relationships/image" Target="../media/image46.png"/><Relationship Id="rId41" Type="http://schemas.openxmlformats.org/officeDocument/2006/relationships/image" Target="../media/image67.png"/><Relationship Id="rId54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49" Type="http://schemas.openxmlformats.org/officeDocument/2006/relationships/image" Target="../media/image75.png"/><Relationship Id="rId57" Type="http://schemas.openxmlformats.org/officeDocument/2006/relationships/image" Target="../media/image83.png"/><Relationship Id="rId10" Type="http://schemas.openxmlformats.org/officeDocument/2006/relationships/image" Target="../media/image36.png"/><Relationship Id="rId31" Type="http://schemas.openxmlformats.org/officeDocument/2006/relationships/image" Target="../media/image57.png"/><Relationship Id="rId44" Type="http://schemas.openxmlformats.org/officeDocument/2006/relationships/image" Target="../media/image70.png"/><Relationship Id="rId52" Type="http://schemas.openxmlformats.org/officeDocument/2006/relationships/image" Target="../media/image78.png"/><Relationship Id="rId60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22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/>
              <a:t>2025/</a:t>
            </a:r>
            <a:r>
              <a:rPr lang="en-US" altLang="zh-CN" dirty="0"/>
              <a:t>08</a:t>
            </a:r>
            <a:endParaRPr lang="zh-CN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/>
              <a:t>CPO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FD31AF14-B73B-A8E9-0FE7-F8D55AB2C1D3}"/>
              </a:ext>
            </a:extLst>
          </p:cNvPr>
          <p:cNvGraphicFramePr>
            <a:graphicFrameLocks/>
          </p:cNvGraphicFramePr>
          <p:nvPr/>
        </p:nvGraphicFramePr>
        <p:xfrm>
          <a:off x="908842" y="2700079"/>
          <a:ext cx="4444361" cy="3522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85" name="矩形 84">
            <a:extLst>
              <a:ext uri="{FF2B5EF4-FFF2-40B4-BE49-F238E27FC236}">
                <a16:creationId xmlns:a16="http://schemas.microsoft.com/office/drawing/2014/main" id="{FF1EFA6A-B5E2-37F1-2E1C-3E8A3409FD65}"/>
              </a:ext>
            </a:extLst>
          </p:cNvPr>
          <p:cNvSpPr/>
          <p:nvPr/>
        </p:nvSpPr>
        <p:spPr>
          <a:xfrm>
            <a:off x="1345949" y="4278581"/>
            <a:ext cx="3562602" cy="1366985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EFB85BF-305F-E33D-92EE-2DE82D3AE658}"/>
              </a:ext>
            </a:extLst>
          </p:cNvPr>
          <p:cNvSpPr/>
          <p:nvPr/>
        </p:nvSpPr>
        <p:spPr>
          <a:xfrm>
            <a:off x="3647440" y="3858793"/>
            <a:ext cx="816610" cy="404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ECB916C-5AEC-9474-D7DA-340428AA075F}"/>
              </a:ext>
            </a:extLst>
          </p:cNvPr>
          <p:cNvSpPr/>
          <p:nvPr/>
        </p:nvSpPr>
        <p:spPr>
          <a:xfrm>
            <a:off x="1365225" y="2896560"/>
            <a:ext cx="3543325" cy="1356678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0E03A28A-3F06-F45A-3EC7-F294C5E0102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5215602" y="350012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52D9"/>
                </a:solidFill>
                <a:latin typeface="+mn-lt"/>
                <a:ea typeface="+mn-ea"/>
                <a:cs typeface="+mn-cs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0C4BD4AD-4E1C-96ED-BBA8-99930409182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412349" y="3436247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800" dirty="0">
                <a:latin typeface="+mn-lt"/>
                <a:ea typeface="+mn-ea"/>
                <a:cs typeface="+mn-cs"/>
              </a:rPr>
              <a:t>400-800Gbp/s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/>
              <a:t>可插拔光模块</a:t>
            </a:r>
            <a:endParaRPr lang="en-US" altLang="zh-CN" sz="1000" b="1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0BAE0DE9-4212-1ACF-B85A-227E056632B8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412349" y="2947306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800" dirty="0">
                <a:latin typeface="+mn-lt"/>
                <a:ea typeface="+mn-ea"/>
                <a:cs typeface="+mn-cs"/>
              </a:rPr>
              <a:t>800-1600Gbp/s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CB616965-4BBA-BE5C-A44C-CB5B7EACF93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5211773" y="479679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145DC05-4BE5-FDDC-6F47-6C6D47525797}"/>
              </a:ext>
            </a:extLst>
          </p:cNvPr>
          <p:cNvCxnSpPr>
            <a:cxnSpLocks/>
          </p:cNvCxnSpPr>
          <p:nvPr/>
        </p:nvCxnSpPr>
        <p:spPr>
          <a:xfrm>
            <a:off x="1446629" y="3388031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8D3D418-40A8-74BF-381B-3B8F9B2D8EA6}"/>
              </a:ext>
            </a:extLst>
          </p:cNvPr>
          <p:cNvCxnSpPr>
            <a:cxnSpLocks/>
          </p:cNvCxnSpPr>
          <p:nvPr/>
        </p:nvCxnSpPr>
        <p:spPr>
          <a:xfrm flipV="1">
            <a:off x="3632617" y="3782593"/>
            <a:ext cx="831433" cy="435251"/>
          </a:xfrm>
          <a:prstGeom prst="line">
            <a:avLst/>
          </a:prstGeom>
          <a:ln w="28575">
            <a:solidFill>
              <a:srgbClr val="3776F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8" imgW="404" imgH="405" progId="TCLayout.ActiveDocument.1">
                  <p:embed/>
                </p:oleObj>
              </mc:Choice>
              <mc:Fallback>
                <p:oleObj name="think-cell 幻灯片" r:id="rId18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3A8EF30C-01C4-5A4D-BA06-CA31280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大模型算力需求井喷，光互连打破算力释放瓶颈并大幅降低</a:t>
            </a:r>
            <a:r>
              <a:rPr lang="en-US" altLang="zh-CN" dirty="0" err="1"/>
              <a:t>Opex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37E1BD-8AB9-CCEF-E6FA-328D12C1C0D2}"/>
              </a:ext>
            </a:extLst>
          </p:cNvPr>
          <p:cNvSpPr/>
          <p:nvPr/>
        </p:nvSpPr>
        <p:spPr>
          <a:xfrm>
            <a:off x="-3874111" y="1211262"/>
            <a:ext cx="3664561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铜到光的变化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 by 2 matrix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：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横轴：时间轴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纵轴：算力 、 卡间互联速度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F76A16-6ACA-3FF8-EA47-440929F8F2E1}"/>
              </a:ext>
            </a:extLst>
          </p:cNvPr>
          <p:cNvSpPr/>
          <p:nvPr/>
        </p:nvSpPr>
        <p:spPr>
          <a:xfrm>
            <a:off x="-3874111" y="3995483"/>
            <a:ext cx="366456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Call out box for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单通道速度 用铜的话，快达到极限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5168A3-66D3-32AB-59E5-E2A163F11CBD}"/>
              </a:ext>
            </a:extLst>
          </p:cNvPr>
          <p:cNvSpPr/>
          <p:nvPr/>
        </p:nvSpPr>
        <p:spPr>
          <a:xfrm>
            <a:off x="12216452" y="-634733"/>
            <a:ext cx="4112355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的变化：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部件成本节省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Opex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EB054B-860C-6119-EE78-C9F49426F4CE}"/>
              </a:ext>
            </a:extLst>
          </p:cNvPr>
          <p:cNvSpPr/>
          <p:nvPr/>
        </p:nvSpPr>
        <p:spPr>
          <a:xfrm>
            <a:off x="9506796" y="2364809"/>
            <a:ext cx="1887478" cy="10442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目前找到的数据为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2022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年，只支持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AIDC 50-60%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的论断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593744" y="629373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zh-CN" altLang="zh-CN" sz="1200" dirty="0">
                <a:solidFill>
                  <a:schemeClr val="tx1">
                    <a:lumMod val="50000"/>
                  </a:schemeClr>
                </a:solidFill>
              </a:rPr>
              <a:t>阿里云专家访谈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：有效传输速率，指在给定距离内，保证误码率不超过可用临界值的稳定传输速率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912538-B799-7D65-AD3E-B2E340B2B4FA}"/>
              </a:ext>
            </a:extLst>
          </p:cNvPr>
          <p:cNvSpPr txBox="1"/>
          <p:nvPr/>
        </p:nvSpPr>
        <p:spPr>
          <a:xfrm>
            <a:off x="593842" y="1123655"/>
            <a:ext cx="5885909" cy="30205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铜</a:t>
            </a:r>
            <a:r>
              <a:rPr lang="zh-CN" altLang="en-US" sz="1600" b="1" dirty="0"/>
              <a:t>互连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光</a:t>
            </a:r>
            <a:r>
              <a:rPr lang="zh-CN" altLang="en-US" sz="1600" b="1" dirty="0"/>
              <a:t>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：突破传输速率极限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235EA0E-F6AA-1CB6-0B48-7FEF9AAE7D54}"/>
              </a:ext>
            </a:extLst>
          </p:cNvPr>
          <p:cNvSpPr txBox="1"/>
          <p:nvPr/>
        </p:nvSpPr>
        <p:spPr>
          <a:xfrm>
            <a:off x="526048" y="129698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CD2634-59DE-8F39-5610-C55A55AA4B9F}"/>
              </a:ext>
            </a:extLst>
          </p:cNvPr>
          <p:cNvSpPr txBox="1"/>
          <p:nvPr/>
        </p:nvSpPr>
        <p:spPr>
          <a:xfrm>
            <a:off x="535626" y="138478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0A19E09-9315-06F8-B87B-C0BAB1F84086}"/>
              </a:ext>
            </a:extLst>
          </p:cNvPr>
          <p:cNvCxnSpPr>
            <a:cxnSpLocks/>
          </p:cNvCxnSpPr>
          <p:nvPr/>
        </p:nvCxnSpPr>
        <p:spPr>
          <a:xfrm>
            <a:off x="593842" y="1435017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2389C66-484B-8D1E-7609-0B4CC52E2D90}"/>
              </a:ext>
            </a:extLst>
          </p:cNvPr>
          <p:cNvSpPr txBox="1"/>
          <p:nvPr/>
        </p:nvSpPr>
        <p:spPr>
          <a:xfrm>
            <a:off x="593842" y="1552573"/>
            <a:ext cx="5269570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即将触达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铜互连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有效</a:t>
            </a:r>
            <a:r>
              <a:rPr kumimoji="1" lang="zh-CN" altLang="zh-CN" sz="1600" b="1" dirty="0">
                <a:solidFill>
                  <a:schemeClr val="tx1">
                    <a:lumMod val="50000"/>
                  </a:schemeClr>
                </a:solidFill>
              </a:rPr>
              <a:t>传输速率</a:t>
            </a:r>
            <a:r>
              <a:rPr kumimoji="1" lang="en-US" altLang="zh-CN" sz="1600" b="1" baseline="30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极限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224Gbp/s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，光互连上限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400-800Gbp/s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可支持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扩充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A100 =&gt; B100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算力增长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5.6x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，单通道带宽仅增长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，连接成为硬件能力释放瓶颈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830AB16E-C972-BBF8-D1C8-D71FAA3DEA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273105" y="4913365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H100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0452812A-49EE-56BD-9B7F-70336DF81F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408769" y="528296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A100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E705A99E-4D86-52C8-0AD9-E2E91CD08F0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210469" y="431320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B100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CCE80E4-31EE-417D-C895-F988DE7DBE3F}"/>
              </a:ext>
            </a:extLst>
          </p:cNvPr>
          <p:cNvSpPr txBox="1"/>
          <p:nvPr/>
        </p:nvSpPr>
        <p:spPr>
          <a:xfrm>
            <a:off x="6355333" y="1118873"/>
            <a:ext cx="5885909" cy="30205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可插拔光模块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显著降低功耗并降低</a:t>
            </a:r>
            <a:r>
              <a:rPr lang="en-US" altLang="zh-CN" sz="1600" b="1" dirty="0" err="1">
                <a:solidFill>
                  <a:schemeClr val="tx1">
                    <a:lumMod val="50000"/>
                  </a:schemeClr>
                </a:solidFill>
              </a:rPr>
              <a:t>Opex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1A9180C-80D1-3377-9D69-56C91B740D2B}"/>
              </a:ext>
            </a:extLst>
          </p:cNvPr>
          <p:cNvSpPr txBox="1"/>
          <p:nvPr/>
        </p:nvSpPr>
        <p:spPr>
          <a:xfrm>
            <a:off x="6293189" y="129698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57ABF4B0-F1CD-A26C-6E97-9FDC7A0485CD}"/>
              </a:ext>
            </a:extLst>
          </p:cNvPr>
          <p:cNvSpPr txBox="1"/>
          <p:nvPr/>
        </p:nvSpPr>
        <p:spPr>
          <a:xfrm>
            <a:off x="6302767" y="1384787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0" name="直线连接符 38">
            <a:extLst>
              <a:ext uri="{FF2B5EF4-FFF2-40B4-BE49-F238E27FC236}">
                <a16:creationId xmlns:a16="http://schemas.microsoft.com/office/drawing/2014/main" id="{33AC93B9-61D7-CD01-23F1-C701BAD35A85}"/>
              </a:ext>
            </a:extLst>
          </p:cNvPr>
          <p:cNvCxnSpPr>
            <a:cxnSpLocks/>
          </p:cNvCxnSpPr>
          <p:nvPr/>
        </p:nvCxnSpPr>
        <p:spPr>
          <a:xfrm>
            <a:off x="6360983" y="1435017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4656004-4D79-6CA0-4E54-C1C75A2F0891}"/>
              </a:ext>
            </a:extLst>
          </p:cNvPr>
          <p:cNvSpPr txBox="1"/>
          <p:nvPr/>
        </p:nvSpPr>
        <p:spPr>
          <a:xfrm>
            <a:off x="6360983" y="1552573"/>
            <a:ext cx="5269570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传统通算opex中电费占比35-40%，而智算中心电费占比65-70%；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355333" y="3605627"/>
            <a:ext cx="5550916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方案：将光模块进一步缩小集成，可降低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~60%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单通道功耗，对应节约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xx AIDC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电费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C550C001-25C7-D9EE-3F9E-3DB5B30530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1478200"/>
              </p:ext>
            </p:extLst>
          </p:nvPr>
        </p:nvGraphicFramePr>
        <p:xfrm>
          <a:off x="7012922" y="4263564"/>
          <a:ext cx="4570730" cy="222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20C6355-8A09-2CE2-C682-043F971E37A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541876" y="477555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3-5w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42C12AA-9375-448D-AD60-8BB241436DB4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6479751" y="4071757"/>
            <a:ext cx="114281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单通道功耗（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w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7194477-1118-7671-0442-29EC876CAD0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8959196" y="52809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2.4w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48ECA80-80E4-171A-CEE5-4E14681085B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10369819" y="4240054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5-8w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24E6347-7DF8-F58C-3C78-9008E14C3D5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8408483" y="486094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52D9"/>
                </a:solidFill>
                <a:latin typeface="+mn-lt"/>
                <a:ea typeface="+mn-ea"/>
                <a:cs typeface="+mn-cs"/>
              </a:rPr>
              <a:t>-40%</a:t>
            </a:r>
            <a:endParaRPr lang="zh-CN" altLang="en-US" sz="1400" b="1" dirty="0">
              <a:solidFill>
                <a:srgbClr val="0052D9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234C9EF-93F3-98DC-47C9-F6FD1FD235C8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8345362" y="4915567"/>
            <a:ext cx="613834" cy="505431"/>
          </a:xfrm>
          <a:prstGeom prst="straightConnector1">
            <a:avLst/>
          </a:prstGeom>
          <a:ln w="19050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899A0A6A-4D67-F350-58E4-58C75D642064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9360939" y="465678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-60%</a:t>
            </a:r>
            <a:endParaRPr lang="zh-CN" altLang="en-US" sz="14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B93E269-F358-41B1-A197-C8F6BA957D9C}"/>
              </a:ext>
            </a:extLst>
          </p:cNvPr>
          <p:cNvCxnSpPr>
            <a:stCxn id="20" idx="1"/>
            <a:endCxn id="19" idx="3"/>
          </p:cNvCxnSpPr>
          <p:nvPr/>
        </p:nvCxnSpPr>
        <p:spPr>
          <a:xfrm flipH="1">
            <a:off x="9762682" y="4380069"/>
            <a:ext cx="607137" cy="1040929"/>
          </a:xfrm>
          <a:prstGeom prst="straightConnector1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68BABA9A-A629-A6C4-D09C-2400856429E6}"/>
              </a:ext>
            </a:extLst>
          </p:cNvPr>
          <p:cNvSpPr/>
          <p:nvPr/>
        </p:nvSpPr>
        <p:spPr>
          <a:xfrm>
            <a:off x="12241242" y="4443844"/>
            <a:ext cx="2511408" cy="129176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电费占比饼图，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transceiver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功耗占电费饼图，（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GTC2025 Rubin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功耗），成本拆分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296FA3-CE51-38FB-A7FC-D242807229AE}"/>
              </a:ext>
            </a:extLst>
          </p:cNvPr>
          <p:cNvSpPr/>
          <p:nvPr/>
        </p:nvSpPr>
        <p:spPr>
          <a:xfrm>
            <a:off x="12241242" y="2791848"/>
            <a:ext cx="4351308" cy="14867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lang="zh-CN" altLang="en-US" sz="12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文章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明确指出封装内光互联和硅光子技术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是突破当前AI硬件带宽和能效瓶颈的关键方向，需通过硬件-软件-网络协同设计实现以下目标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带宽扩展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能效提升（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将通信能耗占比从当前的30%以上降至10%以内）、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大规模扩展性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（百万级GPU集群的低延迟全局连接）的目标。</a:t>
            </a:r>
            <a:endParaRPr lang="zh-CN" altLang="zh-CN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69F4FF-8E69-30B4-5EFA-FE13E9DCE8F6}"/>
              </a:ext>
            </a:extLst>
          </p:cNvPr>
          <p:cNvSpPr/>
          <p:nvPr/>
        </p:nvSpPr>
        <p:spPr>
          <a:xfrm>
            <a:off x="-3719737" y="5969827"/>
            <a:ext cx="366456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算力增长不均衡有宏观报告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FF4A1E8-97EA-6C71-4457-B4D250BF31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12840" y="2171977"/>
            <a:ext cx="2160511" cy="135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光模块技术路径：巨头布局</a:t>
            </a:r>
            <a:r>
              <a:rPr lang="en-US" altLang="zh-CN" dirty="0"/>
              <a:t>CPO</a:t>
            </a:r>
            <a:r>
              <a:rPr lang="zh-CN" altLang="en-US" dirty="0"/>
              <a:t>，初创布局</a:t>
            </a:r>
            <a:r>
              <a:rPr lang="en-US" altLang="zh-CN" dirty="0"/>
              <a:t>OIO</a:t>
            </a:r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DC95DE2-3311-E9ED-688C-8DD5EA4430CE}"/>
              </a:ext>
            </a:extLst>
          </p:cNvPr>
          <p:cNvSpPr/>
          <p:nvPr/>
        </p:nvSpPr>
        <p:spPr>
          <a:xfrm>
            <a:off x="12428376" y="2034583"/>
            <a:ext cx="4735635" cy="254001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新一页（讲完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的必要性后）技术路径选择，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不细讲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博通：最好商用的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，技术路线规划图（左）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创业公司：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一步到位，不用被大厂生态制约（右）</a:t>
            </a:r>
          </a:p>
        </p:txBody>
      </p:sp>
      <p:pic>
        <p:nvPicPr>
          <p:cNvPr id="5" name="图片 4" descr="文本, 应用程序&#10;&#10;AI 生成的内容可能不正确。">
            <a:extLst>
              <a:ext uri="{FF2B5EF4-FFF2-40B4-BE49-F238E27FC236}">
                <a16:creationId xmlns:a16="http://schemas.microsoft.com/office/drawing/2014/main" id="{082F36E0-02CE-5705-FD47-E65CBF5D0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520" y="1465967"/>
            <a:ext cx="1111794" cy="15669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BA474A-7D1D-831C-D7B0-1B63ABCFB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088" y="1069898"/>
            <a:ext cx="372116" cy="378882"/>
          </a:xfrm>
          <a:prstGeom prst="rect">
            <a:avLst/>
          </a:prstGeom>
        </p:spPr>
      </p:pic>
      <p:cxnSp>
        <p:nvCxnSpPr>
          <p:cNvPr id="7" name="直线连接符 4">
            <a:extLst>
              <a:ext uri="{FF2B5EF4-FFF2-40B4-BE49-F238E27FC236}">
                <a16:creationId xmlns:a16="http://schemas.microsoft.com/office/drawing/2014/main" id="{3A365042-317F-5C36-D0BF-B7FC124A7660}"/>
              </a:ext>
            </a:extLst>
          </p:cNvPr>
          <p:cNvCxnSpPr>
            <a:cxnSpLocks/>
          </p:cNvCxnSpPr>
          <p:nvPr/>
        </p:nvCxnSpPr>
        <p:spPr>
          <a:xfrm>
            <a:off x="1415479" y="1434238"/>
            <a:ext cx="496855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7A371F1-EC29-A470-E926-B33559E6F3BF}"/>
              </a:ext>
            </a:extLst>
          </p:cNvPr>
          <p:cNvSpPr txBox="1"/>
          <p:nvPr/>
        </p:nvSpPr>
        <p:spPr>
          <a:xfrm>
            <a:off x="442167" y="3140347"/>
            <a:ext cx="647849" cy="10700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团队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背景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3ABD00-9CD4-7006-B25A-6C3836D2A761}"/>
              </a:ext>
            </a:extLst>
          </p:cNvPr>
          <p:cNvSpPr txBox="1"/>
          <p:nvPr/>
        </p:nvSpPr>
        <p:spPr>
          <a:xfrm>
            <a:off x="442166" y="4444288"/>
            <a:ext cx="647849" cy="10726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开发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过程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BCC057B-3B31-A87E-450C-62DE34984CE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924091" y="1146900"/>
            <a:ext cx="4968553" cy="287338"/>
            <a:chOff x="1379476" y="1376772"/>
            <a:chExt cx="1872208" cy="288032"/>
          </a:xfrm>
        </p:grpSpPr>
        <p:cxnSp>
          <p:nvCxnSpPr>
            <p:cNvPr id="11" name="直线连接符 24">
              <a:extLst>
                <a:ext uri="{FF2B5EF4-FFF2-40B4-BE49-F238E27FC236}">
                  <a16:creationId xmlns:a16="http://schemas.microsoft.com/office/drawing/2014/main" id="{99D22934-C5A1-3632-1E4A-14F59BC72711}"/>
                </a:ext>
              </a:extLst>
            </p:cNvPr>
            <p:cNvCxnSpPr/>
            <p:nvPr/>
          </p:nvCxnSpPr>
          <p:spPr>
            <a:xfrm>
              <a:off x="1379476" y="1664804"/>
              <a:ext cx="187220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6D92838-3336-0797-E15E-CC128BEBAAFD}"/>
                </a:ext>
              </a:extLst>
            </p:cNvPr>
            <p:cNvSpPr txBox="1"/>
            <p:nvPr/>
          </p:nvSpPr>
          <p:spPr>
            <a:xfrm>
              <a:off x="1379664" y="1376772"/>
              <a:ext cx="1872019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      “聊天截图转</a:t>
              </a: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</a:rPr>
                <a:t>PDF</a:t>
              </a: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”小程序</a:t>
              </a:r>
            </a:p>
          </p:txBody>
        </p:sp>
      </p:grpSp>
      <p:pic>
        <p:nvPicPr>
          <p:cNvPr id="13" name="Picture 4" descr="图片">
            <a:extLst>
              <a:ext uri="{FF2B5EF4-FFF2-40B4-BE49-F238E27FC236}">
                <a16:creationId xmlns:a16="http://schemas.microsoft.com/office/drawing/2014/main" id="{7832F645-7CC1-BA55-0649-C97ED49128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0" r="18310"/>
          <a:stretch/>
        </p:blipFill>
        <p:spPr bwMode="auto">
          <a:xfrm>
            <a:off x="4516084" y="1530721"/>
            <a:ext cx="1867945" cy="137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2D527A5-8C9D-F39A-9C0B-46820FF1D7F9}"/>
              </a:ext>
            </a:extLst>
          </p:cNvPr>
          <p:cNvSpPr txBox="1"/>
          <p:nvPr/>
        </p:nvSpPr>
        <p:spPr>
          <a:xfrm>
            <a:off x="1415479" y="3140349"/>
            <a:ext cx="4968550" cy="7732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0975" indent="-180975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8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人团队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0975" indent="-180975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创始人</a:t>
            </a:r>
            <a:r>
              <a:rPr kumimoji="1" lang="en" altLang="zh-CN" sz="1400" dirty="0">
                <a:solidFill>
                  <a:schemeClr val="tx1">
                    <a:lumMod val="50000"/>
                  </a:schemeClr>
                </a:solidFill>
              </a:rPr>
              <a:t>Maor Shlomo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是以色列程序员，曾共同创办数据分析公司</a:t>
            </a:r>
            <a:r>
              <a:rPr kumimoji="1" lang="en" altLang="zh-CN" sz="1400" dirty="0" err="1">
                <a:solidFill>
                  <a:schemeClr val="tx1">
                    <a:lumMod val="50000"/>
                  </a:schemeClr>
                </a:solidFill>
              </a:rPr>
              <a:t>Explorium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（融资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1.3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亿美元）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537D52-269A-23F0-D015-344C7A1DAB99}"/>
              </a:ext>
            </a:extLst>
          </p:cNvPr>
          <p:cNvSpPr txBox="1"/>
          <p:nvPr/>
        </p:nvSpPr>
        <p:spPr>
          <a:xfrm>
            <a:off x="6924091" y="3140349"/>
            <a:ext cx="4860541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0975" indent="-180975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1" sz="16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altLang="zh-CN" sz="1400" dirty="0"/>
              <a:t>1</a:t>
            </a:r>
            <a:r>
              <a:rPr lang="zh-CN" altLang="en-US" sz="1400" dirty="0"/>
              <a:t>人</a:t>
            </a:r>
            <a:endParaRPr lang="en-US" altLang="zh-CN" sz="1400" dirty="0"/>
          </a:p>
          <a:p>
            <a:r>
              <a:rPr lang="zh-CN" altLang="en-US" sz="1400" dirty="0"/>
              <a:t>创始人为独立开发者，曾有过</a:t>
            </a:r>
            <a:r>
              <a:rPr lang="en-US" altLang="zh-CN" sz="1400" dirty="0"/>
              <a:t>ACM</a:t>
            </a:r>
            <a:r>
              <a:rPr lang="zh-CN" altLang="en-US" sz="1400" dirty="0"/>
              <a:t>代码竞赛和小程序开发等</a:t>
            </a:r>
            <a:r>
              <a:rPr lang="en-US" altLang="zh-CN" sz="1400" dirty="0"/>
              <a:t>coding</a:t>
            </a:r>
            <a:r>
              <a:rPr lang="zh-CN" altLang="en-US" sz="1400" dirty="0"/>
              <a:t>经验</a:t>
            </a:r>
            <a:endParaRPr lang="en-US" altLang="zh-CN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DDCADA-1672-A256-70EB-E4C3E5BA9CCA}"/>
              </a:ext>
            </a:extLst>
          </p:cNvPr>
          <p:cNvSpPr txBox="1"/>
          <p:nvPr/>
        </p:nvSpPr>
        <p:spPr>
          <a:xfrm>
            <a:off x="1415479" y="1582136"/>
            <a:ext cx="2950902" cy="105477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0975" indent="-180975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1" sz="16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zh-CN" altLang="en-US" sz="1400" dirty="0"/>
              <a:t>无代码建站</a:t>
            </a:r>
            <a:r>
              <a:rPr lang="en-US" altLang="zh-CN" sz="1400" dirty="0"/>
              <a:t>SaaS</a:t>
            </a:r>
            <a:r>
              <a:rPr lang="zh-CN" altLang="en-US" sz="1400" dirty="0"/>
              <a:t>，并内置短信、邮件、地图接口、数据库与分析等服务模块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AA14C4-B8AA-5754-0420-E43C46AD7012}"/>
              </a:ext>
            </a:extLst>
          </p:cNvPr>
          <p:cNvSpPr txBox="1"/>
          <p:nvPr/>
        </p:nvSpPr>
        <p:spPr>
          <a:xfrm>
            <a:off x="442165" y="5750768"/>
            <a:ext cx="647849" cy="7158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成果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512EC9-F1C5-49E2-41D1-7061FC070D8D}"/>
              </a:ext>
            </a:extLst>
          </p:cNvPr>
          <p:cNvSpPr txBox="1"/>
          <p:nvPr/>
        </p:nvSpPr>
        <p:spPr>
          <a:xfrm>
            <a:off x="1419806" y="5750768"/>
            <a:ext cx="4964223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年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12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月创立，上线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周后实现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$1mn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ARR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，与</a:t>
            </a:r>
            <a:r>
              <a:rPr kumimoji="1" lang="en" altLang="zh-CN" sz="1400" dirty="0" err="1">
                <a:solidFill>
                  <a:schemeClr val="tx1">
                    <a:lumMod val="50000"/>
                  </a:schemeClr>
                </a:solidFill>
              </a:rPr>
              <a:t>eToro</a:t>
            </a:r>
            <a:r>
              <a:rPr kumimoji="1" lang="en" altLang="zh-CN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和</a:t>
            </a:r>
            <a:r>
              <a:rPr kumimoji="1" lang="en" altLang="zh-CN" sz="1400" dirty="0" err="1">
                <a:solidFill>
                  <a:schemeClr val="tx1">
                    <a:lumMod val="50000"/>
                  </a:schemeClr>
                </a:solidFill>
              </a:rPr>
              <a:t>Similarweb</a:t>
            </a:r>
            <a:r>
              <a:rPr kumimoji="1" lang="en" altLang="zh-CN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等以色列科技公司达成合作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成立半年被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Wix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以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$80mn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收购，累计用户量达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6F413E-880C-2097-0B7F-DB0244430943}"/>
              </a:ext>
            </a:extLst>
          </p:cNvPr>
          <p:cNvSpPr txBox="1"/>
          <p:nvPr/>
        </p:nvSpPr>
        <p:spPr>
          <a:xfrm>
            <a:off x="6924091" y="5750768"/>
            <a:ext cx="4964223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上线首月获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5k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名用户，月流水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2k+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正在策划邀请和推广机制，铺开做商业化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0" name="直线连接符 8">
            <a:extLst>
              <a:ext uri="{FF2B5EF4-FFF2-40B4-BE49-F238E27FC236}">
                <a16:creationId xmlns:a16="http://schemas.microsoft.com/office/drawing/2014/main" id="{952E711A-B183-B664-517A-77EB8F817D09}"/>
              </a:ext>
            </a:extLst>
          </p:cNvPr>
          <p:cNvCxnSpPr>
            <a:cxnSpLocks/>
          </p:cNvCxnSpPr>
          <p:nvPr/>
        </p:nvCxnSpPr>
        <p:spPr>
          <a:xfrm>
            <a:off x="1307467" y="4327366"/>
            <a:ext cx="1058084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9">
            <a:extLst>
              <a:ext uri="{FF2B5EF4-FFF2-40B4-BE49-F238E27FC236}">
                <a16:creationId xmlns:a16="http://schemas.microsoft.com/office/drawing/2014/main" id="{D4D48F37-6EB5-5A21-E9CA-E705E1CAFA86}"/>
              </a:ext>
            </a:extLst>
          </p:cNvPr>
          <p:cNvCxnSpPr>
            <a:cxnSpLocks/>
          </p:cNvCxnSpPr>
          <p:nvPr/>
        </p:nvCxnSpPr>
        <p:spPr>
          <a:xfrm>
            <a:off x="1307467" y="5633843"/>
            <a:ext cx="1058084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F9964DF-6F64-FF35-1AB3-42A96524AC40}"/>
              </a:ext>
            </a:extLst>
          </p:cNvPr>
          <p:cNvSpPr txBox="1"/>
          <p:nvPr/>
        </p:nvSpPr>
        <p:spPr>
          <a:xfrm>
            <a:off x="442165" y="1551161"/>
            <a:ext cx="647849" cy="135534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产品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简介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3" name="直线连接符 14">
            <a:extLst>
              <a:ext uri="{FF2B5EF4-FFF2-40B4-BE49-F238E27FC236}">
                <a16:creationId xmlns:a16="http://schemas.microsoft.com/office/drawing/2014/main" id="{7233E835-9CCF-8B92-1E70-E8CEE6D7BE0D}"/>
              </a:ext>
            </a:extLst>
          </p:cNvPr>
          <p:cNvCxnSpPr>
            <a:cxnSpLocks/>
          </p:cNvCxnSpPr>
          <p:nvPr/>
        </p:nvCxnSpPr>
        <p:spPr>
          <a:xfrm>
            <a:off x="1307467" y="3023425"/>
            <a:ext cx="1058084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D33E974-C223-C0D8-7151-97C9221F0010}"/>
              </a:ext>
            </a:extLst>
          </p:cNvPr>
          <p:cNvSpPr txBox="1"/>
          <p:nvPr/>
        </p:nvSpPr>
        <p:spPr>
          <a:xfrm>
            <a:off x="6924091" y="1582136"/>
            <a:ext cx="2493789" cy="105477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0975" indent="-180975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1" sz="16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zh-CN" altLang="en-US" sz="1400" dirty="0"/>
              <a:t>将聊天记录截图自动排版、拼接成合适的文档格式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45999D3-129D-E300-52CE-1BB69C4A4C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539" b="23414"/>
          <a:stretch/>
        </p:blipFill>
        <p:spPr>
          <a:xfrm>
            <a:off x="1415479" y="1110202"/>
            <a:ext cx="1260141" cy="27395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9FB14C77-4594-C679-9107-9C797AFA210C}"/>
              </a:ext>
            </a:extLst>
          </p:cNvPr>
          <p:cNvSpPr txBox="1"/>
          <p:nvPr/>
        </p:nvSpPr>
        <p:spPr>
          <a:xfrm>
            <a:off x="442166" y="4444288"/>
            <a:ext cx="647849" cy="10726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开发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过程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CC74C4-DD1A-167C-4238-93B9D3ED3886}"/>
              </a:ext>
            </a:extLst>
          </p:cNvPr>
          <p:cNvSpPr txBox="1"/>
          <p:nvPr/>
        </p:nvSpPr>
        <p:spPr>
          <a:xfrm>
            <a:off x="6924091" y="4761148"/>
            <a:ext cx="4968550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0975" indent="-180975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1" sz="16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zh-CN" altLang="en-US" sz="1400" dirty="0"/>
              <a:t>耗时</a:t>
            </a:r>
            <a:r>
              <a:rPr lang="en-US" altLang="zh-CN" sz="1400" dirty="0"/>
              <a:t>1</a:t>
            </a:r>
            <a:r>
              <a:rPr lang="zh-CN" altLang="en-US" sz="1400" dirty="0"/>
              <a:t>个月空闲时间 </a:t>
            </a:r>
            <a:r>
              <a:rPr lang="en-US" altLang="zh-CN" sz="1400" dirty="0"/>
              <a:t>x</a:t>
            </a:r>
            <a:r>
              <a:rPr lang="zh-CN" altLang="en-US" sz="1400" dirty="0"/>
              <a:t> </a:t>
            </a:r>
            <a:r>
              <a:rPr lang="en-US" altLang="zh-CN" sz="1400" dirty="0"/>
              <a:t>Trae</a:t>
            </a:r>
            <a:r>
              <a:rPr lang="zh-CN" altLang="en-US" sz="1400" dirty="0"/>
              <a:t> </a:t>
            </a:r>
            <a:r>
              <a:rPr lang="en-US" altLang="zh-CN" sz="1400" dirty="0"/>
              <a:t>(Claude)</a:t>
            </a:r>
            <a:r>
              <a:rPr lang="zh-CN" altLang="en-US" sz="1400" dirty="0"/>
              <a:t>，宣称</a:t>
            </a:r>
            <a:r>
              <a:rPr lang="en-US" altLang="zh-CN" sz="1400" dirty="0"/>
              <a:t>90%</a:t>
            </a:r>
            <a:r>
              <a:rPr lang="zh-CN" altLang="en-US" sz="1400" dirty="0"/>
              <a:t>代码由</a:t>
            </a:r>
            <a:r>
              <a:rPr lang="en-US" altLang="zh-CN" sz="1400" dirty="0"/>
              <a:t>AI</a:t>
            </a:r>
            <a:r>
              <a:rPr lang="zh-CN" altLang="en-US" sz="1400" dirty="0"/>
              <a:t>生成</a:t>
            </a:r>
            <a:endParaRPr lang="en-US" altLang="zh-CN" sz="1400" dirty="0"/>
          </a:p>
          <a:p>
            <a:r>
              <a:rPr lang="zh-CN" altLang="en-US" sz="1400" dirty="0"/>
              <a:t>最初为个人庭审材料需求，因处理麻烦而决定开发软件，由</a:t>
            </a:r>
            <a:r>
              <a:rPr lang="en-US" altLang="zh-CN" sz="1400" dirty="0"/>
              <a:t>AI</a:t>
            </a:r>
            <a:r>
              <a:rPr lang="zh-CN" altLang="en-US" sz="1400" dirty="0"/>
              <a:t>生成所有前端和主要的后端处理逻辑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177EEA2-6533-B03C-13AF-4ADB26CE037E}"/>
              </a:ext>
            </a:extLst>
          </p:cNvPr>
          <p:cNvSpPr txBox="1"/>
          <p:nvPr/>
        </p:nvSpPr>
        <p:spPr>
          <a:xfrm>
            <a:off x="1421921" y="4761148"/>
            <a:ext cx="4962108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0975" indent="-180975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耗时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个月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x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Cursor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，宣称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90%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代码由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AI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生成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0975" indent="-180975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最初为副业尝试，开发过程中构建了大量自动化工作流，如分别设立了基于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cursor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的前端和后端智能体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CF8DE0-7337-C9D5-D585-30FFB97BAA93}"/>
              </a:ext>
            </a:extLst>
          </p:cNvPr>
          <p:cNvSpPr/>
          <p:nvPr/>
        </p:nvSpPr>
        <p:spPr>
          <a:xfrm>
            <a:off x="1421921" y="4444288"/>
            <a:ext cx="3599225" cy="260627"/>
          </a:xfrm>
          <a:prstGeom prst="rect">
            <a:avLst/>
          </a:prstGeom>
          <a:solidFill>
            <a:srgbClr val="92D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dirty="0">
                <a:solidFill>
                  <a:schemeClr val="bg1"/>
                </a:solidFill>
              </a:rPr>
              <a:t>加速研发流程，提升小团队研效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B2E599B-2C42-4A20-CB6C-777D330DFAD6}"/>
              </a:ext>
            </a:extLst>
          </p:cNvPr>
          <p:cNvSpPr/>
          <p:nvPr/>
        </p:nvSpPr>
        <p:spPr>
          <a:xfrm>
            <a:off x="6924091" y="4444288"/>
            <a:ext cx="2911805" cy="260627"/>
          </a:xfrm>
          <a:prstGeom prst="rect">
            <a:avLst/>
          </a:prstGeom>
          <a:solidFill>
            <a:srgbClr val="92D05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dirty="0">
                <a:solidFill>
                  <a:schemeClr val="bg1"/>
                </a:solidFill>
              </a:rPr>
              <a:t>拓宽个人编程能力边界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0017B70-87CD-1C89-233B-E4336013B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942" y="1483172"/>
            <a:ext cx="760604" cy="1469766"/>
          </a:xfrm>
          <a:prstGeom prst="rect">
            <a:avLst/>
          </a:prstGeom>
        </p:spPr>
      </p:pic>
      <p:pic>
        <p:nvPicPr>
          <p:cNvPr id="32" name="图片 31" descr="图标&#10;&#10;AI 生成的内容可能不正确。">
            <a:extLst>
              <a:ext uri="{FF2B5EF4-FFF2-40B4-BE49-F238E27FC236}">
                <a16:creationId xmlns:a16="http://schemas.microsoft.com/office/drawing/2014/main" id="{D30DC570-A468-FB9D-F259-ED2AD9D96C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1106" y="2071760"/>
            <a:ext cx="889188" cy="8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51248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2D3D1CB-743E-6564-795E-4D5E0B5A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Zoom in </a:t>
            </a:r>
            <a:r>
              <a:rPr lang="zh-CN" altLang="en-US" dirty="0"/>
              <a:t>视角：到光模块的变化会带来新变化：敲掉</a:t>
            </a:r>
            <a:r>
              <a:rPr lang="en-US" altLang="zh-CN" dirty="0"/>
              <a:t>2</a:t>
            </a:r>
            <a:r>
              <a:rPr lang="zh-CN" altLang="en-US" dirty="0"/>
              <a:t>个模块，集成到一个模块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D98E9F-F046-AC6E-697E-099FF7459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AF3943-68F0-1EA9-4A29-11F9B34D5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9076" y="2527550"/>
            <a:ext cx="10987557" cy="361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25470DD-5CA1-A075-C25C-A2E0932EFC11}"/>
              </a:ext>
            </a:extLst>
          </p:cNvPr>
          <p:cNvSpPr/>
          <p:nvPr/>
        </p:nvSpPr>
        <p:spPr>
          <a:xfrm>
            <a:off x="8098390" y="5015254"/>
            <a:ext cx="4610303" cy="14571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缺失的部分：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从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component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来看具体包括那些？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7C10F0-E484-4901-D545-C8F24F47C68C}"/>
              </a:ext>
            </a:extLst>
          </p:cNvPr>
          <p:cNvSpPr/>
          <p:nvPr/>
        </p:nvSpPr>
        <p:spPr>
          <a:xfrm>
            <a:off x="9511554" y="523302"/>
            <a:ext cx="4112355" cy="4136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回溯过往两次技术范式变化带来的市场格局变化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）纯铜互联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-》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）可插拔光模块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-&gt; CPO 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分别解释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的科普项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1FE5C4-028C-8CAB-BDE6-49D6F0D2A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6411" y="6141639"/>
            <a:ext cx="10809524" cy="4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7616-CD83-2E38-6A19-512CC15B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BC957F2-C96F-B8BD-0407-49505FC2A9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61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B5C8006-DEFF-FA32-B8C8-ED621CAB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光模块支撑</a:t>
            </a:r>
            <a:r>
              <a:rPr lang="en-US" altLang="zh-CN" dirty="0"/>
              <a:t>Scale Out</a:t>
            </a:r>
            <a:r>
              <a:rPr lang="zh-CN" altLang="en-US" dirty="0"/>
              <a:t>算力集群节点间长距离、高速、低功耗通信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F44D32-BBA8-15FA-4E02-77F66C494E2B}"/>
              </a:ext>
            </a:extLst>
          </p:cNvPr>
          <p:cNvSpPr/>
          <p:nvPr/>
        </p:nvSpPr>
        <p:spPr>
          <a:xfrm>
            <a:off x="12376253" y="-178593"/>
            <a:ext cx="4112355" cy="112457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 vs scale out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2B33C-AE4D-DBEF-8F6F-F9145BB88B02}"/>
              </a:ext>
            </a:extLst>
          </p:cNvPr>
          <p:cNvSpPr/>
          <p:nvPr/>
        </p:nvSpPr>
        <p:spPr>
          <a:xfrm>
            <a:off x="12346623" y="1816164"/>
            <a:ext cx="2018686" cy="82149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解释光模块在数据中心的环节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有效距离一两个数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9BF1D2-7A4D-F107-E95F-FC6B2EA20BF3}"/>
              </a:ext>
            </a:extLst>
          </p:cNvPr>
          <p:cNvSpPr txBox="1"/>
          <p:nvPr/>
        </p:nvSpPr>
        <p:spPr>
          <a:xfrm>
            <a:off x="548869" y="1377029"/>
            <a:ext cx="4843315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单个节点内部纵向互连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数量增加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传输距离短，以铜互连为主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（找具体的数）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NVL 72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服务器堆叠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72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卡，未来可达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288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卡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7B6C2FB-D58B-D825-9124-913765A83F92}"/>
              </a:ext>
            </a:extLst>
          </p:cNvPr>
          <p:cNvGrpSpPr/>
          <p:nvPr/>
        </p:nvGrpSpPr>
        <p:grpSpPr>
          <a:xfrm>
            <a:off x="3403436" y="2615577"/>
            <a:ext cx="1426525" cy="1991019"/>
            <a:chOff x="2629270" y="2277426"/>
            <a:chExt cx="1041691" cy="1542748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1F52C2FA-0E19-C033-847A-9762C5D4D79C}"/>
                </a:ext>
              </a:extLst>
            </p:cNvPr>
            <p:cNvSpPr/>
            <p:nvPr/>
          </p:nvSpPr>
          <p:spPr>
            <a:xfrm>
              <a:off x="2629270" y="2277426"/>
              <a:ext cx="1041691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27B37F0-943D-2EB4-237D-384F0C546208}"/>
                </a:ext>
              </a:extLst>
            </p:cNvPr>
            <p:cNvSpPr/>
            <p:nvPr/>
          </p:nvSpPr>
          <p:spPr>
            <a:xfrm>
              <a:off x="2761134" y="3441879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B236DA1-D99A-EAB8-C1B8-63928AEC9698}"/>
                </a:ext>
              </a:extLst>
            </p:cNvPr>
            <p:cNvSpPr/>
            <p:nvPr/>
          </p:nvSpPr>
          <p:spPr>
            <a:xfrm>
              <a:off x="2761134" y="3109440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AAEDA846-6884-FA78-F31F-6C37E5106413}"/>
                </a:ext>
              </a:extLst>
            </p:cNvPr>
            <p:cNvSpPr/>
            <p:nvPr/>
          </p:nvSpPr>
          <p:spPr>
            <a:xfrm>
              <a:off x="2761134" y="2444564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EA7EBFC5-1A90-2BC9-3979-0F7A2FD3E817}"/>
                </a:ext>
              </a:extLst>
            </p:cNvPr>
            <p:cNvSpPr/>
            <p:nvPr/>
          </p:nvSpPr>
          <p:spPr>
            <a:xfrm>
              <a:off x="2761133" y="2777002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2EE2DC86-3D99-2163-1825-FE22A2B5C75F}"/>
              </a:ext>
            </a:extLst>
          </p:cNvPr>
          <p:cNvSpPr txBox="1"/>
          <p:nvPr/>
        </p:nvSpPr>
        <p:spPr>
          <a:xfrm>
            <a:off x="3579987" y="4597951"/>
            <a:ext cx="1236182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Node A</a:t>
            </a:r>
            <a:endParaRPr kumimoji="1" lang="en-US" altLang="zh-CN" sz="1200" dirty="0">
              <a:solidFill>
                <a:srgbClr val="0052D9"/>
              </a:solidFill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1215F4A-BD4C-ACF2-BC1F-C1F1FDD9849C}"/>
              </a:ext>
            </a:extLst>
          </p:cNvPr>
          <p:cNvGrpSpPr/>
          <p:nvPr/>
        </p:nvGrpSpPr>
        <p:grpSpPr>
          <a:xfrm>
            <a:off x="973644" y="2597749"/>
            <a:ext cx="1381196" cy="1991020"/>
            <a:chOff x="2573607" y="2277426"/>
            <a:chExt cx="1070224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C86253CB-C632-1F70-55AC-677BF4F2BD7B}"/>
                </a:ext>
              </a:extLst>
            </p:cNvPr>
            <p:cNvSpPr/>
            <p:nvPr/>
          </p:nvSpPr>
          <p:spPr>
            <a:xfrm>
              <a:off x="2573607" y="2277426"/>
              <a:ext cx="1070224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31316FA-7C98-4079-DD4F-418C016618C4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39E322D6-470A-5F6D-1AAF-CC5DD1F245A9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510259D0-0A2C-52C8-1F7D-19DE98B3F5A9}"/>
              </a:ext>
            </a:extLst>
          </p:cNvPr>
          <p:cNvSpPr txBox="1"/>
          <p:nvPr/>
        </p:nvSpPr>
        <p:spPr>
          <a:xfrm>
            <a:off x="1123919" y="4606596"/>
            <a:ext cx="1236182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Node A</a:t>
            </a:r>
            <a:endParaRPr kumimoji="1"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57" name="三角形 53">
            <a:extLst>
              <a:ext uri="{FF2B5EF4-FFF2-40B4-BE49-F238E27FC236}">
                <a16:creationId xmlns:a16="http://schemas.microsoft.com/office/drawing/2014/main" id="{64FA8E08-AE26-11BB-4814-B67BC2EC1772}"/>
              </a:ext>
            </a:extLst>
          </p:cNvPr>
          <p:cNvSpPr/>
          <p:nvPr/>
        </p:nvSpPr>
        <p:spPr>
          <a:xfrm rot="5400000">
            <a:off x="2844537" y="3521248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091" name="文本框 3090">
            <a:extLst>
              <a:ext uri="{FF2B5EF4-FFF2-40B4-BE49-F238E27FC236}">
                <a16:creationId xmlns:a16="http://schemas.microsoft.com/office/drawing/2014/main" id="{20D603E0-2557-4468-3AE0-EE77D8FC91D1}"/>
              </a:ext>
            </a:extLst>
          </p:cNvPr>
          <p:cNvSpPr txBox="1"/>
          <p:nvPr/>
        </p:nvSpPr>
        <p:spPr>
          <a:xfrm>
            <a:off x="6561097" y="4959800"/>
            <a:ext cx="1236182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Node A</a:t>
            </a:r>
            <a:endParaRPr kumimoji="1"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092" name="文本框 3091">
            <a:extLst>
              <a:ext uri="{FF2B5EF4-FFF2-40B4-BE49-F238E27FC236}">
                <a16:creationId xmlns:a16="http://schemas.microsoft.com/office/drawing/2014/main" id="{2C18240F-5CA3-8654-F1CC-69F2DD6758F8}"/>
              </a:ext>
            </a:extLst>
          </p:cNvPr>
          <p:cNvSpPr txBox="1"/>
          <p:nvPr/>
        </p:nvSpPr>
        <p:spPr>
          <a:xfrm>
            <a:off x="8510948" y="3844797"/>
            <a:ext cx="1236182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Node A</a:t>
            </a:r>
            <a:endParaRPr kumimoji="1"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093" name="文本框 3092">
            <a:extLst>
              <a:ext uri="{FF2B5EF4-FFF2-40B4-BE49-F238E27FC236}">
                <a16:creationId xmlns:a16="http://schemas.microsoft.com/office/drawing/2014/main" id="{FCEF4509-9F5B-0A5C-CD60-DD7801605DF6}"/>
              </a:ext>
            </a:extLst>
          </p:cNvPr>
          <p:cNvSpPr txBox="1"/>
          <p:nvPr/>
        </p:nvSpPr>
        <p:spPr>
          <a:xfrm>
            <a:off x="10058957" y="3833194"/>
            <a:ext cx="1236182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Node B</a:t>
            </a:r>
            <a:endParaRPr kumimoji="1"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094" name="文本框 3093">
            <a:extLst>
              <a:ext uri="{FF2B5EF4-FFF2-40B4-BE49-F238E27FC236}">
                <a16:creationId xmlns:a16="http://schemas.microsoft.com/office/drawing/2014/main" id="{2637194E-B545-7554-9D3E-CD4E9F984354}"/>
              </a:ext>
            </a:extLst>
          </p:cNvPr>
          <p:cNvSpPr txBox="1"/>
          <p:nvPr/>
        </p:nvSpPr>
        <p:spPr>
          <a:xfrm>
            <a:off x="8510948" y="5391480"/>
            <a:ext cx="1236182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Node C</a:t>
            </a:r>
            <a:endParaRPr kumimoji="1"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095" name="文本框 3094">
            <a:extLst>
              <a:ext uri="{FF2B5EF4-FFF2-40B4-BE49-F238E27FC236}">
                <a16:creationId xmlns:a16="http://schemas.microsoft.com/office/drawing/2014/main" id="{0812875A-8CCF-7094-87D1-C55E5E80AC03}"/>
              </a:ext>
            </a:extLst>
          </p:cNvPr>
          <p:cNvSpPr txBox="1"/>
          <p:nvPr/>
        </p:nvSpPr>
        <p:spPr>
          <a:xfrm>
            <a:off x="10058957" y="5406788"/>
            <a:ext cx="1236182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Node D</a:t>
            </a:r>
            <a:endParaRPr kumimoji="1"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D42CB91E-1934-FB96-4A55-FDE99F60B220}"/>
              </a:ext>
            </a:extLst>
          </p:cNvPr>
          <p:cNvSpPr/>
          <p:nvPr/>
        </p:nvSpPr>
        <p:spPr>
          <a:xfrm rot="5400000">
            <a:off x="7988329" y="4173689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3117" name="组合 3116">
            <a:extLst>
              <a:ext uri="{FF2B5EF4-FFF2-40B4-BE49-F238E27FC236}">
                <a16:creationId xmlns:a16="http://schemas.microsoft.com/office/drawing/2014/main" id="{2413CF08-CFDA-B60A-C7ED-99A4F8B5A43C}"/>
              </a:ext>
            </a:extLst>
          </p:cNvPr>
          <p:cNvGrpSpPr/>
          <p:nvPr/>
        </p:nvGrpSpPr>
        <p:grpSpPr>
          <a:xfrm>
            <a:off x="2379415" y="2835117"/>
            <a:ext cx="554199" cy="1336884"/>
            <a:chOff x="2333693" y="3112217"/>
            <a:chExt cx="554199" cy="1336884"/>
          </a:xfrm>
        </p:grpSpPr>
        <p:sp>
          <p:nvSpPr>
            <p:cNvPr id="3115" name="矩形: 圆角 3114">
              <a:extLst>
                <a:ext uri="{FF2B5EF4-FFF2-40B4-BE49-F238E27FC236}">
                  <a16:creationId xmlns:a16="http://schemas.microsoft.com/office/drawing/2014/main" id="{BBB096A3-145D-6A7F-D809-3C1C2A865EF5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16" name="文本框 3115">
              <a:extLst>
                <a:ext uri="{FF2B5EF4-FFF2-40B4-BE49-F238E27FC236}">
                  <a16:creationId xmlns:a16="http://schemas.microsoft.com/office/drawing/2014/main" id="{A97E6CDA-5C5E-87E9-15DA-F58C49CB19DB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3118" name="组合 3117">
            <a:extLst>
              <a:ext uri="{FF2B5EF4-FFF2-40B4-BE49-F238E27FC236}">
                <a16:creationId xmlns:a16="http://schemas.microsoft.com/office/drawing/2014/main" id="{7E6F88E7-9BEE-5938-48B8-30CA439B96D0}"/>
              </a:ext>
            </a:extLst>
          </p:cNvPr>
          <p:cNvGrpSpPr/>
          <p:nvPr/>
        </p:nvGrpSpPr>
        <p:grpSpPr>
          <a:xfrm>
            <a:off x="4836079" y="2835117"/>
            <a:ext cx="554199" cy="1336884"/>
            <a:chOff x="2333693" y="3112217"/>
            <a:chExt cx="554199" cy="1336884"/>
          </a:xfrm>
        </p:grpSpPr>
        <p:sp>
          <p:nvSpPr>
            <p:cNvPr id="3119" name="矩形: 圆角 3118">
              <a:extLst>
                <a:ext uri="{FF2B5EF4-FFF2-40B4-BE49-F238E27FC236}">
                  <a16:creationId xmlns:a16="http://schemas.microsoft.com/office/drawing/2014/main" id="{EFBE3210-BEEE-A084-44C5-E01581E486E5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20" name="文本框 3119">
              <a:extLst>
                <a:ext uri="{FF2B5EF4-FFF2-40B4-BE49-F238E27FC236}">
                  <a16:creationId xmlns:a16="http://schemas.microsoft.com/office/drawing/2014/main" id="{09D0351F-4EF8-9421-9EF8-D96CB4B8EB60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cxnSp>
        <p:nvCxnSpPr>
          <p:cNvPr id="3122" name="连接符: 肘形 3121">
            <a:extLst>
              <a:ext uri="{FF2B5EF4-FFF2-40B4-BE49-F238E27FC236}">
                <a16:creationId xmlns:a16="http://schemas.microsoft.com/office/drawing/2014/main" id="{F1FFC1D3-0B6E-CBA6-0D70-4F94EAEEE477}"/>
              </a:ext>
            </a:extLst>
          </p:cNvPr>
          <p:cNvCxnSpPr>
            <a:stCxn id="53" idx="3"/>
            <a:endCxn id="3115" idx="1"/>
          </p:cNvCxnSpPr>
          <p:nvPr/>
        </p:nvCxnSpPr>
        <p:spPr>
          <a:xfrm flipV="1">
            <a:off x="2154825" y="3636669"/>
            <a:ext cx="463998" cy="171145"/>
          </a:xfrm>
          <a:prstGeom prst="bentConnector3">
            <a:avLst>
              <a:gd name="adj1" fmla="val 42815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3" name="连接符: 肘形 3122">
            <a:extLst>
              <a:ext uri="{FF2B5EF4-FFF2-40B4-BE49-F238E27FC236}">
                <a16:creationId xmlns:a16="http://schemas.microsoft.com/office/drawing/2014/main" id="{A098DE8A-50FF-E0C5-495C-6C93E346A7D3}"/>
              </a:ext>
            </a:extLst>
          </p:cNvPr>
          <p:cNvCxnSpPr>
            <a:cxnSpLocks/>
            <a:stCxn id="52" idx="3"/>
            <a:endCxn id="3115" idx="1"/>
          </p:cNvCxnSpPr>
          <p:nvPr/>
        </p:nvCxnSpPr>
        <p:spPr>
          <a:xfrm flipV="1">
            <a:off x="2154825" y="3636669"/>
            <a:ext cx="463998" cy="600182"/>
          </a:xfrm>
          <a:prstGeom prst="bentConnector3">
            <a:avLst>
              <a:gd name="adj1" fmla="val 43613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6" name="连接符: 肘形 3125">
            <a:extLst>
              <a:ext uri="{FF2B5EF4-FFF2-40B4-BE49-F238E27FC236}">
                <a16:creationId xmlns:a16="http://schemas.microsoft.com/office/drawing/2014/main" id="{AD184443-7D88-41B9-ADAB-23BCA02D152A}"/>
              </a:ext>
            </a:extLst>
          </p:cNvPr>
          <p:cNvCxnSpPr>
            <a:cxnSpLocks/>
            <a:stCxn id="3119" idx="1"/>
            <a:endCxn id="45" idx="3"/>
          </p:cNvCxnSpPr>
          <p:nvPr/>
        </p:nvCxnSpPr>
        <p:spPr>
          <a:xfrm rot="10800000">
            <a:off x="4632975" y="2971007"/>
            <a:ext cx="442513" cy="665662"/>
          </a:xfrm>
          <a:prstGeom prst="bentConnector3">
            <a:avLst>
              <a:gd name="adj1" fmla="val 5574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0" name="连接符: 肘形 3129">
            <a:extLst>
              <a:ext uri="{FF2B5EF4-FFF2-40B4-BE49-F238E27FC236}">
                <a16:creationId xmlns:a16="http://schemas.microsoft.com/office/drawing/2014/main" id="{8D9F271E-A347-7A52-5BFB-85ED70121FF6}"/>
              </a:ext>
            </a:extLst>
          </p:cNvPr>
          <p:cNvCxnSpPr>
            <a:cxnSpLocks/>
            <a:stCxn id="3119" idx="1"/>
            <a:endCxn id="46" idx="3"/>
          </p:cNvCxnSpPr>
          <p:nvPr/>
        </p:nvCxnSpPr>
        <p:spPr>
          <a:xfrm rot="10800000">
            <a:off x="4632973" y="3400041"/>
            <a:ext cx="442515" cy="236629"/>
          </a:xfrm>
          <a:prstGeom prst="bentConnector3">
            <a:avLst>
              <a:gd name="adj1" fmla="val 5609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连接符: 肘形 3133">
            <a:extLst>
              <a:ext uri="{FF2B5EF4-FFF2-40B4-BE49-F238E27FC236}">
                <a16:creationId xmlns:a16="http://schemas.microsoft.com/office/drawing/2014/main" id="{3AD56A50-B9EB-E228-20E1-7748F7126790}"/>
              </a:ext>
            </a:extLst>
          </p:cNvPr>
          <p:cNvCxnSpPr>
            <a:cxnSpLocks/>
            <a:stCxn id="3119" idx="1"/>
            <a:endCxn id="44" idx="3"/>
          </p:cNvCxnSpPr>
          <p:nvPr/>
        </p:nvCxnSpPr>
        <p:spPr>
          <a:xfrm rot="10800000" flipV="1">
            <a:off x="4632975" y="3636669"/>
            <a:ext cx="442513" cy="192404"/>
          </a:xfrm>
          <a:prstGeom prst="bentConnector3">
            <a:avLst>
              <a:gd name="adj1" fmla="val 5574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连接符: 肘形 3137">
            <a:extLst>
              <a:ext uri="{FF2B5EF4-FFF2-40B4-BE49-F238E27FC236}">
                <a16:creationId xmlns:a16="http://schemas.microsoft.com/office/drawing/2014/main" id="{EB294A51-D7B3-DB8B-B78B-D3C13ACE9382}"/>
              </a:ext>
            </a:extLst>
          </p:cNvPr>
          <p:cNvCxnSpPr>
            <a:cxnSpLocks/>
            <a:stCxn id="3119" idx="1"/>
            <a:endCxn id="43" idx="3"/>
          </p:cNvCxnSpPr>
          <p:nvPr/>
        </p:nvCxnSpPr>
        <p:spPr>
          <a:xfrm rot="10800000" flipV="1">
            <a:off x="4632975" y="3636668"/>
            <a:ext cx="442513" cy="621439"/>
          </a:xfrm>
          <a:prstGeom prst="bentConnector3">
            <a:avLst>
              <a:gd name="adj1" fmla="val 55381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2" name="组合 3181">
            <a:extLst>
              <a:ext uri="{FF2B5EF4-FFF2-40B4-BE49-F238E27FC236}">
                <a16:creationId xmlns:a16="http://schemas.microsoft.com/office/drawing/2014/main" id="{002E0E87-15E2-0A11-5590-1F5C310A321C}"/>
              </a:ext>
            </a:extLst>
          </p:cNvPr>
          <p:cNvGrpSpPr/>
          <p:nvPr/>
        </p:nvGrpSpPr>
        <p:grpSpPr>
          <a:xfrm>
            <a:off x="6618002" y="3660547"/>
            <a:ext cx="1177325" cy="1142112"/>
            <a:chOff x="6260068" y="3335726"/>
            <a:chExt cx="1177325" cy="1142112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2FFA755-BE04-E980-B8C1-03EF3B2356A5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33C9CA0B-92FA-AF3D-9A34-CB8362FA3937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D7A9470E-D53D-2A04-D22A-161A69BF2807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1FDA27EB-EED9-90C4-FEE2-34DB7785C394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43" name="矩形: 圆角 3142">
              <a:extLst>
                <a:ext uri="{FF2B5EF4-FFF2-40B4-BE49-F238E27FC236}">
                  <a16:creationId xmlns:a16="http://schemas.microsoft.com/office/drawing/2014/main" id="{9F0FBEBA-4ABE-4D93-CE38-776232738FA7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161" name="连接符: 肘形 3160">
              <a:extLst>
                <a:ext uri="{FF2B5EF4-FFF2-40B4-BE49-F238E27FC236}">
                  <a16:creationId xmlns:a16="http://schemas.microsoft.com/office/drawing/2014/main" id="{0E180B26-8C5C-520B-B17F-9486E3EB0C7F}"/>
                </a:ext>
              </a:extLst>
            </p:cNvPr>
            <p:cNvCxnSpPr>
              <a:cxnSpLocks/>
              <a:stCxn id="61" idx="3"/>
              <a:endCxn id="3143" idx="1"/>
            </p:cNvCxnSpPr>
            <p:nvPr/>
          </p:nvCxnSpPr>
          <p:spPr>
            <a:xfrm>
              <a:off x="7061201" y="3667559"/>
              <a:ext cx="321234" cy="249365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连接符: 肘形 3163">
              <a:extLst>
                <a:ext uri="{FF2B5EF4-FFF2-40B4-BE49-F238E27FC236}">
                  <a16:creationId xmlns:a16="http://schemas.microsoft.com/office/drawing/2014/main" id="{09E29855-6B0E-2CD8-5CC2-7202B785EB44}"/>
                </a:ext>
              </a:extLst>
            </p:cNvPr>
            <p:cNvCxnSpPr>
              <a:cxnSpLocks/>
              <a:stCxn id="62" idx="3"/>
              <a:endCxn id="3143" idx="1"/>
            </p:cNvCxnSpPr>
            <p:nvPr/>
          </p:nvCxnSpPr>
          <p:spPr>
            <a:xfrm flipV="1">
              <a:off x="7061199" y="3916924"/>
              <a:ext cx="321236" cy="239397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3" name="组合 3182">
            <a:extLst>
              <a:ext uri="{FF2B5EF4-FFF2-40B4-BE49-F238E27FC236}">
                <a16:creationId xmlns:a16="http://schemas.microsoft.com/office/drawing/2014/main" id="{BC7BC8B0-0568-CB02-11E6-404A7EF03994}"/>
              </a:ext>
            </a:extLst>
          </p:cNvPr>
          <p:cNvGrpSpPr/>
          <p:nvPr/>
        </p:nvGrpSpPr>
        <p:grpSpPr>
          <a:xfrm>
            <a:off x="8595602" y="2681058"/>
            <a:ext cx="1177325" cy="1142112"/>
            <a:chOff x="6260068" y="3335726"/>
            <a:chExt cx="1177325" cy="1142112"/>
          </a:xfrm>
        </p:grpSpPr>
        <p:grpSp>
          <p:nvGrpSpPr>
            <p:cNvPr id="3184" name="组合 3183">
              <a:extLst>
                <a:ext uri="{FF2B5EF4-FFF2-40B4-BE49-F238E27FC236}">
                  <a16:creationId xmlns:a16="http://schemas.microsoft.com/office/drawing/2014/main" id="{76E3A105-AA17-3CE8-0F62-10EB486A7F68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88" name="矩形: 圆角 3187">
                <a:extLst>
                  <a:ext uri="{FF2B5EF4-FFF2-40B4-BE49-F238E27FC236}">
                    <a16:creationId xmlns:a16="http://schemas.microsoft.com/office/drawing/2014/main" id="{99105415-D9D1-ACE9-47FA-12177BD7B388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矩形: 圆角 3188">
                <a:extLst>
                  <a:ext uri="{FF2B5EF4-FFF2-40B4-BE49-F238E27FC236}">
                    <a16:creationId xmlns:a16="http://schemas.microsoft.com/office/drawing/2014/main" id="{07B9B9A2-C071-9E0B-010A-1852C3D032E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90" name="矩形: 圆角 3189">
                <a:extLst>
                  <a:ext uri="{FF2B5EF4-FFF2-40B4-BE49-F238E27FC236}">
                    <a16:creationId xmlns:a16="http://schemas.microsoft.com/office/drawing/2014/main" id="{06A1A2E3-6E34-5B6E-96D4-D9F8D990474C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85" name="矩形: 圆角 3184">
              <a:extLst>
                <a:ext uri="{FF2B5EF4-FFF2-40B4-BE49-F238E27FC236}">
                  <a16:creationId xmlns:a16="http://schemas.microsoft.com/office/drawing/2014/main" id="{514AAB0D-784D-0AA1-3155-06F9170164E4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9" name="组合 3198">
            <a:extLst>
              <a:ext uri="{FF2B5EF4-FFF2-40B4-BE49-F238E27FC236}">
                <a16:creationId xmlns:a16="http://schemas.microsoft.com/office/drawing/2014/main" id="{F5833B61-334A-89AC-19B2-AC9DE1E971AA}"/>
              </a:ext>
            </a:extLst>
          </p:cNvPr>
          <p:cNvGrpSpPr/>
          <p:nvPr/>
        </p:nvGrpSpPr>
        <p:grpSpPr>
          <a:xfrm>
            <a:off x="8619690" y="4292749"/>
            <a:ext cx="1170973" cy="1142112"/>
            <a:chOff x="6260068" y="3335726"/>
            <a:chExt cx="1170973" cy="1142112"/>
          </a:xfrm>
        </p:grpSpPr>
        <p:grpSp>
          <p:nvGrpSpPr>
            <p:cNvPr id="3200" name="组合 3199">
              <a:extLst>
                <a:ext uri="{FF2B5EF4-FFF2-40B4-BE49-F238E27FC236}">
                  <a16:creationId xmlns:a16="http://schemas.microsoft.com/office/drawing/2014/main" id="{A1C952F8-F5C9-E444-AB05-D23DB522CDDF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04" name="矩形: 圆角 3203">
                <a:extLst>
                  <a:ext uri="{FF2B5EF4-FFF2-40B4-BE49-F238E27FC236}">
                    <a16:creationId xmlns:a16="http://schemas.microsoft.com/office/drawing/2014/main" id="{FEB07FF3-5D3A-A2D5-5F78-E736372DA461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矩形: 圆角 3204">
                <a:extLst>
                  <a:ext uri="{FF2B5EF4-FFF2-40B4-BE49-F238E27FC236}">
                    <a16:creationId xmlns:a16="http://schemas.microsoft.com/office/drawing/2014/main" id="{3618D493-0B4D-1ADC-63B6-AD1EF0B8C023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06" name="矩形: 圆角 3205">
                <a:extLst>
                  <a:ext uri="{FF2B5EF4-FFF2-40B4-BE49-F238E27FC236}">
                    <a16:creationId xmlns:a16="http://schemas.microsoft.com/office/drawing/2014/main" id="{F6231AA1-9FEA-7C6A-4221-3F1022E5E24E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01" name="矩形: 圆角 3200">
              <a:extLst>
                <a:ext uri="{FF2B5EF4-FFF2-40B4-BE49-F238E27FC236}">
                  <a16:creationId xmlns:a16="http://schemas.microsoft.com/office/drawing/2014/main" id="{875EC9FE-D699-D4C2-300B-15779F1D61F3}"/>
                </a:ext>
              </a:extLst>
            </p:cNvPr>
            <p:cNvSpPr/>
            <p:nvPr/>
          </p:nvSpPr>
          <p:spPr>
            <a:xfrm>
              <a:off x="7376083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1" name="组合 3190">
            <a:extLst>
              <a:ext uri="{FF2B5EF4-FFF2-40B4-BE49-F238E27FC236}">
                <a16:creationId xmlns:a16="http://schemas.microsoft.com/office/drawing/2014/main" id="{5875C1E4-4268-A146-928D-D6092DA88AA1}"/>
              </a:ext>
            </a:extLst>
          </p:cNvPr>
          <p:cNvGrpSpPr/>
          <p:nvPr/>
        </p:nvGrpSpPr>
        <p:grpSpPr>
          <a:xfrm>
            <a:off x="9934903" y="2681058"/>
            <a:ext cx="1168206" cy="1142112"/>
            <a:chOff x="5999896" y="3335726"/>
            <a:chExt cx="1168206" cy="1142112"/>
          </a:xfrm>
        </p:grpSpPr>
        <p:grpSp>
          <p:nvGrpSpPr>
            <p:cNvPr id="3192" name="组合 3191">
              <a:extLst>
                <a:ext uri="{FF2B5EF4-FFF2-40B4-BE49-F238E27FC236}">
                  <a16:creationId xmlns:a16="http://schemas.microsoft.com/office/drawing/2014/main" id="{291C1F32-EB2A-D83A-B677-DFE8BEE58442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96" name="矩形: 圆角 3195">
                <a:extLst>
                  <a:ext uri="{FF2B5EF4-FFF2-40B4-BE49-F238E27FC236}">
                    <a16:creationId xmlns:a16="http://schemas.microsoft.com/office/drawing/2014/main" id="{5DB31E67-307E-841A-9BA7-2AB4D2E81D4C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矩形: 圆角 3196">
                <a:extLst>
                  <a:ext uri="{FF2B5EF4-FFF2-40B4-BE49-F238E27FC236}">
                    <a16:creationId xmlns:a16="http://schemas.microsoft.com/office/drawing/2014/main" id="{8FC70924-A56B-9DF1-283A-D5C6CB03296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198" name="矩形: 圆角 3197">
                <a:extLst>
                  <a:ext uri="{FF2B5EF4-FFF2-40B4-BE49-F238E27FC236}">
                    <a16:creationId xmlns:a16="http://schemas.microsoft.com/office/drawing/2014/main" id="{C5188816-4F3C-D2E5-E0BD-E1DD0F28F423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193" name="矩形: 圆角 3192">
              <a:extLst>
                <a:ext uri="{FF2B5EF4-FFF2-40B4-BE49-F238E27FC236}">
                  <a16:creationId xmlns:a16="http://schemas.microsoft.com/office/drawing/2014/main" id="{ACB5BAC3-0560-6BE5-FC53-7B614EA4D91F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230" name="组合 3229">
            <a:extLst>
              <a:ext uri="{FF2B5EF4-FFF2-40B4-BE49-F238E27FC236}">
                <a16:creationId xmlns:a16="http://schemas.microsoft.com/office/drawing/2014/main" id="{0E59DE1C-B453-6D5C-C159-2B3C7D36F0EF}"/>
              </a:ext>
            </a:extLst>
          </p:cNvPr>
          <p:cNvGrpSpPr/>
          <p:nvPr/>
        </p:nvGrpSpPr>
        <p:grpSpPr>
          <a:xfrm>
            <a:off x="9929646" y="4292749"/>
            <a:ext cx="1168206" cy="1142112"/>
            <a:chOff x="5999896" y="3335726"/>
            <a:chExt cx="1168206" cy="1142112"/>
          </a:xfrm>
        </p:grpSpPr>
        <p:grpSp>
          <p:nvGrpSpPr>
            <p:cNvPr id="3232" name="组合 3231">
              <a:extLst>
                <a:ext uri="{FF2B5EF4-FFF2-40B4-BE49-F238E27FC236}">
                  <a16:creationId xmlns:a16="http://schemas.microsoft.com/office/drawing/2014/main" id="{5779E57B-33E2-3C44-7199-DDF7DC7BD564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35" name="矩形: 圆角 3234">
                <a:extLst>
                  <a:ext uri="{FF2B5EF4-FFF2-40B4-BE49-F238E27FC236}">
                    <a16:creationId xmlns:a16="http://schemas.microsoft.com/office/drawing/2014/main" id="{6EBDA663-1C23-8B38-8B6C-DE2033CB18B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矩形: 圆角 3235">
                <a:extLst>
                  <a:ext uri="{FF2B5EF4-FFF2-40B4-BE49-F238E27FC236}">
                    <a16:creationId xmlns:a16="http://schemas.microsoft.com/office/drawing/2014/main" id="{20B9AF5D-1C53-3900-F125-40E291BF8EA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37" name="矩形: 圆角 3236">
                <a:extLst>
                  <a:ext uri="{FF2B5EF4-FFF2-40B4-BE49-F238E27FC236}">
                    <a16:creationId xmlns:a16="http://schemas.microsoft.com/office/drawing/2014/main" id="{952ADDE8-EB41-55B3-10CB-E97C1C89C3D1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33" name="矩形: 圆角 3232">
              <a:extLst>
                <a:ext uri="{FF2B5EF4-FFF2-40B4-BE49-F238E27FC236}">
                  <a16:creationId xmlns:a16="http://schemas.microsoft.com/office/drawing/2014/main" id="{ABD59FE5-B0DC-6BE9-A4D0-A75A1E2F6D09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cxnSp>
        <p:nvCxnSpPr>
          <p:cNvPr id="3247" name="直接连接符 3246">
            <a:extLst>
              <a:ext uri="{FF2B5EF4-FFF2-40B4-BE49-F238E27FC236}">
                <a16:creationId xmlns:a16="http://schemas.microsoft.com/office/drawing/2014/main" id="{1513F467-284A-2242-4286-F28799C5C3D7}"/>
              </a:ext>
            </a:extLst>
          </p:cNvPr>
          <p:cNvCxnSpPr>
            <a:stCxn id="3185" idx="2"/>
            <a:endCxn id="3233" idx="0"/>
          </p:cNvCxnSpPr>
          <p:nvPr/>
        </p:nvCxnSpPr>
        <p:spPr>
          <a:xfrm>
            <a:off x="9745448" y="3629941"/>
            <a:ext cx="211677" cy="87632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8" name="直接连接符 3247">
            <a:extLst>
              <a:ext uri="{FF2B5EF4-FFF2-40B4-BE49-F238E27FC236}">
                <a16:creationId xmlns:a16="http://schemas.microsoft.com/office/drawing/2014/main" id="{AE4A15C1-D470-2E30-507B-8029E6B54C8A}"/>
              </a:ext>
            </a:extLst>
          </p:cNvPr>
          <p:cNvCxnSpPr>
            <a:cxnSpLocks/>
            <a:stCxn id="3193" idx="2"/>
            <a:endCxn id="3201" idx="0"/>
          </p:cNvCxnSpPr>
          <p:nvPr/>
        </p:nvCxnSpPr>
        <p:spPr>
          <a:xfrm flipH="1">
            <a:off x="9763184" y="3629941"/>
            <a:ext cx="199198" cy="87632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1" name="直接连接符 3250">
            <a:extLst>
              <a:ext uri="{FF2B5EF4-FFF2-40B4-BE49-F238E27FC236}">
                <a16:creationId xmlns:a16="http://schemas.microsoft.com/office/drawing/2014/main" id="{8E81A409-E002-BAD0-AA6E-D9307B06A52A}"/>
              </a:ext>
            </a:extLst>
          </p:cNvPr>
          <p:cNvCxnSpPr>
            <a:cxnSpLocks/>
            <a:stCxn id="3185" idx="2"/>
            <a:endCxn id="3201" idx="0"/>
          </p:cNvCxnSpPr>
          <p:nvPr/>
        </p:nvCxnSpPr>
        <p:spPr>
          <a:xfrm>
            <a:off x="9745448" y="3629941"/>
            <a:ext cx="17736" cy="87632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4" name="直接连接符 3253">
            <a:extLst>
              <a:ext uri="{FF2B5EF4-FFF2-40B4-BE49-F238E27FC236}">
                <a16:creationId xmlns:a16="http://schemas.microsoft.com/office/drawing/2014/main" id="{50F89273-6158-4705-DDF5-9D740EC911FF}"/>
              </a:ext>
            </a:extLst>
          </p:cNvPr>
          <p:cNvCxnSpPr>
            <a:cxnSpLocks/>
            <a:stCxn id="3193" idx="2"/>
            <a:endCxn id="3233" idx="0"/>
          </p:cNvCxnSpPr>
          <p:nvPr/>
        </p:nvCxnSpPr>
        <p:spPr>
          <a:xfrm flipH="1">
            <a:off x="9957125" y="3629941"/>
            <a:ext cx="5257" cy="87632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7" name="直接连接符 3256">
            <a:extLst>
              <a:ext uri="{FF2B5EF4-FFF2-40B4-BE49-F238E27FC236}">
                <a16:creationId xmlns:a16="http://schemas.microsoft.com/office/drawing/2014/main" id="{658F9470-FD3C-B8A7-772F-DEC93184C62D}"/>
              </a:ext>
            </a:extLst>
          </p:cNvPr>
          <p:cNvCxnSpPr>
            <a:cxnSpLocks/>
            <a:stCxn id="3185" idx="2"/>
            <a:endCxn id="3193" idx="2"/>
          </p:cNvCxnSpPr>
          <p:nvPr/>
        </p:nvCxnSpPr>
        <p:spPr>
          <a:xfrm>
            <a:off x="9745448" y="3629941"/>
            <a:ext cx="21693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直接连接符 3259">
            <a:extLst>
              <a:ext uri="{FF2B5EF4-FFF2-40B4-BE49-F238E27FC236}">
                <a16:creationId xmlns:a16="http://schemas.microsoft.com/office/drawing/2014/main" id="{286349B1-29E8-C8D0-BBC8-15F245A3CE9B}"/>
              </a:ext>
            </a:extLst>
          </p:cNvPr>
          <p:cNvCxnSpPr>
            <a:cxnSpLocks/>
            <a:stCxn id="3201" idx="0"/>
            <a:endCxn id="3233" idx="0"/>
          </p:cNvCxnSpPr>
          <p:nvPr/>
        </p:nvCxnSpPr>
        <p:spPr>
          <a:xfrm>
            <a:off x="9763184" y="4506261"/>
            <a:ext cx="19394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22348472-9892-C3DF-000D-BC387E3B1A19}"/>
              </a:ext>
            </a:extLst>
          </p:cNvPr>
          <p:cNvGrpSpPr/>
          <p:nvPr/>
        </p:nvGrpSpPr>
        <p:grpSpPr>
          <a:xfrm>
            <a:off x="944683" y="5140468"/>
            <a:ext cx="2420284" cy="328255"/>
            <a:chOff x="1177467" y="2702667"/>
            <a:chExt cx="2420284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0CA6769B-7DAE-DCF5-4A83-72FFA31733B5}"/>
                </a:ext>
              </a:extLst>
            </p:cNvPr>
            <p:cNvSpPr txBox="1"/>
            <p:nvPr/>
          </p:nvSpPr>
          <p:spPr>
            <a:xfrm>
              <a:off x="1613598" y="2702667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Copper interconnection 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9FE7541C-A33D-F222-D297-59E869D0BF2E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9" name="文本框 3278">
            <a:extLst>
              <a:ext uri="{FF2B5EF4-FFF2-40B4-BE49-F238E27FC236}">
                <a16:creationId xmlns:a16="http://schemas.microsoft.com/office/drawing/2014/main" id="{B4DC88B5-7ABC-E50B-B302-D475C763EE5D}"/>
              </a:ext>
            </a:extLst>
          </p:cNvPr>
          <p:cNvSpPr txBox="1"/>
          <p:nvPr/>
        </p:nvSpPr>
        <p:spPr>
          <a:xfrm>
            <a:off x="6237270" y="1471365"/>
            <a:ext cx="531337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：多个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算力节点横向互连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集群节点间长距离通信只能依赖光模块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（为什么，找数）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GPT-4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在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25K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个集群上训练，需要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7.5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万个光模块；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10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万卡超大计算集群，需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50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万个光模块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80" name="文本框 3279">
            <a:extLst>
              <a:ext uri="{FF2B5EF4-FFF2-40B4-BE49-F238E27FC236}">
                <a16:creationId xmlns:a16="http://schemas.microsoft.com/office/drawing/2014/main" id="{C148A7FD-D712-51F3-5081-166F73B6EB61}"/>
              </a:ext>
            </a:extLst>
          </p:cNvPr>
          <p:cNvSpPr txBox="1"/>
          <p:nvPr/>
        </p:nvSpPr>
        <p:spPr>
          <a:xfrm>
            <a:off x="7487755" y="3595575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1" name="文本框 3280">
            <a:extLst>
              <a:ext uri="{FF2B5EF4-FFF2-40B4-BE49-F238E27FC236}">
                <a16:creationId xmlns:a16="http://schemas.microsoft.com/office/drawing/2014/main" id="{4361F562-DFDE-6B7E-F514-626FA1E56756}"/>
              </a:ext>
            </a:extLst>
          </p:cNvPr>
          <p:cNvSpPr txBox="1"/>
          <p:nvPr/>
        </p:nvSpPr>
        <p:spPr>
          <a:xfrm>
            <a:off x="9564993" y="2598411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2" name="椭圆 3281">
            <a:extLst>
              <a:ext uri="{FF2B5EF4-FFF2-40B4-BE49-F238E27FC236}">
                <a16:creationId xmlns:a16="http://schemas.microsoft.com/office/drawing/2014/main" id="{F3DEAD3A-3B4E-7235-FD38-55144F01FA78}"/>
              </a:ext>
            </a:extLst>
          </p:cNvPr>
          <p:cNvSpPr/>
          <p:nvPr/>
        </p:nvSpPr>
        <p:spPr>
          <a:xfrm>
            <a:off x="9724270" y="360126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3" name="椭圆 3282">
            <a:extLst>
              <a:ext uri="{FF2B5EF4-FFF2-40B4-BE49-F238E27FC236}">
                <a16:creationId xmlns:a16="http://schemas.microsoft.com/office/drawing/2014/main" id="{60EEC760-1965-A09D-5547-B6E06E6F1BFF}"/>
              </a:ext>
            </a:extLst>
          </p:cNvPr>
          <p:cNvSpPr/>
          <p:nvPr/>
        </p:nvSpPr>
        <p:spPr>
          <a:xfrm>
            <a:off x="9941349" y="3598844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4" name="椭圆 3283">
            <a:extLst>
              <a:ext uri="{FF2B5EF4-FFF2-40B4-BE49-F238E27FC236}">
                <a16:creationId xmlns:a16="http://schemas.microsoft.com/office/drawing/2014/main" id="{338C041F-2329-9770-58C2-010826019696}"/>
              </a:ext>
            </a:extLst>
          </p:cNvPr>
          <p:cNvSpPr/>
          <p:nvPr/>
        </p:nvSpPr>
        <p:spPr>
          <a:xfrm>
            <a:off x="9744531" y="4481141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5" name="椭圆 3284">
            <a:extLst>
              <a:ext uri="{FF2B5EF4-FFF2-40B4-BE49-F238E27FC236}">
                <a16:creationId xmlns:a16="http://schemas.microsoft.com/office/drawing/2014/main" id="{9D64F408-8622-DFC1-569E-C3F30849D5FA}"/>
              </a:ext>
            </a:extLst>
          </p:cNvPr>
          <p:cNvSpPr/>
          <p:nvPr/>
        </p:nvSpPr>
        <p:spPr>
          <a:xfrm>
            <a:off x="9934761" y="4484872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7" name="连接符: 肘形 3286">
            <a:extLst>
              <a:ext uri="{FF2B5EF4-FFF2-40B4-BE49-F238E27FC236}">
                <a16:creationId xmlns:a16="http://schemas.microsoft.com/office/drawing/2014/main" id="{179ED056-C4F7-BE77-73B2-34D1C98B902B}"/>
              </a:ext>
            </a:extLst>
          </p:cNvPr>
          <p:cNvCxnSpPr>
            <a:stCxn id="3189" idx="3"/>
            <a:endCxn id="3188" idx="3"/>
          </p:cNvCxnSpPr>
          <p:nvPr/>
        </p:nvCxnSpPr>
        <p:spPr>
          <a:xfrm>
            <a:off x="9396735" y="3012890"/>
            <a:ext cx="106901" cy="239224"/>
          </a:xfrm>
          <a:prstGeom prst="bentConnector3">
            <a:avLst>
              <a:gd name="adj1" fmla="val 5247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9" name="连接符: 肘形 3288">
            <a:extLst>
              <a:ext uri="{FF2B5EF4-FFF2-40B4-BE49-F238E27FC236}">
                <a16:creationId xmlns:a16="http://schemas.microsoft.com/office/drawing/2014/main" id="{E7E888B3-805C-5E34-B8B9-C1325B75C051}"/>
              </a:ext>
            </a:extLst>
          </p:cNvPr>
          <p:cNvCxnSpPr>
            <a:cxnSpLocks/>
            <a:stCxn id="3190" idx="3"/>
            <a:endCxn id="3188" idx="3"/>
          </p:cNvCxnSpPr>
          <p:nvPr/>
        </p:nvCxnSpPr>
        <p:spPr>
          <a:xfrm flipV="1">
            <a:off x="9396733" y="3252114"/>
            <a:ext cx="106903" cy="249538"/>
          </a:xfrm>
          <a:prstGeom prst="bentConnector3">
            <a:avLst>
              <a:gd name="adj1" fmla="val 52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5" name="椭圆 3294">
            <a:extLst>
              <a:ext uri="{FF2B5EF4-FFF2-40B4-BE49-F238E27FC236}">
                <a16:creationId xmlns:a16="http://schemas.microsoft.com/office/drawing/2014/main" id="{E5DF0D73-C9E2-F4E0-D984-B375E6F18122}"/>
              </a:ext>
            </a:extLst>
          </p:cNvPr>
          <p:cNvSpPr/>
          <p:nvPr/>
        </p:nvSpPr>
        <p:spPr>
          <a:xfrm>
            <a:off x="9510274" y="3229254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6" name="椭圆 3295">
            <a:extLst>
              <a:ext uri="{FF2B5EF4-FFF2-40B4-BE49-F238E27FC236}">
                <a16:creationId xmlns:a16="http://schemas.microsoft.com/office/drawing/2014/main" id="{8653CA79-4735-DDC8-50B6-9D2AA3C8D3E3}"/>
              </a:ext>
            </a:extLst>
          </p:cNvPr>
          <p:cNvSpPr/>
          <p:nvPr/>
        </p:nvSpPr>
        <p:spPr>
          <a:xfrm>
            <a:off x="10145712" y="3231454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7" name="椭圆 3296">
            <a:extLst>
              <a:ext uri="{FF2B5EF4-FFF2-40B4-BE49-F238E27FC236}">
                <a16:creationId xmlns:a16="http://schemas.microsoft.com/office/drawing/2014/main" id="{428FF105-C955-4B02-E9DB-2DCDEF0A2475}"/>
              </a:ext>
            </a:extLst>
          </p:cNvPr>
          <p:cNvSpPr/>
          <p:nvPr/>
        </p:nvSpPr>
        <p:spPr>
          <a:xfrm>
            <a:off x="9520666" y="4851084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8" name="椭圆 3297">
            <a:extLst>
              <a:ext uri="{FF2B5EF4-FFF2-40B4-BE49-F238E27FC236}">
                <a16:creationId xmlns:a16="http://schemas.microsoft.com/office/drawing/2014/main" id="{B57F8209-DA60-206E-A92E-4BEA193F4A6D}"/>
              </a:ext>
            </a:extLst>
          </p:cNvPr>
          <p:cNvSpPr/>
          <p:nvPr/>
        </p:nvSpPr>
        <p:spPr>
          <a:xfrm>
            <a:off x="10145712" y="4851084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03" name="连接符: 肘形 3302">
            <a:extLst>
              <a:ext uri="{FF2B5EF4-FFF2-40B4-BE49-F238E27FC236}">
                <a16:creationId xmlns:a16="http://schemas.microsoft.com/office/drawing/2014/main" id="{D90F8067-3661-6D07-4115-4EF10A05363E}"/>
              </a:ext>
            </a:extLst>
          </p:cNvPr>
          <p:cNvCxnSpPr>
            <a:cxnSpLocks/>
            <a:stCxn id="3206" idx="3"/>
            <a:endCxn id="3297" idx="2"/>
          </p:cNvCxnSpPr>
          <p:nvPr/>
        </p:nvCxnSpPr>
        <p:spPr>
          <a:xfrm flipV="1">
            <a:off x="9420821" y="4873944"/>
            <a:ext cx="99845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7" name="连接符: 肘形 3306">
            <a:extLst>
              <a:ext uri="{FF2B5EF4-FFF2-40B4-BE49-F238E27FC236}">
                <a16:creationId xmlns:a16="http://schemas.microsoft.com/office/drawing/2014/main" id="{64D43C6D-FDBF-E180-0573-843E3A227E6A}"/>
              </a:ext>
            </a:extLst>
          </p:cNvPr>
          <p:cNvCxnSpPr>
            <a:cxnSpLocks/>
            <a:stCxn id="3205" idx="3"/>
            <a:endCxn id="3297" idx="2"/>
          </p:cNvCxnSpPr>
          <p:nvPr/>
        </p:nvCxnSpPr>
        <p:spPr>
          <a:xfrm>
            <a:off x="9420823" y="4624581"/>
            <a:ext cx="99843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0" name="连接符: 肘形 3309">
            <a:extLst>
              <a:ext uri="{FF2B5EF4-FFF2-40B4-BE49-F238E27FC236}">
                <a16:creationId xmlns:a16="http://schemas.microsoft.com/office/drawing/2014/main" id="{C2B88ABB-85BD-BA7B-A299-D2B6C2EA061A}"/>
              </a:ext>
            </a:extLst>
          </p:cNvPr>
          <p:cNvCxnSpPr>
            <a:cxnSpLocks/>
            <a:stCxn id="3296" idx="6"/>
            <a:endCxn id="3197" idx="1"/>
          </p:cNvCxnSpPr>
          <p:nvPr/>
        </p:nvCxnSpPr>
        <p:spPr>
          <a:xfrm flipV="1">
            <a:off x="10191431" y="3012890"/>
            <a:ext cx="106275" cy="2414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连接符: 肘形 3312">
            <a:extLst>
              <a:ext uri="{FF2B5EF4-FFF2-40B4-BE49-F238E27FC236}">
                <a16:creationId xmlns:a16="http://schemas.microsoft.com/office/drawing/2014/main" id="{3CDD6494-4D9F-FA19-90BE-575750010F28}"/>
              </a:ext>
            </a:extLst>
          </p:cNvPr>
          <p:cNvCxnSpPr>
            <a:cxnSpLocks/>
            <a:stCxn id="3198" idx="1"/>
            <a:endCxn id="3296" idx="6"/>
          </p:cNvCxnSpPr>
          <p:nvPr/>
        </p:nvCxnSpPr>
        <p:spPr>
          <a:xfrm rot="10800000">
            <a:off x="10191432" y="3254314"/>
            <a:ext cx="106275" cy="24733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0" name="连接符: 肘形 3319">
            <a:extLst>
              <a:ext uri="{FF2B5EF4-FFF2-40B4-BE49-F238E27FC236}">
                <a16:creationId xmlns:a16="http://schemas.microsoft.com/office/drawing/2014/main" id="{E76F4571-2F06-814E-677F-AFBE3603CF65}"/>
              </a:ext>
            </a:extLst>
          </p:cNvPr>
          <p:cNvCxnSpPr>
            <a:cxnSpLocks/>
            <a:stCxn id="3236" idx="1"/>
            <a:endCxn id="3298" idx="6"/>
          </p:cNvCxnSpPr>
          <p:nvPr/>
        </p:nvCxnSpPr>
        <p:spPr>
          <a:xfrm rot="10800000" flipV="1">
            <a:off x="10191431" y="4624580"/>
            <a:ext cx="101018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3" name="连接符: 肘形 3322">
            <a:extLst>
              <a:ext uri="{FF2B5EF4-FFF2-40B4-BE49-F238E27FC236}">
                <a16:creationId xmlns:a16="http://schemas.microsoft.com/office/drawing/2014/main" id="{9FA99C92-C83D-F097-0EFC-E259C9BCA4AE}"/>
              </a:ext>
            </a:extLst>
          </p:cNvPr>
          <p:cNvCxnSpPr>
            <a:cxnSpLocks/>
            <a:stCxn id="3237" idx="1"/>
            <a:endCxn id="3298" idx="6"/>
          </p:cNvCxnSpPr>
          <p:nvPr/>
        </p:nvCxnSpPr>
        <p:spPr>
          <a:xfrm rot="10800000">
            <a:off x="10191431" y="4873945"/>
            <a:ext cx="101018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6" name="椭圆 3325">
            <a:extLst>
              <a:ext uri="{FF2B5EF4-FFF2-40B4-BE49-F238E27FC236}">
                <a16:creationId xmlns:a16="http://schemas.microsoft.com/office/drawing/2014/main" id="{3FCC2BA2-D450-E61D-79BE-35C9F2B84FF2}"/>
              </a:ext>
            </a:extLst>
          </p:cNvPr>
          <p:cNvSpPr/>
          <p:nvPr/>
        </p:nvSpPr>
        <p:spPr>
          <a:xfrm>
            <a:off x="9672250" y="3231454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7" name="椭圆 3326">
            <a:extLst>
              <a:ext uri="{FF2B5EF4-FFF2-40B4-BE49-F238E27FC236}">
                <a16:creationId xmlns:a16="http://schemas.microsoft.com/office/drawing/2014/main" id="{8DAC3C25-5202-9E1F-1F6C-C65005E11E5E}"/>
              </a:ext>
            </a:extLst>
          </p:cNvPr>
          <p:cNvSpPr/>
          <p:nvPr/>
        </p:nvSpPr>
        <p:spPr>
          <a:xfrm>
            <a:off x="9984604" y="3229254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8" name="椭圆 3327">
            <a:extLst>
              <a:ext uri="{FF2B5EF4-FFF2-40B4-BE49-F238E27FC236}">
                <a16:creationId xmlns:a16="http://schemas.microsoft.com/office/drawing/2014/main" id="{E658DC7D-FF2B-F798-4CF3-FEDDA3AA84DD}"/>
              </a:ext>
            </a:extLst>
          </p:cNvPr>
          <p:cNvSpPr/>
          <p:nvPr/>
        </p:nvSpPr>
        <p:spPr>
          <a:xfrm>
            <a:off x="9689286" y="4853437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9" name="椭圆 3328">
            <a:extLst>
              <a:ext uri="{FF2B5EF4-FFF2-40B4-BE49-F238E27FC236}">
                <a16:creationId xmlns:a16="http://schemas.microsoft.com/office/drawing/2014/main" id="{60538A72-931E-810C-D7DE-12A882C184AC}"/>
              </a:ext>
            </a:extLst>
          </p:cNvPr>
          <p:cNvSpPr/>
          <p:nvPr/>
        </p:nvSpPr>
        <p:spPr>
          <a:xfrm>
            <a:off x="9982842" y="4851985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30" name="直接连接符 3329">
            <a:extLst>
              <a:ext uri="{FF2B5EF4-FFF2-40B4-BE49-F238E27FC236}">
                <a16:creationId xmlns:a16="http://schemas.microsoft.com/office/drawing/2014/main" id="{D4A53385-8C4F-0E25-BBEB-8F59CD06E132}"/>
              </a:ext>
            </a:extLst>
          </p:cNvPr>
          <p:cNvCxnSpPr>
            <a:cxnSpLocks/>
            <a:stCxn id="3295" idx="6"/>
            <a:endCxn id="3326" idx="2"/>
          </p:cNvCxnSpPr>
          <p:nvPr/>
        </p:nvCxnSpPr>
        <p:spPr>
          <a:xfrm>
            <a:off x="9555993" y="3252114"/>
            <a:ext cx="116257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直接连接符 3332">
            <a:extLst>
              <a:ext uri="{FF2B5EF4-FFF2-40B4-BE49-F238E27FC236}">
                <a16:creationId xmlns:a16="http://schemas.microsoft.com/office/drawing/2014/main" id="{C3106EA1-D384-87ED-9259-454583658A89}"/>
              </a:ext>
            </a:extLst>
          </p:cNvPr>
          <p:cNvCxnSpPr>
            <a:cxnSpLocks/>
            <a:stCxn id="3327" idx="6"/>
            <a:endCxn id="3296" idx="2"/>
          </p:cNvCxnSpPr>
          <p:nvPr/>
        </p:nvCxnSpPr>
        <p:spPr>
          <a:xfrm>
            <a:off x="10030323" y="3252114"/>
            <a:ext cx="115389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6" name="直接连接符 3335">
            <a:extLst>
              <a:ext uri="{FF2B5EF4-FFF2-40B4-BE49-F238E27FC236}">
                <a16:creationId xmlns:a16="http://schemas.microsoft.com/office/drawing/2014/main" id="{00C9FB13-33F8-76A2-02F6-82395DD3D3F8}"/>
              </a:ext>
            </a:extLst>
          </p:cNvPr>
          <p:cNvCxnSpPr>
            <a:cxnSpLocks/>
            <a:stCxn id="3297" idx="6"/>
            <a:endCxn id="3328" idx="2"/>
          </p:cNvCxnSpPr>
          <p:nvPr/>
        </p:nvCxnSpPr>
        <p:spPr>
          <a:xfrm>
            <a:off x="9566385" y="4873944"/>
            <a:ext cx="122901" cy="235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9" name="直接连接符 3338">
            <a:extLst>
              <a:ext uri="{FF2B5EF4-FFF2-40B4-BE49-F238E27FC236}">
                <a16:creationId xmlns:a16="http://schemas.microsoft.com/office/drawing/2014/main" id="{CB4854F6-E81A-966A-4307-FCE85C932C5B}"/>
              </a:ext>
            </a:extLst>
          </p:cNvPr>
          <p:cNvCxnSpPr>
            <a:cxnSpLocks/>
            <a:stCxn id="3329" idx="6"/>
            <a:endCxn id="3298" idx="2"/>
          </p:cNvCxnSpPr>
          <p:nvPr/>
        </p:nvCxnSpPr>
        <p:spPr>
          <a:xfrm flipV="1">
            <a:off x="10028561" y="4873944"/>
            <a:ext cx="117151" cy="90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35A9D7F8-5A32-8325-E0D2-7CAA8D0C5ED4}"/>
              </a:ext>
            </a:extLst>
          </p:cNvPr>
          <p:cNvGrpSpPr/>
          <p:nvPr/>
        </p:nvGrpSpPr>
        <p:grpSpPr>
          <a:xfrm>
            <a:off x="6473675" y="5800760"/>
            <a:ext cx="2420284" cy="645926"/>
            <a:chOff x="944683" y="5440100"/>
            <a:chExt cx="2420284" cy="645926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9A856CE2-4D8E-A5B0-0895-B0A3FE49D9B4}"/>
                </a:ext>
              </a:extLst>
            </p:cNvPr>
            <p:cNvGrpSpPr/>
            <p:nvPr/>
          </p:nvGrpSpPr>
          <p:grpSpPr>
            <a:xfrm>
              <a:off x="944683" y="5440100"/>
              <a:ext cx="2420284" cy="328255"/>
              <a:chOff x="1177467" y="2702667"/>
              <a:chExt cx="2420284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DE2E4076-164F-87A8-1121-C97911561E98}"/>
                  </a:ext>
                </a:extLst>
              </p:cNvPr>
              <p:cNvSpPr txBox="1"/>
              <p:nvPr/>
            </p:nvSpPr>
            <p:spPr>
              <a:xfrm>
                <a:off x="1613598" y="2702667"/>
                <a:ext cx="1984153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000" b="1" dirty="0"/>
                  <a:t>Optical interconnection  </a:t>
                </a:r>
                <a:endParaRPr kumimoji="1" lang="en-US" altLang="zh-CN" sz="1000" dirty="0">
                  <a:solidFill>
                    <a:srgbClr val="0052D9"/>
                  </a:solidFill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8AAC3C28-8C07-26B3-FDB4-1E609F13A3F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24369D3A-9BF2-5FF3-A8CD-A3EDA71406D6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041519C8-2767-A6EB-435B-BCA6F0866A05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Optical module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</p:grpSp>
      <p:sp>
        <p:nvSpPr>
          <p:cNvPr id="3351" name="矩形 3350">
            <a:extLst>
              <a:ext uri="{FF2B5EF4-FFF2-40B4-BE49-F238E27FC236}">
                <a16:creationId xmlns:a16="http://schemas.microsoft.com/office/drawing/2014/main" id="{5BE43975-8665-111F-5AC9-5F046225065B}"/>
              </a:ext>
            </a:extLst>
          </p:cNvPr>
          <p:cNvSpPr/>
          <p:nvPr/>
        </p:nvSpPr>
        <p:spPr>
          <a:xfrm>
            <a:off x="-3019238" y="2171284"/>
            <a:ext cx="366456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简单的制约三角形（可以放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），距离、信息损耗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(BER 40%)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3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短期看</a:t>
            </a:r>
            <a:r>
              <a:rPr lang="en-US" altLang="zh-CN" dirty="0"/>
              <a:t>Scale Out</a:t>
            </a:r>
            <a:r>
              <a:rPr lang="zh-CN" altLang="en-US" dirty="0"/>
              <a:t>，长期看</a:t>
            </a:r>
            <a:r>
              <a:rPr lang="en-US" altLang="zh-CN" dirty="0"/>
              <a:t>Scale Up</a:t>
            </a:r>
            <a:r>
              <a:rPr lang="zh-CN" altLang="en-US" dirty="0"/>
              <a:t>；</a:t>
            </a:r>
            <a:br>
              <a:rPr lang="en-US" altLang="zh-CN" dirty="0"/>
            </a:br>
            <a:r>
              <a:rPr lang="zh-CN" altLang="en-US" dirty="0"/>
              <a:t>巨头在</a:t>
            </a:r>
            <a:r>
              <a:rPr lang="en-US" altLang="zh-CN" dirty="0"/>
              <a:t>Out</a:t>
            </a:r>
            <a:r>
              <a:rPr lang="zh-CN" altLang="en-US" dirty="0"/>
              <a:t>和</a:t>
            </a:r>
            <a:r>
              <a:rPr lang="en-US" altLang="zh-CN" dirty="0"/>
              <a:t>Up</a:t>
            </a:r>
            <a:r>
              <a:rPr lang="zh-CN" altLang="en-US" dirty="0"/>
              <a:t>采用</a:t>
            </a:r>
            <a:r>
              <a:rPr lang="en-US" altLang="zh-CN" dirty="0"/>
              <a:t>CPO</a:t>
            </a:r>
            <a:r>
              <a:rPr lang="zh-CN" altLang="en-US" dirty="0"/>
              <a:t>的布局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66ECEC-3ADE-3292-D801-54C86A95723B}"/>
              </a:ext>
            </a:extLst>
          </p:cNvPr>
          <p:cNvSpPr/>
          <p:nvPr/>
        </p:nvSpPr>
        <p:spPr>
          <a:xfrm>
            <a:off x="12677927" y="2924944"/>
            <a:ext cx="3682865" cy="2410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时间上的判断？短期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长期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考虑分成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补充大厂当前所处的阶段，比如博通、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 +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内部证据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先用铜堆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，发布的两个机型都是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。分成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两条线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694471" y="2103517"/>
            <a:ext cx="936104" cy="821427"/>
          </a:xfrm>
          <a:prstGeom prst="rect">
            <a:avLst/>
          </a:prstGeom>
          <a:solidFill>
            <a:srgbClr val="D9D9D9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691399" y="3818188"/>
            <a:ext cx="936104" cy="572571"/>
          </a:xfrm>
          <a:prstGeom prst="rect">
            <a:avLst/>
          </a:prstGeom>
          <a:solidFill>
            <a:srgbClr val="D9D9D9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9D78602-5B3D-5D87-E812-E32628FE105D}"/>
              </a:ext>
            </a:extLst>
          </p:cNvPr>
          <p:cNvSpPr txBox="1"/>
          <p:nvPr/>
        </p:nvSpPr>
        <p:spPr>
          <a:xfrm>
            <a:off x="691399" y="5335635"/>
            <a:ext cx="936104" cy="1266806"/>
          </a:xfrm>
          <a:prstGeom prst="rect">
            <a:avLst/>
          </a:prstGeom>
          <a:solidFill>
            <a:srgbClr val="D9D9D9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991544" y="3517714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5795349" y="1596735"/>
            <a:ext cx="291050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5795517" y="1692601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2114550" y="1598481"/>
            <a:ext cx="3435350" cy="2382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2108411" y="2790699"/>
            <a:ext cx="3435350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506853" y="4241782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797" y="1251716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7496" y="1305206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349" y="1259661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046" y="1344551"/>
            <a:ext cx="1072772" cy="156270"/>
          </a:xfrm>
          <a:prstGeom prst="rect">
            <a:avLst/>
          </a:prstGeom>
        </p:spPr>
      </p:pic>
      <p:cxnSp>
        <p:nvCxnSpPr>
          <p:cNvPr id="77" name="直线连接符 30">
            <a:extLst>
              <a:ext uri="{FF2B5EF4-FFF2-40B4-BE49-F238E27FC236}">
                <a16:creationId xmlns:a16="http://schemas.microsoft.com/office/drawing/2014/main" id="{BEFBF562-B0D9-73E5-9A3B-42219DFFF4F6}"/>
              </a:ext>
            </a:extLst>
          </p:cNvPr>
          <p:cNvCxnSpPr>
            <a:cxnSpLocks/>
          </p:cNvCxnSpPr>
          <p:nvPr/>
        </p:nvCxnSpPr>
        <p:spPr>
          <a:xfrm>
            <a:off x="8994154" y="1601519"/>
            <a:ext cx="237234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991544" y="3862217"/>
            <a:ext cx="700106" cy="43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691650" y="3697891"/>
            <a:ext cx="158449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i="1" dirty="0">
                <a:solidFill>
                  <a:srgbClr val="0052D9"/>
                </a:solidFill>
              </a:rPr>
              <a:t>25Q2</a:t>
            </a:r>
            <a:r>
              <a:rPr kumimoji="1" lang="zh-CN" altLang="en-US" sz="1100" i="1" dirty="0">
                <a:solidFill>
                  <a:srgbClr val="0052D9"/>
                </a:solidFill>
              </a:rPr>
              <a:t>交付</a:t>
            </a:r>
            <a:endParaRPr kumimoji="1" lang="en-US" altLang="zh-CN" sz="1100" i="1" dirty="0">
              <a:solidFill>
                <a:srgbClr val="0052D9"/>
              </a:solidFill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886858" y="1634431"/>
            <a:ext cx="3732892" cy="1149446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686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GTC 2024</a:t>
              </a:r>
            </a:p>
          </p:txBody>
        </p:sp>
      </p:grpSp>
      <p:cxnSp>
        <p:nvCxnSpPr>
          <p:cNvPr id="104" name="直线连接符 8">
            <a:extLst>
              <a:ext uri="{FF2B5EF4-FFF2-40B4-BE49-F238E27FC236}">
                <a16:creationId xmlns:a16="http://schemas.microsoft.com/office/drawing/2014/main" id="{E5739C50-AB6F-0445-F752-B7D4405021EF}"/>
              </a:ext>
            </a:extLst>
          </p:cNvPr>
          <p:cNvCxnSpPr>
            <a:cxnSpLocks/>
          </p:cNvCxnSpPr>
          <p:nvPr/>
        </p:nvCxnSpPr>
        <p:spPr>
          <a:xfrm>
            <a:off x="1991544" y="4654364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696663" y="3680358"/>
            <a:ext cx="158449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以太网交换机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i="1" dirty="0">
                <a:solidFill>
                  <a:srgbClr val="0052D9"/>
                </a:solidFill>
              </a:rPr>
              <a:t>26Q2</a:t>
            </a:r>
            <a:r>
              <a:rPr kumimoji="1" lang="zh-CN" altLang="en-US" sz="1100" i="1" dirty="0">
                <a:solidFill>
                  <a:srgbClr val="0052D9"/>
                </a:solidFill>
              </a:rPr>
              <a:t>交付</a:t>
            </a:r>
            <a:endParaRPr kumimoji="1" lang="en-US" altLang="zh-CN" sz="1100" i="1" dirty="0">
              <a:solidFill>
                <a:srgbClr val="0052D9"/>
              </a:solidFill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8358134-2C9F-AF4B-E784-259A345314DA}"/>
              </a:ext>
            </a:extLst>
          </p:cNvPr>
          <p:cNvSpPr/>
          <p:nvPr/>
        </p:nvSpPr>
        <p:spPr>
          <a:xfrm>
            <a:off x="12423166" y="-370706"/>
            <a:ext cx="3682865" cy="2410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短期看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，长期看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，需要找证据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691399" y="4665897"/>
            <a:ext cx="936104" cy="572571"/>
          </a:xfrm>
          <a:prstGeom prst="rect">
            <a:avLst/>
          </a:prstGeom>
          <a:solidFill>
            <a:srgbClr val="D9D9D9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855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4352C63-C6C6-E9AD-715C-EED90D112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为约百亿美元市场（改）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E43DE8-D421-056F-F08D-7554821323A7}"/>
              </a:ext>
            </a:extLst>
          </p:cNvPr>
          <p:cNvSpPr/>
          <p:nvPr/>
        </p:nvSpPr>
        <p:spPr>
          <a:xfrm>
            <a:off x="12192000" y="4818573"/>
            <a:ext cx="1887478" cy="15178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量级问题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3EF8D2C4-F274-AF76-3EC4-DAC1807993C9}"/>
              </a:ext>
            </a:extLst>
          </p:cNvPr>
          <p:cNvSpPr txBox="1"/>
          <p:nvPr/>
        </p:nvSpPr>
        <p:spPr>
          <a:xfrm>
            <a:off x="1249316" y="2271247"/>
            <a:ext cx="5003775" cy="24421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A6A6A6"/>
                </a:solidFill>
              </a:rPr>
              <a:t>Bull case</a:t>
            </a:r>
            <a:r>
              <a:rPr kumimoji="1" lang="zh-CN" altLang="en-US" sz="1600" b="1" dirty="0">
                <a:solidFill>
                  <a:srgbClr val="A6A6A6"/>
                </a:solidFill>
              </a:rPr>
              <a:t>：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CAGR 210 %，2030e 收入约 </a:t>
            </a:r>
            <a:r>
              <a:rPr kumimoji="1" lang="zh-CN" altLang="zh-CN" sz="1600" b="1" dirty="0">
                <a:solidFill>
                  <a:srgbClr val="A6A6A6"/>
                </a:solidFill>
              </a:rPr>
              <a:t>270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 亿美元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600" b="1" dirty="0">
              <a:solidFill>
                <a:srgbClr val="A6A6A6"/>
              </a:solidFill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D6A59D33-8732-FD1A-A281-1EE0B20A147D}"/>
              </a:ext>
            </a:extLst>
          </p:cNvPr>
          <p:cNvSpPr txBox="1"/>
          <p:nvPr/>
        </p:nvSpPr>
        <p:spPr>
          <a:xfrm>
            <a:off x="6739652" y="1398110"/>
            <a:ext cx="5055825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</a:rPr>
              <a:t>Base case</a:t>
            </a:r>
            <a:r>
              <a:rPr kumimoji="1" lang="zh-CN" altLang="en-US" sz="1600" b="1" dirty="0">
                <a:solidFill>
                  <a:srgbClr val="0052D9"/>
                </a:solidFill>
              </a:rPr>
              <a:t>：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 CAGR 172 %，2030e 收入约 </a:t>
            </a:r>
            <a:r>
              <a:rPr kumimoji="1" lang="zh-CN" altLang="zh-CN" sz="1600" b="1" dirty="0">
                <a:solidFill>
                  <a:srgbClr val="0052D9"/>
                </a:solidFill>
              </a:rPr>
              <a:t>93 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</a:rPr>
              <a:t>亿美元</a:t>
            </a:r>
            <a:endParaRPr kumimoji="1" lang="zh-CN" altLang="en-US" sz="1600" dirty="0">
              <a:solidFill>
                <a:schemeClr val="accent6">
                  <a:lumMod val="10000"/>
                </a:schemeClr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b="1" dirty="0">
              <a:solidFill>
                <a:srgbClr val="0052D9"/>
              </a:solidFill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12F4B630-35E4-5EBB-EC5C-C06008FDE967}"/>
              </a:ext>
            </a:extLst>
          </p:cNvPr>
          <p:cNvSpPr txBox="1"/>
          <p:nvPr/>
        </p:nvSpPr>
        <p:spPr>
          <a:xfrm>
            <a:off x="1249316" y="4927469"/>
            <a:ext cx="4946569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5"/>
                </a:solidFill>
              </a:rPr>
              <a:t>Bear case</a:t>
            </a:r>
            <a:r>
              <a:rPr kumimoji="1" lang="zh-CN" altLang="en-US" sz="1600" b="1" dirty="0">
                <a:solidFill>
                  <a:schemeClr val="accent5"/>
                </a:solidFill>
              </a:rPr>
              <a:t>：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 CAGR 107 %，2030e 收入约 </a:t>
            </a:r>
            <a:r>
              <a:rPr kumimoji="1" lang="zh-CN" altLang="zh-CN" sz="1600" b="1" dirty="0">
                <a:solidFill>
                  <a:schemeClr val="accent5"/>
                </a:solidFill>
              </a:rPr>
              <a:t>10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亿美元</a:t>
            </a:r>
            <a:endParaRPr kumimoji="1" lang="zh-CN" altLang="en-US" sz="1600" dirty="0">
              <a:solidFill>
                <a:schemeClr val="accent5"/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FE4ADC6-7E22-7165-E974-C0B95E3628D7}"/>
              </a:ext>
            </a:extLst>
          </p:cNvPr>
          <p:cNvSpPr txBox="1"/>
          <p:nvPr/>
        </p:nvSpPr>
        <p:spPr>
          <a:xfrm>
            <a:off x="906285" y="4000669"/>
            <a:ext cx="5113700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5738" indent="-18573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NVIDIA Rubin＋Broadcom TH7 开始全面替换高端可插拔模块，渗透率上升到 ~45 %</a:t>
            </a:r>
          </a:p>
          <a:p>
            <a:pPr marL="185738" indent="-185738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968A70C6-5E09-637C-077A-1915C6B14BE4}"/>
              </a:ext>
            </a:extLst>
          </p:cNvPr>
          <p:cNvSpPr txBox="1"/>
          <p:nvPr/>
        </p:nvSpPr>
        <p:spPr>
          <a:xfrm>
            <a:off x="926169" y="5325675"/>
            <a:ext cx="5113700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5738" indent="-18573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只在极高端 AI 集群试点，渗透率≤15 %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（渗透难点）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211" name="图形 210" descr="实心填充的悲伤表情 纯色填充">
            <a:extLst>
              <a:ext uri="{FF2B5EF4-FFF2-40B4-BE49-F238E27FC236}">
                <a16:creationId xmlns:a16="http://schemas.microsoft.com/office/drawing/2014/main" id="{8665DEB5-E071-5DC9-EB7B-D1A1FA67D5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764" y="2188021"/>
            <a:ext cx="396000" cy="396000"/>
          </a:xfrm>
          <a:prstGeom prst="rect">
            <a:avLst/>
          </a:prstGeom>
        </p:spPr>
      </p:pic>
      <p:pic>
        <p:nvPicPr>
          <p:cNvPr id="212" name="图形 211" descr="实心填充的笑嘻嘻表情 纯色填充">
            <a:extLst>
              <a:ext uri="{FF2B5EF4-FFF2-40B4-BE49-F238E27FC236}">
                <a16:creationId xmlns:a16="http://schemas.microsoft.com/office/drawing/2014/main" id="{AED32677-2246-9991-6357-BC5CB6589A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669" y="4839397"/>
            <a:ext cx="396000" cy="396000"/>
          </a:xfrm>
          <a:prstGeom prst="rect">
            <a:avLst/>
          </a:prstGeom>
        </p:spPr>
      </p:pic>
      <p:sp>
        <p:nvSpPr>
          <p:cNvPr id="232" name="straight_152520">
            <a:extLst>
              <a:ext uri="{FF2B5EF4-FFF2-40B4-BE49-F238E27FC236}">
                <a16:creationId xmlns:a16="http://schemas.microsoft.com/office/drawing/2014/main" id="{2BA9EE65-39D9-DC2A-B670-0553D7AAC8D8}"/>
              </a:ext>
            </a:extLst>
          </p:cNvPr>
          <p:cNvSpPr/>
          <p:nvPr/>
        </p:nvSpPr>
        <p:spPr>
          <a:xfrm>
            <a:off x="6328818" y="1358583"/>
            <a:ext cx="324237" cy="323781"/>
          </a:xfrm>
          <a:custGeom>
            <a:avLst/>
            <a:gdLst>
              <a:gd name="T0" fmla="*/ 228 w 457"/>
              <a:gd name="T1" fmla="*/ 0 h 457"/>
              <a:gd name="T2" fmla="*/ 0 w 457"/>
              <a:gd name="T3" fmla="*/ 228 h 457"/>
              <a:gd name="T4" fmla="*/ 228 w 457"/>
              <a:gd name="T5" fmla="*/ 457 h 457"/>
              <a:gd name="T6" fmla="*/ 457 w 457"/>
              <a:gd name="T7" fmla="*/ 228 h 457"/>
              <a:gd name="T8" fmla="*/ 228 w 457"/>
              <a:gd name="T9" fmla="*/ 0 h 457"/>
              <a:gd name="T10" fmla="*/ 144 w 457"/>
              <a:gd name="T11" fmla="*/ 152 h 457"/>
              <a:gd name="T12" fmla="*/ 177 w 457"/>
              <a:gd name="T13" fmla="*/ 185 h 457"/>
              <a:gd name="T14" fmla="*/ 144 w 457"/>
              <a:gd name="T15" fmla="*/ 218 h 457"/>
              <a:gd name="T16" fmla="*/ 111 w 457"/>
              <a:gd name="T17" fmla="*/ 185 h 457"/>
              <a:gd name="T18" fmla="*/ 144 w 457"/>
              <a:gd name="T19" fmla="*/ 152 h 457"/>
              <a:gd name="T20" fmla="*/ 324 w 457"/>
              <a:gd name="T21" fmla="*/ 359 h 457"/>
              <a:gd name="T22" fmla="*/ 133 w 457"/>
              <a:gd name="T23" fmla="*/ 359 h 457"/>
              <a:gd name="T24" fmla="*/ 113 w 457"/>
              <a:gd name="T25" fmla="*/ 339 h 457"/>
              <a:gd name="T26" fmla="*/ 133 w 457"/>
              <a:gd name="T27" fmla="*/ 319 h 457"/>
              <a:gd name="T28" fmla="*/ 324 w 457"/>
              <a:gd name="T29" fmla="*/ 319 h 457"/>
              <a:gd name="T30" fmla="*/ 344 w 457"/>
              <a:gd name="T31" fmla="*/ 339 h 457"/>
              <a:gd name="T32" fmla="*/ 324 w 457"/>
              <a:gd name="T33" fmla="*/ 359 h 457"/>
              <a:gd name="T34" fmla="*/ 313 w 457"/>
              <a:gd name="T35" fmla="*/ 218 h 457"/>
              <a:gd name="T36" fmla="*/ 280 w 457"/>
              <a:gd name="T37" fmla="*/ 185 h 457"/>
              <a:gd name="T38" fmla="*/ 313 w 457"/>
              <a:gd name="T39" fmla="*/ 152 h 457"/>
              <a:gd name="T40" fmla="*/ 345 w 457"/>
              <a:gd name="T41" fmla="*/ 185 h 457"/>
              <a:gd name="T42" fmla="*/ 313 w 457"/>
              <a:gd name="T43" fmla="*/ 218 h 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57" h="457">
                <a:moveTo>
                  <a:pt x="228" y="0"/>
                </a:moveTo>
                <a:cubicBezTo>
                  <a:pt x="102" y="0"/>
                  <a:pt x="0" y="102"/>
                  <a:pt x="0" y="228"/>
                </a:cubicBezTo>
                <a:cubicBezTo>
                  <a:pt x="0" y="354"/>
                  <a:pt x="102" y="457"/>
                  <a:pt x="228" y="457"/>
                </a:cubicBezTo>
                <a:cubicBezTo>
                  <a:pt x="354" y="457"/>
                  <a:pt x="457" y="354"/>
                  <a:pt x="457" y="228"/>
                </a:cubicBezTo>
                <a:cubicBezTo>
                  <a:pt x="457" y="102"/>
                  <a:pt x="354" y="0"/>
                  <a:pt x="228" y="0"/>
                </a:cubicBezTo>
                <a:close/>
                <a:moveTo>
                  <a:pt x="144" y="152"/>
                </a:moveTo>
                <a:cubicBezTo>
                  <a:pt x="162" y="152"/>
                  <a:pt x="177" y="167"/>
                  <a:pt x="177" y="185"/>
                </a:cubicBezTo>
                <a:cubicBezTo>
                  <a:pt x="177" y="203"/>
                  <a:pt x="162" y="218"/>
                  <a:pt x="144" y="218"/>
                </a:cubicBezTo>
                <a:cubicBezTo>
                  <a:pt x="126" y="218"/>
                  <a:pt x="111" y="203"/>
                  <a:pt x="111" y="185"/>
                </a:cubicBezTo>
                <a:cubicBezTo>
                  <a:pt x="111" y="167"/>
                  <a:pt x="126" y="152"/>
                  <a:pt x="144" y="152"/>
                </a:cubicBezTo>
                <a:close/>
                <a:moveTo>
                  <a:pt x="324" y="359"/>
                </a:moveTo>
                <a:lnTo>
                  <a:pt x="133" y="359"/>
                </a:lnTo>
                <a:cubicBezTo>
                  <a:pt x="122" y="359"/>
                  <a:pt x="113" y="350"/>
                  <a:pt x="113" y="339"/>
                </a:cubicBezTo>
                <a:cubicBezTo>
                  <a:pt x="113" y="328"/>
                  <a:pt x="122" y="319"/>
                  <a:pt x="133" y="319"/>
                </a:cubicBezTo>
                <a:lnTo>
                  <a:pt x="324" y="319"/>
                </a:lnTo>
                <a:cubicBezTo>
                  <a:pt x="335" y="319"/>
                  <a:pt x="344" y="328"/>
                  <a:pt x="344" y="339"/>
                </a:cubicBezTo>
                <a:cubicBezTo>
                  <a:pt x="344" y="350"/>
                  <a:pt x="335" y="359"/>
                  <a:pt x="324" y="359"/>
                </a:cubicBezTo>
                <a:close/>
                <a:moveTo>
                  <a:pt x="313" y="218"/>
                </a:moveTo>
                <a:cubicBezTo>
                  <a:pt x="295" y="218"/>
                  <a:pt x="280" y="203"/>
                  <a:pt x="280" y="185"/>
                </a:cubicBezTo>
                <a:cubicBezTo>
                  <a:pt x="280" y="167"/>
                  <a:pt x="295" y="152"/>
                  <a:pt x="313" y="152"/>
                </a:cubicBezTo>
                <a:cubicBezTo>
                  <a:pt x="331" y="152"/>
                  <a:pt x="345" y="167"/>
                  <a:pt x="345" y="185"/>
                </a:cubicBezTo>
                <a:cubicBezTo>
                  <a:pt x="345" y="203"/>
                  <a:pt x="331" y="218"/>
                  <a:pt x="313" y="218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288799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>
                <a:solidFill>
                  <a:schemeClr val="tx1">
                    <a:lumMod val="50000"/>
                  </a:schemeClr>
                </a:solidFill>
              </a:rPr>
              <a:t>Source: Morgan Stanley Research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3702C96-88FA-0BB4-CE1F-B2C5D1E04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" r="7467" b="8282"/>
          <a:stretch/>
        </p:blipFill>
        <p:spPr bwMode="auto">
          <a:xfrm>
            <a:off x="6328818" y="2293790"/>
            <a:ext cx="4762763" cy="331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7" name="文本框 236">
            <a:extLst>
              <a:ext uri="{FF2B5EF4-FFF2-40B4-BE49-F238E27FC236}">
                <a16:creationId xmlns:a16="http://schemas.microsoft.com/office/drawing/2014/main" id="{956D892A-1F31-1333-EBC5-64FE95648BD6}"/>
              </a:ext>
            </a:extLst>
          </p:cNvPr>
          <p:cNvSpPr txBox="1"/>
          <p:nvPr/>
        </p:nvSpPr>
        <p:spPr>
          <a:xfrm>
            <a:off x="916099" y="2668569"/>
            <a:ext cx="5113700" cy="25180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5738" indent="-185738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假设 CPO 方案在 1.6 T-800 G 所有节点都成为主流，渗透率&gt;60 %，并向 400 G 量级下沉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71" name="矩形 1070">
            <a:extLst>
              <a:ext uri="{FF2B5EF4-FFF2-40B4-BE49-F238E27FC236}">
                <a16:creationId xmlns:a16="http://schemas.microsoft.com/office/drawing/2014/main" id="{26604190-F062-9B07-4569-90802D45EF43}"/>
              </a:ext>
            </a:extLst>
          </p:cNvPr>
          <p:cNvSpPr/>
          <p:nvPr/>
        </p:nvSpPr>
        <p:spPr>
          <a:xfrm>
            <a:off x="-92598" y="1578727"/>
            <a:ext cx="6122397" cy="35359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左右结构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什么情况下替换？替换的急迫度、门槛，先发生在哪里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新的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否则需要重置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性能越高的用</a:t>
            </a:r>
          </a:p>
        </p:txBody>
      </p: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6470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一个</a:t>
            </a:r>
            <a:r>
              <a:rPr lang="en-US" altLang="zh-CN" dirty="0"/>
              <a:t>CPO</a:t>
            </a:r>
            <a:r>
              <a:rPr lang="zh-CN" altLang="en-US" dirty="0"/>
              <a:t>的生产流程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66FC84-8B82-ABCB-1104-6960AFFA57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6FBFDE-8E35-4035-E21B-4E74889AA189}"/>
              </a:ext>
            </a:extLst>
          </p:cNvPr>
          <p:cNvSpPr/>
          <p:nvPr/>
        </p:nvSpPr>
        <p:spPr>
          <a:xfrm>
            <a:off x="290776" y="1401811"/>
            <a:ext cx="10894562" cy="36382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从生产环节来看：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先由做硅光芯片设计的公司把光路刻进硅片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晶圆厂用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300 mm SOI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工艺把它做成裸片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3.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再配一颗外置外置调制激光器把光打进硅波导；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4.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与此同时，做电光芯片把含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224G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光电转换放大器（购买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授权或自研）的芯片流片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5.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在光电异构封装线把硅光裸片、激光、电光芯片 和交换芯片同封成一个 光电引擎（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oe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6.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封装代工厂（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OSAT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 把这颗引擎连同电源管理、高级基板一起做成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模块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——&gt;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7.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装进服务器交换机并由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CSP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的软件栈调用。</a:t>
            </a: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071FA8-8560-A5A2-6B73-5E870C69A794}"/>
              </a:ext>
            </a:extLst>
          </p:cNvPr>
          <p:cNvSpPr/>
          <p:nvPr/>
        </p:nvSpPr>
        <p:spPr>
          <a:xfrm>
            <a:off x="8376295" y="25683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过往投半导体的历史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CD9E88-C29F-F9EC-8144-14C88F1D7963}"/>
              </a:ext>
            </a:extLst>
          </p:cNvPr>
          <p:cNvSpPr/>
          <p:nvPr/>
        </p:nvSpPr>
        <p:spPr>
          <a:xfrm>
            <a:off x="9366895" y="1109827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科普向的示意图、视频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54DA5-9714-8E13-FB89-74134EB4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互连技术范式变革带来新的市场机会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604CB-AA43-97D3-7661-7FFC1EC3C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B510789-0A29-4904-DEB5-28A9B0E01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87923"/>
              </p:ext>
            </p:extLst>
          </p:nvPr>
        </p:nvGraphicFramePr>
        <p:xfrm>
          <a:off x="760113" y="1502103"/>
          <a:ext cx="8126073" cy="4632704"/>
        </p:xfrm>
        <a:graphic>
          <a:graphicData uri="http://schemas.openxmlformats.org/drawingml/2006/table">
            <a:tbl>
              <a:tblPr/>
              <a:tblGrid>
                <a:gridCol w="902897">
                  <a:extLst>
                    <a:ext uri="{9D8B030D-6E8A-4147-A177-3AD203B41FA5}">
                      <a16:colId xmlns:a16="http://schemas.microsoft.com/office/drawing/2014/main" val="2205582865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561855329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3625596439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2745484187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2869606334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2219216456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3088919400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1338223290"/>
                    </a:ext>
                  </a:extLst>
                </a:gridCol>
                <a:gridCol w="902897">
                  <a:extLst>
                    <a:ext uri="{9D8B030D-6E8A-4147-A177-3AD203B41FA5}">
                      <a16:colId xmlns:a16="http://schemas.microsoft.com/office/drawing/2014/main" val="461676843"/>
                    </a:ext>
                  </a:extLst>
                </a:gridCol>
              </a:tblGrid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铜互连（～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</a:t>
                      </a: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cr3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可插拔光模块（～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cr3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cpo（～2030）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cr3（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预测）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897650"/>
                  </a:ext>
                </a:extLst>
              </a:tr>
              <a:tr h="770947">
                <a:tc gridSpan="3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云计算、数据中心、移动互联网爆发，带宽需求持续放大，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10G → 40G → 100G </a:t>
                      </a: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光模块大规模商业化；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400G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光模块与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需求爆发；技术升级期，板卡互连能力的提升只剩光学路径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605147"/>
                  </a:ext>
                </a:extLst>
              </a:tr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连接器</a:t>
                      </a: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线缆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光芯片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激光器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硅光芯片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外置激光源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60-65%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400994"/>
                  </a:ext>
                </a:extLst>
              </a:tr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pcb</a:t>
                      </a:r>
                      <a:r>
                        <a:rPr 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背板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电光芯片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电光芯片</a:t>
                      </a:r>
                      <a:r>
                        <a:rPr lang="en-US" altLang="zh-CN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224</a:t>
                      </a:r>
                      <a:r>
                        <a:rPr 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 SerDes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&gt;75%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586141"/>
                  </a:ext>
                </a:extLst>
              </a:tr>
              <a:tr h="770947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SerDes/PHY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芯片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&gt;70%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光模块组装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ASIC+Optical Engine </a:t>
                      </a:r>
                      <a:r>
                        <a:rPr lang="zh-CN" altLang="en-US" sz="1200" b="1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封装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70-80%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839800"/>
                  </a:ext>
                </a:extLst>
              </a:tr>
              <a:tr h="579088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ODM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机框集成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精耦合设备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OSAT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共封 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高级基板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50-55%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697090"/>
                  </a:ext>
                </a:extLst>
              </a:tr>
              <a:tr h="387229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面板连接器残余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余量线缆 </a:t>
                      </a: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面板 </a:t>
                      </a: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321468"/>
                  </a:ext>
                </a:extLst>
              </a:tr>
              <a:tr h="387229"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333333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odm/</a:t>
                      </a: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zh-CN" altLang="en-US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系统软硬件协同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25%</a:t>
                      </a:r>
                      <a:endParaRPr lang="zh-CN" altLang="en-US" sz="120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buNone/>
                      </a:pPr>
                      <a:r>
                        <a:rPr lang="en-US" altLang="zh-CN" sz="1200" b="0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&gt;80%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837" marR="837" marT="1673" marB="1673" anchor="ctr">
                    <a:lnL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074639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5CD9A0C4-5A04-2B6C-20E9-2AF202CE7DA5}"/>
              </a:ext>
            </a:extLst>
          </p:cNvPr>
          <p:cNvSpPr/>
          <p:nvPr/>
        </p:nvSpPr>
        <p:spPr>
          <a:xfrm>
            <a:off x="9302178" y="916604"/>
            <a:ext cx="5044017" cy="12860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有什么行业机会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CR3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：公司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logo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、时间。只放加粗的部分，加粗需要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9490F9-F2E3-50D9-1D6F-9774C6317FF6}"/>
              </a:ext>
            </a:extLst>
          </p:cNvPr>
          <p:cNvSpPr/>
          <p:nvPr/>
        </p:nvSpPr>
        <p:spPr>
          <a:xfrm>
            <a:off x="290776" y="5399759"/>
            <a:ext cx="8290893" cy="12860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判断标准：稀缺性、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margin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、国产替代</a:t>
            </a:r>
          </a:p>
        </p:txBody>
      </p:sp>
    </p:spTree>
    <p:extLst>
      <p:ext uri="{BB962C8B-B14F-4D97-AF65-F5344CB8AC3E}">
        <p14:creationId xmlns:p14="http://schemas.microsoft.com/office/powerpoint/2010/main" val="4286073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产业和公司</a:t>
            </a:r>
            <a:r>
              <a:rPr lang="en-US" altLang="zh-CN" dirty="0"/>
              <a:t>Map</a:t>
            </a:r>
            <a:r>
              <a:rPr lang="zh-CN" altLang="en-US" dirty="0"/>
              <a:t>，要介绍的公司在哪个环节，有什么竞品</a:t>
            </a: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eIC</a:t>
            </a:r>
            <a:endParaRPr dirty="0"/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SiPho</a:t>
            </a:r>
            <a:endParaRPr dirty="0"/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6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48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49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0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0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1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1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0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1346596" y="925832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B4214-F4FE-6D40-EA5E-397660DE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公司（需要</a:t>
            </a:r>
            <a:r>
              <a:rPr lang="en-US" altLang="zh-CN" dirty="0"/>
              <a:t>insights</a:t>
            </a:r>
            <a:r>
              <a:rPr lang="zh-CN" altLang="en-US" dirty="0"/>
              <a:t>，</a:t>
            </a:r>
            <a:r>
              <a:rPr lang="en-US" altLang="zh-CN" dirty="0"/>
              <a:t>1firm1p</a:t>
            </a:r>
            <a:r>
              <a:rPr lang="zh-CN" altLang="en-US" dirty="0"/>
              <a:t>，</a:t>
            </a:r>
            <a:r>
              <a:rPr lang="en-US" altLang="zh-CN" dirty="0"/>
              <a:t>facts</a:t>
            </a:r>
            <a:r>
              <a:rPr lang="zh-CN" altLang="en-US" dirty="0"/>
              <a:t>之上的</a:t>
            </a:r>
            <a:r>
              <a:rPr lang="en-US" altLang="zh-CN" dirty="0"/>
              <a:t>tag</a:t>
            </a:r>
            <a:r>
              <a:rPr lang="zh-CN" altLang="en-US" dirty="0"/>
              <a:t>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9CDFC-0863-9EB2-D9A9-797E2EC60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550901-CDF2-7B35-C1B9-8287EB4B96C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004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AB0813-57A7-A4F4-C89D-D1E864334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903086-E4AD-5F1F-937F-448B5C1CE2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56FDD3-22A3-3C86-55FB-821A02F270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827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QXniG7Rlar_kTEqlas_T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Custom 29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4621</TotalTime>
  <Words>1808</Words>
  <Application>Microsoft Office PowerPoint</Application>
  <PresentationFormat>宽屏</PresentationFormat>
  <Paragraphs>258</Paragraphs>
  <Slides>13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大模型算力需求井喷，光互连打破算力释放瓶颈并大幅降低Opex</vt:lpstr>
      <vt:lpstr>光模块技术路径：巨头布局CPO，初创布局OIO</vt:lpstr>
      <vt:lpstr>Zoom in 视角：到光模块的变化会带来新变化：敲掉2个模块，集成到一个模块</vt:lpstr>
      <vt:lpstr>光模块支撑Scale Out算力集群节点间长距离、高速、低功耗通信</vt:lpstr>
      <vt:lpstr>短期看Scale Out，长期看Scale Up； 巨头在Out和Up采用CPO的布局</vt:lpstr>
      <vt:lpstr>CPO为约百亿美元市场（改）</vt:lpstr>
      <vt:lpstr>一个CPO的生产流程</vt:lpstr>
      <vt:lpstr>互连技术范式变革带来新的市场机会</vt:lpstr>
      <vt:lpstr>产业和公司Map，要介绍的公司在哪个环节，有什么竞品</vt:lpstr>
      <vt:lpstr>公司（需要insights，1firm1p，facts之上的tag）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419</cp:revision>
  <dcterms:created xsi:type="dcterms:W3CDTF">2025-06-16T21:28:33Z</dcterms:created>
  <dcterms:modified xsi:type="dcterms:W3CDTF">2025-08-21T08:12:48Z</dcterms:modified>
</cp:coreProperties>
</file>