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notesSlides/notesSlide5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7.xml" ContentType="application/vnd.openxmlformats-officedocument.presentationml.notesSlide+xml"/>
  <Override PartName="/ppt/tags/tag81.xml" ContentType="application/vnd.openxmlformats-officedocument.presentationml.tags+xml"/>
  <Override PartName="/ppt/notesSlides/notesSlide8.xml" ContentType="application/vnd.openxmlformats-officedocument.presentationml.notesSlide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32" r:id="rId3"/>
    <p:sldId id="336" r:id="rId4"/>
    <p:sldId id="319" r:id="rId5"/>
    <p:sldId id="321" r:id="rId6"/>
    <p:sldId id="317" r:id="rId7"/>
    <p:sldId id="334" r:id="rId8"/>
    <p:sldId id="320" r:id="rId9"/>
    <p:sldId id="313" r:id="rId10"/>
    <p:sldId id="335" r:id="rId11"/>
    <p:sldId id="326" r:id="rId12"/>
    <p:sldId id="315" r:id="rId13"/>
    <p:sldId id="327" r:id="rId14"/>
    <p:sldId id="323" r:id="rId15"/>
    <p:sldId id="329" r:id="rId16"/>
    <p:sldId id="330" r:id="rId17"/>
    <p:sldId id="328" r:id="rId18"/>
    <p:sldId id="331" r:id="rId19"/>
    <p:sldId id="322" r:id="rId20"/>
    <p:sldId id="283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2"/>
            <p14:sldId id="336"/>
            <p14:sldId id="319"/>
            <p14:sldId id="321"/>
            <p14:sldId id="317"/>
            <p14:sldId id="334"/>
            <p14:sldId id="320"/>
            <p14:sldId id="313"/>
            <p14:sldId id="335"/>
            <p14:sldId id="326"/>
            <p14:sldId id="315"/>
            <p14:sldId id="327"/>
            <p14:sldId id="323"/>
            <p14:sldId id="329"/>
            <p14:sldId id="330"/>
            <p14:sldId id="328"/>
            <p14:sldId id="33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DDE3F1"/>
    <a:srgbClr val="EEF1F8"/>
    <a:srgbClr val="FF7201"/>
    <a:srgbClr val="EBF1FF"/>
    <a:srgbClr val="C1E1FE"/>
    <a:srgbClr val="679AFF"/>
    <a:srgbClr val="CCD4EA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9" autoAdjust="0"/>
    <p:restoredTop sz="86779" autoAdjust="0"/>
  </p:normalViewPr>
  <p:slideViewPr>
    <p:cSldViewPr snapToGrid="0">
      <p:cViewPr varScale="1">
        <p:scale>
          <a:sx n="65" d="100"/>
          <a:sy n="65" d="100"/>
        </p:scale>
        <p:origin x="643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60-4896-AB5E-6E6DC48CBB9A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9935.8974358974356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60-4896-AB5E-6E6DC48CBB9A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60-4896-AB5E-6E6DC48CB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26011560693641617"/>
          <c:w val="0.82752902155887231"/>
          <c:h val="0.516763005780346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5606936416184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E0-4C14-83A3-43A08D890834}"/>
                </c:ext>
              </c:extLst>
            </c:dLbl>
            <c:dLbl>
              <c:idx val="1"/>
              <c:layout>
                <c:manualLayout>
                  <c:x val="0"/>
                  <c:y val="-0.324855491329479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0-4C14-83A3-43A08D89083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6E0-4C14-83A3-43A08D890834}"/>
              </c:ext>
            </c:extLst>
          </c:dPt>
          <c:dLbls>
            <c:dLbl>
              <c:idx val="1"/>
              <c:layout>
                <c:manualLayout>
                  <c:x val="0"/>
                  <c:y val="-1.156069364161849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5433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653854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53854336"/>
        <c:crosses val="min"/>
        <c:crossBetween val="between"/>
        <c:majorUnit val="5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9.1937765205091934E-2"/>
          <c:w val="0.88880733944954127"/>
          <c:h val="0.816124469589816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1FF-47AC-BF78-2CA604FCAE25}"/>
              </c:ext>
            </c:extLst>
          </c:dPt>
          <c:dPt>
            <c:idx val="1"/>
            <c:invertIfNegative val="0"/>
            <c:bubble3D val="0"/>
            <c:spPr>
              <a:solidFill>
                <a:srgbClr val="C1E1F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1FF-47AC-BF78-2CA604FCAE25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FF-47AC-BF78-2CA604FCA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8262944"/>
        <c:axId val="1"/>
      </c:barChart>
      <c:catAx>
        <c:axId val="20826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8262944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B0-4833-8283-19C4D9DE4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9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6.xml"/><Relationship Id="rId21" Type="http://schemas.openxmlformats.org/officeDocument/2006/relationships/chart" Target="../charts/chart1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image" Target="../media/image8.emf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chart" Target="../charts/chart2.xml"/><Relationship Id="rId10" Type="http://schemas.openxmlformats.org/officeDocument/2006/relationships/tags" Target="../tags/tag13.xml"/><Relationship Id="rId19" Type="http://schemas.openxmlformats.org/officeDocument/2006/relationships/oleObject" Target="../embeddings/oleObject3.bin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chart" Target="../charts/chart4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chart" Target="../charts/chart3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7.emf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oleObject" Target="../embeddings/oleObject5.bin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43.xml"/><Relationship Id="rId21" Type="http://schemas.openxmlformats.org/officeDocument/2006/relationships/image" Target="../media/image19.png"/><Relationship Id="rId7" Type="http://schemas.openxmlformats.org/officeDocument/2006/relationships/tags" Target="../tags/tag47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4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8.emf"/><Relationship Id="rId5" Type="http://schemas.openxmlformats.org/officeDocument/2006/relationships/tags" Target="../tags/tag45.xml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7.png"/><Relationship Id="rId4" Type="http://schemas.openxmlformats.org/officeDocument/2006/relationships/tags" Target="../tags/tag44.xml"/><Relationship Id="rId9" Type="http://schemas.openxmlformats.org/officeDocument/2006/relationships/notesSlide" Target="../notesSlides/notesSlide4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3" Type="http://schemas.openxmlformats.org/officeDocument/2006/relationships/tags" Target="../tags/tag51.xml"/><Relationship Id="rId21" Type="http://schemas.openxmlformats.org/officeDocument/2006/relationships/oleObject" Target="../embeddings/oleObject8.bin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chart" Target="../charts/chart6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chart" Target="../charts/chart5.xml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24.jpeg"/><Relationship Id="rId4" Type="http://schemas.openxmlformats.org/officeDocument/2006/relationships/image" Target="../media/image7.emf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image" Target="../media/image35.png"/><Relationship Id="rId18" Type="http://schemas.openxmlformats.org/officeDocument/2006/relationships/image" Target="../media/image17.png"/><Relationship Id="rId3" Type="http://schemas.openxmlformats.org/officeDocument/2006/relationships/tags" Target="../tags/tag74.xml"/><Relationship Id="rId21" Type="http://schemas.openxmlformats.org/officeDocument/2006/relationships/image" Target="../media/image40.jpeg"/><Relationship Id="rId7" Type="http://schemas.openxmlformats.org/officeDocument/2006/relationships/tags" Target="../tags/tag78.xml"/><Relationship Id="rId12" Type="http://schemas.openxmlformats.org/officeDocument/2006/relationships/image" Target="../media/image34.png"/><Relationship Id="rId17" Type="http://schemas.openxmlformats.org/officeDocument/2006/relationships/image" Target="../media/image38.png"/><Relationship Id="rId2" Type="http://schemas.openxmlformats.org/officeDocument/2006/relationships/tags" Target="../tags/tag73.xml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image" Target="../media/image7.emf"/><Relationship Id="rId24" Type="http://schemas.openxmlformats.org/officeDocument/2006/relationships/image" Target="../media/image43.jpeg"/><Relationship Id="rId5" Type="http://schemas.openxmlformats.org/officeDocument/2006/relationships/tags" Target="../tags/tag76.xml"/><Relationship Id="rId15" Type="http://schemas.openxmlformats.org/officeDocument/2006/relationships/image" Target="../media/image37.png"/><Relationship Id="rId23" Type="http://schemas.openxmlformats.org/officeDocument/2006/relationships/image" Target="../media/image42.png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39.png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6.jpeg"/><Relationship Id="rId22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5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6" Type="http://schemas.openxmlformats.org/officeDocument/2006/relationships/image" Target="../media/image44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4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48.jpe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9" Type="http://schemas.openxmlformats.org/officeDocument/2006/relationships/image" Target="../media/image80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50" Type="http://schemas.openxmlformats.org/officeDocument/2006/relationships/image" Target="../media/image91.png"/><Relationship Id="rId55" Type="http://schemas.openxmlformats.org/officeDocument/2006/relationships/image" Target="../media/image96.png"/><Relationship Id="rId63" Type="http://schemas.openxmlformats.org/officeDocument/2006/relationships/image" Target="../media/image104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png"/><Relationship Id="rId29" Type="http://schemas.openxmlformats.org/officeDocument/2006/relationships/image" Target="../media/image70.png"/><Relationship Id="rId11" Type="http://schemas.openxmlformats.org/officeDocument/2006/relationships/image" Target="../media/image53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image" Target="../media/image99.png"/><Relationship Id="rId5" Type="http://schemas.openxmlformats.org/officeDocument/2006/relationships/image" Target="../media/image49.png"/><Relationship Id="rId61" Type="http://schemas.openxmlformats.org/officeDocument/2006/relationships/image" Target="../media/image102.png"/><Relationship Id="rId19" Type="http://schemas.openxmlformats.org/officeDocument/2006/relationships/image" Target="../media/image60.png"/><Relationship Id="rId14" Type="http://schemas.openxmlformats.org/officeDocument/2006/relationships/image" Target="../media/image56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56" Type="http://schemas.openxmlformats.org/officeDocument/2006/relationships/image" Target="../media/image97.png"/><Relationship Id="rId8" Type="http://schemas.openxmlformats.org/officeDocument/2006/relationships/image" Target="../media/image51.png"/><Relationship Id="rId51" Type="http://schemas.openxmlformats.org/officeDocument/2006/relationships/image" Target="../media/image92.png"/><Relationship Id="rId3" Type="http://schemas.openxmlformats.org/officeDocument/2006/relationships/oleObject" Target="../embeddings/oleObject15.bin"/><Relationship Id="rId12" Type="http://schemas.openxmlformats.org/officeDocument/2006/relationships/image" Target="../media/image54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100.png"/><Relationship Id="rId20" Type="http://schemas.openxmlformats.org/officeDocument/2006/relationships/image" Target="../media/image61.png"/><Relationship Id="rId41" Type="http://schemas.openxmlformats.org/officeDocument/2006/relationships/image" Target="../media/image82.png"/><Relationship Id="rId54" Type="http://schemas.openxmlformats.org/officeDocument/2006/relationships/image" Target="../media/image95.png"/><Relationship Id="rId62" Type="http://schemas.openxmlformats.org/officeDocument/2006/relationships/image" Target="../media/image103.png"/><Relationship Id="rId1" Type="http://schemas.openxmlformats.org/officeDocument/2006/relationships/tags" Target="../tags/tag82.xml"/><Relationship Id="rId6" Type="http://schemas.openxmlformats.org/officeDocument/2006/relationships/image" Target="../media/image50.png"/><Relationship Id="rId15" Type="http://schemas.openxmlformats.org/officeDocument/2006/relationships/image" Target="../media/image57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90.png"/><Relationship Id="rId57" Type="http://schemas.openxmlformats.org/officeDocument/2006/relationships/image" Target="../media/image98.png"/><Relationship Id="rId10" Type="http://schemas.openxmlformats.org/officeDocument/2006/relationships/image" Target="../media/image52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52" Type="http://schemas.openxmlformats.org/officeDocument/2006/relationships/image" Target="../media/image93.png"/><Relationship Id="rId60" Type="http://schemas.openxmlformats.org/officeDocument/2006/relationships/image" Target="../media/image101.png"/><Relationship Id="rId4" Type="http://schemas.openxmlformats.org/officeDocument/2006/relationships/image" Target="../media/image8.emf"/><Relationship Id="rId9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4915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1" imgH="401" progId="TCLayout.ActiveDocument.1">
                  <p:embed/>
                </p:oleObj>
              </mc:Choice>
              <mc:Fallback>
                <p:oleObj name="think-cell 幻灯片" r:id="rId19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" name="图表 1076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1288450"/>
              </p:ext>
            </p:extLst>
          </p:nvPr>
        </p:nvGraphicFramePr>
        <p:xfrm>
          <a:off x="397945" y="961686"/>
          <a:ext cx="5005905" cy="2484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1D8C3F-1F2C-CD4A-30D9-F957A452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" y="3155"/>
            <a:ext cx="9677146" cy="731520"/>
          </a:xfrm>
        </p:spPr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快速扩张带来互连速率、能耗、距离难题</a:t>
            </a:r>
          </a:p>
        </p:txBody>
      </p:sp>
      <p:sp>
        <p:nvSpPr>
          <p:cNvPr id="22" name="iconfont-1018-792369">
            <a:extLst>
              <a:ext uri="{FF2B5EF4-FFF2-40B4-BE49-F238E27FC236}">
                <a16:creationId xmlns:a16="http://schemas.microsoft.com/office/drawing/2014/main" id="{00B03352-B5BC-46C9-B849-690B2CF2DAFE}"/>
              </a:ext>
            </a:extLst>
          </p:cNvPr>
          <p:cNvSpPr/>
          <p:nvPr/>
        </p:nvSpPr>
        <p:spPr>
          <a:xfrm>
            <a:off x="401638" y="3459163"/>
            <a:ext cx="217488" cy="327025"/>
          </a:xfrm>
          <a:custGeom>
            <a:avLst/>
            <a:gdLst>
              <a:gd name="T0" fmla="*/ 2817 w 7464"/>
              <a:gd name="T1" fmla="*/ 11211 h 11211"/>
              <a:gd name="T2" fmla="*/ 2747 w 7464"/>
              <a:gd name="T3" fmla="*/ 11188 h 11211"/>
              <a:gd name="T4" fmla="*/ 2630 w 7464"/>
              <a:gd name="T5" fmla="*/ 11002 h 11211"/>
              <a:gd name="T6" fmla="*/ 3352 w 7464"/>
              <a:gd name="T7" fmla="*/ 6742 h 11211"/>
              <a:gd name="T8" fmla="*/ 210 w 7464"/>
              <a:gd name="T9" fmla="*/ 6742 h 11211"/>
              <a:gd name="T10" fmla="*/ 47 w 7464"/>
              <a:gd name="T11" fmla="*/ 6649 h 11211"/>
              <a:gd name="T12" fmla="*/ 70 w 7464"/>
              <a:gd name="T13" fmla="*/ 6439 h 11211"/>
              <a:gd name="T14" fmla="*/ 4911 w 7464"/>
              <a:gd name="T15" fmla="*/ 108 h 11211"/>
              <a:gd name="T16" fmla="*/ 5121 w 7464"/>
              <a:gd name="T17" fmla="*/ 62 h 11211"/>
              <a:gd name="T18" fmla="*/ 5237 w 7464"/>
              <a:gd name="T19" fmla="*/ 248 h 11211"/>
              <a:gd name="T20" fmla="*/ 4516 w 7464"/>
              <a:gd name="T21" fmla="*/ 4507 h 11211"/>
              <a:gd name="T22" fmla="*/ 7286 w 7464"/>
              <a:gd name="T23" fmla="*/ 4507 h 11211"/>
              <a:gd name="T24" fmla="*/ 7449 w 7464"/>
              <a:gd name="T25" fmla="*/ 4601 h 11211"/>
              <a:gd name="T26" fmla="*/ 7449 w 7464"/>
              <a:gd name="T27" fmla="*/ 4810 h 11211"/>
              <a:gd name="T28" fmla="*/ 2980 w 7464"/>
              <a:gd name="T29" fmla="*/ 11141 h 11211"/>
              <a:gd name="T30" fmla="*/ 2817 w 7464"/>
              <a:gd name="T31" fmla="*/ 11211 h 11211"/>
              <a:gd name="T32" fmla="*/ 582 w 7464"/>
              <a:gd name="T33" fmla="*/ 6370 h 11211"/>
              <a:gd name="T34" fmla="*/ 3561 w 7464"/>
              <a:gd name="T35" fmla="*/ 6370 h 11211"/>
              <a:gd name="T36" fmla="*/ 3701 w 7464"/>
              <a:gd name="T37" fmla="*/ 6439 h 11211"/>
              <a:gd name="T38" fmla="*/ 3748 w 7464"/>
              <a:gd name="T39" fmla="*/ 6579 h 11211"/>
              <a:gd name="T40" fmla="*/ 3142 w 7464"/>
              <a:gd name="T41" fmla="*/ 10257 h 11211"/>
              <a:gd name="T42" fmla="*/ 6936 w 7464"/>
              <a:gd name="T43" fmla="*/ 4880 h 11211"/>
              <a:gd name="T44" fmla="*/ 4306 w 7464"/>
              <a:gd name="T45" fmla="*/ 4880 h 11211"/>
              <a:gd name="T46" fmla="*/ 4167 w 7464"/>
              <a:gd name="T47" fmla="*/ 4810 h 11211"/>
              <a:gd name="T48" fmla="*/ 4120 w 7464"/>
              <a:gd name="T49" fmla="*/ 4670 h 11211"/>
              <a:gd name="T50" fmla="*/ 4749 w 7464"/>
              <a:gd name="T51" fmla="*/ 923 h 11211"/>
              <a:gd name="T52" fmla="*/ 582 w 7464"/>
              <a:gd name="T53" fmla="*/ 6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7464" h="11211">
                <a:moveTo>
                  <a:pt x="2817" y="11211"/>
                </a:moveTo>
                <a:cubicBezTo>
                  <a:pt x="2786" y="11211"/>
                  <a:pt x="2762" y="11203"/>
                  <a:pt x="2747" y="11188"/>
                </a:cubicBezTo>
                <a:cubicBezTo>
                  <a:pt x="2638" y="11157"/>
                  <a:pt x="2599" y="11095"/>
                  <a:pt x="2630" y="11002"/>
                </a:cubicBezTo>
                <a:lnTo>
                  <a:pt x="3352" y="6742"/>
                </a:lnTo>
                <a:lnTo>
                  <a:pt x="210" y="6742"/>
                </a:lnTo>
                <a:cubicBezTo>
                  <a:pt x="132" y="6742"/>
                  <a:pt x="78" y="6711"/>
                  <a:pt x="47" y="6649"/>
                </a:cubicBezTo>
                <a:cubicBezTo>
                  <a:pt x="0" y="6587"/>
                  <a:pt x="8" y="6517"/>
                  <a:pt x="70" y="6439"/>
                </a:cubicBezTo>
                <a:lnTo>
                  <a:pt x="4911" y="108"/>
                </a:lnTo>
                <a:cubicBezTo>
                  <a:pt x="4974" y="15"/>
                  <a:pt x="5043" y="0"/>
                  <a:pt x="5121" y="62"/>
                </a:cubicBezTo>
                <a:cubicBezTo>
                  <a:pt x="5198" y="77"/>
                  <a:pt x="5237" y="139"/>
                  <a:pt x="5237" y="248"/>
                </a:cubicBezTo>
                <a:lnTo>
                  <a:pt x="4516" y="4507"/>
                </a:lnTo>
                <a:lnTo>
                  <a:pt x="7286" y="4507"/>
                </a:lnTo>
                <a:cubicBezTo>
                  <a:pt x="7363" y="4507"/>
                  <a:pt x="7417" y="4539"/>
                  <a:pt x="7449" y="4601"/>
                </a:cubicBezTo>
                <a:cubicBezTo>
                  <a:pt x="7464" y="4663"/>
                  <a:pt x="7464" y="4733"/>
                  <a:pt x="7449" y="4810"/>
                </a:cubicBezTo>
                <a:lnTo>
                  <a:pt x="2980" y="11141"/>
                </a:lnTo>
                <a:cubicBezTo>
                  <a:pt x="2933" y="11188"/>
                  <a:pt x="2879" y="11211"/>
                  <a:pt x="2817" y="11211"/>
                </a:cubicBezTo>
                <a:close/>
                <a:moveTo>
                  <a:pt x="582" y="6370"/>
                </a:moveTo>
                <a:lnTo>
                  <a:pt x="3561" y="6370"/>
                </a:lnTo>
                <a:cubicBezTo>
                  <a:pt x="3624" y="6370"/>
                  <a:pt x="3670" y="6393"/>
                  <a:pt x="3701" y="6439"/>
                </a:cubicBezTo>
                <a:cubicBezTo>
                  <a:pt x="3732" y="6470"/>
                  <a:pt x="3748" y="6517"/>
                  <a:pt x="3748" y="6579"/>
                </a:cubicBezTo>
                <a:lnTo>
                  <a:pt x="3142" y="10257"/>
                </a:lnTo>
                <a:lnTo>
                  <a:pt x="6936" y="4880"/>
                </a:lnTo>
                <a:lnTo>
                  <a:pt x="4306" y="4880"/>
                </a:lnTo>
                <a:cubicBezTo>
                  <a:pt x="4244" y="4880"/>
                  <a:pt x="4198" y="4857"/>
                  <a:pt x="4167" y="4810"/>
                </a:cubicBezTo>
                <a:cubicBezTo>
                  <a:pt x="4136" y="4779"/>
                  <a:pt x="4120" y="4733"/>
                  <a:pt x="4120" y="4670"/>
                </a:cubicBezTo>
                <a:lnTo>
                  <a:pt x="4749" y="923"/>
                </a:lnTo>
                <a:lnTo>
                  <a:pt x="582" y="637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36" name="组合 3835">
            <a:extLst>
              <a:ext uri="{FF2B5EF4-FFF2-40B4-BE49-F238E27FC236}">
                <a16:creationId xmlns:a16="http://schemas.microsoft.com/office/drawing/2014/main" id="{0D9C4947-7B94-4457-D70F-4372427122EC}"/>
              </a:ext>
            </a:extLst>
          </p:cNvPr>
          <p:cNvGrpSpPr/>
          <p:nvPr/>
        </p:nvGrpSpPr>
        <p:grpSpPr>
          <a:xfrm>
            <a:off x="399299" y="669717"/>
            <a:ext cx="5356341" cy="379649"/>
            <a:chOff x="399299" y="669717"/>
            <a:chExt cx="5356341" cy="379649"/>
          </a:xfrm>
        </p:grpSpPr>
        <p:sp>
          <p:nvSpPr>
            <p:cNvPr id="21" name="time-passing_150431">
              <a:extLst>
                <a:ext uri="{FF2B5EF4-FFF2-40B4-BE49-F238E27FC236}">
                  <a16:creationId xmlns:a16="http://schemas.microsoft.com/office/drawing/2014/main" id="{1DF465EA-A551-95B6-DFB6-254BE1D5A5BF}"/>
                </a:ext>
              </a:extLst>
            </p:cNvPr>
            <p:cNvSpPr/>
            <p:nvPr/>
          </p:nvSpPr>
          <p:spPr>
            <a:xfrm>
              <a:off x="399299" y="737836"/>
              <a:ext cx="252919" cy="252538"/>
            </a:xfrm>
            <a:custGeom>
              <a:avLst/>
              <a:gdLst>
                <a:gd name="connsiteX0" fmla="*/ 304595 w 609191"/>
                <a:gd name="connsiteY0" fmla="*/ 113046 h 608274"/>
                <a:gd name="connsiteX1" fmla="*/ 304595 w 609191"/>
                <a:gd name="connsiteY1" fmla="*/ 304137 h 608274"/>
                <a:gd name="connsiteX2" fmla="*/ 495933 w 609191"/>
                <a:gd name="connsiteY2" fmla="*/ 304137 h 608274"/>
                <a:gd name="connsiteX3" fmla="*/ 304595 w 609191"/>
                <a:gd name="connsiteY3" fmla="*/ 495228 h 608274"/>
                <a:gd name="connsiteX4" fmla="*/ 113257 w 609191"/>
                <a:gd name="connsiteY4" fmla="*/ 304137 h 608274"/>
                <a:gd name="connsiteX5" fmla="*/ 304595 w 609191"/>
                <a:gd name="connsiteY5" fmla="*/ 113046 h 608274"/>
                <a:gd name="connsiteX6" fmla="*/ 304596 w 609191"/>
                <a:gd name="connsiteY6" fmla="*/ 0 h 608274"/>
                <a:gd name="connsiteX7" fmla="*/ 496064 w 609191"/>
                <a:gd name="connsiteY7" fmla="*/ 67552 h 608274"/>
                <a:gd name="connsiteX8" fmla="*/ 530950 w 609191"/>
                <a:gd name="connsiteY8" fmla="*/ 32820 h 608274"/>
                <a:gd name="connsiteX9" fmla="*/ 548998 w 609191"/>
                <a:gd name="connsiteY9" fmla="*/ 29196 h 608274"/>
                <a:gd name="connsiteX10" fmla="*/ 559282 w 609191"/>
                <a:gd name="connsiteY10" fmla="*/ 44498 h 608274"/>
                <a:gd name="connsiteX11" fmla="*/ 559282 w 609191"/>
                <a:gd name="connsiteY11" fmla="*/ 165106 h 608274"/>
                <a:gd name="connsiteX12" fmla="*/ 542646 w 609191"/>
                <a:gd name="connsiteY12" fmla="*/ 181616 h 608274"/>
                <a:gd name="connsiteX13" fmla="*/ 421957 w 609191"/>
                <a:gd name="connsiteY13" fmla="*/ 181616 h 608274"/>
                <a:gd name="connsiteX14" fmla="*/ 406632 w 609191"/>
                <a:gd name="connsiteY14" fmla="*/ 171448 h 608274"/>
                <a:gd name="connsiteX15" fmla="*/ 410261 w 609191"/>
                <a:gd name="connsiteY15" fmla="*/ 153327 h 608274"/>
                <a:gd name="connsiteX16" fmla="*/ 450491 w 609191"/>
                <a:gd name="connsiteY16" fmla="*/ 113158 h 608274"/>
                <a:gd name="connsiteX17" fmla="*/ 423268 w 609191"/>
                <a:gd name="connsiteY17" fmla="*/ 95137 h 608274"/>
                <a:gd name="connsiteX18" fmla="*/ 423167 w 609191"/>
                <a:gd name="connsiteY18" fmla="*/ 95238 h 608274"/>
                <a:gd name="connsiteX19" fmla="*/ 304596 w 609191"/>
                <a:gd name="connsiteY19" fmla="*/ 63928 h 608274"/>
                <a:gd name="connsiteX20" fmla="*/ 64024 w 609191"/>
                <a:gd name="connsiteY20" fmla="*/ 304137 h 608274"/>
                <a:gd name="connsiteX21" fmla="*/ 304596 w 609191"/>
                <a:gd name="connsiteY21" fmla="*/ 544346 h 608274"/>
                <a:gd name="connsiteX22" fmla="*/ 545167 w 609191"/>
                <a:gd name="connsiteY22" fmla="*/ 304137 h 608274"/>
                <a:gd name="connsiteX23" fmla="*/ 527421 w 609191"/>
                <a:gd name="connsiteY23" fmla="*/ 213631 h 608274"/>
                <a:gd name="connsiteX24" fmla="*/ 542646 w 609191"/>
                <a:gd name="connsiteY24" fmla="*/ 213631 h 608274"/>
                <a:gd name="connsiteX25" fmla="*/ 585799 w 609191"/>
                <a:gd name="connsiteY25" fmla="*/ 187355 h 608274"/>
                <a:gd name="connsiteX26" fmla="*/ 609191 w 609191"/>
                <a:gd name="connsiteY26" fmla="*/ 304137 h 608274"/>
                <a:gd name="connsiteX27" fmla="*/ 304596 w 609191"/>
                <a:gd name="connsiteY27" fmla="*/ 608274 h 608274"/>
                <a:gd name="connsiteX28" fmla="*/ 0 w 609191"/>
                <a:gd name="connsiteY28" fmla="*/ 304137 h 608274"/>
                <a:gd name="connsiteX29" fmla="*/ 304596 w 609191"/>
                <a:gd name="connsiteY29" fmla="*/ 0 h 60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09191" h="608274">
                  <a:moveTo>
                    <a:pt x="304595" y="113046"/>
                  </a:moveTo>
                  <a:lnTo>
                    <a:pt x="304595" y="304137"/>
                  </a:lnTo>
                  <a:lnTo>
                    <a:pt x="495933" y="304137"/>
                  </a:lnTo>
                  <a:cubicBezTo>
                    <a:pt x="495933" y="409650"/>
                    <a:pt x="410244" y="495228"/>
                    <a:pt x="304595" y="495228"/>
                  </a:cubicBezTo>
                  <a:cubicBezTo>
                    <a:pt x="198946" y="495228"/>
                    <a:pt x="113257" y="409650"/>
                    <a:pt x="113257" y="304137"/>
                  </a:cubicBezTo>
                  <a:cubicBezTo>
                    <a:pt x="113257" y="198624"/>
                    <a:pt x="198946" y="113046"/>
                    <a:pt x="304595" y="113046"/>
                  </a:cubicBezTo>
                  <a:close/>
                  <a:moveTo>
                    <a:pt x="304596" y="0"/>
                  </a:moveTo>
                  <a:cubicBezTo>
                    <a:pt x="372754" y="0"/>
                    <a:pt x="440610" y="22752"/>
                    <a:pt x="496064" y="67552"/>
                  </a:cubicBezTo>
                  <a:lnTo>
                    <a:pt x="530950" y="32820"/>
                  </a:lnTo>
                  <a:cubicBezTo>
                    <a:pt x="535689" y="28088"/>
                    <a:pt x="542848" y="26679"/>
                    <a:pt x="548998" y="29196"/>
                  </a:cubicBezTo>
                  <a:cubicBezTo>
                    <a:pt x="555249" y="31712"/>
                    <a:pt x="559282" y="37753"/>
                    <a:pt x="559282" y="44498"/>
                  </a:cubicBezTo>
                  <a:lnTo>
                    <a:pt x="559282" y="165106"/>
                  </a:lnTo>
                  <a:cubicBezTo>
                    <a:pt x="559282" y="174167"/>
                    <a:pt x="551821" y="181616"/>
                    <a:pt x="542646" y="181616"/>
                  </a:cubicBezTo>
                  <a:lnTo>
                    <a:pt x="421957" y="181616"/>
                  </a:lnTo>
                  <a:cubicBezTo>
                    <a:pt x="415202" y="181616"/>
                    <a:pt x="409152" y="177589"/>
                    <a:pt x="406632" y="171448"/>
                  </a:cubicBezTo>
                  <a:cubicBezTo>
                    <a:pt x="404010" y="165207"/>
                    <a:pt x="405522" y="158059"/>
                    <a:pt x="410261" y="153327"/>
                  </a:cubicBezTo>
                  <a:lnTo>
                    <a:pt x="450491" y="113158"/>
                  </a:lnTo>
                  <a:cubicBezTo>
                    <a:pt x="441820" y="106513"/>
                    <a:pt x="432745" y="100473"/>
                    <a:pt x="423268" y="95137"/>
                  </a:cubicBezTo>
                  <a:lnTo>
                    <a:pt x="423167" y="95238"/>
                  </a:lnTo>
                  <a:cubicBezTo>
                    <a:pt x="387475" y="74902"/>
                    <a:pt x="346943" y="63928"/>
                    <a:pt x="304596" y="63928"/>
                  </a:cubicBezTo>
                  <a:cubicBezTo>
                    <a:pt x="172009" y="63928"/>
                    <a:pt x="64024" y="171750"/>
                    <a:pt x="64024" y="304137"/>
                  </a:cubicBezTo>
                  <a:cubicBezTo>
                    <a:pt x="64024" y="436624"/>
                    <a:pt x="172009" y="544346"/>
                    <a:pt x="304596" y="544346"/>
                  </a:cubicBezTo>
                  <a:cubicBezTo>
                    <a:pt x="437283" y="544346"/>
                    <a:pt x="545167" y="436624"/>
                    <a:pt x="545167" y="304137"/>
                  </a:cubicBezTo>
                  <a:cubicBezTo>
                    <a:pt x="545167" y="272123"/>
                    <a:pt x="538815" y="241518"/>
                    <a:pt x="527421" y="213631"/>
                  </a:cubicBezTo>
                  <a:lnTo>
                    <a:pt x="542646" y="213631"/>
                  </a:lnTo>
                  <a:cubicBezTo>
                    <a:pt x="561400" y="213631"/>
                    <a:pt x="577733" y="202959"/>
                    <a:pt x="585799" y="187355"/>
                  </a:cubicBezTo>
                  <a:cubicBezTo>
                    <a:pt x="600923" y="223296"/>
                    <a:pt x="609191" y="262760"/>
                    <a:pt x="609191" y="304137"/>
                  </a:cubicBezTo>
                  <a:cubicBezTo>
                    <a:pt x="609191" y="471860"/>
                    <a:pt x="472572" y="608274"/>
                    <a:pt x="304596" y="608274"/>
                  </a:cubicBezTo>
                  <a:cubicBezTo>
                    <a:pt x="136619" y="608274"/>
                    <a:pt x="0" y="471860"/>
                    <a:pt x="0" y="304137"/>
                  </a:cubicBezTo>
                  <a:cubicBezTo>
                    <a:pt x="0" y="136414"/>
                    <a:pt x="136619" y="0"/>
                    <a:pt x="304596" y="0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A9A8581-4790-AF9E-4CAB-412CB9D8A69F}"/>
                </a:ext>
              </a:extLst>
            </p:cNvPr>
            <p:cNvSpPr txBox="1"/>
            <p:nvPr/>
          </p:nvSpPr>
          <p:spPr>
            <a:xfrm>
              <a:off x="748927" y="669717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速率：通信难以跟上算力发展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51" name="直线连接符 38">
              <a:extLst>
                <a:ext uri="{FF2B5EF4-FFF2-40B4-BE49-F238E27FC236}">
                  <a16:creationId xmlns:a16="http://schemas.microsoft.com/office/drawing/2014/main" id="{FF5CEB92-24BF-B108-6CF7-60A540BF498B}"/>
                </a:ext>
              </a:extLst>
            </p:cNvPr>
            <p:cNvCxnSpPr>
              <a:cxnSpLocks/>
            </p:cNvCxnSpPr>
            <p:nvPr/>
          </p:nvCxnSpPr>
          <p:spPr>
            <a:xfrm>
              <a:off x="399299" y="1049366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CB141BB-30C7-74E5-69EE-BDA940BA2F61}"/>
              </a:ext>
            </a:extLst>
          </p:cNvPr>
          <p:cNvSpPr txBox="1"/>
          <p:nvPr/>
        </p:nvSpPr>
        <p:spPr>
          <a:xfrm>
            <a:off x="704849" y="3449638"/>
            <a:ext cx="2890838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能耗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5" name="直线连接符 38">
            <a:extLst>
              <a:ext uri="{FF2B5EF4-FFF2-40B4-BE49-F238E27FC236}">
                <a16:creationId xmlns:a16="http://schemas.microsoft.com/office/drawing/2014/main" id="{40953D8E-7177-A00F-0B2D-CE0DB7230553}"/>
              </a:ext>
            </a:extLst>
          </p:cNvPr>
          <p:cNvCxnSpPr>
            <a:cxnSpLocks/>
          </p:cNvCxnSpPr>
          <p:nvPr/>
        </p:nvCxnSpPr>
        <p:spPr>
          <a:xfrm>
            <a:off x="401638" y="3829050"/>
            <a:ext cx="539750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835" name="组合 3834">
            <a:extLst>
              <a:ext uri="{FF2B5EF4-FFF2-40B4-BE49-F238E27FC236}">
                <a16:creationId xmlns:a16="http://schemas.microsoft.com/office/drawing/2014/main" id="{BB28259C-B6D8-726F-1753-7E76E1E059B9}"/>
              </a:ext>
            </a:extLst>
          </p:cNvPr>
          <p:cNvGrpSpPr/>
          <p:nvPr/>
        </p:nvGrpSpPr>
        <p:grpSpPr>
          <a:xfrm>
            <a:off x="6526603" y="676631"/>
            <a:ext cx="4928623" cy="379649"/>
            <a:chOff x="6526603" y="727637"/>
            <a:chExt cx="4928623" cy="37964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5698680-1672-BD3B-1191-85852868A9D9}"/>
                </a:ext>
              </a:extLst>
            </p:cNvPr>
            <p:cNvSpPr txBox="1"/>
            <p:nvPr/>
          </p:nvSpPr>
          <p:spPr>
            <a:xfrm>
              <a:off x="6865432" y="727637"/>
              <a:ext cx="28895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距离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8F20CCAD-6801-4FA6-FD5D-3CD227543764}"/>
                </a:ext>
              </a:extLst>
            </p:cNvPr>
            <p:cNvCxnSpPr>
              <a:cxnSpLocks/>
            </p:cNvCxnSpPr>
            <p:nvPr/>
          </p:nvCxnSpPr>
          <p:spPr>
            <a:xfrm>
              <a:off x="6560953" y="1107286"/>
              <a:ext cx="489427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ouble-diagonal-arrow_57071">
              <a:extLst>
                <a:ext uri="{FF2B5EF4-FFF2-40B4-BE49-F238E27FC236}">
                  <a16:creationId xmlns:a16="http://schemas.microsoft.com/office/drawing/2014/main" id="{BB89E75F-37DC-F9E4-CA1E-0F6870A83FDD}"/>
                </a:ext>
              </a:extLst>
            </p:cNvPr>
            <p:cNvSpPr/>
            <p:nvPr/>
          </p:nvSpPr>
          <p:spPr>
            <a:xfrm>
              <a:off x="6526603" y="788424"/>
              <a:ext cx="258436" cy="258076"/>
            </a:xfrm>
            <a:custGeom>
              <a:avLst/>
              <a:gdLst>
                <a:gd name="T0" fmla="*/ 1333 w 12856"/>
                <a:gd name="T1" fmla="*/ 7083 h 12856"/>
                <a:gd name="T2" fmla="*/ 2667 w 12856"/>
                <a:gd name="T3" fmla="*/ 5749 h 12856"/>
                <a:gd name="T4" fmla="*/ 2667 w 12856"/>
                <a:gd name="T5" fmla="*/ 4552 h 12856"/>
                <a:gd name="T6" fmla="*/ 8304 w 12856"/>
                <a:gd name="T7" fmla="*/ 10189 h 12856"/>
                <a:gd name="T8" fmla="*/ 7107 w 12856"/>
                <a:gd name="T9" fmla="*/ 10189 h 12856"/>
                <a:gd name="T10" fmla="*/ 5773 w 12856"/>
                <a:gd name="T11" fmla="*/ 11523 h 12856"/>
                <a:gd name="T12" fmla="*/ 7107 w 12856"/>
                <a:gd name="T13" fmla="*/ 12856 h 12856"/>
                <a:gd name="T14" fmla="*/ 11523 w 12856"/>
                <a:gd name="T15" fmla="*/ 12856 h 12856"/>
                <a:gd name="T16" fmla="*/ 12415 w 12856"/>
                <a:gd name="T17" fmla="*/ 12513 h 12856"/>
                <a:gd name="T18" fmla="*/ 12591 w 12856"/>
                <a:gd name="T19" fmla="*/ 12321 h 12856"/>
                <a:gd name="T20" fmla="*/ 12591 w 12856"/>
                <a:gd name="T21" fmla="*/ 12321 h 12856"/>
                <a:gd name="T22" fmla="*/ 12856 w 12856"/>
                <a:gd name="T23" fmla="*/ 11528 h 12856"/>
                <a:gd name="T24" fmla="*/ 12856 w 12856"/>
                <a:gd name="T25" fmla="*/ 11524 h 12856"/>
                <a:gd name="T26" fmla="*/ 12856 w 12856"/>
                <a:gd name="T27" fmla="*/ 7199 h 12856"/>
                <a:gd name="T28" fmla="*/ 11523 w 12856"/>
                <a:gd name="T29" fmla="*/ 5865 h 12856"/>
                <a:gd name="T30" fmla="*/ 10189 w 12856"/>
                <a:gd name="T31" fmla="*/ 7199 h 12856"/>
                <a:gd name="T32" fmla="*/ 10189 w 12856"/>
                <a:gd name="T33" fmla="*/ 8304 h 12856"/>
                <a:gd name="T34" fmla="*/ 4552 w 12856"/>
                <a:gd name="T35" fmla="*/ 2667 h 12856"/>
                <a:gd name="T36" fmla="*/ 5656 w 12856"/>
                <a:gd name="T37" fmla="*/ 2667 h 12856"/>
                <a:gd name="T38" fmla="*/ 6989 w 12856"/>
                <a:gd name="T39" fmla="*/ 1333 h 12856"/>
                <a:gd name="T40" fmla="*/ 5656 w 12856"/>
                <a:gd name="T41" fmla="*/ 0 h 12856"/>
                <a:gd name="T42" fmla="*/ 1333 w 12856"/>
                <a:gd name="T43" fmla="*/ 0 h 12856"/>
                <a:gd name="T44" fmla="*/ 1331 w 12856"/>
                <a:gd name="T45" fmla="*/ 0 h 12856"/>
                <a:gd name="T46" fmla="*/ 803 w 12856"/>
                <a:gd name="T47" fmla="*/ 109 h 12856"/>
                <a:gd name="T48" fmla="*/ 353 w 12856"/>
                <a:gd name="T49" fmla="*/ 428 h 12856"/>
                <a:gd name="T50" fmla="*/ 255 w 12856"/>
                <a:gd name="T51" fmla="*/ 548 h 12856"/>
                <a:gd name="T52" fmla="*/ 160 w 12856"/>
                <a:gd name="T53" fmla="*/ 697 h 12856"/>
                <a:gd name="T54" fmla="*/ 160 w 12856"/>
                <a:gd name="T55" fmla="*/ 699 h 12856"/>
                <a:gd name="T56" fmla="*/ 12 w 12856"/>
                <a:gd name="T57" fmla="*/ 1155 h 12856"/>
                <a:gd name="T58" fmla="*/ 0 w 12856"/>
                <a:gd name="T59" fmla="*/ 1329 h 12856"/>
                <a:gd name="T60" fmla="*/ 0 w 12856"/>
                <a:gd name="T61" fmla="*/ 1333 h 12856"/>
                <a:gd name="T62" fmla="*/ 0 w 12856"/>
                <a:gd name="T63" fmla="*/ 5749 h 12856"/>
                <a:gd name="T64" fmla="*/ 1333 w 12856"/>
                <a:gd name="T65" fmla="*/ 7083 h 12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56" h="12856">
                  <a:moveTo>
                    <a:pt x="1333" y="7083"/>
                  </a:moveTo>
                  <a:cubicBezTo>
                    <a:pt x="2069" y="7083"/>
                    <a:pt x="2667" y="6485"/>
                    <a:pt x="2667" y="5749"/>
                  </a:cubicBezTo>
                  <a:lnTo>
                    <a:pt x="2667" y="4552"/>
                  </a:lnTo>
                  <a:lnTo>
                    <a:pt x="8304" y="10189"/>
                  </a:lnTo>
                  <a:lnTo>
                    <a:pt x="7107" y="10189"/>
                  </a:lnTo>
                  <a:cubicBezTo>
                    <a:pt x="6371" y="10189"/>
                    <a:pt x="5773" y="10787"/>
                    <a:pt x="5773" y="11523"/>
                  </a:cubicBezTo>
                  <a:cubicBezTo>
                    <a:pt x="5773" y="12259"/>
                    <a:pt x="6371" y="12856"/>
                    <a:pt x="7107" y="12856"/>
                  </a:cubicBezTo>
                  <a:lnTo>
                    <a:pt x="11523" y="12856"/>
                  </a:lnTo>
                  <a:cubicBezTo>
                    <a:pt x="11852" y="12856"/>
                    <a:pt x="12169" y="12731"/>
                    <a:pt x="12415" y="12513"/>
                  </a:cubicBezTo>
                  <a:cubicBezTo>
                    <a:pt x="12480" y="12456"/>
                    <a:pt x="12539" y="12391"/>
                    <a:pt x="12591" y="12321"/>
                  </a:cubicBezTo>
                  <a:lnTo>
                    <a:pt x="12591" y="12321"/>
                  </a:lnTo>
                  <a:cubicBezTo>
                    <a:pt x="12761" y="12093"/>
                    <a:pt x="12855" y="11813"/>
                    <a:pt x="12856" y="11528"/>
                  </a:cubicBezTo>
                  <a:lnTo>
                    <a:pt x="12856" y="11524"/>
                  </a:lnTo>
                  <a:lnTo>
                    <a:pt x="12856" y="7199"/>
                  </a:lnTo>
                  <a:cubicBezTo>
                    <a:pt x="12856" y="6463"/>
                    <a:pt x="12259" y="5865"/>
                    <a:pt x="11523" y="5865"/>
                  </a:cubicBezTo>
                  <a:cubicBezTo>
                    <a:pt x="10787" y="5865"/>
                    <a:pt x="10189" y="6463"/>
                    <a:pt x="10189" y="7199"/>
                  </a:cubicBezTo>
                  <a:lnTo>
                    <a:pt x="10189" y="8304"/>
                  </a:lnTo>
                  <a:lnTo>
                    <a:pt x="4552" y="2667"/>
                  </a:lnTo>
                  <a:lnTo>
                    <a:pt x="5656" y="2667"/>
                  </a:lnTo>
                  <a:cubicBezTo>
                    <a:pt x="6392" y="2667"/>
                    <a:pt x="6989" y="2069"/>
                    <a:pt x="6989" y="1333"/>
                  </a:cubicBezTo>
                  <a:cubicBezTo>
                    <a:pt x="6989" y="597"/>
                    <a:pt x="6392" y="0"/>
                    <a:pt x="5656" y="0"/>
                  </a:cubicBezTo>
                  <a:lnTo>
                    <a:pt x="1333" y="0"/>
                  </a:lnTo>
                  <a:lnTo>
                    <a:pt x="1331" y="0"/>
                  </a:lnTo>
                  <a:cubicBezTo>
                    <a:pt x="1151" y="1"/>
                    <a:pt x="969" y="37"/>
                    <a:pt x="803" y="109"/>
                  </a:cubicBezTo>
                  <a:cubicBezTo>
                    <a:pt x="633" y="184"/>
                    <a:pt x="480" y="292"/>
                    <a:pt x="353" y="428"/>
                  </a:cubicBezTo>
                  <a:cubicBezTo>
                    <a:pt x="317" y="467"/>
                    <a:pt x="285" y="507"/>
                    <a:pt x="255" y="548"/>
                  </a:cubicBezTo>
                  <a:cubicBezTo>
                    <a:pt x="220" y="596"/>
                    <a:pt x="188" y="645"/>
                    <a:pt x="160" y="697"/>
                  </a:cubicBezTo>
                  <a:lnTo>
                    <a:pt x="160" y="699"/>
                  </a:lnTo>
                  <a:cubicBezTo>
                    <a:pt x="83" y="839"/>
                    <a:pt x="32" y="995"/>
                    <a:pt x="12" y="1155"/>
                  </a:cubicBezTo>
                  <a:cubicBezTo>
                    <a:pt x="4" y="1213"/>
                    <a:pt x="0" y="1271"/>
                    <a:pt x="0" y="1329"/>
                  </a:cubicBezTo>
                  <a:lnTo>
                    <a:pt x="0" y="1333"/>
                  </a:lnTo>
                  <a:lnTo>
                    <a:pt x="0" y="5749"/>
                  </a:lnTo>
                  <a:cubicBezTo>
                    <a:pt x="0" y="6485"/>
                    <a:pt x="597" y="7083"/>
                    <a:pt x="1333" y="7083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536101" y="1203540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万卡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十万卡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要求节点间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级互连，远超铜互连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级上限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58" name="组合 1057">
            <a:extLst>
              <a:ext uri="{FF2B5EF4-FFF2-40B4-BE49-F238E27FC236}">
                <a16:creationId xmlns:a16="http://schemas.microsoft.com/office/drawing/2014/main" id="{2B08568E-E875-038C-7789-40A84E9F7B75}"/>
              </a:ext>
            </a:extLst>
          </p:cNvPr>
          <p:cNvGrpSpPr/>
          <p:nvPr/>
        </p:nvGrpSpPr>
        <p:grpSpPr>
          <a:xfrm>
            <a:off x="6681788" y="1776625"/>
            <a:ext cx="4928623" cy="3085037"/>
            <a:chOff x="6560952" y="1883872"/>
            <a:chExt cx="4928623" cy="308503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810E562-3003-FFF8-A345-47281EAD6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59" t="13517" b="16816"/>
            <a:stretch/>
          </p:blipFill>
          <p:spPr bwMode="auto">
            <a:xfrm>
              <a:off x="6560952" y="1883872"/>
              <a:ext cx="4928623" cy="3085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B55AB6D-7417-AFAF-C4F0-9D7D70AE8AAC}"/>
                </a:ext>
              </a:extLst>
            </p:cNvPr>
            <p:cNvSpPr txBox="1"/>
            <p:nvPr/>
          </p:nvSpPr>
          <p:spPr>
            <a:xfrm>
              <a:off x="7000069" y="2367376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80-100km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4" name="文本框 1023">
              <a:extLst>
                <a:ext uri="{FF2B5EF4-FFF2-40B4-BE49-F238E27FC236}">
                  <a16:creationId xmlns:a16="http://schemas.microsoft.com/office/drawing/2014/main" id="{C922815B-C267-D38F-D115-2CE66FBF5FD2}"/>
                </a:ext>
              </a:extLst>
            </p:cNvPr>
            <p:cNvSpPr txBox="1"/>
            <p:nvPr/>
          </p:nvSpPr>
          <p:spPr>
            <a:xfrm>
              <a:off x="6908881" y="3190227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2-20km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7" name="文本框 1026">
              <a:extLst>
                <a:ext uri="{FF2B5EF4-FFF2-40B4-BE49-F238E27FC236}">
                  <a16:creationId xmlns:a16="http://schemas.microsoft.com/office/drawing/2014/main" id="{0886D629-8C48-E59B-AD70-46C8B76504C6}"/>
                </a:ext>
              </a:extLst>
            </p:cNvPr>
            <p:cNvSpPr txBox="1"/>
            <p:nvPr/>
          </p:nvSpPr>
          <p:spPr>
            <a:xfrm>
              <a:off x="6833800" y="3931845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&lt;10m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20F0DDFF-E994-DF98-913A-2010CA9C1466}"/>
                </a:ext>
              </a:extLst>
            </p:cNvPr>
            <p:cNvSpPr txBox="1"/>
            <p:nvPr/>
          </p:nvSpPr>
          <p:spPr>
            <a:xfrm>
              <a:off x="6968450" y="4540111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10m-2km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F9C1B4A7-D235-7981-3733-642021FB0B01}"/>
              </a:ext>
            </a:extLst>
          </p:cNvPr>
          <p:cNvSpPr txBox="1"/>
          <p:nvPr/>
        </p:nvSpPr>
        <p:spPr>
          <a:xfrm>
            <a:off x="397945" y="1174242"/>
            <a:ext cx="583140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带宽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，远落后于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算力增幅，成为集群算力瓶颈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81D5CE87-7E70-27FC-B002-0ECB60D96A39}"/>
              </a:ext>
            </a:extLst>
          </p:cNvPr>
          <p:cNvSpPr txBox="1"/>
          <p:nvPr/>
        </p:nvSpPr>
        <p:spPr>
          <a:xfrm>
            <a:off x="4875534" y="1446809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推理算力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32x</a:t>
            </a:r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A03B0507-C8B1-1F56-E252-31696EB9315C}"/>
              </a:ext>
            </a:extLst>
          </p:cNvPr>
          <p:cNvSpPr txBox="1"/>
          <p:nvPr/>
        </p:nvSpPr>
        <p:spPr>
          <a:xfrm>
            <a:off x="4888355" y="2231720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训练算力</a:t>
            </a:r>
            <a:endParaRPr kumimoji="1" lang="en-US" altLang="zh-CN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16x</a:t>
            </a:r>
          </a:p>
        </p:txBody>
      </p:sp>
      <p:sp>
        <p:nvSpPr>
          <p:cNvPr id="1080" name="文本框 1079">
            <a:extLst>
              <a:ext uri="{FF2B5EF4-FFF2-40B4-BE49-F238E27FC236}">
                <a16:creationId xmlns:a16="http://schemas.microsoft.com/office/drawing/2014/main" id="{3A15E0C1-737C-E245-3395-D5E90EE19AA7}"/>
              </a:ext>
            </a:extLst>
          </p:cNvPr>
          <p:cNvSpPr txBox="1"/>
          <p:nvPr/>
        </p:nvSpPr>
        <p:spPr>
          <a:xfrm>
            <a:off x="4872915" y="2807671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网络带宽</a:t>
            </a:r>
            <a:r>
              <a:rPr kumimoji="1" lang="en-US" altLang="zh-CN" sz="1600" dirty="0">
                <a:solidFill>
                  <a:srgbClr val="0052D9"/>
                </a:solidFill>
              </a:rPr>
              <a:t>4x</a:t>
            </a:r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D3FA126D-1744-C912-60B5-3484D75A2F28}"/>
              </a:ext>
            </a:extLst>
          </p:cNvPr>
          <p:cNvSpPr txBox="1"/>
          <p:nvPr/>
        </p:nvSpPr>
        <p:spPr>
          <a:xfrm>
            <a:off x="3779077" y="1467663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Blackwell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2w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FP4</a:t>
            </a:r>
          </a:p>
        </p:txBody>
      </p:sp>
      <p:sp>
        <p:nvSpPr>
          <p:cNvPr id="1082" name="文本框 1081">
            <a:extLst>
              <a:ext uri="{FF2B5EF4-FFF2-40B4-BE49-F238E27FC236}">
                <a16:creationId xmlns:a16="http://schemas.microsoft.com/office/drawing/2014/main" id="{7D962D71-B83C-C4D5-5FDC-91311AA0BA50}"/>
              </a:ext>
            </a:extLst>
          </p:cNvPr>
          <p:cNvSpPr txBox="1"/>
          <p:nvPr/>
        </p:nvSpPr>
        <p:spPr>
          <a:xfrm>
            <a:off x="3222917" y="23029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Hopper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4k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FP8</a:t>
            </a:r>
          </a:p>
        </p:txBody>
      </p:sp>
      <p:sp>
        <p:nvSpPr>
          <p:cNvPr id="1083" name="文本框 1082">
            <a:extLst>
              <a:ext uri="{FF2B5EF4-FFF2-40B4-BE49-F238E27FC236}">
                <a16:creationId xmlns:a16="http://schemas.microsoft.com/office/drawing/2014/main" id="{F1CD1144-A58D-D7B2-790F-FD9055EA6283}"/>
              </a:ext>
            </a:extLst>
          </p:cNvPr>
          <p:cNvSpPr txBox="1"/>
          <p:nvPr/>
        </p:nvSpPr>
        <p:spPr>
          <a:xfrm>
            <a:off x="2421434" y="260324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Ampere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620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2670EF7F-D612-0181-CB0C-269E8D330A81}"/>
              </a:ext>
            </a:extLst>
          </p:cNvPr>
          <p:cNvSpPr txBox="1"/>
          <p:nvPr/>
        </p:nvSpPr>
        <p:spPr>
          <a:xfrm>
            <a:off x="1537989" y="26703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Volta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130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AF8DCCE1-0868-D884-C0D4-6512F15AE2E9}"/>
              </a:ext>
            </a:extLst>
          </p:cNvPr>
          <p:cNvSpPr txBox="1"/>
          <p:nvPr/>
        </p:nvSpPr>
        <p:spPr>
          <a:xfrm>
            <a:off x="625482" y="264385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Pascal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19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A75CE062-217C-2ACF-5DA5-A9517F8018B4}"/>
              </a:ext>
            </a:extLst>
          </p:cNvPr>
          <p:cNvSpPr txBox="1"/>
          <p:nvPr/>
        </p:nvSpPr>
        <p:spPr>
          <a:xfrm>
            <a:off x="3722444" y="269699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1k </a:t>
            </a:r>
            <a:r>
              <a:rPr kumimoji="1" lang="en-US" altLang="zh-CN" sz="800" dirty="0" err="1">
                <a:solidFill>
                  <a:srgbClr val="00B0F0"/>
                </a:solidFill>
              </a:rPr>
              <a:t>Tflops</a:t>
            </a:r>
            <a:endParaRPr kumimoji="1" lang="en-US" altLang="zh-CN" sz="800" dirty="0">
              <a:solidFill>
                <a:srgbClr val="00B0F0"/>
              </a:solidFill>
            </a:endParaRPr>
          </a:p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FP16</a:t>
            </a:r>
          </a:p>
        </p:txBody>
      </p:sp>
      <p:sp>
        <p:nvSpPr>
          <p:cNvPr id="3328" name="文本框 3327">
            <a:extLst>
              <a:ext uri="{FF2B5EF4-FFF2-40B4-BE49-F238E27FC236}">
                <a16:creationId xmlns:a16="http://schemas.microsoft.com/office/drawing/2014/main" id="{C04487C4-C5E4-D48E-2A7D-6CDE1C36C800}"/>
              </a:ext>
            </a:extLst>
          </p:cNvPr>
          <p:cNvSpPr txBox="1"/>
          <p:nvPr/>
        </p:nvSpPr>
        <p:spPr>
          <a:xfrm>
            <a:off x="4229316" y="20827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5k </a:t>
            </a:r>
            <a:r>
              <a:rPr kumimoji="1" lang="en-US" altLang="zh-CN" sz="800" dirty="0" err="1">
                <a:solidFill>
                  <a:srgbClr val="00B0F0"/>
                </a:solidFill>
              </a:rPr>
              <a:t>Tflops</a:t>
            </a:r>
            <a:endParaRPr kumimoji="1" lang="en-US" altLang="zh-CN" sz="800" dirty="0">
              <a:solidFill>
                <a:srgbClr val="00B0F0"/>
              </a:solidFill>
            </a:endParaRPr>
          </a:p>
          <a:p>
            <a:pPr algn="ctr"/>
            <a:r>
              <a:rPr kumimoji="1" lang="en-US" altLang="zh-CN" sz="800" dirty="0">
                <a:solidFill>
                  <a:srgbClr val="00B0F0"/>
                </a:solidFill>
              </a:rPr>
              <a:t>FP8</a:t>
            </a:r>
          </a:p>
        </p:txBody>
      </p:sp>
      <p:sp>
        <p:nvSpPr>
          <p:cNvPr id="3329" name="文本框 3328">
            <a:extLst>
              <a:ext uri="{FF2B5EF4-FFF2-40B4-BE49-F238E27FC236}">
                <a16:creationId xmlns:a16="http://schemas.microsoft.com/office/drawing/2014/main" id="{67CD9710-3C1B-4B34-B587-9965337D3794}"/>
              </a:ext>
            </a:extLst>
          </p:cNvPr>
          <p:cNvSpPr txBox="1"/>
          <p:nvPr/>
        </p:nvSpPr>
        <p:spPr>
          <a:xfrm>
            <a:off x="4257400" y="29464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800Gbps</a:t>
            </a:r>
          </a:p>
        </p:txBody>
      </p:sp>
      <p:sp>
        <p:nvSpPr>
          <p:cNvPr id="3330" name="文本框 3329">
            <a:extLst>
              <a:ext uri="{FF2B5EF4-FFF2-40B4-BE49-F238E27FC236}">
                <a16:creationId xmlns:a16="http://schemas.microsoft.com/office/drawing/2014/main" id="{0D33A53E-1C3E-F741-841D-1BCCDE61082B}"/>
              </a:ext>
            </a:extLst>
          </p:cNvPr>
          <p:cNvSpPr txBox="1"/>
          <p:nvPr/>
        </p:nvSpPr>
        <p:spPr>
          <a:xfrm>
            <a:off x="3625069" y="3025352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400Gbps</a:t>
            </a:r>
          </a:p>
        </p:txBody>
      </p:sp>
      <p:sp>
        <p:nvSpPr>
          <p:cNvPr id="3331" name="文本框 3330">
            <a:extLst>
              <a:ext uri="{FF2B5EF4-FFF2-40B4-BE49-F238E27FC236}">
                <a16:creationId xmlns:a16="http://schemas.microsoft.com/office/drawing/2014/main" id="{46A7A19C-7324-705A-9E13-62C7B3D49B90}"/>
              </a:ext>
            </a:extLst>
          </p:cNvPr>
          <p:cNvSpPr txBox="1"/>
          <p:nvPr/>
        </p:nvSpPr>
        <p:spPr>
          <a:xfrm>
            <a:off x="2684439" y="3085910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200Gbps</a:t>
            </a:r>
          </a:p>
        </p:txBody>
      </p:sp>
      <p:sp>
        <p:nvSpPr>
          <p:cNvPr id="3336" name="文本框 3335">
            <a:extLst>
              <a:ext uri="{FF2B5EF4-FFF2-40B4-BE49-F238E27FC236}">
                <a16:creationId xmlns:a16="http://schemas.microsoft.com/office/drawing/2014/main" id="{D215CF5E-8791-220C-1549-3DF9A14A2505}"/>
              </a:ext>
            </a:extLst>
          </p:cNvPr>
          <p:cNvSpPr txBox="1"/>
          <p:nvPr/>
        </p:nvSpPr>
        <p:spPr>
          <a:xfrm>
            <a:off x="398463" y="3937000"/>
            <a:ext cx="5503863" cy="3460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至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2028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年，预计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耗电量增长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，其中光模块功耗占比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1%=&gt;8%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互连将成为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能耗重要组成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7BCF382A-287A-CD43-2C96-730F9603303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5169089"/>
              </p:ext>
            </p:extLst>
          </p:nvPr>
        </p:nvGraphicFramePr>
        <p:xfrm>
          <a:off x="363538" y="4676775"/>
          <a:ext cx="4786312" cy="1373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545" name="直接连接符 3544">
            <a:extLst>
              <a:ext uri="{FF2B5EF4-FFF2-40B4-BE49-F238E27FC236}">
                <a16:creationId xmlns:a16="http://schemas.microsoft.com/office/drawing/2014/main" id="{7C455A10-DF16-F304-B5A7-948278C7659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067300" y="57435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5" name="直接连接符 3654">
            <a:extLst>
              <a:ext uri="{FF2B5EF4-FFF2-40B4-BE49-F238E27FC236}">
                <a16:creationId xmlns:a16="http://schemas.microsoft.com/office/drawing/2014/main" id="{68F221C6-1F1F-76E0-9DB3-EF0C586E6B5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067300" y="5389563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8" name="Text Placeholder 4">
            <a:extLst>
              <a:ext uri="{FF2B5EF4-FFF2-40B4-BE49-F238E27FC236}">
                <a16:creationId xmlns:a16="http://schemas.microsoft.com/office/drawing/2014/main" id="{65CB9E6B-95B1-1C9B-0FA5-6758E487A14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5243513" y="563721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0</a:t>
            </a:r>
            <a:endParaRPr lang="zh-CN" altLang="en-US" sz="1400" dirty="0">
              <a:cs typeface="+mn-cs"/>
            </a:endParaRPr>
          </a:p>
        </p:txBody>
      </p:sp>
      <p:sp>
        <p:nvSpPr>
          <p:cNvPr id="3654" name="Text Placeholder 4">
            <a:extLst>
              <a:ext uri="{FF2B5EF4-FFF2-40B4-BE49-F238E27FC236}">
                <a16:creationId xmlns:a16="http://schemas.microsoft.com/office/drawing/2014/main" id="{BD1AFAAD-52AA-F4DF-4040-B44764BBD6E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5243513" y="5283200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5%</a:t>
            </a:r>
            <a:endParaRPr lang="zh-CN" altLang="en-US" sz="1400" dirty="0">
              <a:cs typeface="+mn-cs"/>
            </a:endParaRPr>
          </a:p>
        </p:txBody>
      </p:sp>
      <p:sp>
        <p:nvSpPr>
          <p:cNvPr id="3573" name="Text Placeholder 4">
            <a:extLst>
              <a:ext uri="{FF2B5EF4-FFF2-40B4-BE49-F238E27FC236}">
                <a16:creationId xmlns:a16="http://schemas.microsoft.com/office/drawing/2014/main" id="{C0084A53-63D1-FADA-F1F8-27E67662AAB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5243513" y="49276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cs"/>
              </a:rPr>
              <a:t>10%</a:t>
            </a:r>
            <a:endParaRPr lang="zh-CN" altLang="en-US" sz="1400" dirty="0">
              <a:cs typeface="+mn-cs"/>
            </a:endParaRPr>
          </a:p>
        </p:txBody>
      </p:sp>
      <p:cxnSp>
        <p:nvCxnSpPr>
          <p:cNvPr id="3742" name="直接连接符 3741">
            <a:extLst>
              <a:ext uri="{FF2B5EF4-FFF2-40B4-BE49-F238E27FC236}">
                <a16:creationId xmlns:a16="http://schemas.microsoft.com/office/drawing/2014/main" id="{7AAA169D-1115-6FB3-0B1D-7E388CC7591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2451100" y="4649788"/>
            <a:ext cx="0" cy="8143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3" name="直接连接符 3742">
            <a:extLst>
              <a:ext uri="{FF2B5EF4-FFF2-40B4-BE49-F238E27FC236}">
                <a16:creationId xmlns:a16="http://schemas.microsoft.com/office/drawing/2014/main" id="{E0486259-C99E-DAAF-9033-4FC60E88E79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2451100" y="4649788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5" name="直接连接符 3744">
            <a:extLst>
              <a:ext uri="{FF2B5EF4-FFF2-40B4-BE49-F238E27FC236}">
                <a16:creationId xmlns:a16="http://schemas.microsoft.com/office/drawing/2014/main" id="{F47A181F-3DB5-F83A-1917-D9544445DAF0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4430713" y="4649788"/>
            <a:ext cx="0" cy="7667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628" name="Text Placeholder 4">
            <a:extLst>
              <a:ext uri="{FF2B5EF4-FFF2-40B4-BE49-F238E27FC236}">
                <a16:creationId xmlns:a16="http://schemas.microsoft.com/office/drawing/2014/main" id="{67575059-8993-426B-34B1-78E840DF233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057400" y="5311775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1%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7" name="Text Placeholder 4">
            <a:extLst>
              <a:ext uri="{FF2B5EF4-FFF2-40B4-BE49-F238E27FC236}">
                <a16:creationId xmlns:a16="http://schemas.microsoft.com/office/drawing/2014/main" id="{101E81A2-FBF1-70F7-99D7-0B20CA7787F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893888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DB090B2-23A0-4DF3-8D74-7B6F8C614801}" type="datetime'''''''''''''''''''2''''''''''0''''2''''''''2'''''''''''">
              <a:rPr lang="zh-CN" altLang="en-US" sz="1400" smtClean="0">
                <a:cs typeface="+mn-cs"/>
              </a:rPr>
              <a:pPr/>
              <a:t>2022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634" name="Text Placeholder 4">
            <a:extLst>
              <a:ext uri="{FF2B5EF4-FFF2-40B4-BE49-F238E27FC236}">
                <a16:creationId xmlns:a16="http://schemas.microsoft.com/office/drawing/2014/main" id="{E3715621-0CE6-24F7-F2FB-865C08B87BD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3922713" y="50688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8%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8" name="Text Placeholder 4">
            <a:extLst>
              <a:ext uri="{FF2B5EF4-FFF2-40B4-BE49-F238E27FC236}">
                <a16:creationId xmlns:a16="http://schemas.microsoft.com/office/drawing/2014/main" id="{D2100540-3077-9A87-F8FA-75C7FEB7476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873500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D45775-BD3E-45C7-8A50-7161AB40BF3B}" type="datetime'''2''''0''''2''''''''''''''8'''''">
              <a:rPr lang="zh-CN" altLang="en-US" sz="1400" smtClean="0">
                <a:cs typeface="+mn-cs"/>
              </a:rPr>
              <a:pPr/>
              <a:t>2028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756" name="Text Placeholder 4">
            <a:extLst>
              <a:ext uri="{FF2B5EF4-FFF2-40B4-BE49-F238E27FC236}">
                <a16:creationId xmlns:a16="http://schemas.microsoft.com/office/drawing/2014/main" id="{9B8883C0-C874-C5CC-5FDD-D8939582201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2376488" y="5502275"/>
            <a:ext cx="14922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147CAB0-A359-42D2-AB1C-DD3D0F9C4E93}" type="datetime'''''''''''''''''''4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741" name="Text Placeholder 4">
            <a:extLst>
              <a:ext uri="{FF2B5EF4-FFF2-40B4-BE49-F238E27FC236}">
                <a16:creationId xmlns:a16="http://schemas.microsoft.com/office/drawing/2014/main" id="{4274254B-F3AF-C730-6060-9C6B07DFE4DF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230563" y="4498975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20</a:t>
            </a:r>
            <a:r>
              <a:rPr lang="en-US" altLang="zh-CN" sz="1400" b="1" dirty="0">
                <a:effectLst/>
                <a:cs typeface="+mn-cs"/>
              </a:rPr>
              <a:t>x</a:t>
            </a:r>
            <a:endParaRPr lang="zh-CN" altLang="en-US" sz="1400" b="1" dirty="0">
              <a:cs typeface="+mn-cs"/>
            </a:endParaRPr>
          </a:p>
        </p:txBody>
      </p:sp>
      <p:grpSp>
        <p:nvGrpSpPr>
          <p:cNvPr id="3816" name="组合 3815">
            <a:extLst>
              <a:ext uri="{FF2B5EF4-FFF2-40B4-BE49-F238E27FC236}">
                <a16:creationId xmlns:a16="http://schemas.microsoft.com/office/drawing/2014/main" id="{B173CBDB-0E0F-2FA4-275A-417F669C2CBB}"/>
              </a:ext>
            </a:extLst>
          </p:cNvPr>
          <p:cNvGrpSpPr/>
          <p:nvPr/>
        </p:nvGrpSpPr>
        <p:grpSpPr>
          <a:xfrm>
            <a:off x="1117600" y="6049963"/>
            <a:ext cx="1035050" cy="252413"/>
            <a:chOff x="7119936" y="8112711"/>
            <a:chExt cx="1035259" cy="252413"/>
          </a:xfrm>
        </p:grpSpPr>
        <p:cxnSp>
          <p:nvCxnSpPr>
            <p:cNvPr id="3817" name="直接连接符 3816">
              <a:extLst>
                <a:ext uri="{FF2B5EF4-FFF2-40B4-BE49-F238E27FC236}">
                  <a16:creationId xmlns:a16="http://schemas.microsoft.com/office/drawing/2014/main" id="{94CA651A-5287-8574-8DFF-167633418E28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8" name="文本框 3817">
              <a:extLst>
                <a:ext uri="{FF2B5EF4-FFF2-40B4-BE49-F238E27FC236}">
                  <a16:creationId xmlns:a16="http://schemas.microsoft.com/office/drawing/2014/main" id="{7C115E7C-B271-A564-1EF2-9ECCE9C1CFE7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光模块功耗占比（右轴）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</p:grpSp>
      <p:grpSp>
        <p:nvGrpSpPr>
          <p:cNvPr id="3819" name="组合 3818">
            <a:extLst>
              <a:ext uri="{FF2B5EF4-FFF2-40B4-BE49-F238E27FC236}">
                <a16:creationId xmlns:a16="http://schemas.microsoft.com/office/drawing/2014/main" id="{B6C7A23D-0747-6D87-C036-1BAF08384CA7}"/>
              </a:ext>
            </a:extLst>
          </p:cNvPr>
          <p:cNvGrpSpPr/>
          <p:nvPr/>
        </p:nvGrpSpPr>
        <p:grpSpPr>
          <a:xfrm>
            <a:off x="2544763" y="6049963"/>
            <a:ext cx="1371600" cy="252413"/>
            <a:chOff x="7119936" y="8382496"/>
            <a:chExt cx="1372736" cy="252413"/>
          </a:xfrm>
        </p:grpSpPr>
        <p:sp>
          <p:nvSpPr>
            <p:cNvPr id="3820" name="文本框 3819">
              <a:extLst>
                <a:ext uri="{FF2B5EF4-FFF2-40B4-BE49-F238E27FC236}">
                  <a16:creationId xmlns:a16="http://schemas.microsoft.com/office/drawing/2014/main" id="{F1101C23-0D15-D0C7-520C-E1025AB5C966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全球</a:t>
              </a:r>
              <a:r>
                <a:rPr lang="en-US" altLang="zh-CN" sz="1000" dirty="0"/>
                <a:t>IDC</a:t>
              </a:r>
              <a:r>
                <a:rPr lang="zh-CN" altLang="en-US" sz="1000" dirty="0"/>
                <a:t>用电量（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1" name="矩形 3820">
              <a:extLst>
                <a:ext uri="{FF2B5EF4-FFF2-40B4-BE49-F238E27FC236}">
                  <a16:creationId xmlns:a16="http://schemas.microsoft.com/office/drawing/2014/main" id="{F24D8067-F3AD-21EB-5E21-918824410CD1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22" name="组合 3821">
            <a:extLst>
              <a:ext uri="{FF2B5EF4-FFF2-40B4-BE49-F238E27FC236}">
                <a16:creationId xmlns:a16="http://schemas.microsoft.com/office/drawing/2014/main" id="{04439A8E-99C4-8B0C-F0FD-FDA2C76C4156}"/>
              </a:ext>
            </a:extLst>
          </p:cNvPr>
          <p:cNvGrpSpPr/>
          <p:nvPr/>
        </p:nvGrpSpPr>
        <p:grpSpPr>
          <a:xfrm>
            <a:off x="4191000" y="6007100"/>
            <a:ext cx="1230313" cy="295275"/>
            <a:chOff x="7119936" y="8338983"/>
            <a:chExt cx="1230021" cy="294870"/>
          </a:xfrm>
        </p:grpSpPr>
        <p:sp>
          <p:nvSpPr>
            <p:cNvPr id="3823" name="文本框 3822">
              <a:extLst>
                <a:ext uri="{FF2B5EF4-FFF2-40B4-BE49-F238E27FC236}">
                  <a16:creationId xmlns:a16="http://schemas.microsoft.com/office/drawing/2014/main" id="{7A324ABA-7EA1-2380-A63F-A5B145E6B8BC}"/>
                </a:ext>
              </a:extLst>
            </p:cNvPr>
            <p:cNvSpPr txBox="1"/>
            <p:nvPr/>
          </p:nvSpPr>
          <p:spPr>
            <a:xfrm>
              <a:off x="7388185" y="8338983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4" name="矩形 3823">
              <a:extLst>
                <a:ext uri="{FF2B5EF4-FFF2-40B4-BE49-F238E27FC236}">
                  <a16:creationId xmlns:a16="http://schemas.microsoft.com/office/drawing/2014/main" id="{4BB80B13-3C24-BCA5-6347-758ED8693B2C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80200" y="5107721"/>
            <a:ext cx="4930210" cy="1112155"/>
          </a:xfrm>
          <a:prstGeom prst="roundRect">
            <a:avLst>
              <a:gd name="adj" fmla="val 353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8013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副标题 2">
            <a:extLst>
              <a:ext uri="{FF2B5EF4-FFF2-40B4-BE49-F238E27FC236}">
                <a16:creationId xmlns:a16="http://schemas.microsoft.com/office/drawing/2014/main" id="{BF5933C6-C2F1-9890-F65F-CBB1B885A6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4DF157-A8E3-B51A-26BB-11720CCEE4C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2BCDC8-5FF7-91E4-9BAD-22FB980619AC}"/>
              </a:ext>
            </a:extLst>
          </p:cNvPr>
          <p:cNvSpPr/>
          <p:nvPr/>
        </p:nvSpPr>
        <p:spPr>
          <a:xfrm>
            <a:off x="5953633" y="2170800"/>
            <a:ext cx="4220308" cy="1676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历史上为了解决互联有哪些方案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铜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=&gt; FPP =&gt; LPO =&gt; CPO =&gt; OIO</a:t>
            </a: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传输速率一直上升、功耗、距离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/>
              <a:t>互连难题驱动技术变迁：铜互连、可插拔光模块、</a:t>
            </a:r>
            <a:r>
              <a:rPr lang="en-US" altLang="zh-CN" dirty="0"/>
              <a:t>CPO</a:t>
            </a:r>
            <a:r>
              <a:rPr lang="zh-CN" altLang="en-US" dirty="0"/>
              <a:t>、</a:t>
            </a:r>
            <a:r>
              <a:rPr lang="en-US" altLang="zh-CN" dirty="0"/>
              <a:t>OIO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80703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404" imgH="405" progId="TCLayout.ActiveDocument.1">
                  <p:embed/>
                </p:oleObj>
              </mc:Choice>
              <mc:Fallback>
                <p:oleObj name="think-cell 幻灯片" r:id="rId2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2749000"/>
              </p:ext>
            </p:extLst>
          </p:nvPr>
        </p:nvGraphicFramePr>
        <p:xfrm>
          <a:off x="719811" y="2293041"/>
          <a:ext cx="4789756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22288" y="3871543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23779" y="3451755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41564" y="2074483"/>
            <a:ext cx="3543325" cy="1771717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365194" y="311076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358937" y="2556391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85108" y="2127465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371366" y="439465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385108" y="2480906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08956" y="3390795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光互连解决铜互连速率问题，</a:t>
            </a:r>
            <a:r>
              <a:rPr lang="en-US" altLang="zh-CN" dirty="0"/>
              <a:t>CPO</a:t>
            </a:r>
            <a:r>
              <a:rPr lang="zh-CN" altLang="en-US" dirty="0"/>
              <a:t>解决可插拔光模块能耗问题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访谈、英伟达专家访谈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680121" y="925331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铜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光：突破传输速率极限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680121" y="1231844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396206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&gt;800Gbp/s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49444" y="4506327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385108" y="487593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186808" y="390616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83771" y="946373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可插拔光模块 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 CPO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：显著降低能耗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55333" y="1236663"/>
            <a:ext cx="526891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401458" y="1394439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方案：将光模块进一步缩小集成，可降低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60-70%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功耗，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整体电费降低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37334" y="206198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4249FEB9-C7E7-A681-7FE4-3FFDC55B36DB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519967091"/>
              </p:ext>
            </p:extLst>
          </p:nvPr>
        </p:nvGraphicFramePr>
        <p:xfrm>
          <a:off x="6954838" y="2289175"/>
          <a:ext cx="4325937" cy="224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 flipV="1">
            <a:off x="9274175" y="2398713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9274175" y="239871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556875" y="2398713"/>
            <a:ext cx="0" cy="1262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7840663" y="3697288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3-5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897813" y="4386263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2D55D17-8FFB-46F4-A7BF-C2EF9B990784}" type="datetime'''''铜'''''''''">
              <a:rPr lang="zh-CN" altLang="en-US" sz="1400" smtClean="0">
                <a:cs typeface="+mn-cs"/>
              </a:rPr>
              <a:pPr/>
              <a:t>铜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9121775" y="3370263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5-8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8734425" y="4386263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E127392-BFE0-4860-83BD-5CFAE24C683C}" type="datetime'''''''''''可''''''''''''插''''''''''''''''''拔光''''模''''块'''">
              <a:rPr lang="zh-CN" altLang="en-US" sz="1400" smtClean="0">
                <a:cs typeface="+mn-cs"/>
              </a:rPr>
              <a:pPr/>
              <a:t>可插拔光模块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0409238" y="3906838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400" b="1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400" b="1" dirty="0">
                <a:solidFill>
                  <a:schemeClr val="tx2"/>
                </a:solidFill>
                <a:effectLst/>
                <a:cs typeface="+mn-cs"/>
              </a:rPr>
              <a:t>.4</a:t>
            </a:r>
            <a:endParaRPr lang="zh-CN" altLang="en-US" sz="1400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0358438" y="4386263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cs"/>
              </a:rPr>
              <a:pPr/>
              <a:t>CPO</a:t>
            </a:fld>
            <a:endParaRPr lang="zh-CN" altLang="en-US" sz="1400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9621838" y="224790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954838" y="4845051"/>
            <a:ext cx="4754393" cy="1371600"/>
          </a:xfrm>
          <a:prstGeom prst="roundRect">
            <a:avLst>
              <a:gd name="adj" fmla="val 368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），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604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ea typeface="+mn-ea"/>
              </a:rPr>
              <a:t>光互连技术路径：可插拔仍为主流，巨头将商业落地 </a:t>
            </a:r>
            <a:r>
              <a:rPr lang="en-US" altLang="zh-CN" dirty="0">
                <a:ea typeface="+mn-ea"/>
              </a:rPr>
              <a:t>CPO</a:t>
            </a:r>
            <a:r>
              <a:rPr lang="zh-CN" altLang="en-US" dirty="0">
                <a:ea typeface="+mn-ea"/>
              </a:rPr>
              <a:t>，</a:t>
            </a:r>
            <a:r>
              <a:rPr lang="en-US" altLang="zh-CN" dirty="0">
                <a:ea typeface="+mn-ea"/>
              </a:rPr>
              <a:t>OIO</a:t>
            </a:r>
            <a:r>
              <a:rPr lang="zh-CN" altLang="en-US" dirty="0"/>
              <a:t>初创处于技术验证期</a:t>
            </a:r>
            <a:endParaRPr lang="zh-CN" altLang="en-US" dirty="0"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(2025)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(2026)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级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50%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71%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率先认证并出货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样片给英伟达、台积电等做验证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光引擎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590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5330856" y="37197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缩短芯片与光引擎传输距离，解决可插拔光模块的功耗、散热痛点</a:t>
            </a:r>
          </a:p>
        </p:txBody>
      </p:sp>
      <p:sp>
        <p:nvSpPr>
          <p:cNvPr id="1035" name="箭头: 下 1034">
            <a:extLst>
              <a:ext uri="{FF2B5EF4-FFF2-40B4-BE49-F238E27FC236}">
                <a16:creationId xmlns:a16="http://schemas.microsoft.com/office/drawing/2014/main" id="{E3C9F55A-614C-4F6E-870B-24CD974682AE}"/>
              </a:ext>
            </a:extLst>
          </p:cNvPr>
          <p:cNvSpPr/>
          <p:nvPr/>
        </p:nvSpPr>
        <p:spPr>
          <a:xfrm>
            <a:off x="760787" y="2884042"/>
            <a:ext cx="526452" cy="3271329"/>
          </a:xfrm>
          <a:prstGeom prst="downArrow">
            <a:avLst/>
          </a:prstGeom>
          <a:gradFill>
            <a:gsLst>
              <a:gs pos="0">
                <a:schemeClr val="accent5"/>
              </a:gs>
              <a:gs pos="7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2239971" y="2623982"/>
            <a:ext cx="9118084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1170785" y="3445976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1287239" y="5088404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762377" y="1035585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距离带来高功耗和速率限制：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长距离（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6-8cm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信息损耗（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22db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损耗）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需要功率补偿器（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DSP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 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高功耗（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，占光模块整体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1/3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 +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限制速率（速率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，信息损耗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：将光引擎与交换机芯片距离从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缩短至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mm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光源带来散热问题：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光源内置于光引擎，发热导致引擎内模块信号失真、寿命缩短。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：将光源拆分出来，远离核心热区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代价：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可维护性差。可插拔故障只需更换光模块，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故障需交换机整体维修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3432101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正面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2C14DC3B-5354-59BE-E4AB-329C65D1E68E}"/>
              </a:ext>
            </a:extLst>
          </p:cNvPr>
          <p:cNvSpPr/>
          <p:nvPr/>
        </p:nvSpPr>
        <p:spPr>
          <a:xfrm>
            <a:off x="2583401" y="295890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3" name="矩形: 圆角 1042">
            <a:extLst>
              <a:ext uri="{FF2B5EF4-FFF2-40B4-BE49-F238E27FC236}">
                <a16:creationId xmlns:a16="http://schemas.microsoft.com/office/drawing/2014/main" id="{6F68F9E7-9DBF-BD3C-CB2E-323EF915AE65}"/>
              </a:ext>
            </a:extLst>
          </p:cNvPr>
          <p:cNvSpPr/>
          <p:nvPr/>
        </p:nvSpPr>
        <p:spPr>
          <a:xfrm>
            <a:off x="2685930" y="303090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6" name="组合 1045">
            <a:extLst>
              <a:ext uri="{FF2B5EF4-FFF2-40B4-BE49-F238E27FC236}">
                <a16:creationId xmlns:a16="http://schemas.microsoft.com/office/drawing/2014/main" id="{BA8377B1-B952-9DA8-8F57-4FE110181346}"/>
              </a:ext>
            </a:extLst>
          </p:cNvPr>
          <p:cNvGrpSpPr/>
          <p:nvPr/>
        </p:nvGrpSpPr>
        <p:grpSpPr>
          <a:xfrm>
            <a:off x="3259680" y="3290152"/>
            <a:ext cx="750168" cy="577216"/>
            <a:chOff x="3336517" y="2797616"/>
            <a:chExt cx="750168" cy="5772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4" name="矩形: 圆角 1043">
              <a:extLst>
                <a:ext uri="{FF2B5EF4-FFF2-40B4-BE49-F238E27FC236}">
                  <a16:creationId xmlns:a16="http://schemas.microsoft.com/office/drawing/2014/main" id="{CA163804-597D-8956-E42D-B8ABC1F0534D}"/>
                </a:ext>
              </a:extLst>
            </p:cNvPr>
            <p:cNvSpPr/>
            <p:nvPr/>
          </p:nvSpPr>
          <p:spPr>
            <a:xfrm>
              <a:off x="3336517" y="2797616"/>
              <a:ext cx="750168" cy="57721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45" name="矩形: 圆角 1044">
              <a:extLst>
                <a:ext uri="{FF2B5EF4-FFF2-40B4-BE49-F238E27FC236}">
                  <a16:creationId xmlns:a16="http://schemas.microsoft.com/office/drawing/2014/main" id="{DB5B6A9C-A7B5-79A8-3782-BDA030CC9E7E}"/>
                </a:ext>
              </a:extLst>
            </p:cNvPr>
            <p:cNvSpPr/>
            <p:nvPr/>
          </p:nvSpPr>
          <p:spPr>
            <a:xfrm>
              <a:off x="3454981" y="2935009"/>
              <a:ext cx="529937" cy="298758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ASIC</a:t>
              </a:r>
              <a:endParaRPr lang="zh-CN" altLang="en-US" sz="1000" dirty="0"/>
            </a:p>
          </p:txBody>
        </p:sp>
      </p:grpSp>
      <p:sp>
        <p:nvSpPr>
          <p:cNvPr id="1047" name="矩形 1046">
            <a:extLst>
              <a:ext uri="{FF2B5EF4-FFF2-40B4-BE49-F238E27FC236}">
                <a16:creationId xmlns:a16="http://schemas.microsoft.com/office/drawing/2014/main" id="{8350E1FE-666C-7AA9-474A-32B62A0E475B}"/>
              </a:ext>
            </a:extLst>
          </p:cNvPr>
          <p:cNvSpPr/>
          <p:nvPr/>
        </p:nvSpPr>
        <p:spPr>
          <a:xfrm>
            <a:off x="4511448" y="3138295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" name="矩形 1047">
            <a:extLst>
              <a:ext uri="{FF2B5EF4-FFF2-40B4-BE49-F238E27FC236}">
                <a16:creationId xmlns:a16="http://schemas.microsoft.com/office/drawing/2014/main" id="{B96B9758-7027-1FEC-AB6D-E2CF1A100AFC}"/>
              </a:ext>
            </a:extLst>
          </p:cNvPr>
          <p:cNvSpPr/>
          <p:nvPr/>
        </p:nvSpPr>
        <p:spPr>
          <a:xfrm>
            <a:off x="4547034" y="3138295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A7B0E92B-B756-0B17-674C-AAEF90FE5694}"/>
              </a:ext>
            </a:extLst>
          </p:cNvPr>
          <p:cNvSpPr/>
          <p:nvPr/>
        </p:nvSpPr>
        <p:spPr>
          <a:xfrm>
            <a:off x="4513888" y="3325917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3472999C-4C34-C793-DACE-2C5A7551C5EE}"/>
              </a:ext>
            </a:extLst>
          </p:cNvPr>
          <p:cNvSpPr/>
          <p:nvPr/>
        </p:nvSpPr>
        <p:spPr>
          <a:xfrm>
            <a:off x="4549474" y="3325917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7" name="矩形 1056">
            <a:extLst>
              <a:ext uri="{FF2B5EF4-FFF2-40B4-BE49-F238E27FC236}">
                <a16:creationId xmlns:a16="http://schemas.microsoft.com/office/drawing/2014/main" id="{B2BD3E79-0917-9D6C-77B0-E12318CF5A59}"/>
              </a:ext>
            </a:extLst>
          </p:cNvPr>
          <p:cNvSpPr/>
          <p:nvPr/>
        </p:nvSpPr>
        <p:spPr>
          <a:xfrm>
            <a:off x="4511448" y="3909702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8" name="矩形 1057">
            <a:extLst>
              <a:ext uri="{FF2B5EF4-FFF2-40B4-BE49-F238E27FC236}">
                <a16:creationId xmlns:a16="http://schemas.microsoft.com/office/drawing/2014/main" id="{10A355C0-9305-6632-BE91-51B70F7C1521}"/>
              </a:ext>
            </a:extLst>
          </p:cNvPr>
          <p:cNvSpPr/>
          <p:nvPr/>
        </p:nvSpPr>
        <p:spPr>
          <a:xfrm>
            <a:off x="4547034" y="3909702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9" name="直接连接符 1058">
            <a:extLst>
              <a:ext uri="{FF2B5EF4-FFF2-40B4-BE49-F238E27FC236}">
                <a16:creationId xmlns:a16="http://schemas.microsoft.com/office/drawing/2014/main" id="{7BB8A278-EB91-9529-D699-7C254893C7F3}"/>
              </a:ext>
            </a:extLst>
          </p:cNvPr>
          <p:cNvCxnSpPr>
            <a:cxnSpLocks/>
            <a:stCxn id="1057" idx="3"/>
          </p:cNvCxnSpPr>
          <p:nvPr/>
        </p:nvCxnSpPr>
        <p:spPr>
          <a:xfrm>
            <a:off x="4841648" y="3959315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矩形 1060">
            <a:extLst>
              <a:ext uri="{FF2B5EF4-FFF2-40B4-BE49-F238E27FC236}">
                <a16:creationId xmlns:a16="http://schemas.microsoft.com/office/drawing/2014/main" id="{8496BCF2-07F8-800B-1908-539DBA8804F7}"/>
              </a:ext>
            </a:extLst>
          </p:cNvPr>
          <p:cNvSpPr/>
          <p:nvPr/>
        </p:nvSpPr>
        <p:spPr>
          <a:xfrm>
            <a:off x="4515178" y="3728301"/>
            <a:ext cx="32933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E6A177FF-A6A2-57DE-30F2-40CDA08FFFF2}"/>
              </a:ext>
            </a:extLst>
          </p:cNvPr>
          <p:cNvSpPr/>
          <p:nvPr/>
        </p:nvSpPr>
        <p:spPr>
          <a:xfrm>
            <a:off x="4550671" y="3728301"/>
            <a:ext cx="107429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4" name="椭圆 1063">
            <a:extLst>
              <a:ext uri="{FF2B5EF4-FFF2-40B4-BE49-F238E27FC236}">
                <a16:creationId xmlns:a16="http://schemas.microsoft.com/office/drawing/2014/main" id="{6FDCDF67-8C85-5478-BCE2-56B514101DAF}"/>
              </a:ext>
            </a:extLst>
          </p:cNvPr>
          <p:cNvSpPr/>
          <p:nvPr/>
        </p:nvSpPr>
        <p:spPr>
          <a:xfrm>
            <a:off x="4666026" y="3481724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5" name="椭圆 1064">
            <a:extLst>
              <a:ext uri="{FF2B5EF4-FFF2-40B4-BE49-F238E27FC236}">
                <a16:creationId xmlns:a16="http://schemas.microsoft.com/office/drawing/2014/main" id="{69377BAB-9FFF-BC50-93E3-45E5EE3018A9}"/>
              </a:ext>
            </a:extLst>
          </p:cNvPr>
          <p:cNvSpPr/>
          <p:nvPr/>
        </p:nvSpPr>
        <p:spPr>
          <a:xfrm>
            <a:off x="4666026" y="362600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6" name="椭圆 1065">
            <a:extLst>
              <a:ext uri="{FF2B5EF4-FFF2-40B4-BE49-F238E27FC236}">
                <a16:creationId xmlns:a16="http://schemas.microsoft.com/office/drawing/2014/main" id="{473112B6-B768-759A-09A6-26C00BE72A9C}"/>
              </a:ext>
            </a:extLst>
          </p:cNvPr>
          <p:cNvSpPr/>
          <p:nvPr/>
        </p:nvSpPr>
        <p:spPr>
          <a:xfrm>
            <a:off x="4666026" y="3553862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0" name="连接符: 肘形 1069">
            <a:extLst>
              <a:ext uri="{FF2B5EF4-FFF2-40B4-BE49-F238E27FC236}">
                <a16:creationId xmlns:a16="http://schemas.microsoft.com/office/drawing/2014/main" id="{53068155-CCB4-44E1-5336-E64C0592D565}"/>
              </a:ext>
            </a:extLst>
          </p:cNvPr>
          <p:cNvCxnSpPr>
            <a:cxnSpLocks/>
            <a:stCxn id="1087" idx="6"/>
            <a:endCxn id="1047" idx="1"/>
          </p:cNvCxnSpPr>
          <p:nvPr/>
        </p:nvCxnSpPr>
        <p:spPr>
          <a:xfrm flipV="1">
            <a:off x="4027386" y="3187908"/>
            <a:ext cx="484062" cy="209714"/>
          </a:xfrm>
          <a:prstGeom prst="bentConnector3">
            <a:avLst>
              <a:gd name="adj1" fmla="val 273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连接符: 肘形 1075">
            <a:extLst>
              <a:ext uri="{FF2B5EF4-FFF2-40B4-BE49-F238E27FC236}">
                <a16:creationId xmlns:a16="http://schemas.microsoft.com/office/drawing/2014/main" id="{C46DB562-BF27-363E-1DD8-A9D038061614}"/>
              </a:ext>
            </a:extLst>
          </p:cNvPr>
          <p:cNvCxnSpPr>
            <a:cxnSpLocks/>
            <a:stCxn id="2051" idx="6"/>
            <a:endCxn id="1053" idx="1"/>
          </p:cNvCxnSpPr>
          <p:nvPr/>
        </p:nvCxnSpPr>
        <p:spPr>
          <a:xfrm flipV="1">
            <a:off x="4028672" y="3375530"/>
            <a:ext cx="485216" cy="93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连接符: 肘形 1079">
            <a:extLst>
              <a:ext uri="{FF2B5EF4-FFF2-40B4-BE49-F238E27FC236}">
                <a16:creationId xmlns:a16="http://schemas.microsoft.com/office/drawing/2014/main" id="{608FC537-CD16-8B76-495B-5605AB70A9E4}"/>
              </a:ext>
            </a:extLst>
          </p:cNvPr>
          <p:cNvCxnSpPr>
            <a:cxnSpLocks/>
            <a:stCxn id="2049" idx="6"/>
            <a:endCxn id="1061" idx="1"/>
          </p:cNvCxnSpPr>
          <p:nvPr/>
        </p:nvCxnSpPr>
        <p:spPr>
          <a:xfrm>
            <a:off x="4029704" y="3676691"/>
            <a:ext cx="485470" cy="101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连接符: 肘形 1083">
            <a:extLst>
              <a:ext uri="{FF2B5EF4-FFF2-40B4-BE49-F238E27FC236}">
                <a16:creationId xmlns:a16="http://schemas.microsoft.com/office/drawing/2014/main" id="{C14FAB72-7E07-C761-7F8F-9BD0C8303699}"/>
              </a:ext>
            </a:extLst>
          </p:cNvPr>
          <p:cNvCxnSpPr>
            <a:cxnSpLocks/>
            <a:stCxn id="2048" idx="6"/>
            <a:endCxn id="1057" idx="1"/>
          </p:cNvCxnSpPr>
          <p:nvPr/>
        </p:nvCxnSpPr>
        <p:spPr>
          <a:xfrm>
            <a:off x="4028672" y="3749163"/>
            <a:ext cx="482776" cy="210152"/>
          </a:xfrm>
          <a:prstGeom prst="bentConnector3">
            <a:avLst>
              <a:gd name="adj1" fmla="val 276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椭圆 1086">
            <a:extLst>
              <a:ext uri="{FF2B5EF4-FFF2-40B4-BE49-F238E27FC236}">
                <a16:creationId xmlns:a16="http://schemas.microsoft.com/office/drawing/2014/main" id="{CE795343-1F1E-E7E6-A80D-32209C3B087F}"/>
              </a:ext>
            </a:extLst>
          </p:cNvPr>
          <p:cNvSpPr/>
          <p:nvPr/>
        </p:nvSpPr>
        <p:spPr>
          <a:xfrm>
            <a:off x="3981667" y="33747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8" name="椭圆 2047">
            <a:extLst>
              <a:ext uri="{FF2B5EF4-FFF2-40B4-BE49-F238E27FC236}">
                <a16:creationId xmlns:a16="http://schemas.microsoft.com/office/drawing/2014/main" id="{92AFFC3B-B98C-45A4-56BD-BD5530284314}"/>
              </a:ext>
            </a:extLst>
          </p:cNvPr>
          <p:cNvSpPr/>
          <p:nvPr/>
        </p:nvSpPr>
        <p:spPr>
          <a:xfrm>
            <a:off x="3982953" y="37263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9" name="椭圆 2048">
            <a:extLst>
              <a:ext uri="{FF2B5EF4-FFF2-40B4-BE49-F238E27FC236}">
                <a16:creationId xmlns:a16="http://schemas.microsoft.com/office/drawing/2014/main" id="{B131E1CC-A42F-DC54-C680-7D00376308C0}"/>
              </a:ext>
            </a:extLst>
          </p:cNvPr>
          <p:cNvSpPr/>
          <p:nvPr/>
        </p:nvSpPr>
        <p:spPr>
          <a:xfrm>
            <a:off x="3983985" y="365383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1" name="椭圆 2050">
            <a:extLst>
              <a:ext uri="{FF2B5EF4-FFF2-40B4-BE49-F238E27FC236}">
                <a16:creationId xmlns:a16="http://schemas.microsoft.com/office/drawing/2014/main" id="{5855C64E-E952-B368-D965-12F97492F792}"/>
              </a:ext>
            </a:extLst>
          </p:cNvPr>
          <p:cNvSpPr/>
          <p:nvPr/>
        </p:nvSpPr>
        <p:spPr>
          <a:xfrm>
            <a:off x="3982953" y="344615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4" name="矩形: 圆角 2063">
            <a:extLst>
              <a:ext uri="{FF2B5EF4-FFF2-40B4-BE49-F238E27FC236}">
                <a16:creationId xmlns:a16="http://schemas.microsoft.com/office/drawing/2014/main" id="{2D3474E0-D9D6-0E59-925B-B54755F1F35A}"/>
              </a:ext>
            </a:extLst>
          </p:cNvPr>
          <p:cNvSpPr/>
          <p:nvPr/>
        </p:nvSpPr>
        <p:spPr>
          <a:xfrm>
            <a:off x="2568076" y="487752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5" name="矩形: 圆角 2064">
            <a:extLst>
              <a:ext uri="{FF2B5EF4-FFF2-40B4-BE49-F238E27FC236}">
                <a16:creationId xmlns:a16="http://schemas.microsoft.com/office/drawing/2014/main" id="{D3F80D84-B442-8B61-A21B-02D2BA10F9E3}"/>
              </a:ext>
            </a:extLst>
          </p:cNvPr>
          <p:cNvSpPr/>
          <p:nvPr/>
        </p:nvSpPr>
        <p:spPr>
          <a:xfrm>
            <a:off x="2670605" y="494952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7" name="矩形: 圆角 2066">
            <a:extLst>
              <a:ext uri="{FF2B5EF4-FFF2-40B4-BE49-F238E27FC236}">
                <a16:creationId xmlns:a16="http://schemas.microsoft.com/office/drawing/2014/main" id="{58F33ACB-8ABF-8166-4EB9-3E807939C910}"/>
              </a:ext>
            </a:extLst>
          </p:cNvPr>
          <p:cNvSpPr/>
          <p:nvPr/>
        </p:nvSpPr>
        <p:spPr>
          <a:xfrm>
            <a:off x="3268663" y="5208772"/>
            <a:ext cx="725860" cy="577216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68" name="矩形: 圆角 2067">
            <a:extLst>
              <a:ext uri="{FF2B5EF4-FFF2-40B4-BE49-F238E27FC236}">
                <a16:creationId xmlns:a16="http://schemas.microsoft.com/office/drawing/2014/main" id="{FB3213F1-9F17-855C-F534-A8249EE484E1}"/>
              </a:ext>
            </a:extLst>
          </p:cNvPr>
          <p:cNvSpPr/>
          <p:nvPr/>
        </p:nvSpPr>
        <p:spPr>
          <a:xfrm>
            <a:off x="3427029" y="5383738"/>
            <a:ext cx="415836" cy="234432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ASIC</a:t>
            </a:r>
            <a:endParaRPr lang="zh-CN" altLang="en-US" sz="700" dirty="0"/>
          </a:p>
        </p:txBody>
      </p:sp>
      <p:sp>
        <p:nvSpPr>
          <p:cNvPr id="2070" name="矩形 2069">
            <a:extLst>
              <a:ext uri="{FF2B5EF4-FFF2-40B4-BE49-F238E27FC236}">
                <a16:creationId xmlns:a16="http://schemas.microsoft.com/office/drawing/2014/main" id="{B1030952-1810-5436-4395-5719ABFE9E15}"/>
              </a:ext>
            </a:extLst>
          </p:cNvPr>
          <p:cNvSpPr/>
          <p:nvPr/>
        </p:nvSpPr>
        <p:spPr>
          <a:xfrm>
            <a:off x="4568274" y="5056915"/>
            <a:ext cx="74872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4" name="矩形 2073">
            <a:extLst>
              <a:ext uri="{FF2B5EF4-FFF2-40B4-BE49-F238E27FC236}">
                <a16:creationId xmlns:a16="http://schemas.microsoft.com/office/drawing/2014/main" id="{32F1A191-6100-D28E-6EF9-78BCAD1FAD0A}"/>
              </a:ext>
            </a:extLst>
          </p:cNvPr>
          <p:cNvSpPr/>
          <p:nvPr/>
        </p:nvSpPr>
        <p:spPr>
          <a:xfrm>
            <a:off x="4568273" y="5244537"/>
            <a:ext cx="74873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8" name="矩形 2077">
            <a:extLst>
              <a:ext uri="{FF2B5EF4-FFF2-40B4-BE49-F238E27FC236}">
                <a16:creationId xmlns:a16="http://schemas.microsoft.com/office/drawing/2014/main" id="{5B676141-72DB-E0C4-DFE0-B876D7A11DA5}"/>
              </a:ext>
            </a:extLst>
          </p:cNvPr>
          <p:cNvSpPr/>
          <p:nvPr/>
        </p:nvSpPr>
        <p:spPr>
          <a:xfrm>
            <a:off x="4568273" y="5828322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0" name="直接连接符 2079">
            <a:extLst>
              <a:ext uri="{FF2B5EF4-FFF2-40B4-BE49-F238E27FC236}">
                <a16:creationId xmlns:a16="http://schemas.microsoft.com/office/drawing/2014/main" id="{87D3F4F7-D37A-0E2C-6145-F7F063C6B46F}"/>
              </a:ext>
            </a:extLst>
          </p:cNvPr>
          <p:cNvCxnSpPr>
            <a:cxnSpLocks/>
            <a:stCxn id="2078" idx="3"/>
          </p:cNvCxnSpPr>
          <p:nvPr/>
        </p:nvCxnSpPr>
        <p:spPr>
          <a:xfrm>
            <a:off x="4651459" y="5877935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矩形 2081">
            <a:extLst>
              <a:ext uri="{FF2B5EF4-FFF2-40B4-BE49-F238E27FC236}">
                <a16:creationId xmlns:a16="http://schemas.microsoft.com/office/drawing/2014/main" id="{BB9BFD7D-0AAC-8124-8BC9-653A68EBB444}"/>
              </a:ext>
            </a:extLst>
          </p:cNvPr>
          <p:cNvSpPr/>
          <p:nvPr/>
        </p:nvSpPr>
        <p:spPr>
          <a:xfrm>
            <a:off x="4568273" y="5646921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9" name="连接符: 肘形 2088">
            <a:extLst>
              <a:ext uri="{FF2B5EF4-FFF2-40B4-BE49-F238E27FC236}">
                <a16:creationId xmlns:a16="http://schemas.microsoft.com/office/drawing/2014/main" id="{8DD1F950-97EB-F4A2-AD4E-A1B01E72EC33}"/>
              </a:ext>
            </a:extLst>
          </p:cNvPr>
          <p:cNvCxnSpPr>
            <a:cxnSpLocks/>
            <a:stCxn id="2093" idx="6"/>
            <a:endCxn id="2070" idx="1"/>
          </p:cNvCxnSpPr>
          <p:nvPr/>
        </p:nvCxnSpPr>
        <p:spPr>
          <a:xfrm flipV="1">
            <a:off x="3976273" y="5106528"/>
            <a:ext cx="592001" cy="299591"/>
          </a:xfrm>
          <a:prstGeom prst="bentConnector3">
            <a:avLst>
              <a:gd name="adj1" fmla="val 3042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连接符: 肘形 2089">
            <a:extLst>
              <a:ext uri="{FF2B5EF4-FFF2-40B4-BE49-F238E27FC236}">
                <a16:creationId xmlns:a16="http://schemas.microsoft.com/office/drawing/2014/main" id="{8DF35806-A9FC-2A22-7101-F4E8ED531D97}"/>
              </a:ext>
            </a:extLst>
          </p:cNvPr>
          <p:cNvCxnSpPr>
            <a:cxnSpLocks/>
            <a:stCxn id="2096" idx="6"/>
            <a:endCxn id="2074" idx="1"/>
          </p:cNvCxnSpPr>
          <p:nvPr/>
        </p:nvCxnSpPr>
        <p:spPr>
          <a:xfrm flipV="1">
            <a:off x="3976938" y="5294150"/>
            <a:ext cx="591335" cy="163731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连接符: 肘形 2090">
            <a:extLst>
              <a:ext uri="{FF2B5EF4-FFF2-40B4-BE49-F238E27FC236}">
                <a16:creationId xmlns:a16="http://schemas.microsoft.com/office/drawing/2014/main" id="{8C346686-067C-63BF-E445-631A708B7640}"/>
              </a:ext>
            </a:extLst>
          </p:cNvPr>
          <p:cNvCxnSpPr>
            <a:cxnSpLocks/>
            <a:stCxn id="2095" idx="6"/>
            <a:endCxn id="2082" idx="1"/>
          </p:cNvCxnSpPr>
          <p:nvPr/>
        </p:nvCxnSpPr>
        <p:spPr>
          <a:xfrm>
            <a:off x="3976272" y="5537266"/>
            <a:ext cx="592001" cy="159268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连接符: 肘形 2091">
            <a:extLst>
              <a:ext uri="{FF2B5EF4-FFF2-40B4-BE49-F238E27FC236}">
                <a16:creationId xmlns:a16="http://schemas.microsoft.com/office/drawing/2014/main" id="{82590B93-6530-1C73-159A-88359E6EBE58}"/>
              </a:ext>
            </a:extLst>
          </p:cNvPr>
          <p:cNvCxnSpPr>
            <a:cxnSpLocks/>
            <a:stCxn id="2094" idx="6"/>
            <a:endCxn id="2078" idx="1"/>
          </p:cNvCxnSpPr>
          <p:nvPr/>
        </p:nvCxnSpPr>
        <p:spPr>
          <a:xfrm>
            <a:off x="3976539" y="5591536"/>
            <a:ext cx="591734" cy="286399"/>
          </a:xfrm>
          <a:prstGeom prst="bentConnector3">
            <a:avLst>
              <a:gd name="adj1" fmla="val 3068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3" name="椭圆 2092">
            <a:extLst>
              <a:ext uri="{FF2B5EF4-FFF2-40B4-BE49-F238E27FC236}">
                <a16:creationId xmlns:a16="http://schemas.microsoft.com/office/drawing/2014/main" id="{A0E07606-750D-7A9B-454E-36E2CA7773A9}"/>
              </a:ext>
            </a:extLst>
          </p:cNvPr>
          <p:cNvSpPr/>
          <p:nvPr/>
        </p:nvSpPr>
        <p:spPr>
          <a:xfrm>
            <a:off x="3930554" y="538325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4" name="椭圆 2093">
            <a:extLst>
              <a:ext uri="{FF2B5EF4-FFF2-40B4-BE49-F238E27FC236}">
                <a16:creationId xmlns:a16="http://schemas.microsoft.com/office/drawing/2014/main" id="{ED2C1C18-69A0-D6F6-7C9A-E424AA2983A8}"/>
              </a:ext>
            </a:extLst>
          </p:cNvPr>
          <p:cNvSpPr/>
          <p:nvPr/>
        </p:nvSpPr>
        <p:spPr>
          <a:xfrm>
            <a:off x="3930820" y="55686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5" name="椭圆 2094">
            <a:extLst>
              <a:ext uri="{FF2B5EF4-FFF2-40B4-BE49-F238E27FC236}">
                <a16:creationId xmlns:a16="http://schemas.microsoft.com/office/drawing/2014/main" id="{80993937-D567-1CBC-53AF-525CCE51C4A3}"/>
              </a:ext>
            </a:extLst>
          </p:cNvPr>
          <p:cNvSpPr/>
          <p:nvPr/>
        </p:nvSpPr>
        <p:spPr>
          <a:xfrm>
            <a:off x="3930553" y="551440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6" name="椭圆 2095">
            <a:extLst>
              <a:ext uri="{FF2B5EF4-FFF2-40B4-BE49-F238E27FC236}">
                <a16:creationId xmlns:a16="http://schemas.microsoft.com/office/drawing/2014/main" id="{A47E9B9D-9642-DBC7-A831-7CC92DDF5FF6}"/>
              </a:ext>
            </a:extLst>
          </p:cNvPr>
          <p:cNvSpPr/>
          <p:nvPr/>
        </p:nvSpPr>
        <p:spPr>
          <a:xfrm>
            <a:off x="3931219" y="54350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19" name="直接连接符 2118">
            <a:extLst>
              <a:ext uri="{FF2B5EF4-FFF2-40B4-BE49-F238E27FC236}">
                <a16:creationId xmlns:a16="http://schemas.microsoft.com/office/drawing/2014/main" id="{3B3537D0-C835-9C80-9C28-35DC1224C280}"/>
              </a:ext>
            </a:extLst>
          </p:cNvPr>
          <p:cNvCxnSpPr>
            <a:cxnSpLocks/>
          </p:cNvCxnSpPr>
          <p:nvPr/>
        </p:nvCxnSpPr>
        <p:spPr>
          <a:xfrm>
            <a:off x="4841648" y="3783102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直接连接符 2119">
            <a:extLst>
              <a:ext uri="{FF2B5EF4-FFF2-40B4-BE49-F238E27FC236}">
                <a16:creationId xmlns:a16="http://schemas.microsoft.com/office/drawing/2014/main" id="{678B84E6-DAC7-A2EF-5EA7-43681B73B3EE}"/>
              </a:ext>
            </a:extLst>
          </p:cNvPr>
          <p:cNvCxnSpPr>
            <a:cxnSpLocks/>
          </p:cNvCxnSpPr>
          <p:nvPr/>
        </p:nvCxnSpPr>
        <p:spPr>
          <a:xfrm>
            <a:off x="4841648" y="3375294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1" name="直接连接符 2120">
            <a:extLst>
              <a:ext uri="{FF2B5EF4-FFF2-40B4-BE49-F238E27FC236}">
                <a16:creationId xmlns:a16="http://schemas.microsoft.com/office/drawing/2014/main" id="{BB4CF096-CB66-22F0-2DB3-10A21FAD3B50}"/>
              </a:ext>
            </a:extLst>
          </p:cNvPr>
          <p:cNvCxnSpPr>
            <a:cxnSpLocks/>
          </p:cNvCxnSpPr>
          <p:nvPr/>
        </p:nvCxnSpPr>
        <p:spPr>
          <a:xfrm>
            <a:off x="4841648" y="3187908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直接连接符 2121">
            <a:extLst>
              <a:ext uri="{FF2B5EF4-FFF2-40B4-BE49-F238E27FC236}">
                <a16:creationId xmlns:a16="http://schemas.microsoft.com/office/drawing/2014/main" id="{3E65DC7F-2F8A-8030-73C6-B10B0359D458}"/>
              </a:ext>
            </a:extLst>
          </p:cNvPr>
          <p:cNvCxnSpPr>
            <a:cxnSpLocks/>
          </p:cNvCxnSpPr>
          <p:nvPr/>
        </p:nvCxnSpPr>
        <p:spPr>
          <a:xfrm>
            <a:off x="4651459" y="5697064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直接连接符 2122">
            <a:extLst>
              <a:ext uri="{FF2B5EF4-FFF2-40B4-BE49-F238E27FC236}">
                <a16:creationId xmlns:a16="http://schemas.microsoft.com/office/drawing/2014/main" id="{A0FD160C-58A3-913D-D882-533546A7B042}"/>
              </a:ext>
            </a:extLst>
          </p:cNvPr>
          <p:cNvCxnSpPr>
            <a:cxnSpLocks/>
          </p:cNvCxnSpPr>
          <p:nvPr/>
        </p:nvCxnSpPr>
        <p:spPr>
          <a:xfrm>
            <a:off x="4643146" y="5293382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直接连接符 2123">
            <a:extLst>
              <a:ext uri="{FF2B5EF4-FFF2-40B4-BE49-F238E27FC236}">
                <a16:creationId xmlns:a16="http://schemas.microsoft.com/office/drawing/2014/main" id="{F725813E-84C7-EA56-D518-55861B1EA78F}"/>
              </a:ext>
            </a:extLst>
          </p:cNvPr>
          <p:cNvCxnSpPr>
            <a:cxnSpLocks/>
          </p:cNvCxnSpPr>
          <p:nvPr/>
        </p:nvCxnSpPr>
        <p:spPr>
          <a:xfrm>
            <a:off x="4643146" y="5106528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5" name="矩形 2124">
            <a:extLst>
              <a:ext uri="{FF2B5EF4-FFF2-40B4-BE49-F238E27FC236}">
                <a16:creationId xmlns:a16="http://schemas.microsoft.com/office/drawing/2014/main" id="{DD30B286-427C-9FF9-0FBC-B9990AE98510}"/>
              </a:ext>
            </a:extLst>
          </p:cNvPr>
          <p:cNvSpPr/>
          <p:nvPr/>
        </p:nvSpPr>
        <p:spPr>
          <a:xfrm>
            <a:off x="3868827" y="5383747"/>
            <a:ext cx="107711" cy="2344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42" name="直接连接符 2141">
            <a:extLst>
              <a:ext uri="{FF2B5EF4-FFF2-40B4-BE49-F238E27FC236}">
                <a16:creationId xmlns:a16="http://schemas.microsoft.com/office/drawing/2014/main" id="{018AB5C2-76BE-4C7E-C14D-BC46F3175833}"/>
              </a:ext>
            </a:extLst>
          </p:cNvPr>
          <p:cNvCxnSpPr>
            <a:cxnSpLocks/>
          </p:cNvCxnSpPr>
          <p:nvPr/>
        </p:nvCxnSpPr>
        <p:spPr>
          <a:xfrm>
            <a:off x="3842865" y="5406118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直接连接符 2143">
            <a:extLst>
              <a:ext uri="{FF2B5EF4-FFF2-40B4-BE49-F238E27FC236}">
                <a16:creationId xmlns:a16="http://schemas.microsoft.com/office/drawing/2014/main" id="{FBCEB2F9-ABD4-72D4-FDBC-4BCC218447DA}"/>
              </a:ext>
            </a:extLst>
          </p:cNvPr>
          <p:cNvCxnSpPr>
            <a:cxnSpLocks/>
          </p:cNvCxnSpPr>
          <p:nvPr/>
        </p:nvCxnSpPr>
        <p:spPr>
          <a:xfrm>
            <a:off x="3842865" y="5457880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" name="直接连接符 2144">
            <a:extLst>
              <a:ext uri="{FF2B5EF4-FFF2-40B4-BE49-F238E27FC236}">
                <a16:creationId xmlns:a16="http://schemas.microsoft.com/office/drawing/2014/main" id="{BA546A0B-4FD7-D411-1455-CB36E4BA3ABD}"/>
              </a:ext>
            </a:extLst>
          </p:cNvPr>
          <p:cNvCxnSpPr>
            <a:cxnSpLocks/>
          </p:cNvCxnSpPr>
          <p:nvPr/>
        </p:nvCxnSpPr>
        <p:spPr>
          <a:xfrm>
            <a:off x="3842865" y="5537962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直接连接符 2145">
            <a:extLst>
              <a:ext uri="{FF2B5EF4-FFF2-40B4-BE49-F238E27FC236}">
                <a16:creationId xmlns:a16="http://schemas.microsoft.com/office/drawing/2014/main" id="{E137EBE4-A222-E161-C69E-5CC6C17918E1}"/>
              </a:ext>
            </a:extLst>
          </p:cNvPr>
          <p:cNvCxnSpPr>
            <a:cxnSpLocks/>
          </p:cNvCxnSpPr>
          <p:nvPr/>
        </p:nvCxnSpPr>
        <p:spPr>
          <a:xfrm>
            <a:off x="3842865" y="5593466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4" name="组合 2153">
            <a:extLst>
              <a:ext uri="{FF2B5EF4-FFF2-40B4-BE49-F238E27FC236}">
                <a16:creationId xmlns:a16="http://schemas.microsoft.com/office/drawing/2014/main" id="{E78C4C66-170F-A06C-6F8D-4D38E1D9321C}"/>
              </a:ext>
            </a:extLst>
          </p:cNvPr>
          <p:cNvGrpSpPr/>
          <p:nvPr/>
        </p:nvGrpSpPr>
        <p:grpSpPr>
          <a:xfrm rot="16200000">
            <a:off x="3564677" y="5199694"/>
            <a:ext cx="133673" cy="234432"/>
            <a:chOff x="4069877" y="6177592"/>
            <a:chExt cx="133673" cy="234432"/>
          </a:xfrm>
        </p:grpSpPr>
        <p:sp>
          <p:nvSpPr>
            <p:cNvPr id="2149" name="矩形 2148">
              <a:extLst>
                <a:ext uri="{FF2B5EF4-FFF2-40B4-BE49-F238E27FC236}">
                  <a16:creationId xmlns:a16="http://schemas.microsoft.com/office/drawing/2014/main" id="{F16E47A6-6573-F98E-F75C-7329AFFFBB60}"/>
                </a:ext>
              </a:extLst>
            </p:cNvPr>
            <p:cNvSpPr/>
            <p:nvPr/>
          </p:nvSpPr>
          <p:spPr>
            <a:xfrm>
              <a:off x="4095839" y="6177592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0" name="直接连接符 2149">
              <a:extLst>
                <a:ext uri="{FF2B5EF4-FFF2-40B4-BE49-F238E27FC236}">
                  <a16:creationId xmlns:a16="http://schemas.microsoft.com/office/drawing/2014/main" id="{2DEFB9AB-6125-A95E-528C-3AD457AED4B8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19996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直接连接符 2150">
              <a:extLst>
                <a:ext uri="{FF2B5EF4-FFF2-40B4-BE49-F238E27FC236}">
                  <a16:creationId xmlns:a16="http://schemas.microsoft.com/office/drawing/2014/main" id="{24226B46-97DD-EEDD-93D8-0D5A414B188D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25172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直接连接符 2151">
              <a:extLst>
                <a:ext uri="{FF2B5EF4-FFF2-40B4-BE49-F238E27FC236}">
                  <a16:creationId xmlns:a16="http://schemas.microsoft.com/office/drawing/2014/main" id="{285C4076-1E2A-59C4-5EE3-586500774C2A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3180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直接连接符 2152">
              <a:extLst>
                <a:ext uri="{FF2B5EF4-FFF2-40B4-BE49-F238E27FC236}">
                  <a16:creationId xmlns:a16="http://schemas.microsoft.com/office/drawing/2014/main" id="{472D814C-E1BB-4710-3482-807D4F653FC3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873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4" name="组合 2183">
            <a:extLst>
              <a:ext uri="{FF2B5EF4-FFF2-40B4-BE49-F238E27FC236}">
                <a16:creationId xmlns:a16="http://schemas.microsoft.com/office/drawing/2014/main" id="{700D2923-9348-78EA-3D49-838ABCAE2F1A}"/>
              </a:ext>
            </a:extLst>
          </p:cNvPr>
          <p:cNvGrpSpPr/>
          <p:nvPr/>
        </p:nvGrpSpPr>
        <p:grpSpPr>
          <a:xfrm rot="5400000">
            <a:off x="3560034" y="5567772"/>
            <a:ext cx="133673" cy="234432"/>
            <a:chOff x="3963440" y="6379578"/>
            <a:chExt cx="133673" cy="234432"/>
          </a:xfrm>
        </p:grpSpPr>
        <p:sp>
          <p:nvSpPr>
            <p:cNvPr id="2155" name="矩形 2154">
              <a:extLst>
                <a:ext uri="{FF2B5EF4-FFF2-40B4-BE49-F238E27FC236}">
                  <a16:creationId xmlns:a16="http://schemas.microsoft.com/office/drawing/2014/main" id="{5BD91CE2-ECD5-6CB6-09E7-ADFD123DD55E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6" name="直接连接符 2155">
              <a:extLst>
                <a:ext uri="{FF2B5EF4-FFF2-40B4-BE49-F238E27FC236}">
                  <a16:creationId xmlns:a16="http://schemas.microsoft.com/office/drawing/2014/main" id="{8B2F601F-E22D-1A3A-BCBC-392A540622F7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直接连接符 2156">
              <a:extLst>
                <a:ext uri="{FF2B5EF4-FFF2-40B4-BE49-F238E27FC236}">
                  <a16:creationId xmlns:a16="http://schemas.microsoft.com/office/drawing/2014/main" id="{B2C8C993-3430-FFF0-5294-DCE79E104B3E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直接连接符 2157">
              <a:extLst>
                <a:ext uri="{FF2B5EF4-FFF2-40B4-BE49-F238E27FC236}">
                  <a16:creationId xmlns:a16="http://schemas.microsoft.com/office/drawing/2014/main" id="{AE0A485D-143F-1983-19EF-E99A49B1670C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直接连接符 2158">
              <a:extLst>
                <a:ext uri="{FF2B5EF4-FFF2-40B4-BE49-F238E27FC236}">
                  <a16:creationId xmlns:a16="http://schemas.microsoft.com/office/drawing/2014/main" id="{90414AED-0C67-2E2F-5763-31C5D10AE4DB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5" name="组合 2184">
            <a:extLst>
              <a:ext uri="{FF2B5EF4-FFF2-40B4-BE49-F238E27FC236}">
                <a16:creationId xmlns:a16="http://schemas.microsoft.com/office/drawing/2014/main" id="{6948E263-CC9A-2ADD-ECB9-5838F9627EF3}"/>
              </a:ext>
            </a:extLst>
          </p:cNvPr>
          <p:cNvGrpSpPr/>
          <p:nvPr/>
        </p:nvGrpSpPr>
        <p:grpSpPr>
          <a:xfrm rot="10800000">
            <a:off x="3294369" y="5379963"/>
            <a:ext cx="133673" cy="234432"/>
            <a:chOff x="3963440" y="6379578"/>
            <a:chExt cx="133673" cy="234432"/>
          </a:xfrm>
        </p:grpSpPr>
        <p:sp>
          <p:nvSpPr>
            <p:cNvPr id="2186" name="矩形 2185">
              <a:extLst>
                <a:ext uri="{FF2B5EF4-FFF2-40B4-BE49-F238E27FC236}">
                  <a16:creationId xmlns:a16="http://schemas.microsoft.com/office/drawing/2014/main" id="{7316E993-FDF0-7C38-09F8-594FBA6BA955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7" name="直接连接符 2186">
              <a:extLst>
                <a:ext uri="{FF2B5EF4-FFF2-40B4-BE49-F238E27FC236}">
                  <a16:creationId xmlns:a16="http://schemas.microsoft.com/office/drawing/2014/main" id="{D2D71FE3-5E45-54DA-3C4C-F1EB12E7E29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直接连接符 2187">
              <a:extLst>
                <a:ext uri="{FF2B5EF4-FFF2-40B4-BE49-F238E27FC236}">
                  <a16:creationId xmlns:a16="http://schemas.microsoft.com/office/drawing/2014/main" id="{B33DF06A-5242-F6C1-F717-188BBFB1E4E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直接连接符 2188">
              <a:extLst>
                <a:ext uri="{FF2B5EF4-FFF2-40B4-BE49-F238E27FC236}">
                  <a16:creationId xmlns:a16="http://schemas.microsoft.com/office/drawing/2014/main" id="{C0D0A1A6-E1CF-6B8F-0D43-75A4128C4CA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直接连接符 2189">
              <a:extLst>
                <a:ext uri="{FF2B5EF4-FFF2-40B4-BE49-F238E27FC236}">
                  <a16:creationId xmlns:a16="http://schemas.microsoft.com/office/drawing/2014/main" id="{0470F646-6534-B7E9-60B4-FB42C5C9C0AD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6777012" y="535559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7970483" y="346820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8100201" y="367708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8018472" y="367790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5792113" y="342763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5756277" y="366799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6282008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侧面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5360854" y="373841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5560302" y="347240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5557540" y="345136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5762833" y="32780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5874015" y="323343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8180455" y="3552471"/>
            <a:ext cx="196913" cy="124220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8377368" y="3614581"/>
            <a:ext cx="687160" cy="2331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8594229" y="352406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5634495" y="2927195"/>
            <a:ext cx="92286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6669921" y="297290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30W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rgbClr val="0052D9"/>
                </a:solidFill>
              </a:rPr>
              <a:t>20W (DSP)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kumimoji="1" lang="en-US" altLang="zh-CN" sz="1200" dirty="0">
                <a:solidFill>
                  <a:srgbClr val="FF7201"/>
                </a:solidFill>
              </a:rPr>
              <a:t>10W (</a:t>
            </a:r>
            <a:r>
              <a:rPr kumimoji="1" lang="zh-CN" altLang="en-US" sz="1200" dirty="0">
                <a:solidFill>
                  <a:srgbClr val="FF7201"/>
                </a:solidFill>
              </a:rPr>
              <a:t>光引擎，含光源</a:t>
            </a:r>
            <a:r>
              <a:rPr kumimoji="1" lang="en-US" altLang="zh-CN" sz="1200" dirty="0">
                <a:solidFill>
                  <a:srgbClr val="FF7201"/>
                </a:solidFill>
              </a:rPr>
              <a:t>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6333353" y="344339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6331419" y="3512978"/>
            <a:ext cx="246441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6576272" y="3509774"/>
            <a:ext cx="0" cy="246105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6574684" y="3754291"/>
            <a:ext cx="1469679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8044363" y="3682672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5792113" y="535985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5756277" y="560021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5330856" y="565199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5360854" y="567063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5560302" y="540462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5557540" y="538358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5762833" y="521028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5874015" y="516565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8199553" y="546834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7317333" y="5549131"/>
            <a:ext cx="1658150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8594229" y="545628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5587594" y="4868277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7644385" y="5092875"/>
            <a:ext cx="134697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外置光源：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6333353" y="537561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6331419" y="5445198"/>
            <a:ext cx="47632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6804873" y="5356800"/>
            <a:ext cx="0" cy="8931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6769328" y="5237672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6635783" y="4858874"/>
            <a:ext cx="104863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光引擎：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6964908" y="5304656"/>
            <a:ext cx="358775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7320508" y="5297530"/>
            <a:ext cx="0" cy="25224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8166810" y="5521456"/>
            <a:ext cx="238490" cy="49612"/>
          </a:xfrm>
          <a:prstGeom prst="rect">
            <a:avLst/>
          </a:prstGeom>
          <a:solidFill>
            <a:srgbClr val="FF7201"/>
          </a:solidFill>
          <a:ln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6330176" y="5301529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rgbClr val="FFFF00"/>
                </a:solidFill>
              </a:rPr>
              <a:t> &lt;1mm</a:t>
            </a:r>
            <a:endParaRPr kumimoji="1" lang="en-US" altLang="zh-CN" sz="1050" dirty="0">
              <a:solidFill>
                <a:srgbClr val="FFFF00"/>
              </a:solidFill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7164563" y="369869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FFFF00"/>
                </a:solidFill>
              </a:rPr>
              <a:t>6-8cm</a:t>
            </a:r>
            <a:endParaRPr kumimoji="1" lang="en-US" altLang="zh-CN" sz="1400" dirty="0">
              <a:solidFill>
                <a:srgbClr val="FFFF00"/>
              </a:solidFill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6792859" y="375161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8004102" y="355386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8286097" y="367586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8204368" y="367669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8123238" y="3752339"/>
            <a:ext cx="11003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8233275" y="3680720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8126913" y="3681969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  <a:endCxn id="2270" idx="0"/>
          </p:cNvCxnSpPr>
          <p:nvPr/>
        </p:nvCxnSpPr>
        <p:spPr>
          <a:xfrm>
            <a:off x="8280051" y="4453404"/>
            <a:ext cx="0" cy="101493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9995556" y="3406643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10013520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速率上限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9988296" y="5267073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2F4BFC-F190-8A9D-478B-BFCFBD2A7031}"/>
              </a:ext>
            </a:extLst>
          </p:cNvPr>
          <p:cNvSpPr/>
          <p:nvPr/>
        </p:nvSpPr>
        <p:spPr>
          <a:xfrm>
            <a:off x="12830537" y="1273215"/>
            <a:ext cx="1452622" cy="12095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最重要的那个点，为什么一定要做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1467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404" imgH="405" progId="TCLayout.ActiveDocument.1">
                  <p:embed/>
                </p:oleObj>
              </mc:Choice>
              <mc:Fallback>
                <p:oleObj name="think-cell 幻灯片" r:id="rId21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互连分为 </a:t>
            </a:r>
            <a:r>
              <a:rPr lang="en-US" altLang="zh-CN" dirty="0"/>
              <a:t>Scale Up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r>
              <a:rPr lang="zh-CN" altLang="en-US" dirty="0"/>
              <a:t>，光互连在 </a:t>
            </a:r>
            <a:r>
              <a:rPr lang="en-US" altLang="zh-CN" dirty="0"/>
              <a:t>Scale Out</a:t>
            </a:r>
            <a:r>
              <a:rPr lang="zh-CN" altLang="en-US" dirty="0"/>
              <a:t>优先适配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BB847A-7BAC-63B4-2F41-26DD828E1C14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D26EF83-7B6D-778A-6B64-86B5A6A965AC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A275F8E5-0C4E-1448-E5B3-6F1AF3DF7F9F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2B9CF1D7-EB4A-19C7-4332-7706BD41E3DF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B669C98-36D3-2DC0-FB98-DECCD572E0EA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5C3DBA-98DB-4C41-A095-D6E9DE7276BD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2DDF3E3C-B033-3F56-60A5-D3AF24563D34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5AFA96AA-26BF-B317-BCE6-13DE6EC24C32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5612C2CA-7487-B790-747F-CF07F79EB1DD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D080EB64-9D40-F836-B215-251AE7B1A239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5F6B986-5E92-5600-3E10-FA9E10CB0A84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BE172E11-EEDA-1954-1652-4148ABE5E306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E3A056FA-BCC5-B3B2-6B74-05583D251B0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9942AD3E-0243-9F8D-3BBE-3D1D0405045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863E6579-9356-5949-62B4-BD607835B401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87C2165D-110D-6A55-4BBE-E000622E9F7D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0871629E-A91A-7BF3-5C3B-AADF82C76ECE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205A8889-7ECC-C0E7-F31C-A5D6788B99E4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4D4D8B18-E7E8-E290-FC71-A2C35566C5C9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D1571794-466C-9ECB-22D5-0AD860A9C980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9CFED0C-C5C8-70FA-C735-A85B2182F5D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40652628-7233-9F92-B8BC-64AFE2386BF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7C86563-9B1C-5AC2-3D94-57242B2BDFDF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E46F5CE3-F122-B50A-5DFC-56E64A4E0978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A3B29D23-5F37-BF08-4898-C2011A14AD9E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63781D92-4BEC-7BA6-BB36-D552CA8AEB06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AE4B18C1-503F-697F-0558-FFFD7390ABBE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A78475D6-A9C6-2B4F-C6A2-72AC0B881247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655869C3-C6A7-FA99-6392-56EBED0C6AF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F4DA2476-B1C5-AA7F-86A8-4825B7B86D7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2C8012CD-B402-C196-F3CA-498BD8486C99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9C135BE1-B868-25CD-B6E5-38303BC50592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1EEFAE68-B91A-8AC8-D012-9F54CA2CAE8F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BC37673A-DABA-F906-2BB0-1B44F13CBEAF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CFDDEAE8-BD88-F4AB-E1FD-692B7A965A96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412A1DFB-824D-4ADE-6839-B7EAE99EEDBD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92FBFED9-EEAE-5456-D940-0CDCE0357514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8BF0E8F4-CC07-658D-FC07-A63C64EE392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F166B3AE-9800-342B-8917-A05D5B05797E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349FB1E8-2ED6-EB0C-2BC8-9081E5FB11A9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F2855A3A-B2F5-2584-134D-8470C851334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D542B57A-569E-1AF7-F68B-AD414B8B071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038A0050-8206-D186-D05E-533A3D8FA45E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BA499E6D-DA6F-3849-CCDF-193BBBDB385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2EB48ED1-4B6D-5F43-E406-30CDE8FE1FAC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822A31C-B397-E9AA-02F6-822704F1393A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A444B65E-0228-BD2E-A40A-2F24B4F8136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3DB00DB7-B705-CC86-3CE8-E409A73DB5B6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707984F9-2515-726F-38CE-B57245E91280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102A6C25-5645-34AA-5CC7-962CB1DD711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3EB45D3-DFD0-B896-6A8E-E8422AC6E50A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B2E521CC-2408-6A85-36DA-985994ECA8E8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0325B44E-AB9E-C39C-2A98-E033136CE0F4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4DEA9E3D-92AE-C697-7ACC-FE17EEDFB838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C84F15C9-33D7-51CA-C218-0F5F05D3F641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F9478CD5-A52C-B137-66D2-7EF621884E62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51CAA25C-DDD5-D143-AAC8-1C7FE9D5D395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307CC22A-CCC6-4D44-DC02-EC51BC3A8FF1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0CFD5E0F-4B52-B447-DC64-8BCCDD773497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FADDC3B0-6DA2-BF31-64AF-8CF9B00BC950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B4381F0-6385-7155-90BC-E113A0D58E3E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D2ACD24C-DC11-905E-59FC-8D62AF0EA919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C18357BC-3F63-6843-F6E2-D9EBA1CEB9DC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10254AE5-0E3D-67E0-2C31-7239AF43B9E9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99BEF00D-A311-4A2F-ABF3-7028A3277BCA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AA271BE-1061-84A3-ED4E-E3A98ABCDC04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44F8BD5D-885F-5D2A-0CA0-D9A0E7A38FDB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3EB20156-49FA-55E4-9448-5E547D25DD1D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241747D7-1124-AD73-DCA4-77F760129B8E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5F2B61BA-A6D0-1BFF-7A8A-F4D239368D02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4BD645E1-DBA2-9092-4037-290998D12919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5F8B2C4A-B844-DB33-4313-F9862FC4604B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06BFBAF6-BB0E-110D-8340-AC47E13EA642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C47C1FA2-C111-191C-83B1-90BB94340221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BC4D1D81-190D-3FC9-804D-4F913A0ED43A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59CDD64F-D41D-B90D-F7AE-16A5A4D6B7AB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E019D128-B110-E1F6-F93C-393F61EFD1FC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46477D02-129D-9C2E-3C6D-3D63152685CC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CE296847-4533-FE03-DDEF-186ACA1F2F7C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A8F5EE82-693E-5C52-8962-C9BB8646C1C4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8CA6890F-0E0A-CF01-E0A9-FD6A4C85E4F6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17347AFC-CFE7-8F29-9F3C-8251712DC8F8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A2AE2BB6-1762-6CCE-48CE-CEA3ACC6982C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19592682-4EE0-79D5-8595-F5CAF7E47AA7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4A65848-8AB1-1F19-6C1C-4ED8B41ABC6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C4906E-4DD0-5C1B-5F74-952C95DE35EE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GB200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~17%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）优先采用铜互连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606CEB-1682-03C9-E149-9FF0E42FB554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0B80D1-6C3C-D771-C2F3-FA892D198EF1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83806E-9EE7-3795-8A20-D55B7F534211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D8DF3-CDD1-2C5A-19A1-C1EF94DB9D06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：标配速率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112Gbps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下，超过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的连接需采用光互连取代铜互连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FA1AC864-6FAB-059E-50CE-17954B4F3A3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E71E3D05-6A33-7773-BA49-51257001D1B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5B84EBF7-2C92-2DAD-6034-14000105592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D8D33B67-1750-FF43-EE1E-E19CBB56598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253AB414-7BD6-3A73-D691-C950BD81498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E7840E24-434E-3780-2EE5-764CC4AD565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A3911066-BE52-7303-04E0-505703F75C2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B97F7A6B-30A2-E594-DBB7-4A3DA25C836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05DB308F-FA69-3314-31E0-E89CF144E80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37DFAD35-8097-A506-CD76-8448801E7D5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4884ECF0-94CC-A735-B56E-42D392C9A740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47EC424C-DB68-6E95-050F-AF40622A358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E40B645-51C6-625E-F7A8-FE35E0F7B3D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67482C71-D007-C778-E341-F0E441B415E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06A7B8BE-5A73-76E6-FD60-98CB7C22E236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65A8A2F0-74DB-B094-042B-43018D948C42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6641A744-FDB3-C840-74A4-1DB9B9F0ED0C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D008739D-E2A5-1365-B4F1-682DDB494263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8D5FE462-E8BB-BAE3-1EAB-E88F572FD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487817"/>
              </p:ext>
            </p:extLst>
          </p:nvPr>
        </p:nvGraphicFramePr>
        <p:xfrm>
          <a:off x="6582340" y="4676980"/>
          <a:ext cx="4748919" cy="1848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BB82E9-6F06-621E-9890-98E0A4B81DA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179524" y="4324490"/>
            <a:ext cx="749316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有效传输距离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(m)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本框 20">
            <a:extLst>
              <a:ext uri="{FF2B5EF4-FFF2-40B4-BE49-F238E27FC236}">
                <a16:creationId xmlns:a16="http://schemas.microsoft.com/office/drawing/2014/main" id="{099BD3A1-5B52-4471-0C3E-C1BB75CDF116}"/>
              </a:ext>
            </a:extLst>
          </p:cNvPr>
          <p:cNvSpPr txBox="1"/>
          <p:nvPr/>
        </p:nvSpPr>
        <p:spPr>
          <a:xfrm>
            <a:off x="8136117" y="5395146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5"/>
                </a:solidFill>
              </a:rPr>
              <a:t>2.5m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DA5EB69-B16A-B284-5D04-3AECFBE71925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8038523" y="5532695"/>
            <a:ext cx="1588143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112G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铜互联极限距离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CDCF2D6-A603-B76C-698C-34E990D3ADD9}"/>
              </a:ext>
            </a:extLst>
          </p:cNvPr>
          <p:cNvGrpSpPr/>
          <p:nvPr/>
        </p:nvGrpSpPr>
        <p:grpSpPr>
          <a:xfrm>
            <a:off x="9126671" y="4237860"/>
            <a:ext cx="2205368" cy="664684"/>
            <a:chOff x="9291269" y="4103451"/>
            <a:chExt cx="2205368" cy="664684"/>
          </a:xfrm>
        </p:grpSpPr>
        <p:sp>
          <p:nvSpPr>
            <p:cNvPr id="13" name="文本框 20">
              <a:extLst>
                <a:ext uri="{FF2B5EF4-FFF2-40B4-BE49-F238E27FC236}">
                  <a16:creationId xmlns:a16="http://schemas.microsoft.com/office/drawing/2014/main" id="{7A03F8E2-A4CE-9C03-7B17-74482F8350C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&gt;&gt;50m</a:t>
              </a:r>
            </a:p>
          </p:txBody>
        </p:sp>
        <p:sp>
          <p:nvSpPr>
            <p:cNvPr id="14" name="Text Placeholder 4">
              <a:extLst>
                <a:ext uri="{FF2B5EF4-FFF2-40B4-BE49-F238E27FC236}">
                  <a16:creationId xmlns:a16="http://schemas.microsoft.com/office/drawing/2014/main" id="{68C5448C-1994-6F6F-924C-1D89F9F3D8C9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9291269" y="4246920"/>
              <a:ext cx="2205368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200G</a:t>
              </a:r>
              <a:r>
                <a:rPr lang="zh-CN"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光互联极限距离</a:t>
              </a:r>
              <a:r>
                <a:rPr lang="en-US" altLang="zh-CN" sz="120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C0F54E99-ECF7-E01A-4F26-8DAAD111A4DA}"/>
              </a:ext>
            </a:extLst>
          </p:cNvPr>
          <p:cNvSpPr/>
          <p:nvPr/>
        </p:nvSpPr>
        <p:spPr>
          <a:xfrm>
            <a:off x="8136117" y="6013379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0657BFE-BE11-F226-C257-F555ACE2DE8D}"/>
              </a:ext>
            </a:extLst>
          </p:cNvPr>
          <p:cNvCxnSpPr>
            <a:cxnSpLocks/>
          </p:cNvCxnSpPr>
          <p:nvPr/>
        </p:nvCxnSpPr>
        <p:spPr>
          <a:xfrm>
            <a:off x="6968958" y="4362986"/>
            <a:ext cx="0" cy="468413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359E7C0-BD44-B355-7D32-2011EC5B0F69}"/>
              </a:ext>
            </a:extLst>
          </p:cNvPr>
          <p:cNvSpPr/>
          <p:nvPr/>
        </p:nvSpPr>
        <p:spPr>
          <a:xfrm>
            <a:off x="8952837" y="4320652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E86B759-06A3-2E70-C1FB-06F597E6E80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122025" y="5663497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6F41FC3-EE56-F01E-3D4D-57DCD38910F9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964316" y="4362986"/>
            <a:ext cx="1988521" cy="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DC9C052-AB63-9394-0B58-63DA987DA921}"/>
              </a:ext>
            </a:extLst>
          </p:cNvPr>
          <p:cNvCxnSpPr>
            <a:cxnSpLocks/>
            <a:stCxn id="15" idx="2"/>
          </p:cNvCxnSpPr>
          <p:nvPr/>
        </p:nvCxnSpPr>
        <p:spPr>
          <a:xfrm flipH="1" flipV="1">
            <a:off x="6964316" y="6030912"/>
            <a:ext cx="1171801" cy="24801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109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巨头并行布局 </a:t>
            </a:r>
            <a:r>
              <a:rPr lang="en-US" altLang="zh-CN" dirty="0"/>
              <a:t>Scale Out</a:t>
            </a:r>
            <a:r>
              <a:rPr lang="zh-CN" altLang="en-US" dirty="0"/>
              <a:t>与 </a:t>
            </a:r>
            <a:r>
              <a:rPr lang="en-US" altLang="zh-CN" dirty="0"/>
              <a:t>Scale Up</a:t>
            </a:r>
            <a:r>
              <a:rPr lang="zh-CN" altLang="en-US" dirty="0"/>
              <a:t>，</a:t>
            </a:r>
            <a:r>
              <a:rPr lang="en-US" altLang="zh-CN" dirty="0"/>
              <a:t>CPO</a:t>
            </a:r>
            <a:r>
              <a:rPr lang="zh-CN" altLang="en-US" dirty="0"/>
              <a:t>落地</a:t>
            </a:r>
            <a:r>
              <a:rPr lang="en-US" altLang="zh-CN" dirty="0"/>
              <a:t>1-2</a:t>
            </a:r>
            <a:r>
              <a:rPr lang="zh-CN" altLang="en-US" dirty="0"/>
              <a:t>年内看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 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Rubin 288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en-US" altLang="zh-CN" sz="1400" dirty="0"/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整机交付为主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Scale Out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020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471448" y="2887779"/>
            <a:ext cx="2329827" cy="26635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具体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model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无法找到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补齐逻辑链条，量级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、谷歌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规划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HPC=&gt;CPO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，临界点万卡（量级）以上必须用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估值公式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万卡集群扩展支撑</a:t>
            </a:r>
            <a:r>
              <a:rPr lang="en-US" altLang="zh-CN" dirty="0"/>
              <a:t>CPO</a:t>
            </a:r>
            <a:r>
              <a:rPr lang="zh-CN" altLang="en-US" dirty="0"/>
              <a:t>百亿级市场</a:t>
            </a:r>
            <a:endParaRPr lang="en-US" altLang="zh-CN" dirty="0"/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/>
                  <a:t>只在极高端 AI 集群试点，渗透率≤15 % （渗透难点）</a:t>
                </a:r>
                <a:endParaRPr lang="zh-CN" altLang="zh-CN" dirty="0"/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=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×</a:t>
            </a:r>
            <a:endParaRPr kumimoji="1" lang="zh-CN" altLang="zh-CN" sz="1600" b="1" dirty="0">
              <a:solidFill>
                <a:srgbClr val="0052D9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×</a:t>
            </a:r>
            <a:endParaRPr kumimoji="1" lang="zh-CN" altLang="zh-CN" sz="1600" b="1" dirty="0">
              <a:solidFill>
                <a:srgbClr val="0052D9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①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②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3157288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集群新建支撑高渗透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476056" y="4846768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infra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集群规模快速扩张，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万卡规模仅光互连可支撑。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已从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万张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扩展至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H100+5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H200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，持续推高</a:t>
            </a:r>
            <a:r>
              <a:rPr lang="en-US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需求。</a:t>
            </a:r>
            <a:r>
              <a:rPr lang="zh-CN" altLang="en-US" sz="14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4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英伟达网络方案架构师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815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C629704D-1A6E-BBDB-6238-F9A20602735C}"/>
              </a:ext>
            </a:extLst>
          </p:cNvPr>
          <p:cNvCxnSpPr/>
          <p:nvPr/>
        </p:nvCxnSpPr>
        <p:spPr>
          <a:xfrm>
            <a:off x="7124896" y="4070145"/>
            <a:ext cx="1678903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70FEAFA-E06E-5A7A-CA01-0895CABDEF00}"/>
              </a:ext>
            </a:extLst>
          </p:cNvPr>
          <p:cNvSpPr/>
          <p:nvPr/>
        </p:nvSpPr>
        <p:spPr>
          <a:xfrm>
            <a:off x="3579073" y="2945117"/>
            <a:ext cx="1853988" cy="8992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9525"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AA71F9C8-F50B-1308-03B2-9A7EEE39101E}"/>
              </a:ext>
            </a:extLst>
          </p:cNvPr>
          <p:cNvSpPr/>
          <p:nvPr/>
        </p:nvSpPr>
        <p:spPr>
          <a:xfrm>
            <a:off x="3582182" y="2993641"/>
            <a:ext cx="1852659" cy="10930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EC33A5F9-CDF6-8B7D-A3D6-B5F1EE25EA3F}"/>
              </a:ext>
            </a:extLst>
          </p:cNvPr>
          <p:cNvSpPr/>
          <p:nvPr/>
        </p:nvSpPr>
        <p:spPr>
          <a:xfrm>
            <a:off x="3580401" y="3458759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2F89B20D-B8BC-A9BD-987D-1CE6DA464876}"/>
              </a:ext>
            </a:extLst>
          </p:cNvPr>
          <p:cNvSpPr/>
          <p:nvPr/>
        </p:nvSpPr>
        <p:spPr>
          <a:xfrm>
            <a:off x="3586623" y="3508535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61BA96D4-1B18-491D-66E6-4680133B0428}"/>
              </a:ext>
            </a:extLst>
          </p:cNvPr>
          <p:cNvSpPr/>
          <p:nvPr/>
        </p:nvSpPr>
        <p:spPr>
          <a:xfrm>
            <a:off x="3580400" y="4014154"/>
            <a:ext cx="1852659" cy="44536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9E5664A8-1909-945F-1018-E76109B5B04E}"/>
              </a:ext>
            </a:extLst>
          </p:cNvPr>
          <p:cNvSpPr/>
          <p:nvPr/>
        </p:nvSpPr>
        <p:spPr>
          <a:xfrm>
            <a:off x="3580400" y="4059985"/>
            <a:ext cx="1852659" cy="46397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2AEFBBAE-025A-B2C7-5AF7-046524164271}"/>
              </a:ext>
            </a:extLst>
          </p:cNvPr>
          <p:cNvSpPr/>
          <p:nvPr/>
        </p:nvSpPr>
        <p:spPr>
          <a:xfrm>
            <a:off x="7132623" y="2383416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A6D336EE-0543-330F-BE26-E586D908A2F9}"/>
              </a:ext>
            </a:extLst>
          </p:cNvPr>
          <p:cNvSpPr/>
          <p:nvPr/>
        </p:nvSpPr>
        <p:spPr>
          <a:xfrm>
            <a:off x="7132623" y="2436153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9D664C8C-9E16-41EC-43E7-499498883AFD}"/>
              </a:ext>
            </a:extLst>
          </p:cNvPr>
          <p:cNvSpPr/>
          <p:nvPr/>
        </p:nvSpPr>
        <p:spPr>
          <a:xfrm>
            <a:off x="7128182" y="3084156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8AFE3ADF-5433-FFCC-3875-1DE784B0D2BE}"/>
              </a:ext>
            </a:extLst>
          </p:cNvPr>
          <p:cNvSpPr/>
          <p:nvPr/>
        </p:nvSpPr>
        <p:spPr>
          <a:xfrm>
            <a:off x="7131293" y="3136893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4E8B18E-88A0-BCAA-45C7-4EE7B9C43BA1}"/>
              </a:ext>
            </a:extLst>
          </p:cNvPr>
          <p:cNvCxnSpPr>
            <a:cxnSpLocks/>
          </p:cNvCxnSpPr>
          <p:nvPr/>
        </p:nvCxnSpPr>
        <p:spPr>
          <a:xfrm flipV="1">
            <a:off x="7131293" y="4011934"/>
            <a:ext cx="1665833" cy="3070"/>
          </a:xfrm>
          <a:prstGeom prst="line">
            <a:avLst/>
          </a:prstGeom>
          <a:ln>
            <a:solidFill>
              <a:srgbClr val="C1E1F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光源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光源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20%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CPO/OIO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物理层接口芯片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30%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电光接口芯片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电光接口芯片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（高速接口）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（演化为封装与系统配套）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全球半导体巨头集中入局</a:t>
              </a:r>
              <a:endParaRPr lang="zh-CN" altLang="en-US" dirty="0"/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2030</a:t>
              </a:r>
              <a:endParaRPr lang="zh-CN" altLang="en-US" dirty="0"/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300871" y="6217993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：日期为公司成立日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相关技术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/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产品发布日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天孚通信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2005</a:t>
              </a:r>
              <a:r>
                <a:rPr lang="en-US" altLang="zh-CN" sz="1000" baseline="30000" dirty="0"/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中际旭创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356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剑桥科技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2006</a:t>
              </a:r>
              <a:r>
                <a:rPr lang="en-US" altLang="zh-CN" sz="1000" baseline="30000" dirty="0"/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新易盛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294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latin typeface="+mn-ea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latin typeface="+mn-ea"/>
              </a:rPr>
              <a:t>AI爆发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9603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信号传输核心环节为光电信号传输与转换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光信号中枢，光</a:t>
            </a:r>
            <a:r>
              <a:rPr lang="en-US" altLang="zh-CN" sz="1600" dirty="0">
                <a:latin typeface="+mn-ea"/>
                <a:sym typeface="Wingdings" panose="05000000000000000000" pitchFamily="2" charset="2"/>
              </a:rPr>
              <a:t></a:t>
            </a:r>
            <a:r>
              <a:rPr lang="zh-CN" altLang="en-US" sz="1600" dirty="0">
                <a:latin typeface="+mn-ea"/>
                <a:sym typeface="Wingdings" panose="05000000000000000000" pitchFamily="2" charset="2"/>
              </a:rPr>
              <a:t>电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电</a:t>
            </a:r>
            <a:r>
              <a:rPr lang="zh-CN" altLang="en-US" sz="1600" dirty="0">
                <a:latin typeface="+mn-ea"/>
                <a:sym typeface="Wingdings" panose="05000000000000000000" pitchFamily="2" charset="2"/>
              </a:rPr>
              <a:t>信号控制中枢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73292" y="1879730"/>
            <a:ext cx="9540239" cy="3895270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45520" y="2514600"/>
            <a:ext cx="4440442" cy="2152650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63327" y="5145058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162991" y="5145058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7030511" y="2514600"/>
            <a:ext cx="1715069" cy="2152650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放大 </a:t>
            </a:r>
            <a:r>
              <a:rPr lang="en-US" altLang="zh-CN" dirty="0">
                <a:solidFill>
                  <a:schemeClr val="bg1"/>
                </a:solidFill>
              </a:rPr>
              <a:t>+ </a:t>
            </a:r>
            <a:r>
              <a:rPr lang="zh-CN" altLang="en-US" dirty="0">
                <a:solidFill>
                  <a:schemeClr val="bg1"/>
                </a:solidFill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</a:rPr>
              <a:t>+ </a:t>
            </a:r>
            <a:r>
              <a:rPr lang="zh-CN" altLang="en-US" dirty="0">
                <a:solidFill>
                  <a:schemeClr val="bg1"/>
                </a:solidFill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883440" y="3498850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3832443" y="3400955"/>
            <a:ext cx="126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7284626" y="3400955"/>
            <a:ext cx="1266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电光芯片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194837" y="2256601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94837" y="3170317"/>
            <a:ext cx="1325506" cy="849092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交换机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芯片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5AD28EC-69D7-E8CC-F854-B7560F73B44D}"/>
              </a:ext>
            </a:extLst>
          </p:cNvPr>
          <p:cNvCxnSpPr>
            <a:cxnSpLocks/>
          </p:cNvCxnSpPr>
          <p:nvPr/>
        </p:nvCxnSpPr>
        <p:spPr>
          <a:xfrm>
            <a:off x="1293923" y="3283775"/>
            <a:ext cx="951597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2DD8AC4-36E8-0656-6597-D0E82B632B15}"/>
              </a:ext>
            </a:extLst>
          </p:cNvPr>
          <p:cNvCxnSpPr>
            <a:cxnSpLocks/>
          </p:cNvCxnSpPr>
          <p:nvPr/>
        </p:nvCxnSpPr>
        <p:spPr>
          <a:xfrm flipH="1">
            <a:off x="1281223" y="4081337"/>
            <a:ext cx="931629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直接箭头连接符 2054">
            <a:extLst>
              <a:ext uri="{FF2B5EF4-FFF2-40B4-BE49-F238E27FC236}">
                <a16:creationId xmlns:a16="http://schemas.microsoft.com/office/drawing/2014/main" id="{7FBD8DBF-3536-067A-49D5-59958CB045AC}"/>
              </a:ext>
            </a:extLst>
          </p:cNvPr>
          <p:cNvCxnSpPr>
            <a:cxnSpLocks/>
          </p:cNvCxnSpPr>
          <p:nvPr/>
        </p:nvCxnSpPr>
        <p:spPr>
          <a:xfrm>
            <a:off x="6685962" y="3283775"/>
            <a:ext cx="344549" cy="0"/>
          </a:xfrm>
          <a:prstGeom prst="straightConnector1">
            <a:avLst/>
          </a:prstGeom>
          <a:ln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直接箭头连接符 2057">
            <a:extLst>
              <a:ext uri="{FF2B5EF4-FFF2-40B4-BE49-F238E27FC236}">
                <a16:creationId xmlns:a16="http://schemas.microsoft.com/office/drawing/2014/main" id="{1DC1302F-98F2-11EC-F648-FEF89B479F8E}"/>
              </a:ext>
            </a:extLst>
          </p:cNvPr>
          <p:cNvCxnSpPr>
            <a:cxnSpLocks/>
          </p:cNvCxnSpPr>
          <p:nvPr/>
        </p:nvCxnSpPr>
        <p:spPr>
          <a:xfrm flipH="1">
            <a:off x="6685962" y="4081337"/>
            <a:ext cx="344549" cy="0"/>
          </a:xfrm>
          <a:prstGeom prst="straightConnector1">
            <a:avLst/>
          </a:prstGeom>
          <a:ln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>
            <a:off x="8745580" y="3590925"/>
            <a:ext cx="449257" cy="39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508825" y="2046515"/>
            <a:ext cx="758486" cy="5999956"/>
          </a:xfrm>
          <a:prstGeom prst="bentConnector3">
            <a:avLst>
              <a:gd name="adj1" fmla="val 130139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938011" y="3617329"/>
            <a:ext cx="477808" cy="25776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047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产业链：集成交付环节高价值，光、电信号中枢中等价值，各环节头部初创值得关注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EIC</a:t>
            </a:r>
            <a:r>
              <a:rPr lang="zh-CN" altLang="en-US" sz="1400" dirty="0"/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光电子封测隐形冠军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</a:rPr>
              <a:t>14%</a:t>
            </a:r>
            <a:endParaRPr lang="zh-CN" altLang="en-US" dirty="0">
              <a:solidFill>
                <a:srgbClr val="0052D9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14%</a:t>
            </a:r>
            <a:endParaRPr lang="zh-CN" altLang="en-US" sz="18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15%</a:t>
            </a:r>
            <a:endParaRPr lang="zh-CN" altLang="en-US" sz="1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7%</a:t>
            </a:r>
            <a:endParaRPr lang="zh-CN" altLang="en-US" sz="18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latin typeface="+mn-ea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%</a:t>
            </a:r>
            <a:endParaRPr lang="zh-CN" altLang="zh-CN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熹联：100G/lane出货～10K 200G/lane出货～100K；赛丽：100G/lane出货超百万 200G/lane小批量出货；(前两家为tx现有jdm合作方）羲禾 ：100G/lane出货超百万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光互连 </a:t>
            </a:r>
            <a:r>
              <a:rPr lang="en-US" altLang="zh-CN" dirty="0" err="1"/>
              <a:t>Chiplet</a:t>
            </a:r>
            <a:r>
              <a:rPr lang="en-US" altLang="zh-CN" dirty="0"/>
              <a:t> </a:t>
            </a:r>
            <a:r>
              <a:rPr lang="zh-CN" altLang="en-US" dirty="0"/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/>
              <a:t>scale-up场景下光学全栈</a:t>
            </a:r>
            <a:r>
              <a:rPr lang="zh-CN" altLang="en-US" dirty="0"/>
              <a:t>供应商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硅光子 </a:t>
            </a:r>
            <a:r>
              <a:rPr lang="en-US" altLang="zh-CN" dirty="0"/>
              <a:t>AI </a:t>
            </a:r>
            <a:r>
              <a:rPr lang="zh-CN" altLang="en-US" dirty="0"/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335442" y="5434135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多选一些标的，可以模糊一点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AD41C849-D973-4FA9-3677-6EDE55CA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12F7FCC0-49B3-BEF8-F6DE-F08AE08E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A0C795-2F17-8202-F67A-BEAED2E6192E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液冷、连接器等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/>
              <a:t>ficonTEC</a:t>
            </a:r>
            <a:r>
              <a:rPr lang="zh-CN" altLang="en-US" dirty="0"/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A2A341-26F7-8EF0-F172-671D3A43D1DA}"/>
              </a:ext>
            </a:extLst>
          </p:cNvPr>
          <p:cNvSpPr txBox="1"/>
          <p:nvPr/>
        </p:nvSpPr>
        <p:spPr>
          <a:xfrm>
            <a:off x="402128" y="146610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58774F40-591C-C05F-B889-65AA38FAD57E}"/>
              </a:ext>
            </a:extLst>
          </p:cNvPr>
          <p:cNvCxnSpPr>
            <a:cxnSpLocks/>
          </p:cNvCxnSpPr>
          <p:nvPr/>
        </p:nvCxnSpPr>
        <p:spPr>
          <a:xfrm>
            <a:off x="407777" y="178201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3749CC5-729C-E135-E975-739F63945B88}"/>
              </a:ext>
            </a:extLst>
          </p:cNvPr>
          <p:cNvSpPr txBox="1"/>
          <p:nvPr/>
        </p:nvSpPr>
        <p:spPr>
          <a:xfrm>
            <a:off x="6181644" y="144569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经营情况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210B42CB-5F2F-D3D0-C68D-71A1EF3C2FE3}"/>
              </a:ext>
            </a:extLst>
          </p:cNvPr>
          <p:cNvCxnSpPr>
            <a:cxnSpLocks/>
          </p:cNvCxnSpPr>
          <p:nvPr/>
        </p:nvCxnSpPr>
        <p:spPr>
          <a:xfrm>
            <a:off x="6187293" y="176160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8CE1454-DBA8-EC8D-F1F1-678A281C0300}"/>
              </a:ext>
            </a:extLst>
          </p:cNvPr>
          <p:cNvSpPr txBox="1"/>
          <p:nvPr/>
        </p:nvSpPr>
        <p:spPr>
          <a:xfrm>
            <a:off x="6197582" y="1911169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财务：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7AEC89-B28C-2EE4-FA8D-FD8C415978CD}"/>
              </a:ext>
            </a:extLst>
          </p:cNvPr>
          <p:cNvSpPr/>
          <p:nvPr/>
        </p:nvSpPr>
        <p:spPr>
          <a:xfrm>
            <a:off x="6331902" y="2199830"/>
            <a:ext cx="2590527" cy="1317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营收、毛利、利润折线图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958CC4-F0CD-E083-729D-4E9C314D4863}"/>
              </a:ext>
            </a:extLst>
          </p:cNvPr>
          <p:cNvSpPr txBox="1"/>
          <p:nvPr/>
        </p:nvSpPr>
        <p:spPr>
          <a:xfrm>
            <a:off x="9114130" y="1912272"/>
            <a:ext cx="173737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低量高价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385575" y="1867174"/>
            <a:ext cx="5514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专注于光电器件的微组装和自动化测试方向，交付方式为高度定制化+复杂工序导入；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全球交付阶段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4F6D83-A903-9515-9210-211702607A9F}"/>
              </a:ext>
            </a:extLst>
          </p:cNvPr>
          <p:cNvSpPr/>
          <p:nvPr/>
        </p:nvSpPr>
        <p:spPr>
          <a:xfrm>
            <a:off x="844257" y="4371289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E919E7B5-3D25-95E6-B96A-BDEBAB63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63" y="5318398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5F44A2-C061-5D7D-8391-320D4C0B5020}"/>
              </a:ext>
            </a:extLst>
          </p:cNvPr>
          <p:cNvGrpSpPr/>
          <p:nvPr/>
        </p:nvGrpSpPr>
        <p:grpSpPr>
          <a:xfrm>
            <a:off x="102400" y="2460374"/>
            <a:ext cx="5873979" cy="1249892"/>
            <a:chOff x="52932" y="2930313"/>
            <a:chExt cx="5873979" cy="124989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F9DEF2-78DB-2D1C-CB28-2368D031DABD}"/>
                </a:ext>
              </a:extLst>
            </p:cNvPr>
            <p:cNvSpPr txBox="1"/>
            <p:nvPr/>
          </p:nvSpPr>
          <p:spPr>
            <a:xfrm>
              <a:off x="725321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2001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6E13F6A-5C99-C2BA-3010-A10B69F495BF}"/>
                </a:ext>
              </a:extLst>
            </p:cNvPr>
            <p:cNvSpPr txBox="1"/>
            <p:nvPr/>
          </p:nvSpPr>
          <p:spPr>
            <a:xfrm>
              <a:off x="1877713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2002</a:t>
              </a:r>
              <a:endParaRPr lang="zh-CN" altLang="en-US" sz="14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F6BB480-7E3B-D449-A554-264075514DE5}"/>
                </a:ext>
              </a:extLst>
            </p:cNvPr>
            <p:cNvSpPr txBox="1"/>
            <p:nvPr/>
          </p:nvSpPr>
          <p:spPr>
            <a:xfrm>
              <a:off x="4710386" y="3872428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2025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678657-096D-B78D-191E-F3A961E120A8}"/>
                </a:ext>
              </a:extLst>
            </p:cNvPr>
            <p:cNvSpPr txBox="1"/>
            <p:nvPr/>
          </p:nvSpPr>
          <p:spPr>
            <a:xfrm>
              <a:off x="3701915" y="2930313"/>
              <a:ext cx="2224996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被中国上市公司RoboTechnik以10.11亿人民币价格收购全部股权；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0B5CBD8-B142-509A-526A-B947849110E3}"/>
                </a:ext>
              </a:extLst>
            </p:cNvPr>
            <p:cNvSpPr txBox="1"/>
            <p:nvPr/>
          </p:nvSpPr>
          <p:spPr>
            <a:xfrm>
              <a:off x="1640659" y="2942838"/>
              <a:ext cx="139625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获德国mic</a:t>
              </a:r>
              <a:r>
                <a:rPr kumimoji="0" lang="en-US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 </a:t>
              </a: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seed轮投资</a:t>
              </a:r>
              <a:endParaRPr lang="zh-CN" altLang="en-US" sz="1100" dirty="0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86D9C25-13C6-F2D7-5457-4E1AB9466572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733F027-A8A6-A925-8AD6-9E76BA7DC9A4}"/>
                </a:ext>
              </a:extLst>
            </p:cNvPr>
            <p:cNvCxnSpPr/>
            <p:nvPr/>
          </p:nvCxnSpPr>
          <p:spPr>
            <a:xfrm>
              <a:off x="688894" y="3753376"/>
              <a:ext cx="4982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B2CC9EA-D5C4-2F53-C89A-F72FBD83042F}"/>
              </a:ext>
            </a:extLst>
          </p:cNvPr>
          <p:cNvSpPr txBox="1"/>
          <p:nvPr/>
        </p:nvSpPr>
        <p:spPr>
          <a:xfrm>
            <a:off x="404731" y="3952149"/>
            <a:ext cx="5252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核心产品：</a:t>
            </a:r>
            <a:endParaRPr lang="zh-CN" altLang="en-US" sz="16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1796021" y="4599331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C887D4D-600A-C1E0-97F5-8B5D412E4DFF}"/>
              </a:ext>
            </a:extLst>
          </p:cNvPr>
          <p:cNvSpPr/>
          <p:nvPr/>
        </p:nvSpPr>
        <p:spPr>
          <a:xfrm>
            <a:off x="3335125" y="4360321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9101D38-5EAB-782C-2FD1-75594711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31" y="5307430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4286889" y="4588363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8763635" y="2389347"/>
            <a:ext cx="1876725" cy="760291"/>
            <a:chOff x="6959734" y="4205367"/>
            <a:chExt cx="1876725" cy="760291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91538" y="4205367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全球交付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960159" y="4403052"/>
              <a:ext cx="8763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700+</a:t>
              </a: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台</a:t>
              </a:r>
              <a:endParaRPr lang="zh-CN" altLang="en-US" sz="14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10541104" y="2335470"/>
            <a:ext cx="2139044" cy="818629"/>
            <a:chOff x="9332675" y="4153814"/>
            <a:chExt cx="2139044" cy="818629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3118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平均ASP</a:t>
              </a:r>
              <a:endParaRPr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10042039" y="4398950"/>
              <a:ext cx="1429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235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万/台</a:t>
              </a:r>
              <a:endParaRPr lang="zh-CN" altLang="en-US" sz="1400" dirty="0"/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13E82E2F-C8BE-A202-1FFF-3FCF77E0BE54}"/>
              </a:ext>
            </a:extLst>
          </p:cNvPr>
          <p:cNvSpPr/>
          <p:nvPr/>
        </p:nvSpPr>
        <p:spPr>
          <a:xfrm>
            <a:off x="7587046" y="4296505"/>
            <a:ext cx="1108405" cy="65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</a:rPr>
              <a:t>客户 </a:t>
            </a:r>
            <a:r>
              <a:rPr lang="en-US" altLang="zh-CN" sz="800" dirty="0">
                <a:solidFill>
                  <a:schemeClr val="bg1"/>
                </a:solidFill>
              </a:rPr>
              <a:t>logo</a:t>
            </a:r>
          </a:p>
          <a:p>
            <a:pPr algn="ctr"/>
            <a:r>
              <a:rPr lang="zh-CN" altLang="zh-CN" sz="800" dirty="0">
                <a:solidFill>
                  <a:schemeClr val="bg1"/>
                </a:solidFill>
                <a:latin typeface="+mn-ea"/>
              </a:rPr>
              <a:t>Ciena、Intel、Cisco、Broadcom、Aeva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88B0342-ECC8-25C4-A2F6-501BB5940217}"/>
              </a:ext>
            </a:extLst>
          </p:cNvPr>
          <p:cNvSpPr/>
          <p:nvPr/>
        </p:nvSpPr>
        <p:spPr>
          <a:xfrm>
            <a:off x="6261397" y="4209482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饼图</a:t>
            </a:r>
            <a:endParaRPr lang="en-US" altLang="zh-CN" sz="1600" dirty="0"/>
          </a:p>
          <a:p>
            <a:pPr algn="ctr"/>
            <a:r>
              <a:rPr lang="zh-CN" altLang="en-US" sz="1600" dirty="0"/>
              <a:t>前五大</a:t>
            </a:r>
            <a:r>
              <a:rPr lang="en-US" altLang="zh-CN" sz="1600" dirty="0"/>
              <a:t>vs</a:t>
            </a:r>
            <a:r>
              <a:rPr lang="zh-CN" altLang="en-US" sz="1600" dirty="0"/>
              <a:t>其他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D75F656-B70F-B050-C952-585F5A64DBC3}"/>
              </a:ext>
            </a:extLst>
          </p:cNvPr>
          <p:cNvCxnSpPr>
            <a:stCxn id="63" idx="3"/>
          </p:cNvCxnSpPr>
          <p:nvPr/>
        </p:nvCxnSpPr>
        <p:spPr>
          <a:xfrm flipV="1">
            <a:off x="7137697" y="4389314"/>
            <a:ext cx="597694" cy="199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0E56704-6383-314D-AD29-9554A7D8D6BD}"/>
              </a:ext>
            </a:extLst>
          </p:cNvPr>
          <p:cNvCxnSpPr>
            <a:cxnSpLocks/>
          </p:cNvCxnSpPr>
          <p:nvPr/>
        </p:nvCxnSpPr>
        <p:spPr>
          <a:xfrm>
            <a:off x="7170252" y="4803045"/>
            <a:ext cx="626099" cy="123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A6DE4BE-4A02-3262-73FE-4214CFF33DA4}"/>
              </a:ext>
            </a:extLst>
          </p:cNvPr>
          <p:cNvSpPr txBox="1"/>
          <p:nvPr/>
        </p:nvSpPr>
        <p:spPr>
          <a:xfrm>
            <a:off x="7125019" y="4473167"/>
            <a:ext cx="1077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42%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345628" y="4335379"/>
            <a:ext cx="1620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集中，标准机硬件长期委外给 Tech Group AS，其采购占比38%～41%；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7" y="799727"/>
            <a:ext cx="1169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一家高度项目驱动、已进入一线客户采购体系的小而专的德国老牌光子装配&amp;测试设备公司，通过中国企业收购后卡位于国产替代高精度光学设备供应环节。盈利和增长拐点取决于标准化程度上升、cpo红利的布局契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A1D3CA9-8FB3-28AE-F39C-1054E30E355F}"/>
              </a:ext>
            </a:extLst>
          </p:cNvPr>
          <p:cNvSpPr txBox="1"/>
          <p:nvPr/>
        </p:nvSpPr>
        <p:spPr>
          <a:xfrm>
            <a:off x="6199743" y="3730140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客户集中度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2438614-D5ED-57FC-5749-AC21BE9A36C2}"/>
              </a:ext>
            </a:extLst>
          </p:cNvPr>
          <p:cNvSpPr txBox="1"/>
          <p:nvPr/>
        </p:nvSpPr>
        <p:spPr>
          <a:xfrm>
            <a:off x="9114130" y="3751873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197582" y="5455112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产能：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供应链产能94台、产量80台、销量96台 → 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A4865-DBC5-73C5-4E21-53E7DD1844B3}"/>
              </a:ext>
            </a:extLst>
          </p:cNvPr>
          <p:cNvSpPr/>
          <p:nvPr/>
        </p:nvSpPr>
        <p:spPr>
          <a:xfrm>
            <a:off x="9293754" y="4209745"/>
            <a:ext cx="835361" cy="72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</a:rPr>
              <a:t>饼图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zh-CN" sz="1000" dirty="0">
                <a:solidFill>
                  <a:schemeClr val="bg1"/>
                </a:solidFill>
                <a:latin typeface="+mn-ea"/>
              </a:rPr>
              <a:t>Tech Group AS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bg1"/>
                </a:solidFill>
              </a:rPr>
              <a:t>vs</a:t>
            </a:r>
            <a:r>
              <a:rPr lang="zh-CN" altLang="en-US" sz="1000" dirty="0">
                <a:solidFill>
                  <a:schemeClr val="bg1"/>
                </a:solidFill>
              </a:rPr>
              <a:t>其他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BEF19-E92A-D485-01C9-3E337A20E0BA}"/>
              </a:ext>
            </a:extLst>
          </p:cNvPr>
          <p:cNvSpPr/>
          <p:nvPr/>
        </p:nvSpPr>
        <p:spPr>
          <a:xfrm>
            <a:off x="12311686" y="2199830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2021年～2023年营业收入分别为2.79亿、2.87亿、2.57亿；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毛利分别为34.4%、41.6%、40.2%；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利润分别为：-5800万、-2200万、-1400万；</a:t>
            </a:r>
            <a:endParaRPr lang="zh-CN" altLang="zh-CN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36E5FC-C536-8122-4DA8-49002FF94ECE}"/>
              </a:ext>
            </a:extLst>
          </p:cNvPr>
          <p:cNvSpPr/>
          <p:nvPr/>
        </p:nvSpPr>
        <p:spPr>
          <a:xfrm>
            <a:off x="12327945" y="4502613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Facts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和主观判断对应上</a:t>
            </a:r>
            <a:endParaRPr lang="zh-CN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>
            <a:extLst>
              <a:ext uri="{FF2B5EF4-FFF2-40B4-BE49-F238E27FC236}">
                <a16:creationId xmlns:a16="http://schemas.microsoft.com/office/drawing/2014/main" id="{66BB9BDC-AA4F-FDA8-9111-1A2EDB980978}"/>
              </a:ext>
            </a:extLst>
          </p:cNvPr>
          <p:cNvSpPr txBox="1"/>
          <p:nvPr/>
        </p:nvSpPr>
        <p:spPr>
          <a:xfrm>
            <a:off x="249937" y="727488"/>
            <a:ext cx="1169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endParaRPr lang="zh-CN" altLang="en-US" sz="1600" dirty="0">
              <a:latin typeface="+mn-ea"/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48EFA6E-A2A4-CA1D-1B52-3BFFCCA39D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66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AyarLabs</a:t>
            </a:r>
            <a:r>
              <a:rPr lang="en-US" altLang="zh-CN" baseline="30000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3F1C4-34DF-771E-D6FE-0C9C6EBA96D0}"/>
              </a:ext>
            </a:extLst>
          </p:cNvPr>
          <p:cNvSpPr txBox="1"/>
          <p:nvPr/>
        </p:nvSpPr>
        <p:spPr>
          <a:xfrm>
            <a:off x="419231" y="626351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官网、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crunchbase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轮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BP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6B831-47A7-FFC5-58AB-2247F02F3AA7}"/>
              </a:ext>
            </a:extLst>
          </p:cNvPr>
          <p:cNvSpPr txBox="1"/>
          <p:nvPr/>
        </p:nvSpPr>
        <p:spPr>
          <a:xfrm>
            <a:off x="402128" y="135942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64286863-EAEA-76DD-C1D8-FD9BDA606664}"/>
              </a:ext>
            </a:extLst>
          </p:cNvPr>
          <p:cNvCxnSpPr>
            <a:cxnSpLocks/>
          </p:cNvCxnSpPr>
          <p:nvPr/>
        </p:nvCxnSpPr>
        <p:spPr>
          <a:xfrm>
            <a:off x="407777" y="167533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530A5B5-E239-7CC5-1FC5-95FB411798B0}"/>
              </a:ext>
            </a:extLst>
          </p:cNvPr>
          <p:cNvSpPr txBox="1"/>
          <p:nvPr/>
        </p:nvSpPr>
        <p:spPr>
          <a:xfrm>
            <a:off x="6181644" y="133901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运营进展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F39D5D99-1FCC-5C92-F731-AB8625C5BFD2}"/>
              </a:ext>
            </a:extLst>
          </p:cNvPr>
          <p:cNvCxnSpPr>
            <a:cxnSpLocks/>
          </p:cNvCxnSpPr>
          <p:nvPr/>
        </p:nvCxnSpPr>
        <p:spPr>
          <a:xfrm>
            <a:off x="6187293" y="165492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DBE51CF-5C44-D851-29F5-656C54A0037E}"/>
              </a:ext>
            </a:extLst>
          </p:cNvPr>
          <p:cNvSpPr txBox="1"/>
          <p:nvPr/>
        </p:nvSpPr>
        <p:spPr>
          <a:xfrm>
            <a:off x="385575" y="1760494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基于光I/O技术的光学芯粒制造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；产品验证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=&gt;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设计导入阶段</a:t>
            </a:r>
            <a:endParaRPr lang="zh-CN" altLang="zh-CN"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042843-2F38-6401-8966-20826A1A4B49}"/>
              </a:ext>
            </a:extLst>
          </p:cNvPr>
          <p:cNvGrpSpPr/>
          <p:nvPr/>
        </p:nvGrpSpPr>
        <p:grpSpPr>
          <a:xfrm>
            <a:off x="125207" y="2202796"/>
            <a:ext cx="5873979" cy="1249892"/>
            <a:chOff x="52932" y="2930313"/>
            <a:chExt cx="5873979" cy="124989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6C4B61-96E6-D6DA-C299-7B4BAF216FB4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294268A-FD43-C6F6-3A58-6D43DD55E7C6}"/>
                </a:ext>
              </a:extLst>
            </p:cNvPr>
            <p:cNvGrpSpPr/>
            <p:nvPr/>
          </p:nvGrpSpPr>
          <p:grpSpPr>
            <a:xfrm>
              <a:off x="688894" y="2930313"/>
              <a:ext cx="5238017" cy="1249892"/>
              <a:chOff x="688894" y="2930313"/>
              <a:chExt cx="5238017" cy="124989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C05CFCE-4AEA-6800-7D9F-055A5D076A13}"/>
                  </a:ext>
                </a:extLst>
              </p:cNvPr>
              <p:cNvSpPr txBox="1"/>
              <p:nvPr/>
            </p:nvSpPr>
            <p:spPr>
              <a:xfrm>
                <a:off x="725321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2001</a:t>
                </a:r>
                <a:endParaRPr lang="zh-CN" altLang="en-US" sz="1400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AF7615-F8FB-05E0-CB9A-B56840C474EF}"/>
                  </a:ext>
                </a:extLst>
              </p:cNvPr>
              <p:cNvSpPr txBox="1"/>
              <p:nvPr/>
            </p:nvSpPr>
            <p:spPr>
              <a:xfrm>
                <a:off x="1877713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2002</a:t>
                </a:r>
                <a:endParaRPr lang="zh-CN" altLang="en-US" sz="14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09A8FB-0713-5CDC-3FAF-56C4260B3414}"/>
                  </a:ext>
                </a:extLst>
              </p:cNvPr>
              <p:cNvSpPr txBox="1"/>
              <p:nvPr/>
            </p:nvSpPr>
            <p:spPr>
              <a:xfrm>
                <a:off x="4710386" y="3872428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2025</a:t>
                </a:r>
                <a:endParaRPr lang="zh-CN" altLang="en-US" sz="1400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6C9DC3-E939-1472-AB9C-3FFEFB7D1C6C}"/>
                  </a:ext>
                </a:extLst>
              </p:cNvPr>
              <p:cNvSpPr txBox="1"/>
              <p:nvPr/>
            </p:nvSpPr>
            <p:spPr>
              <a:xfrm>
                <a:off x="3701915" y="2930313"/>
                <a:ext cx="2224996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被中国上市公司RoboTechnik以10.11亿人民币价格收购全部股权；</a:t>
                </a:r>
                <a:endParaRPr kumimoji="0" lang="zh-CN" altLang="zh-CN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5B7418-4184-95B7-AB6A-6BBE57BCBBDC}"/>
                  </a:ext>
                </a:extLst>
              </p:cNvPr>
              <p:cNvSpPr txBox="1"/>
              <p:nvPr/>
            </p:nvSpPr>
            <p:spPr>
              <a:xfrm>
                <a:off x="1622757" y="3089133"/>
                <a:ext cx="13962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获德国mic</a:t>
                </a:r>
                <a:r>
                  <a:rPr kumimoji="0" lang="en-US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 </a:t>
                </a: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seed轮投资</a:t>
                </a:r>
                <a:endParaRPr lang="zh-CN" altLang="en-US" sz="1100" dirty="0">
                  <a:latin typeface="+mn-ea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EB7F318-A39F-3423-F602-71474378ACAF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B5D84-37EE-4FB1-B4BD-182990D64651}"/>
              </a:ext>
            </a:extLst>
          </p:cNvPr>
          <p:cNvSpPr txBox="1"/>
          <p:nvPr/>
        </p:nvSpPr>
        <p:spPr>
          <a:xfrm>
            <a:off x="374376" y="3539810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TeraPHY 芯粒与SuperNova 激光箱</a:t>
            </a:r>
          </a:p>
          <a:p>
            <a:endParaRPr lang="zh-CN" alt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E110C85-F069-101B-BA1E-A19B16B9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" y="4050577"/>
            <a:ext cx="2643762" cy="17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FCB9F7AA-CB5C-D1A6-F2C4-16416273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16" y="4050577"/>
            <a:ext cx="287998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产品路线可以理解为CPO2.0：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CPO1.0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把光模块盒子 + 铜缆换成贴在主板边缘的光引擎 + 短光纤，主板→主板不再经过机框外面；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CPO2.0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直接把光收发器做成小芯粒(Chiplet)，贴在 GPU/CPU 封装里，电信号不出封装就变成光——等于把 SerDes 整块功能连同功耗一起拿掉，实现了芯片间的光互连；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F37CDAF-157A-535F-4220-E3ACA86B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644" y="3494480"/>
            <a:ext cx="5849613" cy="74676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工程落地进度：公司当前整体在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</a:rPr>
              <a:t>poc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——&gt;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量产之间，目前均以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demo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和样品形式呈现；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185FB8-D30C-2CE5-F5A5-4CE4190C847F}"/>
              </a:ext>
            </a:extLst>
          </p:cNvPr>
          <p:cNvSpPr txBox="1"/>
          <p:nvPr/>
        </p:nvSpPr>
        <p:spPr>
          <a:xfrm>
            <a:off x="6151275" y="1749556"/>
            <a:ext cx="5934045" cy="17902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6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技术路线押注：方向坚定但节奏不符合预期</a:t>
            </a:r>
            <a:endParaRPr lang="en-US" altLang="zh-CN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从2020年公司b轮融资的bp来看，公司押注的是25～29年所有短距离互连会光主导，而目前看来，这个预期在2～3年内实现的可能性都不大，一方面因为cpo的工程化稳定性也还在路上，一方面以Nvidia为代表的头部芯片厂商在短距离互连上还在进一步压榨铜的极限；</a:t>
            </a:r>
            <a:endParaRPr lang="en-US" altLang="zh-CN" sz="1600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但公司20年可见bp的技术路线与现在一致；</a:t>
            </a:r>
          </a:p>
          <a:p>
            <a:endParaRPr lang="zh-CN" altLang="zh-CN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A30E51-9CB0-28D4-D6B5-3278E06613F5}"/>
              </a:ext>
            </a:extLst>
          </p:cNvPr>
          <p:cNvSpPr/>
          <p:nvPr/>
        </p:nvSpPr>
        <p:spPr>
          <a:xfrm>
            <a:off x="6654170" y="4378627"/>
            <a:ext cx="4511670" cy="201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纵向时间轴图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45D1E0-B128-465D-7CED-F557609544FF}"/>
              </a:ext>
            </a:extLst>
          </p:cNvPr>
          <p:cNvSpPr/>
          <p:nvPr/>
        </p:nvSpPr>
        <p:spPr>
          <a:xfrm>
            <a:off x="12394570" y="3758007"/>
            <a:ext cx="4511670" cy="48594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2024-12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的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1.55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亿美金注资足以支撑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18-24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个月产线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CapEx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CEO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在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2024-10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公开表示 过去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个月已小批量出货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15 k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颗芯粒；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月，公司发布了全球首款符合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标准的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TeraPHY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光互连小芯片，搭载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16 λ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SuperNova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光源，单芯片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、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pJ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/bit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级能耗，可直接嵌入客户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SoC / GPU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封装，通过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电接口实现即插即用；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公司预计于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26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年首批高量产客户（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AI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加速卡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交换机）上机，但这极大程度取决于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月发布的产品的稳定性和实际需求；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A10068-256A-B8FE-29AD-0FD76AAE18EC}"/>
              </a:ext>
            </a:extLst>
          </p:cNvPr>
          <p:cNvSpPr/>
          <p:nvPr/>
        </p:nvSpPr>
        <p:spPr>
          <a:xfrm>
            <a:off x="352449" y="2360430"/>
            <a:ext cx="1115341" cy="1001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横向时间轴图</a:t>
            </a:r>
            <a:endParaRPr lang="en-US" altLang="zh-CN" sz="1200" dirty="0"/>
          </a:p>
          <a:p>
            <a:pPr algn="ctr"/>
            <a:r>
              <a:rPr lang="zh-CN" altLang="en-US" sz="1200" dirty="0"/>
              <a:t>成立与融资节点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68524-58E6-FB9E-8D39-2564C3640C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F6568-DD35-43D8-EC6D-47F9FD78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LightMatter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0110E-F2B4-3878-5893-F6407ACC4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FF2EA-83CA-1A2C-1DAF-8B8509CAD3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F493FB-5570-0734-338E-E98A660BF4AB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804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4643-937D-ED64-DE14-63E1BB13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E87FD-754D-73A2-30D8-A64ADAAD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Celestial AI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7D0E27-86A0-12C1-061D-7D468275F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95C4A-78D8-A7E6-D1C5-D91C4D46B9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A0837F-64D3-7552-2B3A-BE1D76BB800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28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9D2D0-2FC5-0520-DDDC-CCA38D02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OIO</a:t>
            </a:r>
            <a:r>
              <a:rPr lang="zh-CN" altLang="en-US" dirty="0"/>
              <a:t>打开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0E2E08-ADF5-5CB2-7FD0-24971A380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17DA1-0165-DF5B-3425-D31F19A327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892552"/>
          </a:xfrm>
          <a:solidFill>
            <a:srgbClr val="FFFF00"/>
          </a:solidFill>
        </p:spPr>
        <p:txBody>
          <a:bodyPr/>
          <a:lstStyle/>
          <a:p>
            <a:r>
              <a:rPr lang="zh-CN" altLang="en-US" dirty="0"/>
              <a:t>中短期 </a:t>
            </a:r>
            <a:r>
              <a:rPr lang="en-US" altLang="zh-CN" dirty="0"/>
              <a:t>vs </a:t>
            </a:r>
            <a:r>
              <a:rPr lang="zh-CN" altLang="en-US" dirty="0"/>
              <a:t>长期</a:t>
            </a:r>
            <a:endParaRPr lang="en-US" altLang="zh-CN" dirty="0"/>
          </a:p>
          <a:p>
            <a:r>
              <a:rPr lang="zh-CN" altLang="en-US" dirty="0"/>
              <a:t>卡点多，落地难，</a:t>
            </a:r>
            <a:r>
              <a:rPr lang="en-US" altLang="zh-CN" dirty="0"/>
              <a:t>R&amp;D</a:t>
            </a:r>
            <a:r>
              <a:rPr lang="zh-CN" altLang="en-US" dirty="0"/>
              <a:t>阶段</a:t>
            </a:r>
            <a:endParaRPr lang="en-US" altLang="zh-CN" dirty="0"/>
          </a:p>
          <a:p>
            <a:r>
              <a:rPr lang="zh-CN" altLang="en-US" dirty="0"/>
              <a:t>哪些卡点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附录：产业和公司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5.44670463519000058739E+00&quot;&gt;&lt;m_msothmcolidx val=&quot;0&quot;/&gt;&lt;m_rgb r=&quot;00&quot; g=&quot;52&quot; b=&quot;D9&quot;/&gt;&lt;/elem&gt;&lt;elem m_fUsage=&quot;1.00000000000000000000E+00&quot;&gt;&lt;m_msothmcolidx val=&quot;0&quot;/&gt;&lt;m_rgb r=&quot;C1&quot; g=&quot;E1&quot; b=&quot;FE&quot;/&gt;&lt;/elem&gt;&lt;elem m_fUsage=&quot;7.29000000000000092371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5AA_GQsT6Kn3YfzuL4an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.OhRqvFvMJL9RynG2xk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NluZqToqe35fQBvA6BK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Yt7NfugCFKW2.irbeZ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6WcRf9gIal7AYKO_ANO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cRKw0NTYSOY3En1sv2F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mJc6OFZxjlxDa22nJTN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kGGkpGyX3zqTDbZFO1H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7vcRjRhv21w2GrRUZ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XUlU7F1wqk7WnYe6UUt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P551702_xlc0hkrtLJse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NLfzNzoXzkY5oewmLJA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ClDFXNPLSQUWl..7pae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N_TP8VnZrc5igvnghXE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b3zGB8ztJEV31tLIfg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17083</TotalTime>
  <Words>3221</Words>
  <Application>Microsoft Office PowerPoint</Application>
  <PresentationFormat>宽屏</PresentationFormat>
  <Paragraphs>535</Paragraphs>
  <Slides>20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IDC快速扩张带来互连速率、能耗、距离难题</vt:lpstr>
      <vt:lpstr>互连难题驱动技术变迁：铜互连、可插拔光模块、CPO、OIO</vt:lpstr>
      <vt:lpstr>光互连解决铜互连速率问题，CPO解决可插拔光模块能耗问题</vt:lpstr>
      <vt:lpstr>光互连技术路径：可插拔仍为主流，巨头将商业落地 CPO，OIO初创处于技术验证期</vt:lpstr>
      <vt:lpstr>PowerPoint 演示文稿</vt:lpstr>
      <vt:lpstr>IDC互连分为 Scale Up与 Scale Out，光互连在 Scale Out优先适配</vt:lpstr>
      <vt:lpstr>巨头并行布局 Scale Out与 Scale Up，CPO落地1-2年内看Scale Out</vt:lpstr>
      <vt:lpstr>PowerPoint 演示文稿</vt:lpstr>
      <vt:lpstr>互连技术范式变革带来新的市场机会</vt:lpstr>
      <vt:lpstr>CPO信号传输核心环节为光电信号传输与转换</vt:lpstr>
      <vt:lpstr>产业链：集成交付环节高价值，光、电信号中枢中等价值，各环节头部初创值得关注</vt:lpstr>
      <vt:lpstr>ficonTEC：德国老牌光子装配测试龙头，中企收购卡位国产替代</vt:lpstr>
      <vt:lpstr>AyarLabs1：</vt:lpstr>
      <vt:lpstr>LightMatter</vt:lpstr>
      <vt:lpstr>Celestial AI</vt:lpstr>
      <vt:lpstr>OIO打开</vt:lpstr>
      <vt:lpstr>总结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1683</cp:revision>
  <dcterms:created xsi:type="dcterms:W3CDTF">2025-06-16T21:28:33Z</dcterms:created>
  <dcterms:modified xsi:type="dcterms:W3CDTF">2025-08-26T12:15:11Z</dcterms:modified>
</cp:coreProperties>
</file>