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7.xml" ContentType="application/vnd.openxmlformats-officedocument.presentationml.notesSlide+xml"/>
  <Override PartName="/ppt/tags/tag119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20.xml" ContentType="application/vnd.openxmlformats-officedocument.presentationml.tags+xml"/>
  <Override PartName="/ppt/notesSlides/notesSlide19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58.xml" ContentType="application/vnd.openxmlformats-officedocument.presentationml.tags+xml"/>
  <Override PartName="/ppt/notesSlides/notesSlide21.xml" ContentType="application/vnd.openxmlformats-officedocument.presentationml.notesSlide+xml"/>
  <Override PartName="/ppt/tags/tag159.xml" ContentType="application/vnd.openxmlformats-officedocument.presentationml.tags+xml"/>
  <Override PartName="/ppt/notesSlides/notesSlide22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23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24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85.xml" ContentType="application/vnd.openxmlformats-officedocument.presentationml.tags+xml"/>
  <Override PartName="/ppt/notesSlides/notesSlide25.xml" ContentType="application/vnd.openxmlformats-officedocument.presentationml.notesSlide+xml"/>
  <Override PartName="/ppt/tags/tag186.xml" ContentType="application/vnd.openxmlformats-officedocument.presentationml.tags+xml"/>
  <Override PartName="/ppt/notesSlides/notesSlide26.xml" ContentType="application/vnd.openxmlformats-officedocument.presentationml.notesSlide+xml"/>
  <Override PartName="/ppt/tags/tag1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344" r:id="rId16"/>
    <p:sldId id="370" r:id="rId17"/>
    <p:sldId id="372" r:id="rId18"/>
    <p:sldId id="2147473084" r:id="rId19"/>
    <p:sldId id="327" r:id="rId20"/>
    <p:sldId id="331" r:id="rId21"/>
    <p:sldId id="283" r:id="rId22"/>
    <p:sldId id="364" r:id="rId23"/>
    <p:sldId id="326" r:id="rId24"/>
    <p:sldId id="315" r:id="rId25"/>
    <p:sldId id="367" r:id="rId26"/>
    <p:sldId id="339" r:id="rId27"/>
    <p:sldId id="363" r:id="rId28"/>
    <p:sldId id="2147473077" r:id="rId29"/>
    <p:sldId id="341" r:id="rId30"/>
    <p:sldId id="322" r:id="rId31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15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2" autoAdjust="0"/>
    <p:restoredTop sz="94392" autoAdjust="0"/>
  </p:normalViewPr>
  <p:slideViewPr>
    <p:cSldViewPr snapToGrid="0">
      <p:cViewPr varScale="1">
        <p:scale>
          <a:sx n="161" d="100"/>
          <a:sy n="16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'P5 铜到光'!$J$2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35-4111-8788-A0F2F6D5ECF1}"/>
            </c:ext>
          </c:extLst>
        </c:ser>
        <c:ser>
          <c:idx val="1"/>
          <c:order val="1"/>
          <c:tx>
            <c:strRef>
              <c:f>'P5 铜到光'!$J$3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35-4111-8788-A0F2F6D5ECF1}"/>
            </c:ext>
          </c:extLst>
        </c:ser>
        <c:ser>
          <c:idx val="2"/>
          <c:order val="2"/>
          <c:tx>
            <c:strRef>
              <c:f>'P5 铜到光'!$J$4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铜到光'!$K$4:$O$4</c:f>
              <c:numCache>
                <c:formatCode>General</c:formatCode>
                <c:ptCount val="5"/>
                <c:pt idx="2">
                  <c:v>620</c:v>
                </c:pt>
                <c:pt idx="3">
                  <c:v>930</c:v>
                </c:pt>
                <c:pt idx="4">
                  <c:v>1860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5-4111-8788-A0F2F6D5EC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869239013933547E-2"/>
          <c:y val="5.2504038772213248E-2"/>
          <c:w val="0.90219721329046088"/>
          <c:h val="0.8949919224555734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24.657534246575342</c:v>
                </c:pt>
                <c:pt idx="1">
                  <c:v>25.531914893617021</c:v>
                </c:pt>
                <c:pt idx="2">
                  <c:v>27.900000000000002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B-4AEF-9E62-8AD8F62CE161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13.698630136986299</c:v>
                </c:pt>
                <c:pt idx="1">
                  <c:v>15.957446808510639</c:v>
                </c:pt>
                <c:pt idx="2">
                  <c:v>17.099999999999998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5B-4AEF-9E62-8AD8F62CE1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215962767"/>
        <c:axId val="1"/>
      </c:barChart>
      <c:catAx>
        <c:axId val="2159627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5962767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Sheet1!$B$1:$B$10</c:f>
              <c:numCache>
                <c:formatCode>General</c:formatCode>
                <c:ptCount val="10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FF-4387-AFC0-C7BC08F9C9B4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Sheet1!$C$1:$C$10</c:f>
              <c:numCache>
                <c:formatCode>General</c:formatCode>
                <c:ptCount val="10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2FF-4387-AFC0-C7BC08F9C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1273647"/>
        <c:axId val="1"/>
      </c:scatterChart>
      <c:valAx>
        <c:axId val="41127364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127364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12155757974144671"/>
                  <c:y val="-0.19465442130834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248825578903519"/>
                      <c:h val="0.181687383811370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7.701240756926743E-2"/>
                  <c:y val="0.174784340735626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9.774977328017645E-3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Ficontec!$F$8:$H$8</c:f>
              <c:numCache>
                <c:formatCode>_(* #,##0.00_);_(* \(#,##0.00\);_(* "-"??_);_(@_)</c:formatCode>
                <c:ptCount val="3"/>
                <c:pt idx="0">
                  <c:v>2.87</c:v>
                </c:pt>
                <c:pt idx="1">
                  <c:v>3.8243999999999998</c:v>
                </c:pt>
                <c:pt idx="2">
                  <c:v>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1-47D7-8A8A-519DA28A7FF9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770528184642702E-3"/>
                  <c:y val="0.115741105278506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91-47D7-8A8A-519DA28A7FF9}"/>
                </c:ext>
              </c:extLst>
            </c:dLbl>
            <c:dLbl>
              <c:idx val="1"/>
              <c:layout>
                <c:manualLayout>
                  <c:x val="8.8770528184642702E-3"/>
                  <c:y val="4.62962962962954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91-47D7-8A8A-519DA28A7FF9}"/>
                </c:ext>
              </c:extLst>
            </c:dLbl>
            <c:dLbl>
              <c:idx val="2"/>
              <c:layout>
                <c:manualLayout>
                  <c:x val="2.8850421660008879E-2"/>
                  <c:y val="0.143519612131816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Ficontec!$F$10:$H$10</c:f>
              <c:numCache>
                <c:formatCode>_(* #,##0.00_);_(* \(#,##0.00\);_(* "-"??_);_(@_)</c:formatCode>
                <c:ptCount val="3"/>
                <c:pt idx="0">
                  <c:v>-6.3E-3</c:v>
                </c:pt>
                <c:pt idx="1">
                  <c:v>0.28999999999999998</c:v>
                </c:pt>
                <c:pt idx="2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1543653644074988E-2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91-47D7-8A8A-519DA28A7FF9}"/>
                </c:ext>
              </c:extLst>
            </c:dLbl>
            <c:dLbl>
              <c:idx val="1"/>
              <c:layout>
                <c:manualLayout>
                  <c:x val="3.1768676316057252E-2"/>
                  <c:y val="-3.8814708159578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Ficontec!$F$9:$H$9</c:f>
              <c:numCache>
                <c:formatCode>0.0%</c:formatCode>
                <c:ptCount val="3"/>
                <c:pt idx="0">
                  <c:v>0.4163</c:v>
                </c:pt>
                <c:pt idx="1">
                  <c:v>0.41620000000000001</c:v>
                </c:pt>
                <c:pt idx="2">
                  <c:v>0.401980198019802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52858637036635"/>
          <c:w val="1"/>
          <c:h val="0.178837664189950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Scale up</a:t>
            </a:r>
            <a:r>
              <a:rPr lang="zh-CN" altLang="en-US" dirty="0"/>
              <a:t>以后从铜转光的重要原因：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60%</a:t>
            </a:r>
            <a:r>
              <a:rPr lang="zh-CN" altLang="en-US" dirty="0"/>
              <a:t>以上（份额预计长期保持）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</a:t>
            </a:r>
          </a:p>
          <a:p>
            <a:r>
              <a:rPr lang="en-US" altLang="zh-CN" dirty="0"/>
              <a:t>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ASIC 43%</a:t>
            </a:r>
            <a:r>
              <a:rPr lang="zh-CN" altLang="en-US" dirty="0"/>
              <a:t>的</a:t>
            </a:r>
            <a:r>
              <a:rPr lang="en-US" altLang="zh-CN" dirty="0"/>
              <a:t>share</a:t>
            </a:r>
            <a:r>
              <a:rPr lang="zh-CN" altLang="en-US" dirty="0"/>
              <a:t>在</a:t>
            </a:r>
            <a:r>
              <a:rPr lang="en-US" altLang="zh-CN" dirty="0"/>
              <a:t>26</a:t>
            </a:r>
            <a:r>
              <a:rPr lang="zh-CN" altLang="en-US" dirty="0"/>
              <a:t>年比较</a:t>
            </a:r>
            <a:r>
              <a:rPr lang="en-US" altLang="zh-CN" dirty="0"/>
              <a:t>fair</a:t>
            </a:r>
          </a:p>
          <a:p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计算卡出货量（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2025E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ASIC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博通：通过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5.png"/><Relationship Id="rId42" Type="http://schemas.microsoft.com/office/2007/relationships/hdphoto" Target="../media/hdphoto18.wdp"/><Relationship Id="rId47" Type="http://schemas.openxmlformats.org/officeDocument/2006/relationships/image" Target="../media/image71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2.png"/><Relationship Id="rId11" Type="http://schemas.microsoft.com/office/2007/relationships/hdphoto" Target="../media/hdphoto9.wdp"/><Relationship Id="rId32" Type="http://schemas.openxmlformats.org/officeDocument/2006/relationships/image" Target="../media/image62.png"/><Relationship Id="rId37" Type="http://schemas.openxmlformats.org/officeDocument/2006/relationships/image" Target="../media/image66.png"/><Relationship Id="rId53" Type="http://schemas.openxmlformats.org/officeDocument/2006/relationships/image" Target="../media/image73.png"/><Relationship Id="rId58" Type="http://schemas.openxmlformats.org/officeDocument/2006/relationships/image" Target="../media/image76.png"/><Relationship Id="rId74" Type="http://schemas.microsoft.com/office/2007/relationships/hdphoto" Target="../media/hdphoto31.wdp"/><Relationship Id="rId79" Type="http://schemas.openxmlformats.org/officeDocument/2006/relationships/image" Target="../media/image87.png"/><Relationship Id="rId5" Type="http://schemas.openxmlformats.org/officeDocument/2006/relationships/image" Target="../media/image46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1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Relationship Id="rId30" Type="http://schemas.openxmlformats.org/officeDocument/2006/relationships/image" Target="../media/image61.png"/><Relationship Id="rId35" Type="http://schemas.openxmlformats.org/officeDocument/2006/relationships/image" Target="../media/image64.png"/><Relationship Id="rId43" Type="http://schemas.openxmlformats.org/officeDocument/2006/relationships/image" Target="../media/image69.png"/><Relationship Id="rId48" Type="http://schemas.microsoft.com/office/2007/relationships/hdphoto" Target="../media/hdphoto21.wdp"/><Relationship Id="rId56" Type="http://schemas.openxmlformats.org/officeDocument/2006/relationships/image" Target="../media/image75.png"/><Relationship Id="rId64" Type="http://schemas.openxmlformats.org/officeDocument/2006/relationships/image" Target="../media/image79.png"/><Relationship Id="rId69" Type="http://schemas.openxmlformats.org/officeDocument/2006/relationships/image" Target="../media/image81.png"/><Relationship Id="rId77" Type="http://schemas.openxmlformats.org/officeDocument/2006/relationships/image" Target="../media/image86.png"/><Relationship Id="rId8" Type="http://schemas.openxmlformats.org/officeDocument/2006/relationships/image" Target="../media/image48.png"/><Relationship Id="rId51" Type="http://schemas.openxmlformats.org/officeDocument/2006/relationships/image" Target="../media/image72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6.bin"/><Relationship Id="rId12" Type="http://schemas.openxmlformats.org/officeDocument/2006/relationships/image" Target="../media/image50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67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4.png"/><Relationship Id="rId41" Type="http://schemas.openxmlformats.org/officeDocument/2006/relationships/image" Target="../media/image68.png"/><Relationship Id="rId54" Type="http://schemas.openxmlformats.org/officeDocument/2006/relationships/image" Target="../media/image74.png"/><Relationship Id="rId62" Type="http://schemas.openxmlformats.org/officeDocument/2006/relationships/image" Target="../media/image78.png"/><Relationship Id="rId70" Type="http://schemas.openxmlformats.org/officeDocument/2006/relationships/image" Target="../media/image82.png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1" Type="http://schemas.openxmlformats.org/officeDocument/2006/relationships/tags" Target="../tags/tag72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5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49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77.png"/><Relationship Id="rId65" Type="http://schemas.microsoft.com/office/2007/relationships/hdphoto" Target="../media/hdphoto28.wdp"/><Relationship Id="rId73" Type="http://schemas.openxmlformats.org/officeDocument/2006/relationships/image" Target="../media/image84.png"/><Relationship Id="rId78" Type="http://schemas.microsoft.com/office/2007/relationships/hdphoto" Target="../media/hdphoto33.wdp"/><Relationship Id="rId81" Type="http://schemas.openxmlformats.org/officeDocument/2006/relationships/image" Target="../media/image88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3.png"/><Relationship Id="rId39" Type="http://schemas.microsoft.com/office/2007/relationships/hdphoto" Target="../media/hdphoto17.wdp"/><Relationship Id="rId34" Type="http://schemas.openxmlformats.org/officeDocument/2006/relationships/image" Target="../media/image63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47.png"/><Relationship Id="rId71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0.png"/><Relationship Id="rId24" Type="http://schemas.openxmlformats.org/officeDocument/2006/relationships/image" Target="../media/image57.png"/><Relationship Id="rId40" Type="http://schemas.openxmlformats.org/officeDocument/2006/relationships/image" Target="../media/image35.png"/><Relationship Id="rId45" Type="http://schemas.openxmlformats.org/officeDocument/2006/relationships/image" Target="../media/image70.png"/><Relationship Id="rId66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image" Target="../media/image18.emf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oleObject" Target="../embeddings/oleObject17.bin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77.xml"/><Relationship Id="rId15" Type="http://schemas.openxmlformats.org/officeDocument/2006/relationships/image" Target="../media/image23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26" Type="http://schemas.openxmlformats.org/officeDocument/2006/relationships/tags" Target="../tags/tag107.xml"/><Relationship Id="rId3" Type="http://schemas.openxmlformats.org/officeDocument/2006/relationships/tags" Target="../tags/tag84.xml"/><Relationship Id="rId21" Type="http://schemas.openxmlformats.org/officeDocument/2006/relationships/tags" Target="../tags/tag102.xml"/><Relationship Id="rId34" Type="http://schemas.openxmlformats.org/officeDocument/2006/relationships/image" Target="../media/image18.emf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tags" Target="../tags/tag106.xml"/><Relationship Id="rId33" Type="http://schemas.openxmlformats.org/officeDocument/2006/relationships/oleObject" Target="../embeddings/oleObject18.bin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0" Type="http://schemas.openxmlformats.org/officeDocument/2006/relationships/tags" Target="../tags/tag101.xml"/><Relationship Id="rId29" Type="http://schemas.openxmlformats.org/officeDocument/2006/relationships/tags" Target="../tags/tag110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24" Type="http://schemas.openxmlformats.org/officeDocument/2006/relationships/tags" Target="../tags/tag105.xml"/><Relationship Id="rId32" Type="http://schemas.openxmlformats.org/officeDocument/2006/relationships/notesSlide" Target="../notesSlides/notesSlide16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28" Type="http://schemas.openxmlformats.org/officeDocument/2006/relationships/tags" Target="../tags/tag109.xml"/><Relationship Id="rId10" Type="http://schemas.openxmlformats.org/officeDocument/2006/relationships/tags" Target="../tags/tag91.xml"/><Relationship Id="rId19" Type="http://schemas.openxmlformats.org/officeDocument/2006/relationships/tags" Target="../tags/tag100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Relationship Id="rId22" Type="http://schemas.openxmlformats.org/officeDocument/2006/relationships/tags" Target="../tags/tag103.xml"/><Relationship Id="rId27" Type="http://schemas.openxmlformats.org/officeDocument/2006/relationships/tags" Target="../tags/tag108.xml"/><Relationship Id="rId30" Type="http://schemas.openxmlformats.org/officeDocument/2006/relationships/tags" Target="../tags/tag111.xml"/><Relationship Id="rId35" Type="http://schemas.openxmlformats.org/officeDocument/2006/relationships/chart" Target="../charts/chart7.xml"/><Relationship Id="rId8" Type="http://schemas.openxmlformats.org/officeDocument/2006/relationships/tags" Target="../tags/tag8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tags" Target="../tags/tag114.xml"/><Relationship Id="rId21" Type="http://schemas.openxmlformats.org/officeDocument/2006/relationships/image" Target="../media/image97.png"/><Relationship Id="rId7" Type="http://schemas.openxmlformats.org/officeDocument/2006/relationships/tags" Target="../tags/tag118.xml"/><Relationship Id="rId12" Type="http://schemas.openxmlformats.org/officeDocument/2006/relationships/image" Target="../media/image47.png"/><Relationship Id="rId17" Type="http://schemas.openxmlformats.org/officeDocument/2006/relationships/image" Target="../media/image94.png"/><Relationship Id="rId25" Type="http://schemas.openxmlformats.org/officeDocument/2006/relationships/image" Target="../media/image100.png"/><Relationship Id="rId2" Type="http://schemas.openxmlformats.org/officeDocument/2006/relationships/tags" Target="../tags/tag113.xml"/><Relationship Id="rId16" Type="http://schemas.openxmlformats.org/officeDocument/2006/relationships/image" Target="../media/image93.jpeg"/><Relationship Id="rId20" Type="http://schemas.openxmlformats.org/officeDocument/2006/relationships/image" Target="../media/image50.png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image" Target="../media/image18.emf"/><Relationship Id="rId24" Type="http://schemas.openxmlformats.org/officeDocument/2006/relationships/image" Target="../media/image99.png"/><Relationship Id="rId5" Type="http://schemas.openxmlformats.org/officeDocument/2006/relationships/tags" Target="../tags/tag116.xml"/><Relationship Id="rId15" Type="http://schemas.openxmlformats.org/officeDocument/2006/relationships/image" Target="../media/image92.png"/><Relationship Id="rId23" Type="http://schemas.microsoft.com/office/2007/relationships/hdphoto" Target="../media/hdphoto36.wdp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96.png"/><Relationship Id="rId4" Type="http://schemas.openxmlformats.org/officeDocument/2006/relationships/tags" Target="../tags/tag115.xml"/><Relationship Id="rId9" Type="http://schemas.openxmlformats.org/officeDocument/2006/relationships/notesSlide" Target="../notesSlides/notesSlide17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9.wdp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01.png"/><Relationship Id="rId12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Relationship Id="rId6" Type="http://schemas.openxmlformats.org/officeDocument/2006/relationships/chart" Target="../charts/chart8.xml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66.png"/><Relationship Id="rId14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5" Type="http://schemas.openxmlformats.org/officeDocument/2006/relationships/image" Target="../media/image18.emf"/><Relationship Id="rId10" Type="http://schemas.openxmlformats.org/officeDocument/2006/relationships/image" Target="../media/image107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10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26" Type="http://schemas.openxmlformats.org/officeDocument/2006/relationships/tags" Target="../tags/tag146.xml"/><Relationship Id="rId39" Type="http://schemas.openxmlformats.org/officeDocument/2006/relationships/notesSlide" Target="../notesSlides/notesSlide20.xml"/><Relationship Id="rId21" Type="http://schemas.openxmlformats.org/officeDocument/2006/relationships/tags" Target="../tags/tag141.xml"/><Relationship Id="rId34" Type="http://schemas.openxmlformats.org/officeDocument/2006/relationships/tags" Target="../tags/tag154.xml"/><Relationship Id="rId42" Type="http://schemas.openxmlformats.org/officeDocument/2006/relationships/chart" Target="../charts/chart10.xml"/><Relationship Id="rId47" Type="http://schemas.openxmlformats.org/officeDocument/2006/relationships/chart" Target="../charts/chart13.xml"/><Relationship Id="rId7" Type="http://schemas.openxmlformats.org/officeDocument/2006/relationships/tags" Target="../tags/tag12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29" Type="http://schemas.openxmlformats.org/officeDocument/2006/relationships/tags" Target="../tags/tag149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24" Type="http://schemas.openxmlformats.org/officeDocument/2006/relationships/tags" Target="../tags/tag144.xml"/><Relationship Id="rId32" Type="http://schemas.openxmlformats.org/officeDocument/2006/relationships/tags" Target="../tags/tag152.xml"/><Relationship Id="rId37" Type="http://schemas.openxmlformats.org/officeDocument/2006/relationships/tags" Target="../tags/tag157.xml"/><Relationship Id="rId40" Type="http://schemas.openxmlformats.org/officeDocument/2006/relationships/oleObject" Target="../embeddings/oleObject22.bin"/><Relationship Id="rId45" Type="http://schemas.openxmlformats.org/officeDocument/2006/relationships/image" Target="../media/image110.png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23" Type="http://schemas.openxmlformats.org/officeDocument/2006/relationships/tags" Target="../tags/tag143.xml"/><Relationship Id="rId28" Type="http://schemas.openxmlformats.org/officeDocument/2006/relationships/tags" Target="../tags/tag148.xml"/><Relationship Id="rId36" Type="http://schemas.openxmlformats.org/officeDocument/2006/relationships/tags" Target="../tags/tag156.xml"/><Relationship Id="rId10" Type="http://schemas.openxmlformats.org/officeDocument/2006/relationships/tags" Target="../tags/tag130.xml"/><Relationship Id="rId19" Type="http://schemas.openxmlformats.org/officeDocument/2006/relationships/tags" Target="../tags/tag139.xml"/><Relationship Id="rId31" Type="http://schemas.openxmlformats.org/officeDocument/2006/relationships/tags" Target="../tags/tag151.xml"/><Relationship Id="rId44" Type="http://schemas.openxmlformats.org/officeDocument/2006/relationships/chart" Target="../charts/chart12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Relationship Id="rId22" Type="http://schemas.openxmlformats.org/officeDocument/2006/relationships/tags" Target="../tags/tag142.xml"/><Relationship Id="rId27" Type="http://schemas.openxmlformats.org/officeDocument/2006/relationships/tags" Target="../tags/tag147.xml"/><Relationship Id="rId30" Type="http://schemas.openxmlformats.org/officeDocument/2006/relationships/tags" Target="../tags/tag150.xml"/><Relationship Id="rId35" Type="http://schemas.openxmlformats.org/officeDocument/2006/relationships/tags" Target="../tags/tag155.xml"/><Relationship Id="rId43" Type="http://schemas.openxmlformats.org/officeDocument/2006/relationships/chart" Target="../charts/chart11.xml"/><Relationship Id="rId8" Type="http://schemas.openxmlformats.org/officeDocument/2006/relationships/tags" Target="../tags/tag128.xml"/><Relationship Id="rId3" Type="http://schemas.openxmlformats.org/officeDocument/2006/relationships/tags" Target="../tags/tag123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5" Type="http://schemas.openxmlformats.org/officeDocument/2006/relationships/tags" Target="../tags/tag145.xml"/><Relationship Id="rId33" Type="http://schemas.openxmlformats.org/officeDocument/2006/relationships/tags" Target="../tags/tag153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40.xml"/><Relationship Id="rId41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notesSlide" Target="../notesSlides/notesSlide21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Relationship Id="rId6" Type="http://schemas.openxmlformats.org/officeDocument/2006/relationships/image" Target="../media/image111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6.png"/><Relationship Id="rId12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98.png"/><Relationship Id="rId26" Type="http://schemas.openxmlformats.org/officeDocument/2006/relationships/image" Target="../media/image71.png"/><Relationship Id="rId3" Type="http://schemas.openxmlformats.org/officeDocument/2006/relationships/tags" Target="../tags/tag162.xml"/><Relationship Id="rId21" Type="http://schemas.microsoft.com/office/2007/relationships/hdphoto" Target="../media/hdphoto40.wdp"/><Relationship Id="rId7" Type="http://schemas.openxmlformats.org/officeDocument/2006/relationships/image" Target="../media/image66.png"/><Relationship Id="rId12" Type="http://schemas.openxmlformats.org/officeDocument/2006/relationships/image" Target="../media/image50.png"/><Relationship Id="rId17" Type="http://schemas.openxmlformats.org/officeDocument/2006/relationships/image" Target="../media/image35.png"/><Relationship Id="rId25" Type="http://schemas.openxmlformats.org/officeDocument/2006/relationships/image" Target="../media/image120.png"/><Relationship Id="rId2" Type="http://schemas.openxmlformats.org/officeDocument/2006/relationships/tags" Target="../tags/tag161.xml"/><Relationship Id="rId16" Type="http://schemas.microsoft.com/office/2007/relationships/hdphoto" Target="../media/hdphoto19.wdp"/><Relationship Id="rId20" Type="http://schemas.openxmlformats.org/officeDocument/2006/relationships/image" Target="../media/image119.png"/><Relationship Id="rId1" Type="http://schemas.openxmlformats.org/officeDocument/2006/relationships/tags" Target="../tags/tag160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69.png"/><Relationship Id="rId23" Type="http://schemas.microsoft.com/office/2007/relationships/hdphoto" Target="../media/hdphoto32.wdp"/><Relationship Id="rId10" Type="http://schemas.openxmlformats.org/officeDocument/2006/relationships/image" Target="../media/image81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8.png"/><Relationship Id="rId14" Type="http://schemas.microsoft.com/office/2007/relationships/hdphoto" Target="../media/hdphoto18.wdp"/><Relationship Id="rId22" Type="http://schemas.openxmlformats.org/officeDocument/2006/relationships/image" Target="../media/image85.png"/><Relationship Id="rId27" Type="http://schemas.microsoft.com/office/2007/relationships/hdphoto" Target="../media/hdphoto21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22.png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Relationship Id="rId6" Type="http://schemas.openxmlformats.org/officeDocument/2006/relationships/image" Target="../media/image121.png"/><Relationship Id="rId11" Type="http://schemas.openxmlformats.org/officeDocument/2006/relationships/image" Target="../media/image124.png"/><Relationship Id="rId5" Type="http://schemas.openxmlformats.org/officeDocument/2006/relationships/image" Target="../media/image8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26" Type="http://schemas.openxmlformats.org/officeDocument/2006/relationships/chart" Target="../charts/chart14.xml"/><Relationship Id="rId3" Type="http://schemas.openxmlformats.org/officeDocument/2006/relationships/tags" Target="../tags/tag166.xml"/><Relationship Id="rId21" Type="http://schemas.openxmlformats.org/officeDocument/2006/relationships/tags" Target="../tags/tag184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5" Type="http://schemas.openxmlformats.org/officeDocument/2006/relationships/image" Target="../media/image8.emf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20" Type="http://schemas.openxmlformats.org/officeDocument/2006/relationships/tags" Target="../tags/tag183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24" Type="http://schemas.openxmlformats.org/officeDocument/2006/relationships/oleObject" Target="../embeddings/oleObject27.bin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23" Type="http://schemas.openxmlformats.org/officeDocument/2006/relationships/notesSlide" Target="../notesSlides/notesSlide24.xml"/><Relationship Id="rId10" Type="http://schemas.openxmlformats.org/officeDocument/2006/relationships/tags" Target="../tags/tag173.xml"/><Relationship Id="rId19" Type="http://schemas.openxmlformats.org/officeDocument/2006/relationships/tags" Target="../tags/tag182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3.png"/><Relationship Id="rId12" Type="http://schemas.openxmlformats.org/officeDocument/2006/relationships/image" Target="../media/image118.png"/><Relationship Id="rId1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png"/><Relationship Id="rId1" Type="http://schemas.openxmlformats.org/officeDocument/2006/relationships/tags" Target="../tags/tag186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8.emf"/><Relationship Id="rId15" Type="http://schemas.openxmlformats.org/officeDocument/2006/relationships/image" Target="../media/image130.png"/><Relationship Id="rId10" Type="http://schemas.openxmlformats.org/officeDocument/2006/relationships/image" Target="../media/image66.png"/><Relationship Id="rId19" Type="http://schemas.openxmlformats.org/officeDocument/2006/relationships/image" Target="../media/image134.pn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4.png"/><Relationship Id="rId14" Type="http://schemas.openxmlformats.org/officeDocument/2006/relationships/image" Target="../media/image129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6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54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6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5.png"/><Relationship Id="rId61" Type="http://schemas.openxmlformats.org/officeDocument/2006/relationships/image" Target="../media/image53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1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66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7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0.bin"/><Relationship Id="rId12" Type="http://schemas.openxmlformats.org/officeDocument/2006/relationships/image" Target="../media/image126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0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187.xml"/><Relationship Id="rId6" Type="http://schemas.openxmlformats.org/officeDocument/2006/relationships/image" Target="../media/image136.png"/><Relationship Id="rId15" Type="http://schemas.openxmlformats.org/officeDocument/2006/relationships/image" Target="../media/image55.png"/><Relationship Id="rId23" Type="http://schemas.openxmlformats.org/officeDocument/2006/relationships/image" Target="../media/image82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58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6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8558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1738571"/>
            <a:ext cx="8960418" cy="2031325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 (CPO): an intro to AIDC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4281439" y="1296324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614233" y="1299724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 prioritize speed over power (not a constraint).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8569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9800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5733188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5986117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At the 2025 Optica Executive Forum held in March, Broadcom demonstrated power savings of CPO in full 64-port system tests.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3: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Consider GB200 NVL72 cluster with 9,216 B200 GPUs with 2-layer interconnect.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1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35005"/>
              </p:ext>
            </p:extLst>
          </p:nvPr>
        </p:nvGraphicFramePr>
        <p:xfrm>
          <a:off x="233588" y="192946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Optical interconnect is expected to surpass copper in transmission rate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45746"/>
              </p:ext>
            </p:extLst>
          </p:nvPr>
        </p:nvGraphicFramePr>
        <p:xfrm>
          <a:off x="6388302" y="217934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275762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2881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39439" y="5889478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 per card.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21221" y="137690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2208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67707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375240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E16986-4D40-A41A-E6B6-A05C05606FD1}"/>
              </a:ext>
            </a:extLst>
          </p:cNvPr>
          <p:cNvSpPr txBox="1"/>
          <p:nvPr/>
        </p:nvSpPr>
        <p:spPr>
          <a:xfrm>
            <a:off x="6319506" y="1164944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at 448Gbps vs </a:t>
            </a:r>
            <a:r>
              <a:rPr kumimoji="1"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at 224Gbps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932CE7E-7053-F560-8F79-599E34A7B976}"/>
              </a:ext>
            </a:extLst>
          </p:cNvPr>
          <p:cNvSpPr txBox="1"/>
          <p:nvPr/>
        </p:nvSpPr>
        <p:spPr>
          <a:xfrm>
            <a:off x="6165433" y="134167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2459047-D2F5-6A93-6043-F65FE093ABAC}"/>
              </a:ext>
            </a:extLst>
          </p:cNvPr>
          <p:cNvCxnSpPr>
            <a:cxnSpLocks/>
          </p:cNvCxnSpPr>
          <p:nvPr/>
        </p:nvCxnSpPr>
        <p:spPr>
          <a:xfrm>
            <a:off x="631950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C7B039-FE12-C778-F388-F1495DFAED31}"/>
              </a:ext>
            </a:extLst>
          </p:cNvPr>
          <p:cNvSpPr txBox="1"/>
          <p:nvPr/>
        </p:nvSpPr>
        <p:spPr>
          <a:xfrm>
            <a:off x="370058" y="1139544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Transmission rate growth lags compute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26374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35798" y="3329351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07539" y="4394955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3x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19531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198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06899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45218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07664" y="4511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289660" y="39285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44553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8462" y="46299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1800GB/s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57147" y="4922496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900GB/s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499968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600GB/s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61705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06654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50899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295631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43992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190753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707002-0D03-6E32-A47C-AAFABBC1C2F1}"/>
              </a:ext>
            </a:extLst>
          </p:cNvPr>
          <p:cNvSpPr txBox="1"/>
          <p:nvPr/>
        </p:nvSpPr>
        <p:spPr>
          <a:xfrm>
            <a:off x="1678408" y="5126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300GB/s</a:t>
            </a:r>
          </a:p>
        </p:txBody>
      </p:sp>
      <p:cxnSp>
        <p:nvCxnSpPr>
          <p:cNvPr id="43" name="直线连接符 38">
            <a:extLst>
              <a:ext uri="{FF2B5EF4-FFF2-40B4-BE49-F238E27FC236}">
                <a16:creationId xmlns:a16="http://schemas.microsoft.com/office/drawing/2014/main" id="{DAB85C9D-4D05-701D-D6C8-7FF0C32CBB64}"/>
              </a:ext>
            </a:extLst>
          </p:cNvPr>
          <p:cNvCxnSpPr>
            <a:cxnSpLocks/>
          </p:cNvCxnSpPr>
          <p:nvPr/>
        </p:nvCxnSpPr>
        <p:spPr>
          <a:xfrm>
            <a:off x="37282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TextBox 40">
            <a:extLst>
              <a:ext uri="{FF2B5EF4-FFF2-40B4-BE49-F238E27FC236}">
                <a16:creationId xmlns:a16="http://schemas.microsoft.com/office/drawing/2014/main" id="{B60BE343-79D9-0D53-8A84-AE008C14AF2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725172" y="3781358"/>
            <a:ext cx="2481256" cy="2000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CPC + LPO 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Co-Packaged Copper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Linear-drive Pluggable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CF3334-8686-B869-5F7A-13596D197ADD}"/>
              </a:ext>
            </a:extLst>
          </p:cNvPr>
          <p:cNvSpPr txBox="1"/>
          <p:nvPr/>
        </p:nvSpPr>
        <p:spPr>
          <a:xfrm>
            <a:off x="4625524" y="4265801"/>
            <a:ext cx="1398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1400" dirty="0">
                <a:ea typeface="Verdana" pitchFamily="34" charset="0"/>
              </a:rPr>
              <a:t>~10W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2874422" y="2027928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3767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91796" y="3527439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0039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7058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310076" y="3420791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2082044" y="2286658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396857" y="5391972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822345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415596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376583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33996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​~60%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(port-level)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73713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4893483" y="2286658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234352" y="2976270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219027" y="4894890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372953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485563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6944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6952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444998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685356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534272" y="2286658"/>
            <a:ext cx="245623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4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Side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view</a:t>
            </a: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75578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48976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46872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29542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550647" y="3254624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569834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631944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54142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990265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46075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530341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527137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771654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700035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377218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617576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66935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68800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42198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40094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22764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537340" y="5194062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485703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566494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47364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5019972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39297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462561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374163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255035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778353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322019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314893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538819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768981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571225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693230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69405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769702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698083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699332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470767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6393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324922" y="532486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326253" y="6232885"/>
            <a:ext cx="4141402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404547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422969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3249614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1286114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2006839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1287702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205049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2049702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584689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673589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673589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15241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415835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5154263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964485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921903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3984025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569758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236111" y="4253758"/>
            <a:ext cx="799571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4207589"/>
            <a:ext cx="475508" cy="314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485109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526980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526980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480018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537190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998756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5160345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5154262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411902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becomes mainstream, global giants are expected to gain even greater influence in the new value chain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can be categorized into scale-up and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723372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342030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959732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06517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099097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051564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711701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036369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711701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5647221" y="3825777"/>
            <a:ext cx="313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5" y="6287653"/>
            <a:ext cx="11497549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Sitrus Official Web Site.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Note 1: Sitrus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are two leading Chinese companies specializing in high-speed DSP chips and switch chips, respectively. 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713222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r>
              <a:rPr lang="en-US" altLang="zh-CN" sz="1400" baseline="30000" dirty="0"/>
              <a:t>1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495573" y="5064870"/>
            <a:ext cx="5122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Chip limitations drive longer-reach scale-up solutions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optical essential for scale-up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50815" y="5064870"/>
            <a:ext cx="385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Starting testing of optical in IDCs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still dominates in the short-term 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67583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7" y="3527875"/>
            <a:ext cx="10624673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7" y="4647822"/>
            <a:ext cx="106246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342030" y="3916683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Initial adoption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356839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Acceleration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75734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794952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​Optical interconnect adoption is prioritized in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02A4C-B64C-5B72-01E5-249A0DD391EE}"/>
              </a:ext>
            </a:extLst>
          </p:cNvPr>
          <p:cNvSpPr txBox="1"/>
          <p:nvPr/>
        </p:nvSpPr>
        <p:spPr>
          <a:xfrm>
            <a:off x="6396136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Aggressive push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532468" y="4150344"/>
            <a:ext cx="9841468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828011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1442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141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011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7708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4095911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753113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03719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747497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288484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01073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521286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764749" y="2840012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941151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players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5" name="直线连接符 30">
            <a:extLst>
              <a:ext uri="{FF2B5EF4-FFF2-40B4-BE49-F238E27FC236}">
                <a16:creationId xmlns:a16="http://schemas.microsoft.com/office/drawing/2014/main" id="{C94A70D6-4F6E-E7E0-3074-52D3CD4F5781}"/>
              </a:ext>
            </a:extLst>
          </p:cNvPr>
          <p:cNvCxnSpPr>
            <a:cxnSpLocks/>
          </p:cNvCxnSpPr>
          <p:nvPr/>
        </p:nvCxnSpPr>
        <p:spPr>
          <a:xfrm>
            <a:off x="1542305" y="2687148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6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1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105157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~$900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Rate 2x -&gt; price 2x;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2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3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476761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850697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279235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611089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3163729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082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Estimating the CPO market: driven by port growth and data rate scaling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308654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supply chain is in early stage, with most players in initial strategic development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60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77" name="Chart 3">
            <a:extLst>
              <a:ext uri="{FF2B5EF4-FFF2-40B4-BE49-F238E27FC236}">
                <a16:creationId xmlns:a16="http://schemas.microsoft.com/office/drawing/2014/main" id="{0660BF01-A0B9-0C16-613E-B99CAF9BF0D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9054829"/>
              </p:ext>
            </p:extLst>
          </p:nvPr>
        </p:nvGraphicFramePr>
        <p:xfrm>
          <a:off x="966788" y="2209800"/>
          <a:ext cx="5924550" cy="393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B11290-C5E8-00BB-FCCF-F66A1471E35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9475" y="59928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1E04587-2444-4732-96DC-933860662048}" type="datetime'2''''''''''''''0''''''''2''''''''''''''4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54E640D-9272-F000-B549-355CD09B77E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873500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704AF08-5A73-4172-8450-A64C7A53E8C5}" type="datetime'2''''''0''''''''''''''''2''''''''''5''''''''''''''''E'''">
              <a:rPr lang="en-US" altLang="en-US" sz="1400" smtClean="0">
                <a:cs typeface="+mn-cs"/>
              </a:rPr>
              <a:pPr/>
              <a:t>2025E</a:t>
            </a:fld>
            <a:endParaRPr lang="zh-CN" altLang="en-US" sz="1400" dirty="0">
              <a:cs typeface="+mn-cs"/>
            </a:endParaRP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757F8F91-D215-3247-2FEE-04319649C05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54675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71BE698-5314-42A0-BD12-BD2606CC9883}" type="datetime'2''''''0''''''''''''''2''''''''6''E'''''''''''''''''''''''">
              <a:rPr lang="en-US" altLang="en-US" sz="1400" smtClean="0">
                <a:cs typeface="+mn-cs"/>
              </a:rPr>
              <a:pPr/>
              <a:t>2026E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33DB20-BC15-83FB-CF23-93FAD05D020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228850" y="3446463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E5D9EC6-2255-44FD-94F4-6097D973709B}" type="datetime'''''''''''''''''3''''''8'''''''''''''''">
              <a:rPr lang="zh-CN" altLang="en-US" sz="1400" smtClean="0">
                <a:cs typeface="+mn-cs"/>
              </a:rPr>
              <a:pPr/>
              <a:t>38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4A7B7F2-4B74-4B2A-AE0C-719D8345B6C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11613" y="3263900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664D29-F59F-40B0-B461-2618CBEC2152}" type="datetime'''''''''4''''''1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 sz="1400" dirty="0">
              <a:cs typeface="+mn-cs"/>
            </a:endParaRPr>
          </a:p>
        </p:txBody>
      </p:sp>
      <p:sp>
        <p:nvSpPr>
          <p:cNvPr id="148" name="Text Placeholder 4">
            <a:extLst>
              <a:ext uri="{FF2B5EF4-FFF2-40B4-BE49-F238E27FC236}">
                <a16:creationId xmlns:a16="http://schemas.microsoft.com/office/drawing/2014/main" id="{4ACE41F6-3F39-0B4B-67D9-2CAA4D12AB5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5792788" y="3057525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4D5E66F-9534-4A49-9DA4-43101394A066}" type="datetime'''''4''''''''5'''''''''''''''''''''''''''''">
              <a:rPr lang="zh-CN" altLang="en-US" sz="1400" smtClean="0">
                <a:cs typeface="+mn-cs"/>
              </a:rPr>
              <a:pPr/>
              <a:t>45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469900" y="1416050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ASIC shipment unit share </a:t>
            </a:r>
            <a:r>
              <a:rPr lang="zh-CN" altLang="en-US" sz="1600" b="1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b="1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546685" y="1809750"/>
            <a:ext cx="709633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E31EFFF-B49B-448C-7CC3-DDDB0395575F}"/>
              </a:ext>
            </a:extLst>
          </p:cNvPr>
          <p:cNvGrpSpPr/>
          <p:nvPr/>
        </p:nvGrpSpPr>
        <p:grpSpPr>
          <a:xfrm>
            <a:off x="7934720" y="3330257"/>
            <a:ext cx="4353799" cy="914896"/>
            <a:chOff x="8330962" y="3369711"/>
            <a:chExt cx="4353799" cy="91494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12A1E5-C527-E5DF-0FC8-3D86F59979D3}"/>
                </a:ext>
              </a:extLst>
            </p:cNvPr>
            <p:cNvSpPr txBox="1"/>
            <p:nvPr/>
          </p:nvSpPr>
          <p:spPr>
            <a:xfrm>
              <a:off x="8330962" y="3735758"/>
              <a:ext cx="4353799" cy="54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​ASIC: High costs,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limited TSMC supply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​Nvidia continues to dominate 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AI cloud compute.​</a:t>
              </a:r>
              <a:endPara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endParaRPr>
            </a:p>
          </p:txBody>
        </p:sp>
        <p:sp>
          <p:nvSpPr>
            <p:cNvPr id="964" name="文本框 963">
              <a:extLst>
                <a:ext uri="{FF2B5EF4-FFF2-40B4-BE49-F238E27FC236}">
                  <a16:creationId xmlns:a16="http://schemas.microsoft.com/office/drawing/2014/main" id="{FA12F98D-AFB1-F69C-EB36-438FF7419D87}"/>
                </a:ext>
              </a:extLst>
            </p:cNvPr>
            <p:cNvSpPr txBox="1"/>
            <p:nvPr/>
          </p:nvSpPr>
          <p:spPr>
            <a:xfrm>
              <a:off x="8330962" y="3369711"/>
              <a:ext cx="3473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Pessimistic scenario</a:t>
              </a:r>
              <a:endParaRPr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7730347-D337-A98D-9983-B7999340FB78}"/>
              </a:ext>
            </a:extLst>
          </p:cNvPr>
          <p:cNvGrpSpPr/>
          <p:nvPr/>
        </p:nvGrpSpPr>
        <p:grpSpPr>
          <a:xfrm>
            <a:off x="7934721" y="2023688"/>
            <a:ext cx="6114326" cy="1177925"/>
            <a:chOff x="8330962" y="1990805"/>
            <a:chExt cx="6114326" cy="1177637"/>
          </a:xfrm>
        </p:grpSpPr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7C07FBA-FD55-123B-6CC2-D48F932459CC}"/>
                </a:ext>
              </a:extLst>
            </p:cNvPr>
            <p:cNvSpPr txBox="1"/>
            <p:nvPr/>
          </p:nvSpPr>
          <p:spPr>
            <a:xfrm>
              <a:off x="8330962" y="1990805"/>
              <a:ext cx="611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Optimistic scenario</a:t>
              </a:r>
              <a:endParaRPr lang="zh-CN" altLang="en-US" b="1" dirty="0"/>
            </a:p>
          </p:txBody>
        </p:sp>
        <p:sp>
          <p:nvSpPr>
            <p:cNvPr id="966" name="文本框 965">
              <a:extLst>
                <a:ext uri="{FF2B5EF4-FFF2-40B4-BE49-F238E27FC236}">
                  <a16:creationId xmlns:a16="http://schemas.microsoft.com/office/drawing/2014/main" id="{3EA0C51F-3CA4-A0C8-3FC9-3D399000562D}"/>
                </a:ext>
              </a:extLst>
            </p:cNvPr>
            <p:cNvSpPr txBox="1"/>
            <p:nvPr/>
          </p:nvSpPr>
          <p:spPr>
            <a:xfrm>
              <a:off x="8330962" y="2404130"/>
              <a:ext cx="4099800" cy="764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New orders from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OpenAI &amp; </a:t>
              </a:r>
              <a:r>
                <a:rPr lang="en-US" altLang="zh-CN" sz="1400" b="1" dirty="0" err="1">
                  <a:solidFill>
                    <a:srgbClr val="0052D9"/>
                  </a:solidFill>
                  <a:latin typeface="PingFang SC"/>
                </a:rPr>
                <a:t>xAI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Bring forward the “ASIC &gt; GPU” inflection point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from 2027–28 to 2026.</a:t>
              </a:r>
            </a:p>
          </p:txBody>
        </p:sp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becomes the long-term trend, and Broadcom plays a central role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9E3F1A7-F673-1C4B-A38A-552D5172A7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11957" y="5089610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文本框 120">
            <a:extLst>
              <a:ext uri="{FF2B5EF4-FFF2-40B4-BE49-F238E27FC236}">
                <a16:creationId xmlns:a16="http://schemas.microsoft.com/office/drawing/2014/main" id="{10A4028A-9D6D-42FE-027C-827646C8FD32}"/>
              </a:ext>
            </a:extLst>
          </p:cNvPr>
          <p:cNvSpPr txBox="1"/>
          <p:nvPr/>
        </p:nvSpPr>
        <p:spPr>
          <a:xfrm>
            <a:off x="5677358" y="2085975"/>
            <a:ext cx="476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53585F"/>
                </a:solidFill>
                <a:cs typeface="+mn-ea"/>
                <a:sym typeface="+mn-lt"/>
              </a:rPr>
              <a:t>60</a:t>
            </a:r>
            <a:endParaRPr lang="zh-CN" altLang="en-US" sz="1400" dirty="0">
              <a:solidFill>
                <a:srgbClr val="53585F"/>
              </a:solidFill>
            </a:endParaRPr>
          </a:p>
        </p:txBody>
      </p:sp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125F3C94-F330-B60B-017B-F4824B0726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4719" y="5066556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2588948" y="5066100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64%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CEC1B2B-95E8-C9DA-834B-D0929E37A03C}"/>
              </a:ext>
            </a:extLst>
          </p:cNvPr>
          <p:cNvSpPr txBox="1"/>
          <p:nvPr/>
        </p:nvSpPr>
        <p:spPr>
          <a:xfrm>
            <a:off x="4392600" y="5043046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62%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pic>
        <p:nvPicPr>
          <p:cNvPr id="140" name="图像" descr="图像">
            <a:extLst>
              <a:ext uri="{FF2B5EF4-FFF2-40B4-BE49-F238E27FC236}">
                <a16:creationId xmlns:a16="http://schemas.microsoft.com/office/drawing/2014/main" id="{2C9EE6E8-6397-5ADF-71AC-39CD9F948A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78910" y="4973563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矩形 151">
            <a:extLst>
              <a:ext uri="{FF2B5EF4-FFF2-40B4-BE49-F238E27FC236}">
                <a16:creationId xmlns:a16="http://schemas.microsoft.com/office/drawing/2014/main" id="{63C863ED-281D-79C8-8479-E8741DEE6FF8}"/>
              </a:ext>
            </a:extLst>
          </p:cNvPr>
          <p:cNvSpPr/>
          <p:nvPr/>
        </p:nvSpPr>
        <p:spPr>
          <a:xfrm>
            <a:off x="5671780" y="2403944"/>
            <a:ext cx="488149" cy="896786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FC1481D-0EE6-05EA-1135-2AF4B9064C35}"/>
              </a:ext>
            </a:extLst>
          </p:cNvPr>
          <p:cNvSpPr txBox="1"/>
          <p:nvPr/>
        </p:nvSpPr>
        <p:spPr>
          <a:xfrm>
            <a:off x="6196252" y="4950053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60-70%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994D21CE-3AEC-0AB1-2EA5-ACB676D607D0}"/>
              </a:ext>
            </a:extLst>
          </p:cNvPr>
          <p:cNvCxnSpPr>
            <a:endCxn id="114" idx="1"/>
          </p:cNvCxnSpPr>
          <p:nvPr/>
        </p:nvCxnSpPr>
        <p:spPr>
          <a:xfrm flipV="1">
            <a:off x="6154349" y="2208399"/>
            <a:ext cx="1780372" cy="195545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9EBAC6A6-816F-D55E-671A-B10C072287F8}"/>
              </a:ext>
            </a:extLst>
          </p:cNvPr>
          <p:cNvCxnSpPr>
            <a:cxnSpLocks/>
            <a:endCxn id="964" idx="1"/>
          </p:cNvCxnSpPr>
          <p:nvPr/>
        </p:nvCxnSpPr>
        <p:spPr>
          <a:xfrm>
            <a:off x="6159929" y="3300730"/>
            <a:ext cx="1774791" cy="214184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894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401" imgH="401" progId="TCLayout.ActiveDocument.1">
                  <p:embed/>
                </p:oleObj>
              </mc:Choice>
              <mc:Fallback>
                <p:oleObj name="think-cell 幻灯片" r:id="rId3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1211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6443663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10934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Chart 3">
            <a:extLst>
              <a:ext uri="{FF2B5EF4-FFF2-40B4-BE49-F238E27FC236}">
                <a16:creationId xmlns:a16="http://schemas.microsoft.com/office/drawing/2014/main" id="{9C6E932D-55E6-802C-F9E0-F8FF5D4BFEC9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40729546"/>
              </p:ext>
            </p:extLst>
          </p:nvPr>
        </p:nvGraphicFramePr>
        <p:xfrm>
          <a:off x="1057275" y="25971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701800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022725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6345238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674100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0995025" y="57054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2654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959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286875" y="60610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81100" y="23415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9213850" y="31734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6508750" y="44767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4187825" y="45831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1865313" y="45783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1865313" y="535305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8837613" y="44275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6508750" y="5072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4351338" y="54022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9955213" y="48895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148138" y="51657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3173413" y="2428875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962400" y="2428875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3394075" y="2374900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4183063" y="2374900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721225"/>
            <a:ext cx="683287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752850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8085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664844" y="1356058"/>
            <a:ext cx="10751185" cy="87152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Weaker per-card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performance, requiring optical interconnect  (CPO)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</a:rPr>
              <a:t>of same‑gen GPU throughput​; Cloud ASICs could drive ​</a:t>
            </a:r>
            <a:r>
              <a:rPr lang="en-US" altLang="zh-CN" sz="1600" b="1" dirty="0">
                <a:solidFill>
                  <a:srgbClr val="0052D9"/>
                </a:solidFill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6743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5680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264695"/>
            <a:ext cx="282576" cy="1254125"/>
          </a:xfrm>
          <a:prstGeom prst="bentConnector3">
            <a:avLst>
              <a:gd name="adj1" fmla="val -808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relies more on optical interconnect, and Broadcom attempts to lock in the data center ecosystem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72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536699"/>
            <a:ext cx="1239838" cy="1125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75088"/>
            <a:ext cx="1239838" cy="96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926013"/>
            <a:ext cx="1239838" cy="1495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536700"/>
            <a:ext cx="2376488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86213"/>
            <a:ext cx="3154565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66788"/>
            <a:ext cx="1779588" cy="338138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920751"/>
            <a:ext cx="2054225" cy="366713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946150"/>
            <a:ext cx="2137727" cy="338138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59074"/>
            <a:ext cx="1239838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819275"/>
            <a:ext cx="823686" cy="60483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54200"/>
            <a:ext cx="2284413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830513"/>
            <a:ext cx="1327150" cy="276225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4" y="50117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4133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419350"/>
            <a:ext cx="13271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527175"/>
            <a:ext cx="2660650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54200"/>
            <a:ext cx="3019425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428875"/>
            <a:ext cx="190023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527175"/>
            <a:ext cx="2376488" cy="3524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55863"/>
            <a:ext cx="154622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4" y="1863725"/>
            <a:ext cx="562600" cy="504825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89238"/>
            <a:ext cx="1327150" cy="360363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732089"/>
            <a:ext cx="1327150" cy="474663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833563"/>
            <a:ext cx="509472" cy="61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901825"/>
            <a:ext cx="593795" cy="5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54200"/>
            <a:ext cx="1751013" cy="3397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62313"/>
            <a:ext cx="1239838" cy="522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0" y="3362325"/>
            <a:ext cx="578224" cy="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349625"/>
            <a:ext cx="437061" cy="347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84550"/>
            <a:ext cx="972347" cy="27781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433763"/>
            <a:ext cx="1062777" cy="17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97250"/>
            <a:ext cx="407038" cy="252413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915988"/>
            <a:ext cx="1000138" cy="25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Startups with a long-term vision in optical: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94272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Supply chain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The only supplier in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fully-automated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substitution: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Fully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acquired by Chinese listed company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Robotechnik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2025.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8" name="图表 47">
            <a:extLst>
              <a:ext uri="{FF2B5EF4-FFF2-40B4-BE49-F238E27FC236}">
                <a16:creationId xmlns:a16="http://schemas.microsoft.com/office/drawing/2014/main" id="{9CA2B7F5-636B-74F6-F003-C7DBB2589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844640"/>
              </p:ext>
            </p:extLst>
          </p:nvPr>
        </p:nvGraphicFramePr>
        <p:xfrm>
          <a:off x="454479" y="3586145"/>
          <a:ext cx="2076555" cy="174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664059" y="5272220"/>
            <a:ext cx="1657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cs typeface="+mn-ea"/>
                <a:sym typeface="+mn-lt"/>
              </a:rPr>
              <a:t>Micro-assembly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306300" y="2809593"/>
            <a:ext cx="2372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Revenue </a:t>
            </a:r>
            <a:r>
              <a:rPr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reakdown </a:t>
            </a:r>
          </a:p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(23A)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238384CD-D569-DECA-49ED-B8DB7C34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0" y="3422704"/>
            <a:ext cx="2191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Test equipment, etc.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2215615" y="3846837"/>
            <a:ext cx="142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Test-to-repair </a:t>
            </a:r>
          </a:p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All-in-one</a:t>
            </a: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3564491" y="3494016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191" y="4869452"/>
            <a:ext cx="1003077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2371036" y="5757070"/>
            <a:ext cx="1117386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AL-Series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970" y="3321827"/>
            <a:ext cx="937518" cy="5175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3AB8744-1816-94B2-9C00-3E25E0082394}"/>
              </a:ext>
            </a:extLst>
          </p:cNvPr>
          <p:cNvSpPr txBox="1"/>
          <p:nvPr/>
        </p:nvSpPr>
        <p:spPr>
          <a:xfrm>
            <a:off x="619191" y="1679564"/>
            <a:ext cx="5555903" cy="304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Business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28D85-5C03-3A81-8A26-60B62060D3FB}"/>
              </a:ext>
            </a:extLst>
          </p:cNvPr>
          <p:cNvSpPr txBox="1"/>
          <p:nvPr/>
        </p:nvSpPr>
        <p:spPr>
          <a:xfrm>
            <a:off x="465118" y="188506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线连接符 38">
            <a:extLst>
              <a:ext uri="{FF2B5EF4-FFF2-40B4-BE49-F238E27FC236}">
                <a16:creationId xmlns:a16="http://schemas.microsoft.com/office/drawing/2014/main" id="{4D397C5B-EA4A-5BFE-EB62-89221C1A0084}"/>
              </a:ext>
            </a:extLst>
          </p:cNvPr>
          <p:cNvCxnSpPr>
            <a:cxnSpLocks/>
          </p:cNvCxnSpPr>
          <p:nvPr/>
        </p:nvCxnSpPr>
        <p:spPr>
          <a:xfrm>
            <a:off x="619191" y="20183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 is a globally dominant player in 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 packaging and testing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678FAE-C347-7B5C-0805-B89964F8FE4C}"/>
              </a:ext>
            </a:extLst>
          </p:cNvPr>
          <p:cNvSpPr txBox="1"/>
          <p:nvPr/>
        </p:nvSpPr>
        <p:spPr>
          <a:xfrm>
            <a:off x="6457309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 gross margin,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exceeding the industry average for assembly and testing (~30%).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CEA30-6FF6-E99F-B83F-76C060C9C17E}"/>
              </a:ext>
            </a:extLst>
          </p:cNvPr>
          <p:cNvSpPr txBox="1"/>
          <p:nvPr/>
        </p:nvSpPr>
        <p:spPr>
          <a:xfrm>
            <a:off x="6312916" y="284316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10k RMB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35FE7AD-C3DF-BB72-4506-BA46CA52D535}"/>
              </a:ext>
            </a:extLst>
          </p:cNvPr>
          <p:cNvSpPr txBox="1"/>
          <p:nvPr/>
        </p:nvSpPr>
        <p:spPr>
          <a:xfrm>
            <a:off x="6353683" y="1679563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Financials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56" name="直线连接符 38">
            <a:extLst>
              <a:ext uri="{FF2B5EF4-FFF2-40B4-BE49-F238E27FC236}">
                <a16:creationId xmlns:a16="http://schemas.microsoft.com/office/drawing/2014/main" id="{2473AB42-4AAF-1784-7998-36E88874E9D2}"/>
              </a:ext>
            </a:extLst>
          </p:cNvPr>
          <p:cNvCxnSpPr>
            <a:cxnSpLocks/>
          </p:cNvCxnSpPr>
          <p:nvPr/>
        </p:nvCxnSpPr>
        <p:spPr>
          <a:xfrm>
            <a:off x="6353683" y="2024325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B53C94-13C7-3956-68E8-7877258C5FDD}"/>
              </a:ext>
            </a:extLst>
          </p:cNvPr>
          <p:cNvGrpSpPr/>
          <p:nvPr/>
        </p:nvGrpSpPr>
        <p:grpSpPr>
          <a:xfrm>
            <a:off x="3802430" y="3069550"/>
            <a:ext cx="2511560" cy="936606"/>
            <a:chOff x="3647918" y="2836213"/>
            <a:chExt cx="2511560" cy="936606"/>
          </a:xfrm>
        </p:grpSpPr>
        <p:pic>
          <p:nvPicPr>
            <p:cNvPr id="38" name="图像" descr="图像">
              <a:extLst>
                <a:ext uri="{FF2B5EF4-FFF2-40B4-BE49-F238E27FC236}">
                  <a16:creationId xmlns:a16="http://schemas.microsoft.com/office/drawing/2014/main" id="{A8B61700-E71E-052A-6BA8-41360A55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5104" y="2867316"/>
              <a:ext cx="419582" cy="330421"/>
            </a:xfrm>
            <a:prstGeom prst="rect">
              <a:avLst/>
            </a:prstGeom>
            <a:ln w="12700">
              <a:noFill/>
              <a:miter lim="400000"/>
            </a:ln>
          </p:spPr>
        </p:pic>
        <p:pic>
          <p:nvPicPr>
            <p:cNvPr id="39" name="图像" descr="图像">
              <a:extLst>
                <a:ext uri="{FF2B5EF4-FFF2-40B4-BE49-F238E27FC236}">
                  <a16:creationId xmlns:a16="http://schemas.microsoft.com/office/drawing/2014/main" id="{CE367E1B-9DAB-ED02-2FC5-BCEB6D4E8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20822" y="2836213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728610D-0DBA-4F08-274B-62B2F3CFAFA8}"/>
                </a:ext>
              </a:extLst>
            </p:cNvPr>
            <p:cNvSpPr txBox="1"/>
            <p:nvPr/>
          </p:nvSpPr>
          <p:spPr>
            <a:xfrm>
              <a:off x="3647918" y="3249599"/>
              <a:ext cx="2511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rgbClr val="0052D9"/>
                  </a:solidFill>
                  <a:cs typeface="+mn-ea"/>
                </a:defRPr>
              </a:lvl1pPr>
            </a:lstStyle>
            <a:p>
              <a:r>
                <a:rPr lang="en-US" altLang="zh-CN" dirty="0"/>
                <a:t>Vied for</a:t>
              </a:r>
              <a:r>
                <a:rPr lang="en-US" altLang="zh-CN" b="0" dirty="0">
                  <a:solidFill>
                    <a:schemeClr val="accent6">
                      <a:lumMod val="10000"/>
                    </a:schemeClr>
                  </a:solidFill>
                </a:rPr>
                <a:t> by Nvidia and TSMC</a:t>
              </a:r>
              <a:endParaRPr lang="zh-CN" altLang="en-US" b="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65240450-F863-2893-1A9F-B2636C5A03C8}"/>
              </a:ext>
            </a:extLst>
          </p:cNvPr>
          <p:cNvSpPr/>
          <p:nvPr/>
        </p:nvSpPr>
        <p:spPr>
          <a:xfrm>
            <a:off x="3564491" y="5335404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E3C97A-979B-FBF5-2F6D-9B167B435D75}"/>
              </a:ext>
            </a:extLst>
          </p:cNvPr>
          <p:cNvSpPr txBox="1"/>
          <p:nvPr/>
        </p:nvSpPr>
        <p:spPr>
          <a:xfrm>
            <a:off x="717530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FiconTEC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is the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key supplier of Nvidia, TSMC, and Broadcom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testing. 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8EB3B42-288D-39FE-3D08-3B0C280A9685}"/>
              </a:ext>
            </a:extLst>
          </p:cNvPr>
          <p:cNvGrpSpPr/>
          <p:nvPr/>
        </p:nvGrpSpPr>
        <p:grpSpPr>
          <a:xfrm>
            <a:off x="3802430" y="4951015"/>
            <a:ext cx="2352330" cy="1134285"/>
            <a:chOff x="3802430" y="4806337"/>
            <a:chExt cx="2352330" cy="1134285"/>
          </a:xfrm>
        </p:grpSpPr>
        <p:pic>
          <p:nvPicPr>
            <p:cNvPr id="13" name="图像" descr="图像">
              <a:extLst>
                <a:ext uri="{FF2B5EF4-FFF2-40B4-BE49-F238E27FC236}">
                  <a16:creationId xmlns:a16="http://schemas.microsoft.com/office/drawing/2014/main" id="{0F55D439-9AF4-9096-3A8C-049DE507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7728" y="4806337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C032225-D2D2-9620-A8A2-3A2DA8D0F752}"/>
                </a:ext>
              </a:extLst>
            </p:cNvPr>
            <p:cNvGrpSpPr/>
            <p:nvPr/>
          </p:nvGrpSpPr>
          <p:grpSpPr>
            <a:xfrm>
              <a:off x="3802430" y="4813250"/>
              <a:ext cx="2352330" cy="1127372"/>
              <a:chOff x="3802430" y="4813250"/>
              <a:chExt cx="2352330" cy="1127372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00CB502-63EF-FBC8-D378-1D3CD4CB83AB}"/>
                  </a:ext>
                </a:extLst>
              </p:cNvPr>
              <p:cNvGrpSpPr/>
              <p:nvPr/>
            </p:nvGrpSpPr>
            <p:grpSpPr>
              <a:xfrm>
                <a:off x="3802430" y="4813250"/>
                <a:ext cx="2352330" cy="1127372"/>
                <a:chOff x="3413830" y="4553687"/>
                <a:chExt cx="2352330" cy="1127372"/>
              </a:xfrm>
            </p:grpSpPr>
            <p:pic>
              <p:nvPicPr>
                <p:cNvPr id="35" name="图像" descr="图像">
                  <a:extLst>
                    <a:ext uri="{FF2B5EF4-FFF2-40B4-BE49-F238E27FC236}">
                      <a16:creationId xmlns:a16="http://schemas.microsoft.com/office/drawing/2014/main" id="{4E2D8880-945C-EBA6-EF8B-5FF6C5004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530" y="4553687"/>
                  <a:ext cx="717208" cy="345798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412890-DF33-E443-4B29-DF265BEB8374}"/>
                    </a:ext>
                  </a:extLst>
                </p:cNvPr>
                <p:cNvSpPr txBox="1"/>
                <p:nvPr/>
              </p:nvSpPr>
              <p:spPr>
                <a:xfrm>
                  <a:off x="3413830" y="4942395"/>
                  <a:ext cx="2352330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rgbClr val="0052D9"/>
                      </a:solidFill>
                      <a:cs typeface="+mn-ea"/>
                      <a:sym typeface="+mn-lt"/>
                    </a:rPr>
                    <a:t>Sole supplier </a:t>
                  </a:r>
                  <a:r>
                    <a:rPr lang="en-US" altLang="zh-CN" sz="1400" dirty="0">
                      <a:solidFill>
                        <a:srgbClr val="333333"/>
                      </a:solidFill>
                      <a:cs typeface="+mn-ea"/>
                      <a:sym typeface="+mn-lt"/>
                    </a:rPr>
                    <a:t>of Broadcom and Nvidia’s CPO optical coupling equipment</a:t>
                  </a:r>
                  <a:endParaRPr lang="zh-CN" altLang="en-US" sz="1400" dirty="0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2894F22-D52A-A819-1E38-4BB559596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9804" b="89542" l="9690" r="91860">
                            <a14:foregroundMark x1="10078" y1="40523" x2="10078" y2="40523"/>
                            <a14:foregroundMark x1="20930" y1="37255" x2="20930" y2="37255"/>
                            <a14:foregroundMark x1="32171" y1="35948" x2="32171" y2="35948"/>
                            <a14:foregroundMark x1="40698" y1="37255" x2="40698" y2="37255"/>
                            <a14:foregroundMark x1="52713" y1="39869" x2="52713" y2="39869"/>
                            <a14:foregroundMark x1="60465" y1="35948" x2="60465" y2="35948"/>
                            <a14:foregroundMark x1="72093" y1="30719" x2="72093" y2="30719"/>
                            <a14:foregroundMark x1="81783" y1="36601" x2="81783" y2="36601"/>
                            <a14:foregroundMark x1="91860" y1="40523" x2="91860" y2="40523"/>
                            <a14:foregroundMark x1="23643" y1="68627" x2="23643" y2="68627"/>
                            <a14:foregroundMark x1="35271" y1="75163" x2="35271" y2="75163"/>
                            <a14:foregroundMark x1="45349" y1="71242" x2="45349" y2="71242"/>
                            <a14:foregroundMark x1="58140" y1="73203" x2="58140" y2="7320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433714" y="4846088"/>
                <a:ext cx="482359" cy="286050"/>
              </a:xfrm>
              <a:prstGeom prst="rect">
                <a:avLst/>
              </a:prstGeom>
            </p:spPr>
          </p:pic>
        </p:grpSp>
      </p:grp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0750183"/>
              </p:ext>
            </p:extLst>
          </p:nvPr>
        </p:nvGraphicFramePr>
        <p:xfrm>
          <a:off x="6513081" y="3181720"/>
          <a:ext cx="5196943" cy="294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0771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30864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17">
            <a:extLst>
              <a:ext uri="{FF2B5EF4-FFF2-40B4-BE49-F238E27FC236}">
                <a16:creationId xmlns:a16="http://schemas.microsoft.com/office/drawing/2014/main" id="{8C490B1B-238E-017E-D669-07006FE3DA26}"/>
              </a:ext>
            </a:extLst>
          </p:cNvPr>
          <p:cNvSpPr/>
          <p:nvPr/>
        </p:nvSpPr>
        <p:spPr>
          <a:xfrm>
            <a:off x="1486342" y="1458410"/>
            <a:ext cx="9219315" cy="4074289"/>
          </a:xfrm>
          <a:prstGeom prst="roundRect">
            <a:avLst>
              <a:gd name="adj" fmla="val 5634"/>
            </a:avLst>
          </a:prstGeom>
          <a:noFill/>
          <a:ln w="1270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E03AA-E419-63A9-32E6-F52C6D09B996}"/>
              </a:ext>
            </a:extLst>
          </p:cNvPr>
          <p:cNvSpPr txBox="1"/>
          <p:nvPr/>
        </p:nvSpPr>
        <p:spPr>
          <a:xfrm>
            <a:off x="3161911" y="1898188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Trend: </a:t>
            </a:r>
            <a:r>
              <a:rPr kumimoji="1" lang="en-US" altLang="zh-CN" b="1" dirty="0">
                <a:solidFill>
                  <a:srgbClr val="0052D9"/>
                </a:solidFill>
              </a:rPr>
              <a:t>"Optics-in, Copper-out"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is the established path for high-speed AIDC interconnects</a:t>
            </a:r>
          </a:p>
        </p:txBody>
      </p:sp>
      <p:pic>
        <p:nvPicPr>
          <p:cNvPr id="10" name="图形 9" descr="共享 纯色填充">
            <a:extLst>
              <a:ext uri="{FF2B5EF4-FFF2-40B4-BE49-F238E27FC236}">
                <a16:creationId xmlns:a16="http://schemas.microsoft.com/office/drawing/2014/main" id="{1A0AA4FC-5BC2-4A38-F831-60802C5A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6966" y="1818371"/>
            <a:ext cx="699894" cy="699894"/>
          </a:xfrm>
          <a:prstGeom prst="rect">
            <a:avLst/>
          </a:prstGeom>
        </p:spPr>
      </p:pic>
      <p:pic>
        <p:nvPicPr>
          <p:cNvPr id="12" name="图形 11" descr="用路劲指引两个插针 纯色填充">
            <a:extLst>
              <a:ext uri="{FF2B5EF4-FFF2-40B4-BE49-F238E27FC236}">
                <a16:creationId xmlns:a16="http://schemas.microsoft.com/office/drawing/2014/main" id="{C170A57E-BDAC-393D-8725-B1F6AAC50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6965" y="4429110"/>
            <a:ext cx="699896" cy="699896"/>
          </a:xfrm>
          <a:prstGeom prst="rect">
            <a:avLst/>
          </a:prstGeom>
        </p:spPr>
      </p:pic>
      <p:pic>
        <p:nvPicPr>
          <p:cNvPr id="14" name="图形 13" descr="标尺 纯色填充">
            <a:extLst>
              <a:ext uri="{FF2B5EF4-FFF2-40B4-BE49-F238E27FC236}">
                <a16:creationId xmlns:a16="http://schemas.microsoft.com/office/drawing/2014/main" id="{5E661328-186A-EA23-E764-AA71D103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6966" y="3181982"/>
            <a:ext cx="699895" cy="699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E636E7-928B-BDEA-FCE7-9E42F07C3B03}"/>
              </a:ext>
            </a:extLst>
          </p:cNvPr>
          <p:cNvSpPr txBox="1"/>
          <p:nvPr/>
        </p:nvSpPr>
        <p:spPr>
          <a:xfrm>
            <a:off x="3161911" y="3169436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Scenario: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Optical interconnect gets </a:t>
            </a:r>
            <a:r>
              <a:rPr kumimoji="1" lang="en-US" altLang="zh-CN" b="1" dirty="0">
                <a:solidFill>
                  <a:srgbClr val="0052D9"/>
                </a:solidFill>
              </a:rPr>
              <a:t>adopted first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scale-out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with </a:t>
            </a:r>
            <a:r>
              <a:rPr kumimoji="1" lang="en-US" altLang="zh-CN" b="1" dirty="0">
                <a:solidFill>
                  <a:srgbClr val="0052D9"/>
                </a:solidFill>
              </a:rPr>
              <a:t>accelerated penetration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scale-up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DDAE0B-118D-4952-45B8-0152E35B8061}"/>
              </a:ext>
            </a:extLst>
          </p:cNvPr>
          <p:cNvSpPr txBox="1"/>
          <p:nvPr/>
        </p:nvSpPr>
        <p:spPr>
          <a:xfrm>
            <a:off x="3161911" y="4440684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Roadmap: </a:t>
            </a:r>
            <a:r>
              <a:rPr kumimoji="1" lang="en-US" altLang="zh-CN" b="1" dirty="0">
                <a:solidFill>
                  <a:srgbClr val="0052D9"/>
                </a:solidFill>
              </a:rPr>
              <a:t>CPO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is the </a:t>
            </a:r>
            <a:r>
              <a:rPr kumimoji="1" lang="en-US" altLang="zh-CN" b="1" dirty="0">
                <a:solidFill>
                  <a:srgbClr val="0052D9"/>
                </a:solidFill>
              </a:rPr>
              <a:t>long-term bet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while near-term solution </a:t>
            </a:r>
            <a:r>
              <a:rPr kumimoji="1" lang="en-US" altLang="zh-CN">
                <a:solidFill>
                  <a:schemeClr val="accent6">
                    <a:lumMod val="10000"/>
                  </a:schemeClr>
                </a:solidFill>
              </a:rPr>
              <a:t>is still not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determined.​</a:t>
            </a:r>
            <a:endParaRPr kumimoji="1"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58946765093549302605E+00&quot;&gt;&lt;m_msothmcolidx val=&quot;0&quot;/&gt;&lt;m_rgb r=&quot;00&quot; g=&quot;52&quot; b=&quot;D9&quot;/&gt;&lt;/elem&gt;&lt;elem m_fUsage=&quot;2.88523421035825233805E-01&quot;&gt;&lt;m_msothmcolidx val=&quot;0&quot;/&gt;&lt;m_rgb r=&quot;C1&quot; g=&quot;E1&quot; b=&quot;FE&quot;/&gt;&lt;/elem&gt;&lt;elem m_fUsage=&quot;2.5031555049932444068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UCi9eY7gNLWFBUd_J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2ivospCuo22Xw_JiRA_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Ut2Mtmg1.kZ6dZzXrpP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Fhllhrvd6V41kLH8Zmb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1A72f0cVKodMbyCYFic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R3xfsd18NGxgnxdTL46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51210</TotalTime>
  <Words>3950</Words>
  <Application>Microsoft Office PowerPoint</Application>
  <PresentationFormat>宽屏</PresentationFormat>
  <Paragraphs>965</Paragraphs>
  <Slides>30</Slides>
  <Notes>26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 (CPO): an intro to AIDC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5983</cp:revision>
  <dcterms:created xsi:type="dcterms:W3CDTF">2025-06-16T21:28:33Z</dcterms:created>
  <dcterms:modified xsi:type="dcterms:W3CDTF">2025-10-16T11:56:22Z</dcterms:modified>
</cp:coreProperties>
</file>